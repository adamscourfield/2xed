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6858000" cy="9144000"/>
  <p:embeddedFontLst>
    <p:embeddedFont>
      <p:font typeface="Google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EBEF6D-D132-47F6-9C3C-D586CE99C0E0}">
  <a:tblStyle styleId="{E7EBEF6D-D132-47F6-9C3C-D586CE99C0E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bold.fntdata"/><Relationship Id="rId14" Type="http://schemas.openxmlformats.org/officeDocument/2006/relationships/font" Target="fonts/GoogleSans-regular.fntdata"/><Relationship Id="rId17" Type="http://schemas.openxmlformats.org/officeDocument/2006/relationships/font" Target="fonts/GoogleSans-boldItalic.fntdata"/><Relationship Id="rId16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1370783" y="642957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096608" y="641257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5287715" y="940520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6108" y="313288"/>
            <a:ext cx="6679742" cy="12392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0" y="-286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N1.20 – Place Value Systems Beyond Base 10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55372" y="632518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79498" y="831715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the binary system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convert between base 10 and base 2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29106" y="351127"/>
            <a:ext cx="6344414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gain an understanding of the binary system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610416" y="664317"/>
            <a:ext cx="963104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10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2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endParaRPr/>
          </a:p>
        </p:txBody>
      </p:sp>
      <p:graphicFrame>
        <p:nvGraphicFramePr>
          <p:cNvPr id="98" name="Google Shape;98;p13"/>
          <p:cNvGraphicFramePr/>
          <p:nvPr/>
        </p:nvGraphicFramePr>
        <p:xfrm>
          <a:off x="121986" y="66650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982725"/>
                <a:gridCol w="1895225"/>
                <a:gridCol w="1895225"/>
                <a:gridCol w="1895225"/>
              </a:tblGrid>
              <a:tr h="12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15 in binary: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Write 17 in binary: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Write 19 in binary: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Look for the biggest binary place value column that is smaller than the base 10 number.</a:t>
                      </a:r>
                      <a:br>
                        <a:rPr lang="en-GB" sz="1100">
                          <a:solidFill>
                            <a:schemeClr val="dk1"/>
                          </a:solidFill>
                        </a:rPr>
                      </a:b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 Write a 1 in this column.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3) Find the remainder and repeat.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rgbClr val="FF0000"/>
                          </a:solidFill>
                        </a:rPr>
                        <a:t>1111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rgbClr val="FF0000"/>
                          </a:solidFill>
                        </a:rPr>
                        <a:t>10001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rgbClr val="FF0000"/>
                          </a:solidFill>
                        </a:rPr>
                        <a:t>10011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13"/>
          <p:cNvGraphicFramePr/>
          <p:nvPr/>
        </p:nvGraphicFramePr>
        <p:xfrm>
          <a:off x="1156662" y="69814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" name="Google Shape;100;p13"/>
          <p:cNvCxnSpPr/>
          <p:nvPr/>
        </p:nvCxnSpPr>
        <p:spPr>
          <a:xfrm flipH="1" rot="10800000">
            <a:off x="913131" y="3639188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13"/>
          <p:cNvSpPr/>
          <p:nvPr/>
        </p:nvSpPr>
        <p:spPr>
          <a:xfrm>
            <a:off x="80172" y="1676205"/>
            <a:ext cx="6699219" cy="44216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3"/>
          <p:cNvCxnSpPr/>
          <p:nvPr/>
        </p:nvCxnSpPr>
        <p:spPr>
          <a:xfrm>
            <a:off x="80172" y="3350930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3"/>
          <p:cNvCxnSpPr>
            <a:stCxn id="101" idx="2"/>
            <a:endCxn id="101" idx="0"/>
          </p:cNvCxnSpPr>
          <p:nvPr/>
        </p:nvCxnSpPr>
        <p:spPr>
          <a:xfrm rot="10800000">
            <a:off x="3429782" y="1676191"/>
            <a:ext cx="0" cy="442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13"/>
          <p:cNvSpPr txBox="1"/>
          <p:nvPr/>
        </p:nvSpPr>
        <p:spPr>
          <a:xfrm>
            <a:off x="57271" y="1656746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678804" y="1666059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72907" y="3333683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642476" y="3331562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8180" y="1837022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Binary numbers are a way of representing numbers using only two digits, 0 and 1. It is also known as the base-2 number system.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045674" y="3187543"/>
            <a:ext cx="78053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413064" y="1868673"/>
            <a:ext cx="341770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numbers use only two digits, 0 and 1, unlike our decimal system, which uses ten (0-9).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digit in a binary number represents a specific place value, just like in our decimal system. In binary, each place value is a power of 2. The rightmost digit represents 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(1), the next represents 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(2), then 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(4), 2</a:t>
            </a:r>
            <a:r>
              <a:rPr baseline="3000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(8), and so on.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52713" y="4537904"/>
            <a:ext cx="336035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 0 is written as binary 0.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 1 is written as binary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 2 is written as binary 10 (1 two and 0 ones)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 3 is written as binary 11 (1 two and 1 one)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 4 is written as binary 100 (1 four, 0 twos, and 0 ones)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276804" y="641730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2 - We do…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506746" y="3474573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3671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rgbClr val="040C28"/>
                </a:solidFill>
                <a:latin typeface="Google Sans"/>
                <a:ea typeface="Google Sans"/>
                <a:cs typeface="Google Sans"/>
                <a:sym typeface="Google Sans"/>
              </a:rPr>
              <a:t>In base 10, there are ten digits (0-9) and each place is worth ten times the place to the right</a:t>
            </a:r>
            <a:endParaRPr/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5500" y="4056577"/>
            <a:ext cx="1006976" cy="72153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86108" y="3320568"/>
            <a:ext cx="338304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1101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In binary, base 2, there are only two digits (0 and 1) and each place is worth two times the place to the right</a:t>
            </a:r>
            <a:endParaRPr/>
          </a:p>
        </p:txBody>
      </p:sp>
      <p:pic>
        <p:nvPicPr>
          <p:cNvPr id="116" name="Google Shape;11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6922" y="3897542"/>
            <a:ext cx="922141" cy="6856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3523000" y="4767441"/>
            <a:ext cx="32303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Roman numerals, such as III, XI, IV </a:t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124994" y="6171066"/>
            <a:ext cx="3444137" cy="214332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Converting from base 10 to binary</a:t>
            </a:r>
            <a:endParaRPr/>
          </a:p>
        </p:txBody>
      </p:sp>
      <p:graphicFrame>
        <p:nvGraphicFramePr>
          <p:cNvPr id="119" name="Google Shape;119;p13"/>
          <p:cNvGraphicFramePr/>
          <p:nvPr/>
        </p:nvGraphicFramePr>
        <p:xfrm>
          <a:off x="3043898" y="69814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" name="Google Shape;120;p13"/>
          <p:cNvGraphicFramePr/>
          <p:nvPr/>
        </p:nvGraphicFramePr>
        <p:xfrm>
          <a:off x="4931134" y="69910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14"/>
          <p:cNvGraphicFramePr/>
          <p:nvPr/>
        </p:nvGraphicFramePr>
        <p:xfrm>
          <a:off x="183572" y="5125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258800"/>
                <a:gridCol w="3258800"/>
              </a:tblGrid>
              <a:tr h="124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130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160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i) 175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 200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5241785" y="937194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171192" y="236241"/>
            <a:ext cx="65471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Q1. Represent the following base 10 numbers in binary (base 2):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4"/>
          <p:cNvGraphicFramePr/>
          <p:nvPr/>
        </p:nvGraphicFramePr>
        <p:xfrm>
          <a:off x="286717" y="7323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" name="Google Shape;130;p14"/>
          <p:cNvGraphicFramePr/>
          <p:nvPr/>
        </p:nvGraphicFramePr>
        <p:xfrm>
          <a:off x="3619681" y="7213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" name="Google Shape;131;p14"/>
          <p:cNvGraphicFramePr/>
          <p:nvPr/>
        </p:nvGraphicFramePr>
        <p:xfrm>
          <a:off x="316262" y="20162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71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" name="Google Shape;132;p14"/>
          <p:cNvGraphicFramePr/>
          <p:nvPr/>
        </p:nvGraphicFramePr>
        <p:xfrm>
          <a:off x="3644284" y="20261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67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" name="Google Shape;133;p14"/>
          <p:cNvGraphicFramePr/>
          <p:nvPr/>
        </p:nvGraphicFramePr>
        <p:xfrm>
          <a:off x="339871" y="32582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428600"/>
                <a:gridCol w="428600"/>
                <a:gridCol w="423375"/>
                <a:gridCol w="433825"/>
                <a:gridCol w="428600"/>
                <a:gridCol w="428600"/>
                <a:gridCol w="428600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64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14"/>
          <p:cNvSpPr txBox="1"/>
          <p:nvPr/>
        </p:nvSpPr>
        <p:spPr>
          <a:xfrm>
            <a:off x="124105" y="1743364"/>
            <a:ext cx="7449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31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3436805" y="2999135"/>
            <a:ext cx="8947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100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2887" y="3014758"/>
            <a:ext cx="7150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63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3436805" y="494865"/>
            <a:ext cx="7449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25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3429000" y="1763930"/>
            <a:ext cx="7449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35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53985" y="471130"/>
            <a:ext cx="7449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21</a:t>
            </a:r>
            <a:endParaRPr/>
          </a:p>
        </p:txBody>
      </p:sp>
      <p:graphicFrame>
        <p:nvGraphicFramePr>
          <p:cNvPr id="140" name="Google Shape;140;p14"/>
          <p:cNvGraphicFramePr/>
          <p:nvPr/>
        </p:nvGraphicFramePr>
        <p:xfrm>
          <a:off x="3595759" y="32805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428600"/>
                <a:gridCol w="428600"/>
                <a:gridCol w="423375"/>
                <a:gridCol w="433825"/>
                <a:gridCol w="428600"/>
                <a:gridCol w="428600"/>
                <a:gridCol w="428600"/>
              </a:tblGrid>
              <a:tr h="267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64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4"/>
          <p:cNvSpPr/>
          <p:nvPr/>
        </p:nvSpPr>
        <p:spPr>
          <a:xfrm>
            <a:off x="177046" y="104964"/>
            <a:ext cx="1003299" cy="35171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2309544" y="1427112"/>
            <a:ext cx="1499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10101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6013310" y="1405434"/>
            <a:ext cx="955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2447304" y="2707610"/>
            <a:ext cx="12801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11111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5894855" y="2706831"/>
            <a:ext cx="10060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2537059" y="3968470"/>
            <a:ext cx="3860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111111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5787989" y="3984417"/>
            <a:ext cx="3860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1100100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2320950" y="5195290"/>
            <a:ext cx="482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10000010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5598761" y="5228920"/>
            <a:ext cx="482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10100000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2309544" y="6433708"/>
            <a:ext cx="50647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10101111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5629235" y="6470460"/>
            <a:ext cx="115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11001000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1390074" y="726042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5068851" y="724228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graphicFrame>
        <p:nvGraphicFramePr>
          <p:cNvPr id="154" name="Google Shape;154;p14"/>
          <p:cNvGraphicFramePr/>
          <p:nvPr/>
        </p:nvGraphicFramePr>
        <p:xfrm>
          <a:off x="73165" y="75253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1026975"/>
                <a:gridCol w="1880475"/>
                <a:gridCol w="1880475"/>
                <a:gridCol w="1880475"/>
              </a:tblGrid>
              <a:tr h="18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1101 in base 10: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Write 10110 in binary: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Write 10010 in binary: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0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Multiply each binary digit by its corresponding power of 2.</a:t>
                      </a:r>
                      <a:br>
                        <a:rPr lang="en-GB" sz="1100">
                          <a:solidFill>
                            <a:schemeClr val="dk1"/>
                          </a:solidFill>
                        </a:rPr>
                      </a:b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 Add these together.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rgbClr val="FF0000"/>
                          </a:solidFill>
                        </a:rPr>
                        <a:t>13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rgbClr val="FF0000"/>
                          </a:solidFill>
                        </a:rPr>
                        <a:t>22</a:t>
                      </a:r>
                      <a:endParaRPr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solidFill>
                            <a:srgbClr val="FF0000"/>
                          </a:solidFill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" name="Google Shape;155;p14"/>
          <p:cNvGraphicFramePr/>
          <p:nvPr/>
        </p:nvGraphicFramePr>
        <p:xfrm>
          <a:off x="1138321" y="78416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14"/>
          <p:cNvSpPr txBox="1"/>
          <p:nvPr/>
        </p:nvSpPr>
        <p:spPr>
          <a:xfrm>
            <a:off x="3147579" y="724880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5 - We do…</a:t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183572" y="6956615"/>
            <a:ext cx="3444137" cy="214332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Converting from binary 10 to base 10</a:t>
            </a:r>
            <a:endParaRPr/>
          </a:p>
        </p:txBody>
      </p:sp>
      <p:graphicFrame>
        <p:nvGraphicFramePr>
          <p:cNvPr id="158" name="Google Shape;158;p14"/>
          <p:cNvGraphicFramePr/>
          <p:nvPr/>
        </p:nvGraphicFramePr>
        <p:xfrm>
          <a:off x="3025557" y="78416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" name="Google Shape;159;p14"/>
          <p:cNvGraphicFramePr/>
          <p:nvPr/>
        </p:nvGraphicFramePr>
        <p:xfrm>
          <a:off x="4902633" y="78512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</a:tblGrid>
              <a:tr h="378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Google Shape;165;p15"/>
          <p:cNvGraphicFramePr/>
          <p:nvPr/>
        </p:nvGraphicFramePr>
        <p:xfrm>
          <a:off x="3585982" y="33714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15"/>
          <p:cNvGraphicFramePr/>
          <p:nvPr/>
        </p:nvGraphicFramePr>
        <p:xfrm>
          <a:off x="262960" y="33518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15"/>
          <p:cNvSpPr txBox="1"/>
          <p:nvPr/>
        </p:nvSpPr>
        <p:spPr>
          <a:xfrm>
            <a:off x="151569" y="3011529"/>
            <a:ext cx="9081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1111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3420657" y="3047137"/>
            <a:ext cx="90814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1011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46417" y="6984732"/>
            <a:ext cx="65851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Q3. Jason is trying to write the number 24 as a binary number.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 answer is 10112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mistake has Jason made?</a:t>
            </a:r>
            <a:endParaRPr/>
          </a:p>
        </p:txBody>
      </p:sp>
      <p:sp>
        <p:nvSpPr>
          <p:cNvPr id="170" name="Google Shape;170;p1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71" name="Google Shape;171;p15"/>
          <p:cNvGraphicFramePr/>
          <p:nvPr/>
        </p:nvGraphicFramePr>
        <p:xfrm>
          <a:off x="3671643" y="84963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FF0000"/>
                          </a:solidFill>
                        </a:rPr>
                        <a:t>16</a:t>
                      </a:r>
                      <a:endParaRPr sz="6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Google Shape;172;p15"/>
          <p:cNvGraphicFramePr/>
          <p:nvPr/>
        </p:nvGraphicFramePr>
        <p:xfrm>
          <a:off x="3585982" y="20408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15"/>
          <p:cNvGraphicFramePr/>
          <p:nvPr/>
        </p:nvGraphicFramePr>
        <p:xfrm>
          <a:off x="262960" y="2026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Google Shape;174;p15"/>
          <p:cNvGraphicFramePr/>
          <p:nvPr/>
        </p:nvGraphicFramePr>
        <p:xfrm>
          <a:off x="3585983" y="7920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Google Shape;175;p15"/>
          <p:cNvGraphicFramePr/>
          <p:nvPr/>
        </p:nvGraphicFramePr>
        <p:xfrm>
          <a:off x="262960" y="772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500025"/>
                <a:gridCol w="500025"/>
                <a:gridCol w="493925"/>
                <a:gridCol w="506150"/>
                <a:gridCol w="500025"/>
                <a:gridCol w="500025"/>
              </a:tblGrid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4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15"/>
          <p:cNvSpPr txBox="1"/>
          <p:nvPr/>
        </p:nvSpPr>
        <p:spPr>
          <a:xfrm>
            <a:off x="168342" y="502671"/>
            <a:ext cx="9326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111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151569" y="1740619"/>
            <a:ext cx="9081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101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3395867" y="1732845"/>
            <a:ext cx="8907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110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3430940" y="492668"/>
            <a:ext cx="8907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100</a:t>
            </a:r>
            <a:endParaRPr/>
          </a:p>
        </p:txBody>
      </p:sp>
      <p:graphicFrame>
        <p:nvGraphicFramePr>
          <p:cNvPr id="180" name="Google Shape;180;p15"/>
          <p:cNvGraphicFramePr/>
          <p:nvPr/>
        </p:nvGraphicFramePr>
        <p:xfrm>
          <a:off x="172135" y="5250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258800"/>
                <a:gridCol w="3258800"/>
              </a:tblGrid>
              <a:tr h="124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100101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1101000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i) 1011101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 10100110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15"/>
          <p:cNvSpPr txBox="1"/>
          <p:nvPr/>
        </p:nvSpPr>
        <p:spPr>
          <a:xfrm>
            <a:off x="1166282" y="233887"/>
            <a:ext cx="37296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Q2. Represent the following binary numbers in base 10: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172135" y="102610"/>
            <a:ext cx="1003299" cy="35171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2849114" y="1374749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6136225" y="1374749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2845091" y="2630525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6132202" y="2630525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2830558" y="3931169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117669" y="3931169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2824324" y="5225868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6125202" y="5221944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2859397" y="6432199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6146508" y="6432199"/>
            <a:ext cx="5715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166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291834" y="7689088"/>
            <a:ext cx="6249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Binary numbers only consist of the digits 0 and 1. Jason has a ‘2’ in his binary number. The answer should be 11000</a:t>
            </a:r>
            <a:endParaRPr/>
          </a:p>
        </p:txBody>
      </p:sp>
      <p:graphicFrame>
        <p:nvGraphicFramePr>
          <p:cNvPr id="194" name="Google Shape;194;p15"/>
          <p:cNvGraphicFramePr/>
          <p:nvPr/>
        </p:nvGraphicFramePr>
        <p:xfrm>
          <a:off x="186136" y="76271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651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15"/>
          <p:cNvSpPr/>
          <p:nvPr/>
        </p:nvSpPr>
        <p:spPr>
          <a:xfrm>
            <a:off x="186136" y="7010133"/>
            <a:ext cx="6517609" cy="210042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idx="12" type="sldNum"/>
          </p:nvPr>
        </p:nvSpPr>
        <p:spPr>
          <a:xfrm>
            <a:off x="5271406" y="929641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158207" y="345879"/>
            <a:ext cx="6585130" cy="286232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palindromic number is a number which is the same written forwards and backwards.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525 and 1881 are palindromic numbers.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Georgina says that 33 is a palindrome when written as a decimal number and as a binary number.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Both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Georgina is correct. 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Nicola says that 99 is also a palindrome when written as decimal number and as a binary number. Show Nicola is correct.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350489" y="1202994"/>
            <a:ext cx="6200566" cy="6824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AutoNum type="arabicPlain" startAt="32"/>
            </a:pPr>
            <a:r>
              <a:rPr b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16   8   4   2   1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1     0    0   0   0   1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328717" y="2437599"/>
            <a:ext cx="6200566" cy="6824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64  32  16   8   4   2   1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1    1     0    0   0   1   1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103777" y="115046"/>
            <a:ext cx="37296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Q4.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119247" y="3309822"/>
            <a:ext cx="58180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Q5. Carry out the following calculations, giving your answer as a binary number: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16"/>
          <p:cNvGraphicFramePr/>
          <p:nvPr/>
        </p:nvGraphicFramePr>
        <p:xfrm>
          <a:off x="173677" y="3583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282550"/>
                <a:gridCol w="3282550"/>
              </a:tblGrid>
              <a:tr h="106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10010 + 01101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1110 + 101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1011 + 1101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00100101 + 01000100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10110 – 1001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11001 - 1010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16"/>
          <p:cNvSpPr txBox="1"/>
          <p:nvPr/>
        </p:nvSpPr>
        <p:spPr>
          <a:xfrm>
            <a:off x="5388628" y="5338703"/>
            <a:ext cx="159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01101001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2252587" y="4303778"/>
            <a:ext cx="159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11111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5603843" y="4303778"/>
            <a:ext cx="159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10011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2230133" y="5338703"/>
            <a:ext cx="159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11000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158207" y="7022850"/>
            <a:ext cx="658513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16"/>
          <p:cNvGraphicFramePr/>
          <p:nvPr/>
        </p:nvGraphicFramePr>
        <p:xfrm>
          <a:off x="173677" y="73614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6557950"/>
              </a:tblGrid>
              <a:tr h="83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the binary representation of the decimal number 12? </a:t>
                      </a:r>
                      <a:endParaRPr/>
                    </a:p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AutoNum type="alphaUcParenR"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1010 </a:t>
                      </a:r>
                      <a:endParaRPr/>
                    </a:p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AutoNum type="alphaUcParenR"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 </a:t>
                      </a:r>
                      <a:endParaRPr/>
                    </a:p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AutoNum type="alphaUcParenR"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1111 </a:t>
                      </a:r>
                      <a:endParaRPr/>
                    </a:p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AutoNum type="alphaUcParenR"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/>
                        <a:t>What is the decimal representation of the binary number 10101? </a:t>
                      </a:r>
                      <a:endParaRPr/>
                    </a:p>
                    <a:p>
                      <a:pPr indent="-342900" lvl="0" marL="3429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arenR"/>
                      </a:pPr>
                      <a:r>
                        <a:rPr b="0" i="0" lang="en-GB" sz="1200"/>
                        <a:t>21 </a:t>
                      </a:r>
                      <a:endParaRPr/>
                    </a:p>
                    <a:p>
                      <a:pPr indent="-342900" lvl="0" marL="3429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arenR"/>
                      </a:pPr>
                      <a:r>
                        <a:rPr lang="en-GB" sz="1200"/>
                        <a:t>1</a:t>
                      </a:r>
                      <a:r>
                        <a:rPr b="0" i="0" lang="en-GB" sz="1200"/>
                        <a:t>5 </a:t>
                      </a:r>
                      <a:endParaRPr/>
                    </a:p>
                    <a:p>
                      <a:pPr indent="-342900" lvl="0" marL="3429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arenR"/>
                      </a:pPr>
                      <a:r>
                        <a:rPr b="0" i="0" lang="en-GB" sz="1200"/>
                        <a:t>17 </a:t>
                      </a:r>
                      <a:endParaRPr/>
                    </a:p>
                    <a:p>
                      <a:pPr indent="-342900" lvl="0" marL="3429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arenR"/>
                      </a:pPr>
                      <a:r>
                        <a:rPr b="0" i="0" lang="en-GB" sz="1200"/>
                        <a:t>19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16"/>
          <p:cNvSpPr/>
          <p:nvPr/>
        </p:nvSpPr>
        <p:spPr>
          <a:xfrm>
            <a:off x="2879272" y="7699958"/>
            <a:ext cx="1143000" cy="26469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2879272" y="8541624"/>
            <a:ext cx="1143000" cy="26469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5388628" y="6395180"/>
            <a:ext cx="159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1111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2230133" y="6395180"/>
            <a:ext cx="159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idx="12" type="sldNum"/>
          </p:nvPr>
        </p:nvSpPr>
        <p:spPr>
          <a:xfrm>
            <a:off x="5314950" y="946932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23" name="Google Shape;223;p17"/>
          <p:cNvGraphicFramePr/>
          <p:nvPr/>
        </p:nvGraphicFramePr>
        <p:xfrm>
          <a:off x="259930" y="705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169075"/>
                <a:gridCol w="3169075"/>
              </a:tblGrid>
              <a:tr h="2870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</a:rPr>
                        <a:t>Mixed Fluency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9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Write Three hundred thousand, five hundred and twenty−nine in figures        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Write Seven million, five hundred and two thousand, seven hundred and nineteen in figures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Write 50,000,012 in words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4300" marL="1143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the value of the 4 in each of these numbers: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34601                      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3.46                                  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43.6                                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3.64                        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14.63                          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Now find the median of the five numbers above.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these numbers in words: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</a:t>
                      </a: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5.006</a:t>
                      </a: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3.02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 each of the following scales: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Unfamiliar Contexts</a:t>
                      </a:r>
                      <a:endParaRPr/>
                    </a:p>
                  </a:txBody>
                  <a:tcPr marT="0" marB="0" marR="114300" marL="11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7348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Hannah is recording the number of letters in each word in an article. These are the first ten lengths.  </a:t>
                      </a:r>
                      <a:r>
                        <a:rPr lang="en-GB" sz="1600"/>
                        <a:t>3    4    5    6    2    4    3    7    3    6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" u="sng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11th word has 4 letters. Tick the correct box to describe how the median will be affected.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700" u="sng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median will decrease               The median will remain the same             The median will increase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6687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Here are six number cards.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all the numbers, what is the smallest number you can make which would round to 1.2?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224" name="Google Shape;224;p17"/>
          <p:cNvSpPr txBox="1"/>
          <p:nvPr/>
        </p:nvSpPr>
        <p:spPr>
          <a:xfrm>
            <a:off x="0" y="197200"/>
            <a:ext cx="685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Selection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195" y="4433998"/>
            <a:ext cx="2919670" cy="1245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7"/>
          <p:cNvPicPr preferRelativeResize="0"/>
          <p:nvPr/>
        </p:nvPicPr>
        <p:blipFill rotWithShape="1">
          <a:blip r:embed="rId4">
            <a:alphaModFix/>
          </a:blip>
          <a:srcRect b="12043" l="14486" r="3539" t="27859"/>
          <a:stretch/>
        </p:blipFill>
        <p:spPr>
          <a:xfrm>
            <a:off x="1928787" y="8130912"/>
            <a:ext cx="3029931" cy="5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/>
          <p:nvPr/>
        </p:nvSpPr>
        <p:spPr>
          <a:xfrm>
            <a:off x="292865" y="9064754"/>
            <a:ext cx="6156000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1.23456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931546" y="7361226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3256575" y="7365163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5520013" y="7361226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394108" y="4325990"/>
            <a:ext cx="2937661" cy="28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Five point seven or Five and seven tenths</a:t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391145" y="4863569"/>
            <a:ext cx="2937661" cy="28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Five point zero zero six or Five and six thousandths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410151" y="5457436"/>
            <a:ext cx="2937661" cy="28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Three point zero two or Three and two hundredths</a:t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364016" y="1478802"/>
            <a:ext cx="2937661" cy="3825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300,529</a:t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364015" y="2606315"/>
            <a:ext cx="2937661" cy="3825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7, 502, 719 </a:t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377542" y="3389694"/>
            <a:ext cx="2937661" cy="4892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Fifty thousand and twelve</a:t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3548166" y="3467121"/>
            <a:ext cx="2937661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14.63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4393455" y="1444976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4000 (4 thousands)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4393454" y="1748756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 (4 tenths)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4393454" y="2052536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(4 tens)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4393453" y="2356316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0.04 (4 hundredths)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4391737" y="2654064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(4 ones)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3684895" y="4498065"/>
            <a:ext cx="259878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0.1   0.2  0.3   0.4   0.5   0.6    0.7   0.8   0.9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3659324" y="4969515"/>
            <a:ext cx="263245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0.01   0.02   0.03  0.04   0.05   0.06    0.07   0.08   0.09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3717602" y="5400748"/>
            <a:ext cx="274466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0.2   0.4  0.6   0.8           1.2   1.4   1.6   1.8    2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>
            <p:ph idx="12" type="sldNum"/>
          </p:nvPr>
        </p:nvSpPr>
        <p:spPr>
          <a:xfrm>
            <a:off x="5116178" y="948228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51" name="Google Shape;251;p18"/>
          <p:cNvGraphicFramePr/>
          <p:nvPr/>
        </p:nvGraphicFramePr>
        <p:xfrm>
          <a:off x="198772" y="6277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3230225"/>
                <a:gridCol w="3230225"/>
              </a:tblGrid>
              <a:tr h="3009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Unfamiliar Contexts (continued)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4582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Shown below are the temperatures recorded over four days.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which day was the lowest temperature recorded? </a:t>
                      </a: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Arrange the temperatures in order, starting with the lowest.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7548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value of the bold digit in the number 17.</a:t>
                      </a:r>
                      <a:r>
                        <a:rPr b="1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 is 4 tenths.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each of the following, how many times the size of 4 tenths is the value of the underlined digit?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7.105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1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.705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17.50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730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values can each missing digit take? List all possibilities</a:t>
                      </a: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4?90 = 4000 to the nearest 1000</a:t>
                      </a: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9?12 = 10,000 to the nearest 1000</a:t>
                      </a: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34,?90 = 30,000 to the nearest 10,000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86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Give an example of a number that remains the same when rounded to one, two or three decimal places.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the difference between four tenths and forty hundredths? Explain your answer.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18"/>
          <p:cNvSpPr txBox="1"/>
          <p:nvPr/>
        </p:nvSpPr>
        <p:spPr>
          <a:xfrm>
            <a:off x="0" y="160010"/>
            <a:ext cx="685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Selection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3463184" y="5434069"/>
            <a:ext cx="2817812" cy="5274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4, 3, 2, 1, 0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3463184" y="6145108"/>
            <a:ext cx="2817812" cy="5274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5, 6, 7, 8, 9</a:t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3481139" y="6850395"/>
            <a:ext cx="2817811" cy="5274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9, 8, 7, 6, 5, 4, 3, 2, 1, 0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1398620" y="3026374"/>
            <a:ext cx="4918284" cy="5453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1398620" y="3755315"/>
            <a:ext cx="4900330" cy="5453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58" name="Google Shape;258;p18"/>
          <p:cNvSpPr/>
          <p:nvPr/>
        </p:nvSpPr>
        <p:spPr>
          <a:xfrm>
            <a:off x="1398620" y="4464203"/>
            <a:ext cx="4900330" cy="5453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0.01 (accept ÷ 100)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470889" y="8233925"/>
            <a:ext cx="2679541" cy="121175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5.0004</a:t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3707572" y="8233925"/>
            <a:ext cx="2679541" cy="121175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difference. They are equivalent.</a:t>
            </a:r>
            <a:endParaRPr/>
          </a:p>
        </p:txBody>
      </p:sp>
      <p:pic>
        <p:nvPicPr>
          <p:cNvPr id="261" name="Google Shape;261;p18"/>
          <p:cNvPicPr preferRelativeResize="0"/>
          <p:nvPr/>
        </p:nvPicPr>
        <p:blipFill rotWithShape="1">
          <a:blip r:embed="rId3">
            <a:alphaModFix/>
          </a:blip>
          <a:srcRect b="70782" l="0" r="9150" t="9332"/>
          <a:stretch/>
        </p:blipFill>
        <p:spPr>
          <a:xfrm>
            <a:off x="733714" y="1201140"/>
            <a:ext cx="2153893" cy="372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8"/>
          <p:cNvSpPr/>
          <p:nvPr/>
        </p:nvSpPr>
        <p:spPr>
          <a:xfrm>
            <a:off x="4296787" y="1407044"/>
            <a:ext cx="2153893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Wednesday</a:t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4296787" y="1921374"/>
            <a:ext cx="2153893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-6</a:t>
            </a:r>
            <a:r>
              <a:rPr b="0" baseline="3000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C, -3</a:t>
            </a:r>
            <a:r>
              <a:rPr b="0" baseline="3000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C, -1</a:t>
            </a:r>
            <a:r>
              <a:rPr b="0" baseline="3000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C, 0</a:t>
            </a:r>
            <a:r>
              <a:rPr b="0" baseline="3000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69" name="Google Shape;269;p19"/>
          <p:cNvGraphicFramePr/>
          <p:nvPr/>
        </p:nvGraphicFramePr>
        <p:xfrm>
          <a:off x="402692" y="6277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6088525"/>
              </a:tblGrid>
              <a:tr h="31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SSDD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</a:rPr>
                        <a:t>SSDD</a:t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0" name="Google Shape;270;p19"/>
          <p:cNvSpPr txBox="1"/>
          <p:nvPr/>
        </p:nvSpPr>
        <p:spPr>
          <a:xfrm>
            <a:off x="0" y="160010"/>
            <a:ext cx="685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Selection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9"/>
          <p:cNvPicPr preferRelativeResize="0"/>
          <p:nvPr/>
        </p:nvPicPr>
        <p:blipFill rotWithShape="1">
          <a:blip r:embed="rId3">
            <a:alphaModFix/>
          </a:blip>
          <a:srcRect b="5794" l="0" r="0" t="5875"/>
          <a:stretch/>
        </p:blipFill>
        <p:spPr>
          <a:xfrm>
            <a:off x="437089" y="1134979"/>
            <a:ext cx="5983821" cy="381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9"/>
          <p:cNvPicPr preferRelativeResize="0"/>
          <p:nvPr/>
        </p:nvPicPr>
        <p:blipFill rotWithShape="1">
          <a:blip r:embed="rId4">
            <a:alphaModFix/>
          </a:blip>
          <a:srcRect b="16769" l="6498" r="3637" t="6837"/>
          <a:stretch/>
        </p:blipFill>
        <p:spPr>
          <a:xfrm>
            <a:off x="587512" y="5409260"/>
            <a:ext cx="5682974" cy="386894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9"/>
          <p:cNvSpPr/>
          <p:nvPr/>
        </p:nvSpPr>
        <p:spPr>
          <a:xfrm>
            <a:off x="3636335" y="5409260"/>
            <a:ext cx="2634151" cy="7469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3721395" y="5409260"/>
            <a:ext cx="2634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each card only once, complete the following inequality: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3684547" y="5867381"/>
            <a:ext cx="467833" cy="604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4211191" y="5870925"/>
            <a:ext cx="467833" cy="604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5233257" y="5863836"/>
            <a:ext cx="467833" cy="604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5755859" y="5845560"/>
            <a:ext cx="467833" cy="604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 rot="10800000">
            <a:off x="4749641" y="5794200"/>
            <a:ext cx="46519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3643401" y="6571857"/>
            <a:ext cx="2634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different statements can you make?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550665" y="1610435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965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5727305" y="1610435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5.69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1710725" y="4412992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695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5806483" y="4273414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 x 5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1292678" y="5988831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1.57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1466935" y="8586776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9751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4289218" y="8701499"/>
            <a:ext cx="1543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£97.51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3221666" y="5979800"/>
            <a:ext cx="3233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9        7                  5       1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4372955" y="6951272"/>
            <a:ext cx="3233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statements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 txBox="1"/>
          <p:nvPr>
            <p:ph idx="12" type="sldNum"/>
          </p:nvPr>
        </p:nvSpPr>
        <p:spPr>
          <a:xfrm>
            <a:off x="5018735" y="934856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95" name="Google Shape;295;p20"/>
          <p:cNvGraphicFramePr/>
          <p:nvPr/>
        </p:nvGraphicFramePr>
        <p:xfrm>
          <a:off x="402692" y="6277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{E7EBEF6D-D132-47F6-9C3C-D586CE99C0E0}</a:tableStyleId>
              </a:tblPr>
              <a:tblGrid>
                <a:gridCol w="6088525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Unfamiliar Contexts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What values can each missing digit take?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4,?90 = 4000 to one significant figure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9,?12 = 10,000 to one significant figure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34,?90 = 30,000 to one significant figure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678? = 7000 to one significant figure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When rounding an integer to three significant figures, the answer is 13 700.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How many possibilities are there for the original integer? You do not need to list them all.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Fill in the gaps: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If the pattern continues, what would the next row be?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Write &gt;, &lt; or = to compare the statements: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20"/>
          <p:cNvSpPr txBox="1"/>
          <p:nvPr/>
        </p:nvSpPr>
        <p:spPr>
          <a:xfrm>
            <a:off x="0" y="160010"/>
            <a:ext cx="685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Selection (CHALLENGE)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371" y="6469629"/>
            <a:ext cx="4657168" cy="14004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0"/>
          <p:cNvSpPr/>
          <p:nvPr/>
        </p:nvSpPr>
        <p:spPr>
          <a:xfrm>
            <a:off x="3446955" y="1116540"/>
            <a:ext cx="2153893" cy="2568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4, 3, 2, 1, 0</a:t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3446955" y="1485098"/>
            <a:ext cx="2153893" cy="2568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5, 6, 7, 8, 9</a:t>
            </a: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3446955" y="1862952"/>
            <a:ext cx="2153893" cy="2568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0, 1, 2, 3, 4, 5, 6, 7, 8, 9</a:t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3446955" y="2212203"/>
            <a:ext cx="2153893" cy="2568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0, 1, 2, 3, 4, 5, 6, 7, 8, 9</a:t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4842024" y="3074593"/>
            <a:ext cx="1505271" cy="36177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3078776" y="3878554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3076190" y="4341140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3086726" y="4835806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3086726" y="5328297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3086725" y="5784094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520875" y="8124278"/>
            <a:ext cx="5826420" cy="3617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09" name="Google Shape;309;p20"/>
          <p:cNvPicPr preferRelativeResize="0"/>
          <p:nvPr/>
        </p:nvPicPr>
        <p:blipFill rotWithShape="1">
          <a:blip r:embed="rId5">
            <a:alphaModFix/>
          </a:blip>
          <a:srcRect b="-1" l="34609" r="8300" t="53659"/>
          <a:stretch/>
        </p:blipFill>
        <p:spPr>
          <a:xfrm>
            <a:off x="475184" y="8911065"/>
            <a:ext cx="1664766" cy="36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0"/>
          <p:cNvPicPr preferRelativeResize="0"/>
          <p:nvPr/>
        </p:nvPicPr>
        <p:blipFill rotWithShape="1">
          <a:blip r:embed="rId6">
            <a:alphaModFix/>
          </a:blip>
          <a:srcRect b="7982" l="36680" r="10248" t="48708"/>
          <a:stretch/>
        </p:blipFill>
        <p:spPr>
          <a:xfrm>
            <a:off x="4808606" y="8891731"/>
            <a:ext cx="1575822" cy="392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35778" y="8874168"/>
            <a:ext cx="1877000" cy="45289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0"/>
          <p:cNvSpPr txBox="1"/>
          <p:nvPr/>
        </p:nvSpPr>
        <p:spPr>
          <a:xfrm>
            <a:off x="3794077" y="6749927"/>
            <a:ext cx="4203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313" name="Google Shape;313;p20"/>
          <p:cNvSpPr txBox="1"/>
          <p:nvPr/>
        </p:nvSpPr>
        <p:spPr>
          <a:xfrm>
            <a:off x="1421641" y="7026926"/>
            <a:ext cx="5613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x 10</a:t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4412778" y="7486935"/>
            <a:ext cx="6543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smaller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1176762" y="8955675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3309848" y="8956134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 rot="10800000">
            <a:off x="5485710" y="8997693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