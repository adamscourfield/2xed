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CF8A2B-1A6F-4BA7-81E8-2488D2778668}">
  <a:tblStyle styleId="{76CF8A2B-1A6F-4BA7-81E8-2488D277866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5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5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5221080" y="940717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33639" y="315397"/>
            <a:ext cx="6572968" cy="141486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N3.5 – Multiplication (with carrying)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51394" y="682515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177282" y="982209"/>
            <a:ext cx="46679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able to multiply numbers with carrying.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worded problems involving multiplication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98052" y="368600"/>
            <a:ext cx="6263979" cy="28541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be able to use formal methods to multiply numbers (with carrying)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398825" y="684306"/>
            <a:ext cx="1163206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</a:t>
            </a:r>
            <a:endParaRPr/>
          </a:p>
        </p:txBody>
      </p:sp>
      <p:cxnSp>
        <p:nvCxnSpPr>
          <p:cNvPr id="96" name="Google Shape;96;p13"/>
          <p:cNvCxnSpPr/>
          <p:nvPr/>
        </p:nvCxnSpPr>
        <p:spPr>
          <a:xfrm flipH="1" rot="10800000">
            <a:off x="988320" y="4994290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13"/>
          <p:cNvSpPr/>
          <p:nvPr/>
        </p:nvSpPr>
        <p:spPr>
          <a:xfrm>
            <a:off x="133639" y="3063695"/>
            <a:ext cx="6587639" cy="27105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3"/>
          <p:cNvCxnSpPr/>
          <p:nvPr/>
        </p:nvCxnSpPr>
        <p:spPr>
          <a:xfrm>
            <a:off x="133639" y="4215475"/>
            <a:ext cx="658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9" name="Google Shape;99;p13"/>
          <p:cNvCxnSpPr>
            <a:stCxn id="97" idx="2"/>
            <a:endCxn id="97" idx="0"/>
          </p:cNvCxnSpPr>
          <p:nvPr/>
        </p:nvCxnSpPr>
        <p:spPr>
          <a:xfrm rot="10800000">
            <a:off x="3427459" y="3063734"/>
            <a:ext cx="0" cy="271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 txBox="1"/>
          <p:nvPr/>
        </p:nvSpPr>
        <p:spPr>
          <a:xfrm>
            <a:off x="151394" y="3063694"/>
            <a:ext cx="327760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of multiplying two or more numbers or terms together.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3537499" y="3014100"/>
            <a:ext cx="318377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words include times, multiply and factor.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Multiplication does not always make numbers bigger.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33639" y="4209854"/>
            <a:ext cx="3271473" cy="18710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6" r="0" t="-32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3605187" y="4172979"/>
            <a:ext cx="3105645" cy="1567096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015976" y="4004730"/>
            <a:ext cx="919932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5" name="Google Shape;105;p13"/>
          <p:cNvGraphicFramePr/>
          <p:nvPr/>
        </p:nvGraphicFramePr>
        <p:xfrm>
          <a:off x="138353" y="64599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1151725"/>
                <a:gridCol w="1806925"/>
                <a:gridCol w="1806925"/>
                <a:gridCol w="1806925"/>
              </a:tblGrid>
              <a:tr h="25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value of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Evaluate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102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Multiply the ones column of the second number by the ones and tens column of the first number.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Multiply the tens column of the second number by the ones and tens column of the first number.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47 x 24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71 x 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38 x 15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6" name="Google Shape;106;p13"/>
          <p:cNvSpPr txBox="1"/>
          <p:nvPr/>
        </p:nvSpPr>
        <p:spPr>
          <a:xfrm>
            <a:off x="1515220" y="6193638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3158382" y="620431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5077873" y="6204316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138353" y="5903528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two-digit numbers by two-digit numbers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5">
            <a:alphaModFix/>
          </a:blip>
          <a:srcRect b="21609" l="0" r="0" t="0"/>
          <a:stretch/>
        </p:blipFill>
        <p:spPr>
          <a:xfrm>
            <a:off x="1385162" y="7017817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3"/>
          <p:cNvPicPr preferRelativeResize="0"/>
          <p:nvPr/>
        </p:nvPicPr>
        <p:blipFill rotWithShape="1">
          <a:blip r:embed="rId5">
            <a:alphaModFix/>
          </a:blip>
          <a:srcRect b="21609" l="0" r="0" t="0"/>
          <a:stretch/>
        </p:blipFill>
        <p:spPr>
          <a:xfrm>
            <a:off x="4963742" y="7037328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3"/>
          <p:cNvPicPr preferRelativeResize="0"/>
          <p:nvPr/>
        </p:nvPicPr>
        <p:blipFill rotWithShape="1">
          <a:blip r:embed="rId5">
            <a:alphaModFix/>
          </a:blip>
          <a:srcRect b="21609" l="0" r="0" t="0"/>
          <a:stretch/>
        </p:blipFill>
        <p:spPr>
          <a:xfrm>
            <a:off x="3174452" y="7037328"/>
            <a:ext cx="1670820" cy="195218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133638" y="1797667"/>
            <a:ext cx="6577194" cy="1200555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60470" y="1761023"/>
            <a:ext cx="27782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 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87999" y="1984620"/>
            <a:ext cx="67680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have already learned the how to multiply using written methods in primary school, and now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going to practise it again to make sure those skills are still strong. It’s important to be confident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steps like carrying digits and using a placeholder zero when multiplying by the tens column. This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help you get accurate answers and avoid small mistakes. We’re doing this now to prepare for</a:t>
            </a:r>
            <a:endParaRPr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multiplying with decimals, where these same skills are just as important.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1428036" y="772132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1128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5065036" y="772132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570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3190881" y="772132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1704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14"/>
          <p:cNvGraphicFramePr/>
          <p:nvPr/>
        </p:nvGraphicFramePr>
        <p:xfrm>
          <a:off x="120571" y="4384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2190825"/>
                <a:gridCol w="2190825"/>
                <a:gridCol w="2190825"/>
              </a:tblGrid>
              <a:tr h="230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09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14"/>
          <p:cNvSpPr txBox="1"/>
          <p:nvPr>
            <p:ph idx="12" type="sldNum"/>
          </p:nvPr>
        </p:nvSpPr>
        <p:spPr>
          <a:xfrm>
            <a:off x="5207468" y="9490940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06284" y="149495"/>
            <a:ext cx="795466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1. Work out the following multiplications.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lphaLcParenR"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 x 16 				b) 47 x 24 				c) 53 x 33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106284" y="60536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27" name="Google Shape;127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400942" y="663010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4905323" y="663010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2668533" y="663010"/>
            <a:ext cx="1670820" cy="195218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129835" y="2573279"/>
            <a:ext cx="657247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64 x 27				e) 85 x 42				f) 67 x 35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367152" y="3017472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4871533" y="3017472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2634743" y="3017472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367152" y="5326195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4871533" y="5326195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2634743" y="5326195"/>
            <a:ext cx="1670820" cy="195218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 txBox="1"/>
          <p:nvPr/>
        </p:nvSpPr>
        <p:spPr>
          <a:xfrm>
            <a:off x="120888" y="4874189"/>
            <a:ext cx="657247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g) 76 x 35				h) 76 x 53				i) 67 x 53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367152" y="7636549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4871533" y="7636549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2634743" y="7636549"/>
            <a:ext cx="1670820" cy="195218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/>
        </p:nvSpPr>
        <p:spPr>
          <a:xfrm>
            <a:off x="120888" y="7184546"/>
            <a:ext cx="657247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57 x 63				k) 57 x 36				l) 75 x 36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428161" y="88718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432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5024837" y="90507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1749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2771586" y="90507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1128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463156" y="35358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1728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5020175" y="35358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2345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2835732" y="35358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3570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463156" y="581720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2660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5020175" y="581720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3551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2835732" y="581720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4028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463156" y="820239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3591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5020175" y="820239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2700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2835732" y="820239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2052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Google Shape;158;p15"/>
          <p:cNvGraphicFramePr/>
          <p:nvPr/>
        </p:nvGraphicFramePr>
        <p:xfrm>
          <a:off x="175358" y="67536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2171750"/>
                <a:gridCol w="2171750"/>
                <a:gridCol w="2171750"/>
              </a:tblGrid>
              <a:tr h="28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15"/>
          <p:cNvSpPr txBox="1"/>
          <p:nvPr>
            <p:ph idx="12" type="sldNum"/>
          </p:nvPr>
        </p:nvSpPr>
        <p:spPr>
          <a:xfrm>
            <a:off x="5223630" y="945003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365676" y="446551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5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4870057" y="446551"/>
            <a:ext cx="1670820" cy="195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b="21609" l="0" r="0" t="0"/>
          <a:stretch/>
        </p:blipFill>
        <p:spPr>
          <a:xfrm>
            <a:off x="2633267" y="446551"/>
            <a:ext cx="1670820" cy="195218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156930" y="0"/>
            <a:ext cx="657247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75 x 63				n) 95 x 63				o) 85 x 36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15"/>
          <p:cNvGraphicFramePr/>
          <p:nvPr/>
        </p:nvGraphicFramePr>
        <p:xfrm>
          <a:off x="194202" y="31498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1176050"/>
                <a:gridCol w="1779750"/>
                <a:gridCol w="1779750"/>
                <a:gridCol w="1779750"/>
              </a:tblGrid>
              <a:tr h="34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Work out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value of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Evaluate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0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1) Multiply the ones column of the second number by the ones and tens column of the first number.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</a:rPr>
                        <a:t>2) Multiply the tens column of the second number by the ones and tens column of the first number.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247 x 24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24 x 751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638 x 15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15"/>
          <p:cNvSpPr txBox="1"/>
          <p:nvPr/>
        </p:nvSpPr>
        <p:spPr>
          <a:xfrm>
            <a:off x="1706661" y="290952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3265203" y="290952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5015941" y="2911463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pic>
        <p:nvPicPr>
          <p:cNvPr id="168" name="Google Shape;1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6545" y="3784410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9734" y="3784410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5787" y="3784410"/>
            <a:ext cx="1670820" cy="249033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5"/>
          <p:cNvSpPr/>
          <p:nvPr/>
        </p:nvSpPr>
        <p:spPr>
          <a:xfrm>
            <a:off x="185506" y="635160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72" name="Google Shape;1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305" y="7083481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3196" y="7083481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560" y="7083481"/>
            <a:ext cx="1670820" cy="249033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5"/>
          <p:cNvSpPr/>
          <p:nvPr/>
        </p:nvSpPr>
        <p:spPr>
          <a:xfrm>
            <a:off x="175358" y="2599032"/>
            <a:ext cx="6014442" cy="28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Multiplying numbers with 3 or more digits by a two-digit number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194201" y="6428280"/>
            <a:ext cx="68161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2. Work out the following multiplications.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325 x 15 	                         		b) 26 x 245				c) 323 x 37 </a:t>
            </a:r>
            <a:endParaRPr/>
          </a:p>
        </p:txBody>
      </p:sp>
      <p:graphicFrame>
        <p:nvGraphicFramePr>
          <p:cNvPr id="177" name="Google Shape;177;p15"/>
          <p:cNvGraphicFramePr/>
          <p:nvPr/>
        </p:nvGraphicFramePr>
        <p:xfrm>
          <a:off x="194201" y="1840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2171750"/>
                <a:gridCol w="2171750"/>
                <a:gridCol w="2171750"/>
              </a:tblGrid>
              <a:tr h="2350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15"/>
          <p:cNvSpPr txBox="1"/>
          <p:nvPr/>
        </p:nvSpPr>
        <p:spPr>
          <a:xfrm>
            <a:off x="462654" y="87084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4725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5019673" y="87084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3060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2835230" y="87084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5985</a:t>
            </a:r>
            <a:endParaRPr/>
          </a:p>
        </p:txBody>
      </p:sp>
      <p:sp>
        <p:nvSpPr>
          <p:cNvPr id="181" name="Google Shape;181;p15"/>
          <p:cNvSpPr txBox="1"/>
          <p:nvPr/>
        </p:nvSpPr>
        <p:spPr>
          <a:xfrm>
            <a:off x="1530319" y="433670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5928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3279244" y="433670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18024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5122425" y="433739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9570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462654" y="761917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4875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4702141" y="762214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11951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2598677" y="762214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6370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16"/>
          <p:cNvGraphicFramePr/>
          <p:nvPr/>
        </p:nvGraphicFramePr>
        <p:xfrm>
          <a:off x="171364" y="3147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2171750"/>
                <a:gridCol w="2171750"/>
                <a:gridCol w="2171750"/>
              </a:tblGrid>
              <a:tr h="307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16"/>
          <p:cNvSpPr txBox="1"/>
          <p:nvPr>
            <p:ph idx="12" type="sldNum"/>
          </p:nvPr>
        </p:nvSpPr>
        <p:spPr>
          <a:xfrm>
            <a:off x="5229268" y="9425112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285522" y="158042"/>
            <a:ext cx="657247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16 x 502				e) 641 x 28				f) 15 x 425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694" y="704424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3721" y="704424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661" y="704424"/>
            <a:ext cx="1670820" cy="2490334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6"/>
          <p:cNvSpPr txBox="1"/>
          <p:nvPr/>
        </p:nvSpPr>
        <p:spPr>
          <a:xfrm>
            <a:off x="230888" y="3430883"/>
            <a:ext cx="665351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lphaLcParenR" startAt="7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300 x 15 				h) 205 x 26 				i) 303 x 30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j) 16 x 106				k) 28 x 604				l) 14 x 105</a:t>
            </a:r>
            <a:endParaRPr/>
          </a:p>
        </p:txBody>
      </p:sp>
      <p:pic>
        <p:nvPicPr>
          <p:cNvPr id="198" name="Google Shape;19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81" y="3751059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81" y="6925561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254" y="3751059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2959" y="6925561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4770" y="3751059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3471" y="6925561"/>
            <a:ext cx="1670820" cy="249033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6"/>
          <p:cNvSpPr txBox="1"/>
          <p:nvPr/>
        </p:nvSpPr>
        <p:spPr>
          <a:xfrm>
            <a:off x="398067" y="14990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8032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4634368" y="14990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6375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2530904" y="14990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17948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541909" y="720830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1696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4781396" y="721127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1470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2677932" y="721127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16912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561124" y="459392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4500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4935109" y="45968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9090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2831645" y="459689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5330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/>
        </p:nvSpPr>
        <p:spPr>
          <a:xfrm>
            <a:off x="160489" y="-121795"/>
            <a:ext cx="6572478" cy="4216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m) 1234 x 16                                                                         n) 4321 x 61 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o) 9999 x 19                                                                         p) 9999 x 91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17"/>
          <p:cNvGraphicFramePr/>
          <p:nvPr/>
        </p:nvGraphicFramePr>
        <p:xfrm>
          <a:off x="141401" y="3147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3286925"/>
                <a:gridCol w="3286925"/>
              </a:tblGrid>
              <a:tr h="20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9" name="Google Shape;2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925303" y="172667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238887" y="201243"/>
            <a:ext cx="1670820" cy="2490334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 txBox="1"/>
          <p:nvPr>
            <p:ph idx="12" type="sldNum"/>
          </p:nvPr>
        </p:nvSpPr>
        <p:spPr>
          <a:xfrm>
            <a:off x="5172189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22" name="Google Shape;2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925303" y="2189238"/>
            <a:ext cx="1670820" cy="2490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238220" y="2150817"/>
            <a:ext cx="1670820" cy="24903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4" name="Google Shape;224;p17"/>
          <p:cNvGraphicFramePr/>
          <p:nvPr/>
        </p:nvGraphicFramePr>
        <p:xfrm>
          <a:off x="142761" y="50822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1100250"/>
                <a:gridCol w="1824075"/>
                <a:gridCol w="1824075"/>
                <a:gridCol w="1824075"/>
              </a:tblGrid>
              <a:tr h="39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football team brings 8 coaches of supporters to a cup match.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Each coach holds 53 passengers.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many supporters are brought to the cup match?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In a lecture theatre there are 12 row of chairs, 37 chairs in each row. How many people can be seated in the lecture theatre?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 photo album contains 28 pages. Each page can hold 6 photos. How many photos can one album hold?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6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 Decide what you are multipliying.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Carry out the multiplication.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17"/>
          <p:cNvSpPr txBox="1"/>
          <p:nvPr/>
        </p:nvSpPr>
        <p:spPr>
          <a:xfrm>
            <a:off x="1595085" y="4841503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3302004" y="483460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5073630" y="4834602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141401" y="4490756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Solving worded problems involving multiplication.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2731" y="7074734"/>
            <a:ext cx="1723058" cy="14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1134" y="7074734"/>
            <a:ext cx="1723058" cy="147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6762" y="7074734"/>
            <a:ext cx="1723058" cy="14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 txBox="1"/>
          <p:nvPr/>
        </p:nvSpPr>
        <p:spPr>
          <a:xfrm>
            <a:off x="935526" y="75966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19744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4744751" y="75966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263581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896439" y="272587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189981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4677903" y="272587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909909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1521165" y="725971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x 53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5102939" y="7244564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 x 6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3302004" y="724753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 x 37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1171720" y="8887482"/>
            <a:ext cx="19337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424 supporters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5158072" y="889489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168 photos</a:t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3334047" y="8885526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444 people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idx="12" type="sldNum"/>
          </p:nvPr>
        </p:nvSpPr>
        <p:spPr>
          <a:xfrm>
            <a:off x="4843463" y="916710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5384318" y="956217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9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250396" y="172735"/>
            <a:ext cx="1137954" cy="420116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1377593" y="345826"/>
            <a:ext cx="346587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3. Solve the following problems.</a:t>
            </a:r>
            <a:endParaRPr/>
          </a:p>
        </p:txBody>
      </p:sp>
      <p:pic>
        <p:nvPicPr>
          <p:cNvPr id="250" name="Google Shape;2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6562" y="1081279"/>
            <a:ext cx="3078362" cy="8610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9615" y="177295"/>
            <a:ext cx="3078362" cy="861080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2" name="Google Shape;252;p18"/>
          <p:cNvGraphicFramePr/>
          <p:nvPr/>
        </p:nvGraphicFramePr>
        <p:xfrm>
          <a:off x="250396" y="6479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3442275"/>
              </a:tblGrid>
              <a:tr h="109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A grocer has 37 packs of bananas, Each pack contains 7 bananas. How many bananas are there?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b)</a:t>
                      </a:r>
                      <a:r>
                        <a:rPr lang="en-GB" sz="1200"/>
                        <a:t> Marbles are sold in packs of 25. A shop has 16 bags. How many marbles are there altogether?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c) </a:t>
                      </a:r>
                      <a:r>
                        <a:rPr lang="en-GB" sz="1200"/>
                        <a:t>Envelopes are sold in packs of 14. A supplier has 107 packs. How many envelopes does the supplier have?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d) </a:t>
                      </a:r>
                      <a:r>
                        <a:rPr lang="en-GB" sz="1200"/>
                        <a:t>A library has 105 shelves. Each shelf has 38 books. How many books are there in the library?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e) </a:t>
                      </a:r>
                      <a:r>
                        <a:rPr b="0" i="0" lang="en-GB" sz="1200">
                          <a:solidFill>
                            <a:srgbClr val="000000"/>
                          </a:solidFill>
                        </a:rPr>
                        <a:t>24 folders each has 56 sheets of paper inside them. How many sheets of paper are there altogether?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1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f) </a:t>
                      </a:r>
                      <a:r>
                        <a:rPr b="0" i="0" lang="en-GB" sz="1200">
                          <a:solidFill>
                            <a:srgbClr val="000000"/>
                          </a:solidFill>
                        </a:rPr>
                        <a:t>There are 226 pencils in a packet. How many pencils are there in 12 such packets?</a:t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g) </a:t>
                      </a:r>
                      <a:r>
                        <a:rPr lang="en-GB" sz="1200"/>
                        <a:t>It takes Laura 18 minutes to walk to St John’s School each day. She walked to school and back for 42 days. How many minutes did Laura spend walking </a:t>
                      </a:r>
                      <a:r>
                        <a:rPr lang="en-GB" sz="1200" u="sng"/>
                        <a:t>to </a:t>
                      </a:r>
                      <a:r>
                        <a:rPr lang="en-GB" sz="1200"/>
                        <a:t>and </a:t>
                      </a:r>
                      <a:r>
                        <a:rPr lang="en-GB" sz="1200" u="sng"/>
                        <a:t>from</a:t>
                      </a:r>
                      <a:r>
                        <a:rPr lang="en-GB" sz="1200"/>
                        <a:t> school in one week?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40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h) </a:t>
                      </a:r>
                      <a:r>
                        <a:rPr b="0" i="0" lang="en-GB" sz="1200" u="none" strike="noStrike"/>
                        <a:t>A theatre has 46 rows. There are 42 seats in each row. During a show at the theatre, there are 50 empty seats. Work out how many people are watching the show.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18"/>
          <p:cNvSpPr/>
          <p:nvPr/>
        </p:nvSpPr>
        <p:spPr>
          <a:xfrm>
            <a:off x="3706956" y="172735"/>
            <a:ext cx="3078362" cy="4728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1493750" y="1098867"/>
            <a:ext cx="19224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259 bananas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1308512" y="3157579"/>
            <a:ext cx="23077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1498 envelopes</a:t>
            </a:r>
            <a:endParaRPr/>
          </a:p>
        </p:txBody>
      </p:sp>
      <p:sp>
        <p:nvSpPr>
          <p:cNvPr id="256" name="Google Shape;256;p18"/>
          <p:cNvSpPr txBox="1"/>
          <p:nvPr/>
        </p:nvSpPr>
        <p:spPr>
          <a:xfrm>
            <a:off x="1424572" y="2115813"/>
            <a:ext cx="199159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400 marbles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1462090" y="4288356"/>
            <a:ext cx="23077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3990 books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1509710" y="5515359"/>
            <a:ext cx="23077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1344 sheets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>
            <a:off x="1388350" y="6422447"/>
            <a:ext cx="23077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2712 pencils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1388350" y="7906853"/>
            <a:ext cx="23077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1512 minutes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388350" y="9291975"/>
            <a:ext cx="23077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1882 people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151" y="4406532"/>
            <a:ext cx="6247171" cy="5395284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9"/>
          <p:cNvSpPr/>
          <p:nvPr/>
        </p:nvSpPr>
        <p:spPr>
          <a:xfrm>
            <a:off x="132736" y="4188465"/>
            <a:ext cx="3470231" cy="561335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 txBox="1"/>
          <p:nvPr/>
        </p:nvSpPr>
        <p:spPr>
          <a:xfrm>
            <a:off x="28574" y="65194"/>
            <a:ext cx="59251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4. Each brick of the pyramid is calculated by finding the product of the two bricks below it.  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 the value of each missing brick.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366" y="639341"/>
            <a:ext cx="3277058" cy="1729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1545" y="657935"/>
            <a:ext cx="3272295" cy="1695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368" y="2468967"/>
            <a:ext cx="3262768" cy="1676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57577" y="2447090"/>
            <a:ext cx="3296263" cy="169851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9"/>
          <p:cNvSpPr txBox="1"/>
          <p:nvPr/>
        </p:nvSpPr>
        <p:spPr>
          <a:xfrm>
            <a:off x="86084" y="596149"/>
            <a:ext cx="511323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3422722" y="2387733"/>
            <a:ext cx="511323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51467" y="2382287"/>
            <a:ext cx="511323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3439517" y="587001"/>
            <a:ext cx="511323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 txBox="1"/>
          <p:nvPr>
            <p:ph idx="12" type="sldNum"/>
          </p:nvPr>
        </p:nvSpPr>
        <p:spPr>
          <a:xfrm>
            <a:off x="5182214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8" name="Google Shape;278;p19"/>
          <p:cNvSpPr txBox="1"/>
          <p:nvPr/>
        </p:nvSpPr>
        <p:spPr>
          <a:xfrm>
            <a:off x="94332" y="4459004"/>
            <a:ext cx="3192720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Work out and choose 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b="0" i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&gt; or = to make the statements correct: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145 x 7            135 x 8</a:t>
            </a:r>
            <a:endParaRPr/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lphaLcParenR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26 x 8             126.8 + 80.1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 x 13           250 – 42.8</a:t>
            </a:r>
            <a:endParaRPr/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1005 x 7            seven thousand and five</a:t>
            </a:r>
            <a:endParaRPr/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124 x 71           88 x 100</a:t>
            </a:r>
            <a:endParaRPr/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999 x 9            9 x 999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920240" y="5158282"/>
            <a:ext cx="294968" cy="339213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870581" y="5894353"/>
            <a:ext cx="294968" cy="339213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900077" y="6782973"/>
            <a:ext cx="294968" cy="339213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997347" y="7504744"/>
            <a:ext cx="294968" cy="339213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987432" y="8463277"/>
            <a:ext cx="294968" cy="339213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934528" y="9170761"/>
            <a:ext cx="294968" cy="339213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19"/>
          <p:cNvGraphicFramePr/>
          <p:nvPr/>
        </p:nvGraphicFramePr>
        <p:xfrm>
          <a:off x="137196" y="488034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3442275"/>
              </a:tblGrid>
              <a:tr h="81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6" name="Google Shape;286;p19"/>
          <p:cNvGraphicFramePr/>
          <p:nvPr/>
        </p:nvGraphicFramePr>
        <p:xfrm>
          <a:off x="51468" y="5700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3381825"/>
                <a:gridCol w="3381825"/>
              </a:tblGrid>
              <a:tr h="18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7" name="Google Shape;287;p19"/>
          <p:cNvSpPr txBox="1"/>
          <p:nvPr/>
        </p:nvSpPr>
        <p:spPr>
          <a:xfrm>
            <a:off x="555676" y="134272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140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1664762" y="134272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112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1085119" y="78752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15680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3885854" y="133387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168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4994940" y="1333877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264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4415297" y="77867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44352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555676" y="313298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187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1664762" y="3132985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204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1085119" y="2577783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38148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3824921" y="313353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144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4934007" y="3133532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288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4354364" y="2578330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41472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1794951" y="5297440"/>
            <a:ext cx="15570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1015 &lt; 1080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2022598" y="6836641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221 &gt; 207.2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1859415" y="7710568"/>
            <a:ext cx="16887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7035 &gt; 7005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1987196" y="8463277"/>
            <a:ext cx="15189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8804 &gt; 8800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834959" y="9135894"/>
            <a:ext cx="494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1914752" y="6079349"/>
            <a:ext cx="141070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208 &gt; 206.9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Google Shape;309;p20"/>
          <p:cNvGraphicFramePr/>
          <p:nvPr/>
        </p:nvGraphicFramePr>
        <p:xfrm>
          <a:off x="160388" y="4563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2201400"/>
                <a:gridCol w="2201400"/>
                <a:gridCol w="2201400"/>
              </a:tblGrid>
              <a:tr h="133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  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" name="Google Shape;310;p20"/>
          <p:cNvSpPr txBox="1"/>
          <p:nvPr/>
        </p:nvSpPr>
        <p:spPr>
          <a:xfrm>
            <a:off x="80501" y="126402"/>
            <a:ext cx="59251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6. Fill in the gaps in the following multiplications.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 txBox="1"/>
          <p:nvPr>
            <p:ph idx="12" type="sldNum"/>
          </p:nvPr>
        </p:nvSpPr>
        <p:spPr>
          <a:xfrm>
            <a:off x="5251676" y="944773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137653" y="4580090"/>
            <a:ext cx="662400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3" name="Google Shape;313;p20"/>
          <p:cNvGraphicFramePr/>
          <p:nvPr/>
        </p:nvGraphicFramePr>
        <p:xfrm>
          <a:off x="161099" y="49204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{76CF8A2B-1A6F-4BA7-81E8-2488D2778668}</a:tableStyleId>
              </a:tblPr>
              <a:tblGrid>
                <a:gridCol w="6585125"/>
              </a:tblGrid>
              <a:tr h="848850">
                <a:tc>
                  <a:txBody>
                    <a:bodyPr/>
                    <a:lstStyle/>
                    <a:p>
                      <a:pPr indent="-228600" lvl="0" marL="2286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AutoNum type="arabicPeriod"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Work out 28 x 3.</a:t>
                      </a:r>
                      <a:endParaRPr/>
                    </a:p>
                    <a:p>
                      <a:pPr indent="-152400" lvl="0" marL="2286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-152400" lvl="0" marL="2286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-152400" lvl="0" marL="2286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  <a:p>
                      <a:pPr indent="-152400" lvl="0" marL="22860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b="0" sz="1200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28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rgbClr val="000000"/>
                          </a:solidFill>
                        </a:rPr>
                        <a:t>2. Find the product of 128 and 3.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78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3. Find the value of 47 x 23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6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6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4. </a:t>
                      </a: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Timothy saves £34 a month.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Calculate how much money Timothy will save in half a year.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4" name="Google Shape;314;p20"/>
          <p:cNvSpPr txBox="1"/>
          <p:nvPr/>
        </p:nvSpPr>
        <p:spPr>
          <a:xfrm>
            <a:off x="1295380" y="494743"/>
            <a:ext cx="533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1300001" y="794925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1544020" y="503854"/>
            <a:ext cx="350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cxnSp>
        <p:nvCxnSpPr>
          <p:cNvPr id="317" name="Google Shape;317;p20"/>
          <p:cNvCxnSpPr/>
          <p:nvPr/>
        </p:nvCxnSpPr>
        <p:spPr>
          <a:xfrm>
            <a:off x="747612" y="1154672"/>
            <a:ext cx="82601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8" name="Google Shape;318;p20"/>
          <p:cNvCxnSpPr/>
          <p:nvPr/>
        </p:nvCxnSpPr>
        <p:spPr>
          <a:xfrm>
            <a:off x="756238" y="1494982"/>
            <a:ext cx="821194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p20"/>
          <p:cNvSpPr txBox="1"/>
          <p:nvPr/>
        </p:nvSpPr>
        <p:spPr>
          <a:xfrm>
            <a:off x="782743" y="1133655"/>
            <a:ext cx="8229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9  7  2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3415971" y="499364"/>
            <a:ext cx="533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3420592" y="799546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3621481" y="508475"/>
            <a:ext cx="350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2898538" y="1159533"/>
            <a:ext cx="8229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5  4  8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5338076" y="556643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5774240" y="503983"/>
            <a:ext cx="533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5778861" y="804165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5979750" y="513094"/>
            <a:ext cx="350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cxnSp>
        <p:nvCxnSpPr>
          <p:cNvPr id="328" name="Google Shape;328;p20"/>
          <p:cNvCxnSpPr/>
          <p:nvPr/>
        </p:nvCxnSpPr>
        <p:spPr>
          <a:xfrm>
            <a:off x="5061271" y="1163912"/>
            <a:ext cx="1008463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9" name="Google Shape;329;p20"/>
          <p:cNvCxnSpPr/>
          <p:nvPr/>
        </p:nvCxnSpPr>
        <p:spPr>
          <a:xfrm>
            <a:off x="5061271" y="1504222"/>
            <a:ext cx="1012273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0" name="Google Shape;330;p20"/>
          <p:cNvSpPr txBox="1"/>
          <p:nvPr/>
        </p:nvSpPr>
        <p:spPr>
          <a:xfrm>
            <a:off x="5025478" y="1150906"/>
            <a:ext cx="11399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4  3  1  1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155951" y="485383"/>
            <a:ext cx="5541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</a:t>
            </a:r>
            <a:endParaRPr/>
          </a:p>
        </p:txBody>
      </p:sp>
      <p:sp>
        <p:nvSpPr>
          <p:cNvPr id="332" name="Google Shape;332;p20"/>
          <p:cNvSpPr txBox="1"/>
          <p:nvPr/>
        </p:nvSpPr>
        <p:spPr>
          <a:xfrm>
            <a:off x="2321506" y="490002"/>
            <a:ext cx="5541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4580008" y="485383"/>
            <a:ext cx="5541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c)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1530368" y="1834214"/>
            <a:ext cx="350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cxnSp>
        <p:nvCxnSpPr>
          <p:cNvPr id="335" name="Google Shape;335;p20"/>
          <p:cNvCxnSpPr/>
          <p:nvPr/>
        </p:nvCxnSpPr>
        <p:spPr>
          <a:xfrm>
            <a:off x="605527" y="2575584"/>
            <a:ext cx="997573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36" name="Google Shape;336;p20"/>
          <p:cNvCxnSpPr/>
          <p:nvPr/>
        </p:nvCxnSpPr>
        <p:spPr>
          <a:xfrm>
            <a:off x="813812" y="2845302"/>
            <a:ext cx="1001383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7" name="Google Shape;337;p20"/>
          <p:cNvSpPr txBox="1"/>
          <p:nvPr/>
        </p:nvSpPr>
        <p:spPr>
          <a:xfrm>
            <a:off x="647136" y="1833286"/>
            <a:ext cx="10077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5  3  7  </a:t>
            </a:r>
            <a:endParaRPr/>
          </a:p>
        </p:txBody>
      </p:sp>
      <p:sp>
        <p:nvSpPr>
          <p:cNvPr id="338" name="Google Shape;338;p20"/>
          <p:cNvSpPr txBox="1"/>
          <p:nvPr/>
        </p:nvSpPr>
        <p:spPr>
          <a:xfrm>
            <a:off x="122000" y="1806503"/>
            <a:ext cx="5541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d)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3761902" y="1848442"/>
            <a:ext cx="350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2870362" y="1847514"/>
            <a:ext cx="1034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6  3  4  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2379412" y="1820731"/>
            <a:ext cx="5541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e)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6025730" y="1876202"/>
            <a:ext cx="350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5134190" y="1875274"/>
            <a:ext cx="9816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7  2  5  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4608736" y="1848491"/>
            <a:ext cx="5541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f)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348531" y="3236776"/>
            <a:ext cx="5541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g)</a:t>
            </a:r>
            <a:endParaRPr/>
          </a:p>
        </p:txBody>
      </p:sp>
      <p:sp>
        <p:nvSpPr>
          <p:cNvPr id="346" name="Google Shape;346;p20"/>
          <p:cNvSpPr txBox="1"/>
          <p:nvPr/>
        </p:nvSpPr>
        <p:spPr>
          <a:xfrm>
            <a:off x="2402913" y="3241393"/>
            <a:ext cx="6327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h)</a:t>
            </a:r>
            <a:endParaRPr/>
          </a:p>
        </p:txBody>
      </p:sp>
      <p:sp>
        <p:nvSpPr>
          <p:cNvPr id="347" name="Google Shape;347;p20"/>
          <p:cNvSpPr txBox="1"/>
          <p:nvPr/>
        </p:nvSpPr>
        <p:spPr>
          <a:xfrm>
            <a:off x="3899629" y="3277279"/>
            <a:ext cx="350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cxnSp>
        <p:nvCxnSpPr>
          <p:cNvPr id="348" name="Google Shape;348;p20"/>
          <p:cNvCxnSpPr/>
          <p:nvPr/>
        </p:nvCxnSpPr>
        <p:spPr>
          <a:xfrm>
            <a:off x="2873740" y="3928097"/>
            <a:ext cx="1095526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9" name="Google Shape;349;p20"/>
          <p:cNvCxnSpPr/>
          <p:nvPr/>
        </p:nvCxnSpPr>
        <p:spPr>
          <a:xfrm>
            <a:off x="2873746" y="4299014"/>
            <a:ext cx="1112773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0" name="Google Shape;350;p20"/>
          <p:cNvSpPr txBox="1"/>
          <p:nvPr/>
        </p:nvSpPr>
        <p:spPr>
          <a:xfrm>
            <a:off x="4567714" y="3261200"/>
            <a:ext cx="6327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i)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6005666" y="3247394"/>
            <a:ext cx="350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5080258" y="3246466"/>
            <a:ext cx="1039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2  7  8  </a:t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5611695" y="557365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2983439" y="579034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3257058" y="579756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844433" y="570367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1118052" y="571089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853413" y="2624059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1118406" y="2624781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1305411" y="2567611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61" name="Google Shape;361;p20"/>
          <p:cNvSpPr txBox="1"/>
          <p:nvPr/>
        </p:nvSpPr>
        <p:spPr>
          <a:xfrm>
            <a:off x="573829" y="2563958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62" name="Google Shape;362;p20"/>
          <p:cNvSpPr/>
          <p:nvPr/>
        </p:nvSpPr>
        <p:spPr>
          <a:xfrm>
            <a:off x="1339462" y="2226375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3094124" y="2647622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3359117" y="2648344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3546122" y="2582548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2814540" y="2587521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3558611" y="2242781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5323685" y="2666692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5580052" y="2667414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5784309" y="2601618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371" name="Google Shape;371;p20"/>
          <p:cNvSpPr txBox="1"/>
          <p:nvPr/>
        </p:nvSpPr>
        <p:spPr>
          <a:xfrm>
            <a:off x="5035475" y="2589339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5826986" y="2269008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p20"/>
          <p:cNvCxnSpPr/>
          <p:nvPr/>
        </p:nvCxnSpPr>
        <p:spPr>
          <a:xfrm>
            <a:off x="5021756" y="3922530"/>
            <a:ext cx="983725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4" name="Google Shape;374;p20"/>
          <p:cNvCxnSpPr/>
          <p:nvPr/>
        </p:nvCxnSpPr>
        <p:spPr>
          <a:xfrm>
            <a:off x="5039009" y="4309436"/>
            <a:ext cx="970282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5" name="Google Shape;375;p20"/>
          <p:cNvSpPr/>
          <p:nvPr/>
        </p:nvSpPr>
        <p:spPr>
          <a:xfrm>
            <a:off x="5298924" y="3994261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5572543" y="3994983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0"/>
          <p:cNvSpPr txBox="1"/>
          <p:nvPr/>
        </p:nvSpPr>
        <p:spPr>
          <a:xfrm>
            <a:off x="5742296" y="3929187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5759095" y="3615140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20"/>
          <p:cNvCxnSpPr/>
          <p:nvPr/>
        </p:nvCxnSpPr>
        <p:spPr>
          <a:xfrm>
            <a:off x="2866816" y="1162850"/>
            <a:ext cx="82601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0" name="Google Shape;380;p20"/>
          <p:cNvCxnSpPr/>
          <p:nvPr/>
        </p:nvCxnSpPr>
        <p:spPr>
          <a:xfrm>
            <a:off x="2875442" y="1503160"/>
            <a:ext cx="821194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1" name="Google Shape;381;p20"/>
          <p:cNvCxnSpPr/>
          <p:nvPr/>
        </p:nvCxnSpPr>
        <p:spPr>
          <a:xfrm>
            <a:off x="2834449" y="2594234"/>
            <a:ext cx="997573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" name="Google Shape;382;p20"/>
          <p:cNvCxnSpPr/>
          <p:nvPr/>
        </p:nvCxnSpPr>
        <p:spPr>
          <a:xfrm>
            <a:off x="3051360" y="2863952"/>
            <a:ext cx="1001383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3" name="Google Shape;383;p20"/>
          <p:cNvCxnSpPr/>
          <p:nvPr/>
        </p:nvCxnSpPr>
        <p:spPr>
          <a:xfrm>
            <a:off x="5103147" y="2612895"/>
            <a:ext cx="997573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4" name="Google Shape;384;p20"/>
          <p:cNvCxnSpPr/>
          <p:nvPr/>
        </p:nvCxnSpPr>
        <p:spPr>
          <a:xfrm>
            <a:off x="5294180" y="2882613"/>
            <a:ext cx="1001383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5" name="Google Shape;385;p20"/>
          <p:cNvSpPr/>
          <p:nvPr/>
        </p:nvSpPr>
        <p:spPr>
          <a:xfrm>
            <a:off x="3123916" y="3343249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3402038" y="3343249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3676747" y="3983257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1758506" y="3261778"/>
            <a:ext cx="350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996993" y="3269476"/>
            <a:ext cx="341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1469258" y="3253459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91" name="Google Shape;391;p20"/>
          <p:cNvSpPr/>
          <p:nvPr/>
        </p:nvSpPr>
        <p:spPr>
          <a:xfrm>
            <a:off x="1270396" y="3327599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0"/>
          <p:cNvSpPr txBox="1"/>
          <p:nvPr/>
        </p:nvSpPr>
        <p:spPr>
          <a:xfrm>
            <a:off x="1459929" y="3551266"/>
            <a:ext cx="341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   </a:t>
            </a:r>
            <a:endParaRPr/>
          </a:p>
        </p:txBody>
      </p:sp>
      <p:cxnSp>
        <p:nvCxnSpPr>
          <p:cNvPr id="393" name="Google Shape;393;p20"/>
          <p:cNvCxnSpPr/>
          <p:nvPr/>
        </p:nvCxnSpPr>
        <p:spPr>
          <a:xfrm>
            <a:off x="800563" y="3922578"/>
            <a:ext cx="983725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4" name="Google Shape;394;p20"/>
          <p:cNvCxnSpPr/>
          <p:nvPr/>
        </p:nvCxnSpPr>
        <p:spPr>
          <a:xfrm>
            <a:off x="817816" y="4309484"/>
            <a:ext cx="970282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5" name="Google Shape;395;p20"/>
          <p:cNvSpPr/>
          <p:nvPr/>
        </p:nvSpPr>
        <p:spPr>
          <a:xfrm>
            <a:off x="836189" y="3994308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1532505" y="3998811"/>
            <a:ext cx="210204" cy="248000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0"/>
          <p:cNvSpPr txBox="1"/>
          <p:nvPr/>
        </p:nvSpPr>
        <p:spPr>
          <a:xfrm>
            <a:off x="1227819" y="3920609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98" name="Google Shape;398;p20"/>
          <p:cNvSpPr txBox="1"/>
          <p:nvPr/>
        </p:nvSpPr>
        <p:spPr>
          <a:xfrm>
            <a:off x="1022423" y="3922960"/>
            <a:ext cx="3394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399" name="Google Shape;399;p20"/>
          <p:cNvSpPr txBox="1"/>
          <p:nvPr/>
        </p:nvSpPr>
        <p:spPr>
          <a:xfrm>
            <a:off x="3639537" y="3280972"/>
            <a:ext cx="341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</a:t>
            </a:r>
            <a:endParaRPr/>
          </a:p>
        </p:txBody>
      </p:sp>
      <p:sp>
        <p:nvSpPr>
          <p:cNvPr id="400" name="Google Shape;400;p20"/>
          <p:cNvSpPr txBox="1"/>
          <p:nvPr/>
        </p:nvSpPr>
        <p:spPr>
          <a:xfrm>
            <a:off x="3630912" y="3558448"/>
            <a:ext cx="341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   </a:t>
            </a:r>
            <a:endParaRPr/>
          </a:p>
        </p:txBody>
      </p:sp>
      <p:sp>
        <p:nvSpPr>
          <p:cNvPr id="401" name="Google Shape;401;p20"/>
          <p:cNvSpPr txBox="1"/>
          <p:nvPr/>
        </p:nvSpPr>
        <p:spPr>
          <a:xfrm>
            <a:off x="2822050" y="3927780"/>
            <a:ext cx="8229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1  4  9</a:t>
            </a:r>
            <a:endParaRPr/>
          </a:p>
        </p:txBody>
      </p:sp>
      <p:sp>
        <p:nvSpPr>
          <p:cNvPr id="402" name="Google Shape;402;p20"/>
          <p:cNvSpPr txBox="1"/>
          <p:nvPr/>
        </p:nvSpPr>
        <p:spPr>
          <a:xfrm>
            <a:off x="722885" y="490002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3   2</a:t>
            </a:r>
            <a:endParaRPr/>
          </a:p>
        </p:txBody>
      </p:sp>
      <p:sp>
        <p:nvSpPr>
          <p:cNvPr id="403" name="Google Shape;403;p20"/>
          <p:cNvSpPr txBox="1"/>
          <p:nvPr/>
        </p:nvSpPr>
        <p:spPr>
          <a:xfrm>
            <a:off x="2878227" y="480966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1   3</a:t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5209554" y="480710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4   7</a:t>
            </a:r>
            <a:endParaRPr/>
          </a:p>
        </p:txBody>
      </p:sp>
      <p:sp>
        <p:nvSpPr>
          <p:cNvPr id="405" name="Google Shape;405;p20"/>
          <p:cNvSpPr txBox="1"/>
          <p:nvPr/>
        </p:nvSpPr>
        <p:spPr>
          <a:xfrm>
            <a:off x="751037" y="2551968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2   9</a:t>
            </a:r>
            <a:endParaRPr/>
          </a:p>
        </p:txBody>
      </p:sp>
      <p:sp>
        <p:nvSpPr>
          <p:cNvPr id="406" name="Google Shape;406;p20"/>
          <p:cNvSpPr txBox="1"/>
          <p:nvPr/>
        </p:nvSpPr>
        <p:spPr>
          <a:xfrm>
            <a:off x="1246118" y="2159455"/>
            <a:ext cx="4087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7" name="Google Shape;407;p20"/>
          <p:cNvSpPr txBox="1"/>
          <p:nvPr/>
        </p:nvSpPr>
        <p:spPr>
          <a:xfrm>
            <a:off x="2956932" y="2561579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7   0</a:t>
            </a:r>
            <a:endParaRPr/>
          </a:p>
        </p:txBody>
      </p:sp>
      <p:sp>
        <p:nvSpPr>
          <p:cNvPr id="408" name="Google Shape;408;p20"/>
          <p:cNvSpPr txBox="1"/>
          <p:nvPr/>
        </p:nvSpPr>
        <p:spPr>
          <a:xfrm>
            <a:off x="3464354" y="2168236"/>
            <a:ext cx="4407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5193936" y="2600843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3   5</a:t>
            </a:r>
            <a:endParaRPr/>
          </a:p>
        </p:txBody>
      </p:sp>
      <p:sp>
        <p:nvSpPr>
          <p:cNvPr id="410" name="Google Shape;410;p20"/>
          <p:cNvSpPr txBox="1"/>
          <p:nvPr/>
        </p:nvSpPr>
        <p:spPr>
          <a:xfrm>
            <a:off x="5749557" y="2172133"/>
            <a:ext cx="38142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1" name="Google Shape;411;p20"/>
          <p:cNvSpPr txBox="1"/>
          <p:nvPr/>
        </p:nvSpPr>
        <p:spPr>
          <a:xfrm>
            <a:off x="1162717" y="3258866"/>
            <a:ext cx="4045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2" name="Google Shape;412;p20"/>
          <p:cNvSpPr txBox="1"/>
          <p:nvPr/>
        </p:nvSpPr>
        <p:spPr>
          <a:xfrm>
            <a:off x="744310" y="3936080"/>
            <a:ext cx="4045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3" name="Google Shape;413;p20"/>
          <p:cNvSpPr txBox="1"/>
          <p:nvPr/>
        </p:nvSpPr>
        <p:spPr>
          <a:xfrm>
            <a:off x="1419804" y="3920598"/>
            <a:ext cx="4045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4" name="Google Shape;414;p20"/>
          <p:cNvSpPr txBox="1"/>
          <p:nvPr/>
        </p:nvSpPr>
        <p:spPr>
          <a:xfrm>
            <a:off x="3585117" y="3897002"/>
            <a:ext cx="4045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5" name="Google Shape;415;p20"/>
          <p:cNvSpPr txBox="1"/>
          <p:nvPr/>
        </p:nvSpPr>
        <p:spPr>
          <a:xfrm>
            <a:off x="5655416" y="3551169"/>
            <a:ext cx="4045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6" name="Google Shape;416;p20"/>
          <p:cNvSpPr txBox="1"/>
          <p:nvPr/>
        </p:nvSpPr>
        <p:spPr>
          <a:xfrm>
            <a:off x="3000456" y="3274864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2   1</a:t>
            </a: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5178529" y="3922530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8   3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3071130" y="5310140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168</a:t>
            </a:r>
            <a:endParaRPr/>
          </a:p>
        </p:txBody>
      </p:sp>
      <p:sp>
        <p:nvSpPr>
          <p:cNvPr id="419" name="Google Shape;419;p20"/>
          <p:cNvSpPr txBox="1"/>
          <p:nvPr/>
        </p:nvSpPr>
        <p:spPr>
          <a:xfrm>
            <a:off x="3063262" y="6418135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384</a:t>
            </a:r>
            <a:endParaRPr/>
          </a:p>
        </p:txBody>
      </p:sp>
      <p:sp>
        <p:nvSpPr>
          <p:cNvPr id="420" name="Google Shape;420;p20"/>
          <p:cNvSpPr txBox="1"/>
          <p:nvPr/>
        </p:nvSpPr>
        <p:spPr>
          <a:xfrm>
            <a:off x="3042701" y="7634912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1081</a:t>
            </a:r>
            <a:endParaRPr/>
          </a:p>
        </p:txBody>
      </p:sp>
      <p:sp>
        <p:nvSpPr>
          <p:cNvPr id="421" name="Google Shape;421;p20"/>
          <p:cNvSpPr txBox="1"/>
          <p:nvPr/>
        </p:nvSpPr>
        <p:spPr>
          <a:xfrm>
            <a:off x="3042700" y="8900569"/>
            <a:ext cx="74836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£204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