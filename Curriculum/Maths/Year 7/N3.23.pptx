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9906000" cx="6858000"/>
  <p:notesSz cx="6858000" cy="9144000"/>
  <p:embeddedFontLst>
    <p:embeddedFont>
      <p:font typeface="Google Sans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946435-72B5-4A5A-8970-0CB38BA02F88}">
  <a:tblStyle styleId="{AA946435-72B5-4A5A-8970-0CB38BA02F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oogleSans-bold.fntdata"/><Relationship Id="rId10" Type="http://schemas.openxmlformats.org/officeDocument/2006/relationships/font" Target="fonts/GoogleSans-regular.fntdata"/><Relationship Id="rId13" Type="http://schemas.openxmlformats.org/officeDocument/2006/relationships/font" Target="fonts/GoogleSans-boldItalic.fntdata"/><Relationship Id="rId12" Type="http://schemas.openxmlformats.org/officeDocument/2006/relationships/font" Target="fonts/Google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13.png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9.png"/><Relationship Id="rId15" Type="http://schemas.openxmlformats.org/officeDocument/2006/relationships/image" Target="../media/image17.png"/><Relationship Id="rId14" Type="http://schemas.openxmlformats.org/officeDocument/2006/relationships/image" Target="../media/image16.png"/><Relationship Id="rId17" Type="http://schemas.openxmlformats.org/officeDocument/2006/relationships/image" Target="../media/image18.png"/><Relationship Id="rId16" Type="http://schemas.openxmlformats.org/officeDocument/2006/relationships/image" Target="../media/image19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18" Type="http://schemas.openxmlformats.org/officeDocument/2006/relationships/image" Target="../media/image20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image" Target="../media/image23.png"/><Relationship Id="rId8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86108" y="327055"/>
            <a:ext cx="6679742" cy="113396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33163" y="727735"/>
            <a:ext cx="51018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recall the square numbers up to 15 squared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recall the cube numbers up to 10 cubed.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38347" y="373798"/>
            <a:ext cx="5956961" cy="27699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understand square and cube numbers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632946" y="718132"/>
            <a:ext cx="1058149" cy="684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Square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Cube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79392" y="2749694"/>
            <a:ext cx="6677766" cy="20029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13"/>
          <p:cNvCxnSpPr/>
          <p:nvPr/>
        </p:nvCxnSpPr>
        <p:spPr>
          <a:xfrm>
            <a:off x="80205" y="3749580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" name="Google Shape;95;p13"/>
          <p:cNvCxnSpPr>
            <a:stCxn id="93" idx="2"/>
            <a:endCxn id="93" idx="0"/>
          </p:cNvCxnSpPr>
          <p:nvPr/>
        </p:nvCxnSpPr>
        <p:spPr>
          <a:xfrm rot="10800000">
            <a:off x="3418275" y="2749834"/>
            <a:ext cx="0" cy="2002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13"/>
          <p:cNvSpPr txBox="1"/>
          <p:nvPr/>
        </p:nvSpPr>
        <p:spPr>
          <a:xfrm>
            <a:off x="97146" y="2749694"/>
            <a:ext cx="33318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3530854" y="2730739"/>
            <a:ext cx="328667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process of creating a square number is called “squaring” and is shown using an index of 2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00843" y="3749672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5617713" y="3749672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2629954" y="3613301"/>
            <a:ext cx="1635576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Square number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95912" y="4015866"/>
            <a:ext cx="335515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(= 2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		 9 (= 3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                      100 (= 10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484 (=22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        1 (= 1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              10 000 (= 100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86109" y="2950540"/>
            <a:ext cx="335966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integer multiplied by itself makes a square number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3140124" y="3780252"/>
            <a:ext cx="3429000" cy="97238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04" name="Google Shape;10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7382" y="3321265"/>
            <a:ext cx="4381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/>
          <p:nvPr/>
        </p:nvSpPr>
        <p:spPr>
          <a:xfrm>
            <a:off x="78158" y="4852237"/>
            <a:ext cx="6666932" cy="202865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13"/>
          <p:cNvCxnSpPr/>
          <p:nvPr/>
        </p:nvCxnSpPr>
        <p:spPr>
          <a:xfrm>
            <a:off x="75058" y="5835790"/>
            <a:ext cx="66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" name="Google Shape;107;p13"/>
          <p:cNvCxnSpPr>
            <a:stCxn id="105" idx="2"/>
            <a:endCxn id="105" idx="0"/>
          </p:cNvCxnSpPr>
          <p:nvPr/>
        </p:nvCxnSpPr>
        <p:spPr>
          <a:xfrm rot="10800000">
            <a:off x="3411624" y="4852290"/>
            <a:ext cx="0" cy="20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" name="Google Shape;108;p13"/>
          <p:cNvSpPr txBox="1"/>
          <p:nvPr/>
        </p:nvSpPr>
        <p:spPr>
          <a:xfrm>
            <a:off x="95912" y="4852237"/>
            <a:ext cx="33318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3443225" y="4820127"/>
            <a:ext cx="328667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process of creating a cube number is called “cubing” and is shown using an index of 3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47246" y="5858613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5619239" y="5823272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2679578" y="5664258"/>
            <a:ext cx="1465466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Cube number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128757" y="6162453"/>
            <a:ext cx="44577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(= 2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		27 (= 3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               1000 (= 10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10 648 (=22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      1 (= 1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        1 000 000 (= 100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112911" y="5027998"/>
            <a:ext cx="333031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integer multiplied </a:t>
            </a:r>
            <a:r>
              <a:rPr b="0" i="0" lang="en-GB" sz="1200">
                <a:solidFill>
                  <a:srgbClr val="040C28"/>
                </a:solidFill>
                <a:latin typeface="Google Sans"/>
                <a:ea typeface="Google Sans"/>
                <a:cs typeface="Google Sans"/>
                <a:sym typeface="Google Sans"/>
              </a:rPr>
              <a:t>by itself and then itself again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makes a cube number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167642" y="5879330"/>
            <a:ext cx="3429000" cy="9732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16" name="Google Shape;116;p13"/>
          <p:cNvGrpSpPr/>
          <p:nvPr/>
        </p:nvGrpSpPr>
        <p:grpSpPr>
          <a:xfrm>
            <a:off x="6271072" y="5369433"/>
            <a:ext cx="453607" cy="411465"/>
            <a:chOff x="6246904" y="5559103"/>
            <a:chExt cx="453607" cy="411465"/>
          </a:xfrm>
        </p:grpSpPr>
        <p:pic>
          <p:nvPicPr>
            <p:cNvPr id="117" name="Google Shape;117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46904" y="5580043"/>
              <a:ext cx="438150" cy="390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13"/>
            <p:cNvSpPr/>
            <p:nvPr/>
          </p:nvSpPr>
          <p:spPr>
            <a:xfrm>
              <a:off x="6504991" y="5617558"/>
              <a:ext cx="60848" cy="19716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3"/>
            <p:cNvSpPr txBox="1"/>
            <p:nvPr/>
          </p:nvSpPr>
          <p:spPr>
            <a:xfrm>
              <a:off x="6417737" y="5559103"/>
              <a:ext cx="282774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120" name="Google Shape;120;p13"/>
          <p:cNvSpPr txBox="1"/>
          <p:nvPr/>
        </p:nvSpPr>
        <p:spPr>
          <a:xfrm>
            <a:off x="78914" y="729036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121" name="Google Shape;121;p13"/>
          <p:cNvSpPr/>
          <p:nvPr/>
        </p:nvSpPr>
        <p:spPr>
          <a:xfrm>
            <a:off x="106491" y="7006806"/>
            <a:ext cx="2043646" cy="24447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Index form and language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2" name="Google Shape;122;p13"/>
          <p:cNvGraphicFramePr/>
          <p:nvPr/>
        </p:nvGraphicFramePr>
        <p:xfrm>
          <a:off x="106491" y="75590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{AA946435-72B5-4A5A-8970-0CB38BA02F88}</a:tableStyleId>
              </a:tblPr>
              <a:tblGrid>
                <a:gridCol w="755725"/>
                <a:gridCol w="914400"/>
                <a:gridCol w="769250"/>
                <a:gridCol w="841825"/>
                <a:gridCol w="1059550"/>
                <a:gridCol w="1354975"/>
                <a:gridCol w="949300"/>
              </a:tblGrid>
              <a:tr h="57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Power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Base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Index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Index Form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Say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Calculation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Value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baseline="30000" lang="en-GB" sz="1350">
                          <a:solidFill>
                            <a:schemeClr val="dk1"/>
                          </a:solidFill>
                        </a:rPr>
                        <a:t>st</a:t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Five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baseline="30000" lang="en-GB" sz="1350">
                          <a:solidFill>
                            <a:schemeClr val="dk1"/>
                          </a:solidFill>
                        </a:rPr>
                        <a:t>nd</a:t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Five Squared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25</a:t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baseline="30000" lang="en-GB" sz="1350">
                          <a:solidFill>
                            <a:schemeClr val="dk1"/>
                          </a:solidFill>
                        </a:rPr>
                        <a:t>rd</a:t>
                      </a: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Five cubed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125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p13"/>
          <p:cNvSpPr txBox="1"/>
          <p:nvPr>
            <p:ph idx="12" type="sldNum"/>
          </p:nvPr>
        </p:nvSpPr>
        <p:spPr>
          <a:xfrm>
            <a:off x="5278353" y="946744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3"/>
          <p:cNvSpPr/>
          <p:nvPr/>
        </p:nvSpPr>
        <p:spPr>
          <a:xfrm>
            <a:off x="89023" y="1558044"/>
            <a:ext cx="6671317" cy="108692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45932" y="1521398"/>
            <a:ext cx="27782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Introduction: 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58220" y="1684035"/>
            <a:ext cx="699789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Squares numbers and and cube numbers are ways of multiplying a number by itself a certain number of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times, creating what we call powers. When you square a number, you multiply it by itself. Cubing a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means multiplying it by itself and then multiplying by itself again. Knowing how to work with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squares and cubes is an important skill, as it forms the foundation for understanding powers,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exponents and roots.</a:t>
            </a:r>
            <a:endParaRPr/>
          </a:p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N3.23 – Squares and Cubes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/>
          <p:nvPr/>
        </p:nvSpPr>
        <p:spPr>
          <a:xfrm>
            <a:off x="16615" y="2393758"/>
            <a:ext cx="6734894" cy="236256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" name="Google Shape;133;p14"/>
          <p:cNvGraphicFramePr/>
          <p:nvPr/>
        </p:nvGraphicFramePr>
        <p:xfrm>
          <a:off x="106494" y="27910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{AA946435-72B5-4A5A-8970-0CB38BA02F88}</a:tableStyleId>
              </a:tblPr>
              <a:tblGrid>
                <a:gridCol w="755725"/>
                <a:gridCol w="914400"/>
                <a:gridCol w="769250"/>
                <a:gridCol w="841825"/>
                <a:gridCol w="1059550"/>
                <a:gridCol w="1354975"/>
                <a:gridCol w="949300"/>
              </a:tblGrid>
              <a:tr h="57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Power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Base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Index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Index Form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Say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Calculation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Value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30000" lang="en-GB" sz="1350">
                          <a:solidFill>
                            <a:srgbClr val="000000"/>
                          </a:solidFill>
                        </a:rPr>
                        <a:t>st</a:t>
                      </a:r>
                      <a:endParaRPr sz="13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Four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30000" lang="en-GB" sz="1350">
                          <a:solidFill>
                            <a:srgbClr val="000000"/>
                          </a:solidFill>
                        </a:rPr>
                        <a:t>nd</a:t>
                      </a:r>
                      <a:endParaRPr sz="13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Four squared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30000" lang="en-GB" sz="1350">
                          <a:solidFill>
                            <a:srgbClr val="000000"/>
                          </a:solidFill>
                        </a:rPr>
                        <a:t>rd</a:t>
                      </a: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Four cubed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4" name="Google Shape;134;p14"/>
          <p:cNvSpPr txBox="1"/>
          <p:nvPr/>
        </p:nvSpPr>
        <p:spPr>
          <a:xfrm>
            <a:off x="61553" y="251407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61553" y="2769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graphicFrame>
        <p:nvGraphicFramePr>
          <p:cNvPr id="136" name="Google Shape;136;p14"/>
          <p:cNvGraphicFramePr/>
          <p:nvPr/>
        </p:nvGraphicFramePr>
        <p:xfrm>
          <a:off x="106493" y="3239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{AA946435-72B5-4A5A-8970-0CB38BA02F88}</a:tableStyleId>
              </a:tblPr>
              <a:tblGrid>
                <a:gridCol w="755725"/>
                <a:gridCol w="914400"/>
                <a:gridCol w="769250"/>
                <a:gridCol w="841825"/>
                <a:gridCol w="1059550"/>
                <a:gridCol w="1354975"/>
                <a:gridCol w="949300"/>
              </a:tblGrid>
              <a:tr h="57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Power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Base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Index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Index Form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Say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Calculation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Value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30000" lang="en-GB" sz="1350">
                          <a:solidFill>
                            <a:srgbClr val="000000"/>
                          </a:solidFill>
                        </a:rPr>
                        <a:t>st</a:t>
                      </a:r>
                      <a:endParaRPr sz="13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Two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30000" lang="en-GB" sz="1350">
                          <a:solidFill>
                            <a:srgbClr val="000000"/>
                          </a:solidFill>
                        </a:rPr>
                        <a:t>nd</a:t>
                      </a:r>
                      <a:endParaRPr sz="13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Two Squared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30000" lang="en-GB" sz="1350">
                          <a:solidFill>
                            <a:srgbClr val="000000"/>
                          </a:solidFill>
                        </a:rPr>
                        <a:t>rd</a:t>
                      </a: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Two Cubed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7" name="Google Shape;137;p14"/>
          <p:cNvSpPr txBox="1"/>
          <p:nvPr>
            <p:ph idx="12" type="sldNum"/>
          </p:nvPr>
        </p:nvSpPr>
        <p:spPr>
          <a:xfrm>
            <a:off x="5253398" y="948218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106492" y="4845029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139" name="Google Shape;139;p14"/>
          <p:cNvGraphicFramePr/>
          <p:nvPr/>
        </p:nvGraphicFramePr>
        <p:xfrm>
          <a:off x="106492" y="54558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{AA946435-72B5-4A5A-8970-0CB38BA02F88}</a:tableStyleId>
              </a:tblPr>
              <a:tblGrid>
                <a:gridCol w="755725"/>
                <a:gridCol w="914400"/>
                <a:gridCol w="769250"/>
                <a:gridCol w="841825"/>
                <a:gridCol w="1059550"/>
                <a:gridCol w="1354975"/>
                <a:gridCol w="949300"/>
              </a:tblGrid>
              <a:tr h="57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Power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Base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Index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Index Form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Say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Calculation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Value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30000" lang="en-GB" sz="1350">
                          <a:solidFill>
                            <a:srgbClr val="000000"/>
                          </a:solidFill>
                        </a:rPr>
                        <a:t>st</a:t>
                      </a:r>
                      <a:endParaRPr sz="13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Three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30000" lang="en-GB" sz="1350">
                          <a:solidFill>
                            <a:srgbClr val="000000"/>
                          </a:solidFill>
                        </a:rPr>
                        <a:t>nd</a:t>
                      </a:r>
                      <a:endParaRPr sz="13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Three squared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30000" lang="en-GB" sz="1350">
                          <a:solidFill>
                            <a:srgbClr val="000000"/>
                          </a:solidFill>
                        </a:rPr>
                        <a:t>rd</a:t>
                      </a: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Three cubed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" name="Google Shape;140;p14"/>
          <p:cNvGraphicFramePr/>
          <p:nvPr/>
        </p:nvGraphicFramePr>
        <p:xfrm>
          <a:off x="106492" y="77561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{AA946435-72B5-4A5A-8970-0CB38BA02F88}</a:tableStyleId>
              </a:tblPr>
              <a:tblGrid>
                <a:gridCol w="755725"/>
                <a:gridCol w="914400"/>
                <a:gridCol w="769250"/>
                <a:gridCol w="841825"/>
                <a:gridCol w="1059550"/>
                <a:gridCol w="1354975"/>
                <a:gridCol w="949300"/>
              </a:tblGrid>
              <a:tr h="57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Power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Base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Index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Index Form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Say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Calculation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Value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30000" lang="en-GB" sz="1350">
                          <a:solidFill>
                            <a:srgbClr val="000000"/>
                          </a:solidFill>
                        </a:rPr>
                        <a:t>st</a:t>
                      </a:r>
                      <a:endParaRPr sz="13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One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30000" lang="en-GB" sz="1350">
                          <a:solidFill>
                            <a:srgbClr val="000000"/>
                          </a:solidFill>
                        </a:rPr>
                        <a:t>nd</a:t>
                      </a:r>
                      <a:endParaRPr sz="13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One squared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30000" lang="en-GB" sz="1350">
                          <a:solidFill>
                            <a:srgbClr val="000000"/>
                          </a:solidFill>
                        </a:rPr>
                        <a:t>rd</a:t>
                      </a: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One cubed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" name="Google Shape;141;p14"/>
          <p:cNvSpPr txBox="1"/>
          <p:nvPr/>
        </p:nvSpPr>
        <p:spPr>
          <a:xfrm>
            <a:off x="106492" y="5188176"/>
            <a:ext cx="27548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106492" y="7476465"/>
            <a:ext cx="27548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1244446" y="4979080"/>
            <a:ext cx="27548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Fill in the blanks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Google Shape;148;p15"/>
          <p:cNvGraphicFramePr/>
          <p:nvPr/>
        </p:nvGraphicFramePr>
        <p:xfrm>
          <a:off x="106492" y="23436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{AA946435-72B5-4A5A-8970-0CB38BA02F88}</a:tableStyleId>
              </a:tblPr>
              <a:tblGrid>
                <a:gridCol w="755725"/>
                <a:gridCol w="914400"/>
                <a:gridCol w="769250"/>
                <a:gridCol w="841825"/>
                <a:gridCol w="1059550"/>
                <a:gridCol w="1354975"/>
                <a:gridCol w="9493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Power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Base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Index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Index Form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Say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Calculation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Value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30000" lang="en-GB" sz="1350">
                          <a:solidFill>
                            <a:srgbClr val="000000"/>
                          </a:solidFill>
                        </a:rPr>
                        <a:t>st</a:t>
                      </a:r>
                      <a:endParaRPr sz="13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Eight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30000" lang="en-GB" sz="1350">
                          <a:solidFill>
                            <a:srgbClr val="000000"/>
                          </a:solidFill>
                        </a:rPr>
                        <a:t>nd</a:t>
                      </a:r>
                      <a:endParaRPr sz="13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Eight squared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30000" lang="en-GB" sz="1350">
                          <a:solidFill>
                            <a:srgbClr val="000000"/>
                          </a:solidFill>
                        </a:rPr>
                        <a:t>rd</a:t>
                      </a: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Eight cubed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" name="Google Shape;149;p15"/>
          <p:cNvSpPr txBox="1"/>
          <p:nvPr/>
        </p:nvSpPr>
        <p:spPr>
          <a:xfrm>
            <a:off x="88792" y="2079440"/>
            <a:ext cx="27548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/>
          </a:p>
        </p:txBody>
      </p:sp>
      <p:sp>
        <p:nvSpPr>
          <p:cNvPr id="150" name="Google Shape;150;p15"/>
          <p:cNvSpPr txBox="1"/>
          <p:nvPr>
            <p:ph idx="12" type="sldNum"/>
          </p:nvPr>
        </p:nvSpPr>
        <p:spPr>
          <a:xfrm>
            <a:off x="5314950" y="947202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51" name="Google Shape;151;p15"/>
          <p:cNvGraphicFramePr/>
          <p:nvPr/>
        </p:nvGraphicFramePr>
        <p:xfrm>
          <a:off x="106492" y="277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{AA946435-72B5-4A5A-8970-0CB38BA02F88}</a:tableStyleId>
              </a:tblPr>
              <a:tblGrid>
                <a:gridCol w="755725"/>
                <a:gridCol w="914400"/>
                <a:gridCol w="769250"/>
                <a:gridCol w="841825"/>
                <a:gridCol w="1059550"/>
                <a:gridCol w="1354975"/>
                <a:gridCol w="9493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Power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Base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Index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Index Form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Say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Calculation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Value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baseline="30000" lang="en-GB" sz="1350">
                          <a:solidFill>
                            <a:srgbClr val="000000"/>
                          </a:solidFill>
                        </a:rPr>
                        <a:t>st</a:t>
                      </a:r>
                      <a:endParaRPr sz="13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Six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baseline="30000" lang="en-GB" sz="1350">
                          <a:solidFill>
                            <a:srgbClr val="000000"/>
                          </a:solidFill>
                        </a:rPr>
                        <a:t>nd</a:t>
                      </a:r>
                      <a:endParaRPr sz="135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Six squared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baseline="30000" lang="en-GB" sz="1350">
                          <a:solidFill>
                            <a:srgbClr val="000000"/>
                          </a:solidFill>
                        </a:rPr>
                        <a:t>rd</a:t>
                      </a:r>
                      <a:r>
                        <a:rPr lang="en-GB" sz="1350">
                          <a:solidFill>
                            <a:srgbClr val="000000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Six cubed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" name="Google Shape;152;p15"/>
          <p:cNvSpPr txBox="1"/>
          <p:nvPr/>
        </p:nvSpPr>
        <p:spPr>
          <a:xfrm>
            <a:off x="106492" y="28895"/>
            <a:ext cx="27548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88792" y="4199403"/>
            <a:ext cx="4223716" cy="30269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be able to recall the square numbers up to 15 squared</a:t>
            </a:r>
            <a:endParaRPr/>
          </a:p>
        </p:txBody>
      </p:sp>
      <p:graphicFrame>
        <p:nvGraphicFramePr>
          <p:cNvPr id="154" name="Google Shape;154;p15"/>
          <p:cNvGraphicFramePr/>
          <p:nvPr/>
        </p:nvGraphicFramePr>
        <p:xfrm>
          <a:off x="101149" y="47784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{AA946435-72B5-4A5A-8970-0CB38BA02F88}</a:tableStyleId>
              </a:tblPr>
              <a:tblGrid>
                <a:gridCol w="1653875"/>
                <a:gridCol w="1663725"/>
                <a:gridCol w="1663725"/>
                <a:gridCol w="16637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Identify the base. This is the number we are multiplying.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Identify the index. This is how many times we multiply the base number by itself.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55" name="Google Shape;155;p15"/>
          <p:cNvSpPr txBox="1"/>
          <p:nvPr/>
        </p:nvSpPr>
        <p:spPr>
          <a:xfrm>
            <a:off x="1913406" y="452000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 4 - I do…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3508083" y="451264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57" name="Google Shape;157;p15"/>
          <p:cNvSpPr/>
          <p:nvPr/>
        </p:nvSpPr>
        <p:spPr>
          <a:xfrm>
            <a:off x="88792" y="6605028"/>
            <a:ext cx="1137954" cy="42359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1200168" y="6792225"/>
            <a:ext cx="41566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Without using a calculator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calculate the value of: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5102760" y="450423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273827" y="7098399"/>
            <a:ext cx="497252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7392" l="-123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1887909" y="7098399"/>
            <a:ext cx="503664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7392" l="-122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3437790" y="7098399"/>
            <a:ext cx="489236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7392" l="-125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5034179" y="7098399"/>
            <a:ext cx="503664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7392" l="-122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73827" y="8401373"/>
            <a:ext cx="500458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7392" l="-122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1887909" y="8401373"/>
            <a:ext cx="472245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7392" l="-129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3437790" y="8401373"/>
            <a:ext cx="495649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7392" l="-123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5034179" y="8401373"/>
            <a:ext cx="588623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7392" l="-104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8" name="Google Shape;168;p15"/>
          <p:cNvSpPr/>
          <p:nvPr/>
        </p:nvSpPr>
        <p:spPr>
          <a:xfrm>
            <a:off x="317391" y="7362572"/>
            <a:ext cx="1277244" cy="982376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1913406" y="7362572"/>
            <a:ext cx="1277244" cy="982376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0" name="Google Shape;170;p15"/>
          <p:cNvSpPr/>
          <p:nvPr/>
        </p:nvSpPr>
        <p:spPr>
          <a:xfrm>
            <a:off x="3497373" y="7362572"/>
            <a:ext cx="1277244" cy="982376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1" name="Google Shape;171;p15"/>
          <p:cNvSpPr/>
          <p:nvPr/>
        </p:nvSpPr>
        <p:spPr>
          <a:xfrm>
            <a:off x="5123448" y="7362572"/>
            <a:ext cx="1277244" cy="982376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2" name="Google Shape;172;p15"/>
          <p:cNvSpPr/>
          <p:nvPr/>
        </p:nvSpPr>
        <p:spPr>
          <a:xfrm>
            <a:off x="317391" y="8701700"/>
            <a:ext cx="1277244" cy="982376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3" name="Google Shape;173;p15"/>
          <p:cNvSpPr/>
          <p:nvPr/>
        </p:nvSpPr>
        <p:spPr>
          <a:xfrm>
            <a:off x="1913406" y="8701700"/>
            <a:ext cx="1277244" cy="982376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4" name="Google Shape;174;p15"/>
          <p:cNvSpPr/>
          <p:nvPr/>
        </p:nvSpPr>
        <p:spPr>
          <a:xfrm>
            <a:off x="3497373" y="8701700"/>
            <a:ext cx="1277244" cy="982376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>
            <a:off x="5123448" y="8701700"/>
            <a:ext cx="1277244" cy="982376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 txBox="1"/>
          <p:nvPr>
            <p:ph idx="12" type="sldNum"/>
          </p:nvPr>
        </p:nvSpPr>
        <p:spPr>
          <a:xfrm>
            <a:off x="5257823" y="9276161"/>
            <a:ext cx="1543050" cy="8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118253" y="99398"/>
            <a:ext cx="3689512" cy="27635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be able to recall the cube numbers up to 10 cubed</a:t>
            </a:r>
            <a:endParaRPr/>
          </a:p>
        </p:txBody>
      </p:sp>
      <p:graphicFrame>
        <p:nvGraphicFramePr>
          <p:cNvPr id="182" name="Google Shape;182;p16"/>
          <p:cNvGraphicFramePr/>
          <p:nvPr/>
        </p:nvGraphicFramePr>
        <p:xfrm>
          <a:off x="118363" y="6521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{AA946435-72B5-4A5A-8970-0CB38BA02F88}</a:tableStyleId>
              </a:tblPr>
              <a:tblGrid>
                <a:gridCol w="1628475"/>
                <a:gridCol w="1648000"/>
                <a:gridCol w="1648000"/>
                <a:gridCol w="16480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Identify the base. This is the number we are multiplying.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Identify the index. This is how many times we multiply the base number by itself.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83" name="Google Shape;183;p16"/>
          <p:cNvSpPr txBox="1"/>
          <p:nvPr/>
        </p:nvSpPr>
        <p:spPr>
          <a:xfrm>
            <a:off x="1846426" y="38703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 7 - I do…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5070439" y="37574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3371029" y="38118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265964" y="2898244"/>
            <a:ext cx="461986" cy="82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3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7" name="Google Shape;187;p16"/>
          <p:cNvSpPr/>
          <p:nvPr/>
        </p:nvSpPr>
        <p:spPr>
          <a:xfrm>
            <a:off x="337568" y="3172873"/>
            <a:ext cx="1277244" cy="82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1880046" y="2898244"/>
            <a:ext cx="468398" cy="828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3429927" y="2898244"/>
            <a:ext cx="453970" cy="828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35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5026316" y="2898244"/>
            <a:ext cx="468398" cy="828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-131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1" name="Google Shape;191;p16"/>
          <p:cNvSpPr/>
          <p:nvPr/>
        </p:nvSpPr>
        <p:spPr>
          <a:xfrm>
            <a:off x="1933583" y="3172873"/>
            <a:ext cx="1277244" cy="82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3517550" y="3172873"/>
            <a:ext cx="1277244" cy="82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5143625" y="3172873"/>
            <a:ext cx="1277244" cy="82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265964" y="4008002"/>
            <a:ext cx="465192" cy="8280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-131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5" name="Google Shape;195;p16"/>
          <p:cNvSpPr/>
          <p:nvPr/>
        </p:nvSpPr>
        <p:spPr>
          <a:xfrm>
            <a:off x="337568" y="4282631"/>
            <a:ext cx="1277244" cy="82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 txBox="1"/>
          <p:nvPr/>
        </p:nvSpPr>
        <p:spPr>
          <a:xfrm>
            <a:off x="1880046" y="4008002"/>
            <a:ext cx="436979" cy="8280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3429927" y="4008002"/>
            <a:ext cx="460382" cy="8280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-133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5026316" y="4008002"/>
            <a:ext cx="587020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7392" l="-104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9" name="Google Shape;199;p16"/>
          <p:cNvSpPr/>
          <p:nvPr/>
        </p:nvSpPr>
        <p:spPr>
          <a:xfrm>
            <a:off x="1933583" y="4282631"/>
            <a:ext cx="1277244" cy="82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3517550" y="4282631"/>
            <a:ext cx="1277244" cy="82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5143625" y="4282631"/>
            <a:ext cx="1277244" cy="82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116244" y="2482028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1238510" y="2573004"/>
            <a:ext cx="46516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Calculate the value of:</a:t>
            </a:r>
            <a:endParaRPr/>
          </a:p>
        </p:txBody>
      </p:sp>
      <p:graphicFrame>
        <p:nvGraphicFramePr>
          <p:cNvPr id="204" name="Google Shape;204;p16"/>
          <p:cNvGraphicFramePr/>
          <p:nvPr/>
        </p:nvGraphicFramePr>
        <p:xfrm>
          <a:off x="143259" y="56510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{AA946435-72B5-4A5A-8970-0CB38BA02F88}</a:tableStyleId>
              </a:tblPr>
              <a:tblGrid>
                <a:gridCol w="65714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</a:rPr>
                        <a:t>Skills Check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2341"/>
                    </a:solidFill>
                  </a:tcPr>
                </a:tc>
              </a:tr>
              <a:tr h="70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16"/>
          <p:cNvSpPr txBox="1"/>
          <p:nvPr/>
        </p:nvSpPr>
        <p:spPr>
          <a:xfrm>
            <a:off x="751941" y="3442448"/>
            <a:ext cx="52774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1                             8                           27                           64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 txBox="1"/>
          <p:nvPr/>
        </p:nvSpPr>
        <p:spPr>
          <a:xfrm>
            <a:off x="626437" y="4511965"/>
            <a:ext cx="55675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125                        216                        343                         1000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3807765" y="6276615"/>
            <a:ext cx="495300" cy="4191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3871265" y="7034269"/>
            <a:ext cx="495300" cy="4191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4303065" y="7703722"/>
            <a:ext cx="495300" cy="4191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3416946" y="8340733"/>
            <a:ext cx="495300" cy="4191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2715527" y="9085128"/>
            <a:ext cx="495300" cy="4191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