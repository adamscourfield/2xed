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DC771C0-CED5-432C-8AED-CE906F9E3FF0}">
  <a:tblStyle styleId="{2DC771C0-CED5-432C-8AED-CE906F9E3FF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07E774F5-8BCA-4ED4-ADEC-BDBF87717BEF}"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1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11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1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1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1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18: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1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2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2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2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2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2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 name="Google Shape;22;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8" name="Google Shape;28;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6"/>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7"/>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46" name="Google Shape;46;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8"/>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8"/>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8"/>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idx="12" type="sldNum"/>
          </p:nvPr>
        </p:nvSpPr>
        <p:spPr>
          <a:xfrm>
            <a:off x="5239768" y="937205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89" name="Google Shape;89;p13"/>
          <p:cNvSpPr/>
          <p:nvPr/>
        </p:nvSpPr>
        <p:spPr>
          <a:xfrm>
            <a:off x="86108" y="315962"/>
            <a:ext cx="6679742" cy="152623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90" name="Google Shape;90;p13"/>
          <p:cNvSpPr txBox="1"/>
          <p:nvPr/>
        </p:nvSpPr>
        <p:spPr>
          <a:xfrm>
            <a:off x="178697" y="838100"/>
            <a:ext cx="13997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Objectives:</a:t>
            </a:r>
            <a:endParaRPr/>
          </a:p>
        </p:txBody>
      </p:sp>
      <p:sp>
        <p:nvSpPr>
          <p:cNvPr id="91" name="Google Shape;91;p13"/>
          <p:cNvSpPr txBox="1"/>
          <p:nvPr/>
        </p:nvSpPr>
        <p:spPr>
          <a:xfrm>
            <a:off x="178697" y="1011195"/>
            <a:ext cx="4912918" cy="83099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understand the concept of highest common factor.</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be able to recognise common factors and identify the highest.</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be able to apply the concept of  highest common factors in problem solving.</a:t>
            </a:r>
            <a:endParaRPr sz="1200">
              <a:solidFill>
                <a:schemeClr val="dk1"/>
              </a:solidFill>
              <a:latin typeface="Calibri"/>
              <a:ea typeface="Calibri"/>
              <a:cs typeface="Calibri"/>
              <a:sym typeface="Calibri"/>
            </a:endParaRPr>
          </a:p>
        </p:txBody>
      </p:sp>
      <p:sp>
        <p:nvSpPr>
          <p:cNvPr id="92" name="Google Shape;92;p13"/>
          <p:cNvSpPr txBox="1"/>
          <p:nvPr/>
        </p:nvSpPr>
        <p:spPr>
          <a:xfrm>
            <a:off x="130314" y="366027"/>
            <a:ext cx="6599093" cy="46166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LEARNING OUTCOME: To understand and be able to list the common factors of a number, identifying the highest common factor</a:t>
            </a:r>
            <a:endParaRPr/>
          </a:p>
        </p:txBody>
      </p:sp>
      <p:sp>
        <p:nvSpPr>
          <p:cNvPr id="93" name="Google Shape;93;p13"/>
          <p:cNvSpPr txBox="1"/>
          <p:nvPr/>
        </p:nvSpPr>
        <p:spPr>
          <a:xfrm>
            <a:off x="5311409" y="933491"/>
            <a:ext cx="1399768" cy="830997"/>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u="sng">
                <a:solidFill>
                  <a:schemeClr val="dk1"/>
                </a:solidFill>
                <a:latin typeface="Calibri"/>
                <a:ea typeface="Calibri"/>
                <a:cs typeface="Calibri"/>
                <a:sym typeface="Calibri"/>
              </a:rPr>
              <a:t>Keywords:</a:t>
            </a:r>
            <a:endParaRPr sz="12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Factor</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Highest Common Factor</a:t>
            </a:r>
            <a:endParaRPr/>
          </a:p>
        </p:txBody>
      </p:sp>
      <p:sp>
        <p:nvSpPr>
          <p:cNvPr id="94" name="Google Shape;94;p13"/>
          <p:cNvSpPr/>
          <p:nvPr/>
        </p:nvSpPr>
        <p:spPr>
          <a:xfrm>
            <a:off x="0" y="0"/>
            <a:ext cx="6858000" cy="29191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alibri"/>
                <a:ea typeface="Calibri"/>
                <a:cs typeface="Calibri"/>
                <a:sym typeface="Calibri"/>
              </a:rPr>
              <a:t>Subtopic N3.13 – Highest Common Factor</a:t>
            </a:r>
            <a:endParaRPr/>
          </a:p>
        </p:txBody>
      </p:sp>
      <p:graphicFrame>
        <p:nvGraphicFramePr>
          <p:cNvPr id="95" name="Google Shape;95;p13"/>
          <p:cNvGraphicFramePr/>
          <p:nvPr/>
        </p:nvGraphicFramePr>
        <p:xfrm>
          <a:off x="94126" y="6178169"/>
          <a:ext cx="3000000" cy="3000000"/>
        </p:xfrm>
        <a:graphic>
          <a:graphicData uri="http://schemas.openxmlformats.org/drawingml/2006/table">
            <a:tbl>
              <a:tblPr bandRow="1" firstRow="1">
                <a:noFill/>
                <a:tableStyleId>{2DC771C0-CED5-432C-8AED-CE906F9E3FF0}</a:tableStyleId>
              </a:tblPr>
              <a:tblGrid>
                <a:gridCol w="1123000"/>
                <a:gridCol w="1852825"/>
                <a:gridCol w="1852825"/>
                <a:gridCol w="1852825"/>
              </a:tblGrid>
              <a:tr h="4525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HCF of 10 and 15</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HCF of 16 and 24</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HCF of 12 and 18 </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882225">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List all the  factors of each number.</a:t>
                      </a:r>
                      <a:br>
                        <a:rPr lang="en-GB" sz="1200">
                          <a:solidFill>
                            <a:schemeClr val="dk1"/>
                          </a:solidFill>
                        </a:rPr>
                      </a:br>
                      <a:endParaRPr sz="1200">
                        <a:solidFill>
                          <a:schemeClr val="dk1"/>
                        </a:solidFill>
                      </a:endParaRPr>
                    </a:p>
                    <a:p>
                      <a:pPr indent="0" lvl="0" marL="0" marR="0" rtl="0" algn="l">
                        <a:spcBef>
                          <a:spcPts val="0"/>
                        </a:spcBef>
                        <a:spcAft>
                          <a:spcPts val="0"/>
                        </a:spcAft>
                        <a:buNone/>
                      </a:pPr>
                      <a:r>
                        <a:rPr lang="en-GB" sz="1200">
                          <a:solidFill>
                            <a:schemeClr val="dk1"/>
                          </a:solidFill>
                        </a:rPr>
                        <a:t>2) </a:t>
                      </a:r>
                      <a:r>
                        <a:rPr b="0" lang="en-GB" sz="1200">
                          <a:solidFill>
                            <a:schemeClr val="dk1"/>
                          </a:solidFill>
                        </a:rPr>
                        <a:t>Identify the factors common to both lists, then circle the highest common factor.</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GB" sz="1200">
                          <a:solidFill>
                            <a:schemeClr val="dk1"/>
                          </a:solidFill>
                        </a:rPr>
                        <a:t>Factors of 10</a:t>
                      </a:r>
                      <a:endParaRPr/>
                    </a:p>
                    <a:p>
                      <a:pPr indent="0" lvl="0" marL="0" marR="0" rtl="0" algn="l">
                        <a:spcBef>
                          <a:spcPts val="0"/>
                        </a:spcBef>
                        <a:spcAft>
                          <a:spcPts val="0"/>
                        </a:spcAft>
                        <a:buNone/>
                      </a:pPr>
                      <a:r>
                        <a:rPr lang="en-GB" sz="1200">
                          <a:solidFill>
                            <a:schemeClr val="dk1"/>
                          </a:solidFill>
                        </a:rPr>
                        <a:t>1, 2, 5, 10</a:t>
                      </a:r>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GB" sz="1200">
                          <a:solidFill>
                            <a:schemeClr val="dk1"/>
                          </a:solidFill>
                        </a:rPr>
                        <a:t>Factors of 15</a:t>
                      </a:r>
                      <a:endParaRPr/>
                    </a:p>
                    <a:p>
                      <a:pPr indent="0" lvl="0" marL="0" marR="0" rtl="0" algn="l">
                        <a:spcBef>
                          <a:spcPts val="0"/>
                        </a:spcBef>
                        <a:spcAft>
                          <a:spcPts val="0"/>
                        </a:spcAft>
                        <a:buNone/>
                      </a:pPr>
                      <a:r>
                        <a:rPr lang="en-GB" sz="1200">
                          <a:solidFill>
                            <a:schemeClr val="dk1"/>
                          </a:solidFill>
                        </a:rPr>
                        <a:t>1, 3, 5, 15</a:t>
                      </a:r>
                      <a:endParaRPr/>
                    </a:p>
                    <a:p>
                      <a:pPr indent="0" lvl="0" marL="0" marR="0" rtl="0" algn="ctr">
                        <a:spcBef>
                          <a:spcPts val="0"/>
                        </a:spcBef>
                        <a:spcAft>
                          <a:spcPts val="0"/>
                        </a:spcAft>
                        <a:buNone/>
                      </a:pPr>
                      <a:r>
                        <a:rPr b="1" lang="en-GB" sz="1400">
                          <a:solidFill>
                            <a:srgbClr val="FF0000"/>
                          </a:solidFill>
                        </a:rPr>
                        <a:t>HCF = 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GB" sz="1200">
                          <a:solidFill>
                            <a:srgbClr val="FF0000"/>
                          </a:solidFill>
                        </a:rPr>
                        <a:t>Factors of 16</a:t>
                      </a:r>
                      <a:endParaRPr/>
                    </a:p>
                    <a:p>
                      <a:pPr indent="0" lvl="0" marL="0" marR="0" rtl="0" algn="l">
                        <a:spcBef>
                          <a:spcPts val="0"/>
                        </a:spcBef>
                        <a:spcAft>
                          <a:spcPts val="0"/>
                        </a:spcAft>
                        <a:buNone/>
                      </a:pPr>
                      <a:r>
                        <a:rPr b="1" lang="en-GB" sz="1200">
                          <a:solidFill>
                            <a:srgbClr val="FF0000"/>
                          </a:solidFill>
                        </a:rPr>
                        <a:t>1, 2, 4, 8, 16</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Factors of 24</a:t>
                      </a:r>
                      <a:endParaRPr/>
                    </a:p>
                    <a:p>
                      <a:pPr indent="0" lvl="0" marL="0" marR="0" rtl="0" algn="l">
                        <a:spcBef>
                          <a:spcPts val="0"/>
                        </a:spcBef>
                        <a:spcAft>
                          <a:spcPts val="0"/>
                        </a:spcAft>
                        <a:buNone/>
                      </a:pPr>
                      <a:r>
                        <a:rPr b="1" lang="en-GB" sz="1200">
                          <a:solidFill>
                            <a:srgbClr val="FF0000"/>
                          </a:solidFill>
                        </a:rPr>
                        <a:t>1, 2, 3, 4, 6, 8, 12, 24</a:t>
                      </a:r>
                      <a:endParaRPr/>
                    </a:p>
                    <a:p>
                      <a:pPr indent="0" lvl="0" marL="0" marR="0" rtl="0" algn="ctr">
                        <a:lnSpc>
                          <a:spcPct val="100000"/>
                        </a:lnSpc>
                        <a:spcBef>
                          <a:spcPts val="0"/>
                        </a:spcBef>
                        <a:spcAft>
                          <a:spcPts val="0"/>
                        </a:spcAft>
                        <a:buClr>
                          <a:srgbClr val="FF0000"/>
                        </a:buClr>
                        <a:buSzPts val="1400"/>
                        <a:buFont typeface="Calibri"/>
                        <a:buNone/>
                      </a:pPr>
                      <a:r>
                        <a:rPr b="1" i="0" lang="en-GB" sz="1400" u="none" cap="none" strike="noStrike">
                          <a:solidFill>
                            <a:srgbClr val="FF0000"/>
                          </a:solidFill>
                          <a:latin typeface="Calibri"/>
                          <a:ea typeface="Calibri"/>
                          <a:cs typeface="Calibri"/>
                          <a:sym typeface="Calibri"/>
                        </a:rPr>
                        <a:t>HCF = 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GB" sz="1200">
                          <a:solidFill>
                            <a:srgbClr val="FF0000"/>
                          </a:solidFill>
                        </a:rPr>
                        <a:t>Factors of 12</a:t>
                      </a:r>
                      <a:endParaRPr/>
                    </a:p>
                    <a:p>
                      <a:pPr indent="0" lvl="0" marL="0" marR="0" rtl="0" algn="l">
                        <a:spcBef>
                          <a:spcPts val="0"/>
                        </a:spcBef>
                        <a:spcAft>
                          <a:spcPts val="0"/>
                        </a:spcAft>
                        <a:buNone/>
                      </a:pPr>
                      <a:r>
                        <a:rPr b="1" lang="en-GB" sz="1200">
                          <a:solidFill>
                            <a:srgbClr val="FF0000"/>
                          </a:solidFill>
                        </a:rPr>
                        <a:t>1, 2, 3, 4, 6, 12</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Factors of 18</a:t>
                      </a:r>
                      <a:endParaRPr/>
                    </a:p>
                    <a:p>
                      <a:pPr indent="0" lvl="0" marL="0" marR="0" rtl="0" algn="l">
                        <a:spcBef>
                          <a:spcPts val="0"/>
                        </a:spcBef>
                        <a:spcAft>
                          <a:spcPts val="0"/>
                        </a:spcAft>
                        <a:buNone/>
                      </a:pPr>
                      <a:r>
                        <a:rPr b="1" lang="en-GB" sz="1200">
                          <a:solidFill>
                            <a:srgbClr val="FF0000"/>
                          </a:solidFill>
                        </a:rPr>
                        <a:t>1, 2, 3, 6, 18</a:t>
                      </a:r>
                      <a:endParaRPr/>
                    </a:p>
                    <a:p>
                      <a:pPr indent="0" lvl="0" marL="0" marR="0" rtl="0" algn="ctr">
                        <a:lnSpc>
                          <a:spcPct val="100000"/>
                        </a:lnSpc>
                        <a:spcBef>
                          <a:spcPts val="0"/>
                        </a:spcBef>
                        <a:spcAft>
                          <a:spcPts val="0"/>
                        </a:spcAft>
                        <a:buClr>
                          <a:srgbClr val="FF0000"/>
                        </a:buClr>
                        <a:buSzPts val="1400"/>
                        <a:buFont typeface="Calibri"/>
                        <a:buNone/>
                      </a:pPr>
                      <a:r>
                        <a:rPr b="1" i="0" lang="en-GB" sz="1400" u="none" cap="none" strike="noStrike">
                          <a:solidFill>
                            <a:srgbClr val="FF0000"/>
                          </a:solidFill>
                          <a:latin typeface="Calibri"/>
                          <a:ea typeface="Calibri"/>
                          <a:cs typeface="Calibri"/>
                          <a:sym typeface="Calibri"/>
                        </a:rPr>
                        <a:t>HCF = 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96" name="Google Shape;96;p13"/>
          <p:cNvSpPr txBox="1"/>
          <p:nvPr/>
        </p:nvSpPr>
        <p:spPr>
          <a:xfrm>
            <a:off x="1397486" y="5900808"/>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1 - I do…</a:t>
            </a:r>
            <a:endParaRPr/>
          </a:p>
        </p:txBody>
      </p:sp>
      <p:sp>
        <p:nvSpPr>
          <p:cNvPr id="97" name="Google Shape;97;p13"/>
          <p:cNvSpPr txBox="1"/>
          <p:nvPr/>
        </p:nvSpPr>
        <p:spPr>
          <a:xfrm>
            <a:off x="5076170" y="5891867"/>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3 – You do…</a:t>
            </a:r>
            <a:endParaRPr/>
          </a:p>
        </p:txBody>
      </p:sp>
      <p:sp>
        <p:nvSpPr>
          <p:cNvPr id="98" name="Google Shape;98;p13"/>
          <p:cNvSpPr txBox="1"/>
          <p:nvPr/>
        </p:nvSpPr>
        <p:spPr>
          <a:xfrm>
            <a:off x="3104358" y="5897334"/>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 – We do…</a:t>
            </a:r>
            <a:endParaRPr/>
          </a:p>
        </p:txBody>
      </p:sp>
      <p:sp>
        <p:nvSpPr>
          <p:cNvPr id="99" name="Google Shape;99;p13"/>
          <p:cNvSpPr/>
          <p:nvPr/>
        </p:nvSpPr>
        <p:spPr>
          <a:xfrm>
            <a:off x="74466" y="5559004"/>
            <a:ext cx="3833317" cy="275657"/>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Calculating the highest common factor of two numbers</a:t>
            </a:r>
            <a:endParaRPr/>
          </a:p>
        </p:txBody>
      </p:sp>
      <p:cxnSp>
        <p:nvCxnSpPr>
          <p:cNvPr id="100" name="Google Shape;100;p13"/>
          <p:cNvCxnSpPr/>
          <p:nvPr/>
        </p:nvCxnSpPr>
        <p:spPr>
          <a:xfrm flipH="1" rot="10800000">
            <a:off x="917908" y="4796622"/>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101" name="Google Shape;101;p13"/>
          <p:cNvSpPr/>
          <p:nvPr/>
        </p:nvSpPr>
        <p:spPr>
          <a:xfrm>
            <a:off x="66631" y="3148711"/>
            <a:ext cx="6699219" cy="2148368"/>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02" name="Google Shape;102;p13"/>
          <p:cNvCxnSpPr/>
          <p:nvPr/>
        </p:nvCxnSpPr>
        <p:spPr>
          <a:xfrm>
            <a:off x="60563" y="4263961"/>
            <a:ext cx="6699219" cy="0"/>
          </a:xfrm>
          <a:prstGeom prst="straightConnector1">
            <a:avLst/>
          </a:prstGeom>
          <a:noFill/>
          <a:ln cap="flat" cmpd="sng" w="9525">
            <a:solidFill>
              <a:schemeClr val="dk1"/>
            </a:solidFill>
            <a:prstDash val="solid"/>
            <a:miter lim="800000"/>
            <a:headEnd len="sm" w="sm" type="none"/>
            <a:tailEnd len="sm" w="sm" type="none"/>
          </a:ln>
        </p:spPr>
      </p:cxnSp>
      <p:cxnSp>
        <p:nvCxnSpPr>
          <p:cNvPr id="103" name="Google Shape;103;p13"/>
          <p:cNvCxnSpPr>
            <a:stCxn id="101" idx="2"/>
            <a:endCxn id="101" idx="0"/>
          </p:cNvCxnSpPr>
          <p:nvPr/>
        </p:nvCxnSpPr>
        <p:spPr>
          <a:xfrm rot="10800000">
            <a:off x="3416241" y="3148779"/>
            <a:ext cx="0" cy="2148300"/>
          </a:xfrm>
          <a:prstGeom prst="straightConnector1">
            <a:avLst/>
          </a:prstGeom>
          <a:noFill/>
          <a:ln cap="flat" cmpd="sng" w="9525">
            <a:solidFill>
              <a:schemeClr val="dk1"/>
            </a:solidFill>
            <a:prstDash val="solid"/>
            <a:miter lim="800000"/>
            <a:headEnd len="sm" w="sm" type="none"/>
            <a:tailEnd len="sm" w="sm" type="none"/>
          </a:ln>
        </p:spPr>
      </p:cxnSp>
      <p:sp>
        <p:nvSpPr>
          <p:cNvPr id="104" name="Google Shape;104;p13"/>
          <p:cNvSpPr txBox="1"/>
          <p:nvPr/>
        </p:nvSpPr>
        <p:spPr>
          <a:xfrm>
            <a:off x="84386" y="3170473"/>
            <a:ext cx="8247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5" name="Google Shape;105;p13"/>
          <p:cNvSpPr txBox="1"/>
          <p:nvPr/>
        </p:nvSpPr>
        <p:spPr>
          <a:xfrm>
            <a:off x="5694116" y="3169465"/>
            <a:ext cx="11122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Characteristics</a:t>
            </a:r>
            <a:endParaRPr b="1" sz="1200">
              <a:solidFill>
                <a:schemeClr val="dk1"/>
              </a:solidFill>
              <a:latin typeface="Calibri"/>
              <a:ea typeface="Calibri"/>
              <a:cs typeface="Calibri"/>
              <a:sym typeface="Calibri"/>
            </a:endParaRPr>
          </a:p>
        </p:txBody>
      </p:sp>
      <p:sp>
        <p:nvSpPr>
          <p:cNvPr id="106" name="Google Shape;106;p13"/>
          <p:cNvSpPr txBox="1"/>
          <p:nvPr/>
        </p:nvSpPr>
        <p:spPr>
          <a:xfrm>
            <a:off x="88481" y="4261072"/>
            <a:ext cx="78816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b="1" sz="1200">
              <a:solidFill>
                <a:schemeClr val="dk1"/>
              </a:solidFill>
              <a:latin typeface="Calibri"/>
              <a:ea typeface="Calibri"/>
              <a:cs typeface="Calibri"/>
              <a:sym typeface="Calibri"/>
            </a:endParaRPr>
          </a:p>
        </p:txBody>
      </p:sp>
      <p:sp>
        <p:nvSpPr>
          <p:cNvPr id="107" name="Google Shape;107;p13"/>
          <p:cNvSpPr txBox="1"/>
          <p:nvPr/>
        </p:nvSpPr>
        <p:spPr>
          <a:xfrm>
            <a:off x="5646366" y="4239525"/>
            <a:ext cx="1172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Non - Examples</a:t>
            </a:r>
            <a:endParaRPr b="1" sz="1200">
              <a:solidFill>
                <a:schemeClr val="dk1"/>
              </a:solidFill>
              <a:latin typeface="Calibri"/>
              <a:ea typeface="Calibri"/>
              <a:cs typeface="Calibri"/>
              <a:sym typeface="Calibri"/>
            </a:endParaRPr>
          </a:p>
        </p:txBody>
      </p:sp>
      <p:sp>
        <p:nvSpPr>
          <p:cNvPr id="108" name="Google Shape;108;p13"/>
          <p:cNvSpPr txBox="1"/>
          <p:nvPr/>
        </p:nvSpPr>
        <p:spPr>
          <a:xfrm>
            <a:off x="99118" y="3358071"/>
            <a:ext cx="3230335" cy="46166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The largest integer which is a factor of two or more given positive integers.</a:t>
            </a:r>
            <a:endParaRPr sz="1200">
              <a:solidFill>
                <a:schemeClr val="dk1"/>
              </a:solidFill>
              <a:latin typeface="Calibri"/>
              <a:ea typeface="Calibri"/>
              <a:cs typeface="Calibri"/>
              <a:sym typeface="Calibri"/>
            </a:endParaRPr>
          </a:p>
        </p:txBody>
      </p:sp>
      <p:sp>
        <p:nvSpPr>
          <p:cNvPr id="109" name="Google Shape;109;p13"/>
          <p:cNvSpPr txBox="1"/>
          <p:nvPr/>
        </p:nvSpPr>
        <p:spPr>
          <a:xfrm>
            <a:off x="3461002" y="3362361"/>
            <a:ext cx="3230335" cy="1015663"/>
          </a:xfrm>
          <a:prstGeom prst="rect">
            <a:avLst/>
          </a:prstGeom>
          <a:noFill/>
          <a:ln>
            <a:noFill/>
          </a:ln>
        </p:spPr>
        <p:txBody>
          <a:bodyPr anchorCtr="0" anchor="b"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Will be less than or equal to the smallest of the given numbers.</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Often abbreviated to HCF</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110" name="Google Shape;110;p13"/>
          <p:cNvSpPr txBox="1"/>
          <p:nvPr/>
        </p:nvSpPr>
        <p:spPr>
          <a:xfrm>
            <a:off x="2196784" y="4117038"/>
            <a:ext cx="2379177"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Highest common factor</a:t>
            </a:r>
            <a:endParaRPr sz="1800">
              <a:solidFill>
                <a:schemeClr val="dk1"/>
              </a:solidFill>
              <a:latin typeface="Calibri"/>
              <a:ea typeface="Calibri"/>
              <a:cs typeface="Calibri"/>
              <a:sym typeface="Calibri"/>
            </a:endParaRPr>
          </a:p>
        </p:txBody>
      </p:sp>
      <p:sp>
        <p:nvSpPr>
          <p:cNvPr id="111" name="Google Shape;111;p13"/>
          <p:cNvSpPr txBox="1"/>
          <p:nvPr/>
        </p:nvSpPr>
        <p:spPr>
          <a:xfrm>
            <a:off x="116158" y="4466081"/>
            <a:ext cx="3230335" cy="83099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HCF of 8 and 12 = 4</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HCF of 30 and 15 = 15</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HCF of 4 and 15 = 1</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LCM of 4, 6 and 10 = 2</a:t>
            </a:r>
            <a:endParaRPr/>
          </a:p>
        </p:txBody>
      </p:sp>
      <p:sp>
        <p:nvSpPr>
          <p:cNvPr id="112" name="Google Shape;112;p13"/>
          <p:cNvSpPr txBox="1"/>
          <p:nvPr/>
        </p:nvSpPr>
        <p:spPr>
          <a:xfrm>
            <a:off x="3427485" y="4522633"/>
            <a:ext cx="3230335"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HCF of 1 and 2 ≠ 2</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HCF of 4 and 8 ≠ 8</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HCF of 4 and 5 ≠ 20</a:t>
            </a:r>
            <a:endParaRPr/>
          </a:p>
        </p:txBody>
      </p:sp>
      <p:sp>
        <p:nvSpPr>
          <p:cNvPr id="113" name="Google Shape;113;p13"/>
          <p:cNvSpPr/>
          <p:nvPr/>
        </p:nvSpPr>
        <p:spPr>
          <a:xfrm>
            <a:off x="107712" y="1952634"/>
            <a:ext cx="6671317" cy="1074219"/>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114" name="Google Shape;114;p13"/>
          <p:cNvSpPr txBox="1"/>
          <p:nvPr/>
        </p:nvSpPr>
        <p:spPr>
          <a:xfrm>
            <a:off x="64621" y="1915989"/>
            <a:ext cx="277827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200" u="none" cap="none" strike="noStrike">
                <a:solidFill>
                  <a:srgbClr val="000000"/>
                </a:solidFill>
                <a:latin typeface="Calibri"/>
                <a:ea typeface="Calibri"/>
                <a:cs typeface="Calibri"/>
                <a:sym typeface="Calibri"/>
              </a:rPr>
              <a:t>Introduction – Read and annotate: </a:t>
            </a:r>
            <a:endParaRPr/>
          </a:p>
        </p:txBody>
      </p:sp>
      <p:sp>
        <p:nvSpPr>
          <p:cNvPr id="115" name="Google Shape;115;p13"/>
          <p:cNvSpPr txBox="1"/>
          <p:nvPr/>
        </p:nvSpPr>
        <p:spPr>
          <a:xfrm>
            <a:off x="92150" y="2139586"/>
            <a:ext cx="6768000" cy="830997"/>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The </a:t>
            </a:r>
            <a:r>
              <a:rPr b="1" lang="en-GB" sz="1200">
                <a:solidFill>
                  <a:schemeClr val="dk1"/>
                </a:solidFill>
                <a:latin typeface="Calibri"/>
                <a:ea typeface="Calibri"/>
                <a:cs typeface="Calibri"/>
                <a:sym typeface="Calibri"/>
              </a:rPr>
              <a:t>highest common factor</a:t>
            </a:r>
            <a:r>
              <a:rPr lang="en-GB" sz="1200">
                <a:solidFill>
                  <a:schemeClr val="dk1"/>
                </a:solidFill>
                <a:latin typeface="Calibri"/>
                <a:ea typeface="Calibri"/>
                <a:cs typeface="Calibri"/>
                <a:sym typeface="Calibri"/>
              </a:rPr>
              <a:t> (HCF), is the biggest number that can divide two (or more) numbers</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evenly, with no remainder. Think of it as the largest number that both numbers "share" as a factor. The</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HCF is useful for simplifying fractions, dividing things into equal parts, and finding the biggest group</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that something can be split into evenly. </a:t>
            </a:r>
            <a:endParaRPr sz="12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4"/>
          <p:cNvSpPr txBox="1"/>
          <p:nvPr>
            <p:ph idx="12" type="sldNum"/>
          </p:nvPr>
        </p:nvSpPr>
        <p:spPr>
          <a:xfrm>
            <a:off x="5384318" y="956217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21" name="Google Shape;121;p14"/>
          <p:cNvSpPr txBox="1"/>
          <p:nvPr/>
        </p:nvSpPr>
        <p:spPr>
          <a:xfrm>
            <a:off x="1261803" y="255272"/>
            <a:ext cx="485363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 Work out the highest common factor of the following pairs of numbers:</a:t>
            </a:r>
            <a:endParaRPr sz="1200">
              <a:solidFill>
                <a:schemeClr val="dk1"/>
              </a:solidFill>
              <a:latin typeface="Calibri"/>
              <a:ea typeface="Calibri"/>
              <a:cs typeface="Calibri"/>
              <a:sym typeface="Calibri"/>
            </a:endParaRPr>
          </a:p>
        </p:txBody>
      </p:sp>
      <p:graphicFrame>
        <p:nvGraphicFramePr>
          <p:cNvPr id="122" name="Google Shape;122;p14"/>
          <p:cNvGraphicFramePr/>
          <p:nvPr/>
        </p:nvGraphicFramePr>
        <p:xfrm>
          <a:off x="123849" y="595725"/>
          <a:ext cx="3000000" cy="3000000"/>
        </p:xfrm>
        <a:graphic>
          <a:graphicData uri="http://schemas.openxmlformats.org/drawingml/2006/table">
            <a:tbl>
              <a:tblPr>
                <a:noFill/>
                <a:tableStyleId>{07E774F5-8BCA-4ED4-ADEC-BDBF87717BEF}</a:tableStyleId>
              </a:tblPr>
              <a:tblGrid>
                <a:gridCol w="2203425"/>
                <a:gridCol w="2203425"/>
                <a:gridCol w="2203425"/>
              </a:tblGrid>
              <a:tr h="1296000">
                <a:tc>
                  <a:txBody>
                    <a:bodyPr/>
                    <a:lstStyle/>
                    <a:p>
                      <a:pPr indent="0" lvl="0" marL="0" marR="0" rtl="0" algn="l">
                        <a:spcBef>
                          <a:spcPts val="0"/>
                        </a:spcBef>
                        <a:spcAft>
                          <a:spcPts val="0"/>
                        </a:spcAft>
                        <a:buNone/>
                      </a:pPr>
                      <a:r>
                        <a:rPr lang="en-GB" sz="1200"/>
                        <a:t>a) 4 and 14</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b) 6 and 14</a:t>
                      </a:r>
                      <a:endParaRPr/>
                    </a:p>
                  </a:txBody>
                  <a:tcPr marT="45725" marB="45725" marR="91450" marL="91450"/>
                </a:tc>
                <a:tc>
                  <a:txBody>
                    <a:bodyPr/>
                    <a:lstStyle/>
                    <a:p>
                      <a:pPr indent="0" lvl="0" marL="0" marR="0" rtl="0" algn="l">
                        <a:spcBef>
                          <a:spcPts val="0"/>
                        </a:spcBef>
                        <a:spcAft>
                          <a:spcPts val="0"/>
                        </a:spcAft>
                        <a:buNone/>
                      </a:pPr>
                      <a:r>
                        <a:rPr lang="en-GB" sz="1200"/>
                        <a:t>c) 6 and 9</a:t>
                      </a:r>
                      <a:endParaRPr/>
                    </a:p>
                  </a:txBody>
                  <a:tcPr marT="45725" marB="45725" marR="91450" marL="91450"/>
                </a:tc>
              </a:tr>
              <a:tr h="1296000">
                <a:tc>
                  <a:txBody>
                    <a:bodyPr/>
                    <a:lstStyle/>
                    <a:p>
                      <a:pPr indent="0" lvl="0" marL="0" marR="0" rtl="0" algn="l">
                        <a:spcBef>
                          <a:spcPts val="0"/>
                        </a:spcBef>
                        <a:spcAft>
                          <a:spcPts val="0"/>
                        </a:spcAft>
                        <a:buNone/>
                      </a:pPr>
                      <a:r>
                        <a:rPr lang="en-GB" sz="1200"/>
                        <a:t>d) 9 and 21</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e) 6 and 15</a:t>
                      </a:r>
                      <a:endParaRPr/>
                    </a:p>
                  </a:txBody>
                  <a:tcPr marT="45725" marB="45725" marR="91450" marL="91450"/>
                </a:tc>
                <a:tc>
                  <a:txBody>
                    <a:bodyPr/>
                    <a:lstStyle/>
                    <a:p>
                      <a:pPr indent="0" lvl="0" marL="0" marR="0" rtl="0" algn="l">
                        <a:spcBef>
                          <a:spcPts val="0"/>
                        </a:spcBef>
                        <a:spcAft>
                          <a:spcPts val="0"/>
                        </a:spcAft>
                        <a:buNone/>
                      </a:pPr>
                      <a:r>
                        <a:rPr lang="en-GB" sz="1200"/>
                        <a:t>f) 10 and 17</a:t>
                      </a:r>
                      <a:endParaRPr/>
                    </a:p>
                  </a:txBody>
                  <a:tcPr marT="45725" marB="45725" marR="91450" marL="91450"/>
                </a:tc>
              </a:tr>
              <a:tr h="1296000">
                <a:tc>
                  <a:txBody>
                    <a:bodyPr/>
                    <a:lstStyle/>
                    <a:p>
                      <a:pPr indent="0" lvl="0" marL="0" marR="0" rtl="0" algn="l">
                        <a:spcBef>
                          <a:spcPts val="0"/>
                        </a:spcBef>
                        <a:spcAft>
                          <a:spcPts val="0"/>
                        </a:spcAft>
                        <a:buNone/>
                      </a:pPr>
                      <a:r>
                        <a:rPr lang="en-GB" sz="1200"/>
                        <a:t>g) 30 and 45</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h) 40 and 60</a:t>
                      </a:r>
                      <a:endParaRPr/>
                    </a:p>
                  </a:txBody>
                  <a:tcPr marT="45725" marB="45725" marR="91450" marL="91450"/>
                </a:tc>
                <a:tc>
                  <a:txBody>
                    <a:bodyPr/>
                    <a:lstStyle/>
                    <a:p>
                      <a:pPr indent="0" lvl="0" marL="0" marR="0" rtl="0" algn="l">
                        <a:spcBef>
                          <a:spcPts val="0"/>
                        </a:spcBef>
                        <a:spcAft>
                          <a:spcPts val="0"/>
                        </a:spcAft>
                        <a:buNone/>
                      </a:pPr>
                      <a:r>
                        <a:rPr lang="en-GB" sz="1200"/>
                        <a:t>i) 28 and 63</a:t>
                      </a:r>
                      <a:endParaRPr/>
                    </a:p>
                  </a:txBody>
                  <a:tcPr marT="45725" marB="45725" marR="91450" marL="91450"/>
                </a:tc>
              </a:tr>
              <a:tr h="1296000">
                <a:tc>
                  <a:txBody>
                    <a:bodyPr/>
                    <a:lstStyle/>
                    <a:p>
                      <a:pPr indent="0" lvl="0" marL="0" marR="0" rtl="0" algn="l">
                        <a:spcBef>
                          <a:spcPts val="0"/>
                        </a:spcBef>
                        <a:spcAft>
                          <a:spcPts val="0"/>
                        </a:spcAft>
                        <a:buNone/>
                      </a:pPr>
                      <a:r>
                        <a:rPr lang="en-GB" sz="1200"/>
                        <a:t>j) 24 and 36</a:t>
                      </a:r>
                      <a:endParaRPr/>
                    </a:p>
                  </a:txBody>
                  <a:tcPr marT="45725" marB="45725" marR="91450" marL="91450"/>
                </a:tc>
                <a:tc>
                  <a:txBody>
                    <a:bodyPr/>
                    <a:lstStyle/>
                    <a:p>
                      <a:pPr indent="0" lvl="0" marL="0" marR="0" rtl="0" algn="l">
                        <a:spcBef>
                          <a:spcPts val="0"/>
                        </a:spcBef>
                        <a:spcAft>
                          <a:spcPts val="0"/>
                        </a:spcAft>
                        <a:buNone/>
                      </a:pPr>
                      <a:r>
                        <a:rPr lang="en-GB" sz="1200"/>
                        <a:t>k) 16 and 28</a:t>
                      </a:r>
                      <a:endParaRPr/>
                    </a:p>
                  </a:txBody>
                  <a:tcPr marT="45725" marB="45725" marR="91450" marL="91450"/>
                </a:tc>
                <a:tc>
                  <a:txBody>
                    <a:bodyPr/>
                    <a:lstStyle/>
                    <a:p>
                      <a:pPr indent="0" lvl="0" marL="0" marR="0" rtl="0" algn="l">
                        <a:spcBef>
                          <a:spcPts val="0"/>
                        </a:spcBef>
                        <a:spcAft>
                          <a:spcPts val="0"/>
                        </a:spcAft>
                        <a:buNone/>
                      </a:pPr>
                      <a:r>
                        <a:rPr lang="en-GB" sz="1200"/>
                        <a:t>l) 18 and 45</a:t>
                      </a:r>
                      <a:endParaRPr/>
                    </a:p>
                  </a:txBody>
                  <a:tcPr marT="45725" marB="45725" marR="91450" marL="91450"/>
                </a:tc>
              </a:tr>
              <a:tr h="1296000">
                <a:tc>
                  <a:txBody>
                    <a:bodyPr/>
                    <a:lstStyle/>
                    <a:p>
                      <a:pPr indent="0" lvl="0" marL="0" marR="0" rtl="0" algn="l">
                        <a:spcBef>
                          <a:spcPts val="0"/>
                        </a:spcBef>
                        <a:spcAft>
                          <a:spcPts val="0"/>
                        </a:spcAft>
                        <a:buNone/>
                      </a:pPr>
                      <a:r>
                        <a:rPr lang="en-GB" sz="1200"/>
                        <a:t>m) 150 and 200</a:t>
                      </a:r>
                      <a:endParaRPr/>
                    </a:p>
                  </a:txBody>
                  <a:tcPr marT="45725" marB="45725" marR="91450" marL="91450"/>
                </a:tc>
                <a:tc>
                  <a:txBody>
                    <a:bodyPr/>
                    <a:lstStyle/>
                    <a:p>
                      <a:pPr indent="0" lvl="0" marL="0" marR="0" rtl="0" algn="l">
                        <a:spcBef>
                          <a:spcPts val="0"/>
                        </a:spcBef>
                        <a:spcAft>
                          <a:spcPts val="0"/>
                        </a:spcAft>
                        <a:buNone/>
                      </a:pPr>
                      <a:r>
                        <a:rPr lang="en-GB" sz="1200"/>
                        <a:t>n) 12 and 54</a:t>
                      </a:r>
                      <a:endParaRPr/>
                    </a:p>
                  </a:txBody>
                  <a:tcPr marT="45725" marB="45725" marR="91450" marL="91450"/>
                </a:tc>
                <a:tc>
                  <a:txBody>
                    <a:bodyPr/>
                    <a:lstStyle/>
                    <a:p>
                      <a:pPr indent="0" lvl="0" marL="0" marR="0" rtl="0" algn="l">
                        <a:spcBef>
                          <a:spcPts val="0"/>
                        </a:spcBef>
                        <a:spcAft>
                          <a:spcPts val="0"/>
                        </a:spcAft>
                        <a:buNone/>
                      </a:pPr>
                      <a:r>
                        <a:rPr lang="en-GB" sz="1200"/>
                        <a:t>o) 90 and 270</a:t>
                      </a:r>
                      <a:endParaRPr/>
                    </a:p>
                  </a:txBody>
                  <a:tcPr marT="45725" marB="45725" marR="91450" marL="91450"/>
                </a:tc>
              </a:tr>
              <a:tr h="1296000">
                <a:tc>
                  <a:txBody>
                    <a:bodyPr/>
                    <a:lstStyle/>
                    <a:p>
                      <a:pPr indent="0" lvl="0" marL="0" marR="0" rtl="0" algn="l">
                        <a:spcBef>
                          <a:spcPts val="0"/>
                        </a:spcBef>
                        <a:spcAft>
                          <a:spcPts val="0"/>
                        </a:spcAft>
                        <a:buNone/>
                      </a:pPr>
                      <a:r>
                        <a:rPr lang="en-GB" sz="1200">
                          <a:solidFill>
                            <a:schemeClr val="dk1"/>
                          </a:solidFill>
                        </a:rPr>
                        <a:t>p) 39 and 65</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q) 12 and 1</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r) 12 and 2</a:t>
                      </a:r>
                      <a:endParaRPr/>
                    </a:p>
                  </a:txBody>
                  <a:tcPr marT="45725" marB="45725" marR="91450" marL="91450"/>
                </a:tc>
              </a:tr>
              <a:tr h="1296000">
                <a:tc>
                  <a:txBody>
                    <a:bodyPr/>
                    <a:lstStyle/>
                    <a:p>
                      <a:pPr indent="0" lvl="0" marL="0" marR="0" rtl="0" algn="l">
                        <a:spcBef>
                          <a:spcPts val="0"/>
                        </a:spcBef>
                        <a:spcAft>
                          <a:spcPts val="0"/>
                        </a:spcAft>
                        <a:buNone/>
                      </a:pPr>
                      <a:r>
                        <a:rPr lang="en-GB" sz="1200">
                          <a:solidFill>
                            <a:schemeClr val="dk1"/>
                          </a:solidFill>
                        </a:rPr>
                        <a:t>s) 12 and 3</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t) 12 and 4</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u) 12 and 5</a:t>
                      </a:r>
                      <a:endParaRPr/>
                    </a:p>
                  </a:txBody>
                  <a:tcPr marT="45725" marB="45725" marR="91450" marL="91450"/>
                </a:tc>
              </a:tr>
            </a:tbl>
          </a:graphicData>
        </a:graphic>
      </p:graphicFrame>
      <p:sp>
        <p:nvSpPr>
          <p:cNvPr id="123" name="Google Shape;123;p14"/>
          <p:cNvSpPr/>
          <p:nvPr/>
        </p:nvSpPr>
        <p:spPr>
          <a:xfrm>
            <a:off x="123849" y="129845"/>
            <a:ext cx="1137954" cy="340453"/>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24" name="Google Shape;124;p14"/>
          <p:cNvSpPr txBox="1"/>
          <p:nvPr/>
        </p:nvSpPr>
        <p:spPr>
          <a:xfrm>
            <a:off x="960117" y="104674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125" name="Google Shape;125;p14"/>
          <p:cNvSpPr txBox="1"/>
          <p:nvPr/>
        </p:nvSpPr>
        <p:spPr>
          <a:xfrm>
            <a:off x="3278157" y="104639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126" name="Google Shape;126;p14"/>
          <p:cNvSpPr txBox="1"/>
          <p:nvPr/>
        </p:nvSpPr>
        <p:spPr>
          <a:xfrm>
            <a:off x="5384318" y="104639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a:p>
        </p:txBody>
      </p:sp>
      <p:sp>
        <p:nvSpPr>
          <p:cNvPr id="127" name="Google Shape;127;p14"/>
          <p:cNvSpPr txBox="1"/>
          <p:nvPr/>
        </p:nvSpPr>
        <p:spPr>
          <a:xfrm>
            <a:off x="960117" y="2294021"/>
            <a:ext cx="3192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a:p>
        </p:txBody>
      </p:sp>
      <p:sp>
        <p:nvSpPr>
          <p:cNvPr id="128" name="Google Shape;128;p14"/>
          <p:cNvSpPr txBox="1"/>
          <p:nvPr/>
        </p:nvSpPr>
        <p:spPr>
          <a:xfrm>
            <a:off x="3278157" y="2293671"/>
            <a:ext cx="3192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a:p>
        </p:txBody>
      </p:sp>
      <p:sp>
        <p:nvSpPr>
          <p:cNvPr id="129" name="Google Shape;129;p14"/>
          <p:cNvSpPr txBox="1"/>
          <p:nvPr/>
        </p:nvSpPr>
        <p:spPr>
          <a:xfrm>
            <a:off x="5384318" y="2293671"/>
            <a:ext cx="3192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
        <p:nvSpPr>
          <p:cNvPr id="130" name="Google Shape;130;p14"/>
          <p:cNvSpPr txBox="1"/>
          <p:nvPr/>
        </p:nvSpPr>
        <p:spPr>
          <a:xfrm>
            <a:off x="809273" y="3612350"/>
            <a:ext cx="4525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a:t>
            </a:r>
            <a:endParaRPr/>
          </a:p>
        </p:txBody>
      </p:sp>
      <p:sp>
        <p:nvSpPr>
          <p:cNvPr id="131" name="Google Shape;131;p14"/>
          <p:cNvSpPr txBox="1"/>
          <p:nvPr/>
        </p:nvSpPr>
        <p:spPr>
          <a:xfrm>
            <a:off x="3127314" y="3612000"/>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20</a:t>
            </a:r>
            <a:endParaRPr/>
          </a:p>
        </p:txBody>
      </p:sp>
      <p:sp>
        <p:nvSpPr>
          <p:cNvPr id="132" name="Google Shape;132;p14"/>
          <p:cNvSpPr txBox="1"/>
          <p:nvPr/>
        </p:nvSpPr>
        <p:spPr>
          <a:xfrm>
            <a:off x="5233475" y="3612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a:t>
            </a:r>
            <a:endParaRPr/>
          </a:p>
        </p:txBody>
      </p:sp>
      <p:sp>
        <p:nvSpPr>
          <p:cNvPr id="133" name="Google Shape;133;p14"/>
          <p:cNvSpPr txBox="1"/>
          <p:nvPr/>
        </p:nvSpPr>
        <p:spPr>
          <a:xfrm>
            <a:off x="954594" y="4901227"/>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134" name="Google Shape;134;p14"/>
          <p:cNvSpPr txBox="1"/>
          <p:nvPr/>
        </p:nvSpPr>
        <p:spPr>
          <a:xfrm>
            <a:off x="3272634" y="490087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a:p>
        </p:txBody>
      </p:sp>
      <p:sp>
        <p:nvSpPr>
          <p:cNvPr id="135" name="Google Shape;135;p14"/>
          <p:cNvSpPr txBox="1"/>
          <p:nvPr/>
        </p:nvSpPr>
        <p:spPr>
          <a:xfrm>
            <a:off x="5378795" y="490087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9</a:t>
            </a:r>
            <a:endParaRPr/>
          </a:p>
        </p:txBody>
      </p:sp>
      <p:sp>
        <p:nvSpPr>
          <p:cNvPr id="136" name="Google Shape;136;p14"/>
          <p:cNvSpPr txBox="1"/>
          <p:nvPr/>
        </p:nvSpPr>
        <p:spPr>
          <a:xfrm>
            <a:off x="960116" y="6270180"/>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50</a:t>
            </a:r>
            <a:endParaRPr/>
          </a:p>
        </p:txBody>
      </p:sp>
      <p:sp>
        <p:nvSpPr>
          <p:cNvPr id="137" name="Google Shape;137;p14"/>
          <p:cNvSpPr txBox="1"/>
          <p:nvPr/>
        </p:nvSpPr>
        <p:spPr>
          <a:xfrm>
            <a:off x="3278156" y="626983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a:p>
        </p:txBody>
      </p:sp>
      <p:sp>
        <p:nvSpPr>
          <p:cNvPr id="138" name="Google Shape;138;p14"/>
          <p:cNvSpPr txBox="1"/>
          <p:nvPr/>
        </p:nvSpPr>
        <p:spPr>
          <a:xfrm>
            <a:off x="5384317" y="6269830"/>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90</a:t>
            </a:r>
            <a:endParaRPr/>
          </a:p>
        </p:txBody>
      </p:sp>
      <p:sp>
        <p:nvSpPr>
          <p:cNvPr id="139" name="Google Shape;139;p14"/>
          <p:cNvSpPr txBox="1"/>
          <p:nvPr/>
        </p:nvSpPr>
        <p:spPr>
          <a:xfrm>
            <a:off x="977672" y="754579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13</a:t>
            </a:r>
            <a:endParaRPr/>
          </a:p>
        </p:txBody>
      </p:sp>
      <p:sp>
        <p:nvSpPr>
          <p:cNvPr id="140" name="Google Shape;140;p14"/>
          <p:cNvSpPr txBox="1"/>
          <p:nvPr/>
        </p:nvSpPr>
        <p:spPr>
          <a:xfrm>
            <a:off x="3295712" y="754544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
        <p:nvSpPr>
          <p:cNvPr id="141" name="Google Shape;141;p14"/>
          <p:cNvSpPr txBox="1"/>
          <p:nvPr/>
        </p:nvSpPr>
        <p:spPr>
          <a:xfrm>
            <a:off x="5401873" y="754544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142" name="Google Shape;142;p14"/>
          <p:cNvSpPr txBox="1"/>
          <p:nvPr/>
        </p:nvSpPr>
        <p:spPr>
          <a:xfrm>
            <a:off x="1032218" y="8763333"/>
            <a:ext cx="247140" cy="3769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a:p>
        </p:txBody>
      </p:sp>
      <p:sp>
        <p:nvSpPr>
          <p:cNvPr id="143" name="Google Shape;143;p14"/>
          <p:cNvSpPr txBox="1"/>
          <p:nvPr/>
        </p:nvSpPr>
        <p:spPr>
          <a:xfrm>
            <a:off x="3350258" y="8762983"/>
            <a:ext cx="247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a:p>
        </p:txBody>
      </p:sp>
      <p:sp>
        <p:nvSpPr>
          <p:cNvPr id="144" name="Google Shape;144;p14"/>
          <p:cNvSpPr txBox="1"/>
          <p:nvPr/>
        </p:nvSpPr>
        <p:spPr>
          <a:xfrm>
            <a:off x="5456419" y="8762983"/>
            <a:ext cx="247140" cy="3769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txBox="1"/>
          <p:nvPr>
            <p:ph idx="12" type="sldNum"/>
          </p:nvPr>
        </p:nvSpPr>
        <p:spPr>
          <a:xfrm>
            <a:off x="5384318" y="956217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50" name="Google Shape;150;p15"/>
          <p:cNvGraphicFramePr/>
          <p:nvPr/>
        </p:nvGraphicFramePr>
        <p:xfrm>
          <a:off x="123849" y="595725"/>
          <a:ext cx="3000000" cy="3000000"/>
        </p:xfrm>
        <a:graphic>
          <a:graphicData uri="http://schemas.openxmlformats.org/drawingml/2006/table">
            <a:tbl>
              <a:tblPr>
                <a:noFill/>
                <a:tableStyleId>{07E774F5-8BCA-4ED4-ADEC-BDBF87717BEF}</a:tableStyleId>
              </a:tblPr>
              <a:tblGrid>
                <a:gridCol w="2203425"/>
                <a:gridCol w="2203425"/>
                <a:gridCol w="2203425"/>
              </a:tblGrid>
              <a:tr h="1296000">
                <a:tc>
                  <a:txBody>
                    <a:bodyPr/>
                    <a:lstStyle/>
                    <a:p>
                      <a:pPr indent="0" lvl="0" marL="0" marR="0" rtl="0" algn="l">
                        <a:spcBef>
                          <a:spcPts val="0"/>
                        </a:spcBef>
                        <a:spcAft>
                          <a:spcPts val="0"/>
                        </a:spcAft>
                        <a:buNone/>
                      </a:pPr>
                      <a:r>
                        <a:rPr lang="en-GB" sz="1200"/>
                        <a:t>v) 12 and 6</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w) 12 and 7</a:t>
                      </a:r>
                      <a:endParaRPr/>
                    </a:p>
                  </a:txBody>
                  <a:tcPr marT="45725" marB="45725" marR="91450" marL="91450"/>
                </a:tc>
                <a:tc>
                  <a:txBody>
                    <a:bodyPr/>
                    <a:lstStyle/>
                    <a:p>
                      <a:pPr indent="0" lvl="0" marL="0" marR="0" rtl="0" algn="l">
                        <a:spcBef>
                          <a:spcPts val="0"/>
                        </a:spcBef>
                        <a:spcAft>
                          <a:spcPts val="0"/>
                        </a:spcAft>
                        <a:buNone/>
                      </a:pPr>
                      <a:r>
                        <a:rPr lang="en-GB" sz="1200"/>
                        <a:t>x) 12 and 8</a:t>
                      </a:r>
                      <a:endParaRPr/>
                    </a:p>
                  </a:txBody>
                  <a:tcPr marT="45725" marB="45725" marR="91450" marL="91450"/>
                </a:tc>
              </a:tr>
              <a:tr h="1296000">
                <a:tc>
                  <a:txBody>
                    <a:bodyPr/>
                    <a:lstStyle/>
                    <a:p>
                      <a:pPr indent="0" lvl="0" marL="0" marR="0" rtl="0" algn="l">
                        <a:spcBef>
                          <a:spcPts val="0"/>
                        </a:spcBef>
                        <a:spcAft>
                          <a:spcPts val="0"/>
                        </a:spcAft>
                        <a:buNone/>
                      </a:pPr>
                      <a:r>
                        <a:rPr lang="en-GB" sz="1200"/>
                        <a:t>y) 12 and 9</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z) 12 and 10</a:t>
                      </a:r>
                      <a:endParaRPr/>
                    </a:p>
                  </a:txBody>
                  <a:tcPr marT="45725" marB="45725" marR="91450" marL="91450"/>
                </a:tc>
                <a:tc>
                  <a:txBody>
                    <a:bodyPr/>
                    <a:lstStyle/>
                    <a:p>
                      <a:pPr indent="0" lvl="0" marL="0" marR="0" rtl="0" algn="l">
                        <a:spcBef>
                          <a:spcPts val="0"/>
                        </a:spcBef>
                        <a:spcAft>
                          <a:spcPts val="0"/>
                        </a:spcAft>
                        <a:buNone/>
                      </a:pPr>
                      <a:r>
                        <a:rPr lang="en-GB" sz="1200"/>
                        <a:t>aa) 12 and 11</a:t>
                      </a:r>
                      <a:endParaRPr/>
                    </a:p>
                  </a:txBody>
                  <a:tcPr marT="45725" marB="45725" marR="91450" marL="91450"/>
                </a:tc>
              </a:tr>
              <a:tr h="1296000">
                <a:tc>
                  <a:txBody>
                    <a:bodyPr/>
                    <a:lstStyle/>
                    <a:p>
                      <a:pPr indent="0" lvl="0" marL="0" marR="0" rtl="0" algn="l">
                        <a:spcBef>
                          <a:spcPts val="0"/>
                        </a:spcBef>
                        <a:spcAft>
                          <a:spcPts val="0"/>
                        </a:spcAft>
                        <a:buNone/>
                      </a:pPr>
                      <a:r>
                        <a:rPr lang="en-GB" sz="1200"/>
                        <a:t>ab) 12 and 12</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ac) 12 and 13</a:t>
                      </a:r>
                      <a:endParaRPr/>
                    </a:p>
                  </a:txBody>
                  <a:tcPr marT="45725" marB="45725" marR="91450" marL="91450"/>
                </a:tc>
                <a:tc>
                  <a:txBody>
                    <a:bodyPr/>
                    <a:lstStyle/>
                    <a:p>
                      <a:pPr indent="0" lvl="0" marL="0" marR="0" rtl="0" algn="l">
                        <a:spcBef>
                          <a:spcPts val="0"/>
                        </a:spcBef>
                        <a:spcAft>
                          <a:spcPts val="0"/>
                        </a:spcAft>
                        <a:buNone/>
                      </a:pPr>
                      <a:r>
                        <a:rPr lang="en-GB" sz="1200"/>
                        <a:t>ad) 12 and 14</a:t>
                      </a:r>
                      <a:endParaRPr/>
                    </a:p>
                  </a:txBody>
                  <a:tcPr marT="45725" marB="45725" marR="91450" marL="91450"/>
                </a:tc>
              </a:tr>
              <a:tr h="1296000">
                <a:tc>
                  <a:txBody>
                    <a:bodyPr/>
                    <a:lstStyle/>
                    <a:p>
                      <a:pPr indent="0" lvl="0" marL="0" marR="0" rtl="0" algn="l">
                        <a:spcBef>
                          <a:spcPts val="0"/>
                        </a:spcBef>
                        <a:spcAft>
                          <a:spcPts val="0"/>
                        </a:spcAft>
                        <a:buNone/>
                      </a:pPr>
                      <a:r>
                        <a:rPr lang="en-GB" sz="1200"/>
                        <a:t>ae) 12 and 15</a:t>
                      </a:r>
                      <a:endParaRPr/>
                    </a:p>
                  </a:txBody>
                  <a:tcPr marT="45725" marB="45725" marR="91450" marL="91450"/>
                </a:tc>
                <a:tc>
                  <a:txBody>
                    <a:bodyPr/>
                    <a:lstStyle/>
                    <a:p>
                      <a:pPr indent="0" lvl="0" marL="0" marR="0" rtl="0" algn="l">
                        <a:spcBef>
                          <a:spcPts val="0"/>
                        </a:spcBef>
                        <a:spcAft>
                          <a:spcPts val="0"/>
                        </a:spcAft>
                        <a:buNone/>
                      </a:pPr>
                      <a:r>
                        <a:rPr lang="en-GB" sz="1200"/>
                        <a:t>af) 12 and 16</a:t>
                      </a:r>
                      <a:endParaRPr/>
                    </a:p>
                  </a:txBody>
                  <a:tcPr marT="45725" marB="45725" marR="91450" marL="91450"/>
                </a:tc>
                <a:tc>
                  <a:txBody>
                    <a:bodyPr/>
                    <a:lstStyle/>
                    <a:p>
                      <a:pPr indent="0" lvl="0" marL="0" marR="0" rtl="0" algn="l">
                        <a:spcBef>
                          <a:spcPts val="0"/>
                        </a:spcBef>
                        <a:spcAft>
                          <a:spcPts val="0"/>
                        </a:spcAft>
                        <a:buNone/>
                      </a:pPr>
                      <a:r>
                        <a:rPr lang="en-GB" sz="1200"/>
                        <a:t>ag) 12 and 17</a:t>
                      </a:r>
                      <a:endParaRPr/>
                    </a:p>
                  </a:txBody>
                  <a:tcPr marT="45725" marB="45725" marR="91450" marL="91450"/>
                </a:tc>
              </a:tr>
              <a:tr h="1296000">
                <a:tc>
                  <a:txBody>
                    <a:bodyPr/>
                    <a:lstStyle/>
                    <a:p>
                      <a:pPr indent="0" lvl="0" marL="0" marR="0" rtl="0" algn="l">
                        <a:spcBef>
                          <a:spcPts val="0"/>
                        </a:spcBef>
                        <a:spcAft>
                          <a:spcPts val="0"/>
                        </a:spcAft>
                        <a:buNone/>
                      </a:pPr>
                      <a:r>
                        <a:rPr lang="en-GB" sz="1200"/>
                        <a:t>ah) 12 and 18</a:t>
                      </a:r>
                      <a:endParaRPr/>
                    </a:p>
                  </a:txBody>
                  <a:tcPr marT="45725" marB="45725" marR="91450" marL="91450"/>
                </a:tc>
                <a:tc>
                  <a:txBody>
                    <a:bodyPr/>
                    <a:lstStyle/>
                    <a:p>
                      <a:pPr indent="0" lvl="0" marL="0" marR="0" rtl="0" algn="l">
                        <a:spcBef>
                          <a:spcPts val="0"/>
                        </a:spcBef>
                        <a:spcAft>
                          <a:spcPts val="0"/>
                        </a:spcAft>
                        <a:buNone/>
                      </a:pPr>
                      <a:r>
                        <a:rPr lang="en-GB" sz="1200"/>
                        <a:t>ai) 12 and 19</a:t>
                      </a:r>
                      <a:endParaRPr/>
                    </a:p>
                  </a:txBody>
                  <a:tcPr marT="45725" marB="45725" marR="91450" marL="91450"/>
                </a:tc>
                <a:tc>
                  <a:txBody>
                    <a:bodyPr/>
                    <a:lstStyle/>
                    <a:p>
                      <a:pPr indent="0" lvl="0" marL="0" marR="0" rtl="0" algn="l">
                        <a:spcBef>
                          <a:spcPts val="0"/>
                        </a:spcBef>
                        <a:spcAft>
                          <a:spcPts val="0"/>
                        </a:spcAft>
                        <a:buNone/>
                      </a:pPr>
                      <a:r>
                        <a:rPr lang="en-GB" sz="1200"/>
                        <a:t>aj) 12 and 20</a:t>
                      </a:r>
                      <a:endParaRPr/>
                    </a:p>
                  </a:txBody>
                  <a:tcPr marT="45725" marB="45725" marR="91450" marL="91450"/>
                </a:tc>
              </a:tr>
              <a:tr h="1296000">
                <a:tc>
                  <a:txBody>
                    <a:bodyPr/>
                    <a:lstStyle/>
                    <a:p>
                      <a:pPr indent="0" lvl="0" marL="0" marR="0" rtl="0" algn="l">
                        <a:spcBef>
                          <a:spcPts val="0"/>
                        </a:spcBef>
                        <a:spcAft>
                          <a:spcPts val="0"/>
                        </a:spcAft>
                        <a:buNone/>
                      </a:pPr>
                      <a:r>
                        <a:rPr lang="en-GB" sz="1200">
                          <a:solidFill>
                            <a:schemeClr val="dk1"/>
                          </a:solidFill>
                        </a:rPr>
                        <a:t>ak) 12 and 30</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al) 12 and 40</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am) 12 and 50</a:t>
                      </a:r>
                      <a:endParaRPr/>
                    </a:p>
                  </a:txBody>
                  <a:tcPr marT="45725" marB="45725" marR="91450" marL="91450"/>
                </a:tc>
              </a:tr>
              <a:tr h="1296000">
                <a:tc>
                  <a:txBody>
                    <a:bodyPr/>
                    <a:lstStyle/>
                    <a:p>
                      <a:pPr indent="0" lvl="0" marL="0" marR="0" rtl="0" algn="l">
                        <a:spcBef>
                          <a:spcPts val="0"/>
                        </a:spcBef>
                        <a:spcAft>
                          <a:spcPts val="0"/>
                        </a:spcAft>
                        <a:buNone/>
                      </a:pPr>
                      <a:r>
                        <a:rPr lang="en-GB" sz="1200">
                          <a:solidFill>
                            <a:schemeClr val="dk1"/>
                          </a:solidFill>
                        </a:rPr>
                        <a:t>an) 12 and 60</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t) 1 and 2</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u) 2 and 1</a:t>
                      </a:r>
                      <a:endParaRPr/>
                    </a:p>
                  </a:txBody>
                  <a:tcPr marT="45725" marB="45725" marR="91450" marL="91450"/>
                </a:tc>
              </a:tr>
            </a:tbl>
          </a:graphicData>
        </a:graphic>
      </p:graphicFrame>
      <p:sp>
        <p:nvSpPr>
          <p:cNvPr id="151" name="Google Shape;151;p15"/>
          <p:cNvSpPr/>
          <p:nvPr/>
        </p:nvSpPr>
        <p:spPr>
          <a:xfrm>
            <a:off x="123849" y="129845"/>
            <a:ext cx="1137954" cy="340453"/>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52" name="Google Shape;152;p15"/>
          <p:cNvSpPr txBox="1"/>
          <p:nvPr/>
        </p:nvSpPr>
        <p:spPr>
          <a:xfrm>
            <a:off x="960117" y="104674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a:p>
        </p:txBody>
      </p:sp>
      <p:sp>
        <p:nvSpPr>
          <p:cNvPr id="153" name="Google Shape;153;p15"/>
          <p:cNvSpPr txBox="1"/>
          <p:nvPr/>
        </p:nvSpPr>
        <p:spPr>
          <a:xfrm>
            <a:off x="3278157" y="104639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
        <p:nvSpPr>
          <p:cNvPr id="154" name="Google Shape;154;p15"/>
          <p:cNvSpPr txBox="1"/>
          <p:nvPr/>
        </p:nvSpPr>
        <p:spPr>
          <a:xfrm>
            <a:off x="5384318" y="104639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a:p>
        </p:txBody>
      </p:sp>
      <p:sp>
        <p:nvSpPr>
          <p:cNvPr id="155" name="Google Shape;155;p15"/>
          <p:cNvSpPr txBox="1"/>
          <p:nvPr/>
        </p:nvSpPr>
        <p:spPr>
          <a:xfrm>
            <a:off x="960117" y="2294021"/>
            <a:ext cx="3192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a:p>
        </p:txBody>
      </p:sp>
      <p:sp>
        <p:nvSpPr>
          <p:cNvPr id="156" name="Google Shape;156;p15"/>
          <p:cNvSpPr txBox="1"/>
          <p:nvPr/>
        </p:nvSpPr>
        <p:spPr>
          <a:xfrm>
            <a:off x="3278157" y="2293671"/>
            <a:ext cx="3192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157" name="Google Shape;157;p15"/>
          <p:cNvSpPr txBox="1"/>
          <p:nvPr/>
        </p:nvSpPr>
        <p:spPr>
          <a:xfrm>
            <a:off x="5384318" y="2293671"/>
            <a:ext cx="3192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
        <p:nvSpPr>
          <p:cNvPr id="158" name="Google Shape;158;p15"/>
          <p:cNvSpPr txBox="1"/>
          <p:nvPr/>
        </p:nvSpPr>
        <p:spPr>
          <a:xfrm>
            <a:off x="809273" y="3612350"/>
            <a:ext cx="4525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159" name="Google Shape;159;p15"/>
          <p:cNvSpPr txBox="1"/>
          <p:nvPr/>
        </p:nvSpPr>
        <p:spPr>
          <a:xfrm>
            <a:off x="3127314" y="3612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
        <p:nvSpPr>
          <p:cNvPr id="160" name="Google Shape;160;p15"/>
          <p:cNvSpPr txBox="1"/>
          <p:nvPr/>
        </p:nvSpPr>
        <p:spPr>
          <a:xfrm>
            <a:off x="5233475" y="3612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161" name="Google Shape;161;p15"/>
          <p:cNvSpPr txBox="1"/>
          <p:nvPr/>
        </p:nvSpPr>
        <p:spPr>
          <a:xfrm>
            <a:off x="954594" y="490122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a:p>
        </p:txBody>
      </p:sp>
      <p:sp>
        <p:nvSpPr>
          <p:cNvPr id="162" name="Google Shape;162;p15"/>
          <p:cNvSpPr txBox="1"/>
          <p:nvPr/>
        </p:nvSpPr>
        <p:spPr>
          <a:xfrm>
            <a:off x="3272634" y="490087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a:p>
        </p:txBody>
      </p:sp>
      <p:sp>
        <p:nvSpPr>
          <p:cNvPr id="163" name="Google Shape;163;p15"/>
          <p:cNvSpPr txBox="1"/>
          <p:nvPr/>
        </p:nvSpPr>
        <p:spPr>
          <a:xfrm>
            <a:off x="5378795" y="490087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
        <p:nvSpPr>
          <p:cNvPr id="164" name="Google Shape;164;p15"/>
          <p:cNvSpPr txBox="1"/>
          <p:nvPr/>
        </p:nvSpPr>
        <p:spPr>
          <a:xfrm>
            <a:off x="960116" y="627018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a:p>
        </p:txBody>
      </p:sp>
      <p:sp>
        <p:nvSpPr>
          <p:cNvPr id="165" name="Google Shape;165;p15"/>
          <p:cNvSpPr txBox="1"/>
          <p:nvPr/>
        </p:nvSpPr>
        <p:spPr>
          <a:xfrm>
            <a:off x="3278156" y="626983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
        <p:nvSpPr>
          <p:cNvPr id="166" name="Google Shape;166;p15"/>
          <p:cNvSpPr txBox="1"/>
          <p:nvPr/>
        </p:nvSpPr>
        <p:spPr>
          <a:xfrm>
            <a:off x="5384317" y="626983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a:p>
        </p:txBody>
      </p:sp>
      <p:sp>
        <p:nvSpPr>
          <p:cNvPr id="167" name="Google Shape;167;p15"/>
          <p:cNvSpPr txBox="1"/>
          <p:nvPr/>
        </p:nvSpPr>
        <p:spPr>
          <a:xfrm>
            <a:off x="977672" y="754579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a:p>
        </p:txBody>
      </p:sp>
      <p:sp>
        <p:nvSpPr>
          <p:cNvPr id="168" name="Google Shape;168;p15"/>
          <p:cNvSpPr txBox="1"/>
          <p:nvPr/>
        </p:nvSpPr>
        <p:spPr>
          <a:xfrm>
            <a:off x="3295712" y="754544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a:p>
        </p:txBody>
      </p:sp>
      <p:sp>
        <p:nvSpPr>
          <p:cNvPr id="169" name="Google Shape;169;p15"/>
          <p:cNvSpPr txBox="1"/>
          <p:nvPr/>
        </p:nvSpPr>
        <p:spPr>
          <a:xfrm>
            <a:off x="5401873" y="754544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170" name="Google Shape;170;p15"/>
          <p:cNvSpPr txBox="1"/>
          <p:nvPr/>
        </p:nvSpPr>
        <p:spPr>
          <a:xfrm>
            <a:off x="1032218" y="8763333"/>
            <a:ext cx="5559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171" name="Google Shape;171;p15"/>
          <p:cNvSpPr txBox="1"/>
          <p:nvPr/>
        </p:nvSpPr>
        <p:spPr>
          <a:xfrm>
            <a:off x="3299907" y="8770987"/>
            <a:ext cx="247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
        <p:nvSpPr>
          <p:cNvPr id="172" name="Google Shape;172;p15"/>
          <p:cNvSpPr txBox="1"/>
          <p:nvPr/>
        </p:nvSpPr>
        <p:spPr>
          <a:xfrm>
            <a:off x="5456419" y="8762983"/>
            <a:ext cx="247140" cy="3769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ph idx="12" type="sldNum"/>
          </p:nvPr>
        </p:nvSpPr>
        <p:spPr>
          <a:xfrm>
            <a:off x="5196390"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78" name="Google Shape;178;p16"/>
          <p:cNvSpPr txBox="1"/>
          <p:nvPr/>
        </p:nvSpPr>
        <p:spPr>
          <a:xfrm>
            <a:off x="324852" y="185339"/>
            <a:ext cx="157812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 Complete the table:</a:t>
            </a:r>
            <a:endParaRPr sz="1200">
              <a:solidFill>
                <a:schemeClr val="dk1"/>
              </a:solidFill>
              <a:latin typeface="Calibri"/>
              <a:ea typeface="Calibri"/>
              <a:cs typeface="Calibri"/>
              <a:sym typeface="Calibri"/>
            </a:endParaRPr>
          </a:p>
        </p:txBody>
      </p:sp>
      <p:pic>
        <p:nvPicPr>
          <p:cNvPr descr="A picture containing chart&#10;&#10;Description automatically generated" id="179" name="Google Shape;179;p16"/>
          <p:cNvPicPr preferRelativeResize="0"/>
          <p:nvPr/>
        </p:nvPicPr>
        <p:blipFill rotWithShape="1">
          <a:blip r:embed="rId3">
            <a:alphaModFix/>
          </a:blip>
          <a:srcRect b="2" l="0" r="0" t="-3330"/>
          <a:stretch/>
        </p:blipFill>
        <p:spPr>
          <a:xfrm>
            <a:off x="142760" y="5179519"/>
            <a:ext cx="6572477" cy="4310653"/>
          </a:xfrm>
          <a:prstGeom prst="rect">
            <a:avLst/>
          </a:prstGeom>
          <a:noFill/>
          <a:ln>
            <a:noFill/>
          </a:ln>
        </p:spPr>
      </p:pic>
      <p:grpSp>
        <p:nvGrpSpPr>
          <p:cNvPr id="180" name="Google Shape;180;p16"/>
          <p:cNvGrpSpPr/>
          <p:nvPr/>
        </p:nvGrpSpPr>
        <p:grpSpPr>
          <a:xfrm>
            <a:off x="142760" y="4916823"/>
            <a:ext cx="6778768" cy="2539942"/>
            <a:chOff x="118560" y="6934200"/>
            <a:chExt cx="6778768" cy="2539942"/>
          </a:xfrm>
        </p:grpSpPr>
        <p:sp>
          <p:nvSpPr>
            <p:cNvPr id="181" name="Google Shape;181;p16"/>
            <p:cNvSpPr/>
            <p:nvPr/>
          </p:nvSpPr>
          <p:spPr>
            <a:xfrm>
              <a:off x="118560" y="6934200"/>
              <a:ext cx="6620880" cy="2539942"/>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2" name="Google Shape;182;p16"/>
            <p:cNvGrpSpPr/>
            <p:nvPr/>
          </p:nvGrpSpPr>
          <p:grpSpPr>
            <a:xfrm>
              <a:off x="324851" y="7196347"/>
              <a:ext cx="6572477" cy="1992975"/>
              <a:chOff x="324851" y="7196347"/>
              <a:chExt cx="6572477" cy="1992975"/>
            </a:xfrm>
          </p:grpSpPr>
          <p:sp>
            <p:nvSpPr>
              <p:cNvPr id="183" name="Google Shape;183;p16"/>
              <p:cNvSpPr txBox="1"/>
              <p:nvPr/>
            </p:nvSpPr>
            <p:spPr>
              <a:xfrm>
                <a:off x="324851" y="7481162"/>
                <a:ext cx="6208296" cy="1708160"/>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50">
                  <a:solidFill>
                    <a:schemeClr val="dk1"/>
                  </a:solidFill>
                  <a:latin typeface="Calibri"/>
                  <a:ea typeface="Calibri"/>
                  <a:cs typeface="Calibri"/>
                  <a:sym typeface="Calibri"/>
                </a:endParaRPr>
              </a:p>
            </p:txBody>
          </p:sp>
          <p:sp>
            <p:nvSpPr>
              <p:cNvPr id="184" name="Google Shape;184;p16"/>
              <p:cNvSpPr txBox="1"/>
              <p:nvPr/>
            </p:nvSpPr>
            <p:spPr>
              <a:xfrm>
                <a:off x="324851" y="7196347"/>
                <a:ext cx="657247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 The highest common factor of 30 and 75 is the square root of a number. What is the number?</a:t>
                </a:r>
                <a:endParaRPr/>
              </a:p>
            </p:txBody>
          </p:sp>
        </p:grpSp>
      </p:grpSp>
      <p:pic>
        <p:nvPicPr>
          <p:cNvPr id="185" name="Google Shape;185;p16"/>
          <p:cNvPicPr preferRelativeResize="0"/>
          <p:nvPr/>
        </p:nvPicPr>
        <p:blipFill rotWithShape="1">
          <a:blip r:embed="rId4">
            <a:alphaModFix/>
          </a:blip>
          <a:srcRect b="0" l="0" r="0" t="0"/>
          <a:stretch/>
        </p:blipFill>
        <p:spPr>
          <a:xfrm>
            <a:off x="525857" y="730247"/>
            <a:ext cx="5806286" cy="4222753"/>
          </a:xfrm>
          <a:prstGeom prst="rect">
            <a:avLst/>
          </a:prstGeom>
          <a:noFill/>
          <a:ln>
            <a:noFill/>
          </a:ln>
        </p:spPr>
      </p:pic>
      <p:sp>
        <p:nvSpPr>
          <p:cNvPr id="186" name="Google Shape;186;p16"/>
          <p:cNvSpPr txBox="1"/>
          <p:nvPr/>
        </p:nvSpPr>
        <p:spPr>
          <a:xfrm>
            <a:off x="3075939" y="6232219"/>
            <a:ext cx="3433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225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graphicFrame>
        <p:nvGraphicFramePr>
          <p:cNvPr id="191" name="Google Shape;191;p17"/>
          <p:cNvGraphicFramePr/>
          <p:nvPr/>
        </p:nvGraphicFramePr>
        <p:xfrm>
          <a:off x="281763" y="584971"/>
          <a:ext cx="3000000" cy="3000000"/>
        </p:xfrm>
        <a:graphic>
          <a:graphicData uri="http://schemas.openxmlformats.org/drawingml/2006/table">
            <a:tbl>
              <a:tblPr>
                <a:noFill/>
                <a:tableStyleId>{07E774F5-8BCA-4ED4-ADEC-BDBF87717BEF}</a:tableStyleId>
              </a:tblPr>
              <a:tblGrid>
                <a:gridCol w="6294475"/>
              </a:tblGrid>
              <a:tr h="683975">
                <a:tc>
                  <a:txBody>
                    <a:bodyPr/>
                    <a:lstStyle/>
                    <a:p>
                      <a:pPr indent="0" lvl="0" marL="0" marR="0" rtl="0" algn="l">
                        <a:lnSpc>
                          <a:spcPct val="100000"/>
                        </a:lnSpc>
                        <a:spcBef>
                          <a:spcPts val="0"/>
                        </a:spcBef>
                        <a:spcAft>
                          <a:spcPts val="0"/>
                        </a:spcAft>
                        <a:buClr>
                          <a:schemeClr val="dk1"/>
                        </a:buClr>
                        <a:buSzPts val="1200"/>
                        <a:buFont typeface="Calibri"/>
                        <a:buNone/>
                      </a:pPr>
                      <a:r>
                        <a:rPr lang="en-GB" sz="1200"/>
                        <a:t>a) A PE teacher has to organise two year groups into netball teams, each separately. Year 7 has 70 students and Year 8 has 98 students. If each year group must be split equally into teams of all the same size, what is the largest team size she can use?</a:t>
                      </a:r>
                      <a:endParaRPr/>
                    </a:p>
                  </a:txBody>
                  <a:tcPr marT="45725" marB="45725" marR="91450" marL="91450"/>
                </a:tc>
              </a:tr>
              <a:tr h="1548000">
                <a:tc>
                  <a:txBody>
                    <a:bodyPr/>
                    <a:lstStyle/>
                    <a:p>
                      <a:pPr indent="0" lvl="0" marL="0" marR="0" rtl="0" algn="l">
                        <a:spcBef>
                          <a:spcPts val="0"/>
                        </a:spcBef>
                        <a:spcAft>
                          <a:spcPts val="0"/>
                        </a:spcAft>
                        <a:buNone/>
                      </a:pPr>
                      <a:r>
                        <a:t/>
                      </a:r>
                      <a:endParaRPr sz="1200"/>
                    </a:p>
                  </a:txBody>
                  <a:tcPr marT="45725" marB="45725" marR="91450" marL="91450"/>
                </a:tc>
              </a:tr>
              <a:tr h="670725">
                <a:tc>
                  <a:txBody>
                    <a:bodyPr/>
                    <a:lstStyle/>
                    <a:p>
                      <a:pPr indent="0" lvl="0" marL="0" marR="0" rtl="0" algn="l">
                        <a:spcBef>
                          <a:spcPts val="0"/>
                        </a:spcBef>
                        <a:spcAft>
                          <a:spcPts val="0"/>
                        </a:spcAft>
                        <a:buNone/>
                      </a:pPr>
                      <a:r>
                        <a:rPr lang="en-GB" sz="1200"/>
                        <a:t>b) Alannah has two lengths of ribbon. One length of ribbon is 36cm long and the other length is 45cm long. Alannah wants to cut lengths of ribbon into shorter lengths that are of equal length. Alannah does not want any ribbon left over. What is the longest possible length for each of the shorter lengths of ribbon?</a:t>
                      </a:r>
                      <a:endParaRPr/>
                    </a:p>
                  </a:txBody>
                  <a:tcPr marT="45725" marB="45725" marR="91450" marL="91450"/>
                </a:tc>
              </a:tr>
              <a:tr h="1476000">
                <a:tc>
                  <a:txBody>
                    <a:bodyPr/>
                    <a:lstStyle/>
                    <a:p>
                      <a:pPr indent="0" lvl="0" marL="0" marR="0" rtl="0" algn="l">
                        <a:spcBef>
                          <a:spcPts val="0"/>
                        </a:spcBef>
                        <a:spcAft>
                          <a:spcPts val="0"/>
                        </a:spcAft>
                        <a:buNone/>
                      </a:pPr>
                      <a:r>
                        <a:t/>
                      </a:r>
                      <a:endParaRPr sz="1200"/>
                    </a:p>
                  </a:txBody>
                  <a:tcPr marT="45725" marB="45725" marR="91450" marL="91450"/>
                </a:tc>
              </a:tr>
              <a:tr h="719800">
                <a:tc>
                  <a:txBody>
                    <a:bodyPr/>
                    <a:lstStyle/>
                    <a:p>
                      <a:pPr indent="0" lvl="0" marL="0" marR="0" rtl="0" algn="l">
                        <a:spcBef>
                          <a:spcPts val="0"/>
                        </a:spcBef>
                        <a:spcAft>
                          <a:spcPts val="0"/>
                        </a:spcAft>
                        <a:buNone/>
                      </a:pPr>
                      <a:r>
                        <a:rPr lang="en-GB" sz="1200"/>
                        <a:t>c) Helen thinks of two numbers. The highest common factor of her two numbers is 5. The lowest common multiple of her two numbers is a multiple of 12. Write down two possible numbers that Helen could be thinking of.</a:t>
                      </a:r>
                      <a:endParaRPr/>
                    </a:p>
                  </a:txBody>
                  <a:tcPr marT="45725" marB="45725" marR="91450" marL="91450"/>
                </a:tc>
              </a:tr>
              <a:tr h="1548000">
                <a:tc>
                  <a:txBody>
                    <a:bodyPr/>
                    <a:lstStyle/>
                    <a:p>
                      <a:pPr indent="0" lvl="0" marL="0" marR="0" rtl="0" algn="ctr">
                        <a:spcBef>
                          <a:spcPts val="0"/>
                        </a:spcBef>
                        <a:spcAft>
                          <a:spcPts val="0"/>
                        </a:spcAft>
                        <a:buNone/>
                      </a:pPr>
                      <a:r>
                        <a:t/>
                      </a:r>
                      <a:endParaRPr b="1" sz="1200">
                        <a:solidFill>
                          <a:srgbClr val="FF0000"/>
                        </a:solidFill>
                      </a:endParaRPr>
                    </a:p>
                  </a:txBody>
                  <a:tcPr marT="45725" marB="45725" marR="91450" marL="91450"/>
                </a:tc>
              </a:tr>
              <a:tr h="644825">
                <a:tc>
                  <a:txBody>
                    <a:bodyPr/>
                    <a:lstStyle/>
                    <a:p>
                      <a:pPr indent="0" lvl="0" marL="0" marR="0" rtl="0" algn="l">
                        <a:spcBef>
                          <a:spcPts val="0"/>
                        </a:spcBef>
                        <a:spcAft>
                          <a:spcPts val="0"/>
                        </a:spcAft>
                        <a:buNone/>
                      </a:pPr>
                      <a:r>
                        <a:rPr lang="en-GB" sz="1200"/>
                        <a:t>d) Lenny wants to cut identical squares, as big as he can, from a piece of paper measuring 168mm by 196mm. What is the length of each square?</a:t>
                      </a:r>
                      <a:endParaRPr/>
                    </a:p>
                  </a:txBody>
                  <a:tcPr marT="45725" marB="45725" marR="91450" marL="91450"/>
                </a:tc>
              </a:tr>
              <a:tr h="1548000">
                <a:tc>
                  <a:txBody>
                    <a:bodyPr/>
                    <a:lstStyle/>
                    <a:p>
                      <a:pPr indent="0" lvl="0" marL="0" marR="0" rtl="0" algn="l">
                        <a:spcBef>
                          <a:spcPts val="0"/>
                        </a:spcBef>
                        <a:spcAft>
                          <a:spcPts val="0"/>
                        </a:spcAft>
                        <a:buNone/>
                      </a:pPr>
                      <a:r>
                        <a:t/>
                      </a:r>
                      <a:endParaRPr sz="1200"/>
                    </a:p>
                  </a:txBody>
                  <a:tcPr marT="45725" marB="45725" marR="91450" marL="91450"/>
                </a:tc>
              </a:tr>
            </a:tbl>
          </a:graphicData>
        </a:graphic>
      </p:graphicFrame>
      <p:sp>
        <p:nvSpPr>
          <p:cNvPr id="192" name="Google Shape;192;p17"/>
          <p:cNvSpPr txBox="1"/>
          <p:nvPr>
            <p:ph idx="12" type="sldNum"/>
          </p:nvPr>
        </p:nvSpPr>
        <p:spPr>
          <a:xfrm>
            <a:off x="5314950" y="944509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93" name="Google Shape;193;p17"/>
          <p:cNvSpPr txBox="1"/>
          <p:nvPr/>
        </p:nvSpPr>
        <p:spPr>
          <a:xfrm>
            <a:off x="239233" y="197200"/>
            <a:ext cx="588107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4. Answer the following questions:</a:t>
            </a:r>
            <a:endParaRPr/>
          </a:p>
        </p:txBody>
      </p:sp>
      <p:sp>
        <p:nvSpPr>
          <p:cNvPr id="194" name="Google Shape;194;p17"/>
          <p:cNvSpPr txBox="1"/>
          <p:nvPr/>
        </p:nvSpPr>
        <p:spPr>
          <a:xfrm>
            <a:off x="2155122" y="1507798"/>
            <a:ext cx="6439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14</a:t>
            </a:r>
            <a:endParaRPr/>
          </a:p>
        </p:txBody>
      </p:sp>
      <p:sp>
        <p:nvSpPr>
          <p:cNvPr id="195" name="Google Shape;195;p17"/>
          <p:cNvSpPr txBox="1"/>
          <p:nvPr/>
        </p:nvSpPr>
        <p:spPr>
          <a:xfrm>
            <a:off x="2155122" y="3769904"/>
            <a:ext cx="6439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9cm</a:t>
            </a:r>
            <a:endParaRPr/>
          </a:p>
        </p:txBody>
      </p:sp>
      <p:sp>
        <p:nvSpPr>
          <p:cNvPr id="196" name="Google Shape;196;p17"/>
          <p:cNvSpPr txBox="1"/>
          <p:nvPr/>
        </p:nvSpPr>
        <p:spPr>
          <a:xfrm>
            <a:off x="1545483" y="5944309"/>
            <a:ext cx="32685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 and 60 or 5 and 120</a:t>
            </a:r>
            <a:endParaRPr/>
          </a:p>
        </p:txBody>
      </p:sp>
      <p:sp>
        <p:nvSpPr>
          <p:cNvPr id="197" name="Google Shape;197;p17"/>
          <p:cNvSpPr txBox="1"/>
          <p:nvPr/>
        </p:nvSpPr>
        <p:spPr>
          <a:xfrm>
            <a:off x="1712938" y="8118714"/>
            <a:ext cx="217230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28mm x 28mm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graphicFrame>
        <p:nvGraphicFramePr>
          <p:cNvPr id="202" name="Google Shape;202;p18"/>
          <p:cNvGraphicFramePr/>
          <p:nvPr/>
        </p:nvGraphicFramePr>
        <p:xfrm>
          <a:off x="297805" y="308181"/>
          <a:ext cx="3000000" cy="3000000"/>
        </p:xfrm>
        <a:graphic>
          <a:graphicData uri="http://schemas.openxmlformats.org/drawingml/2006/table">
            <a:tbl>
              <a:tblPr>
                <a:noFill/>
                <a:tableStyleId>{07E774F5-8BCA-4ED4-ADEC-BDBF87717BEF}</a:tableStyleId>
              </a:tblPr>
              <a:tblGrid>
                <a:gridCol w="6294475"/>
              </a:tblGrid>
              <a:tr h="683975">
                <a:tc>
                  <a:txBody>
                    <a:bodyPr/>
                    <a:lstStyle/>
                    <a:p>
                      <a:pPr indent="0" lvl="0" marL="0" marR="0" rtl="0" algn="l">
                        <a:lnSpc>
                          <a:spcPct val="100000"/>
                        </a:lnSpc>
                        <a:spcBef>
                          <a:spcPts val="0"/>
                        </a:spcBef>
                        <a:spcAft>
                          <a:spcPts val="0"/>
                        </a:spcAft>
                        <a:buClr>
                          <a:schemeClr val="dk1"/>
                        </a:buClr>
                        <a:buSzPts val="1200"/>
                        <a:buFont typeface="Calibri"/>
                        <a:buNone/>
                      </a:pPr>
                      <a:r>
                        <a:rPr lang="en-GB" sz="1200"/>
                        <a:t>e) Olivia thinks of two numbers. The LCM of the two numbers is 36. The HCF of the two numbers is 3. Both numbers are less than 5. Write down two possible numbers that Olivia could be thinking of.</a:t>
                      </a:r>
                      <a:endParaRPr/>
                    </a:p>
                  </a:txBody>
                  <a:tcPr marT="45725" marB="45725" marR="91450" marL="91450"/>
                </a:tc>
              </a:tr>
              <a:tr h="1512000">
                <a:tc>
                  <a:txBody>
                    <a:bodyPr/>
                    <a:lstStyle/>
                    <a:p>
                      <a:pPr indent="0" lvl="0" marL="0" marR="0" rtl="0" algn="l">
                        <a:spcBef>
                          <a:spcPts val="0"/>
                        </a:spcBef>
                        <a:spcAft>
                          <a:spcPts val="0"/>
                        </a:spcAft>
                        <a:buNone/>
                      </a:pPr>
                      <a:r>
                        <a:t/>
                      </a:r>
                      <a:endParaRPr sz="1200"/>
                    </a:p>
                  </a:txBody>
                  <a:tcPr marT="45725" marB="45725" marR="91450" marL="91450"/>
                </a:tc>
              </a:tr>
              <a:tr h="780850">
                <a:tc>
                  <a:txBody>
                    <a:bodyPr/>
                    <a:lstStyle/>
                    <a:p>
                      <a:pPr indent="0" lvl="0" marL="0" marR="0" rtl="0" algn="l">
                        <a:spcBef>
                          <a:spcPts val="0"/>
                        </a:spcBef>
                        <a:spcAft>
                          <a:spcPts val="0"/>
                        </a:spcAft>
                        <a:buNone/>
                      </a:pPr>
                      <a:r>
                        <a:rPr lang="en-GB" sz="1200"/>
                        <a:t>f) Niamh thinks of a number. The HCF of the two numbers is 8. The lowest common multiple of the two numbers is a multiple of 5. Write down two possible numbers Niamh could be thinking of.</a:t>
                      </a:r>
                      <a:endParaRPr/>
                    </a:p>
                  </a:txBody>
                  <a:tcPr marT="45725" marB="45725" marR="91450" marL="91450"/>
                </a:tc>
              </a:tr>
              <a:tr h="1512000">
                <a:tc>
                  <a:txBody>
                    <a:bodyPr/>
                    <a:lstStyle/>
                    <a:p>
                      <a:pPr indent="0" lvl="0" marL="0" marR="0" rtl="0" algn="l">
                        <a:spcBef>
                          <a:spcPts val="0"/>
                        </a:spcBef>
                        <a:spcAft>
                          <a:spcPts val="0"/>
                        </a:spcAft>
                        <a:buNone/>
                      </a:pPr>
                      <a:r>
                        <a:t/>
                      </a:r>
                      <a:endParaRPr sz="1200"/>
                    </a:p>
                  </a:txBody>
                  <a:tcPr marT="45725" marB="45725" marR="91450" marL="91450"/>
                </a:tc>
              </a:tr>
              <a:tr h="882550">
                <a:tc>
                  <a:txBody>
                    <a:bodyPr/>
                    <a:lstStyle/>
                    <a:p>
                      <a:pPr indent="0" lvl="0" marL="0" marR="0" rtl="0" algn="l">
                        <a:spcBef>
                          <a:spcPts val="0"/>
                        </a:spcBef>
                        <a:spcAft>
                          <a:spcPts val="0"/>
                        </a:spcAft>
                        <a:buNone/>
                      </a:pPr>
                      <a:r>
                        <a:rPr lang="en-GB" sz="1200"/>
                        <a:t>g) Here are some properties of a number:</a:t>
                      </a:r>
                      <a:endParaRPr/>
                    </a:p>
                    <a:p>
                      <a:pPr indent="0" lvl="0" marL="0" marR="0" rtl="0" algn="l">
                        <a:spcBef>
                          <a:spcPts val="0"/>
                        </a:spcBef>
                        <a:spcAft>
                          <a:spcPts val="0"/>
                        </a:spcAft>
                        <a:buNone/>
                      </a:pPr>
                      <a:r>
                        <a:rPr lang="en-GB" sz="1200"/>
                        <a:t>It is a common factor of 288 and 360. It is a common multiple of 4 and 6. It is larger than 25. </a:t>
                      </a:r>
                      <a:endParaRPr/>
                    </a:p>
                    <a:p>
                      <a:pPr indent="0" lvl="0" marL="0" marR="0" rtl="0" algn="l">
                        <a:spcBef>
                          <a:spcPts val="0"/>
                        </a:spcBef>
                        <a:spcAft>
                          <a:spcPts val="0"/>
                        </a:spcAft>
                        <a:buNone/>
                      </a:pPr>
                      <a:r>
                        <a:rPr lang="en-GB" sz="1200"/>
                        <a:t>Find the two possible numbers with these properties.</a:t>
                      </a:r>
                      <a:endParaRPr/>
                    </a:p>
                  </a:txBody>
                  <a:tcPr marT="45725" marB="45725" marR="91450" marL="91450"/>
                </a:tc>
              </a:tr>
              <a:tr h="1512000">
                <a:tc>
                  <a:txBody>
                    <a:bodyPr/>
                    <a:lstStyle/>
                    <a:p>
                      <a:pPr indent="0" lvl="0" marL="0" marR="0" rtl="0" algn="ctr">
                        <a:spcBef>
                          <a:spcPts val="0"/>
                        </a:spcBef>
                        <a:spcAft>
                          <a:spcPts val="0"/>
                        </a:spcAft>
                        <a:buNone/>
                      </a:pPr>
                      <a:r>
                        <a:t/>
                      </a:r>
                      <a:endParaRPr b="1" sz="1200">
                        <a:solidFill>
                          <a:srgbClr val="FF0000"/>
                        </a:solidFill>
                      </a:endParaRPr>
                    </a:p>
                  </a:txBody>
                  <a:tcPr marT="45725" marB="45725" marR="91450" marL="91450"/>
                </a:tc>
              </a:tr>
              <a:tr h="882550">
                <a:tc>
                  <a:txBody>
                    <a:bodyPr/>
                    <a:lstStyle/>
                    <a:p>
                      <a:pPr indent="0" lvl="0" marL="0" marR="0" rtl="0" algn="l">
                        <a:spcBef>
                          <a:spcPts val="0"/>
                        </a:spcBef>
                        <a:spcAft>
                          <a:spcPts val="0"/>
                        </a:spcAft>
                        <a:buNone/>
                      </a:pPr>
                      <a:r>
                        <a:rPr lang="en-GB" sz="1200"/>
                        <a:t>h) Kenny is thinking of two numbers greater than 10. He says: ”The highest common factor (HCF) of my two numbers is 7. The lowest common multiple (LCM) of my two numbers is 84” Write down the two numbers that Kenny is thinking of. </a:t>
                      </a:r>
                      <a:endParaRPr/>
                    </a:p>
                  </a:txBody>
                  <a:tcPr marT="45725" marB="45725" marR="91450" marL="91450"/>
                </a:tc>
              </a:tr>
              <a:tr h="1512000">
                <a:tc>
                  <a:txBody>
                    <a:bodyPr/>
                    <a:lstStyle/>
                    <a:p>
                      <a:pPr indent="0" lvl="0" marL="0" marR="0" rtl="0" algn="l">
                        <a:spcBef>
                          <a:spcPts val="0"/>
                        </a:spcBef>
                        <a:spcAft>
                          <a:spcPts val="0"/>
                        </a:spcAft>
                        <a:buNone/>
                      </a:pPr>
                      <a:r>
                        <a:t/>
                      </a:r>
                      <a:endParaRPr sz="1200"/>
                    </a:p>
                  </a:txBody>
                  <a:tcPr marT="45725" marB="45725" marR="91450" marL="91450"/>
                </a:tc>
              </a:tr>
            </a:tbl>
          </a:graphicData>
        </a:graphic>
      </p:graphicFrame>
      <p:sp>
        <p:nvSpPr>
          <p:cNvPr id="203" name="Google Shape;203;p18"/>
          <p:cNvSpPr txBox="1"/>
          <p:nvPr>
            <p:ph idx="12" type="sldNum"/>
          </p:nvPr>
        </p:nvSpPr>
        <p:spPr>
          <a:xfrm>
            <a:off x="5314950" y="9491250"/>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04" name="Google Shape;204;p18"/>
          <p:cNvSpPr txBox="1"/>
          <p:nvPr/>
        </p:nvSpPr>
        <p:spPr>
          <a:xfrm>
            <a:off x="1999724" y="1072889"/>
            <a:ext cx="1598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e.g. 12 and 9</a:t>
            </a:r>
            <a:endParaRPr/>
          </a:p>
        </p:txBody>
      </p:sp>
      <p:sp>
        <p:nvSpPr>
          <p:cNvPr id="205" name="Google Shape;205;p18"/>
          <p:cNvSpPr txBox="1"/>
          <p:nvPr/>
        </p:nvSpPr>
        <p:spPr>
          <a:xfrm>
            <a:off x="1999724" y="3408957"/>
            <a:ext cx="2031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e.g. 40 and 8</a:t>
            </a:r>
            <a:endParaRPr/>
          </a:p>
        </p:txBody>
      </p:sp>
      <p:sp>
        <p:nvSpPr>
          <p:cNvPr id="206" name="Google Shape;206;p18"/>
          <p:cNvSpPr txBox="1"/>
          <p:nvPr/>
        </p:nvSpPr>
        <p:spPr>
          <a:xfrm>
            <a:off x="1999723" y="8157420"/>
            <a:ext cx="2031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28 and 42</a:t>
            </a:r>
            <a:endParaRPr/>
          </a:p>
        </p:txBody>
      </p:sp>
      <p:sp>
        <p:nvSpPr>
          <p:cNvPr id="207" name="Google Shape;207;p18"/>
          <p:cNvSpPr txBox="1"/>
          <p:nvPr/>
        </p:nvSpPr>
        <p:spPr>
          <a:xfrm>
            <a:off x="1999722" y="5821352"/>
            <a:ext cx="2031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36 and 72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graphicFrame>
        <p:nvGraphicFramePr>
          <p:cNvPr id="212" name="Google Shape;212;p19"/>
          <p:cNvGraphicFramePr/>
          <p:nvPr/>
        </p:nvGraphicFramePr>
        <p:xfrm>
          <a:off x="281763" y="241230"/>
          <a:ext cx="3000000" cy="3000000"/>
        </p:xfrm>
        <a:graphic>
          <a:graphicData uri="http://schemas.openxmlformats.org/drawingml/2006/table">
            <a:tbl>
              <a:tblPr>
                <a:noFill/>
                <a:tableStyleId>{07E774F5-8BCA-4ED4-ADEC-BDBF87717BEF}</a:tableStyleId>
              </a:tblPr>
              <a:tblGrid>
                <a:gridCol w="6294475"/>
              </a:tblGrid>
              <a:tr h="352325">
                <a:tc>
                  <a:txBody>
                    <a:bodyPr/>
                    <a:lstStyle/>
                    <a:p>
                      <a:pPr indent="0" lvl="0" marL="0" marR="0" rtl="0" algn="l">
                        <a:lnSpc>
                          <a:spcPct val="100000"/>
                        </a:lnSpc>
                        <a:spcBef>
                          <a:spcPts val="0"/>
                        </a:spcBef>
                        <a:spcAft>
                          <a:spcPts val="0"/>
                        </a:spcAft>
                        <a:buClr>
                          <a:schemeClr val="dk1"/>
                        </a:buClr>
                        <a:buSzPts val="1200"/>
                        <a:buFont typeface="Calibri"/>
                        <a:buNone/>
                      </a:pPr>
                      <a:r>
                        <a:rPr lang="en-GB" sz="1200"/>
                        <a:t>i) Find two numbers between 100 and 150 that have a HCF of 22. </a:t>
                      </a:r>
                      <a:endParaRPr/>
                    </a:p>
                  </a:txBody>
                  <a:tcPr marT="45725" marB="45725" marR="91450" marL="91450"/>
                </a:tc>
              </a:tr>
              <a:tr h="1908000">
                <a:tc>
                  <a:txBody>
                    <a:bodyPr/>
                    <a:lstStyle/>
                    <a:p>
                      <a:pPr indent="0" lvl="0" marL="0" marR="0" rtl="0" algn="l">
                        <a:spcBef>
                          <a:spcPts val="0"/>
                        </a:spcBef>
                        <a:spcAft>
                          <a:spcPts val="0"/>
                        </a:spcAft>
                        <a:buNone/>
                      </a:pPr>
                      <a:r>
                        <a:t/>
                      </a:r>
                      <a:endParaRPr sz="1200"/>
                    </a:p>
                  </a:txBody>
                  <a:tcPr marT="45725" marB="45725" marR="91450" marL="91450"/>
                </a:tc>
              </a:tr>
              <a:tr h="518950">
                <a:tc>
                  <a:txBody>
                    <a:bodyPr/>
                    <a:lstStyle/>
                    <a:p>
                      <a:pPr indent="0" lvl="0" marL="0" marR="0" rtl="0" algn="l">
                        <a:spcBef>
                          <a:spcPts val="0"/>
                        </a:spcBef>
                        <a:spcAft>
                          <a:spcPts val="0"/>
                        </a:spcAft>
                        <a:buNone/>
                      </a:pPr>
                      <a:r>
                        <a:rPr lang="en-GB" sz="1200"/>
                        <a:t>j) The highest common factor of 90 and x is 18. The lowest common multiple of 90 and x is 540. Find the value of x.</a:t>
                      </a:r>
                      <a:endParaRPr/>
                    </a:p>
                  </a:txBody>
                  <a:tcPr marT="45725" marB="45725" marR="91450" marL="91450"/>
                </a:tc>
              </a:tr>
              <a:tr h="1908000">
                <a:tc>
                  <a:txBody>
                    <a:bodyPr/>
                    <a:lstStyle/>
                    <a:p>
                      <a:pPr indent="0" lvl="0" marL="0" marR="0" rtl="0" algn="l">
                        <a:spcBef>
                          <a:spcPts val="0"/>
                        </a:spcBef>
                        <a:spcAft>
                          <a:spcPts val="0"/>
                        </a:spcAft>
                        <a:buNone/>
                      </a:pPr>
                      <a:r>
                        <a:t/>
                      </a:r>
                      <a:endParaRPr sz="1200"/>
                    </a:p>
                  </a:txBody>
                  <a:tcPr marT="45725" marB="45725" marR="91450" marL="91450"/>
                </a:tc>
              </a:tr>
              <a:tr h="516500">
                <a:tc>
                  <a:txBody>
                    <a:bodyPr/>
                    <a:lstStyle/>
                    <a:p>
                      <a:pPr indent="0" lvl="0" marL="0" marR="0" rtl="0" algn="l">
                        <a:spcBef>
                          <a:spcPts val="0"/>
                        </a:spcBef>
                        <a:spcAft>
                          <a:spcPts val="0"/>
                        </a:spcAft>
                        <a:buNone/>
                      </a:pPr>
                      <a:r>
                        <a:rPr lang="en-GB" sz="1200"/>
                        <a:t>k) The highest common factor of x and 12 is 6. The lowest common multiple of x and 12 is 180. Find the value of x.</a:t>
                      </a:r>
                      <a:endParaRPr/>
                    </a:p>
                  </a:txBody>
                  <a:tcPr marT="45725" marB="45725" marR="91450" marL="91450"/>
                </a:tc>
              </a:tr>
              <a:tr h="1908000">
                <a:tc>
                  <a:txBody>
                    <a:bodyPr/>
                    <a:lstStyle/>
                    <a:p>
                      <a:pPr indent="0" lvl="0" marL="0" marR="0" rtl="0" algn="ctr">
                        <a:spcBef>
                          <a:spcPts val="0"/>
                        </a:spcBef>
                        <a:spcAft>
                          <a:spcPts val="0"/>
                        </a:spcAft>
                        <a:buNone/>
                      </a:pPr>
                      <a:r>
                        <a:t/>
                      </a:r>
                      <a:endParaRPr b="1" sz="1200">
                        <a:solidFill>
                          <a:srgbClr val="FF0000"/>
                        </a:solidFill>
                      </a:endParaRPr>
                    </a:p>
                  </a:txBody>
                  <a:tcPr marT="45725" marB="45725" marR="91450" marL="91450"/>
                </a:tc>
              </a:tr>
              <a:tr h="340025">
                <a:tc>
                  <a:txBody>
                    <a:bodyPr/>
                    <a:lstStyle/>
                    <a:p>
                      <a:pPr indent="0" lvl="0" marL="0" marR="0" rtl="0" algn="l">
                        <a:spcBef>
                          <a:spcPts val="0"/>
                        </a:spcBef>
                        <a:spcAft>
                          <a:spcPts val="0"/>
                        </a:spcAft>
                        <a:buNone/>
                      </a:pPr>
                      <a:r>
                        <a:rPr lang="en-GB" sz="1200"/>
                        <a:t>l) Sam has completed his maths homework. Can you spot any mistakes?</a:t>
                      </a:r>
                      <a:endParaRPr/>
                    </a:p>
                  </a:txBody>
                  <a:tcPr marT="45725" marB="45725" marR="91450" marL="91450"/>
                </a:tc>
              </a:tr>
              <a:tr h="1908000">
                <a:tc>
                  <a:txBody>
                    <a:bodyPr/>
                    <a:lstStyle/>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lnSpc>
                          <a:spcPct val="100000"/>
                        </a:lnSpc>
                        <a:spcBef>
                          <a:spcPts val="0"/>
                        </a:spcBef>
                        <a:spcAft>
                          <a:spcPts val="0"/>
                        </a:spcAft>
                        <a:buClr>
                          <a:srgbClr val="FF0000"/>
                        </a:buClr>
                        <a:buSzPts val="1200"/>
                        <a:buFont typeface="Calibri"/>
                        <a:buNone/>
                      </a:pPr>
                      <a:r>
                        <a:rPr b="1" lang="en-GB" sz="1200">
                          <a:solidFill>
                            <a:srgbClr val="FF0000"/>
                          </a:solidFill>
                        </a:rPr>
                        <a:t>He has forgotten that 1 and 18 are factors of 18 and that 1 and 36 are factors of 36. 18 would actually be the HCF.</a:t>
                      </a:r>
                      <a:endParaRPr/>
                    </a:p>
                    <a:p>
                      <a:pPr indent="0" lvl="0" marL="0" marR="0" rtl="0" algn="l">
                        <a:spcBef>
                          <a:spcPts val="0"/>
                        </a:spcBef>
                        <a:spcAft>
                          <a:spcPts val="0"/>
                        </a:spcAft>
                        <a:buNone/>
                      </a:pPr>
                      <a:r>
                        <a:t/>
                      </a:r>
                      <a:endParaRPr sz="1200"/>
                    </a:p>
                  </a:txBody>
                  <a:tcPr marT="45725" marB="45725" marR="91450" marL="91450"/>
                </a:tc>
              </a:tr>
            </a:tbl>
          </a:graphicData>
        </a:graphic>
      </p:graphicFrame>
      <p:sp>
        <p:nvSpPr>
          <p:cNvPr id="213" name="Google Shape;213;p19"/>
          <p:cNvSpPr txBox="1"/>
          <p:nvPr>
            <p:ph idx="12" type="sldNum"/>
          </p:nvPr>
        </p:nvSpPr>
        <p:spPr>
          <a:xfrm>
            <a:off x="5314950" y="944509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14" name="Google Shape;214;p19"/>
          <p:cNvSpPr txBox="1"/>
          <p:nvPr/>
        </p:nvSpPr>
        <p:spPr>
          <a:xfrm>
            <a:off x="2865996" y="787084"/>
            <a:ext cx="2031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132</a:t>
            </a:r>
            <a:endParaRPr/>
          </a:p>
        </p:txBody>
      </p:sp>
      <p:sp>
        <p:nvSpPr>
          <p:cNvPr id="215" name="Google Shape;215;p19"/>
          <p:cNvSpPr txBox="1"/>
          <p:nvPr/>
        </p:nvSpPr>
        <p:spPr>
          <a:xfrm>
            <a:off x="2865995" y="3201421"/>
            <a:ext cx="2031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108</a:t>
            </a:r>
            <a:endParaRPr/>
          </a:p>
        </p:txBody>
      </p:sp>
      <p:sp>
        <p:nvSpPr>
          <p:cNvPr id="216" name="Google Shape;216;p19"/>
          <p:cNvSpPr txBox="1"/>
          <p:nvPr/>
        </p:nvSpPr>
        <p:spPr>
          <a:xfrm>
            <a:off x="2865995" y="5615758"/>
            <a:ext cx="2031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90</a:t>
            </a:r>
            <a:endParaRPr/>
          </a:p>
        </p:txBody>
      </p:sp>
      <p:pic>
        <p:nvPicPr>
          <p:cNvPr id="217" name="Google Shape;217;p19"/>
          <p:cNvPicPr preferRelativeResize="0"/>
          <p:nvPr/>
        </p:nvPicPr>
        <p:blipFill rotWithShape="1">
          <a:blip r:embed="rId3">
            <a:alphaModFix/>
          </a:blip>
          <a:srcRect b="0" l="0" r="0" t="0"/>
          <a:stretch/>
        </p:blipFill>
        <p:spPr>
          <a:xfrm>
            <a:off x="390047" y="7805857"/>
            <a:ext cx="3236996" cy="122521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0"/>
          <p:cNvSpPr txBox="1"/>
          <p:nvPr>
            <p:ph idx="12" type="sldNum"/>
          </p:nvPr>
        </p:nvSpPr>
        <p:spPr>
          <a:xfrm>
            <a:off x="5242696" y="939036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23" name="Google Shape;223;p20"/>
          <p:cNvGraphicFramePr/>
          <p:nvPr/>
        </p:nvGraphicFramePr>
        <p:xfrm>
          <a:off x="112366" y="782835"/>
          <a:ext cx="3000000" cy="3000000"/>
        </p:xfrm>
        <a:graphic>
          <a:graphicData uri="http://schemas.openxmlformats.org/drawingml/2006/table">
            <a:tbl>
              <a:tblPr bandRow="1" firstRow="1">
                <a:noFill/>
                <a:tableStyleId>{2DC771C0-CED5-432C-8AED-CE906F9E3FF0}</a:tableStyleId>
              </a:tblPr>
              <a:tblGrid>
                <a:gridCol w="1123000"/>
                <a:gridCol w="1852825"/>
                <a:gridCol w="1852825"/>
                <a:gridCol w="1852825"/>
              </a:tblGrid>
              <a:tr h="5128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HCF of 12, 6 and 15</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HCF of 27, 33 and 12</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HCF of 30, 15 and 25</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549625">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List all the  factors of each number.</a:t>
                      </a:r>
                      <a:br>
                        <a:rPr lang="en-GB" sz="1200">
                          <a:solidFill>
                            <a:schemeClr val="dk1"/>
                          </a:solidFill>
                        </a:rPr>
                      </a:br>
                      <a:endParaRPr sz="1200">
                        <a:solidFill>
                          <a:schemeClr val="dk1"/>
                        </a:solidFill>
                      </a:endParaRPr>
                    </a:p>
                    <a:p>
                      <a:pPr indent="0" lvl="0" marL="0" marR="0" rtl="0" algn="l">
                        <a:spcBef>
                          <a:spcPts val="0"/>
                        </a:spcBef>
                        <a:spcAft>
                          <a:spcPts val="0"/>
                        </a:spcAft>
                        <a:buNone/>
                      </a:pPr>
                      <a:r>
                        <a:rPr lang="en-GB" sz="1200">
                          <a:solidFill>
                            <a:schemeClr val="dk1"/>
                          </a:solidFill>
                        </a:rPr>
                        <a:t>2) </a:t>
                      </a:r>
                      <a:r>
                        <a:rPr b="0" lang="en-GB" sz="1200">
                          <a:solidFill>
                            <a:schemeClr val="dk1"/>
                          </a:solidFill>
                        </a:rPr>
                        <a:t>Identify the factors common to each list, then circle the highest common factor.</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GB" sz="1200">
                          <a:solidFill>
                            <a:schemeClr val="dk1"/>
                          </a:solidFill>
                        </a:rPr>
                        <a:t>Factors of 12</a:t>
                      </a:r>
                      <a:endParaRPr/>
                    </a:p>
                    <a:p>
                      <a:pPr indent="0" lvl="0" marL="0" marR="0" rtl="0" algn="l">
                        <a:spcBef>
                          <a:spcPts val="0"/>
                        </a:spcBef>
                        <a:spcAft>
                          <a:spcPts val="0"/>
                        </a:spcAft>
                        <a:buNone/>
                      </a:pPr>
                      <a:r>
                        <a:rPr lang="en-GB" sz="1200">
                          <a:solidFill>
                            <a:schemeClr val="dk1"/>
                          </a:solidFill>
                        </a:rPr>
                        <a:t>1, 2, 3, 4, 6, 12</a:t>
                      </a:r>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GB" sz="1200">
                          <a:solidFill>
                            <a:schemeClr val="dk1"/>
                          </a:solidFill>
                        </a:rPr>
                        <a:t>Factors of 6</a:t>
                      </a:r>
                      <a:endParaRPr/>
                    </a:p>
                    <a:p>
                      <a:pPr indent="0" lvl="0" marL="0" marR="0" rtl="0" algn="l">
                        <a:spcBef>
                          <a:spcPts val="0"/>
                        </a:spcBef>
                        <a:spcAft>
                          <a:spcPts val="0"/>
                        </a:spcAft>
                        <a:buNone/>
                      </a:pPr>
                      <a:r>
                        <a:rPr lang="en-GB" sz="1200">
                          <a:solidFill>
                            <a:schemeClr val="dk1"/>
                          </a:solidFill>
                        </a:rPr>
                        <a:t>1, 2, 3, 6</a:t>
                      </a:r>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GB" sz="1200">
                          <a:solidFill>
                            <a:schemeClr val="dk1"/>
                          </a:solidFill>
                        </a:rPr>
                        <a:t>Factors of 15</a:t>
                      </a:r>
                      <a:endParaRPr/>
                    </a:p>
                    <a:p>
                      <a:pPr indent="0" lvl="0" marL="0" marR="0" rtl="0" algn="l">
                        <a:spcBef>
                          <a:spcPts val="0"/>
                        </a:spcBef>
                        <a:spcAft>
                          <a:spcPts val="0"/>
                        </a:spcAft>
                        <a:buNone/>
                      </a:pPr>
                      <a:r>
                        <a:rPr lang="en-GB" sz="1200">
                          <a:solidFill>
                            <a:schemeClr val="dk1"/>
                          </a:solidFill>
                        </a:rPr>
                        <a:t>1, 3, 5, 15</a:t>
                      </a:r>
                      <a:endParaRPr/>
                    </a:p>
                    <a:p>
                      <a:pPr indent="0" lvl="0" marL="0" marR="0" rtl="0" algn="ctr">
                        <a:lnSpc>
                          <a:spcPct val="100000"/>
                        </a:lnSpc>
                        <a:spcBef>
                          <a:spcPts val="0"/>
                        </a:spcBef>
                        <a:spcAft>
                          <a:spcPts val="0"/>
                        </a:spcAft>
                        <a:buClr>
                          <a:srgbClr val="FF0000"/>
                        </a:buClr>
                        <a:buSzPts val="1400"/>
                        <a:buFont typeface="Calibri"/>
                        <a:buNone/>
                      </a:pPr>
                      <a:r>
                        <a:rPr b="1" i="0" lang="en-GB" sz="1400" u="none" cap="none" strike="noStrike">
                          <a:solidFill>
                            <a:srgbClr val="FF0000"/>
                          </a:solidFill>
                          <a:latin typeface="Calibri"/>
                          <a:ea typeface="Calibri"/>
                          <a:cs typeface="Calibri"/>
                          <a:sym typeface="Calibri"/>
                        </a:rPr>
                        <a:t>HCF = 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GB" sz="1200">
                          <a:solidFill>
                            <a:srgbClr val="FF0000"/>
                          </a:solidFill>
                        </a:rPr>
                        <a:t>Factors of 27</a:t>
                      </a:r>
                      <a:endParaRPr/>
                    </a:p>
                    <a:p>
                      <a:pPr indent="0" lvl="0" marL="0" marR="0" rtl="0" algn="l">
                        <a:spcBef>
                          <a:spcPts val="0"/>
                        </a:spcBef>
                        <a:spcAft>
                          <a:spcPts val="0"/>
                        </a:spcAft>
                        <a:buNone/>
                      </a:pPr>
                      <a:r>
                        <a:rPr b="1" lang="en-GB" sz="1200">
                          <a:solidFill>
                            <a:srgbClr val="FF0000"/>
                          </a:solidFill>
                        </a:rPr>
                        <a:t>1, 3, 9, 27</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Factors of 33</a:t>
                      </a:r>
                      <a:endParaRPr/>
                    </a:p>
                    <a:p>
                      <a:pPr indent="0" lvl="0" marL="0" marR="0" rtl="0" algn="l">
                        <a:spcBef>
                          <a:spcPts val="0"/>
                        </a:spcBef>
                        <a:spcAft>
                          <a:spcPts val="0"/>
                        </a:spcAft>
                        <a:buNone/>
                      </a:pPr>
                      <a:r>
                        <a:rPr b="1" lang="en-GB" sz="1200">
                          <a:solidFill>
                            <a:srgbClr val="FF0000"/>
                          </a:solidFill>
                        </a:rPr>
                        <a:t>1, 3, 11, 33</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Factors of 12</a:t>
                      </a:r>
                      <a:endParaRPr/>
                    </a:p>
                    <a:p>
                      <a:pPr indent="0" lvl="0" marL="0" marR="0" rtl="0" algn="l">
                        <a:spcBef>
                          <a:spcPts val="0"/>
                        </a:spcBef>
                        <a:spcAft>
                          <a:spcPts val="0"/>
                        </a:spcAft>
                        <a:buNone/>
                      </a:pPr>
                      <a:r>
                        <a:rPr b="1" lang="en-GB" sz="1200">
                          <a:solidFill>
                            <a:srgbClr val="FF0000"/>
                          </a:solidFill>
                        </a:rPr>
                        <a:t>1, 2, 3, 4, 6, 12</a:t>
                      </a:r>
                      <a:endParaRPr/>
                    </a:p>
                    <a:p>
                      <a:pPr indent="0" lvl="0" marL="0" marR="0" rtl="0" algn="ctr">
                        <a:lnSpc>
                          <a:spcPct val="100000"/>
                        </a:lnSpc>
                        <a:spcBef>
                          <a:spcPts val="0"/>
                        </a:spcBef>
                        <a:spcAft>
                          <a:spcPts val="0"/>
                        </a:spcAft>
                        <a:buClr>
                          <a:srgbClr val="FF0000"/>
                        </a:buClr>
                        <a:buSzPts val="1400"/>
                        <a:buFont typeface="Calibri"/>
                        <a:buNone/>
                      </a:pPr>
                      <a:r>
                        <a:rPr b="1" i="0" lang="en-GB" sz="1400" u="none" cap="none" strike="noStrike">
                          <a:solidFill>
                            <a:srgbClr val="FF0000"/>
                          </a:solidFill>
                          <a:latin typeface="Calibri"/>
                          <a:ea typeface="Calibri"/>
                          <a:cs typeface="Calibri"/>
                          <a:sym typeface="Calibri"/>
                        </a:rPr>
                        <a:t>HCF = 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GB" sz="1200">
                          <a:solidFill>
                            <a:srgbClr val="FF0000"/>
                          </a:solidFill>
                        </a:rPr>
                        <a:t>Factors of 30</a:t>
                      </a:r>
                      <a:endParaRPr/>
                    </a:p>
                    <a:p>
                      <a:pPr indent="0" lvl="0" marL="0" marR="0" rtl="0" algn="l">
                        <a:spcBef>
                          <a:spcPts val="0"/>
                        </a:spcBef>
                        <a:spcAft>
                          <a:spcPts val="0"/>
                        </a:spcAft>
                        <a:buNone/>
                      </a:pPr>
                      <a:r>
                        <a:rPr b="1" lang="en-GB" sz="1200">
                          <a:solidFill>
                            <a:srgbClr val="FF0000"/>
                          </a:solidFill>
                        </a:rPr>
                        <a:t>1, 2, 3, 5, 6, 10, 15, 30</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Factors of 15</a:t>
                      </a:r>
                      <a:endParaRPr/>
                    </a:p>
                    <a:p>
                      <a:pPr indent="0" lvl="0" marL="0" marR="0" rtl="0" algn="l">
                        <a:spcBef>
                          <a:spcPts val="0"/>
                        </a:spcBef>
                        <a:spcAft>
                          <a:spcPts val="0"/>
                        </a:spcAft>
                        <a:buNone/>
                      </a:pPr>
                      <a:r>
                        <a:rPr b="1" lang="en-GB" sz="1200">
                          <a:solidFill>
                            <a:srgbClr val="FF0000"/>
                          </a:solidFill>
                        </a:rPr>
                        <a:t>1, 3, 5, 15</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Factors of 25</a:t>
                      </a:r>
                      <a:endParaRPr/>
                    </a:p>
                    <a:p>
                      <a:pPr indent="0" lvl="0" marL="0" marR="0" rtl="0" algn="l">
                        <a:spcBef>
                          <a:spcPts val="0"/>
                        </a:spcBef>
                        <a:spcAft>
                          <a:spcPts val="0"/>
                        </a:spcAft>
                        <a:buNone/>
                      </a:pPr>
                      <a:r>
                        <a:rPr b="1" lang="en-GB" sz="1200">
                          <a:solidFill>
                            <a:srgbClr val="FF0000"/>
                          </a:solidFill>
                        </a:rPr>
                        <a:t>1, 5, 25</a:t>
                      </a:r>
                      <a:endParaRPr/>
                    </a:p>
                    <a:p>
                      <a:pPr indent="0" lvl="0" marL="0" marR="0" rtl="0" algn="ctr">
                        <a:lnSpc>
                          <a:spcPct val="100000"/>
                        </a:lnSpc>
                        <a:spcBef>
                          <a:spcPts val="0"/>
                        </a:spcBef>
                        <a:spcAft>
                          <a:spcPts val="0"/>
                        </a:spcAft>
                        <a:buClr>
                          <a:srgbClr val="FF0000"/>
                        </a:buClr>
                        <a:buSzPts val="1400"/>
                        <a:buFont typeface="Calibri"/>
                        <a:buNone/>
                      </a:pPr>
                      <a:r>
                        <a:rPr b="1" i="0" lang="en-GB" sz="1400" u="none" cap="none" strike="noStrike">
                          <a:solidFill>
                            <a:srgbClr val="FF0000"/>
                          </a:solidFill>
                          <a:latin typeface="Calibri"/>
                          <a:ea typeface="Calibri"/>
                          <a:cs typeface="Calibri"/>
                          <a:sym typeface="Calibri"/>
                        </a:rPr>
                        <a:t>HCF = 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24" name="Google Shape;224;p20"/>
          <p:cNvSpPr txBox="1"/>
          <p:nvPr/>
        </p:nvSpPr>
        <p:spPr>
          <a:xfrm>
            <a:off x="1415726" y="505473"/>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4 - I do…</a:t>
            </a:r>
            <a:endParaRPr/>
          </a:p>
        </p:txBody>
      </p:sp>
      <p:sp>
        <p:nvSpPr>
          <p:cNvPr id="225" name="Google Shape;225;p20"/>
          <p:cNvSpPr txBox="1"/>
          <p:nvPr/>
        </p:nvSpPr>
        <p:spPr>
          <a:xfrm>
            <a:off x="5094410" y="49653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6 – You do…</a:t>
            </a:r>
            <a:endParaRPr/>
          </a:p>
        </p:txBody>
      </p:sp>
      <p:sp>
        <p:nvSpPr>
          <p:cNvPr id="226" name="Google Shape;226;p20"/>
          <p:cNvSpPr txBox="1"/>
          <p:nvPr/>
        </p:nvSpPr>
        <p:spPr>
          <a:xfrm>
            <a:off x="3122598" y="501999"/>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5 – We do…</a:t>
            </a:r>
            <a:endParaRPr/>
          </a:p>
        </p:txBody>
      </p:sp>
      <p:sp>
        <p:nvSpPr>
          <p:cNvPr id="227" name="Google Shape;227;p20"/>
          <p:cNvSpPr/>
          <p:nvPr/>
        </p:nvSpPr>
        <p:spPr>
          <a:xfrm>
            <a:off x="92706" y="163669"/>
            <a:ext cx="4673297" cy="27699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Calculating the highest common factor of more than two numbers</a:t>
            </a:r>
            <a:endParaRPr/>
          </a:p>
        </p:txBody>
      </p:sp>
      <p:sp>
        <p:nvSpPr>
          <p:cNvPr id="228" name="Google Shape;228;p20"/>
          <p:cNvSpPr txBox="1"/>
          <p:nvPr/>
        </p:nvSpPr>
        <p:spPr>
          <a:xfrm>
            <a:off x="1250320" y="5203779"/>
            <a:ext cx="485363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 Work out the highest common factor of the following pairs of numbers:</a:t>
            </a:r>
            <a:endParaRPr sz="1200">
              <a:solidFill>
                <a:schemeClr val="dk1"/>
              </a:solidFill>
              <a:latin typeface="Calibri"/>
              <a:ea typeface="Calibri"/>
              <a:cs typeface="Calibri"/>
              <a:sym typeface="Calibri"/>
            </a:endParaRPr>
          </a:p>
        </p:txBody>
      </p:sp>
      <p:sp>
        <p:nvSpPr>
          <p:cNvPr id="229" name="Google Shape;229;p20"/>
          <p:cNvSpPr/>
          <p:nvPr/>
        </p:nvSpPr>
        <p:spPr>
          <a:xfrm>
            <a:off x="112366" y="5078352"/>
            <a:ext cx="1137954" cy="340453"/>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graphicFrame>
        <p:nvGraphicFramePr>
          <p:cNvPr id="230" name="Google Shape;230;p20"/>
          <p:cNvGraphicFramePr/>
          <p:nvPr/>
        </p:nvGraphicFramePr>
        <p:xfrm>
          <a:off x="119359" y="5557098"/>
          <a:ext cx="3000000" cy="3000000"/>
        </p:xfrm>
        <a:graphic>
          <a:graphicData uri="http://schemas.openxmlformats.org/drawingml/2006/table">
            <a:tbl>
              <a:tblPr>
                <a:noFill/>
                <a:tableStyleId>{07E774F5-8BCA-4ED4-ADEC-BDBF87717BEF}</a:tableStyleId>
              </a:tblPr>
              <a:tblGrid>
                <a:gridCol w="2222125"/>
                <a:gridCol w="2222125"/>
                <a:gridCol w="2222125"/>
              </a:tblGrid>
              <a:tr h="1296000">
                <a:tc>
                  <a:txBody>
                    <a:bodyPr/>
                    <a:lstStyle/>
                    <a:p>
                      <a:pPr indent="0" lvl="0" marL="0" marR="0" rtl="0" algn="l">
                        <a:spcBef>
                          <a:spcPts val="0"/>
                        </a:spcBef>
                        <a:spcAft>
                          <a:spcPts val="0"/>
                        </a:spcAft>
                        <a:buNone/>
                      </a:pPr>
                      <a:r>
                        <a:rPr lang="en-GB" sz="1200"/>
                        <a:t>a) 8, 20 and 12</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b) 10, 25 and 13</a:t>
                      </a:r>
                      <a:endParaRPr/>
                    </a:p>
                  </a:txBody>
                  <a:tcPr marT="45725" marB="45725" marR="91450" marL="91450"/>
                </a:tc>
                <a:tc>
                  <a:txBody>
                    <a:bodyPr/>
                    <a:lstStyle/>
                    <a:p>
                      <a:pPr indent="0" lvl="0" marL="0" marR="0" rtl="0" algn="l">
                        <a:spcBef>
                          <a:spcPts val="0"/>
                        </a:spcBef>
                        <a:spcAft>
                          <a:spcPts val="0"/>
                        </a:spcAft>
                        <a:buNone/>
                      </a:pPr>
                      <a:r>
                        <a:rPr lang="en-GB" sz="1200"/>
                        <a:t>c) 12, 24 and 30</a:t>
                      </a:r>
                      <a:endParaRPr/>
                    </a:p>
                  </a:txBody>
                  <a:tcPr marT="45725" marB="45725" marR="91450" marL="91450"/>
                </a:tc>
              </a:tr>
              <a:tr h="1296000">
                <a:tc>
                  <a:txBody>
                    <a:bodyPr/>
                    <a:lstStyle/>
                    <a:p>
                      <a:pPr indent="0" lvl="0" marL="0" marR="0" rtl="0" algn="l">
                        <a:spcBef>
                          <a:spcPts val="0"/>
                        </a:spcBef>
                        <a:spcAft>
                          <a:spcPts val="0"/>
                        </a:spcAft>
                        <a:buNone/>
                      </a:pPr>
                      <a:r>
                        <a:rPr lang="en-GB" sz="1200"/>
                        <a:t>d) 9, 36 and 45</a:t>
                      </a:r>
                      <a:endParaRPr/>
                    </a:p>
                  </a:txBody>
                  <a:tcPr marT="45725" marB="45725" marR="91450" marL="91450"/>
                </a:tc>
                <a:tc>
                  <a:txBody>
                    <a:bodyPr/>
                    <a:lstStyle/>
                    <a:p>
                      <a:pPr indent="0" lvl="0" marL="0" marR="0" rtl="0" algn="l">
                        <a:spcBef>
                          <a:spcPts val="0"/>
                        </a:spcBef>
                        <a:spcAft>
                          <a:spcPts val="0"/>
                        </a:spcAft>
                        <a:buNone/>
                      </a:pPr>
                      <a:r>
                        <a:rPr lang="en-GB" sz="1200"/>
                        <a:t>e) 100, 125 and 200</a:t>
                      </a:r>
                      <a:endParaRPr/>
                    </a:p>
                  </a:txBody>
                  <a:tcPr marT="45725" marB="45725" marR="91450" marL="91450"/>
                </a:tc>
                <a:tc>
                  <a:txBody>
                    <a:bodyPr/>
                    <a:lstStyle/>
                    <a:p>
                      <a:pPr indent="0" lvl="0" marL="0" marR="0" rtl="0" algn="l">
                        <a:spcBef>
                          <a:spcPts val="0"/>
                        </a:spcBef>
                        <a:spcAft>
                          <a:spcPts val="0"/>
                        </a:spcAft>
                        <a:buNone/>
                      </a:pPr>
                      <a:r>
                        <a:rPr lang="en-GB" sz="1200"/>
                        <a:t>f) 56, 42 and 98</a:t>
                      </a:r>
                      <a:endParaRPr/>
                    </a:p>
                  </a:txBody>
                  <a:tcPr marT="45725" marB="45725" marR="91450" marL="91450"/>
                </a:tc>
              </a:tr>
              <a:tr h="1296000">
                <a:tc>
                  <a:txBody>
                    <a:bodyPr/>
                    <a:lstStyle/>
                    <a:p>
                      <a:pPr indent="0" lvl="0" marL="0" marR="0" rtl="0" algn="l">
                        <a:spcBef>
                          <a:spcPts val="0"/>
                        </a:spcBef>
                        <a:spcAft>
                          <a:spcPts val="0"/>
                        </a:spcAft>
                        <a:buNone/>
                      </a:pPr>
                      <a:r>
                        <a:rPr lang="en-GB" sz="1200"/>
                        <a:t>g) 80, 16 and 96</a:t>
                      </a:r>
                      <a:endParaRPr/>
                    </a:p>
                  </a:txBody>
                  <a:tcPr marT="45725" marB="45725" marR="91450" marL="91450"/>
                </a:tc>
                <a:tc>
                  <a:txBody>
                    <a:bodyPr/>
                    <a:lstStyle/>
                    <a:p>
                      <a:pPr indent="0" lvl="0" marL="0" marR="0" rtl="0" algn="l">
                        <a:spcBef>
                          <a:spcPts val="0"/>
                        </a:spcBef>
                        <a:spcAft>
                          <a:spcPts val="0"/>
                        </a:spcAft>
                        <a:buNone/>
                      </a:pPr>
                      <a:r>
                        <a:rPr lang="en-GB" sz="1200"/>
                        <a:t>h) 14, 49 and 7</a:t>
                      </a:r>
                      <a:endParaRPr/>
                    </a:p>
                  </a:txBody>
                  <a:tcPr marT="45725" marB="45725" marR="91450" marL="91450"/>
                </a:tc>
                <a:tc>
                  <a:txBody>
                    <a:bodyPr/>
                    <a:lstStyle/>
                    <a:p>
                      <a:pPr indent="0" lvl="0" marL="0" marR="0" rtl="0" algn="l">
                        <a:spcBef>
                          <a:spcPts val="0"/>
                        </a:spcBef>
                        <a:spcAft>
                          <a:spcPts val="0"/>
                        </a:spcAft>
                        <a:buNone/>
                      </a:pPr>
                      <a:r>
                        <a:rPr lang="en-GB" sz="1200"/>
                        <a:t>i) 4, 37 and 51</a:t>
                      </a:r>
                      <a:endParaRPr/>
                    </a:p>
                  </a:txBody>
                  <a:tcPr marT="45725" marB="45725" marR="91450" marL="91450"/>
                </a:tc>
              </a:tr>
            </a:tbl>
          </a:graphicData>
        </a:graphic>
      </p:graphicFrame>
      <p:sp>
        <p:nvSpPr>
          <p:cNvPr id="231" name="Google Shape;231;p20"/>
          <p:cNvSpPr txBox="1"/>
          <p:nvPr/>
        </p:nvSpPr>
        <p:spPr>
          <a:xfrm>
            <a:off x="250755" y="5929625"/>
            <a:ext cx="187032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alibri"/>
              <a:buNone/>
            </a:pPr>
            <a:r>
              <a:rPr b="1" i="0" lang="en-GB" sz="1800" u="none" cap="none" strike="noStrike">
                <a:solidFill>
                  <a:srgbClr val="FF0000"/>
                </a:solidFill>
                <a:latin typeface="Calibri"/>
                <a:ea typeface="Calibri"/>
                <a:cs typeface="Calibri"/>
                <a:sym typeface="Calibri"/>
              </a:rPr>
              <a:t>HCF = 4</a:t>
            </a:r>
            <a:endParaRPr/>
          </a:p>
        </p:txBody>
      </p:sp>
      <p:sp>
        <p:nvSpPr>
          <p:cNvPr id="232" name="Google Shape;232;p20"/>
          <p:cNvSpPr txBox="1"/>
          <p:nvPr/>
        </p:nvSpPr>
        <p:spPr>
          <a:xfrm>
            <a:off x="2429354" y="5929625"/>
            <a:ext cx="187032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alibri"/>
              <a:buNone/>
            </a:pPr>
            <a:r>
              <a:rPr b="1" i="0" lang="en-GB" sz="1800" u="none" cap="none" strike="noStrike">
                <a:solidFill>
                  <a:srgbClr val="FF0000"/>
                </a:solidFill>
                <a:latin typeface="Calibri"/>
                <a:ea typeface="Calibri"/>
                <a:cs typeface="Calibri"/>
                <a:sym typeface="Calibri"/>
              </a:rPr>
              <a:t>HCF = 1</a:t>
            </a:r>
            <a:endParaRPr/>
          </a:p>
        </p:txBody>
      </p:sp>
      <p:sp>
        <p:nvSpPr>
          <p:cNvPr id="233" name="Google Shape;233;p20"/>
          <p:cNvSpPr txBox="1"/>
          <p:nvPr/>
        </p:nvSpPr>
        <p:spPr>
          <a:xfrm>
            <a:off x="4607550" y="5929625"/>
            <a:ext cx="187032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alibri"/>
              <a:buNone/>
            </a:pPr>
            <a:r>
              <a:rPr b="1" i="0" lang="en-GB" sz="1800" u="none" cap="none" strike="noStrike">
                <a:solidFill>
                  <a:srgbClr val="FF0000"/>
                </a:solidFill>
                <a:latin typeface="Calibri"/>
                <a:ea typeface="Calibri"/>
                <a:cs typeface="Calibri"/>
                <a:sym typeface="Calibri"/>
              </a:rPr>
              <a:t>HCF = 6</a:t>
            </a:r>
            <a:endParaRPr/>
          </a:p>
        </p:txBody>
      </p:sp>
      <p:sp>
        <p:nvSpPr>
          <p:cNvPr id="234" name="Google Shape;234;p20"/>
          <p:cNvSpPr txBox="1"/>
          <p:nvPr/>
        </p:nvSpPr>
        <p:spPr>
          <a:xfrm>
            <a:off x="315239" y="7290663"/>
            <a:ext cx="187032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alibri"/>
              <a:buNone/>
            </a:pPr>
            <a:r>
              <a:rPr b="1" i="0" lang="en-GB" sz="1800" u="none" cap="none" strike="noStrike">
                <a:solidFill>
                  <a:srgbClr val="FF0000"/>
                </a:solidFill>
                <a:latin typeface="Calibri"/>
                <a:ea typeface="Calibri"/>
                <a:cs typeface="Calibri"/>
                <a:sym typeface="Calibri"/>
              </a:rPr>
              <a:t>HCF = 9</a:t>
            </a:r>
            <a:endParaRPr/>
          </a:p>
        </p:txBody>
      </p:sp>
      <p:sp>
        <p:nvSpPr>
          <p:cNvPr id="235" name="Google Shape;235;p20"/>
          <p:cNvSpPr txBox="1"/>
          <p:nvPr/>
        </p:nvSpPr>
        <p:spPr>
          <a:xfrm>
            <a:off x="2493838" y="7290663"/>
            <a:ext cx="187032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alibri"/>
              <a:buNone/>
            </a:pPr>
            <a:r>
              <a:rPr b="1" i="0" lang="en-GB" sz="1800" u="none" cap="none" strike="noStrike">
                <a:solidFill>
                  <a:srgbClr val="FF0000"/>
                </a:solidFill>
                <a:latin typeface="Calibri"/>
                <a:ea typeface="Calibri"/>
                <a:cs typeface="Calibri"/>
                <a:sym typeface="Calibri"/>
              </a:rPr>
              <a:t>HCF = 25</a:t>
            </a:r>
            <a:endParaRPr/>
          </a:p>
        </p:txBody>
      </p:sp>
      <p:sp>
        <p:nvSpPr>
          <p:cNvPr id="236" name="Google Shape;236;p20"/>
          <p:cNvSpPr txBox="1"/>
          <p:nvPr/>
        </p:nvSpPr>
        <p:spPr>
          <a:xfrm>
            <a:off x="4672034" y="7290663"/>
            <a:ext cx="187032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alibri"/>
              <a:buNone/>
            </a:pPr>
            <a:r>
              <a:rPr b="1" i="0" lang="en-GB" sz="1800" u="none" cap="none" strike="noStrike">
                <a:solidFill>
                  <a:srgbClr val="FF0000"/>
                </a:solidFill>
                <a:latin typeface="Calibri"/>
                <a:ea typeface="Calibri"/>
                <a:cs typeface="Calibri"/>
                <a:sym typeface="Calibri"/>
              </a:rPr>
              <a:t>HCF = 7</a:t>
            </a:r>
            <a:endParaRPr/>
          </a:p>
        </p:txBody>
      </p:sp>
      <p:sp>
        <p:nvSpPr>
          <p:cNvPr id="237" name="Google Shape;237;p20"/>
          <p:cNvSpPr txBox="1"/>
          <p:nvPr/>
        </p:nvSpPr>
        <p:spPr>
          <a:xfrm>
            <a:off x="259484" y="8629463"/>
            <a:ext cx="187032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alibri"/>
              <a:buNone/>
            </a:pPr>
            <a:r>
              <a:rPr b="1" i="0" lang="en-GB" sz="1800" u="none" cap="none" strike="noStrike">
                <a:solidFill>
                  <a:srgbClr val="FF0000"/>
                </a:solidFill>
                <a:latin typeface="Calibri"/>
                <a:ea typeface="Calibri"/>
                <a:cs typeface="Calibri"/>
                <a:sym typeface="Calibri"/>
              </a:rPr>
              <a:t>HCF = 16</a:t>
            </a:r>
            <a:endParaRPr/>
          </a:p>
        </p:txBody>
      </p:sp>
      <p:sp>
        <p:nvSpPr>
          <p:cNvPr id="238" name="Google Shape;238;p20"/>
          <p:cNvSpPr txBox="1"/>
          <p:nvPr/>
        </p:nvSpPr>
        <p:spPr>
          <a:xfrm>
            <a:off x="2438083" y="8629463"/>
            <a:ext cx="187032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alibri"/>
              <a:buNone/>
            </a:pPr>
            <a:r>
              <a:rPr b="1" i="0" lang="en-GB" sz="1800" u="none" cap="none" strike="noStrike">
                <a:solidFill>
                  <a:srgbClr val="FF0000"/>
                </a:solidFill>
                <a:latin typeface="Calibri"/>
                <a:ea typeface="Calibri"/>
                <a:cs typeface="Calibri"/>
                <a:sym typeface="Calibri"/>
              </a:rPr>
              <a:t>HCF = 7</a:t>
            </a:r>
            <a:endParaRPr/>
          </a:p>
        </p:txBody>
      </p:sp>
      <p:sp>
        <p:nvSpPr>
          <p:cNvPr id="239" name="Google Shape;239;p20"/>
          <p:cNvSpPr txBox="1"/>
          <p:nvPr/>
        </p:nvSpPr>
        <p:spPr>
          <a:xfrm>
            <a:off x="4616279" y="8629463"/>
            <a:ext cx="187032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Calibri"/>
              <a:buNone/>
            </a:pPr>
            <a:r>
              <a:rPr b="1" i="0" lang="en-GB" sz="1800" u="none" cap="none" strike="noStrike">
                <a:solidFill>
                  <a:srgbClr val="FF0000"/>
                </a:solidFill>
                <a:latin typeface="Calibri"/>
                <a:ea typeface="Calibri"/>
                <a:cs typeface="Calibri"/>
                <a:sym typeface="Calibri"/>
              </a:rPr>
              <a:t>HCF = 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1"/>
          <p:cNvSpPr txBox="1"/>
          <p:nvPr>
            <p:ph idx="12" type="sldNum"/>
          </p:nvPr>
        </p:nvSpPr>
        <p:spPr>
          <a:xfrm>
            <a:off x="5196390"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45" name="Google Shape;245;p21"/>
          <p:cNvSpPr txBox="1"/>
          <p:nvPr/>
        </p:nvSpPr>
        <p:spPr>
          <a:xfrm>
            <a:off x="324852" y="185339"/>
            <a:ext cx="157812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6. Complete the table:</a:t>
            </a:r>
            <a:endParaRPr sz="1200">
              <a:solidFill>
                <a:schemeClr val="dk1"/>
              </a:solidFill>
              <a:latin typeface="Calibri"/>
              <a:ea typeface="Calibri"/>
              <a:cs typeface="Calibri"/>
              <a:sym typeface="Calibri"/>
            </a:endParaRPr>
          </a:p>
        </p:txBody>
      </p:sp>
      <p:pic>
        <p:nvPicPr>
          <p:cNvPr descr="A picture containing chart&#10;&#10;Description automatically generated" id="246" name="Google Shape;246;p21"/>
          <p:cNvPicPr preferRelativeResize="0"/>
          <p:nvPr/>
        </p:nvPicPr>
        <p:blipFill rotWithShape="1">
          <a:blip r:embed="rId3">
            <a:alphaModFix/>
          </a:blip>
          <a:srcRect b="0" l="0" r="0" t="9484"/>
          <a:stretch/>
        </p:blipFill>
        <p:spPr>
          <a:xfrm>
            <a:off x="166963" y="5715629"/>
            <a:ext cx="6572477" cy="3776159"/>
          </a:xfrm>
          <a:prstGeom prst="rect">
            <a:avLst/>
          </a:prstGeom>
          <a:noFill/>
          <a:ln>
            <a:noFill/>
          </a:ln>
        </p:spPr>
      </p:pic>
      <p:pic>
        <p:nvPicPr>
          <p:cNvPr id="247" name="Google Shape;247;p21"/>
          <p:cNvPicPr preferRelativeResize="0"/>
          <p:nvPr/>
        </p:nvPicPr>
        <p:blipFill rotWithShape="1">
          <a:blip r:embed="rId4">
            <a:alphaModFix/>
          </a:blip>
          <a:srcRect b="0" l="0" r="0" t="0"/>
          <a:stretch/>
        </p:blipFill>
        <p:spPr>
          <a:xfrm>
            <a:off x="1403459" y="610791"/>
            <a:ext cx="4051082" cy="492780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graphicFrame>
        <p:nvGraphicFramePr>
          <p:cNvPr id="252" name="Google Shape;252;p22"/>
          <p:cNvGraphicFramePr/>
          <p:nvPr/>
        </p:nvGraphicFramePr>
        <p:xfrm>
          <a:off x="281763" y="584971"/>
          <a:ext cx="3000000" cy="3000000"/>
        </p:xfrm>
        <a:graphic>
          <a:graphicData uri="http://schemas.openxmlformats.org/drawingml/2006/table">
            <a:tbl>
              <a:tblPr>
                <a:noFill/>
                <a:tableStyleId>{07E774F5-8BCA-4ED4-ADEC-BDBF87717BEF}</a:tableStyleId>
              </a:tblPr>
              <a:tblGrid>
                <a:gridCol w="6294475"/>
              </a:tblGrid>
              <a:tr h="281300">
                <a:tc>
                  <a:txBody>
                    <a:bodyPr/>
                    <a:lstStyle/>
                    <a:p>
                      <a:pPr indent="0" lvl="0" marL="0" marR="0" rtl="0" algn="l">
                        <a:lnSpc>
                          <a:spcPct val="100000"/>
                        </a:lnSpc>
                        <a:spcBef>
                          <a:spcPts val="0"/>
                        </a:spcBef>
                        <a:spcAft>
                          <a:spcPts val="0"/>
                        </a:spcAft>
                        <a:buClr>
                          <a:schemeClr val="dk1"/>
                        </a:buClr>
                        <a:buSzPts val="1200"/>
                        <a:buFont typeface="Calibri"/>
                        <a:buNone/>
                      </a:pPr>
                      <a:r>
                        <a:rPr lang="en-GB" sz="1200"/>
                        <a:t>a) Martin says that 6 is a common factor of 42, 36 and 50. Is he correct?</a:t>
                      </a:r>
                      <a:endParaRPr/>
                    </a:p>
                  </a:txBody>
                  <a:tcPr marT="45725" marB="45725" marR="91450" marL="91450"/>
                </a:tc>
              </a:tr>
              <a:tr h="1764000">
                <a:tc>
                  <a:txBody>
                    <a:bodyPr/>
                    <a:lstStyle/>
                    <a:p>
                      <a:pPr indent="0" lvl="0" marL="0" marR="0" rtl="0" algn="l">
                        <a:spcBef>
                          <a:spcPts val="0"/>
                        </a:spcBef>
                        <a:spcAft>
                          <a:spcPts val="0"/>
                        </a:spcAft>
                        <a:buNone/>
                      </a:pPr>
                      <a:r>
                        <a:t/>
                      </a:r>
                      <a:endParaRPr sz="1200"/>
                    </a:p>
                  </a:txBody>
                  <a:tcPr marT="45725" marB="45725" marR="91450" marL="91450"/>
                </a:tc>
              </a:tr>
              <a:tr h="670725">
                <a:tc>
                  <a:txBody>
                    <a:bodyPr/>
                    <a:lstStyle/>
                    <a:p>
                      <a:pPr indent="0" lvl="0" marL="0" marR="0" rtl="0" algn="l">
                        <a:lnSpc>
                          <a:spcPct val="100000"/>
                        </a:lnSpc>
                        <a:spcBef>
                          <a:spcPts val="0"/>
                        </a:spcBef>
                        <a:spcAft>
                          <a:spcPts val="0"/>
                        </a:spcAft>
                        <a:buClr>
                          <a:schemeClr val="dk1"/>
                        </a:buClr>
                        <a:buSzPts val="1200"/>
                        <a:buFont typeface="Calibri"/>
                        <a:buNone/>
                      </a:pPr>
                      <a:r>
                        <a:rPr lang="en-GB" sz="1200"/>
                        <a:t>b) An aid effort shares food and drink equally to each person in a refugee camp. If the total ration for a day is 136 apples, 204 oat biscuits and 340 small bottles of water, how many refugees are there in the camp?</a:t>
                      </a:r>
                      <a:endParaRPr/>
                    </a:p>
                  </a:txBody>
                  <a:tcPr marT="45725" marB="45725" marR="91450" marL="91450"/>
                </a:tc>
              </a:tr>
              <a:tr h="1764000">
                <a:tc>
                  <a:txBody>
                    <a:bodyPr/>
                    <a:lstStyle/>
                    <a:p>
                      <a:pPr indent="0" lvl="0" marL="0" marR="0" rtl="0" algn="l">
                        <a:spcBef>
                          <a:spcPts val="0"/>
                        </a:spcBef>
                        <a:spcAft>
                          <a:spcPts val="0"/>
                        </a:spcAft>
                        <a:buNone/>
                      </a:pPr>
                      <a:r>
                        <a:t/>
                      </a:r>
                      <a:endParaRPr sz="1200"/>
                    </a:p>
                  </a:txBody>
                  <a:tcPr marT="45725" marB="45725" marR="91450" marL="91450"/>
                </a:tc>
              </a:tr>
              <a:tr h="384175">
                <a:tc>
                  <a:txBody>
                    <a:bodyPr/>
                    <a:lstStyle/>
                    <a:p>
                      <a:pPr indent="0" lvl="0" marL="0" marR="0" rtl="0" algn="l">
                        <a:spcBef>
                          <a:spcPts val="0"/>
                        </a:spcBef>
                        <a:spcAft>
                          <a:spcPts val="0"/>
                        </a:spcAft>
                        <a:buNone/>
                      </a:pPr>
                      <a:r>
                        <a:rPr lang="en-GB" sz="1200"/>
                        <a:t>c) 249 blue smarties, 252 pink smarties and 210 yellow smarties are shared equally among some students with none left over. What is the largest possible number of students?</a:t>
                      </a:r>
                      <a:endParaRPr/>
                    </a:p>
                  </a:txBody>
                  <a:tcPr marT="45725" marB="45725" marR="91450" marL="91450"/>
                </a:tc>
              </a:tr>
              <a:tr h="1764000">
                <a:tc>
                  <a:txBody>
                    <a:bodyPr/>
                    <a:lstStyle/>
                    <a:p>
                      <a:pPr indent="0" lvl="0" marL="0" marR="0" rtl="0" algn="ctr">
                        <a:spcBef>
                          <a:spcPts val="0"/>
                        </a:spcBef>
                        <a:spcAft>
                          <a:spcPts val="0"/>
                        </a:spcAft>
                        <a:buNone/>
                      </a:pPr>
                      <a:r>
                        <a:t/>
                      </a:r>
                      <a:endParaRPr b="1" sz="1200">
                        <a:solidFill>
                          <a:srgbClr val="FF0000"/>
                        </a:solidFill>
                      </a:endParaRPr>
                    </a:p>
                  </a:txBody>
                  <a:tcPr marT="45725" marB="45725" marR="91450" marL="91450"/>
                </a:tc>
              </a:tr>
              <a:tr h="492950">
                <a:tc>
                  <a:txBody>
                    <a:bodyPr/>
                    <a:lstStyle/>
                    <a:p>
                      <a:pPr indent="0" lvl="0" marL="0" marR="0" rtl="0" algn="l">
                        <a:spcBef>
                          <a:spcPts val="0"/>
                        </a:spcBef>
                        <a:spcAft>
                          <a:spcPts val="0"/>
                        </a:spcAft>
                        <a:buNone/>
                      </a:pPr>
                      <a:r>
                        <a:rPr lang="en-GB" sz="1200"/>
                        <a:t>d) Three planks are to be cut into pieces of all the same size. The planks have lengths 84cm, 156cm and 180cm. What is the greatest possible length of each piece?</a:t>
                      </a:r>
                      <a:endParaRPr/>
                    </a:p>
                  </a:txBody>
                  <a:tcPr marT="45725" marB="45725" marR="91450" marL="91450"/>
                </a:tc>
              </a:tr>
              <a:tr h="1764000">
                <a:tc>
                  <a:txBody>
                    <a:bodyPr/>
                    <a:lstStyle/>
                    <a:p>
                      <a:pPr indent="0" lvl="0" marL="0" marR="0" rtl="0" algn="l">
                        <a:spcBef>
                          <a:spcPts val="0"/>
                        </a:spcBef>
                        <a:spcAft>
                          <a:spcPts val="0"/>
                        </a:spcAft>
                        <a:buNone/>
                      </a:pPr>
                      <a:r>
                        <a:t/>
                      </a:r>
                      <a:endParaRPr sz="1200"/>
                    </a:p>
                  </a:txBody>
                  <a:tcPr marT="45725" marB="45725" marR="91450" marL="91450"/>
                </a:tc>
              </a:tr>
            </a:tbl>
          </a:graphicData>
        </a:graphic>
      </p:graphicFrame>
      <p:sp>
        <p:nvSpPr>
          <p:cNvPr id="253" name="Google Shape;253;p22"/>
          <p:cNvSpPr txBox="1"/>
          <p:nvPr>
            <p:ph idx="12" type="sldNum"/>
          </p:nvPr>
        </p:nvSpPr>
        <p:spPr>
          <a:xfrm>
            <a:off x="5314950" y="944509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54" name="Google Shape;254;p22"/>
          <p:cNvSpPr txBox="1"/>
          <p:nvPr/>
        </p:nvSpPr>
        <p:spPr>
          <a:xfrm>
            <a:off x="239233" y="197200"/>
            <a:ext cx="588107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7. Answer the following questions:</a:t>
            </a:r>
            <a:endParaRPr/>
          </a:p>
        </p:txBody>
      </p:sp>
      <p:sp>
        <p:nvSpPr>
          <p:cNvPr id="255" name="Google Shape;255;p22"/>
          <p:cNvSpPr txBox="1"/>
          <p:nvPr/>
        </p:nvSpPr>
        <p:spPr>
          <a:xfrm>
            <a:off x="2104951" y="956667"/>
            <a:ext cx="3433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No. 6 is not a factor of 50.</a:t>
            </a:r>
            <a:endParaRPr/>
          </a:p>
        </p:txBody>
      </p:sp>
      <p:sp>
        <p:nvSpPr>
          <p:cNvPr id="256" name="Google Shape;256;p22"/>
          <p:cNvSpPr txBox="1"/>
          <p:nvPr/>
        </p:nvSpPr>
        <p:spPr>
          <a:xfrm>
            <a:off x="2971225" y="3355772"/>
            <a:ext cx="3433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68</a:t>
            </a:r>
            <a:endParaRPr/>
          </a:p>
        </p:txBody>
      </p:sp>
      <p:sp>
        <p:nvSpPr>
          <p:cNvPr id="257" name="Google Shape;257;p22"/>
          <p:cNvSpPr txBox="1"/>
          <p:nvPr/>
        </p:nvSpPr>
        <p:spPr>
          <a:xfrm>
            <a:off x="2687302" y="7839540"/>
            <a:ext cx="3433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12cm each</a:t>
            </a:r>
            <a:endParaRPr/>
          </a:p>
        </p:txBody>
      </p:sp>
      <p:sp>
        <p:nvSpPr>
          <p:cNvPr id="258" name="Google Shape;258;p22"/>
          <p:cNvSpPr txBox="1"/>
          <p:nvPr/>
        </p:nvSpPr>
        <p:spPr>
          <a:xfrm>
            <a:off x="2971225" y="5597656"/>
            <a:ext cx="3433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3"/>
          <p:cNvSpPr txBox="1"/>
          <p:nvPr>
            <p:ph idx="12" type="sldNum"/>
          </p:nvPr>
        </p:nvSpPr>
        <p:spPr>
          <a:xfrm>
            <a:off x="5351046" y="9532895"/>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64" name="Google Shape;264;p23"/>
          <p:cNvSpPr/>
          <p:nvPr/>
        </p:nvSpPr>
        <p:spPr>
          <a:xfrm>
            <a:off x="92706" y="86595"/>
            <a:ext cx="4673297" cy="27699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Identifying the skill – LCM and HCF mixed practice</a:t>
            </a:r>
            <a:endParaRPr/>
          </a:p>
        </p:txBody>
      </p:sp>
      <p:graphicFrame>
        <p:nvGraphicFramePr>
          <p:cNvPr id="265" name="Google Shape;265;p23"/>
          <p:cNvGraphicFramePr/>
          <p:nvPr/>
        </p:nvGraphicFramePr>
        <p:xfrm>
          <a:off x="92706" y="1032804"/>
          <a:ext cx="3000000" cy="3000000"/>
        </p:xfrm>
        <a:graphic>
          <a:graphicData uri="http://schemas.openxmlformats.org/drawingml/2006/table">
            <a:tbl>
              <a:tblPr bandRow="1" firstRow="1">
                <a:noFill/>
                <a:tableStyleId>{2DC771C0-CED5-432C-8AED-CE906F9E3FF0}</a:tableStyleId>
              </a:tblPr>
              <a:tblGrid>
                <a:gridCol w="6618650"/>
              </a:tblGrid>
              <a:tr h="290675">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a) Rehan likes collecting marbles. Swirler marbles come in packs of 15. Fish-eye Marbles come in packs of 25. Rehan wants the same number of Swirlers as Fish-eyes. What is the smallest number of each pack that Rehan can buy?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40000">
                <a:tc>
                  <a:txBody>
                    <a:bodyPr/>
                    <a:lstStyle/>
                    <a:p>
                      <a:pPr indent="0" lvl="0" marL="0" marR="0" rtl="0" algn="l">
                        <a:spcBef>
                          <a:spcPts val="0"/>
                        </a:spcBef>
                        <a:spcAft>
                          <a:spcPts val="0"/>
                        </a:spcAft>
                        <a:buNone/>
                      </a:pPr>
                      <a:r>
                        <a:rPr b="0" lang="en-GB" sz="1200">
                          <a:solidFill>
                            <a:schemeClr val="dk1"/>
                          </a:solidFill>
                        </a:rPr>
                        <a:t>LCM / HCF</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38250">
                <a:tc>
                  <a:txBody>
                    <a:bodyPr/>
                    <a:lstStyle/>
                    <a:p>
                      <a:pPr indent="0" lvl="0" marL="0" marR="0" rtl="0" algn="l">
                        <a:spcBef>
                          <a:spcPts val="0"/>
                        </a:spcBef>
                        <a:spcAft>
                          <a:spcPts val="0"/>
                        </a:spcAft>
                        <a:buNone/>
                      </a:pPr>
                      <a:r>
                        <a:rPr b="0" lang="en-GB" sz="1200">
                          <a:solidFill>
                            <a:schemeClr val="dk1"/>
                          </a:solidFill>
                        </a:rPr>
                        <a:t>b) Sophie is organising a charity hot dog sale. There are 18 bread rolls in each packet. There are 15 hot dog rolls in each packet. Sophie buys exactly the same number of bread rolls as hot dogs. What is the smallest number of each packet that Sophie can buy?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40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LCM / HCF</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50325">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c) </a:t>
                      </a:r>
                      <a:r>
                        <a:rPr b="0" i="0" lang="en-GB" sz="1200">
                          <a:solidFill>
                            <a:srgbClr val="000000"/>
                          </a:solidFill>
                          <a:latin typeface="Calibri"/>
                          <a:ea typeface="Calibri"/>
                          <a:cs typeface="Calibri"/>
                          <a:sym typeface="Calibri"/>
                        </a:rPr>
                        <a:t>Two wires are 12 m and 16 m long. The wires are to be cut into pieces of equal length. Find the maximum length of each piece.</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40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LCM / HCF</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50350">
                <a:tc>
                  <a:txBody>
                    <a:bodyPr/>
                    <a:lstStyle/>
                    <a:p>
                      <a:pPr indent="0" lvl="0" marL="0" marR="0" rtl="0" algn="l">
                        <a:spcBef>
                          <a:spcPts val="0"/>
                        </a:spcBef>
                        <a:spcAft>
                          <a:spcPts val="0"/>
                        </a:spcAft>
                        <a:buNone/>
                      </a:pPr>
                      <a:r>
                        <a:rPr b="0" lang="en-GB" sz="1200">
                          <a:solidFill>
                            <a:schemeClr val="dk1"/>
                          </a:solidFill>
                        </a:rPr>
                        <a:t>d) </a:t>
                      </a:r>
                      <a:r>
                        <a:rPr lang="en-GB" sz="1200"/>
                        <a:t>Rita is going to make some cheeseburgers for a party. She buys some packets of cheese slices and some boxes of burgers. There are 20 cheese slices in each packet. There are 12 burgers in each box. Rita buys exactly the same number of cheese slices and burgers. a. How many packets of cheese slices and how many boxes of burgers does she buy? b. Rita wants to put one cheese slice and one burger into each bread roll. She wants to use all the cheese slices and all the burgers. How many bread rolls does Rita need?</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40000">
                <a:tc>
                  <a:txBody>
                    <a:bodyPr/>
                    <a:lstStyle/>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LCM / HCF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66" name="Google Shape;266;p23"/>
          <p:cNvSpPr txBox="1"/>
          <p:nvPr/>
        </p:nvSpPr>
        <p:spPr>
          <a:xfrm>
            <a:off x="36096" y="386473"/>
            <a:ext cx="689409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8. For each question, circle whether you need to find the highest common factor or the lowest common multiple. Once you have done this for all questions, go back through and work out the answers to the problems. :</a:t>
            </a:r>
            <a:endParaRPr/>
          </a:p>
        </p:txBody>
      </p:sp>
      <p:sp>
        <p:nvSpPr>
          <p:cNvPr id="267" name="Google Shape;267;p23"/>
          <p:cNvSpPr/>
          <p:nvPr/>
        </p:nvSpPr>
        <p:spPr>
          <a:xfrm>
            <a:off x="92706" y="2201779"/>
            <a:ext cx="400589" cy="348916"/>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 name="Google Shape;268;p23"/>
          <p:cNvSpPr/>
          <p:nvPr/>
        </p:nvSpPr>
        <p:spPr>
          <a:xfrm>
            <a:off x="92706" y="4264723"/>
            <a:ext cx="400589" cy="348916"/>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23"/>
          <p:cNvSpPr/>
          <p:nvPr/>
        </p:nvSpPr>
        <p:spPr>
          <a:xfrm>
            <a:off x="493295" y="6153209"/>
            <a:ext cx="400589" cy="348916"/>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23"/>
          <p:cNvSpPr/>
          <p:nvPr/>
        </p:nvSpPr>
        <p:spPr>
          <a:xfrm>
            <a:off x="113222" y="8784586"/>
            <a:ext cx="400589" cy="348916"/>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1" name="Google Shape;271;p23"/>
          <p:cNvSpPr txBox="1"/>
          <p:nvPr/>
        </p:nvSpPr>
        <p:spPr>
          <a:xfrm>
            <a:off x="2689561" y="2201779"/>
            <a:ext cx="343301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 packs of Swirler</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3 packs of Fish-eye</a:t>
            </a:r>
            <a:endParaRPr/>
          </a:p>
        </p:txBody>
      </p:sp>
      <p:sp>
        <p:nvSpPr>
          <p:cNvPr id="272" name="Google Shape;272;p23"/>
          <p:cNvSpPr txBox="1"/>
          <p:nvPr/>
        </p:nvSpPr>
        <p:spPr>
          <a:xfrm>
            <a:off x="3049498" y="4152636"/>
            <a:ext cx="343301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 packets of bread rolls</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6 packets of hot dog rolls</a:t>
            </a:r>
            <a:endParaRPr/>
          </a:p>
        </p:txBody>
      </p:sp>
      <p:sp>
        <p:nvSpPr>
          <p:cNvPr id="273" name="Google Shape;273;p23"/>
          <p:cNvSpPr txBox="1"/>
          <p:nvPr/>
        </p:nvSpPr>
        <p:spPr>
          <a:xfrm>
            <a:off x="3278354" y="6192007"/>
            <a:ext cx="3433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4m pieces</a:t>
            </a:r>
            <a:endParaRPr/>
          </a:p>
        </p:txBody>
      </p:sp>
      <p:sp>
        <p:nvSpPr>
          <p:cNvPr id="274" name="Google Shape;274;p23"/>
          <p:cNvSpPr txBox="1"/>
          <p:nvPr/>
        </p:nvSpPr>
        <p:spPr>
          <a:xfrm>
            <a:off x="2600305" y="8461420"/>
            <a:ext cx="343301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a) 3 packets of cheese slices</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    5 boxes of burgers</a:t>
            </a:r>
            <a:endParaRPr/>
          </a:p>
          <a:p>
            <a:pPr indent="0" lvl="0" marL="0" marR="0" rtl="0" algn="l">
              <a:spcBef>
                <a:spcPts val="0"/>
              </a:spcBef>
              <a:spcAft>
                <a:spcPts val="0"/>
              </a:spcAft>
              <a:buNone/>
            </a:pPr>
            <a:r>
              <a:t/>
            </a:r>
            <a:endParaRPr b="1" sz="1800">
              <a:solidFill>
                <a:srgbClr val="FF0000"/>
              </a:solidFill>
              <a:latin typeface="Calibri"/>
              <a:ea typeface="Calibri"/>
              <a:cs typeface="Calibri"/>
              <a:sym typeface="Calibri"/>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b) 60 bread rolls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4"/>
          <p:cNvSpPr txBox="1"/>
          <p:nvPr>
            <p:ph idx="12" type="sldNum"/>
          </p:nvPr>
        </p:nvSpPr>
        <p:spPr>
          <a:xfrm>
            <a:off x="5303567" y="9502163"/>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80" name="Google Shape;280;p24"/>
          <p:cNvGraphicFramePr/>
          <p:nvPr/>
        </p:nvGraphicFramePr>
        <p:xfrm>
          <a:off x="119671" y="116071"/>
          <a:ext cx="3000000" cy="3000000"/>
        </p:xfrm>
        <a:graphic>
          <a:graphicData uri="http://schemas.openxmlformats.org/drawingml/2006/table">
            <a:tbl>
              <a:tblPr bandRow="1" firstRow="1">
                <a:noFill/>
                <a:tableStyleId>{2DC771C0-CED5-432C-8AED-CE906F9E3FF0}</a:tableStyleId>
              </a:tblPr>
              <a:tblGrid>
                <a:gridCol w="6618650"/>
              </a:tblGrid>
              <a:tr h="274450">
                <a:tc>
                  <a:txBody>
                    <a:bodyPr/>
                    <a:lstStyle/>
                    <a:p>
                      <a:pPr indent="0" lvl="0" marL="0" marR="0" rtl="0" algn="l">
                        <a:spcBef>
                          <a:spcPts val="0"/>
                        </a:spcBef>
                        <a:spcAft>
                          <a:spcPts val="0"/>
                        </a:spcAft>
                        <a:buNone/>
                      </a:pPr>
                      <a:r>
                        <a:rPr b="0" lang="en-GB" sz="1200">
                          <a:solidFill>
                            <a:schemeClr val="dk1"/>
                          </a:solidFill>
                        </a:rPr>
                        <a:t>e) Rachel has 24 red candies and Maya has 18 green candies. They want to arrange the candies in such a way that each row contains an equal number of candies and also each row should have only red candies or green candies. What is the greatest number of candies that can be arranged in each row?</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60000">
                <a:tc>
                  <a:txBody>
                    <a:bodyPr/>
                    <a:lstStyle/>
                    <a:p>
                      <a:pPr indent="0" lvl="0" marL="0" marR="0" rtl="0" algn="l">
                        <a:spcBef>
                          <a:spcPts val="0"/>
                        </a:spcBef>
                        <a:spcAft>
                          <a:spcPts val="0"/>
                        </a:spcAft>
                        <a:buNone/>
                      </a:pPr>
                      <a:r>
                        <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LCM / HCF</a:t>
                      </a:r>
                      <a:endParaRPr/>
                    </a:p>
                    <a:p>
                      <a:pPr indent="0" lvl="0" marL="0" marR="0" rtl="0" algn="l">
                        <a:spcBef>
                          <a:spcPts val="0"/>
                        </a:spcBef>
                        <a:spcAft>
                          <a:spcPts val="0"/>
                        </a:spcAft>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38250">
                <a:tc>
                  <a:txBody>
                    <a:bodyPr/>
                    <a:lstStyle/>
                    <a:p>
                      <a:pPr indent="0" lvl="0" marL="0" marR="0" rtl="0" algn="l">
                        <a:spcBef>
                          <a:spcPts val="0"/>
                        </a:spcBef>
                        <a:spcAft>
                          <a:spcPts val="0"/>
                        </a:spcAft>
                        <a:buNone/>
                      </a:pPr>
                      <a:r>
                        <a:rPr b="0" lang="en-GB" sz="1200">
                          <a:solidFill>
                            <a:schemeClr val="dk1"/>
                          </a:solidFill>
                        </a:rPr>
                        <a:t>f)</a:t>
                      </a:r>
                      <a:r>
                        <a:rPr lang="en-GB" sz="1200"/>
                        <a:t> Egbert is making trail mix out of 18 bags of nuts and 9 bags of dried fruit. He wants each new portion of trail mix to be identical, containing the same combination of bags of nuts and bags of dried fruit, with no bags left over. What is the greatest number of portions of trail mix Egbert can make?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60000">
                <a:tc>
                  <a:txBody>
                    <a:bodyPr/>
                    <a:lstStyle/>
                    <a:p>
                      <a:pPr indent="0" lvl="0" marL="0" marR="0" rtl="0" algn="l">
                        <a:spcBef>
                          <a:spcPts val="0"/>
                        </a:spcBef>
                        <a:spcAft>
                          <a:spcPts val="0"/>
                        </a:spcAft>
                        <a:buNone/>
                      </a:pPr>
                      <a:r>
                        <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LCM / HCF</a:t>
                      </a:r>
                      <a:endParaRPr/>
                    </a:p>
                    <a:p>
                      <a:pPr indent="0" lvl="0" marL="0" marR="0" rtl="0" algn="l">
                        <a:spcBef>
                          <a:spcPts val="0"/>
                        </a:spcBef>
                        <a:spcAft>
                          <a:spcPts val="0"/>
                        </a:spcAft>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50325">
                <a:tc>
                  <a:txBody>
                    <a:bodyPr/>
                    <a:lstStyle/>
                    <a:p>
                      <a:pPr indent="0" lvl="0" marL="0" marR="0" rtl="0" algn="l">
                        <a:spcBef>
                          <a:spcPts val="0"/>
                        </a:spcBef>
                        <a:spcAft>
                          <a:spcPts val="0"/>
                        </a:spcAft>
                        <a:buNone/>
                      </a:pPr>
                      <a:r>
                        <a:rPr b="0" lang="en-GB" sz="1200">
                          <a:solidFill>
                            <a:schemeClr val="dk1"/>
                          </a:solidFill>
                        </a:rPr>
                        <a:t>g)</a:t>
                      </a:r>
                      <a:r>
                        <a:rPr lang="en-GB" sz="1200"/>
                        <a:t> Six friends are having dinner together in their local restaurant. The first eats there every day, the second eats there every other day, the third eats there every third day, the fourth eats there every fourth day, the fifth every fifth day and the sixth eats there every sixth day. They agree to have a party the next time they all eat together there. In how many days’ time is the party?</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60000">
                <a:tc>
                  <a:txBody>
                    <a:bodyPr/>
                    <a:lstStyle/>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LCM / HCF</a:t>
                      </a:r>
                      <a:endParaRPr/>
                    </a:p>
                    <a:p>
                      <a:pPr indent="0" lvl="0" marL="0" marR="0" rtl="0" algn="l">
                        <a:spcBef>
                          <a:spcPts val="0"/>
                        </a:spcBef>
                        <a:spcAft>
                          <a:spcPts val="0"/>
                        </a:spcAft>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50350">
                <a:tc>
                  <a:txBody>
                    <a:bodyPr/>
                    <a:lstStyle/>
                    <a:p>
                      <a:pPr indent="0" lvl="0" marL="0" marR="0" rtl="0" algn="l">
                        <a:spcBef>
                          <a:spcPts val="0"/>
                        </a:spcBef>
                        <a:spcAft>
                          <a:spcPts val="0"/>
                        </a:spcAft>
                        <a:buNone/>
                      </a:pPr>
                      <a:r>
                        <a:rPr b="0" lang="en-GB" sz="1200">
                          <a:solidFill>
                            <a:schemeClr val="dk1"/>
                          </a:solidFill>
                        </a:rPr>
                        <a:t>h) </a:t>
                      </a:r>
                      <a:r>
                        <a:rPr lang="en-GB" sz="1200"/>
                        <a:t>Boxes that are 12 inches tall are being stacked next to boxes that are 18 inches tall. What is the shortest height at which the two stacks will be the same height?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60000">
                <a:tc>
                  <a:txBody>
                    <a:bodyPr/>
                    <a:lstStyle/>
                    <a:p>
                      <a:pPr indent="0" lvl="0" marL="0" marR="0" rtl="0" algn="l">
                        <a:spcBef>
                          <a:spcPts val="0"/>
                        </a:spcBef>
                        <a:spcAft>
                          <a:spcPts val="0"/>
                        </a:spcAft>
                        <a:buNone/>
                      </a:pPr>
                      <a:r>
                        <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LCM / HCF</a:t>
                      </a:r>
                      <a:endParaRPr/>
                    </a:p>
                    <a:p>
                      <a:pPr indent="0" lvl="0" marL="0" marR="0" rtl="0" algn="l">
                        <a:spcBef>
                          <a:spcPts val="0"/>
                        </a:spcBef>
                        <a:spcAft>
                          <a:spcPts val="0"/>
                        </a:spcAft>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7450">
                <a:tc>
                  <a:txBody>
                    <a:bodyPr/>
                    <a:lstStyle/>
                    <a:p>
                      <a:pPr indent="0" lvl="0" marL="0" marR="0" rtl="0" algn="l">
                        <a:spcBef>
                          <a:spcPts val="0"/>
                        </a:spcBef>
                        <a:spcAft>
                          <a:spcPts val="0"/>
                        </a:spcAft>
                        <a:buNone/>
                      </a:pPr>
                      <a:r>
                        <a:rPr b="0" lang="en-GB" sz="1200">
                          <a:solidFill>
                            <a:schemeClr val="dk1"/>
                          </a:solidFill>
                        </a:rPr>
                        <a:t>i) </a:t>
                      </a:r>
                      <a:r>
                        <a:rPr lang="en-GB" sz="1200"/>
                        <a:t>For a dinner party, Abraham is creating individual servings of starters. He has 9 carrot sticks and 18 celery sticks. If he wants each serving to be identical, with no food left over, what is the greatest number of servings Abraham can create?</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60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LCM / HCF</a:t>
                      </a:r>
                      <a:endParaRPr/>
                    </a:p>
                    <a:p>
                      <a:pPr indent="0" lvl="0" marL="0" marR="0" rtl="0" algn="l">
                        <a:spcBef>
                          <a:spcPts val="0"/>
                        </a:spcBef>
                        <a:spcAft>
                          <a:spcPts val="0"/>
                        </a:spcAft>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81" name="Google Shape;281;p24"/>
          <p:cNvSpPr/>
          <p:nvPr/>
        </p:nvSpPr>
        <p:spPr>
          <a:xfrm>
            <a:off x="537874" y="1196670"/>
            <a:ext cx="400589" cy="348916"/>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24"/>
          <p:cNvSpPr/>
          <p:nvPr/>
        </p:nvSpPr>
        <p:spPr>
          <a:xfrm>
            <a:off x="537873" y="3121723"/>
            <a:ext cx="400589" cy="348916"/>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24"/>
          <p:cNvSpPr/>
          <p:nvPr/>
        </p:nvSpPr>
        <p:spPr>
          <a:xfrm>
            <a:off x="137284" y="5235798"/>
            <a:ext cx="400589" cy="348916"/>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4" name="Google Shape;284;p24"/>
          <p:cNvSpPr/>
          <p:nvPr/>
        </p:nvSpPr>
        <p:spPr>
          <a:xfrm>
            <a:off x="137284" y="6986393"/>
            <a:ext cx="400589" cy="348916"/>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24"/>
          <p:cNvSpPr/>
          <p:nvPr/>
        </p:nvSpPr>
        <p:spPr>
          <a:xfrm>
            <a:off x="537872" y="8709330"/>
            <a:ext cx="400589" cy="348916"/>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p24"/>
          <p:cNvSpPr txBox="1"/>
          <p:nvPr/>
        </p:nvSpPr>
        <p:spPr>
          <a:xfrm>
            <a:off x="2824814" y="1079132"/>
            <a:ext cx="3433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a:p>
        </p:txBody>
      </p:sp>
      <p:sp>
        <p:nvSpPr>
          <p:cNvPr id="287" name="Google Shape;287;p24"/>
          <p:cNvSpPr txBox="1"/>
          <p:nvPr/>
        </p:nvSpPr>
        <p:spPr>
          <a:xfrm>
            <a:off x="3108944" y="6617061"/>
            <a:ext cx="3433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36 inches</a:t>
            </a:r>
            <a:endParaRPr/>
          </a:p>
        </p:txBody>
      </p:sp>
      <p:sp>
        <p:nvSpPr>
          <p:cNvPr id="288" name="Google Shape;288;p24"/>
          <p:cNvSpPr txBox="1"/>
          <p:nvPr/>
        </p:nvSpPr>
        <p:spPr>
          <a:xfrm>
            <a:off x="3108944" y="8674950"/>
            <a:ext cx="3433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9 servings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