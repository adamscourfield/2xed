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DC9934-8B59-45FF-97CA-8DE436CF681E}">
  <a:tblStyle styleId="{80DC9934-8B59-45FF-97CA-8DE436CF681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4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4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 name="Google Shape;29;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6"/>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9" name="Google Shape;39;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7"/>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7"/>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aphicFrame>
        <p:nvGraphicFramePr>
          <p:cNvPr id="89" name="Google Shape;89;p13"/>
          <p:cNvGraphicFramePr/>
          <p:nvPr/>
        </p:nvGraphicFramePr>
        <p:xfrm>
          <a:off x="78741" y="6003916"/>
          <a:ext cx="3000000" cy="3000000"/>
        </p:xfrm>
        <a:graphic>
          <a:graphicData uri="http://schemas.openxmlformats.org/drawingml/2006/table">
            <a:tbl>
              <a:tblPr bandRow="1" firstRow="1">
                <a:noFill/>
                <a:tableStyleId>{80DC9934-8B59-45FF-97CA-8DE436CF681E}</a:tableStyleId>
              </a:tblPr>
              <a:tblGrid>
                <a:gridCol w="1045200"/>
                <a:gridCol w="1879500"/>
                <a:gridCol w="1879500"/>
                <a:gridCol w="1879500"/>
              </a:tblGrid>
              <a:tr h="830200">
                <a:tc rowSpan="2">
                  <a:txBody>
                    <a:bodyPr/>
                    <a:lstStyle/>
                    <a:p>
                      <a:pPr indent="0" lvl="0" marL="0" marR="0" rtl="0" algn="l">
                        <a:spcBef>
                          <a:spcPts val="0"/>
                        </a:spcBef>
                        <a:spcAft>
                          <a:spcPts val="0"/>
                        </a:spcAft>
                        <a:buNone/>
                      </a:pPr>
                      <a:r>
                        <a:rPr b="1" lang="en-GB" sz="1200">
                          <a:solidFill>
                            <a:schemeClr val="dk1"/>
                          </a:solidFill>
                        </a:rPr>
                        <a:t>Steps</a:t>
                      </a:r>
                      <a:endParaRPr b="0" sz="1200">
                        <a:solidFill>
                          <a:schemeClr val="dk1"/>
                        </a:solidFill>
                      </a:endParaRPr>
                    </a:p>
                    <a:p>
                      <a:pPr indent="0" lvl="0" marL="0" marR="0" rtl="0" algn="l">
                        <a:spcBef>
                          <a:spcPts val="0"/>
                        </a:spcBef>
                        <a:spcAft>
                          <a:spcPts val="0"/>
                        </a:spcAft>
                        <a:buClr>
                          <a:schemeClr val="dk1"/>
                        </a:buClr>
                        <a:buSzPts val="1200"/>
                        <a:buFont typeface="Calibri"/>
                        <a:buNone/>
                      </a:pPr>
                      <a:r>
                        <a:rPr b="0" lang="en-GB" sz="1200">
                          <a:solidFill>
                            <a:schemeClr val="dk1"/>
                          </a:solidFill>
                        </a:rPr>
                        <a:t>Look at the largest side of the symbol. This should be next to the largest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inequality shows that 4.3 is greater than 4.2.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4.2 &gt; 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inequality shows that 0.83 is greater than 0.803.</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0.803 &lt; 0.83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inequality shows that 0.739 is greater than 0.6.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0.6 &lt; 0.739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7250">
                <a:tc vMerge="1"/>
                <a:tc>
                  <a:txBody>
                    <a:bodyPr/>
                    <a:lstStyle/>
                    <a:p>
                      <a:pPr indent="0" lvl="0" marL="0" marR="0" rtl="0" algn="l">
                        <a:spcBef>
                          <a:spcPts val="0"/>
                        </a:spcBef>
                        <a:spcAft>
                          <a:spcPts val="0"/>
                        </a:spcAft>
                        <a:buNone/>
                      </a:pPr>
                      <a:r>
                        <a:t/>
                      </a:r>
                      <a:endParaRPr sz="1200">
                        <a:solidFill>
                          <a:schemeClr val="dk1"/>
                        </a:solidFill>
                      </a:endParaRPr>
                    </a:p>
                    <a:p>
                      <a:pPr indent="0" lvl="0" marL="0" marR="0" rtl="0" algn="ctr">
                        <a:spcBef>
                          <a:spcPts val="0"/>
                        </a:spcBef>
                        <a:spcAft>
                          <a:spcPts val="0"/>
                        </a:spcAft>
                        <a:buNone/>
                      </a:pPr>
                      <a:r>
                        <a:rPr b="1" lang="en-GB" sz="120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ctr">
                        <a:spcBef>
                          <a:spcPts val="0"/>
                        </a:spcBef>
                        <a:spcAft>
                          <a:spcPts val="0"/>
                        </a:spcAft>
                        <a:buNone/>
                      </a:pPr>
                      <a:r>
                        <a:rPr b="1" i="0" lang="en-GB" sz="1200" u="none" cap="none" strike="noStrike">
                          <a:solidFill>
                            <a:srgbClr val="FF0000"/>
                          </a:solidFill>
                          <a:latin typeface="Calibri"/>
                          <a:ea typeface="Calibri"/>
                          <a:cs typeface="Calibri"/>
                          <a:sym typeface="Calibri"/>
                        </a:rPr>
                        <a:t>True</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ctr">
                        <a:spcBef>
                          <a:spcPts val="0"/>
                        </a:spcBef>
                        <a:spcAft>
                          <a:spcPts val="0"/>
                        </a:spcAft>
                        <a:buNone/>
                      </a:pPr>
                      <a:r>
                        <a:rPr b="1" i="0" lang="en-GB" sz="1200" u="none" cap="none" strike="noStrike">
                          <a:solidFill>
                            <a:srgbClr val="FF0000"/>
                          </a:solidFill>
                          <a:latin typeface="Calibri"/>
                          <a:ea typeface="Calibri"/>
                          <a:cs typeface="Calibri"/>
                          <a:sym typeface="Calibri"/>
                        </a:rPr>
                        <a:t>True</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949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9250">
                <a:tc rowSpan="2">
                  <a:txBody>
                    <a:bodyPr/>
                    <a:lstStyle/>
                    <a:p>
                      <a:pPr indent="0" lvl="0" marL="0" marR="0" rtl="0" algn="l">
                        <a:lnSpc>
                          <a:spcPct val="100000"/>
                        </a:lnSpc>
                        <a:spcBef>
                          <a:spcPts val="0"/>
                        </a:spcBef>
                        <a:spcAft>
                          <a:spcPts val="0"/>
                        </a:spcAft>
                        <a:buClr>
                          <a:schemeClr val="dk1"/>
                        </a:buClr>
                        <a:buSzPts val="1200"/>
                        <a:buFont typeface="Calibri"/>
                        <a:buNone/>
                      </a:pPr>
                      <a:r>
                        <a:rPr b="1" lang="en-GB" sz="1200">
                          <a:solidFill>
                            <a:schemeClr val="dk1"/>
                          </a:solidFill>
                        </a:rPr>
                        <a:t>Steps</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Look at the smallest side of the symbol. This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inequality shows that 0.273 is less than 0.298.  </a:t>
                      </a:r>
                      <a:r>
                        <a:rPr b="1"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0.273 &lt; 0.298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inequality shows that 40.09 is less than 40.813. </a:t>
                      </a:r>
                      <a:r>
                        <a:rPr b="1"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40.09 &gt; 40.813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inequality shows that 5.06 is less than 5.076. </a:t>
                      </a:r>
                      <a:r>
                        <a:rPr b="1"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5.076 &lt; 5.06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54725">
                <a:tc vMerge="1"/>
                <a:tc>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1" i="0" lang="en-GB" sz="1400" u="none" cap="none" strike="noStrike">
                          <a:solidFill>
                            <a:srgbClr val="FF0000"/>
                          </a:solidFill>
                          <a:latin typeface="Calibri"/>
                          <a:ea typeface="Calibri"/>
                          <a:cs typeface="Calibri"/>
                          <a:sym typeface="Calibri"/>
                        </a:rPr>
                        <a:t>True</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1" i="0" sz="700" u="none" cap="none" strike="noStrike">
                        <a:solidFill>
                          <a:srgbClr val="FF0000"/>
                        </a:solidFill>
                        <a:latin typeface="Calibri"/>
                        <a:ea typeface="Calibri"/>
                        <a:cs typeface="Calibri"/>
                        <a:sym typeface="Calibri"/>
                      </a:endParaRPr>
                    </a:p>
                    <a:p>
                      <a:pPr indent="0" lvl="0" marL="0" marR="0" rtl="0" algn="ctr">
                        <a:spcBef>
                          <a:spcPts val="0"/>
                        </a:spcBef>
                        <a:spcAft>
                          <a:spcPts val="0"/>
                        </a:spcAft>
                        <a:buNone/>
                      </a:pPr>
                      <a:r>
                        <a:t/>
                      </a:r>
                      <a:endParaRPr b="1" i="0" sz="1400" u="none" cap="none" strike="noStrike">
                        <a:solidFill>
                          <a:srgbClr val="FF0000"/>
                        </a:solidFill>
                        <a:latin typeface="Calibri"/>
                        <a:ea typeface="Calibri"/>
                        <a:cs typeface="Calibri"/>
                        <a:sym typeface="Calibri"/>
                      </a:endParaRPr>
                    </a:p>
                    <a:p>
                      <a:pPr indent="0" lvl="0" marL="0" marR="0" rtl="0" algn="ctr">
                        <a:spcBef>
                          <a:spcPts val="0"/>
                        </a:spcBef>
                        <a:spcAft>
                          <a:spcPts val="0"/>
                        </a:spcAft>
                        <a:buNone/>
                      </a:pPr>
                      <a:r>
                        <a:rPr b="1" i="0" lang="en-GB" sz="1400" u="none" cap="none" strike="noStrike">
                          <a:solidFill>
                            <a:srgbClr val="FF0000"/>
                          </a:solidFill>
                          <a:latin typeface="Calibri"/>
                          <a:ea typeface="Calibri"/>
                          <a:cs typeface="Calibri"/>
                          <a:sym typeface="Calibri"/>
                        </a:rPr>
                        <a:t>False</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1" i="0" lang="en-GB" sz="1400" u="none" cap="none" strike="noStrike">
                          <a:solidFill>
                            <a:srgbClr val="FF0000"/>
                          </a:solidFill>
                          <a:latin typeface="Calibri"/>
                          <a:ea typeface="Calibri"/>
                          <a:cs typeface="Calibri"/>
                          <a:sym typeface="Calibri"/>
                        </a:rPr>
                        <a:t>False</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0" name="Google Shape;90;p13"/>
          <p:cNvSpPr txBox="1"/>
          <p:nvPr/>
        </p:nvSpPr>
        <p:spPr>
          <a:xfrm>
            <a:off x="1528376" y="5743415"/>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1 - I do…</a:t>
            </a:r>
            <a:endParaRPr/>
          </a:p>
        </p:txBody>
      </p:sp>
      <p:sp>
        <p:nvSpPr>
          <p:cNvPr id="91" name="Google Shape;91;p13"/>
          <p:cNvSpPr txBox="1"/>
          <p:nvPr/>
        </p:nvSpPr>
        <p:spPr>
          <a:xfrm>
            <a:off x="5133548" y="576224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 – You do…</a:t>
            </a:r>
            <a:endParaRPr/>
          </a:p>
        </p:txBody>
      </p:sp>
      <p:sp>
        <p:nvSpPr>
          <p:cNvPr id="92" name="Google Shape;92;p13"/>
          <p:cNvSpPr txBox="1"/>
          <p:nvPr>
            <p:ph idx="12" type="sldNum"/>
          </p:nvPr>
        </p:nvSpPr>
        <p:spPr>
          <a:xfrm>
            <a:off x="5230965" y="9450013"/>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93" name="Google Shape;93;p13"/>
          <p:cNvSpPr/>
          <p:nvPr/>
        </p:nvSpPr>
        <p:spPr>
          <a:xfrm>
            <a:off x="86108" y="306938"/>
            <a:ext cx="6679742" cy="14400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4" name="Google Shape;94;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N1.7 – Compare decimals using  =, ≠, &lt;, &gt;, ≤, ≥</a:t>
            </a:r>
            <a:endParaRPr/>
          </a:p>
        </p:txBody>
      </p:sp>
      <p:sp>
        <p:nvSpPr>
          <p:cNvPr id="95" name="Google Shape;95;p13"/>
          <p:cNvSpPr txBox="1"/>
          <p:nvPr/>
        </p:nvSpPr>
        <p:spPr>
          <a:xfrm>
            <a:off x="128608" y="648949"/>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6" name="Google Shape;96;p13"/>
          <p:cNvSpPr txBox="1"/>
          <p:nvPr/>
        </p:nvSpPr>
        <p:spPr>
          <a:xfrm>
            <a:off x="128608" y="869334"/>
            <a:ext cx="4667990"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understand the symbols =, ≠, &lt;, &gt;, ≤, ≥ </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use these symbols to compare decimals</a:t>
            </a:r>
            <a:endParaRPr/>
          </a:p>
        </p:txBody>
      </p:sp>
      <p:sp>
        <p:nvSpPr>
          <p:cNvPr id="97" name="Google Shape;97;p13"/>
          <p:cNvSpPr txBox="1"/>
          <p:nvPr/>
        </p:nvSpPr>
        <p:spPr>
          <a:xfrm>
            <a:off x="205034" y="350951"/>
            <a:ext cx="6444000" cy="27699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compare decimals using =, ≠, &lt;, &gt;, ≤, ≥ </a:t>
            </a:r>
            <a:endParaRPr/>
          </a:p>
        </p:txBody>
      </p:sp>
      <p:sp>
        <p:nvSpPr>
          <p:cNvPr id="98" name="Google Shape;98;p13"/>
          <p:cNvSpPr txBox="1"/>
          <p:nvPr/>
        </p:nvSpPr>
        <p:spPr>
          <a:xfrm>
            <a:off x="5488034" y="672699"/>
            <a:ext cx="1155766" cy="1015663"/>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Decimal</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Greater than</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Less than</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Inequality</a:t>
            </a:r>
            <a:endParaRPr/>
          </a:p>
        </p:txBody>
      </p:sp>
      <p:sp>
        <p:nvSpPr>
          <p:cNvPr id="99" name="Google Shape;99;p13"/>
          <p:cNvSpPr txBox="1"/>
          <p:nvPr/>
        </p:nvSpPr>
        <p:spPr>
          <a:xfrm>
            <a:off x="3316664" y="574341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 – We do…</a:t>
            </a:r>
            <a:endParaRPr/>
          </a:p>
        </p:txBody>
      </p:sp>
      <p:sp>
        <p:nvSpPr>
          <p:cNvPr id="100" name="Google Shape;100;p13"/>
          <p:cNvSpPr/>
          <p:nvPr/>
        </p:nvSpPr>
        <p:spPr>
          <a:xfrm>
            <a:off x="86108" y="5389940"/>
            <a:ext cx="6014442" cy="324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‘Greater than’ and ‘Less than’ symbols to compare decimals</a:t>
            </a:r>
            <a:endParaRPr/>
          </a:p>
        </p:txBody>
      </p:sp>
      <p:cxnSp>
        <p:nvCxnSpPr>
          <p:cNvPr id="101" name="Google Shape;101;p13"/>
          <p:cNvCxnSpPr/>
          <p:nvPr/>
        </p:nvCxnSpPr>
        <p:spPr>
          <a:xfrm flipH="1" rot="10800000">
            <a:off x="904762" y="4733115"/>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02" name="Google Shape;102;p13"/>
          <p:cNvSpPr/>
          <p:nvPr/>
        </p:nvSpPr>
        <p:spPr>
          <a:xfrm>
            <a:off x="90276" y="2827396"/>
            <a:ext cx="6672205" cy="244918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103" name="Google Shape;103;p13"/>
          <p:cNvCxnSpPr/>
          <p:nvPr/>
        </p:nvCxnSpPr>
        <p:spPr>
          <a:xfrm>
            <a:off x="90276" y="4074950"/>
            <a:ext cx="6683739" cy="0"/>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13"/>
          <p:cNvCxnSpPr>
            <a:stCxn id="102" idx="2"/>
            <a:endCxn id="102" idx="0"/>
          </p:cNvCxnSpPr>
          <p:nvPr/>
        </p:nvCxnSpPr>
        <p:spPr>
          <a:xfrm rot="10800000">
            <a:off x="3426379" y="2827384"/>
            <a:ext cx="0" cy="2449200"/>
          </a:xfrm>
          <a:prstGeom prst="straightConnector1">
            <a:avLst/>
          </a:prstGeom>
          <a:noFill/>
          <a:ln cap="flat" cmpd="sng" w="9525">
            <a:solidFill>
              <a:schemeClr val="dk1"/>
            </a:solidFill>
            <a:prstDash val="solid"/>
            <a:miter lim="800000"/>
            <a:headEnd len="sm" w="sm" type="none"/>
            <a:tailEnd len="sm" w="sm" type="none"/>
          </a:ln>
        </p:spPr>
      </p:cxnSp>
      <p:sp>
        <p:nvSpPr>
          <p:cNvPr id="105" name="Google Shape;105;p13"/>
          <p:cNvSpPr txBox="1"/>
          <p:nvPr/>
        </p:nvSpPr>
        <p:spPr>
          <a:xfrm>
            <a:off x="67836" y="2802519"/>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6" name="Google Shape;106;p13"/>
          <p:cNvSpPr txBox="1"/>
          <p:nvPr/>
        </p:nvSpPr>
        <p:spPr>
          <a:xfrm>
            <a:off x="5688076" y="2799777"/>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7" name="Google Shape;107;p13"/>
          <p:cNvSpPr txBox="1"/>
          <p:nvPr/>
        </p:nvSpPr>
        <p:spPr>
          <a:xfrm>
            <a:off x="82983" y="4060527"/>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08" name="Google Shape;108;p13"/>
          <p:cNvSpPr txBox="1"/>
          <p:nvPr/>
        </p:nvSpPr>
        <p:spPr>
          <a:xfrm>
            <a:off x="5672800" y="4066626"/>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9" name="Google Shape;109;p13"/>
          <p:cNvSpPr txBox="1"/>
          <p:nvPr/>
        </p:nvSpPr>
        <p:spPr>
          <a:xfrm>
            <a:off x="166934" y="3003091"/>
            <a:ext cx="323033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A decimal is a number that is not whole, as it lies between whole numbers.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Consists of a whole and a fraction part.</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The fractional part is written as digits after a point rather than a fraction.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0" name="Google Shape;110;p13"/>
          <p:cNvSpPr txBox="1"/>
          <p:nvPr/>
        </p:nvSpPr>
        <p:spPr>
          <a:xfrm>
            <a:off x="3464302" y="3030675"/>
            <a:ext cx="3230335" cy="83099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The whole and fraction parts are separated by a point called the decimal point.</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Can be terminating or recurring.</a:t>
            </a:r>
            <a:endParaRPr/>
          </a:p>
          <a:p>
            <a:pPr indent="-95250" lvl="0" marL="171450" marR="0" rtl="0" algn="l">
              <a:spcBef>
                <a:spcPts val="0"/>
              </a:spcBef>
              <a:spcAft>
                <a:spcPts val="0"/>
              </a:spcAft>
              <a:buClr>
                <a:schemeClr val="dk1"/>
              </a:buClr>
              <a:buSzPts val="1200"/>
              <a:buFont typeface="Arial"/>
              <a:buNone/>
            </a:pPr>
            <a:r>
              <a:t/>
            </a:r>
            <a:endParaRPr sz="1200">
              <a:solidFill>
                <a:srgbClr val="FF0000"/>
              </a:solidFill>
              <a:latin typeface="Calibri"/>
              <a:ea typeface="Calibri"/>
              <a:cs typeface="Calibri"/>
              <a:sym typeface="Calibri"/>
            </a:endParaRPr>
          </a:p>
        </p:txBody>
      </p:sp>
      <p:sp>
        <p:nvSpPr>
          <p:cNvPr id="111" name="Google Shape;111;p13"/>
          <p:cNvSpPr txBox="1"/>
          <p:nvPr/>
        </p:nvSpPr>
        <p:spPr>
          <a:xfrm>
            <a:off x="2754911" y="3922364"/>
            <a:ext cx="1172885"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Calibri"/>
                <a:ea typeface="Calibri"/>
                <a:cs typeface="Calibri"/>
                <a:sym typeface="Calibri"/>
              </a:rPr>
              <a:t>Decimal</a:t>
            </a:r>
            <a:endParaRPr sz="1800">
              <a:solidFill>
                <a:schemeClr val="dk1"/>
              </a:solidFill>
              <a:latin typeface="Calibri"/>
              <a:ea typeface="Calibri"/>
              <a:cs typeface="Calibri"/>
              <a:sym typeface="Calibri"/>
            </a:endParaRPr>
          </a:p>
        </p:txBody>
      </p:sp>
      <p:sp>
        <p:nvSpPr>
          <p:cNvPr id="112" name="Google Shape;112;p13"/>
          <p:cNvSpPr txBox="1"/>
          <p:nvPr/>
        </p:nvSpPr>
        <p:spPr>
          <a:xfrm>
            <a:off x="3410471" y="4227960"/>
            <a:ext cx="3230335" cy="856966"/>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cxnSp>
        <p:nvCxnSpPr>
          <p:cNvPr id="113" name="Google Shape;113;p13"/>
          <p:cNvCxnSpPr/>
          <p:nvPr/>
        </p:nvCxnSpPr>
        <p:spPr>
          <a:xfrm flipH="1" rot="10800000">
            <a:off x="3424406" y="4640132"/>
            <a:ext cx="337519" cy="3326"/>
          </a:xfrm>
          <a:prstGeom prst="straightConnector1">
            <a:avLst/>
          </a:prstGeom>
          <a:noFill/>
          <a:ln cap="flat" cmpd="sng" w="9525">
            <a:solidFill>
              <a:schemeClr val="dk1"/>
            </a:solidFill>
            <a:prstDash val="solid"/>
            <a:miter lim="800000"/>
            <a:headEnd len="sm" w="sm" type="none"/>
            <a:tailEnd len="sm" w="sm" type="none"/>
          </a:ln>
        </p:spPr>
      </p:cxnSp>
      <p:sp>
        <p:nvSpPr>
          <p:cNvPr id="114" name="Google Shape;114;p13"/>
          <p:cNvSpPr txBox="1"/>
          <p:nvPr/>
        </p:nvSpPr>
        <p:spPr>
          <a:xfrm>
            <a:off x="4634437" y="4068301"/>
            <a:ext cx="842456" cy="80855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5" name="Google Shape;115;p13"/>
          <p:cNvSpPr txBox="1"/>
          <p:nvPr/>
        </p:nvSpPr>
        <p:spPr>
          <a:xfrm>
            <a:off x="6160197" y="4364608"/>
            <a:ext cx="84245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240</a:t>
            </a:r>
            <a:endParaRPr/>
          </a:p>
        </p:txBody>
      </p:sp>
      <p:sp>
        <p:nvSpPr>
          <p:cNvPr id="116" name="Google Shape;116;p13"/>
          <p:cNvSpPr txBox="1"/>
          <p:nvPr/>
        </p:nvSpPr>
        <p:spPr>
          <a:xfrm>
            <a:off x="5458793" y="4225087"/>
            <a:ext cx="842456" cy="623248"/>
          </a:xfrm>
          <a:prstGeom prst="rect">
            <a:avLst/>
          </a:prstGeom>
          <a:blipFill rotWithShape="1">
            <a:blip r:embed="rId5">
              <a:alphaModFix/>
            </a:blip>
            <a:stretch>
              <a:fillRect b="-98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7" name="Google Shape;117;p13"/>
          <p:cNvSpPr txBox="1"/>
          <p:nvPr/>
        </p:nvSpPr>
        <p:spPr>
          <a:xfrm>
            <a:off x="71458" y="4260003"/>
            <a:ext cx="4909650" cy="1050159"/>
          </a:xfrm>
          <a:prstGeom prst="rect">
            <a:avLst/>
          </a:prstGeom>
          <a:blipFill rotWithShape="1">
            <a:blip r:embed="rId6">
              <a:alphaModFix/>
            </a:blip>
            <a:stretch>
              <a:fillRect b="0" l="-124" r="0" t="-58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8" name="Google Shape;118;p13"/>
          <p:cNvSpPr txBox="1"/>
          <p:nvPr/>
        </p:nvSpPr>
        <p:spPr>
          <a:xfrm>
            <a:off x="3445542" y="4616690"/>
            <a:ext cx="3230335" cy="823302"/>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9" name="Google Shape;119;p13"/>
          <p:cNvSpPr/>
          <p:nvPr/>
        </p:nvSpPr>
        <p:spPr>
          <a:xfrm>
            <a:off x="90276" y="1795697"/>
            <a:ext cx="6672205" cy="973028"/>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200" u="sng">
                <a:solidFill>
                  <a:srgbClr val="000000"/>
                </a:solidFill>
                <a:latin typeface="Calibri"/>
                <a:ea typeface="Calibri"/>
                <a:cs typeface="Calibri"/>
                <a:sym typeface="Calibri"/>
              </a:rPr>
              <a:t>Introduction – Read and annotate:</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Similar to when we compared integers, we use inequality symbols (&lt;, &gt;, =) to show which decimals</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are bigger or smaller. This builds on our earlier understanding of place value and comparing whole</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numbers, extending those skills to numbers with parts less than one for accurate and meaningful</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comparisons.</a:t>
            </a:r>
            <a:endParaRPr sz="1200">
              <a:solidFill>
                <a:srgbClr val="000000"/>
              </a:solidFill>
              <a:latin typeface="Calibri"/>
              <a:ea typeface="Calibri"/>
              <a:cs typeface="Calibri"/>
              <a:sym typeface="Calibri"/>
            </a:endParaRPr>
          </a:p>
        </p:txBody>
      </p:sp>
      <p:sp>
        <p:nvSpPr>
          <p:cNvPr id="120" name="Google Shape;120;p13"/>
          <p:cNvSpPr txBox="1"/>
          <p:nvPr/>
        </p:nvSpPr>
        <p:spPr>
          <a:xfrm>
            <a:off x="1442040" y="7569631"/>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4 - I do…</a:t>
            </a:r>
            <a:endParaRPr/>
          </a:p>
        </p:txBody>
      </p:sp>
      <p:sp>
        <p:nvSpPr>
          <p:cNvPr id="121" name="Google Shape;121;p13"/>
          <p:cNvSpPr txBox="1"/>
          <p:nvPr/>
        </p:nvSpPr>
        <p:spPr>
          <a:xfrm>
            <a:off x="5047212" y="758846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6 – You do…</a:t>
            </a:r>
            <a:endParaRPr/>
          </a:p>
        </p:txBody>
      </p:sp>
      <p:sp>
        <p:nvSpPr>
          <p:cNvPr id="122" name="Google Shape;122;p13"/>
          <p:cNvSpPr txBox="1"/>
          <p:nvPr/>
        </p:nvSpPr>
        <p:spPr>
          <a:xfrm>
            <a:off x="3230328" y="756963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5 – We do…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graphicFrame>
        <p:nvGraphicFramePr>
          <p:cNvPr id="127" name="Google Shape;127;p14"/>
          <p:cNvGraphicFramePr/>
          <p:nvPr/>
        </p:nvGraphicFramePr>
        <p:xfrm>
          <a:off x="182224" y="6116061"/>
          <a:ext cx="3000000" cy="3000000"/>
        </p:xfrm>
        <a:graphic>
          <a:graphicData uri="http://schemas.openxmlformats.org/drawingml/2006/table">
            <a:tbl>
              <a:tblPr bandRow="1" firstRow="1">
                <a:noFill/>
                <a:tableStyleId>{80DC9934-8B59-45FF-97CA-8DE436CF681E}</a:tableStyleId>
              </a:tblPr>
              <a:tblGrid>
                <a:gridCol w="1485100"/>
                <a:gridCol w="1669475"/>
                <a:gridCol w="1669475"/>
                <a:gridCol w="1669475"/>
              </a:tblGrid>
              <a:tr h="15240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7- I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8– We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9 – You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The smallest side of the symbol should be next to the smallest number. </a:t>
                      </a:r>
                      <a:endParaRPr/>
                    </a:p>
                    <a:p>
                      <a:pPr indent="0" lvl="0" marL="0" marR="0" rtl="0" algn="l">
                        <a:spcBef>
                          <a:spcPts val="0"/>
                        </a:spcBef>
                        <a:spcAft>
                          <a:spcPts val="0"/>
                        </a:spcAft>
                        <a:buClr>
                          <a:schemeClr val="dk1"/>
                        </a:buClr>
                        <a:buSzPts val="1200"/>
                        <a:buFont typeface="Calibri"/>
                        <a:buNone/>
                      </a:pPr>
                      <a:br>
                        <a:rPr lang="en-GB" sz="1200">
                          <a:solidFill>
                            <a:schemeClr val="dk1"/>
                          </a:solidFill>
                        </a:rPr>
                      </a:br>
                      <a:r>
                        <a:rPr lang="en-GB" sz="1200">
                          <a:solidFill>
                            <a:schemeClr val="dk1"/>
                          </a:solidFill>
                        </a:rPr>
                        <a:t>2) The largest side of the symbol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600">
                        <a:solidFill>
                          <a:schemeClr val="dk1"/>
                        </a:solidFill>
                      </a:endParaRPr>
                    </a:p>
                    <a:p>
                      <a:pPr indent="0" lvl="0" marL="0" marR="0" rtl="0" algn="l">
                        <a:spcBef>
                          <a:spcPts val="0"/>
                        </a:spcBef>
                        <a:spcAft>
                          <a:spcPts val="0"/>
                        </a:spcAft>
                        <a:buNone/>
                      </a:pPr>
                      <a:r>
                        <a:t/>
                      </a:r>
                      <a:endParaRPr sz="1600">
                        <a:solidFill>
                          <a:schemeClr val="dk1"/>
                        </a:solidFill>
                      </a:endParaRPr>
                    </a:p>
                    <a:p>
                      <a:pPr indent="0" lvl="0" marL="0" marR="0" rtl="0" algn="ctr">
                        <a:spcBef>
                          <a:spcPts val="0"/>
                        </a:spcBef>
                        <a:spcAft>
                          <a:spcPts val="0"/>
                        </a:spcAft>
                        <a:buNone/>
                      </a:pPr>
                      <a:r>
                        <a:rPr lang="en-GB" sz="1600">
                          <a:solidFill>
                            <a:schemeClr val="dk1"/>
                          </a:solidFill>
                        </a:rPr>
                        <a:t>6.3                 6.7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600">
                        <a:solidFill>
                          <a:schemeClr val="dk1"/>
                        </a:solidFill>
                      </a:endParaRPr>
                    </a:p>
                    <a:p>
                      <a:pPr indent="0" lvl="0" marL="0" marR="0" rtl="0" algn="l">
                        <a:spcBef>
                          <a:spcPts val="0"/>
                        </a:spcBef>
                        <a:spcAft>
                          <a:spcPts val="0"/>
                        </a:spcAft>
                        <a:buNone/>
                      </a:pPr>
                      <a:r>
                        <a:t/>
                      </a:r>
                      <a:endParaRPr sz="1600">
                        <a:solidFill>
                          <a:schemeClr val="dk1"/>
                        </a:solidFill>
                      </a:endParaRPr>
                    </a:p>
                    <a:p>
                      <a:pPr indent="0" lvl="0" marL="0" marR="0" rtl="0" algn="ctr">
                        <a:spcBef>
                          <a:spcPts val="0"/>
                        </a:spcBef>
                        <a:spcAft>
                          <a:spcPts val="0"/>
                        </a:spcAft>
                        <a:buNone/>
                      </a:pPr>
                      <a:r>
                        <a:rPr lang="en-GB" sz="1600">
                          <a:solidFill>
                            <a:schemeClr val="dk1"/>
                          </a:solidFill>
                        </a:rPr>
                        <a:t>8.21                  8.9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2.2                 2.15</a:t>
                      </a:r>
                      <a:endParaRPr/>
                    </a:p>
                    <a:p>
                      <a:pPr indent="0" lvl="0" marL="0" marR="0" rtl="0" algn="l">
                        <a:spcBef>
                          <a:spcPts val="0"/>
                        </a:spcBef>
                        <a:spcAft>
                          <a:spcPts val="0"/>
                        </a:spcAft>
                        <a:buNone/>
                      </a:pPr>
                      <a:r>
                        <a:t/>
                      </a:r>
                      <a:endParaRPr sz="16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28" name="Google Shape;128;p14"/>
          <p:cNvSpPr/>
          <p:nvPr/>
        </p:nvSpPr>
        <p:spPr>
          <a:xfrm>
            <a:off x="2234206" y="7343243"/>
            <a:ext cx="533515"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29" name="Google Shape;129;p14"/>
          <p:cNvSpPr/>
          <p:nvPr/>
        </p:nvSpPr>
        <p:spPr>
          <a:xfrm>
            <a:off x="3925200" y="7329881"/>
            <a:ext cx="533515"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0" name="Google Shape;130;p14"/>
          <p:cNvSpPr/>
          <p:nvPr/>
        </p:nvSpPr>
        <p:spPr>
          <a:xfrm>
            <a:off x="5539600" y="7329881"/>
            <a:ext cx="533515"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1" name="Google Shape;131;p14"/>
          <p:cNvSpPr txBox="1"/>
          <p:nvPr>
            <p:ph idx="12" type="sldNum"/>
          </p:nvPr>
        </p:nvSpPr>
        <p:spPr>
          <a:xfrm>
            <a:off x="5204807" y="930645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32" name="Google Shape;132;p14"/>
          <p:cNvGraphicFramePr/>
          <p:nvPr/>
        </p:nvGraphicFramePr>
        <p:xfrm>
          <a:off x="161816" y="1335452"/>
          <a:ext cx="3000000" cy="3000000"/>
        </p:xfrm>
        <a:graphic>
          <a:graphicData uri="http://schemas.openxmlformats.org/drawingml/2006/table">
            <a:tbl>
              <a:tblPr bandRow="1" firstRow="1">
                <a:noFill/>
                <a:tableStyleId>{80DC9934-8B59-45FF-97CA-8DE436CF681E}</a:tableStyleId>
              </a:tblPr>
              <a:tblGrid>
                <a:gridCol w="2422975"/>
                <a:gridCol w="928050"/>
                <a:gridCol w="1519150"/>
                <a:gridCol w="1623400"/>
              </a:tblGrid>
              <a:tr h="370850">
                <a:tc>
                  <a:txBody>
                    <a:bodyPr/>
                    <a:lstStyle/>
                    <a:p>
                      <a:pPr indent="0" lvl="0" marL="0" marR="0" rtl="0" algn="ctr">
                        <a:spcBef>
                          <a:spcPts val="0"/>
                        </a:spcBef>
                        <a:spcAft>
                          <a:spcPts val="0"/>
                        </a:spcAft>
                        <a:buNone/>
                      </a:pPr>
                      <a:r>
                        <a:rPr lang="en-GB" sz="1350">
                          <a:solidFill>
                            <a:schemeClr val="dk1"/>
                          </a:solidFill>
                        </a:rPr>
                        <a:t>Statement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chemeClr val="dk1"/>
                          </a:solidFill>
                        </a:rPr>
                        <a:t>True or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chemeClr val="dk1"/>
                          </a:solidFill>
                        </a:rPr>
                        <a:t>Rewritten to make true (if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chemeClr val="dk1"/>
                          </a:solidFill>
                        </a:rPr>
                        <a:t>Alternative way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0.8 &gt; 0.70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 0.70 &lt;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0.80 &lt; 0.7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0.80 &gt; 0.7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 0.7 &lt; 0.80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chemeClr val="dk1"/>
                        </a:buClr>
                        <a:buSzPts val="1350"/>
                        <a:buFont typeface="Calibri"/>
                        <a:buNone/>
                      </a:pPr>
                      <a:r>
                        <a:rPr lang="en-GB" sz="1350">
                          <a:solidFill>
                            <a:schemeClr val="dk1"/>
                          </a:solidFill>
                        </a:rPr>
                        <a:t>0.8 &gt; 0.809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0.809 &gt;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 &lt; 0.809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0.8 &gt; 0.509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0.509 &lt;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0.509 &lt;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 &gt; 0.509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0.8 &lt; 0.009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 &gt; 0.009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0.009 &lt;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0.08 &lt; 0.009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0.08 &gt; 0.009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0.009 &lt; 0.08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0.008 &lt; 0.009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0.009 &gt; 0.008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8.09 &gt; 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8.01 &lt; 8.09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8.102 &gt; 8.056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8.056 &lt; 8.102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350">
                          <a:solidFill>
                            <a:schemeClr val="dk1"/>
                          </a:solidFill>
                        </a:rPr>
                        <a:t>298.04 &gt; 289.5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289.5 &lt; 298.04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33" name="Google Shape;133;p14"/>
          <p:cNvSpPr/>
          <p:nvPr/>
        </p:nvSpPr>
        <p:spPr>
          <a:xfrm>
            <a:off x="161816" y="458171"/>
            <a:ext cx="1137954" cy="468000"/>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34" name="Google Shape;134;p14"/>
          <p:cNvSpPr txBox="1"/>
          <p:nvPr/>
        </p:nvSpPr>
        <p:spPr>
          <a:xfrm>
            <a:off x="1299770" y="186440"/>
            <a:ext cx="5396414"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 For each of the following questions, decide which statements are true and which statements are false.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Rewrite the false statements to make them true.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Can you write each true statement in a different way such that it remains true? E.g. 8.6 &gt; 8.5 and 8.5 &lt; 8.6 are both true. </a:t>
            </a:r>
            <a:endParaRPr/>
          </a:p>
        </p:txBody>
      </p:sp>
      <p:sp>
        <p:nvSpPr>
          <p:cNvPr id="135" name="Google Shape;135;p14"/>
          <p:cNvSpPr txBox="1"/>
          <p:nvPr/>
        </p:nvSpPr>
        <p:spPr>
          <a:xfrm>
            <a:off x="2332876" y="7403481"/>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36" name="Google Shape;136;p14"/>
          <p:cNvSpPr txBox="1"/>
          <p:nvPr/>
        </p:nvSpPr>
        <p:spPr>
          <a:xfrm>
            <a:off x="4021983" y="7396810"/>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37" name="Google Shape;137;p14"/>
          <p:cNvSpPr txBox="1"/>
          <p:nvPr/>
        </p:nvSpPr>
        <p:spPr>
          <a:xfrm rot="10800000">
            <a:off x="5444704" y="7396810"/>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5"/>
          <p:cNvSpPr txBox="1"/>
          <p:nvPr>
            <p:ph idx="12" type="sldNum"/>
          </p:nvPr>
        </p:nvSpPr>
        <p:spPr>
          <a:xfrm>
            <a:off x="5237158" y="944794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43" name="Google Shape;143;p15"/>
          <p:cNvSpPr/>
          <p:nvPr/>
        </p:nvSpPr>
        <p:spPr>
          <a:xfrm>
            <a:off x="122457" y="90221"/>
            <a:ext cx="1137954" cy="416745"/>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44" name="Google Shape;144;p15"/>
          <p:cNvSpPr txBox="1"/>
          <p:nvPr/>
        </p:nvSpPr>
        <p:spPr>
          <a:xfrm>
            <a:off x="1260411" y="272784"/>
            <a:ext cx="495288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Complete these statements using the symbols &gt; or &lt;</a:t>
            </a:r>
            <a:endParaRPr/>
          </a:p>
        </p:txBody>
      </p:sp>
      <p:graphicFrame>
        <p:nvGraphicFramePr>
          <p:cNvPr id="145" name="Google Shape;145;p15"/>
          <p:cNvGraphicFramePr/>
          <p:nvPr/>
        </p:nvGraphicFramePr>
        <p:xfrm>
          <a:off x="122457" y="564116"/>
          <a:ext cx="3000000" cy="3000000"/>
        </p:xfrm>
        <a:graphic>
          <a:graphicData uri="http://schemas.openxmlformats.org/drawingml/2006/table">
            <a:tbl>
              <a:tblPr bandRow="1" firstRow="1">
                <a:noFill/>
                <a:tableStyleId>{80DC9934-8B59-45FF-97CA-8DE436CF681E}</a:tableStyleId>
              </a:tblPr>
              <a:tblGrid>
                <a:gridCol w="3296925"/>
                <a:gridCol w="3296925"/>
              </a:tblGrid>
              <a:tr h="294225">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84625">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i)</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j)</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k)</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6" name="Google Shape;146;p15"/>
          <p:cNvSpPr/>
          <p:nvPr/>
        </p:nvSpPr>
        <p:spPr>
          <a:xfrm>
            <a:off x="1560218" y="931542"/>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5"/>
          <p:cNvSpPr/>
          <p:nvPr/>
        </p:nvSpPr>
        <p:spPr>
          <a:xfrm>
            <a:off x="4859700" y="931541"/>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15"/>
          <p:cNvSpPr/>
          <p:nvPr/>
        </p:nvSpPr>
        <p:spPr>
          <a:xfrm>
            <a:off x="1560218" y="1982107"/>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5"/>
          <p:cNvSpPr/>
          <p:nvPr/>
        </p:nvSpPr>
        <p:spPr>
          <a:xfrm>
            <a:off x="4859698" y="1982106"/>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5"/>
          <p:cNvSpPr/>
          <p:nvPr/>
        </p:nvSpPr>
        <p:spPr>
          <a:xfrm>
            <a:off x="1560218" y="2960280"/>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5"/>
          <p:cNvSpPr/>
          <p:nvPr/>
        </p:nvSpPr>
        <p:spPr>
          <a:xfrm>
            <a:off x="4859698" y="296027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15"/>
          <p:cNvSpPr/>
          <p:nvPr/>
        </p:nvSpPr>
        <p:spPr>
          <a:xfrm>
            <a:off x="1560218" y="3955573"/>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15"/>
          <p:cNvSpPr/>
          <p:nvPr/>
        </p:nvSpPr>
        <p:spPr>
          <a:xfrm>
            <a:off x="4884104" y="3941837"/>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5"/>
          <p:cNvSpPr/>
          <p:nvPr/>
        </p:nvSpPr>
        <p:spPr>
          <a:xfrm>
            <a:off x="1560218" y="500145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15"/>
          <p:cNvSpPr/>
          <p:nvPr/>
        </p:nvSpPr>
        <p:spPr>
          <a:xfrm>
            <a:off x="4813978" y="5001453"/>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15"/>
          <p:cNvSpPr/>
          <p:nvPr/>
        </p:nvSpPr>
        <p:spPr>
          <a:xfrm>
            <a:off x="1514498" y="605831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5"/>
          <p:cNvSpPr/>
          <p:nvPr/>
        </p:nvSpPr>
        <p:spPr>
          <a:xfrm>
            <a:off x="4859698" y="602783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5"/>
          <p:cNvSpPr/>
          <p:nvPr/>
        </p:nvSpPr>
        <p:spPr>
          <a:xfrm>
            <a:off x="1535604" y="7029935"/>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5"/>
          <p:cNvSpPr/>
          <p:nvPr/>
        </p:nvSpPr>
        <p:spPr>
          <a:xfrm>
            <a:off x="4861754" y="6980405"/>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15"/>
          <p:cNvSpPr txBox="1"/>
          <p:nvPr/>
        </p:nvSpPr>
        <p:spPr>
          <a:xfrm rot="10800000">
            <a:off x="1448247" y="940346"/>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1" name="Google Shape;161;p15"/>
          <p:cNvSpPr txBox="1"/>
          <p:nvPr/>
        </p:nvSpPr>
        <p:spPr>
          <a:xfrm>
            <a:off x="4878126" y="928261"/>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2" name="Google Shape;162;p15"/>
          <p:cNvSpPr txBox="1"/>
          <p:nvPr/>
        </p:nvSpPr>
        <p:spPr>
          <a:xfrm rot="10800000">
            <a:off x="1406050" y="1964109"/>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3" name="Google Shape;163;p15"/>
          <p:cNvSpPr txBox="1"/>
          <p:nvPr/>
        </p:nvSpPr>
        <p:spPr>
          <a:xfrm rot="10800000">
            <a:off x="4717314" y="1988130"/>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4" name="Google Shape;164;p15"/>
          <p:cNvSpPr txBox="1"/>
          <p:nvPr/>
        </p:nvSpPr>
        <p:spPr>
          <a:xfrm rot="10800000">
            <a:off x="1456295" y="2926016"/>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5" name="Google Shape;165;p15"/>
          <p:cNvSpPr txBox="1"/>
          <p:nvPr/>
        </p:nvSpPr>
        <p:spPr>
          <a:xfrm rot="10800000">
            <a:off x="4745132" y="2984323"/>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6" name="Google Shape;166;p15"/>
          <p:cNvSpPr txBox="1"/>
          <p:nvPr/>
        </p:nvSpPr>
        <p:spPr>
          <a:xfrm>
            <a:off x="1560218" y="3927026"/>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7" name="Google Shape;167;p15"/>
          <p:cNvSpPr txBox="1"/>
          <p:nvPr/>
        </p:nvSpPr>
        <p:spPr>
          <a:xfrm>
            <a:off x="4897542" y="3938452"/>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8" name="Google Shape;168;p15"/>
          <p:cNvSpPr txBox="1"/>
          <p:nvPr/>
        </p:nvSpPr>
        <p:spPr>
          <a:xfrm rot="10800000">
            <a:off x="1434183" y="4971140"/>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69" name="Google Shape;169;p15"/>
          <p:cNvSpPr txBox="1"/>
          <p:nvPr/>
        </p:nvSpPr>
        <p:spPr>
          <a:xfrm>
            <a:off x="4878126" y="5028179"/>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70" name="Google Shape;170;p15"/>
          <p:cNvSpPr txBox="1"/>
          <p:nvPr/>
        </p:nvSpPr>
        <p:spPr>
          <a:xfrm>
            <a:off x="1575122" y="6034078"/>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71" name="Google Shape;171;p15"/>
          <p:cNvSpPr txBox="1"/>
          <p:nvPr/>
        </p:nvSpPr>
        <p:spPr>
          <a:xfrm rot="10800000">
            <a:off x="4743374" y="6036767"/>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72" name="Google Shape;172;p15"/>
          <p:cNvSpPr txBox="1"/>
          <p:nvPr/>
        </p:nvSpPr>
        <p:spPr>
          <a:xfrm rot="10800000">
            <a:off x="1406049" y="7002782"/>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73" name="Google Shape;173;p15"/>
          <p:cNvSpPr txBox="1"/>
          <p:nvPr/>
        </p:nvSpPr>
        <p:spPr>
          <a:xfrm rot="10800000">
            <a:off x="4730773" y="6972030"/>
            <a:ext cx="53162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a:t>
            </a:r>
            <a:endParaRPr/>
          </a:p>
        </p:txBody>
      </p:sp>
      <p:sp>
        <p:nvSpPr>
          <p:cNvPr id="174" name="Google Shape;174;p15"/>
          <p:cNvSpPr txBox="1"/>
          <p:nvPr/>
        </p:nvSpPr>
        <p:spPr>
          <a:xfrm>
            <a:off x="18165" y="7636816"/>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 What is the </a:t>
            </a:r>
            <a:r>
              <a:rPr b="1" lang="en-GB" sz="1200">
                <a:solidFill>
                  <a:schemeClr val="dk1"/>
                </a:solidFill>
                <a:latin typeface="Calibri"/>
                <a:ea typeface="Calibri"/>
                <a:cs typeface="Calibri"/>
                <a:sym typeface="Calibri"/>
              </a:rPr>
              <a:t>largest</a:t>
            </a:r>
            <a:r>
              <a:rPr lang="en-GB" sz="1200">
                <a:solidFill>
                  <a:schemeClr val="dk1"/>
                </a:solidFill>
                <a:latin typeface="Calibri"/>
                <a:ea typeface="Calibri"/>
                <a:cs typeface="Calibri"/>
                <a:sym typeface="Calibri"/>
              </a:rPr>
              <a:t> integer that makes each statement true?</a:t>
            </a:r>
            <a:endParaRPr/>
          </a:p>
        </p:txBody>
      </p:sp>
      <p:graphicFrame>
        <p:nvGraphicFramePr>
          <p:cNvPr id="175" name="Google Shape;175;p15"/>
          <p:cNvGraphicFramePr/>
          <p:nvPr/>
        </p:nvGraphicFramePr>
        <p:xfrm>
          <a:off x="122457" y="7878912"/>
          <a:ext cx="3000000" cy="3000000"/>
        </p:xfrm>
        <a:graphic>
          <a:graphicData uri="http://schemas.openxmlformats.org/drawingml/2006/table">
            <a:tbl>
              <a:tblPr bandRow="1" firstRow="1">
                <a:noFill/>
                <a:tableStyleId>{80DC9934-8B59-45FF-97CA-8DE436CF681E}</a:tableStyleId>
              </a:tblPr>
              <a:tblGrid>
                <a:gridCol w="4234750"/>
                <a:gridCol w="2359125"/>
              </a:tblGrid>
              <a:tr h="432000">
                <a:tc>
                  <a:txBody>
                    <a:bodyPr/>
                    <a:lstStyle/>
                    <a:p>
                      <a:pPr indent="0" lvl="0" marL="0" marR="0" rtl="0" algn="ctr">
                        <a:spcBef>
                          <a:spcPts val="0"/>
                        </a:spcBef>
                        <a:spcAft>
                          <a:spcPts val="0"/>
                        </a:spcAft>
                        <a:buNone/>
                      </a:pPr>
                      <a:r>
                        <a:rPr b="0" lang="en-GB" sz="1400">
                          <a:solidFill>
                            <a:schemeClr val="dk1"/>
                          </a:solidFill>
                        </a:rPr>
                        <a:t>______ &lt; 3.7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400"/>
                        <a:buFont typeface="Calibri"/>
                        <a:buNone/>
                      </a:pPr>
                      <a:r>
                        <a:rPr b="0" lang="en-GB" sz="1400">
                          <a:solidFill>
                            <a:schemeClr val="dk1"/>
                          </a:solidFill>
                        </a:rPr>
                        <a:t>______ &lt; 73.62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73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400"/>
                        <a:buFont typeface="Calibri"/>
                        <a:buNone/>
                      </a:pPr>
                      <a:r>
                        <a:rPr b="0" lang="en-GB" sz="1400">
                          <a:solidFill>
                            <a:schemeClr val="dk1"/>
                          </a:solidFill>
                        </a:rPr>
                        <a:t>______ &lt; 0.413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400"/>
                        <a:buFont typeface="Calibri"/>
                        <a:buNone/>
                      </a:pPr>
                      <a:r>
                        <a:rPr b="0" lang="en-GB" sz="1400">
                          <a:solidFill>
                            <a:schemeClr val="dk1"/>
                          </a:solidFill>
                        </a:rPr>
                        <a:t>______ &lt; 0.104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nvSpPr>
        <p:spPr>
          <a:xfrm>
            <a:off x="57150" y="113219"/>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 What is the </a:t>
            </a:r>
            <a:r>
              <a:rPr b="1" lang="en-GB" sz="1200">
                <a:solidFill>
                  <a:schemeClr val="dk1"/>
                </a:solidFill>
                <a:latin typeface="Calibri"/>
                <a:ea typeface="Calibri"/>
                <a:cs typeface="Calibri"/>
                <a:sym typeface="Calibri"/>
              </a:rPr>
              <a:t>smallest</a:t>
            </a:r>
            <a:r>
              <a:rPr lang="en-GB" sz="1200">
                <a:solidFill>
                  <a:schemeClr val="dk1"/>
                </a:solidFill>
                <a:latin typeface="Calibri"/>
                <a:ea typeface="Calibri"/>
                <a:cs typeface="Calibri"/>
                <a:sym typeface="Calibri"/>
              </a:rPr>
              <a:t> integer that makes each statement true?</a:t>
            </a:r>
            <a:endParaRPr/>
          </a:p>
        </p:txBody>
      </p:sp>
      <p:graphicFrame>
        <p:nvGraphicFramePr>
          <p:cNvPr id="182" name="Google Shape;182;p16"/>
          <p:cNvGraphicFramePr/>
          <p:nvPr/>
        </p:nvGraphicFramePr>
        <p:xfrm>
          <a:off x="142354" y="390218"/>
          <a:ext cx="3000000" cy="3000000"/>
        </p:xfrm>
        <a:graphic>
          <a:graphicData uri="http://schemas.openxmlformats.org/drawingml/2006/table">
            <a:tbl>
              <a:tblPr bandRow="1" firstRow="1">
                <a:noFill/>
                <a:tableStyleId>{80DC9934-8B59-45FF-97CA-8DE436CF681E}</a:tableStyleId>
              </a:tblPr>
              <a:tblGrid>
                <a:gridCol w="4235550"/>
                <a:gridCol w="2353600"/>
              </a:tblGrid>
              <a:tr h="432000">
                <a:tc>
                  <a:txBody>
                    <a:bodyPr/>
                    <a:lstStyle/>
                    <a:p>
                      <a:pPr indent="0" lvl="0" marL="0" marR="0" rtl="0" algn="ctr">
                        <a:spcBef>
                          <a:spcPts val="0"/>
                        </a:spcBef>
                        <a:spcAft>
                          <a:spcPts val="0"/>
                        </a:spcAft>
                        <a:buNone/>
                      </a:pPr>
                      <a:r>
                        <a:rPr b="0" lang="en-GB" sz="1400">
                          <a:solidFill>
                            <a:schemeClr val="dk1"/>
                          </a:solidFill>
                        </a:rPr>
                        <a:t>4.89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400">
                          <a:solidFill>
                            <a:srgbClr val="FF0000"/>
                          </a:solidFill>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400"/>
                        <a:buFont typeface="Calibri"/>
                        <a:buNone/>
                      </a:pPr>
                      <a:r>
                        <a:rPr b="0" lang="en-GB" sz="1400">
                          <a:solidFill>
                            <a:schemeClr val="dk1"/>
                          </a:solidFill>
                        </a:rPr>
                        <a:t>105.713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400">
                          <a:solidFill>
                            <a:srgbClr val="FF0000"/>
                          </a:solidFill>
                        </a:rPr>
                        <a:t>106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400"/>
                        <a:buFont typeface="Calibri"/>
                        <a:buNone/>
                      </a:pPr>
                      <a:r>
                        <a:rPr b="0" lang="en-GB" sz="1400">
                          <a:solidFill>
                            <a:schemeClr val="dk1"/>
                          </a:solidFill>
                        </a:rPr>
                        <a:t>0.012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400">
                          <a:solidFill>
                            <a:srgbClr val="FF0000"/>
                          </a:solidFill>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400"/>
                        <a:buFont typeface="Calibri"/>
                        <a:buNone/>
                      </a:pPr>
                      <a:r>
                        <a:rPr b="0" lang="en-GB" sz="1400">
                          <a:solidFill>
                            <a:schemeClr val="dk1"/>
                          </a:solidFill>
                        </a:rPr>
                        <a:t>0.91403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400">
                          <a:solidFill>
                            <a:srgbClr val="FF0000"/>
                          </a:solidFill>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3" name="Google Shape;183;p16"/>
          <p:cNvSpPr txBox="1"/>
          <p:nvPr>
            <p:ph idx="12" type="sldNum"/>
          </p:nvPr>
        </p:nvSpPr>
        <p:spPr>
          <a:xfrm>
            <a:off x="5264676" y="940207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84" name="Google Shape;184;p16"/>
          <p:cNvGraphicFramePr/>
          <p:nvPr/>
        </p:nvGraphicFramePr>
        <p:xfrm>
          <a:off x="142354" y="2254600"/>
          <a:ext cx="3000000" cy="3000000"/>
        </p:xfrm>
        <a:graphic>
          <a:graphicData uri="http://schemas.openxmlformats.org/drawingml/2006/table">
            <a:tbl>
              <a:tblPr bandRow="1" firstRow="1">
                <a:noFill/>
                <a:tableStyleId>{80DC9934-8B59-45FF-97CA-8DE436CF681E}</a:tableStyleId>
              </a:tblPr>
              <a:tblGrid>
                <a:gridCol w="6589175"/>
              </a:tblGrid>
              <a:tr h="1212500">
                <a:tc>
                  <a:txBody>
                    <a:bodyPr/>
                    <a:lstStyle/>
                    <a:p>
                      <a:pPr indent="0" lvl="0" marL="0" marR="0" rtl="0" algn="l">
                        <a:spcBef>
                          <a:spcPts val="0"/>
                        </a:spcBef>
                        <a:spcAft>
                          <a:spcPts val="0"/>
                        </a:spcAft>
                        <a:buNone/>
                      </a:pPr>
                      <a:r>
                        <a:rPr b="0" lang="en-GB" sz="1200">
                          <a:solidFill>
                            <a:schemeClr val="dk1"/>
                          </a:solidFill>
                        </a:rPr>
                        <a:t>5. Arrange the numbers to fit the chain: </a:t>
                      </a:r>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16000">
                <a:tc>
                  <a:txBody>
                    <a:bodyPr/>
                    <a:lstStyle/>
                    <a:p>
                      <a:pPr indent="0" lvl="0" marL="0" marR="0" rtl="0" algn="l">
                        <a:spcBef>
                          <a:spcPts val="0"/>
                        </a:spcBef>
                        <a:spcAft>
                          <a:spcPts val="0"/>
                        </a:spcAft>
                        <a:buNone/>
                      </a:pPr>
                      <a:r>
                        <a:rPr lang="en-GB" sz="1200"/>
                        <a:t>6. Tick the numbers below that could complete the statement       12.5 ≤  _____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185" name="Google Shape;185;p16"/>
          <p:cNvGraphicFramePr/>
          <p:nvPr/>
        </p:nvGraphicFramePr>
        <p:xfrm>
          <a:off x="399732" y="2980218"/>
          <a:ext cx="3000000" cy="3000000"/>
        </p:xfrm>
        <a:graphic>
          <a:graphicData uri="http://schemas.openxmlformats.org/drawingml/2006/table">
            <a:tbl>
              <a:tblPr bandRow="1" firstRow="1">
                <a:noFill/>
                <a:tableStyleId>{80DC9934-8B59-45FF-97CA-8DE436CF681E}</a:tableStyleId>
              </a:tblPr>
              <a:tblGrid>
                <a:gridCol w="674925"/>
                <a:gridCol w="674925"/>
                <a:gridCol w="674925"/>
                <a:gridCol w="674925"/>
                <a:gridCol w="674925"/>
                <a:gridCol w="674925"/>
                <a:gridCol w="674925"/>
                <a:gridCol w="674925"/>
                <a:gridCol w="674925"/>
              </a:tblGrid>
              <a:tr h="305475">
                <a:tc>
                  <a:txBody>
                    <a:bodyPr/>
                    <a:lstStyle/>
                    <a:p>
                      <a:pPr indent="0" lvl="0" marL="0" marR="0" rtl="0" algn="ctr">
                        <a:spcBef>
                          <a:spcPts val="0"/>
                        </a:spcBef>
                        <a:spcAft>
                          <a:spcPts val="0"/>
                        </a:spcAft>
                        <a:buNone/>
                      </a:pPr>
                      <a:r>
                        <a:rPr b="0" lang="en-GB" sz="1800">
                          <a:solidFill>
                            <a:srgbClr val="FF0000"/>
                          </a:solidFill>
                        </a:rPr>
                        <a:t>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chemeClr val="dk1"/>
                          </a:solidFill>
                        </a:rPr>
                        <a:t>&gt;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rgbClr val="FF0000"/>
                          </a:solidFill>
                        </a:rPr>
                        <a:t>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chemeClr val="dk1"/>
                          </a:solidFill>
                        </a:rPr>
                        <a:t>&gt;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rgbClr val="FF0000"/>
                          </a:solidFill>
                        </a:rPr>
                        <a:t>4.25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chemeClr val="dk1"/>
                          </a:solidFill>
                        </a:rPr>
                        <a:t>&gt;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rgbClr val="FF0000"/>
                          </a:solidFill>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chemeClr val="dk1"/>
                          </a:solidFill>
                        </a:rPr>
                        <a:t>&gt;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800">
                          <a:solidFill>
                            <a:srgbClr val="FF0000"/>
                          </a:solidFill>
                        </a:rPr>
                        <a:t>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6" name="Google Shape;186;p16"/>
          <p:cNvSpPr txBox="1"/>
          <p:nvPr/>
        </p:nvSpPr>
        <p:spPr>
          <a:xfrm>
            <a:off x="2457728" y="2576723"/>
            <a:ext cx="179728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12,   5,   4,   1.2,    4.25</a:t>
            </a:r>
            <a:endParaRPr/>
          </a:p>
        </p:txBody>
      </p:sp>
      <p:graphicFrame>
        <p:nvGraphicFramePr>
          <p:cNvPr id="187" name="Google Shape;187;p16"/>
          <p:cNvGraphicFramePr/>
          <p:nvPr/>
        </p:nvGraphicFramePr>
        <p:xfrm>
          <a:off x="1640080" y="3787539"/>
          <a:ext cx="3000000" cy="3000000"/>
        </p:xfrm>
        <a:graphic>
          <a:graphicData uri="http://schemas.openxmlformats.org/drawingml/2006/table">
            <a:tbl>
              <a:tblPr bandRow="1" firstRow="1">
                <a:noFill/>
                <a:tableStyleId>{80DC9934-8B59-45FF-97CA-8DE436CF681E}</a:tableStyleId>
              </a:tblPr>
              <a:tblGrid>
                <a:gridCol w="756000"/>
                <a:gridCol w="756000"/>
                <a:gridCol w="756000"/>
                <a:gridCol w="756000"/>
                <a:gridCol w="756000"/>
              </a:tblGrid>
              <a:tr h="288000">
                <a:tc>
                  <a:txBody>
                    <a:bodyPr/>
                    <a:lstStyle/>
                    <a:p>
                      <a:pPr indent="0" lvl="0" marL="0" marR="0" rtl="0" algn="ctr">
                        <a:spcBef>
                          <a:spcPts val="0"/>
                        </a:spcBef>
                        <a:spcAft>
                          <a:spcPts val="0"/>
                        </a:spcAft>
                        <a:buNone/>
                      </a:pPr>
                      <a:r>
                        <a:rPr b="0" lang="en-GB" sz="1400">
                          <a:solidFill>
                            <a:schemeClr val="dk1"/>
                          </a:solidFill>
                        </a:rPr>
                        <a:t>12.5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400">
                          <a:solidFill>
                            <a:schemeClr val="dk1"/>
                          </a:solidFill>
                        </a:rPr>
                        <a:t>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400">
                          <a:solidFill>
                            <a:schemeClr val="dk1"/>
                          </a:solidFill>
                        </a:rPr>
                        <a:t>11.5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400">
                          <a:solidFill>
                            <a:schemeClr val="dk1"/>
                          </a:solidFill>
                        </a:rPr>
                        <a:t>1.25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400">
                          <a:solidFill>
                            <a:schemeClr val="dk1"/>
                          </a:solidFill>
                        </a:rPr>
                        <a:t>5.21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i="0" lang="en-GB" sz="1350">
                          <a:solidFill>
                            <a:srgbClr val="FF0000"/>
                          </a:solidFill>
                          <a:latin typeface="Calibri"/>
                          <a:ea typeface="Calibri"/>
                          <a:cs typeface="Calibri"/>
                          <a:sym typeface="Calibri"/>
                        </a:rPr>
                        <a:t>✔</a:t>
                      </a:r>
                      <a:r>
                        <a:rPr b="0" i="0" lang="en-GB" sz="1350">
                          <a:solidFill>
                            <a:schemeClr val="dk1"/>
                          </a:solidFill>
                          <a:latin typeface="Calibri"/>
                          <a:ea typeface="Calibri"/>
                          <a:cs typeface="Calibri"/>
                          <a:sym typeface="Calibri"/>
                        </a:rPr>
                        <a:t> </a:t>
                      </a:r>
                      <a:endParaRPr b="0" sz="14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4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4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4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4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8" name="Google Shape;188;p16"/>
          <p:cNvSpPr/>
          <p:nvPr/>
        </p:nvSpPr>
        <p:spPr>
          <a:xfrm>
            <a:off x="139998" y="4698461"/>
            <a:ext cx="6572478" cy="27699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‘Greater than or equal to’ and ‘Less than or equal to ’ symbols to compare decimals</a:t>
            </a:r>
            <a:endParaRPr/>
          </a:p>
        </p:txBody>
      </p:sp>
      <p:graphicFrame>
        <p:nvGraphicFramePr>
          <p:cNvPr id="189" name="Google Shape;189;p16"/>
          <p:cNvGraphicFramePr/>
          <p:nvPr/>
        </p:nvGraphicFramePr>
        <p:xfrm>
          <a:off x="139998" y="5194816"/>
          <a:ext cx="3000000" cy="3000000"/>
        </p:xfrm>
        <a:graphic>
          <a:graphicData uri="http://schemas.openxmlformats.org/drawingml/2006/table">
            <a:tbl>
              <a:tblPr bandRow="1" firstRow="1">
                <a:noFill/>
                <a:tableStyleId>{80DC9934-8B59-45FF-97CA-8DE436CF681E}</a:tableStyleId>
              </a:tblPr>
              <a:tblGrid>
                <a:gridCol w="1404350"/>
                <a:gridCol w="1729050"/>
                <a:gridCol w="1729050"/>
                <a:gridCol w="1729050"/>
              </a:tblGrid>
              <a:tr h="4374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2475">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Look at the number and the symbol.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8.4</a:t>
                      </a:r>
                      <a:endParaRPr/>
                    </a:p>
                    <a:p>
                      <a:pPr indent="0" lvl="0" marL="0" marR="0" rtl="0" algn="l">
                        <a:spcBef>
                          <a:spcPts val="0"/>
                        </a:spcBef>
                        <a:spcAft>
                          <a:spcPts val="0"/>
                        </a:spcAft>
                        <a:buNone/>
                      </a:pPr>
                      <a:r>
                        <a:t/>
                      </a:r>
                      <a:endParaRPr sz="1200">
                        <a:solidFill>
                          <a:schemeClr val="dk1"/>
                        </a:solidFill>
                      </a:endParaRPr>
                    </a:p>
                    <a:p>
                      <a:pPr indent="0" lvl="0" marL="0" marR="0" rtl="0" algn="ctr">
                        <a:spcBef>
                          <a:spcPts val="0"/>
                        </a:spcBef>
                        <a:spcAft>
                          <a:spcPts val="0"/>
                        </a:spcAft>
                        <a:buNone/>
                      </a:pPr>
                      <a:r>
                        <a:t/>
                      </a:r>
                      <a:endParaRPr sz="1200">
                        <a:solidFill>
                          <a:srgbClr val="FF0000"/>
                        </a:solidFill>
                      </a:endParaRPr>
                    </a:p>
                    <a:p>
                      <a:pPr indent="0" lvl="0" marL="0" marR="0" rtl="0" algn="ctr">
                        <a:spcBef>
                          <a:spcPts val="0"/>
                        </a:spcBef>
                        <a:spcAft>
                          <a:spcPts val="0"/>
                        </a:spcAft>
                        <a:buNone/>
                      </a:pPr>
                      <a:r>
                        <a:rPr b="1" lang="en-GB" sz="1200">
                          <a:solidFill>
                            <a:srgbClr val="FF0000"/>
                          </a:solidFill>
                        </a:rPr>
                        <a:t>9, 10, 11, 12, 13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34.9</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rPr>
                        <a:t>35, 36, 37, 38, 39</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76.5</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rPr>
                        <a:t>77, 78, 79, 80, 81</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37400">
                <a:tc>
                  <a:txBody>
                    <a:bodyPr/>
                    <a:lstStyle/>
                    <a:p>
                      <a:pPr indent="0" lvl="0" marL="0" marR="0" rtl="0" algn="ctr">
                        <a:spcBef>
                          <a:spcPts val="0"/>
                        </a:spcBef>
                        <a:spcAft>
                          <a:spcPts val="0"/>
                        </a:spcAft>
                        <a:buNone/>
                      </a:pPr>
                      <a:r>
                        <a:rPr lang="en-GB" sz="1200">
                          <a:solidFill>
                            <a:schemeClr val="dk1"/>
                          </a:solidFill>
                        </a:rPr>
                        <a:t>Use the symbol to decide whether you are listing numbers greater than or equal to, or less than or equal to that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vMerge="1"/>
                <a:tc vMerge="1"/>
                <a:tc vMerge="1"/>
              </a:tr>
            </a:tbl>
          </a:graphicData>
        </a:graphic>
      </p:graphicFrame>
      <p:sp>
        <p:nvSpPr>
          <p:cNvPr id="190" name="Google Shape;190;p16"/>
          <p:cNvSpPr txBox="1"/>
          <p:nvPr/>
        </p:nvSpPr>
        <p:spPr>
          <a:xfrm>
            <a:off x="1640080" y="4917816"/>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10 - I do…</a:t>
            </a:r>
            <a:endParaRPr/>
          </a:p>
        </p:txBody>
      </p:sp>
      <p:sp>
        <p:nvSpPr>
          <p:cNvPr id="191" name="Google Shape;191;p16"/>
          <p:cNvSpPr txBox="1"/>
          <p:nvPr/>
        </p:nvSpPr>
        <p:spPr>
          <a:xfrm>
            <a:off x="5211832" y="491705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12 – You do…</a:t>
            </a:r>
            <a:endParaRPr/>
          </a:p>
        </p:txBody>
      </p:sp>
      <p:sp>
        <p:nvSpPr>
          <p:cNvPr id="192" name="Google Shape;192;p16"/>
          <p:cNvSpPr txBox="1"/>
          <p:nvPr/>
        </p:nvSpPr>
        <p:spPr>
          <a:xfrm>
            <a:off x="3312265" y="491858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11 – We do…</a:t>
            </a:r>
            <a:endParaRPr/>
          </a:p>
        </p:txBody>
      </p:sp>
      <p:graphicFrame>
        <p:nvGraphicFramePr>
          <p:cNvPr id="193" name="Google Shape;193;p16"/>
          <p:cNvGraphicFramePr/>
          <p:nvPr/>
        </p:nvGraphicFramePr>
        <p:xfrm>
          <a:off x="139998" y="7622547"/>
          <a:ext cx="3000000" cy="3000000"/>
        </p:xfrm>
        <a:graphic>
          <a:graphicData uri="http://schemas.openxmlformats.org/drawingml/2006/table">
            <a:tbl>
              <a:tblPr bandRow="1" firstRow="1">
                <a:noFill/>
                <a:tableStyleId>{80DC9934-8B59-45FF-97CA-8DE436CF681E}</a:tableStyleId>
              </a:tblPr>
              <a:tblGrid>
                <a:gridCol w="1403050"/>
                <a:gridCol w="1733550"/>
                <a:gridCol w="1733550"/>
                <a:gridCol w="1721375"/>
              </a:tblGrid>
              <a:tr h="226050">
                <a:tc rowSpan="2">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309800">
                <a:tc vMerge="1"/>
                <a:tc>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8.4</a:t>
                      </a:r>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rgbClr val="FF0000"/>
                        </a:buClr>
                        <a:buSzPts val="1100"/>
                        <a:buFont typeface="Calibri"/>
                        <a:buNone/>
                      </a:pPr>
                      <a:r>
                        <a:rPr b="1" lang="en-GB" sz="1100">
                          <a:solidFill>
                            <a:srgbClr val="FF0000"/>
                          </a:solidFill>
                        </a:rPr>
                        <a:t>8, 7, 6, 5, 4</a:t>
                      </a:r>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34.9</a:t>
                      </a:r>
                      <a:endParaRPr/>
                    </a:p>
                    <a:p>
                      <a:pPr indent="0" lvl="0" marL="0" marR="0" rtl="0" algn="ctr">
                        <a:lnSpc>
                          <a:spcPct val="100000"/>
                        </a:lnSpc>
                        <a:spcBef>
                          <a:spcPts val="0"/>
                        </a:spcBef>
                        <a:spcAft>
                          <a:spcPts val="0"/>
                        </a:spcAft>
                        <a:buClr>
                          <a:schemeClr val="dk1"/>
                        </a:buClr>
                        <a:buSzPts val="1100"/>
                        <a:buFont typeface="Calibri"/>
                        <a:buNone/>
                      </a:pPr>
                      <a:r>
                        <a:t/>
                      </a:r>
                      <a:endParaRPr b="0"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t/>
                      </a:r>
                      <a:endParaRPr b="0" sz="1100">
                        <a:solidFill>
                          <a:schemeClr val="dk1"/>
                        </a:solidFill>
                      </a:endParaRPr>
                    </a:p>
                    <a:p>
                      <a:pPr indent="0" lvl="0" marL="0" marR="0" rtl="0" algn="ctr">
                        <a:lnSpc>
                          <a:spcPct val="100000"/>
                        </a:lnSpc>
                        <a:spcBef>
                          <a:spcPts val="0"/>
                        </a:spcBef>
                        <a:spcAft>
                          <a:spcPts val="0"/>
                        </a:spcAft>
                        <a:buClr>
                          <a:srgbClr val="FF0000"/>
                        </a:buClr>
                        <a:buSzPts val="1100"/>
                        <a:buFont typeface="Calibri"/>
                        <a:buNone/>
                      </a:pPr>
                      <a:r>
                        <a:rPr b="1" lang="en-GB" sz="1100">
                          <a:solidFill>
                            <a:srgbClr val="FF0000"/>
                          </a:solidFill>
                        </a:rPr>
                        <a:t>34, 33, 32, 31, 30</a:t>
                      </a:r>
                      <a:endParaRPr/>
                    </a:p>
                    <a:p>
                      <a:pPr indent="0" lvl="0" marL="0" marR="0" rtl="0" algn="ctr">
                        <a:lnSpc>
                          <a:spcPct val="100000"/>
                        </a:lnSpc>
                        <a:spcBef>
                          <a:spcPts val="0"/>
                        </a:spcBef>
                        <a:spcAft>
                          <a:spcPts val="0"/>
                        </a:spcAft>
                        <a:buClr>
                          <a:schemeClr val="dk1"/>
                        </a:buClr>
                        <a:buSzPts val="1100"/>
                        <a:buFont typeface="Calibri"/>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76.5</a:t>
                      </a:r>
                      <a:endParaRPr/>
                    </a:p>
                    <a:p>
                      <a:pPr indent="0" lvl="0" marL="0" marR="0" rtl="0" algn="ctr">
                        <a:lnSpc>
                          <a:spcPct val="100000"/>
                        </a:lnSpc>
                        <a:spcBef>
                          <a:spcPts val="0"/>
                        </a:spcBef>
                        <a:spcAft>
                          <a:spcPts val="0"/>
                        </a:spcAft>
                        <a:buClr>
                          <a:schemeClr val="dk1"/>
                        </a:buClr>
                        <a:buSzPts val="1100"/>
                        <a:buFont typeface="Calibri"/>
                        <a:buNone/>
                      </a:pPr>
                      <a:r>
                        <a:t/>
                      </a:r>
                      <a:endParaRPr b="0"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t/>
                      </a:r>
                      <a:endParaRPr b="0" sz="1100">
                        <a:solidFill>
                          <a:schemeClr val="dk1"/>
                        </a:solidFill>
                      </a:endParaRPr>
                    </a:p>
                    <a:p>
                      <a:pPr indent="0" lvl="0" marL="0" marR="0" rtl="0" algn="ctr">
                        <a:lnSpc>
                          <a:spcPct val="100000"/>
                        </a:lnSpc>
                        <a:spcBef>
                          <a:spcPts val="0"/>
                        </a:spcBef>
                        <a:spcAft>
                          <a:spcPts val="0"/>
                        </a:spcAft>
                        <a:buClr>
                          <a:srgbClr val="FF0000"/>
                        </a:buClr>
                        <a:buSzPts val="1100"/>
                        <a:buFont typeface="Calibri"/>
                        <a:buNone/>
                      </a:pPr>
                      <a:r>
                        <a:rPr b="1" lang="en-GB" sz="1100">
                          <a:solidFill>
                            <a:srgbClr val="FF0000"/>
                          </a:solidFill>
                        </a:rPr>
                        <a:t>76, 75, 74, 73, 72</a:t>
                      </a:r>
                      <a:endParaRPr/>
                    </a:p>
                    <a:p>
                      <a:pPr indent="0" lvl="0" marL="0" marR="0" rtl="0" algn="ctr">
                        <a:lnSpc>
                          <a:spcPct val="100000"/>
                        </a:lnSpc>
                        <a:spcBef>
                          <a:spcPts val="0"/>
                        </a:spcBef>
                        <a:spcAft>
                          <a:spcPts val="0"/>
                        </a:spcAft>
                        <a:buClr>
                          <a:schemeClr val="dk1"/>
                        </a:buClr>
                        <a:buSzPts val="1100"/>
                        <a:buFont typeface="Calibri"/>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p:nvPr/>
        </p:nvSpPr>
        <p:spPr>
          <a:xfrm>
            <a:off x="105917" y="325861"/>
            <a:ext cx="1137954" cy="396000"/>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200" name="Google Shape;200;p17"/>
          <p:cNvSpPr txBox="1"/>
          <p:nvPr/>
        </p:nvSpPr>
        <p:spPr>
          <a:xfrm>
            <a:off x="1243871" y="444850"/>
            <a:ext cx="617770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400">
                <a:solidFill>
                  <a:schemeClr val="dk1"/>
                </a:solidFill>
                <a:latin typeface="Calibri"/>
                <a:ea typeface="Calibri"/>
                <a:cs typeface="Calibri"/>
                <a:sym typeface="Calibri"/>
              </a:rPr>
              <a:t>7. List the first five integers that satisfy each of the following inequalities</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aphicFrame>
        <p:nvGraphicFramePr>
          <p:cNvPr id="201" name="Google Shape;201;p17"/>
          <p:cNvGraphicFramePr/>
          <p:nvPr/>
        </p:nvGraphicFramePr>
        <p:xfrm>
          <a:off x="105916" y="899603"/>
          <a:ext cx="3000000" cy="3000000"/>
        </p:xfrm>
        <a:graphic>
          <a:graphicData uri="http://schemas.openxmlformats.org/drawingml/2006/table">
            <a:tbl>
              <a:tblPr bandRow="1" firstRow="1">
                <a:noFill/>
                <a:tableStyleId>{80DC9934-8B59-45FF-97CA-8DE436CF681E}</a:tableStyleId>
              </a:tblPr>
              <a:tblGrid>
                <a:gridCol w="3961575"/>
                <a:gridCol w="2619075"/>
              </a:tblGrid>
              <a:tr h="468000">
                <a:tc>
                  <a:txBody>
                    <a:bodyPr/>
                    <a:lstStyle/>
                    <a:p>
                      <a:pPr indent="0" lvl="0" marL="0" marR="0" rtl="0" algn="ctr">
                        <a:spcBef>
                          <a:spcPts val="0"/>
                        </a:spcBef>
                        <a:spcAft>
                          <a:spcPts val="0"/>
                        </a:spcAft>
                        <a:buNone/>
                      </a:pPr>
                      <a:r>
                        <a:rPr b="0" lang="en-GB" sz="1600">
                          <a:solidFill>
                            <a:schemeClr val="dk1"/>
                          </a:solidFill>
                        </a:rPr>
                        <a:t>______  ≥ 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2, 3, 4, 5, 6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5, 4, 3, 2, 1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&gt; 0.13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1, 2, 3, 4, 5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0.13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1, 2, 3, 4, 5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&lt; 6.13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6, 5, 4, 3, 2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6.13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6, 5, 4, 3, 2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0.796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0, -1, -2, -3, -4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1.080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 0, -1, -2,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Three thousand four hundred point five </a:t>
                      </a:r>
                      <a:r>
                        <a:rPr b="0" lang="en-GB" sz="1600">
                          <a:solidFill>
                            <a:schemeClr val="dk1"/>
                          </a:solidFill>
                        </a:rPr>
                        <a:t>≤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400">
                          <a:solidFill>
                            <a:srgbClr val="FF0000"/>
                          </a:solidFill>
                        </a:rPr>
                        <a:t>3400, 3401, 3402, 3403, 3404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Twenty seven point one five </a:t>
                      </a:r>
                      <a:r>
                        <a:rPr b="0" lang="en-GB" sz="1600">
                          <a:solidFill>
                            <a:schemeClr val="dk1"/>
                          </a:solidFill>
                        </a:rPr>
                        <a:t>≥</a:t>
                      </a:r>
                      <a:r>
                        <a:rPr b="0" lang="en-GB" sz="1200">
                          <a:solidFill>
                            <a:schemeClr val="dk1"/>
                          </a:solidFill>
                        </a:rPr>
                        <a:t> </a:t>
                      </a:r>
                      <a:r>
                        <a:rPr b="0" lang="en-GB" sz="1600">
                          <a:solidFill>
                            <a:schemeClr val="dk1"/>
                          </a:solidFill>
                        </a:rPr>
                        <a:t>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27, 26, 25, 24, 23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&gt; 3.0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4, 5, 6, 7, 8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4, 3, 2, 1, 0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02" name="Google Shape;202;p1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03" name="Google Shape;203;p17"/>
          <p:cNvGraphicFramePr/>
          <p:nvPr/>
        </p:nvGraphicFramePr>
        <p:xfrm>
          <a:off x="121190" y="6852895"/>
          <a:ext cx="3000000" cy="3000000"/>
        </p:xfrm>
        <a:graphic>
          <a:graphicData uri="http://schemas.openxmlformats.org/drawingml/2006/table">
            <a:tbl>
              <a:tblPr bandRow="1" firstRow="1">
                <a:noFill/>
                <a:tableStyleId>{80DC9934-8B59-45FF-97CA-8DE436CF681E}</a:tableStyleId>
              </a:tblPr>
              <a:tblGrid>
                <a:gridCol w="6589175"/>
              </a:tblGrid>
              <a:tr h="23285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04" name="Google Shape;204;p17"/>
          <p:cNvGraphicFramePr/>
          <p:nvPr/>
        </p:nvGraphicFramePr>
        <p:xfrm>
          <a:off x="121190" y="7537085"/>
          <a:ext cx="3000000" cy="3000000"/>
        </p:xfrm>
        <a:graphic>
          <a:graphicData uri="http://schemas.openxmlformats.org/drawingml/2006/table">
            <a:tbl>
              <a:tblPr bandRow="1" firstRow="1">
                <a:noFill/>
                <a:tableStyleId>{80DC9934-8B59-45FF-97CA-8DE436CF681E}</a:tableStyleId>
              </a:tblPr>
              <a:tblGrid>
                <a:gridCol w="6580625"/>
              </a:tblGrid>
              <a:tr h="4110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10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10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10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05" name="Google Shape;205;p17"/>
          <p:cNvSpPr txBox="1"/>
          <p:nvPr/>
        </p:nvSpPr>
        <p:spPr>
          <a:xfrm>
            <a:off x="105916" y="7537085"/>
            <a:ext cx="6619504" cy="8803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GB" sz="1800">
                <a:solidFill>
                  <a:srgbClr val="FF0000"/>
                </a:solidFill>
                <a:latin typeface="Calibri"/>
                <a:ea typeface="Calibri"/>
                <a:cs typeface="Calibri"/>
                <a:sym typeface="Calibri"/>
              </a:rPr>
              <a:t>Joe hasn’t thought about numbers greater than 3.9 but less than 4, </a:t>
            </a:r>
            <a:endParaRPr/>
          </a:p>
          <a:p>
            <a:pPr indent="0" lvl="0" marL="0" marR="0" rtl="0" algn="l">
              <a:lnSpc>
                <a:spcPct val="150000"/>
              </a:lnSpc>
              <a:spcBef>
                <a:spcPts val="0"/>
              </a:spcBef>
              <a:spcAft>
                <a:spcPts val="0"/>
              </a:spcAft>
              <a:buNone/>
            </a:pPr>
            <a:r>
              <a:rPr b="1" lang="en-GB" sz="1800">
                <a:solidFill>
                  <a:srgbClr val="FF0000"/>
                </a:solidFill>
                <a:latin typeface="Calibri"/>
                <a:ea typeface="Calibri"/>
                <a:cs typeface="Calibri"/>
                <a:sym typeface="Calibri"/>
              </a:rPr>
              <a:t>Such as 3.91, 3.92 or even 3.9945, for example.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18"/>
          <p:cNvGrpSpPr/>
          <p:nvPr/>
        </p:nvGrpSpPr>
        <p:grpSpPr>
          <a:xfrm>
            <a:off x="167829" y="4247023"/>
            <a:ext cx="6599682" cy="5358463"/>
            <a:chOff x="124966" y="4200511"/>
            <a:chExt cx="6599682" cy="5358463"/>
          </a:xfrm>
        </p:grpSpPr>
        <p:grpSp>
          <p:nvGrpSpPr>
            <p:cNvPr id="212" name="Google Shape;212;p18"/>
            <p:cNvGrpSpPr/>
            <p:nvPr/>
          </p:nvGrpSpPr>
          <p:grpSpPr>
            <a:xfrm>
              <a:off x="309527" y="4200511"/>
              <a:ext cx="6227700" cy="5358463"/>
              <a:chOff x="325500" y="4397830"/>
              <a:chExt cx="6227700" cy="5358463"/>
            </a:xfrm>
          </p:grpSpPr>
          <p:pic>
            <p:nvPicPr>
              <p:cNvPr descr="A picture containing chart&#10;&#10;Description automatically generated" id="213" name="Google Shape;213;p18"/>
              <p:cNvPicPr preferRelativeResize="0"/>
              <p:nvPr/>
            </p:nvPicPr>
            <p:blipFill rotWithShape="1">
              <a:blip r:embed="rId3">
                <a:alphaModFix/>
              </a:blip>
              <a:srcRect b="0" l="0" r="0" t="0"/>
              <a:stretch/>
            </p:blipFill>
            <p:spPr>
              <a:xfrm>
                <a:off x="325500" y="4416862"/>
                <a:ext cx="6206999" cy="5339431"/>
              </a:xfrm>
              <a:prstGeom prst="rect">
                <a:avLst/>
              </a:prstGeom>
              <a:noFill/>
              <a:ln>
                <a:noFill/>
              </a:ln>
            </p:spPr>
          </p:pic>
          <p:sp>
            <p:nvSpPr>
              <p:cNvPr id="214" name="Google Shape;214;p18"/>
              <p:cNvSpPr/>
              <p:nvPr/>
            </p:nvSpPr>
            <p:spPr>
              <a:xfrm>
                <a:off x="326571" y="4397830"/>
                <a:ext cx="6226629" cy="75249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15" name="Google Shape;215;p18"/>
            <p:cNvSpPr/>
            <p:nvPr/>
          </p:nvSpPr>
          <p:spPr>
            <a:xfrm>
              <a:off x="124966" y="4270718"/>
              <a:ext cx="6599682" cy="3526778"/>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16" name="Google Shape;216;p18"/>
          <p:cNvSpPr/>
          <p:nvPr/>
        </p:nvSpPr>
        <p:spPr>
          <a:xfrm>
            <a:off x="86867" y="268711"/>
            <a:ext cx="1137954" cy="396000"/>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217" name="Google Shape;217;p18"/>
          <p:cNvSpPr txBox="1"/>
          <p:nvPr/>
        </p:nvSpPr>
        <p:spPr>
          <a:xfrm>
            <a:off x="1224821" y="115606"/>
            <a:ext cx="563317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400">
                <a:solidFill>
                  <a:schemeClr val="dk1"/>
                </a:solidFill>
                <a:latin typeface="Calibri"/>
                <a:ea typeface="Calibri"/>
                <a:cs typeface="Calibri"/>
                <a:sym typeface="Calibri"/>
              </a:rPr>
              <a:t>8. Fill in the missing symbol ( &gt;, &lt;,  ≤,  ≥), based on the first five integers that have been listed to satisfy the inequality. </a:t>
            </a:r>
            <a:r>
              <a:rPr lang="en-GB" sz="1400">
                <a:solidFill>
                  <a:schemeClr val="dk1"/>
                </a:solidFill>
                <a:latin typeface="Calibri"/>
                <a:ea typeface="Calibri"/>
                <a:cs typeface="Calibri"/>
                <a:sym typeface="Calibri"/>
              </a:rPr>
              <a:t>Some questions may have more than one solution.</a:t>
            </a:r>
            <a:endParaRPr b="0"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aphicFrame>
        <p:nvGraphicFramePr>
          <p:cNvPr id="218" name="Google Shape;218;p18"/>
          <p:cNvGraphicFramePr/>
          <p:nvPr/>
        </p:nvGraphicFramePr>
        <p:xfrm>
          <a:off x="124966" y="817816"/>
          <a:ext cx="3000000" cy="3000000"/>
        </p:xfrm>
        <a:graphic>
          <a:graphicData uri="http://schemas.openxmlformats.org/drawingml/2006/table">
            <a:tbl>
              <a:tblPr bandRow="1" firstRow="1">
                <a:noFill/>
                <a:tableStyleId>{80DC9934-8B59-45FF-97CA-8DE436CF681E}</a:tableStyleId>
              </a:tblPr>
              <a:tblGrid>
                <a:gridCol w="1541825"/>
                <a:gridCol w="851025"/>
                <a:gridCol w="1196925"/>
                <a:gridCol w="3009900"/>
              </a:tblGrid>
              <a:tr h="432000">
                <a:tc gridSpan="3">
                  <a:txBody>
                    <a:bodyPr/>
                    <a:lstStyle/>
                    <a:p>
                      <a:pPr indent="0" lvl="0" marL="0" marR="0" rtl="0" algn="ctr">
                        <a:spcBef>
                          <a:spcPts val="0"/>
                        </a:spcBef>
                        <a:spcAft>
                          <a:spcPts val="0"/>
                        </a:spcAft>
                        <a:buNone/>
                      </a:pPr>
                      <a:r>
                        <a:rPr b="1" lang="en-GB" sz="1600">
                          <a:solidFill>
                            <a:schemeClr val="dk1"/>
                          </a:solidFill>
                        </a:rPr>
                        <a:t>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a:txBody>
                    <a:bodyPr/>
                    <a:lstStyle/>
                    <a:p>
                      <a:pPr indent="0" lvl="0" marL="0" marR="0" rtl="0" algn="ctr">
                        <a:spcBef>
                          <a:spcPts val="0"/>
                        </a:spcBef>
                        <a:spcAft>
                          <a:spcPts val="0"/>
                        </a:spcAft>
                        <a:buNone/>
                      </a:pPr>
                      <a:r>
                        <a:rPr lang="en-GB" sz="1600">
                          <a:solidFill>
                            <a:schemeClr val="dk1"/>
                          </a:solidFill>
                        </a:rPr>
                        <a:t>First five integers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spcBef>
                          <a:spcPts val="0"/>
                        </a:spcBef>
                        <a:spcAft>
                          <a:spcPts val="0"/>
                        </a:spcAft>
                        <a:buNone/>
                      </a:pPr>
                      <a:r>
                        <a:rPr b="0" lang="en-GB" sz="16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600">
                          <a:solidFill>
                            <a:schemeClr val="dk1"/>
                          </a:solidFill>
                        </a:rPr>
                        <a:t>7.4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8, 9, 10, 11, 12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114.9</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114, 113, 112, 111, 110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70.45</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70, 69, 68, 67, 66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1080.80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1080, 1079, 1078, 1077, 1076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6008.0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6008, 6009, 6010, 6011, 6012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Calibri"/>
                        <a:buNone/>
                      </a:pPr>
                      <a:r>
                        <a:rPr b="0" lang="en-GB" sz="1100">
                          <a:solidFill>
                            <a:schemeClr val="dk1"/>
                          </a:solidFill>
                        </a:rPr>
                        <a:t>Five thousand point six three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5000, 4999, 4998, 4997, 4996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Five thousand point zero</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5000, 5001, 5002, 5003, 5004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2 000 000.4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two million and one, two million and two, two million and three, two million and four, two million and 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600 284.00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Six hundred thousand two hundred and eighty four, six hundred thousand two hundred and eighty three, six hundred thousand two hundred and eighty two, six hundred thousand two hundred and eighty one, six hundred thousand two hundred and eighty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0.00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Zero, one, two, three, four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600"/>
                        <a:buFont typeface="Calibri"/>
                        <a:buNone/>
                      </a:pPr>
                      <a:r>
                        <a:rPr b="0" lang="en-GB" sz="1600">
                          <a:solidFill>
                            <a:schemeClr val="dk1"/>
                          </a:solidFill>
                        </a:rPr>
                        <a:t>0.0901467</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sz="16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Calibri"/>
                        <a:buNone/>
                      </a:pPr>
                      <a:r>
                        <a:rPr b="0" lang="en-GB" sz="16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One, two, three, four, five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9" name="Google Shape;219;p18"/>
          <p:cNvSpPr/>
          <p:nvPr/>
        </p:nvSpPr>
        <p:spPr>
          <a:xfrm>
            <a:off x="1787503" y="1273650"/>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18"/>
          <p:cNvSpPr/>
          <p:nvPr/>
        </p:nvSpPr>
        <p:spPr>
          <a:xfrm>
            <a:off x="1787503" y="1821063"/>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 name="Google Shape;221;p18"/>
          <p:cNvSpPr/>
          <p:nvPr/>
        </p:nvSpPr>
        <p:spPr>
          <a:xfrm>
            <a:off x="1787503" y="2272781"/>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18"/>
          <p:cNvSpPr/>
          <p:nvPr/>
        </p:nvSpPr>
        <p:spPr>
          <a:xfrm>
            <a:off x="1787503" y="2797637"/>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8"/>
          <p:cNvSpPr/>
          <p:nvPr/>
        </p:nvSpPr>
        <p:spPr>
          <a:xfrm>
            <a:off x="1787503" y="3297293"/>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8"/>
          <p:cNvSpPr/>
          <p:nvPr/>
        </p:nvSpPr>
        <p:spPr>
          <a:xfrm>
            <a:off x="1787503" y="3800883"/>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8"/>
          <p:cNvSpPr/>
          <p:nvPr/>
        </p:nvSpPr>
        <p:spPr>
          <a:xfrm>
            <a:off x="1787503" y="4323006"/>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8"/>
          <p:cNvSpPr/>
          <p:nvPr/>
        </p:nvSpPr>
        <p:spPr>
          <a:xfrm>
            <a:off x="1787503" y="4907726"/>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8"/>
          <p:cNvSpPr/>
          <p:nvPr/>
        </p:nvSpPr>
        <p:spPr>
          <a:xfrm>
            <a:off x="1787503" y="5957830"/>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18"/>
          <p:cNvSpPr/>
          <p:nvPr/>
        </p:nvSpPr>
        <p:spPr>
          <a:xfrm>
            <a:off x="1787503" y="6829537"/>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 name="Google Shape;229;p18"/>
          <p:cNvSpPr txBox="1"/>
          <p:nvPr>
            <p:ph idx="12" type="sldNum"/>
          </p:nvPr>
        </p:nvSpPr>
        <p:spPr>
          <a:xfrm>
            <a:off x="5224461"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30" name="Google Shape;230;p18"/>
          <p:cNvSpPr/>
          <p:nvPr/>
        </p:nvSpPr>
        <p:spPr>
          <a:xfrm>
            <a:off x="1787503" y="7347157"/>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18"/>
          <p:cNvSpPr txBox="1"/>
          <p:nvPr/>
        </p:nvSpPr>
        <p:spPr>
          <a:xfrm>
            <a:off x="1539133" y="1218435"/>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&gt; or ≥</a:t>
            </a:r>
            <a:endParaRPr/>
          </a:p>
        </p:txBody>
      </p:sp>
      <p:sp>
        <p:nvSpPr>
          <p:cNvPr id="232" name="Google Shape;232;p18"/>
          <p:cNvSpPr txBox="1"/>
          <p:nvPr/>
        </p:nvSpPr>
        <p:spPr>
          <a:xfrm>
            <a:off x="1539133" y="1745258"/>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 or ≤</a:t>
            </a:r>
            <a:endParaRPr/>
          </a:p>
        </p:txBody>
      </p:sp>
      <p:sp>
        <p:nvSpPr>
          <p:cNvPr id="233" name="Google Shape;233;p18"/>
          <p:cNvSpPr txBox="1"/>
          <p:nvPr/>
        </p:nvSpPr>
        <p:spPr>
          <a:xfrm>
            <a:off x="1539133" y="2246247"/>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 or ≤</a:t>
            </a:r>
            <a:endParaRPr/>
          </a:p>
        </p:txBody>
      </p:sp>
      <p:sp>
        <p:nvSpPr>
          <p:cNvPr id="234" name="Google Shape;234;p18"/>
          <p:cNvSpPr txBox="1"/>
          <p:nvPr/>
        </p:nvSpPr>
        <p:spPr>
          <a:xfrm>
            <a:off x="1539133" y="2761382"/>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&gt; or ≥</a:t>
            </a:r>
            <a:endParaRPr/>
          </a:p>
        </p:txBody>
      </p:sp>
      <p:sp>
        <p:nvSpPr>
          <p:cNvPr id="235" name="Google Shape;235;p18"/>
          <p:cNvSpPr txBox="1"/>
          <p:nvPr/>
        </p:nvSpPr>
        <p:spPr>
          <a:xfrm>
            <a:off x="1840668" y="4293401"/>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36" name="Google Shape;236;p18"/>
          <p:cNvSpPr txBox="1"/>
          <p:nvPr/>
        </p:nvSpPr>
        <p:spPr>
          <a:xfrm>
            <a:off x="1606751" y="4894782"/>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&gt; or ≥</a:t>
            </a:r>
            <a:endParaRPr/>
          </a:p>
        </p:txBody>
      </p:sp>
      <p:sp>
        <p:nvSpPr>
          <p:cNvPr id="237" name="Google Shape;237;p18"/>
          <p:cNvSpPr txBox="1"/>
          <p:nvPr/>
        </p:nvSpPr>
        <p:spPr>
          <a:xfrm>
            <a:off x="1876387" y="5921404"/>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38" name="Google Shape;238;p18"/>
          <p:cNvSpPr txBox="1"/>
          <p:nvPr/>
        </p:nvSpPr>
        <p:spPr>
          <a:xfrm>
            <a:off x="1830869" y="6787675"/>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39" name="Google Shape;239;p18"/>
          <p:cNvSpPr txBox="1"/>
          <p:nvPr/>
        </p:nvSpPr>
        <p:spPr>
          <a:xfrm>
            <a:off x="1830869" y="3254594"/>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40" name="Google Shape;240;p18"/>
          <p:cNvSpPr txBox="1"/>
          <p:nvPr/>
        </p:nvSpPr>
        <p:spPr>
          <a:xfrm>
            <a:off x="1563144" y="3765063"/>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 or ≤</a:t>
            </a:r>
            <a:endParaRPr/>
          </a:p>
        </p:txBody>
      </p:sp>
      <p:sp>
        <p:nvSpPr>
          <p:cNvPr id="241" name="Google Shape;241;p18"/>
          <p:cNvSpPr txBox="1"/>
          <p:nvPr/>
        </p:nvSpPr>
        <p:spPr>
          <a:xfrm>
            <a:off x="1563144" y="7291202"/>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&lt; or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idx="12" type="sldNum"/>
          </p:nvPr>
        </p:nvSpPr>
        <p:spPr>
          <a:xfrm>
            <a:off x="5228197" y="9473849"/>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48" name="Google Shape;248;p19"/>
          <p:cNvGraphicFramePr/>
          <p:nvPr/>
        </p:nvGraphicFramePr>
        <p:xfrm>
          <a:off x="148564" y="616431"/>
          <a:ext cx="3000000" cy="3000000"/>
        </p:xfrm>
        <a:graphic>
          <a:graphicData uri="http://schemas.openxmlformats.org/drawingml/2006/table">
            <a:tbl>
              <a:tblPr bandRow="1" firstRow="1">
                <a:noFill/>
                <a:tableStyleId>{80DC9934-8B59-45FF-97CA-8DE436CF681E}</a:tableStyleId>
              </a:tblPr>
              <a:tblGrid>
                <a:gridCol w="1280175"/>
                <a:gridCol w="1764100"/>
                <a:gridCol w="1764100"/>
                <a:gridCol w="1764100"/>
              </a:tblGrid>
              <a:tr h="27370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0487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Decide whether the two values are equal or not.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7275">
                <a:tc>
                  <a:txBody>
                    <a:bodyPr/>
                    <a:lstStyle/>
                    <a:p>
                      <a:pPr indent="0" lvl="0" marL="0" marR="0" rtl="0" algn="l">
                        <a:spcBef>
                          <a:spcPts val="0"/>
                        </a:spcBef>
                        <a:spcAft>
                          <a:spcPts val="0"/>
                        </a:spcAft>
                        <a:buNone/>
                      </a:pPr>
                      <a:r>
                        <a:rPr lang="en-GB" sz="1200">
                          <a:solidFill>
                            <a:schemeClr val="dk1"/>
                          </a:solidFill>
                        </a:rPr>
                        <a:t>If they are equal, use the ‘=‘ sign. If they aren’t, use the ≠ sign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249" name="Google Shape;249;p19"/>
          <p:cNvSpPr txBox="1"/>
          <p:nvPr/>
        </p:nvSpPr>
        <p:spPr>
          <a:xfrm>
            <a:off x="1700266" y="377532"/>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16 - I do…</a:t>
            </a:r>
            <a:endParaRPr/>
          </a:p>
        </p:txBody>
      </p:sp>
      <p:sp>
        <p:nvSpPr>
          <p:cNvPr id="250" name="Google Shape;250;p19"/>
          <p:cNvSpPr txBox="1"/>
          <p:nvPr/>
        </p:nvSpPr>
        <p:spPr>
          <a:xfrm>
            <a:off x="5039044" y="38812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18 – You do…</a:t>
            </a:r>
            <a:endParaRPr/>
          </a:p>
        </p:txBody>
      </p:sp>
      <p:sp>
        <p:nvSpPr>
          <p:cNvPr id="251" name="Google Shape;251;p19"/>
          <p:cNvSpPr txBox="1"/>
          <p:nvPr/>
        </p:nvSpPr>
        <p:spPr>
          <a:xfrm>
            <a:off x="3257635" y="38858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17 – We do…</a:t>
            </a:r>
            <a:endParaRPr/>
          </a:p>
        </p:txBody>
      </p:sp>
      <p:sp>
        <p:nvSpPr>
          <p:cNvPr id="252" name="Google Shape;252;p19"/>
          <p:cNvSpPr/>
          <p:nvPr/>
        </p:nvSpPr>
        <p:spPr>
          <a:xfrm>
            <a:off x="134446" y="2621537"/>
            <a:ext cx="1643405" cy="248781"/>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253" name="Google Shape;253;p19"/>
          <p:cNvSpPr/>
          <p:nvPr/>
        </p:nvSpPr>
        <p:spPr>
          <a:xfrm>
            <a:off x="2051979" y="1237882"/>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 name="Google Shape;254;p19"/>
          <p:cNvSpPr/>
          <p:nvPr/>
        </p:nvSpPr>
        <p:spPr>
          <a:xfrm>
            <a:off x="3774683" y="1237882"/>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19"/>
          <p:cNvSpPr/>
          <p:nvPr/>
        </p:nvSpPr>
        <p:spPr>
          <a:xfrm>
            <a:off x="5600333" y="1125416"/>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19"/>
          <p:cNvSpPr txBox="1"/>
          <p:nvPr/>
        </p:nvSpPr>
        <p:spPr>
          <a:xfrm>
            <a:off x="1350924" y="1122070"/>
            <a:ext cx="754961"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Two hundred and six tenths</a:t>
            </a:r>
            <a:endParaRPr/>
          </a:p>
        </p:txBody>
      </p:sp>
      <p:sp>
        <p:nvSpPr>
          <p:cNvPr id="257" name="Google Shape;257;p19"/>
          <p:cNvSpPr txBox="1"/>
          <p:nvPr/>
        </p:nvSpPr>
        <p:spPr>
          <a:xfrm>
            <a:off x="2589777" y="1340203"/>
            <a:ext cx="1098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200.06</a:t>
            </a:r>
            <a:endParaRPr/>
          </a:p>
        </p:txBody>
      </p:sp>
      <p:sp>
        <p:nvSpPr>
          <p:cNvPr id="258" name="Google Shape;258;p19"/>
          <p:cNvSpPr txBox="1"/>
          <p:nvPr/>
        </p:nvSpPr>
        <p:spPr>
          <a:xfrm>
            <a:off x="2956781" y="1331102"/>
            <a:ext cx="107148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3000.47</a:t>
            </a:r>
            <a:endParaRPr/>
          </a:p>
        </p:txBody>
      </p:sp>
      <p:sp>
        <p:nvSpPr>
          <p:cNvPr id="259" name="Google Shape;259;p19"/>
          <p:cNvSpPr txBox="1"/>
          <p:nvPr/>
        </p:nvSpPr>
        <p:spPr>
          <a:xfrm>
            <a:off x="4098094" y="1075903"/>
            <a:ext cx="98689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Three thousand point four seven</a:t>
            </a:r>
            <a:endParaRPr/>
          </a:p>
        </p:txBody>
      </p:sp>
      <p:sp>
        <p:nvSpPr>
          <p:cNvPr id="260" name="Google Shape;260;p19"/>
          <p:cNvSpPr txBox="1"/>
          <p:nvPr/>
        </p:nvSpPr>
        <p:spPr>
          <a:xfrm>
            <a:off x="4848959" y="1148069"/>
            <a:ext cx="887192" cy="6001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100">
                <a:solidFill>
                  <a:schemeClr val="dk1"/>
                </a:solidFill>
                <a:latin typeface="Calibri"/>
                <a:ea typeface="Calibri"/>
                <a:cs typeface="Calibri"/>
                <a:sym typeface="Calibri"/>
              </a:rPr>
              <a:t>Sixty-eight thousand point nine</a:t>
            </a:r>
            <a:endParaRPr/>
          </a:p>
        </p:txBody>
      </p:sp>
      <p:sp>
        <p:nvSpPr>
          <p:cNvPr id="261" name="Google Shape;261;p19"/>
          <p:cNvSpPr txBox="1"/>
          <p:nvPr/>
        </p:nvSpPr>
        <p:spPr>
          <a:xfrm>
            <a:off x="6040342" y="1270353"/>
            <a:ext cx="1098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68 000.9</a:t>
            </a:r>
            <a:endParaRPr/>
          </a:p>
        </p:txBody>
      </p:sp>
      <p:sp>
        <p:nvSpPr>
          <p:cNvPr id="262" name="Google Shape;262;p19"/>
          <p:cNvSpPr txBox="1"/>
          <p:nvPr/>
        </p:nvSpPr>
        <p:spPr>
          <a:xfrm>
            <a:off x="1789765" y="2692302"/>
            <a:ext cx="712636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9. Complete these statements using the symbols = or </a:t>
            </a:r>
            <a:r>
              <a:rPr b="0" lang="en-GB" sz="1200">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 </a:t>
            </a:r>
            <a:endParaRPr/>
          </a:p>
        </p:txBody>
      </p:sp>
      <p:sp>
        <p:nvSpPr>
          <p:cNvPr id="263" name="Google Shape;263;p19"/>
          <p:cNvSpPr/>
          <p:nvPr/>
        </p:nvSpPr>
        <p:spPr>
          <a:xfrm>
            <a:off x="141183" y="63998"/>
            <a:ext cx="6014442" cy="288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‘not equal to’ symbol to compare decimals</a:t>
            </a:r>
            <a:endParaRPr/>
          </a:p>
        </p:txBody>
      </p:sp>
      <p:sp>
        <p:nvSpPr>
          <p:cNvPr id="264" name="Google Shape;264;p19"/>
          <p:cNvSpPr txBox="1"/>
          <p:nvPr/>
        </p:nvSpPr>
        <p:spPr>
          <a:xfrm>
            <a:off x="2131172" y="1241489"/>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65" name="Google Shape;265;p19"/>
          <p:cNvSpPr txBox="1"/>
          <p:nvPr/>
        </p:nvSpPr>
        <p:spPr>
          <a:xfrm>
            <a:off x="3845244" y="1228112"/>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66" name="Google Shape;266;p19"/>
          <p:cNvSpPr txBox="1"/>
          <p:nvPr/>
        </p:nvSpPr>
        <p:spPr>
          <a:xfrm>
            <a:off x="5671719" y="1122070"/>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graphicFrame>
        <p:nvGraphicFramePr>
          <p:cNvPr id="267" name="Google Shape;267;p19"/>
          <p:cNvGraphicFramePr/>
          <p:nvPr/>
        </p:nvGraphicFramePr>
        <p:xfrm>
          <a:off x="153497" y="2933379"/>
          <a:ext cx="3000000" cy="3000000"/>
        </p:xfrm>
        <a:graphic>
          <a:graphicData uri="http://schemas.openxmlformats.org/drawingml/2006/table">
            <a:tbl>
              <a:tblPr bandRow="1" firstRow="1">
                <a:noFill/>
                <a:tableStyleId>{80DC9934-8B59-45FF-97CA-8DE436CF681E}</a:tableStyleId>
              </a:tblPr>
              <a:tblGrid>
                <a:gridCol w="3296925"/>
                <a:gridCol w="3296925"/>
              </a:tblGrid>
              <a:tr h="252000">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75425">
                <a:tc>
                  <a:txBody>
                    <a:bodyPr/>
                    <a:lstStyle/>
                    <a:p>
                      <a:pPr indent="0" lvl="0" marL="0" marR="0" rtl="0" algn="ctr">
                        <a:spcBef>
                          <a:spcPts val="0"/>
                        </a:spcBef>
                        <a:spcAft>
                          <a:spcPts val="0"/>
                        </a:spcAft>
                        <a:buNone/>
                      </a:pPr>
                      <a:r>
                        <a:rPr b="0" lang="en-GB" sz="1200">
                          <a:solidFill>
                            <a:schemeClr val="dk1"/>
                          </a:solidFill>
                        </a:rPr>
                        <a:t>                                    Five hundred and </a:t>
                      </a:r>
                      <a:endParaRPr/>
                    </a:p>
                    <a:p>
                      <a:pPr indent="0" lvl="0" marL="0" marR="0" rtl="0" algn="ctr">
                        <a:spcBef>
                          <a:spcPts val="0"/>
                        </a:spcBef>
                        <a:spcAft>
                          <a:spcPts val="0"/>
                        </a:spcAft>
                        <a:buNone/>
                      </a:pPr>
                      <a:r>
                        <a:rPr b="0" lang="en-GB" sz="1200">
                          <a:solidFill>
                            <a:schemeClr val="dk1"/>
                          </a:solidFill>
                        </a:rPr>
                        <a:t>                                          forty point zero one.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t>Eighty-three</a:t>
                      </a:r>
                      <a:endParaRPr/>
                    </a:p>
                    <a:p>
                      <a:pPr indent="0" lvl="0" marL="0" marR="0" rtl="0" algn="l">
                        <a:spcBef>
                          <a:spcPts val="0"/>
                        </a:spcBef>
                        <a:spcAft>
                          <a:spcPts val="0"/>
                        </a:spcAft>
                        <a:buNone/>
                      </a:pPr>
                      <a:r>
                        <a:rPr lang="en-GB" sz="1200"/>
                        <a:t>and seven tenths</a:t>
                      </a:r>
                      <a:endParaRPr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2000">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lnSpc>
                          <a:spcPct val="100000"/>
                        </a:lnSpc>
                        <a:spcBef>
                          <a:spcPts val="0"/>
                        </a:spcBef>
                        <a:spcAft>
                          <a:spcPts val="0"/>
                        </a:spcAft>
                        <a:buClr>
                          <a:srgbClr val="000000"/>
                        </a:buClr>
                        <a:buSzPts val="1200"/>
                        <a:buFont typeface="Calibri"/>
                        <a:buNone/>
                      </a:pPr>
                      <a:r>
                        <a:rPr b="0" lang="en-GB" sz="1200" u="none" cap="none" strike="noStrike">
                          <a:solidFill>
                            <a:srgbClr val="000000"/>
                          </a:solidFill>
                        </a:rPr>
                        <a:t>Nine thousand, </a:t>
                      </a:r>
                      <a:endParaRPr/>
                    </a:p>
                    <a:p>
                      <a:pPr indent="0" lvl="0" marL="0" marR="0" rtl="0" algn="l">
                        <a:lnSpc>
                          <a:spcPct val="100000"/>
                        </a:lnSpc>
                        <a:spcBef>
                          <a:spcPts val="0"/>
                        </a:spcBef>
                        <a:spcAft>
                          <a:spcPts val="0"/>
                        </a:spcAft>
                        <a:buClr>
                          <a:srgbClr val="000000"/>
                        </a:buClr>
                        <a:buSzPts val="1200"/>
                        <a:buFont typeface="Calibri"/>
                        <a:buNone/>
                      </a:pPr>
                      <a:r>
                        <a:rPr b="0" lang="en-GB" sz="1200" u="none" cap="none" strike="noStrike">
                          <a:solidFill>
                            <a:srgbClr val="000000"/>
                          </a:solidFill>
                        </a:rPr>
                        <a:t>five hundred point </a:t>
                      </a:r>
                      <a:endParaRPr/>
                    </a:p>
                    <a:p>
                      <a:pPr indent="0" lvl="0" marL="0" marR="0" rtl="0" algn="l">
                        <a:lnSpc>
                          <a:spcPct val="100000"/>
                        </a:lnSpc>
                        <a:spcBef>
                          <a:spcPts val="0"/>
                        </a:spcBef>
                        <a:spcAft>
                          <a:spcPts val="0"/>
                        </a:spcAft>
                        <a:buClr>
                          <a:srgbClr val="000000"/>
                        </a:buClr>
                        <a:buSzPts val="1200"/>
                        <a:buFont typeface="Calibri"/>
                        <a:buNone/>
                      </a:pPr>
                      <a:r>
                        <a:rPr b="0" lang="en-GB" sz="1200" u="none" cap="none" strike="noStrike">
                          <a:solidFill>
                            <a:srgbClr val="000000"/>
                          </a:solidFill>
                        </a:rPr>
                        <a:t>three nine seven</a:t>
                      </a:r>
                      <a:endParaRPr b="0" i="0" sz="1200" u="none" cap="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GB" sz="1200"/>
                        <a:t>Twelve thousand,</a:t>
                      </a:r>
                      <a:endParaRPr/>
                    </a:p>
                    <a:p>
                      <a:pPr indent="0" lvl="0" marL="0" marR="0" rtl="0" algn="r">
                        <a:lnSpc>
                          <a:spcPct val="100000"/>
                        </a:lnSpc>
                        <a:spcBef>
                          <a:spcPts val="0"/>
                        </a:spcBef>
                        <a:spcAft>
                          <a:spcPts val="0"/>
                        </a:spcAft>
                        <a:buClr>
                          <a:schemeClr val="dk1"/>
                        </a:buClr>
                        <a:buSzPts val="1200"/>
                        <a:buFont typeface="Calibri"/>
                        <a:buNone/>
                      </a:pPr>
                      <a:r>
                        <a:rPr lang="en-GB" sz="1200"/>
                        <a:t> two hundred, and </a:t>
                      </a:r>
                      <a:endParaRPr/>
                    </a:p>
                    <a:p>
                      <a:pPr indent="0" lvl="0" marL="0" marR="0" rtl="0" algn="r">
                        <a:lnSpc>
                          <a:spcPct val="100000"/>
                        </a:lnSpc>
                        <a:spcBef>
                          <a:spcPts val="0"/>
                        </a:spcBef>
                        <a:spcAft>
                          <a:spcPts val="0"/>
                        </a:spcAft>
                        <a:buClr>
                          <a:schemeClr val="dk1"/>
                        </a:buClr>
                        <a:buSzPts val="1200"/>
                        <a:buFont typeface="Calibri"/>
                        <a:buNone/>
                      </a:pPr>
                      <a:r>
                        <a:rPr lang="en-GB" sz="1200"/>
                        <a:t>fourteen hundredths</a:t>
                      </a:r>
                      <a:endParaRPr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2000">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12000">
                <a:tc>
                  <a:txBody>
                    <a:bodyPr/>
                    <a:lstStyle/>
                    <a:p>
                      <a:pPr indent="0" lvl="0" marL="0" marR="0" rtl="0" algn="ctr">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2000">
                <a:tc>
                  <a:txBody>
                    <a:bodyPr/>
                    <a:lstStyle/>
                    <a:p>
                      <a:pPr indent="0" lvl="0" marL="0" marR="0" rtl="0" algn="l">
                        <a:spcBef>
                          <a:spcPts val="0"/>
                        </a:spcBef>
                        <a:spcAft>
                          <a:spcPts val="0"/>
                        </a:spcAft>
                        <a:buNone/>
                      </a:pPr>
                      <a:r>
                        <a:rPr b="0" lang="en-GB" sz="1200">
                          <a:solidFill>
                            <a:schemeClr val="dk1"/>
                          </a:solidFill>
                        </a:rPr>
                        <a:t>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12000">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68" name="Google Shape;268;p19"/>
          <p:cNvSpPr txBox="1"/>
          <p:nvPr/>
        </p:nvSpPr>
        <p:spPr>
          <a:xfrm>
            <a:off x="1777852" y="4241257"/>
            <a:ext cx="2148158" cy="3077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69" name="Google Shape;269;p19"/>
          <p:cNvSpPr txBox="1"/>
          <p:nvPr/>
        </p:nvSpPr>
        <p:spPr>
          <a:xfrm>
            <a:off x="-104268" y="3355458"/>
            <a:ext cx="1321162" cy="307777"/>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70" name="Google Shape;270;p19"/>
          <p:cNvSpPr txBox="1"/>
          <p:nvPr/>
        </p:nvSpPr>
        <p:spPr>
          <a:xfrm>
            <a:off x="5819637" y="3355458"/>
            <a:ext cx="92772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83.07</a:t>
            </a:r>
            <a:endParaRPr/>
          </a:p>
        </p:txBody>
      </p:sp>
      <p:sp>
        <p:nvSpPr>
          <p:cNvPr id="271" name="Google Shape;271;p19"/>
          <p:cNvSpPr txBox="1"/>
          <p:nvPr/>
        </p:nvSpPr>
        <p:spPr>
          <a:xfrm flipH="1">
            <a:off x="2554071" y="4229234"/>
            <a:ext cx="1824626"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12 200.14</a:t>
            </a:r>
            <a:endParaRPr/>
          </a:p>
        </p:txBody>
      </p:sp>
      <p:sp>
        <p:nvSpPr>
          <p:cNvPr id="272" name="Google Shape;272;p19"/>
          <p:cNvSpPr txBox="1"/>
          <p:nvPr/>
        </p:nvSpPr>
        <p:spPr>
          <a:xfrm>
            <a:off x="238282" y="5179005"/>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0.50</a:t>
            </a:r>
            <a:endParaRPr sz="1400">
              <a:solidFill>
                <a:schemeClr val="dk1"/>
              </a:solidFill>
              <a:latin typeface="Calibri"/>
              <a:ea typeface="Calibri"/>
              <a:cs typeface="Calibri"/>
              <a:sym typeface="Calibri"/>
            </a:endParaRPr>
          </a:p>
        </p:txBody>
      </p:sp>
      <p:sp>
        <p:nvSpPr>
          <p:cNvPr id="273" name="Google Shape;273;p19"/>
          <p:cNvSpPr txBox="1"/>
          <p:nvPr/>
        </p:nvSpPr>
        <p:spPr>
          <a:xfrm>
            <a:off x="1544099" y="5173874"/>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0.5</a:t>
            </a:r>
            <a:endParaRPr sz="1400">
              <a:solidFill>
                <a:schemeClr val="dk1"/>
              </a:solidFill>
              <a:latin typeface="Calibri"/>
              <a:ea typeface="Calibri"/>
              <a:cs typeface="Calibri"/>
              <a:sym typeface="Calibri"/>
            </a:endParaRPr>
          </a:p>
        </p:txBody>
      </p:sp>
      <p:sp>
        <p:nvSpPr>
          <p:cNvPr id="274" name="Google Shape;274;p19"/>
          <p:cNvSpPr txBox="1"/>
          <p:nvPr/>
        </p:nvSpPr>
        <p:spPr>
          <a:xfrm>
            <a:off x="3424763" y="5217123"/>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0.5</a:t>
            </a:r>
            <a:endParaRPr sz="1400">
              <a:solidFill>
                <a:schemeClr val="dk1"/>
              </a:solidFill>
              <a:latin typeface="Calibri"/>
              <a:ea typeface="Calibri"/>
              <a:cs typeface="Calibri"/>
              <a:sym typeface="Calibri"/>
            </a:endParaRPr>
          </a:p>
        </p:txBody>
      </p:sp>
      <p:sp>
        <p:nvSpPr>
          <p:cNvPr id="275" name="Google Shape;275;p19"/>
          <p:cNvSpPr txBox="1"/>
          <p:nvPr/>
        </p:nvSpPr>
        <p:spPr>
          <a:xfrm>
            <a:off x="5034528" y="5235931"/>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0.500</a:t>
            </a:r>
            <a:endParaRPr sz="1400">
              <a:solidFill>
                <a:schemeClr val="dk1"/>
              </a:solidFill>
              <a:latin typeface="Calibri"/>
              <a:ea typeface="Calibri"/>
              <a:cs typeface="Calibri"/>
              <a:sym typeface="Calibri"/>
            </a:endParaRPr>
          </a:p>
        </p:txBody>
      </p:sp>
      <p:sp>
        <p:nvSpPr>
          <p:cNvPr id="276" name="Google Shape;276;p19"/>
          <p:cNvSpPr txBox="1"/>
          <p:nvPr/>
        </p:nvSpPr>
        <p:spPr>
          <a:xfrm>
            <a:off x="183650" y="6116552"/>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950.670</a:t>
            </a:r>
            <a:endParaRPr sz="1400">
              <a:solidFill>
                <a:schemeClr val="dk1"/>
              </a:solidFill>
              <a:latin typeface="Calibri"/>
              <a:ea typeface="Calibri"/>
              <a:cs typeface="Calibri"/>
              <a:sym typeface="Calibri"/>
            </a:endParaRPr>
          </a:p>
        </p:txBody>
      </p:sp>
      <p:sp>
        <p:nvSpPr>
          <p:cNvPr id="277" name="Google Shape;277;p19"/>
          <p:cNvSpPr txBox="1"/>
          <p:nvPr/>
        </p:nvSpPr>
        <p:spPr>
          <a:xfrm>
            <a:off x="1719020" y="6121797"/>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950.607</a:t>
            </a:r>
            <a:endParaRPr sz="1400">
              <a:solidFill>
                <a:schemeClr val="dk1"/>
              </a:solidFill>
              <a:latin typeface="Calibri"/>
              <a:ea typeface="Calibri"/>
              <a:cs typeface="Calibri"/>
              <a:sym typeface="Calibri"/>
            </a:endParaRPr>
          </a:p>
        </p:txBody>
      </p:sp>
      <p:sp>
        <p:nvSpPr>
          <p:cNvPr id="278" name="Google Shape;278;p19"/>
          <p:cNvSpPr txBox="1"/>
          <p:nvPr/>
        </p:nvSpPr>
        <p:spPr>
          <a:xfrm>
            <a:off x="3489769" y="6094986"/>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950.067</a:t>
            </a:r>
            <a:endParaRPr sz="1400">
              <a:solidFill>
                <a:schemeClr val="dk1"/>
              </a:solidFill>
              <a:latin typeface="Calibri"/>
              <a:ea typeface="Calibri"/>
              <a:cs typeface="Calibri"/>
              <a:sym typeface="Calibri"/>
            </a:endParaRPr>
          </a:p>
        </p:txBody>
      </p:sp>
      <p:sp>
        <p:nvSpPr>
          <p:cNvPr id="279" name="Google Shape;279;p19"/>
          <p:cNvSpPr txBox="1"/>
          <p:nvPr/>
        </p:nvSpPr>
        <p:spPr>
          <a:xfrm>
            <a:off x="4996758" y="6102144"/>
            <a:ext cx="1181749"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400">
                <a:solidFill>
                  <a:schemeClr val="dk1"/>
                </a:solidFill>
                <a:latin typeface="Calibri"/>
                <a:ea typeface="Calibri"/>
                <a:cs typeface="Calibri"/>
                <a:sym typeface="Calibri"/>
              </a:rPr>
              <a:t>950.67</a:t>
            </a:r>
            <a:endParaRPr sz="1400">
              <a:solidFill>
                <a:schemeClr val="dk1"/>
              </a:solidFill>
              <a:latin typeface="Calibri"/>
              <a:ea typeface="Calibri"/>
              <a:cs typeface="Calibri"/>
              <a:sym typeface="Calibri"/>
            </a:endParaRPr>
          </a:p>
        </p:txBody>
      </p:sp>
      <p:sp>
        <p:nvSpPr>
          <p:cNvPr id="280" name="Google Shape;280;p19"/>
          <p:cNvSpPr/>
          <p:nvPr/>
        </p:nvSpPr>
        <p:spPr>
          <a:xfrm>
            <a:off x="1032965" y="3233488"/>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19"/>
          <p:cNvSpPr/>
          <p:nvPr/>
        </p:nvSpPr>
        <p:spPr>
          <a:xfrm>
            <a:off x="1580554" y="4123819"/>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19"/>
          <p:cNvSpPr/>
          <p:nvPr/>
        </p:nvSpPr>
        <p:spPr>
          <a:xfrm>
            <a:off x="1561813" y="5049835"/>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19"/>
          <p:cNvSpPr/>
          <p:nvPr/>
        </p:nvSpPr>
        <p:spPr>
          <a:xfrm>
            <a:off x="1504709" y="5955073"/>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p19"/>
          <p:cNvSpPr/>
          <p:nvPr/>
        </p:nvSpPr>
        <p:spPr>
          <a:xfrm>
            <a:off x="4873687" y="3221254"/>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19"/>
          <p:cNvSpPr/>
          <p:nvPr/>
        </p:nvSpPr>
        <p:spPr>
          <a:xfrm>
            <a:off x="4487256" y="4086531"/>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19"/>
          <p:cNvSpPr/>
          <p:nvPr/>
        </p:nvSpPr>
        <p:spPr>
          <a:xfrm>
            <a:off x="4834423" y="5067307"/>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19"/>
          <p:cNvSpPr/>
          <p:nvPr/>
        </p:nvSpPr>
        <p:spPr>
          <a:xfrm>
            <a:off x="4800401" y="5973222"/>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19"/>
          <p:cNvSpPr txBox="1"/>
          <p:nvPr/>
        </p:nvSpPr>
        <p:spPr>
          <a:xfrm>
            <a:off x="144690" y="6575865"/>
            <a:ext cx="6606000" cy="216000"/>
          </a:xfrm>
          <a:prstGeom prst="rect">
            <a:avLst/>
          </a:prstGeom>
          <a:solidFill>
            <a:srgbClr val="7E234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Calibri"/>
              <a:buNone/>
            </a:pPr>
            <a:r>
              <a:rPr b="1" lang="en-GB" sz="1400">
                <a:solidFill>
                  <a:srgbClr val="FFFFFF"/>
                </a:solidFill>
                <a:latin typeface="Calibri"/>
                <a:ea typeface="Calibri"/>
                <a:cs typeface="Calibri"/>
                <a:sym typeface="Calibri"/>
              </a:rPr>
              <a:t>Skills Check</a:t>
            </a:r>
            <a:endParaRPr b="1" i="0" sz="1400" u="none" cap="none" strike="noStrike">
              <a:solidFill>
                <a:srgbClr val="FFFFFF"/>
              </a:solidFill>
              <a:latin typeface="Calibri"/>
              <a:ea typeface="Calibri"/>
              <a:cs typeface="Calibri"/>
              <a:sym typeface="Calibri"/>
            </a:endParaRPr>
          </a:p>
        </p:txBody>
      </p:sp>
      <p:graphicFrame>
        <p:nvGraphicFramePr>
          <p:cNvPr id="289" name="Google Shape;289;p19"/>
          <p:cNvGraphicFramePr/>
          <p:nvPr/>
        </p:nvGraphicFramePr>
        <p:xfrm>
          <a:off x="153848" y="6812394"/>
          <a:ext cx="3000000" cy="3000000"/>
        </p:xfrm>
        <a:graphic>
          <a:graphicData uri="http://schemas.openxmlformats.org/drawingml/2006/table">
            <a:tbl>
              <a:tblPr bandRow="1" firstRow="1">
                <a:noFill/>
                <a:tableStyleId>{80DC9934-8B59-45FF-97CA-8DE436CF681E}</a:tableStyleId>
              </a:tblPr>
              <a:tblGrid>
                <a:gridCol w="6585125"/>
              </a:tblGrid>
              <a:tr h="782200">
                <a:tc>
                  <a:txBody>
                    <a:bodyPr/>
                    <a:lstStyle/>
                    <a:p>
                      <a:pPr indent="0" lvl="0" marL="0" marR="0" rtl="0" algn="ctr">
                        <a:spcBef>
                          <a:spcPts val="0"/>
                        </a:spcBef>
                        <a:spcAft>
                          <a:spcPts val="0"/>
                        </a:spcAft>
                        <a:buNone/>
                      </a:pPr>
                      <a:r>
                        <a:rPr b="0" lang="en-GB" sz="1200">
                          <a:solidFill>
                            <a:srgbClr val="000000"/>
                          </a:solidFill>
                        </a:rPr>
                        <a:t>Which is the correct symbol to go on the line below?</a:t>
                      </a:r>
                      <a:endParaRPr/>
                    </a:p>
                    <a:p>
                      <a:pPr indent="0" lvl="0" marL="0" marR="0" rtl="0" algn="ctr">
                        <a:spcBef>
                          <a:spcPts val="0"/>
                        </a:spcBef>
                        <a:spcAft>
                          <a:spcPts val="0"/>
                        </a:spcAft>
                        <a:buNone/>
                      </a:pPr>
                      <a:r>
                        <a:rPr b="0" lang="en-GB" sz="1200">
                          <a:solidFill>
                            <a:srgbClr val="000000"/>
                          </a:solidFill>
                        </a:rPr>
                        <a:t>5.65   ____   5.7</a:t>
                      </a:r>
                      <a:endParaRPr/>
                    </a:p>
                    <a:p>
                      <a:pPr indent="0" lvl="6" marL="2057400" marR="0" rtl="0" algn="l">
                        <a:spcBef>
                          <a:spcPts val="0"/>
                        </a:spcBef>
                        <a:spcAft>
                          <a:spcPts val="0"/>
                        </a:spcAft>
                        <a:buNone/>
                      </a:pPr>
                      <a:r>
                        <a:rPr b="0" lang="en-GB" sz="1200" u="none" cap="none" strike="noStrike">
                          <a:solidFill>
                            <a:srgbClr val="000000"/>
                          </a:solidFill>
                        </a:rPr>
                        <a:t>A. =                                         B. &lt;     </a:t>
                      </a:r>
                      <a:endParaRPr/>
                    </a:p>
                    <a:p>
                      <a:pPr indent="0" lvl="6" marL="2057400" marR="0" rtl="0" algn="l">
                        <a:spcBef>
                          <a:spcPts val="0"/>
                        </a:spcBef>
                        <a:spcAft>
                          <a:spcPts val="0"/>
                        </a:spcAft>
                        <a:buNone/>
                      </a:pPr>
                      <a:r>
                        <a:rPr b="0" lang="en-GB" sz="1200" u="none" cap="none" strike="noStrike">
                          <a:solidFill>
                            <a:srgbClr val="000000"/>
                          </a:solidFill>
                        </a:rPr>
                        <a:t>C. &gt;                                         D. None of these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10150">
                <a:tc>
                  <a:txBody>
                    <a:bodyPr/>
                    <a:lstStyle/>
                    <a:p>
                      <a:pPr indent="0" lvl="0" marL="0" marR="0" rtl="0" algn="ctr">
                        <a:spcBef>
                          <a:spcPts val="0"/>
                        </a:spcBef>
                        <a:spcAft>
                          <a:spcPts val="0"/>
                        </a:spcAft>
                        <a:buNone/>
                      </a:pPr>
                      <a:r>
                        <a:rPr b="0" lang="en-GB" sz="1200">
                          <a:solidFill>
                            <a:schemeClr val="dk1"/>
                          </a:solidFill>
                        </a:rPr>
                        <a:t>List the smallest five integers that satisfy the following:</a:t>
                      </a:r>
                      <a:endParaRPr/>
                    </a:p>
                    <a:p>
                      <a:pPr indent="0" lvl="0" marL="0" marR="0" rtl="0" algn="ctr">
                        <a:spcBef>
                          <a:spcPts val="0"/>
                        </a:spcBef>
                        <a:spcAft>
                          <a:spcPts val="0"/>
                        </a:spcAft>
                        <a:buNone/>
                      </a:pPr>
                      <a:r>
                        <a:rPr b="0" lang="en-GB" sz="1200">
                          <a:solidFill>
                            <a:schemeClr val="dk1"/>
                          </a:solidFill>
                        </a:rPr>
                        <a:t>_____ ≥ 18.015</a:t>
                      </a:r>
                      <a:endParaRPr b="0" sz="1200">
                        <a:solidFill>
                          <a:srgbClr val="FF0000"/>
                        </a:solidFill>
                      </a:endParaRPr>
                    </a:p>
                    <a:p>
                      <a:pPr indent="0" lvl="4" marL="1371600" marR="0" rtl="0" algn="l">
                        <a:spcBef>
                          <a:spcPts val="0"/>
                        </a:spcBef>
                        <a:spcAft>
                          <a:spcPts val="0"/>
                        </a:spcAft>
                        <a:buNone/>
                      </a:pPr>
                      <a:r>
                        <a:rPr b="0" lang="en-GB" sz="1200" u="none" cap="none" strike="noStrike">
                          <a:solidFill>
                            <a:schemeClr val="dk1"/>
                          </a:solidFill>
                        </a:rPr>
                        <a:t>A. 18, 17, 16, 15, 14                               B. 18, 19, 20, 21, 22     </a:t>
                      </a:r>
                      <a:endParaRPr/>
                    </a:p>
                    <a:p>
                      <a:pPr indent="0" lvl="4" marL="1371600" marR="0" rtl="0" algn="l">
                        <a:spcBef>
                          <a:spcPts val="0"/>
                        </a:spcBef>
                        <a:spcAft>
                          <a:spcPts val="0"/>
                        </a:spcAft>
                        <a:buNone/>
                      </a:pPr>
                      <a:r>
                        <a:rPr b="0" lang="en-GB" sz="1200" u="none" cap="none" strike="noStrike">
                          <a:solidFill>
                            <a:schemeClr val="dk1"/>
                          </a:solidFill>
                        </a:rPr>
                        <a:t>C. 17, 16, 15, 14, 13                               D. 19, 20, 21, 22, 23</a:t>
                      </a:r>
                      <a:endParaRPr b="0" sz="600" u="none" cap="none" strike="noStrike">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52000">
                <a:tc>
                  <a:txBody>
                    <a:bodyPr/>
                    <a:lstStyle/>
                    <a:p>
                      <a:pPr indent="0" lvl="0" marL="0" marR="0" rtl="0" algn="ctr">
                        <a:spcBef>
                          <a:spcPts val="0"/>
                        </a:spcBef>
                        <a:spcAft>
                          <a:spcPts val="0"/>
                        </a:spcAft>
                        <a:buNone/>
                      </a:pPr>
                      <a:r>
                        <a:rPr lang="en-GB" sz="1200">
                          <a:solidFill>
                            <a:schemeClr val="dk1"/>
                          </a:solidFill>
                        </a:rPr>
                        <a:t>Which </a:t>
                      </a:r>
                      <a:r>
                        <a:rPr b="1" lang="en-GB" sz="1200">
                          <a:solidFill>
                            <a:schemeClr val="dk1"/>
                          </a:solidFill>
                        </a:rPr>
                        <a:t>one</a:t>
                      </a:r>
                      <a:r>
                        <a:rPr lang="en-GB" sz="1200">
                          <a:solidFill>
                            <a:schemeClr val="dk1"/>
                          </a:solidFill>
                        </a:rPr>
                        <a:t> of the following statements is correct?</a:t>
                      </a:r>
                      <a:endParaRPr/>
                    </a:p>
                    <a:p>
                      <a:pPr indent="-228600" lvl="4" marL="1600200" marR="0" rtl="0" algn="l">
                        <a:spcBef>
                          <a:spcPts val="0"/>
                        </a:spcBef>
                        <a:spcAft>
                          <a:spcPts val="0"/>
                        </a:spcAft>
                        <a:buClr>
                          <a:schemeClr val="dk1"/>
                        </a:buClr>
                        <a:buSzPts val="1200"/>
                        <a:buFont typeface="Calibri"/>
                        <a:buAutoNum type="alphaUcPeriod"/>
                      </a:pPr>
                      <a:r>
                        <a:rPr b="0" lang="en-GB" sz="1200" u="none" cap="none" strike="noStrike">
                          <a:solidFill>
                            <a:schemeClr val="dk1"/>
                          </a:solidFill>
                        </a:rPr>
                        <a:t>170.50 ≠ one hundred and seventy and five tenths      </a:t>
                      </a:r>
                      <a:endParaRPr/>
                    </a:p>
                    <a:p>
                      <a:pPr indent="-228600" lvl="4" marL="1600200" marR="0" rtl="0" algn="l">
                        <a:spcBef>
                          <a:spcPts val="0"/>
                        </a:spcBef>
                        <a:spcAft>
                          <a:spcPts val="0"/>
                        </a:spcAft>
                        <a:buClr>
                          <a:schemeClr val="dk1"/>
                        </a:buClr>
                        <a:buSzPts val="1200"/>
                        <a:buFont typeface="Calibri"/>
                        <a:buAutoNum type="alphaUcPeriod"/>
                      </a:pPr>
                      <a:r>
                        <a:rPr b="0" lang="en-GB" sz="1200" u="none" cap="none" strike="noStrike">
                          <a:solidFill>
                            <a:schemeClr val="dk1"/>
                          </a:solidFill>
                        </a:rPr>
                        <a:t>Eleven thousand and one tenth  ≠  11 000.1</a:t>
                      </a:r>
                      <a:endParaRPr/>
                    </a:p>
                    <a:p>
                      <a:pPr indent="0" lvl="4" marL="1371600" marR="0" rtl="0" algn="l">
                        <a:spcBef>
                          <a:spcPts val="0"/>
                        </a:spcBef>
                        <a:spcAft>
                          <a:spcPts val="0"/>
                        </a:spcAft>
                        <a:buNone/>
                      </a:pPr>
                      <a:r>
                        <a:rPr b="0" lang="en-GB" sz="1200" u="none" cap="none" strike="noStrike">
                          <a:solidFill>
                            <a:schemeClr val="dk1"/>
                          </a:solidFill>
                        </a:rPr>
                        <a:t>C.   Eleven thousand and one tenth  ≠  11 000.01    </a:t>
                      </a:r>
                      <a:endParaRPr/>
                    </a:p>
                    <a:p>
                      <a:pPr indent="0" lvl="4" marL="1371600" marR="0" rtl="0" algn="l">
                        <a:spcBef>
                          <a:spcPts val="0"/>
                        </a:spcBef>
                        <a:spcAft>
                          <a:spcPts val="0"/>
                        </a:spcAft>
                        <a:buNone/>
                      </a:pPr>
                      <a:r>
                        <a:rPr b="0" lang="en-GB" sz="1200" u="none" cap="none" strike="noStrike">
                          <a:solidFill>
                            <a:schemeClr val="dk1"/>
                          </a:solidFill>
                        </a:rPr>
                        <a:t>D.   Two hundred and eighty point zero six = 280.006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90" name="Google Shape;290;p19"/>
          <p:cNvSpPr/>
          <p:nvPr/>
        </p:nvSpPr>
        <p:spPr>
          <a:xfrm>
            <a:off x="3845244" y="7199998"/>
            <a:ext cx="558542" cy="224243"/>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19"/>
          <p:cNvSpPr/>
          <p:nvPr/>
        </p:nvSpPr>
        <p:spPr>
          <a:xfrm>
            <a:off x="3259014" y="8180279"/>
            <a:ext cx="2190307" cy="297711"/>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9"/>
          <p:cNvSpPr/>
          <p:nvPr/>
        </p:nvSpPr>
        <p:spPr>
          <a:xfrm>
            <a:off x="1468504" y="8991858"/>
            <a:ext cx="3291108" cy="297711"/>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19"/>
          <p:cNvSpPr txBox="1"/>
          <p:nvPr/>
        </p:nvSpPr>
        <p:spPr>
          <a:xfrm>
            <a:off x="5009148" y="3236398"/>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94" name="Google Shape;294;p19"/>
          <p:cNvSpPr txBox="1"/>
          <p:nvPr/>
        </p:nvSpPr>
        <p:spPr>
          <a:xfrm>
            <a:off x="1153815" y="3284570"/>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95" name="Google Shape;295;p19"/>
          <p:cNvSpPr txBox="1"/>
          <p:nvPr/>
        </p:nvSpPr>
        <p:spPr>
          <a:xfrm>
            <a:off x="1717096" y="5064627"/>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96" name="Google Shape;296;p19"/>
          <p:cNvSpPr txBox="1"/>
          <p:nvPr/>
        </p:nvSpPr>
        <p:spPr>
          <a:xfrm>
            <a:off x="1683517" y="4176118"/>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97" name="Google Shape;297;p19"/>
          <p:cNvSpPr txBox="1"/>
          <p:nvPr/>
        </p:nvSpPr>
        <p:spPr>
          <a:xfrm>
            <a:off x="4974905" y="5113969"/>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98" name="Google Shape;298;p19"/>
          <p:cNvSpPr txBox="1"/>
          <p:nvPr/>
        </p:nvSpPr>
        <p:spPr>
          <a:xfrm>
            <a:off x="1569691" y="6001494"/>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299" name="Google Shape;299;p19"/>
          <p:cNvSpPr txBox="1"/>
          <p:nvPr/>
        </p:nvSpPr>
        <p:spPr>
          <a:xfrm>
            <a:off x="4921644" y="6028095"/>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
        <p:nvSpPr>
          <p:cNvPr id="300" name="Google Shape;300;p19"/>
          <p:cNvSpPr txBox="1"/>
          <p:nvPr/>
        </p:nvSpPr>
        <p:spPr>
          <a:xfrm>
            <a:off x="4614711" y="4123819"/>
            <a:ext cx="108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0000"/>
                </a:solidFill>
                <a:latin typeface="Calibri"/>
                <a:ea typeface="Calibri"/>
                <a:cs typeface="Calibri"/>
                <a:sym typeface="Calibri"/>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