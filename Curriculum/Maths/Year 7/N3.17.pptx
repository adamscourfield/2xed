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C92C46-A749-4169-9AD6-9C3B065D8FE8}">
  <a:tblStyle styleId="{21C92C46-A749-4169-9AD6-9C3B065D8F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35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.png"/><Relationship Id="rId22" Type="http://schemas.openxmlformats.org/officeDocument/2006/relationships/image" Target="../media/image23.png"/><Relationship Id="rId21" Type="http://schemas.openxmlformats.org/officeDocument/2006/relationships/image" Target="../media/image16.png"/><Relationship Id="rId24" Type="http://schemas.openxmlformats.org/officeDocument/2006/relationships/image" Target="../media/image24.png"/><Relationship Id="rId23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3.png"/><Relationship Id="rId26" Type="http://schemas.openxmlformats.org/officeDocument/2006/relationships/image" Target="../media/image21.png"/><Relationship Id="rId25" Type="http://schemas.openxmlformats.org/officeDocument/2006/relationships/image" Target="../media/image34.png"/><Relationship Id="rId28" Type="http://schemas.openxmlformats.org/officeDocument/2006/relationships/image" Target="../media/image32.png"/><Relationship Id="rId27" Type="http://schemas.openxmlformats.org/officeDocument/2006/relationships/image" Target="../media/image30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29" Type="http://schemas.openxmlformats.org/officeDocument/2006/relationships/image" Target="../media/image18.png"/><Relationship Id="rId7" Type="http://schemas.openxmlformats.org/officeDocument/2006/relationships/image" Target="../media/image29.png"/><Relationship Id="rId8" Type="http://schemas.openxmlformats.org/officeDocument/2006/relationships/image" Target="../media/image11.png"/><Relationship Id="rId31" Type="http://schemas.openxmlformats.org/officeDocument/2006/relationships/image" Target="../media/image26.png"/><Relationship Id="rId30" Type="http://schemas.openxmlformats.org/officeDocument/2006/relationships/image" Target="../media/image22.png"/><Relationship Id="rId11" Type="http://schemas.openxmlformats.org/officeDocument/2006/relationships/image" Target="../media/image14.png"/><Relationship Id="rId10" Type="http://schemas.openxmlformats.org/officeDocument/2006/relationships/image" Target="../media/image4.png"/><Relationship Id="rId13" Type="http://schemas.openxmlformats.org/officeDocument/2006/relationships/image" Target="../media/image25.png"/><Relationship Id="rId12" Type="http://schemas.openxmlformats.org/officeDocument/2006/relationships/image" Target="../media/image2.png"/><Relationship Id="rId15" Type="http://schemas.openxmlformats.org/officeDocument/2006/relationships/image" Target="../media/image19.png"/><Relationship Id="rId14" Type="http://schemas.openxmlformats.org/officeDocument/2006/relationships/image" Target="../media/image9.png"/><Relationship Id="rId17" Type="http://schemas.openxmlformats.org/officeDocument/2006/relationships/image" Target="../media/image8.png"/><Relationship Id="rId16" Type="http://schemas.openxmlformats.org/officeDocument/2006/relationships/image" Target="../media/image17.png"/><Relationship Id="rId19" Type="http://schemas.openxmlformats.org/officeDocument/2006/relationships/image" Target="../media/image28.png"/><Relationship Id="rId1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0" y="0"/>
            <a:ext cx="6858000" cy="34617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N3.17 – </a:t>
            </a:r>
            <a:r>
              <a:rPr b="0" i="0"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Multiplying by 0.1 and 0.01 (CHALLENGE)</a:t>
            </a: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aphicFrame>
        <p:nvGraphicFramePr>
          <p:cNvPr id="90" name="Google Shape;90;p13"/>
          <p:cNvGraphicFramePr/>
          <p:nvPr/>
        </p:nvGraphicFramePr>
        <p:xfrm>
          <a:off x="113166" y="54555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{21C92C46-A749-4169-9AD6-9C3B065D8FE8}</a:tableStyleId>
              </a:tblPr>
              <a:tblGrid>
                <a:gridCol w="1690950"/>
                <a:gridCol w="1666700"/>
                <a:gridCol w="1666700"/>
                <a:gridCol w="16667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Determine which way the digits move when we multiply by 10, 100, 1000…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Work out how many places we need to move the digits.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Move the digits in the correct direction, by the number of places.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023385" y="5223504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256823" y="521777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86108" y="364087"/>
            <a:ext cx="6679742" cy="118926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00622" y="792544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13166" y="994729"/>
            <a:ext cx="46679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 numbers by 0.1 and 0.01.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46699" y="420278"/>
            <a:ext cx="5203899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 multiply numbers by 0.1 and 0.01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5653931" y="419441"/>
            <a:ext cx="1008585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552698" y="522350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94296" y="3510526"/>
            <a:ext cx="2471134" cy="251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 numbers by 0.1 and 0.01.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Google Shape;100;p13"/>
          <p:cNvGraphicFramePr/>
          <p:nvPr/>
        </p:nvGraphicFramePr>
        <p:xfrm>
          <a:off x="1247828" y="39238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{21C92C46-A749-4169-9AD6-9C3B065D8FE8}</a:tableStyleId>
              </a:tblPr>
              <a:tblGrid>
                <a:gridCol w="1524000"/>
                <a:gridCol w="1524000"/>
                <a:gridCol w="15240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Decimal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Place value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Fraction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EE599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One tenth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434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0.01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One hundredth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1" name="Google Shape;101;p13"/>
          <p:cNvSpPr txBox="1"/>
          <p:nvPr>
            <p:ph idx="12" type="sldNum"/>
          </p:nvPr>
        </p:nvSpPr>
        <p:spPr>
          <a:xfrm>
            <a:off x="5307000" y="927821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02" name="Google Shape;102;p13"/>
          <p:cNvGraphicFramePr/>
          <p:nvPr/>
        </p:nvGraphicFramePr>
        <p:xfrm>
          <a:off x="86108" y="82638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{21C92C46-A749-4169-9AD6-9C3B065D8FE8}</a:tableStyleId>
              </a:tblPr>
              <a:tblGrid>
                <a:gridCol w="6691025"/>
              </a:tblGrid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Multiplying by 0.1 is the same as dividing by ____</a:t>
                      </a:r>
                      <a:r>
                        <a:rPr b="0" lang="en-GB" sz="1350">
                          <a:solidFill>
                            <a:srgbClr val="FF0000"/>
                          </a:solidFill>
                        </a:rPr>
                        <a:t>10______.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Multiplying by 0.01 is the same as dividing by ____</a:t>
                      </a:r>
                      <a:r>
                        <a:rPr b="0" lang="en-GB" sz="1350">
                          <a:solidFill>
                            <a:srgbClr val="FF0000"/>
                          </a:solidFill>
                        </a:rPr>
                        <a:t>100______.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p13"/>
          <p:cNvSpPr/>
          <p:nvPr/>
        </p:nvSpPr>
        <p:spPr>
          <a:xfrm>
            <a:off x="91618" y="1652679"/>
            <a:ext cx="6689472" cy="173960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2101510" y="7114625"/>
            <a:ext cx="961805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3792896" y="7141802"/>
            <a:ext cx="961805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5550598" y="7137045"/>
            <a:ext cx="961805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76910" y="1630156"/>
            <a:ext cx="6773140" cy="165173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583" l="-9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Google Shape;112;p14"/>
          <p:cNvGraphicFramePr/>
          <p:nvPr/>
        </p:nvGraphicFramePr>
        <p:xfrm>
          <a:off x="117668" y="4722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{21C92C46-A749-4169-9AD6-9C3B065D8FE8}</a:tableStyleId>
              </a:tblPr>
              <a:tblGrid>
                <a:gridCol w="1322825"/>
                <a:gridCol w="1322825"/>
                <a:gridCol w="1322825"/>
                <a:gridCol w="1322825"/>
                <a:gridCol w="1322825"/>
              </a:tblGrid>
              <a:tr h="13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" name="Google Shape;113;p14"/>
          <p:cNvSpPr/>
          <p:nvPr/>
        </p:nvSpPr>
        <p:spPr>
          <a:xfrm>
            <a:off x="117668" y="68941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223661" y="176788"/>
            <a:ext cx="18737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Calculate the following: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26242" y="513391"/>
            <a:ext cx="6632812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5217" l="-9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26242" y="1813784"/>
            <a:ext cx="6861298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778" l="-89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4805" y="3171482"/>
            <a:ext cx="6861298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5217" l="-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36171" y="7190340"/>
            <a:ext cx="47775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Put the results of these calculations in order, starting with the smallest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539060" y="7627021"/>
            <a:ext cx="1450403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2726524" y="7627021"/>
            <a:ext cx="1446477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4887376" y="7630760"/>
            <a:ext cx="1446478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55181" y="8130640"/>
            <a:ext cx="1450403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2739362" y="8130640"/>
            <a:ext cx="1430357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4903496" y="8134379"/>
            <a:ext cx="1430357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30480" y="4713266"/>
            <a:ext cx="40033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Complete these statements using one of these symbols: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449093" y="5352345"/>
            <a:ext cx="2519820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7779" l="-24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3769554" y="5394638"/>
            <a:ext cx="2519820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7778" l="0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449093" y="6440248"/>
            <a:ext cx="2949961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15217" l="-20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3799371" y="6437582"/>
            <a:ext cx="2863495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-1777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4140447" y="4567300"/>
            <a:ext cx="401053" cy="411286"/>
          </a:xfrm>
          <a:prstGeom prst="ellipse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4628411" y="4566483"/>
            <a:ext cx="401053" cy="411286"/>
          </a:xfrm>
          <a:prstGeom prst="ellipse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5124829" y="4567034"/>
            <a:ext cx="401053" cy="411286"/>
          </a:xfrm>
          <a:prstGeom prst="ellipse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4198234" y="4572990"/>
            <a:ext cx="1906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4674418" y="4577236"/>
            <a:ext cx="1906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5179466" y="4572990"/>
            <a:ext cx="1906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1588410" y="5282212"/>
            <a:ext cx="401053" cy="411286"/>
          </a:xfrm>
          <a:prstGeom prst="ellipse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1588411" y="6345921"/>
            <a:ext cx="401053" cy="411286"/>
          </a:xfrm>
          <a:prstGeom prst="ellipse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4914529" y="5295175"/>
            <a:ext cx="401053" cy="411286"/>
          </a:xfrm>
          <a:prstGeom prst="ellipse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4944347" y="6313925"/>
            <a:ext cx="401053" cy="411286"/>
          </a:xfrm>
          <a:prstGeom prst="ellipse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5216004" y="935340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41" name="Google Shape;141;p14"/>
          <p:cNvGraphicFramePr/>
          <p:nvPr/>
        </p:nvGraphicFramePr>
        <p:xfrm>
          <a:off x="117666" y="50333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{21C92C46-A749-4169-9AD6-9C3B065D8FE8}</a:tableStyleId>
              </a:tblPr>
              <a:tblGrid>
                <a:gridCol w="3307050"/>
                <a:gridCol w="3307050"/>
              </a:tblGrid>
              <a:tr h="101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2" name="Google Shape;142;p14"/>
          <p:cNvGraphicFramePr/>
          <p:nvPr/>
        </p:nvGraphicFramePr>
        <p:xfrm>
          <a:off x="138934" y="75571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{21C92C46-A749-4169-9AD6-9C3B065D8FE8}</a:tableStyleId>
              </a:tblPr>
              <a:tblGrid>
                <a:gridCol w="6592825"/>
              </a:tblGrid>
              <a:tr h="19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" name="Google Shape;143;p14"/>
          <p:cNvSpPr txBox="1"/>
          <p:nvPr/>
        </p:nvSpPr>
        <p:spPr>
          <a:xfrm>
            <a:off x="326493" y="1388921"/>
            <a:ext cx="682212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1674713" y="1420757"/>
            <a:ext cx="682212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3079636" y="1420757"/>
            <a:ext cx="682212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4386129" y="1420757"/>
            <a:ext cx="682212" cy="27699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5845741" y="1420757"/>
            <a:ext cx="682212" cy="27699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326493" y="2468302"/>
            <a:ext cx="682212" cy="27699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1674713" y="2500138"/>
            <a:ext cx="682212" cy="27699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3079636" y="2500138"/>
            <a:ext cx="682212" cy="27699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4386129" y="2500138"/>
            <a:ext cx="682212" cy="27699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5845741" y="2500138"/>
            <a:ext cx="682212" cy="27699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326493" y="3424015"/>
            <a:ext cx="682212" cy="27699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1674713" y="3455851"/>
            <a:ext cx="682212" cy="276999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3079636" y="3455851"/>
            <a:ext cx="682212" cy="276999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4386129" y="3455851"/>
            <a:ext cx="682212" cy="276999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-1441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5845741" y="3455851"/>
            <a:ext cx="682212" cy="276999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-133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1624156" y="5308782"/>
            <a:ext cx="1906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4988777" y="5265311"/>
            <a:ext cx="1906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1674713" y="6348749"/>
            <a:ext cx="1906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4951414" y="6322709"/>
            <a:ext cx="1906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161114" y="8700111"/>
            <a:ext cx="5934886" cy="461665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-921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/>
        </p:nvSpPr>
        <p:spPr>
          <a:xfrm>
            <a:off x="234200" y="6968668"/>
            <a:ext cx="6497857" cy="338554"/>
          </a:xfrm>
          <a:prstGeom prst="rect">
            <a:avLst/>
          </a:prstGeom>
          <a:solidFill>
            <a:srgbClr val="7E234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 txBox="1"/>
          <p:nvPr>
            <p:ph idx="12" type="sldNum"/>
          </p:nvPr>
        </p:nvSpPr>
        <p:spPr>
          <a:xfrm>
            <a:off x="5189008" y="943480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69" name="Google Shape;169;p15"/>
          <p:cNvGraphicFramePr/>
          <p:nvPr/>
        </p:nvGraphicFramePr>
        <p:xfrm>
          <a:off x="241161" y="83680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{21C92C46-A749-4169-9AD6-9C3B065D8FE8}</a:tableStyleId>
              </a:tblPr>
              <a:tblGrid>
                <a:gridCol w="6490900"/>
              </a:tblGrid>
              <a:tr h="106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0" name="Google Shape;170;p15"/>
          <p:cNvSpPr txBox="1"/>
          <p:nvPr/>
        </p:nvSpPr>
        <p:spPr>
          <a:xfrm>
            <a:off x="241161" y="336568"/>
            <a:ext cx="6490897" cy="329320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171" name="Google Shape;171;p15"/>
          <p:cNvGraphicFramePr/>
          <p:nvPr/>
        </p:nvGraphicFramePr>
        <p:xfrm>
          <a:off x="241161" y="73072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{21C92C46-A749-4169-9AD6-9C3B065D8FE8}</a:tableStyleId>
              </a:tblPr>
              <a:tblGrid>
                <a:gridCol w="6490900"/>
              </a:tblGrid>
              <a:tr h="106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72" name="Google Shape;172;p15"/>
          <p:cNvPicPr preferRelativeResize="0"/>
          <p:nvPr/>
        </p:nvPicPr>
        <p:blipFill rotWithShape="1">
          <a:blip r:embed="rId4">
            <a:alphaModFix/>
          </a:blip>
          <a:srcRect b="1172" l="847" r="539" t="43723"/>
          <a:stretch/>
        </p:blipFill>
        <p:spPr>
          <a:xfrm>
            <a:off x="268371" y="3919066"/>
            <a:ext cx="6321257" cy="276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5"/>
          <p:cNvSpPr txBox="1"/>
          <p:nvPr/>
        </p:nvSpPr>
        <p:spPr>
          <a:xfrm>
            <a:off x="830580" y="2667613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0.17</a:t>
            </a:r>
            <a:endParaRPr/>
          </a:p>
        </p:txBody>
      </p:sp>
      <p:sp>
        <p:nvSpPr>
          <p:cNvPr id="174" name="Google Shape;174;p15"/>
          <p:cNvSpPr/>
          <p:nvPr/>
        </p:nvSpPr>
        <p:spPr>
          <a:xfrm>
            <a:off x="2803561" y="8901412"/>
            <a:ext cx="842816" cy="339051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3452603" y="7834625"/>
            <a:ext cx="842816" cy="339051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