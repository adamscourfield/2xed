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31290B-AD94-456D-AC86-30F41AC76214}">
  <a:tblStyle styleId="{9C31290B-AD94-456D-AC86-30F41AC762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2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3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3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3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3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3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3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3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3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3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4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4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4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4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4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4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4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4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4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4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4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4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4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4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4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4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3" Type="http://schemas.openxmlformats.org/officeDocument/2006/relationships/image" Target="../media/image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3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5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5.png"/><Relationship Id="rId13" Type="http://schemas.openxmlformats.org/officeDocument/2006/relationships/image" Target="../media/image16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3.png"/><Relationship Id="rId4" Type="http://schemas.openxmlformats.org/officeDocument/2006/relationships/image" Target="../media/image46.png"/><Relationship Id="rId9" Type="http://schemas.openxmlformats.org/officeDocument/2006/relationships/image" Target="../media/image70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Relationship Id="rId7" Type="http://schemas.openxmlformats.org/officeDocument/2006/relationships/image" Target="../media/image68.png"/><Relationship Id="rId8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58.png"/><Relationship Id="rId9" Type="http://schemas.openxmlformats.org/officeDocument/2006/relationships/image" Target="../media/image61.gif"/><Relationship Id="rId5" Type="http://schemas.openxmlformats.org/officeDocument/2006/relationships/image" Target="../media/image66.png"/><Relationship Id="rId6" Type="http://schemas.openxmlformats.org/officeDocument/2006/relationships/image" Target="../media/image71.png"/><Relationship Id="rId7" Type="http://schemas.openxmlformats.org/officeDocument/2006/relationships/image" Target="../media/image67.pn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60.png"/><Relationship Id="rId5" Type="http://schemas.openxmlformats.org/officeDocument/2006/relationships/image" Target="../media/image59.png"/><Relationship Id="rId6" Type="http://schemas.openxmlformats.org/officeDocument/2006/relationships/image" Target="../media/image89.png"/><Relationship Id="rId7" Type="http://schemas.openxmlformats.org/officeDocument/2006/relationships/image" Target="../media/image6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png"/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5.png"/><Relationship Id="rId4" Type="http://schemas.openxmlformats.org/officeDocument/2006/relationships/image" Target="../media/image62.gif"/><Relationship Id="rId9" Type="http://schemas.openxmlformats.org/officeDocument/2006/relationships/image" Target="../media/image76.png"/><Relationship Id="rId5" Type="http://schemas.openxmlformats.org/officeDocument/2006/relationships/image" Target="../media/image72.jpg"/><Relationship Id="rId6" Type="http://schemas.openxmlformats.org/officeDocument/2006/relationships/image" Target="../media/image79.png"/><Relationship Id="rId7" Type="http://schemas.openxmlformats.org/officeDocument/2006/relationships/image" Target="../media/image85.png"/><Relationship Id="rId8" Type="http://schemas.openxmlformats.org/officeDocument/2006/relationships/image" Target="../media/image7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86.png"/><Relationship Id="rId1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9" Type="http://schemas.openxmlformats.org/officeDocument/2006/relationships/image" Target="../media/image83.png"/><Relationship Id="rId5" Type="http://schemas.openxmlformats.org/officeDocument/2006/relationships/image" Target="../media/image78.png"/><Relationship Id="rId6" Type="http://schemas.openxmlformats.org/officeDocument/2006/relationships/image" Target="../media/image95.png"/><Relationship Id="rId7" Type="http://schemas.openxmlformats.org/officeDocument/2006/relationships/image" Target="../media/image87.png"/><Relationship Id="rId8" Type="http://schemas.openxmlformats.org/officeDocument/2006/relationships/image" Target="../media/image84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Relationship Id="rId4" Type="http://schemas.openxmlformats.org/officeDocument/2006/relationships/image" Target="../media/image92.png"/><Relationship Id="rId9" Type="http://schemas.openxmlformats.org/officeDocument/2006/relationships/image" Target="../media/image100.png"/><Relationship Id="rId5" Type="http://schemas.openxmlformats.org/officeDocument/2006/relationships/image" Target="../media/image90.png"/><Relationship Id="rId6" Type="http://schemas.openxmlformats.org/officeDocument/2006/relationships/image" Target="../media/image81.png"/><Relationship Id="rId7" Type="http://schemas.openxmlformats.org/officeDocument/2006/relationships/image" Target="../media/image153.png"/><Relationship Id="rId8" Type="http://schemas.openxmlformats.org/officeDocument/2006/relationships/image" Target="../media/image9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4.png"/><Relationship Id="rId1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9" Type="http://schemas.openxmlformats.org/officeDocument/2006/relationships/image" Target="../media/image99.png"/><Relationship Id="rId5" Type="http://schemas.openxmlformats.org/officeDocument/2006/relationships/image" Target="../media/image104.png"/><Relationship Id="rId6" Type="http://schemas.openxmlformats.org/officeDocument/2006/relationships/image" Target="../media/image98.png"/><Relationship Id="rId7" Type="http://schemas.openxmlformats.org/officeDocument/2006/relationships/image" Target="../media/image101.png"/><Relationship Id="rId8" Type="http://schemas.openxmlformats.org/officeDocument/2006/relationships/image" Target="../media/image10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7.png"/><Relationship Id="rId10" Type="http://schemas.openxmlformats.org/officeDocument/2006/relationships/image" Target="../media/image120.png"/><Relationship Id="rId13" Type="http://schemas.openxmlformats.org/officeDocument/2006/relationships/image" Target="../media/image106.png"/><Relationship Id="rId1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9" Type="http://schemas.openxmlformats.org/officeDocument/2006/relationships/image" Target="../media/image109.png"/><Relationship Id="rId15" Type="http://schemas.openxmlformats.org/officeDocument/2006/relationships/image" Target="../media/image113.png"/><Relationship Id="rId14" Type="http://schemas.openxmlformats.org/officeDocument/2006/relationships/image" Target="../media/image127.png"/><Relationship Id="rId17" Type="http://schemas.openxmlformats.org/officeDocument/2006/relationships/image" Target="../media/image116.png"/><Relationship Id="rId16" Type="http://schemas.openxmlformats.org/officeDocument/2006/relationships/image" Target="../media/image121.png"/><Relationship Id="rId5" Type="http://schemas.openxmlformats.org/officeDocument/2006/relationships/image" Target="../media/image112.png"/><Relationship Id="rId6" Type="http://schemas.openxmlformats.org/officeDocument/2006/relationships/image" Target="../media/image110.png"/><Relationship Id="rId7" Type="http://schemas.openxmlformats.org/officeDocument/2006/relationships/image" Target="../media/image118.png"/><Relationship Id="rId8" Type="http://schemas.openxmlformats.org/officeDocument/2006/relationships/image" Target="../media/image108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4.png"/><Relationship Id="rId4" Type="http://schemas.openxmlformats.org/officeDocument/2006/relationships/image" Target="../media/image126.png"/><Relationship Id="rId9" Type="http://schemas.openxmlformats.org/officeDocument/2006/relationships/image" Target="../media/image125.png"/><Relationship Id="rId5" Type="http://schemas.openxmlformats.org/officeDocument/2006/relationships/image" Target="../media/image117.png"/><Relationship Id="rId6" Type="http://schemas.openxmlformats.org/officeDocument/2006/relationships/image" Target="../media/image123.png"/><Relationship Id="rId7" Type="http://schemas.openxmlformats.org/officeDocument/2006/relationships/image" Target="../media/image141.png"/><Relationship Id="rId8" Type="http://schemas.openxmlformats.org/officeDocument/2006/relationships/image" Target="../media/image12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0.png"/><Relationship Id="rId10" Type="http://schemas.openxmlformats.org/officeDocument/2006/relationships/image" Target="../media/image135.png"/><Relationship Id="rId13" Type="http://schemas.openxmlformats.org/officeDocument/2006/relationships/image" Target="../media/image130.png"/><Relationship Id="rId1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8.png"/><Relationship Id="rId4" Type="http://schemas.openxmlformats.org/officeDocument/2006/relationships/image" Target="../media/image126.png"/><Relationship Id="rId9" Type="http://schemas.openxmlformats.org/officeDocument/2006/relationships/image" Target="../media/image137.png"/><Relationship Id="rId15" Type="http://schemas.openxmlformats.org/officeDocument/2006/relationships/image" Target="../media/image138.png"/><Relationship Id="rId14" Type="http://schemas.openxmlformats.org/officeDocument/2006/relationships/image" Target="../media/image139.png"/><Relationship Id="rId5" Type="http://schemas.openxmlformats.org/officeDocument/2006/relationships/image" Target="../media/image131.png"/><Relationship Id="rId6" Type="http://schemas.openxmlformats.org/officeDocument/2006/relationships/image" Target="../media/image133.png"/><Relationship Id="rId7" Type="http://schemas.openxmlformats.org/officeDocument/2006/relationships/image" Target="../media/image143.png"/><Relationship Id="rId8" Type="http://schemas.openxmlformats.org/officeDocument/2006/relationships/image" Target="../media/image132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6.png"/><Relationship Id="rId10" Type="http://schemas.openxmlformats.org/officeDocument/2006/relationships/image" Target="../media/image151.png"/><Relationship Id="rId13" Type="http://schemas.openxmlformats.org/officeDocument/2006/relationships/image" Target="../media/image152.png"/><Relationship Id="rId1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7.png"/><Relationship Id="rId4" Type="http://schemas.openxmlformats.org/officeDocument/2006/relationships/image" Target="../media/image160.png"/><Relationship Id="rId9" Type="http://schemas.openxmlformats.org/officeDocument/2006/relationships/image" Target="../media/image146.png"/><Relationship Id="rId14" Type="http://schemas.openxmlformats.org/officeDocument/2006/relationships/image" Target="../media/image187.png"/><Relationship Id="rId5" Type="http://schemas.openxmlformats.org/officeDocument/2006/relationships/image" Target="../media/image142.png"/><Relationship Id="rId6" Type="http://schemas.openxmlformats.org/officeDocument/2006/relationships/image" Target="../media/image158.png"/><Relationship Id="rId7" Type="http://schemas.openxmlformats.org/officeDocument/2006/relationships/image" Target="../media/image145.png"/><Relationship Id="rId8" Type="http://schemas.openxmlformats.org/officeDocument/2006/relationships/image" Target="../media/image95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1.png"/><Relationship Id="rId10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9.png"/><Relationship Id="rId4" Type="http://schemas.openxmlformats.org/officeDocument/2006/relationships/image" Target="../media/image214.png"/><Relationship Id="rId9" Type="http://schemas.openxmlformats.org/officeDocument/2006/relationships/image" Target="../media/image154.png"/><Relationship Id="rId5" Type="http://schemas.openxmlformats.org/officeDocument/2006/relationships/image" Target="../media/image157.png"/><Relationship Id="rId6" Type="http://schemas.openxmlformats.org/officeDocument/2006/relationships/image" Target="../media/image148.png"/><Relationship Id="rId7" Type="http://schemas.openxmlformats.org/officeDocument/2006/relationships/image" Target="../media/image155.png"/><Relationship Id="rId8" Type="http://schemas.openxmlformats.org/officeDocument/2006/relationships/image" Target="../media/image163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0.png"/><Relationship Id="rId10" Type="http://schemas.openxmlformats.org/officeDocument/2006/relationships/image" Target="../media/image169.png"/><Relationship Id="rId13" Type="http://schemas.openxmlformats.org/officeDocument/2006/relationships/image" Target="../media/image168.png"/><Relationship Id="rId1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5.png"/><Relationship Id="rId4" Type="http://schemas.openxmlformats.org/officeDocument/2006/relationships/image" Target="../media/image164.png"/><Relationship Id="rId9" Type="http://schemas.openxmlformats.org/officeDocument/2006/relationships/image" Target="../media/image167.png"/><Relationship Id="rId5" Type="http://schemas.openxmlformats.org/officeDocument/2006/relationships/image" Target="../media/image165.png"/><Relationship Id="rId6" Type="http://schemas.openxmlformats.org/officeDocument/2006/relationships/image" Target="../media/image173.png"/><Relationship Id="rId7" Type="http://schemas.openxmlformats.org/officeDocument/2006/relationships/image" Target="../media/image166.png"/><Relationship Id="rId8" Type="http://schemas.openxmlformats.org/officeDocument/2006/relationships/image" Target="../media/image17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2.png"/><Relationship Id="rId10" Type="http://schemas.openxmlformats.org/officeDocument/2006/relationships/image" Target="../media/image177.png"/><Relationship Id="rId13" Type="http://schemas.openxmlformats.org/officeDocument/2006/relationships/image" Target="../media/image188.png"/><Relationship Id="rId1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6.png"/><Relationship Id="rId4" Type="http://schemas.openxmlformats.org/officeDocument/2006/relationships/image" Target="../media/image179.png"/><Relationship Id="rId9" Type="http://schemas.openxmlformats.org/officeDocument/2006/relationships/image" Target="../media/image178.png"/><Relationship Id="rId14" Type="http://schemas.openxmlformats.org/officeDocument/2006/relationships/image" Target="../media/image186.png"/><Relationship Id="rId5" Type="http://schemas.openxmlformats.org/officeDocument/2006/relationships/image" Target="../media/image172.png"/><Relationship Id="rId6" Type="http://schemas.openxmlformats.org/officeDocument/2006/relationships/image" Target="../media/image181.png"/><Relationship Id="rId7" Type="http://schemas.openxmlformats.org/officeDocument/2006/relationships/image" Target="../media/image175.png"/><Relationship Id="rId8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5.png"/><Relationship Id="rId10" Type="http://schemas.openxmlformats.org/officeDocument/2006/relationships/image" Target="../media/image190.png"/><Relationship Id="rId13" Type="http://schemas.openxmlformats.org/officeDocument/2006/relationships/image" Target="../media/image196.png"/><Relationship Id="rId12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4.png"/><Relationship Id="rId4" Type="http://schemas.openxmlformats.org/officeDocument/2006/relationships/image" Target="../media/image183.png"/><Relationship Id="rId9" Type="http://schemas.openxmlformats.org/officeDocument/2006/relationships/image" Target="../media/image201.png"/><Relationship Id="rId14" Type="http://schemas.openxmlformats.org/officeDocument/2006/relationships/image" Target="../media/image186.png"/><Relationship Id="rId5" Type="http://schemas.openxmlformats.org/officeDocument/2006/relationships/image" Target="../media/image197.png"/><Relationship Id="rId6" Type="http://schemas.openxmlformats.org/officeDocument/2006/relationships/image" Target="../media/image191.png"/><Relationship Id="rId7" Type="http://schemas.openxmlformats.org/officeDocument/2006/relationships/image" Target="../media/image193.png"/><Relationship Id="rId8" Type="http://schemas.openxmlformats.org/officeDocument/2006/relationships/image" Target="../media/image1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9.png"/><Relationship Id="rId4" Type="http://schemas.openxmlformats.org/officeDocument/2006/relationships/image" Target="../media/image192.png"/><Relationship Id="rId5" Type="http://schemas.openxmlformats.org/officeDocument/2006/relationships/image" Target="../media/image2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0.png"/><Relationship Id="rId4" Type="http://schemas.openxmlformats.org/officeDocument/2006/relationships/image" Target="../media/image210.png"/><Relationship Id="rId5" Type="http://schemas.openxmlformats.org/officeDocument/2006/relationships/image" Target="../media/image20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8.png"/><Relationship Id="rId4" Type="http://schemas.openxmlformats.org/officeDocument/2006/relationships/image" Target="../media/image209.png"/><Relationship Id="rId5" Type="http://schemas.openxmlformats.org/officeDocument/2006/relationships/image" Target="../media/image206.png"/><Relationship Id="rId6" Type="http://schemas.openxmlformats.org/officeDocument/2006/relationships/image" Target="../media/image2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7.png"/><Relationship Id="rId4" Type="http://schemas.openxmlformats.org/officeDocument/2006/relationships/image" Target="../media/image215.png"/><Relationship Id="rId5" Type="http://schemas.openxmlformats.org/officeDocument/2006/relationships/image" Target="../media/image208.png"/><Relationship Id="rId6" Type="http://schemas.openxmlformats.org/officeDocument/2006/relationships/image" Target="../media/image2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5134626" y="950656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G1.9 – </a:t>
            </a:r>
            <a:r>
              <a:rPr b="0" i="0"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Understand and use the sum of exterior angles of any polygon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6370" y="309496"/>
            <a:ext cx="6716974" cy="16965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9227" y="69296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51247" y="968536"/>
            <a:ext cx="541903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the sum of exterior angles in any polygon.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the exterior angle sum to find missing angles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the exterior angle sum to calculate the number of sides in a polygon. 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2969" y="356923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apply the properties of exterior angles to solve problems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634066" y="737234"/>
            <a:ext cx="1043610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Polygon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Interior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Exterior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Regular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Irregular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63446" y="2077355"/>
            <a:ext cx="6714996" cy="339365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68827" y="3774483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>
            <a:stCxn id="95" idx="2"/>
            <a:endCxn id="95" idx="0"/>
          </p:cNvCxnSpPr>
          <p:nvPr/>
        </p:nvCxnSpPr>
        <p:spPr>
          <a:xfrm rot="10800000">
            <a:off x="3420944" y="2077410"/>
            <a:ext cx="0" cy="339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 txBox="1"/>
          <p:nvPr/>
        </p:nvSpPr>
        <p:spPr>
          <a:xfrm>
            <a:off x="67984" y="2155576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4214" y="376947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615432" y="378651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566675" y="3605811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Polygon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656159" y="2148490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7984" y="2404015"/>
            <a:ext cx="34330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2D Shape with three or more straight line sides. All sides are the same length. The interior angles are equal in size, and the exterior angles are equal in size. ​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63446" y="5549231"/>
            <a:ext cx="6714996" cy="40472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3"/>
          <p:cNvCxnSpPr/>
          <p:nvPr/>
        </p:nvCxnSpPr>
        <p:spPr>
          <a:xfrm>
            <a:off x="79223" y="7449068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3"/>
          <p:cNvCxnSpPr>
            <a:stCxn id="104" idx="2"/>
            <a:endCxn id="104" idx="0"/>
          </p:cNvCxnSpPr>
          <p:nvPr/>
        </p:nvCxnSpPr>
        <p:spPr>
          <a:xfrm rot="10800000">
            <a:off x="3420944" y="5549204"/>
            <a:ext cx="0" cy="404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3"/>
          <p:cNvSpPr txBox="1"/>
          <p:nvPr/>
        </p:nvSpPr>
        <p:spPr>
          <a:xfrm>
            <a:off x="67984" y="562745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3333" y="7473425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615432" y="749712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2483088" y="7307051"/>
            <a:ext cx="191682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Irregular Polygon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5656159" y="5620365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67984" y="5875890"/>
            <a:ext cx="34330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2D Shape with three or more straight line sides. The sides are different lengths. The interior angles are different sizes, and the exterior angles are different sizes. ​​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461025" y="2396929"/>
            <a:ext cx="343301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Enclosed shape of straight sides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Sides are equal length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Angles are equal between the sides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curved lines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3632" l="11778" r="11287" t="55288"/>
          <a:stretch/>
        </p:blipFill>
        <p:spPr>
          <a:xfrm>
            <a:off x="2464210" y="4023104"/>
            <a:ext cx="916007" cy="9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596" y="4211002"/>
            <a:ext cx="11620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5">
            <a:alphaModFix/>
          </a:blip>
          <a:srcRect b="0" l="0" r="27870" t="48692"/>
          <a:stretch/>
        </p:blipFill>
        <p:spPr>
          <a:xfrm>
            <a:off x="5786748" y="4249556"/>
            <a:ext cx="824453" cy="115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6">
            <a:alphaModFix/>
          </a:blip>
          <a:srcRect b="54299" l="9210" r="9286" t="4567"/>
          <a:stretch/>
        </p:blipFill>
        <p:spPr>
          <a:xfrm>
            <a:off x="80845" y="4522842"/>
            <a:ext cx="985952" cy="94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/>
          <p:cNvPicPr preferRelativeResize="0"/>
          <p:nvPr/>
        </p:nvPicPr>
        <p:blipFill rotWithShape="1">
          <a:blip r:embed="rId6">
            <a:alphaModFix/>
          </a:blip>
          <a:srcRect b="0" l="11051" r="10906" t="53761"/>
          <a:stretch/>
        </p:blipFill>
        <p:spPr>
          <a:xfrm>
            <a:off x="751615" y="3793299"/>
            <a:ext cx="944068" cy="106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 rotWithShape="1">
          <a:blip r:embed="rId3">
            <a:alphaModFix/>
          </a:blip>
          <a:srcRect b="56151" l="12795" r="10269" t="3383"/>
          <a:stretch/>
        </p:blipFill>
        <p:spPr>
          <a:xfrm>
            <a:off x="1561352" y="4522842"/>
            <a:ext cx="916007" cy="948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3425614" y="5858283"/>
            <a:ext cx="343301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Enclosed shape of straight sides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Sides are different lengths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Angles are different sizes between the sides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curved lines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4">
            <a:alphaModFix/>
          </a:blip>
          <a:srcRect b="9234" l="8012" r="15050" t="0"/>
          <a:stretch/>
        </p:blipFill>
        <p:spPr>
          <a:xfrm>
            <a:off x="98954" y="8457054"/>
            <a:ext cx="894050" cy="1002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 rotWithShape="1">
          <a:blip r:embed="rId5">
            <a:alphaModFix/>
          </a:blip>
          <a:srcRect b="0" l="0" r="27870" t="48692"/>
          <a:stretch/>
        </p:blipFill>
        <p:spPr>
          <a:xfrm>
            <a:off x="1667202" y="8371792"/>
            <a:ext cx="824453" cy="115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1141" y="7654607"/>
            <a:ext cx="9144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664296">
            <a:off x="719176" y="8605293"/>
            <a:ext cx="12001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85019" y="7845154"/>
            <a:ext cx="9239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73130" y="8559091"/>
            <a:ext cx="923925" cy="900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 b="3632" l="11778" r="11287" t="55288"/>
          <a:stretch/>
        </p:blipFill>
        <p:spPr>
          <a:xfrm>
            <a:off x="5839996" y="7750424"/>
            <a:ext cx="916007" cy="9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6">
            <a:alphaModFix/>
          </a:blip>
          <a:srcRect b="54299" l="9210" r="9286" t="4567"/>
          <a:stretch/>
        </p:blipFill>
        <p:spPr>
          <a:xfrm>
            <a:off x="3443148" y="8426422"/>
            <a:ext cx="985952" cy="94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6">
            <a:alphaModFix/>
          </a:blip>
          <a:srcRect b="0" l="11051" r="10906" t="53761"/>
          <a:stretch/>
        </p:blipFill>
        <p:spPr>
          <a:xfrm>
            <a:off x="4112905" y="7696878"/>
            <a:ext cx="944068" cy="106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56151" l="12795" r="10269" t="3383"/>
          <a:stretch/>
        </p:blipFill>
        <p:spPr>
          <a:xfrm>
            <a:off x="4959798" y="8437870"/>
            <a:ext cx="916007" cy="948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ying the isosceles triangle theorem — Krista King Math | Online math  help" id="131" name="Google Shape;13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4816" y="7644127"/>
            <a:ext cx="786162" cy="83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34473" y="4090268"/>
            <a:ext cx="824454" cy="127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23430" y="8613562"/>
            <a:ext cx="635398" cy="985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21134" y="3793299"/>
            <a:ext cx="605568" cy="696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38979" y="7712068"/>
            <a:ext cx="605568" cy="69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5350985" y="-19820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>
            <a:off x="101550" y="159100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regular and irregular polygons</a:t>
            </a:r>
            <a:endParaRPr/>
          </a:p>
        </p:txBody>
      </p:sp>
      <p:graphicFrame>
        <p:nvGraphicFramePr>
          <p:cNvPr id="142" name="Google Shape;142;p14"/>
          <p:cNvGraphicFramePr/>
          <p:nvPr/>
        </p:nvGraphicFramePr>
        <p:xfrm>
          <a:off x="89518" y="4094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945200"/>
                <a:gridCol w="1914575"/>
                <a:gridCol w="1914575"/>
                <a:gridCol w="1914575"/>
              </a:tblGrid>
              <a:tr h="2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Identify whether each shape below is a polygon or not. If it is a polygon, state whether it is a regular or irregular polygon.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Identify whether each shape below is a polygon or not. If it is a polygon, state whether it is a regular or irregular polygon.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Identify whether each shape below is a polygon or not. If it is a polygon, state whether it is a regular or irregular polygon.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3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it a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2D shape with three or more straight line sides? If yes, the shape is a polygon.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Are all the sides the same length? Are all the angles the same size? If so, the polygon is regular.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781" y="3838575"/>
            <a:ext cx="12287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53632"/>
          <a:stretch/>
        </p:blipFill>
        <p:spPr>
          <a:xfrm>
            <a:off x="1332146" y="1889918"/>
            <a:ext cx="1295400" cy="96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1469" y="3842497"/>
            <a:ext cx="13906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0506" y="1749323"/>
            <a:ext cx="1197414" cy="1175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8547" y="1749323"/>
            <a:ext cx="1053767" cy="1212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6963" y="3727274"/>
            <a:ext cx="1312859" cy="1246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4"/>
          <p:cNvCxnSpPr/>
          <p:nvPr/>
        </p:nvCxnSpPr>
        <p:spPr>
          <a:xfrm>
            <a:off x="1679713" y="4293704"/>
            <a:ext cx="159026" cy="10659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4"/>
          <p:cNvCxnSpPr/>
          <p:nvPr/>
        </p:nvCxnSpPr>
        <p:spPr>
          <a:xfrm flipH="1" rot="10800000">
            <a:off x="2184216" y="4289789"/>
            <a:ext cx="159026" cy="10659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14"/>
          <p:cNvCxnSpPr/>
          <p:nvPr/>
        </p:nvCxnSpPr>
        <p:spPr>
          <a:xfrm rot="10800000">
            <a:off x="2019602" y="4715862"/>
            <a:ext cx="0" cy="22408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2" name="Google Shape;152;p14"/>
          <p:cNvGrpSpPr/>
          <p:nvPr/>
        </p:nvGrpSpPr>
        <p:grpSpPr>
          <a:xfrm rot="10800000">
            <a:off x="3360490" y="2331151"/>
            <a:ext cx="1131024" cy="1956"/>
            <a:chOff x="3137238" y="2187005"/>
            <a:chExt cx="1358777" cy="1956"/>
          </a:xfrm>
        </p:grpSpPr>
        <p:cxnSp>
          <p:nvCxnSpPr>
            <p:cNvPr id="153" name="Google Shape;153;p14"/>
            <p:cNvCxnSpPr/>
            <p:nvPr/>
          </p:nvCxnSpPr>
          <p:spPr>
            <a:xfrm>
              <a:off x="3137238" y="2188961"/>
              <a:ext cx="21580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" name="Google Shape;154;p14"/>
            <p:cNvCxnSpPr/>
            <p:nvPr/>
          </p:nvCxnSpPr>
          <p:spPr>
            <a:xfrm>
              <a:off x="4270991" y="2187005"/>
              <a:ext cx="225024" cy="195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5" name="Google Shape;155;p14"/>
          <p:cNvGrpSpPr/>
          <p:nvPr/>
        </p:nvGrpSpPr>
        <p:grpSpPr>
          <a:xfrm rot="10800000">
            <a:off x="3597941" y="2628156"/>
            <a:ext cx="666461" cy="124032"/>
            <a:chOff x="3510406" y="2223138"/>
            <a:chExt cx="800666" cy="124032"/>
          </a:xfrm>
        </p:grpSpPr>
        <p:cxnSp>
          <p:nvCxnSpPr>
            <p:cNvPr id="156" name="Google Shape;156;p14"/>
            <p:cNvCxnSpPr/>
            <p:nvPr/>
          </p:nvCxnSpPr>
          <p:spPr>
            <a:xfrm>
              <a:off x="3510406" y="2223138"/>
              <a:ext cx="175172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14"/>
            <p:cNvCxnSpPr/>
            <p:nvPr/>
          </p:nvCxnSpPr>
          <p:spPr>
            <a:xfrm flipH="1" rot="10800000">
              <a:off x="4150543" y="2223138"/>
              <a:ext cx="160529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8" name="Google Shape;158;p14"/>
          <p:cNvGrpSpPr/>
          <p:nvPr/>
        </p:nvGrpSpPr>
        <p:grpSpPr>
          <a:xfrm>
            <a:off x="3565390" y="1867768"/>
            <a:ext cx="686338" cy="124032"/>
            <a:chOff x="3510406" y="2223138"/>
            <a:chExt cx="824545" cy="124032"/>
          </a:xfrm>
        </p:grpSpPr>
        <p:cxnSp>
          <p:nvCxnSpPr>
            <p:cNvPr id="159" name="Google Shape;159;p14"/>
            <p:cNvCxnSpPr/>
            <p:nvPr/>
          </p:nvCxnSpPr>
          <p:spPr>
            <a:xfrm>
              <a:off x="3510406" y="2223138"/>
              <a:ext cx="175172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" name="Google Shape;160;p14"/>
            <p:cNvCxnSpPr/>
            <p:nvPr/>
          </p:nvCxnSpPr>
          <p:spPr>
            <a:xfrm flipH="1" rot="10800000">
              <a:off x="4174422" y="2223138"/>
              <a:ext cx="160529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1" name="Google Shape;161;p14"/>
          <p:cNvGrpSpPr/>
          <p:nvPr/>
        </p:nvGrpSpPr>
        <p:grpSpPr>
          <a:xfrm rot="10800000">
            <a:off x="5255489" y="4461452"/>
            <a:ext cx="1131024" cy="65666"/>
            <a:chOff x="3137238" y="2188961"/>
            <a:chExt cx="1358777" cy="65666"/>
          </a:xfrm>
        </p:grpSpPr>
        <p:cxnSp>
          <p:nvCxnSpPr>
            <p:cNvPr id="162" name="Google Shape;162;p14"/>
            <p:cNvCxnSpPr/>
            <p:nvPr/>
          </p:nvCxnSpPr>
          <p:spPr>
            <a:xfrm>
              <a:off x="3137238" y="2188961"/>
              <a:ext cx="214423" cy="656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14"/>
            <p:cNvCxnSpPr/>
            <p:nvPr/>
          </p:nvCxnSpPr>
          <p:spPr>
            <a:xfrm flipH="1" rot="10800000">
              <a:off x="4252504" y="2188961"/>
              <a:ext cx="243511" cy="656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64" name="Google Shape;164;p14"/>
          <p:cNvCxnSpPr/>
          <p:nvPr/>
        </p:nvCxnSpPr>
        <p:spPr>
          <a:xfrm>
            <a:off x="5825430" y="4743808"/>
            <a:ext cx="0" cy="1681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5" name="Google Shape;165;p14"/>
          <p:cNvGrpSpPr/>
          <p:nvPr/>
        </p:nvGrpSpPr>
        <p:grpSpPr>
          <a:xfrm>
            <a:off x="5458184" y="3899327"/>
            <a:ext cx="686338" cy="124032"/>
            <a:chOff x="3510406" y="2223138"/>
            <a:chExt cx="824545" cy="124032"/>
          </a:xfrm>
        </p:grpSpPr>
        <p:cxnSp>
          <p:nvCxnSpPr>
            <p:cNvPr id="166" name="Google Shape;166;p14"/>
            <p:cNvCxnSpPr/>
            <p:nvPr/>
          </p:nvCxnSpPr>
          <p:spPr>
            <a:xfrm>
              <a:off x="3510406" y="2223138"/>
              <a:ext cx="118614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4"/>
            <p:cNvCxnSpPr/>
            <p:nvPr/>
          </p:nvCxnSpPr>
          <p:spPr>
            <a:xfrm flipH="1" rot="10800000">
              <a:off x="4188093" y="2223138"/>
              <a:ext cx="146858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p14"/>
          <p:cNvSpPr txBox="1"/>
          <p:nvPr/>
        </p:nvSpPr>
        <p:spPr>
          <a:xfrm>
            <a:off x="1235858" y="6097097"/>
            <a:ext cx="57006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For each shape, decide whether it is a polygon or not. For those that are polygons, decide whether they are regular or irregular polygons.</a:t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97904" y="6119234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70" name="Google Shape;170;p14"/>
          <p:cNvGraphicFramePr/>
          <p:nvPr/>
        </p:nvGraphicFramePr>
        <p:xfrm>
          <a:off x="97903" y="6637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35225"/>
                <a:gridCol w="1411700"/>
                <a:gridCol w="2630900"/>
                <a:gridCol w="2273475"/>
              </a:tblGrid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1" name="Google Shape;17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565" y="6668534"/>
            <a:ext cx="1285228" cy="1315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/>
          <p:cNvPicPr preferRelativeResize="0"/>
          <p:nvPr/>
        </p:nvPicPr>
        <p:blipFill rotWithShape="1">
          <a:blip r:embed="rId10">
            <a:alphaModFix/>
          </a:blip>
          <a:srcRect b="-545" l="6976" r="6677" t="0"/>
          <a:stretch/>
        </p:blipFill>
        <p:spPr>
          <a:xfrm>
            <a:off x="488565" y="8192082"/>
            <a:ext cx="1337180" cy="11383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4"/>
          <p:cNvGrpSpPr/>
          <p:nvPr/>
        </p:nvGrpSpPr>
        <p:grpSpPr>
          <a:xfrm rot="-10148368">
            <a:off x="506835" y="7025217"/>
            <a:ext cx="1206256" cy="269836"/>
            <a:chOff x="3107259" y="2183100"/>
            <a:chExt cx="1449157" cy="269836"/>
          </a:xfrm>
        </p:grpSpPr>
        <p:cxnSp>
          <p:nvCxnSpPr>
            <p:cNvPr id="174" name="Google Shape;174;p14"/>
            <p:cNvCxnSpPr/>
            <p:nvPr/>
          </p:nvCxnSpPr>
          <p:spPr>
            <a:xfrm flipH="1" rot="10148368">
              <a:off x="3112105" y="2361208"/>
              <a:ext cx="216246" cy="7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4"/>
            <p:cNvCxnSpPr/>
            <p:nvPr/>
          </p:nvCxnSpPr>
          <p:spPr>
            <a:xfrm>
              <a:off x="4331393" y="2183100"/>
              <a:ext cx="225023" cy="195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6" name="Google Shape;176;p14"/>
          <p:cNvGrpSpPr/>
          <p:nvPr/>
        </p:nvGrpSpPr>
        <p:grpSpPr>
          <a:xfrm rot="10800000">
            <a:off x="614181" y="7626022"/>
            <a:ext cx="993583" cy="124032"/>
            <a:chOff x="3117412" y="2223138"/>
            <a:chExt cx="1193660" cy="124032"/>
          </a:xfrm>
        </p:grpSpPr>
        <p:cxnSp>
          <p:nvCxnSpPr>
            <p:cNvPr id="177" name="Google Shape;177;p14"/>
            <p:cNvCxnSpPr/>
            <p:nvPr/>
          </p:nvCxnSpPr>
          <p:spPr>
            <a:xfrm>
              <a:off x="3117412" y="2223138"/>
              <a:ext cx="175172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4"/>
            <p:cNvCxnSpPr/>
            <p:nvPr/>
          </p:nvCxnSpPr>
          <p:spPr>
            <a:xfrm flipH="1" rot="10800000">
              <a:off x="4150543" y="2223138"/>
              <a:ext cx="160529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9" name="Google Shape;179;p14"/>
          <p:cNvGrpSpPr/>
          <p:nvPr/>
        </p:nvGrpSpPr>
        <p:grpSpPr>
          <a:xfrm>
            <a:off x="731599" y="6797229"/>
            <a:ext cx="686338" cy="124032"/>
            <a:chOff x="3510406" y="2223138"/>
            <a:chExt cx="824545" cy="124032"/>
          </a:xfrm>
        </p:grpSpPr>
        <p:cxnSp>
          <p:nvCxnSpPr>
            <p:cNvPr id="180" name="Google Shape;180;p14"/>
            <p:cNvCxnSpPr/>
            <p:nvPr/>
          </p:nvCxnSpPr>
          <p:spPr>
            <a:xfrm>
              <a:off x="3510406" y="2223138"/>
              <a:ext cx="175172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p14"/>
            <p:cNvCxnSpPr/>
            <p:nvPr/>
          </p:nvCxnSpPr>
          <p:spPr>
            <a:xfrm flipH="1" rot="10800000">
              <a:off x="4174422" y="2223138"/>
              <a:ext cx="160529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82" name="Google Shape;182;p14"/>
          <p:cNvCxnSpPr/>
          <p:nvPr/>
        </p:nvCxnSpPr>
        <p:spPr>
          <a:xfrm rot="10800000">
            <a:off x="1121956" y="7760282"/>
            <a:ext cx="0" cy="22408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14"/>
          <p:cNvSpPr txBox="1"/>
          <p:nvPr/>
        </p:nvSpPr>
        <p:spPr>
          <a:xfrm>
            <a:off x="1218099" y="2944399"/>
            <a:ext cx="1523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a polygon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3044124" y="2957274"/>
            <a:ext cx="1799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Polygon - regular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5081645" y="2965422"/>
            <a:ext cx="1523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a polygon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47479" y="5083537"/>
            <a:ext cx="1799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Polygon - regular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979078" y="5066044"/>
            <a:ext cx="1799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Polygon - regular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2994349" y="5083537"/>
            <a:ext cx="1937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Polygon - irregular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939897" y="7164269"/>
            <a:ext cx="955703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495300" y="7174862"/>
            <a:ext cx="846269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1939896" y="8580001"/>
            <a:ext cx="955703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5341569" y="8557812"/>
            <a:ext cx="955703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15"/>
          <p:cNvGraphicFramePr/>
          <p:nvPr/>
        </p:nvGraphicFramePr>
        <p:xfrm>
          <a:off x="103341" y="749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43225"/>
                <a:gridCol w="1411700"/>
                <a:gridCol w="2630900"/>
                <a:gridCol w="2273475"/>
              </a:tblGrid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15"/>
          <p:cNvSpPr txBox="1"/>
          <p:nvPr/>
        </p:nvSpPr>
        <p:spPr>
          <a:xfrm>
            <a:off x="32084" y="411624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 continued.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 b="11064" l="12245" r="11822" t="7452"/>
          <a:stretch/>
        </p:blipFill>
        <p:spPr>
          <a:xfrm>
            <a:off x="561475" y="813790"/>
            <a:ext cx="1219199" cy="128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20" y="2248472"/>
            <a:ext cx="1301154" cy="125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144" y="3824487"/>
            <a:ext cx="1255530" cy="78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102" y="5067514"/>
            <a:ext cx="1061182" cy="125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/>
          <p:cNvPicPr preferRelativeResize="0"/>
          <p:nvPr/>
        </p:nvPicPr>
        <p:blipFill rotWithShape="1">
          <a:blip r:embed="rId7">
            <a:alphaModFix/>
          </a:blip>
          <a:srcRect b="0" l="0" r="14824" t="0"/>
          <a:stretch/>
        </p:blipFill>
        <p:spPr>
          <a:xfrm>
            <a:off x="543471" y="6661586"/>
            <a:ext cx="1178814" cy="980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15"/>
          <p:cNvGrpSpPr/>
          <p:nvPr/>
        </p:nvGrpSpPr>
        <p:grpSpPr>
          <a:xfrm>
            <a:off x="1114727" y="2219897"/>
            <a:ext cx="9525" cy="1277309"/>
            <a:chOff x="1114727" y="2219897"/>
            <a:chExt cx="9525" cy="1277309"/>
          </a:xfrm>
        </p:grpSpPr>
        <p:cxnSp>
          <p:nvCxnSpPr>
            <p:cNvPr id="206" name="Google Shape;206;p15"/>
            <p:cNvCxnSpPr/>
            <p:nvPr/>
          </p:nvCxnSpPr>
          <p:spPr>
            <a:xfrm rot="10800000">
              <a:off x="1124252" y="3273126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5"/>
            <p:cNvCxnSpPr/>
            <p:nvPr/>
          </p:nvCxnSpPr>
          <p:spPr>
            <a:xfrm rot="10800000">
              <a:off x="1114727" y="221989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" name="Google Shape;208;p15"/>
          <p:cNvGrpSpPr/>
          <p:nvPr/>
        </p:nvGrpSpPr>
        <p:grpSpPr>
          <a:xfrm rot="5400000">
            <a:off x="1113412" y="2183404"/>
            <a:ext cx="9525" cy="1277309"/>
            <a:chOff x="1114727" y="2219897"/>
            <a:chExt cx="9525" cy="1277309"/>
          </a:xfrm>
        </p:grpSpPr>
        <p:cxnSp>
          <p:nvCxnSpPr>
            <p:cNvPr id="209" name="Google Shape;209;p15"/>
            <p:cNvCxnSpPr/>
            <p:nvPr/>
          </p:nvCxnSpPr>
          <p:spPr>
            <a:xfrm rot="10800000">
              <a:off x="1124252" y="3273126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5"/>
            <p:cNvCxnSpPr/>
            <p:nvPr/>
          </p:nvCxnSpPr>
          <p:spPr>
            <a:xfrm rot="10800000">
              <a:off x="1114727" y="221989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1" name="Google Shape;211;p15"/>
          <p:cNvGrpSpPr/>
          <p:nvPr/>
        </p:nvGrpSpPr>
        <p:grpSpPr>
          <a:xfrm rot="5400000">
            <a:off x="1137257" y="3584193"/>
            <a:ext cx="9525" cy="1277309"/>
            <a:chOff x="1114727" y="2219897"/>
            <a:chExt cx="9525" cy="1277309"/>
          </a:xfrm>
        </p:grpSpPr>
        <p:cxnSp>
          <p:nvCxnSpPr>
            <p:cNvPr id="212" name="Google Shape;212;p15"/>
            <p:cNvCxnSpPr/>
            <p:nvPr/>
          </p:nvCxnSpPr>
          <p:spPr>
            <a:xfrm rot="10800000">
              <a:off x="1124252" y="3273126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5"/>
            <p:cNvCxnSpPr/>
            <p:nvPr/>
          </p:nvCxnSpPr>
          <p:spPr>
            <a:xfrm rot="10800000">
              <a:off x="1114727" y="221989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4" name="Google Shape;214;p15"/>
          <p:cNvGrpSpPr/>
          <p:nvPr/>
        </p:nvGrpSpPr>
        <p:grpSpPr>
          <a:xfrm>
            <a:off x="1105202" y="3800992"/>
            <a:ext cx="0" cy="810692"/>
            <a:chOff x="1114727" y="2219897"/>
            <a:chExt cx="0" cy="810692"/>
          </a:xfrm>
        </p:grpSpPr>
        <p:cxnSp>
          <p:nvCxnSpPr>
            <p:cNvPr id="215" name="Google Shape;215;p15"/>
            <p:cNvCxnSpPr/>
            <p:nvPr/>
          </p:nvCxnSpPr>
          <p:spPr>
            <a:xfrm rot="10800000">
              <a:off x="1114727" y="2806509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5"/>
            <p:cNvCxnSpPr/>
            <p:nvPr/>
          </p:nvCxnSpPr>
          <p:spPr>
            <a:xfrm rot="10800000">
              <a:off x="1114727" y="221989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7" name="Google Shape;217;p15"/>
          <p:cNvGrpSpPr/>
          <p:nvPr/>
        </p:nvGrpSpPr>
        <p:grpSpPr>
          <a:xfrm>
            <a:off x="1142499" y="3800992"/>
            <a:ext cx="0" cy="810692"/>
            <a:chOff x="1114727" y="2219897"/>
            <a:chExt cx="0" cy="810692"/>
          </a:xfrm>
        </p:grpSpPr>
        <p:cxnSp>
          <p:nvCxnSpPr>
            <p:cNvPr id="218" name="Google Shape;218;p15"/>
            <p:cNvCxnSpPr/>
            <p:nvPr/>
          </p:nvCxnSpPr>
          <p:spPr>
            <a:xfrm rot="10800000">
              <a:off x="1114727" y="2806509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5"/>
            <p:cNvCxnSpPr/>
            <p:nvPr/>
          </p:nvCxnSpPr>
          <p:spPr>
            <a:xfrm rot="10800000">
              <a:off x="1114727" y="221989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0" name="Google Shape;220;p15"/>
          <p:cNvGrpSpPr/>
          <p:nvPr/>
        </p:nvGrpSpPr>
        <p:grpSpPr>
          <a:xfrm>
            <a:off x="1142020" y="5179554"/>
            <a:ext cx="0" cy="1053229"/>
            <a:chOff x="1124252" y="2443977"/>
            <a:chExt cx="0" cy="1053229"/>
          </a:xfrm>
        </p:grpSpPr>
        <p:cxnSp>
          <p:nvCxnSpPr>
            <p:cNvPr id="221" name="Google Shape;221;p15"/>
            <p:cNvCxnSpPr/>
            <p:nvPr/>
          </p:nvCxnSpPr>
          <p:spPr>
            <a:xfrm rot="10800000">
              <a:off x="1124252" y="3273126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15"/>
            <p:cNvCxnSpPr/>
            <p:nvPr/>
          </p:nvCxnSpPr>
          <p:spPr>
            <a:xfrm rot="10800000">
              <a:off x="1124252" y="2443977"/>
              <a:ext cx="0" cy="2240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23" name="Google Shape;223;p15"/>
          <p:cNvCxnSpPr/>
          <p:nvPr/>
        </p:nvCxnSpPr>
        <p:spPr>
          <a:xfrm>
            <a:off x="839486" y="5171658"/>
            <a:ext cx="151114" cy="2099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15"/>
          <p:cNvCxnSpPr/>
          <p:nvPr/>
        </p:nvCxnSpPr>
        <p:spPr>
          <a:xfrm>
            <a:off x="868061" y="5908424"/>
            <a:ext cx="151114" cy="2099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15"/>
          <p:cNvCxnSpPr/>
          <p:nvPr/>
        </p:nvCxnSpPr>
        <p:spPr>
          <a:xfrm>
            <a:off x="906463" y="5883319"/>
            <a:ext cx="151114" cy="2099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6" name="Google Shape;226;p15"/>
          <p:cNvGrpSpPr/>
          <p:nvPr/>
        </p:nvGrpSpPr>
        <p:grpSpPr>
          <a:xfrm rot="4687193">
            <a:off x="1227136" y="5883380"/>
            <a:ext cx="189516" cy="235072"/>
            <a:chOff x="991886" y="6064294"/>
            <a:chExt cx="189516" cy="235072"/>
          </a:xfrm>
        </p:grpSpPr>
        <p:cxnSp>
          <p:nvCxnSpPr>
            <p:cNvPr id="227" name="Google Shape;227;p15"/>
            <p:cNvCxnSpPr/>
            <p:nvPr/>
          </p:nvCxnSpPr>
          <p:spPr>
            <a:xfrm>
              <a:off x="991886" y="6089399"/>
              <a:ext cx="151114" cy="20996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5"/>
            <p:cNvCxnSpPr/>
            <p:nvPr/>
          </p:nvCxnSpPr>
          <p:spPr>
            <a:xfrm>
              <a:off x="1030288" y="6064294"/>
              <a:ext cx="151114" cy="20996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29" name="Google Shape;229;p15"/>
          <p:cNvCxnSpPr/>
          <p:nvPr/>
        </p:nvCxnSpPr>
        <p:spPr>
          <a:xfrm>
            <a:off x="877888" y="5152746"/>
            <a:ext cx="151114" cy="2099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30" name="Google Shape;230;p15"/>
          <p:cNvGrpSpPr/>
          <p:nvPr/>
        </p:nvGrpSpPr>
        <p:grpSpPr>
          <a:xfrm rot="4290961">
            <a:off x="1251207" y="5162202"/>
            <a:ext cx="189516" cy="228879"/>
            <a:chOff x="991886" y="5305146"/>
            <a:chExt cx="189516" cy="228879"/>
          </a:xfrm>
        </p:grpSpPr>
        <p:cxnSp>
          <p:nvCxnSpPr>
            <p:cNvPr id="231" name="Google Shape;231;p15"/>
            <p:cNvCxnSpPr/>
            <p:nvPr/>
          </p:nvCxnSpPr>
          <p:spPr>
            <a:xfrm>
              <a:off x="991886" y="5324058"/>
              <a:ext cx="151114" cy="20996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5"/>
            <p:cNvCxnSpPr/>
            <p:nvPr/>
          </p:nvCxnSpPr>
          <p:spPr>
            <a:xfrm>
              <a:off x="1030288" y="5305146"/>
              <a:ext cx="151114" cy="20996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233" name="Google Shape;233;p15"/>
          <p:cNvPicPr preferRelativeResize="0"/>
          <p:nvPr/>
        </p:nvPicPr>
        <p:blipFill rotWithShape="1">
          <a:blip r:embed="rId8">
            <a:alphaModFix/>
          </a:blip>
          <a:srcRect b="0" l="7593" r="0" t="0"/>
          <a:stretch/>
        </p:blipFill>
        <p:spPr>
          <a:xfrm>
            <a:off x="621534" y="7950063"/>
            <a:ext cx="1100750" cy="11304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15"/>
          <p:cNvGrpSpPr/>
          <p:nvPr/>
        </p:nvGrpSpPr>
        <p:grpSpPr>
          <a:xfrm rot="9777311">
            <a:off x="693653" y="8657851"/>
            <a:ext cx="954621" cy="365158"/>
            <a:chOff x="3349164" y="1889469"/>
            <a:chExt cx="1146851" cy="365158"/>
          </a:xfrm>
        </p:grpSpPr>
        <p:cxnSp>
          <p:nvCxnSpPr>
            <p:cNvPr id="235" name="Google Shape;235;p15"/>
            <p:cNvCxnSpPr/>
            <p:nvPr/>
          </p:nvCxnSpPr>
          <p:spPr>
            <a:xfrm rot="1022689">
              <a:off x="3363192" y="1923317"/>
              <a:ext cx="250930" cy="13331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5"/>
            <p:cNvCxnSpPr/>
            <p:nvPr/>
          </p:nvCxnSpPr>
          <p:spPr>
            <a:xfrm flipH="1" rot="10800000">
              <a:off x="4252504" y="2188961"/>
              <a:ext cx="243511" cy="656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37" name="Google Shape;237;p15"/>
          <p:cNvCxnSpPr/>
          <p:nvPr/>
        </p:nvCxnSpPr>
        <p:spPr>
          <a:xfrm>
            <a:off x="1161201" y="8879682"/>
            <a:ext cx="0" cy="1681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38" name="Google Shape;238;p15"/>
          <p:cNvGrpSpPr/>
          <p:nvPr/>
        </p:nvGrpSpPr>
        <p:grpSpPr>
          <a:xfrm>
            <a:off x="793955" y="8035201"/>
            <a:ext cx="686338" cy="124032"/>
            <a:chOff x="3510406" y="2223138"/>
            <a:chExt cx="824545" cy="124032"/>
          </a:xfrm>
        </p:grpSpPr>
        <p:cxnSp>
          <p:nvCxnSpPr>
            <p:cNvPr id="239" name="Google Shape;239;p15"/>
            <p:cNvCxnSpPr/>
            <p:nvPr/>
          </p:nvCxnSpPr>
          <p:spPr>
            <a:xfrm>
              <a:off x="3510406" y="2223138"/>
              <a:ext cx="118614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5"/>
            <p:cNvCxnSpPr/>
            <p:nvPr/>
          </p:nvCxnSpPr>
          <p:spPr>
            <a:xfrm flipH="1" rot="10800000">
              <a:off x="4188093" y="2223138"/>
              <a:ext cx="146858" cy="1240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1" name="Google Shape;241;p15"/>
          <p:cNvGrpSpPr/>
          <p:nvPr/>
        </p:nvGrpSpPr>
        <p:grpSpPr>
          <a:xfrm>
            <a:off x="606512" y="8348379"/>
            <a:ext cx="1105079" cy="130131"/>
            <a:chOff x="3432072" y="2155022"/>
            <a:chExt cx="1327606" cy="130131"/>
          </a:xfrm>
        </p:grpSpPr>
        <p:cxnSp>
          <p:nvCxnSpPr>
            <p:cNvPr id="242" name="Google Shape;242;p15"/>
            <p:cNvCxnSpPr/>
            <p:nvPr/>
          </p:nvCxnSpPr>
          <p:spPr>
            <a:xfrm>
              <a:off x="3432072" y="2155022"/>
              <a:ext cx="202450" cy="7291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15"/>
            <p:cNvCxnSpPr/>
            <p:nvPr/>
          </p:nvCxnSpPr>
          <p:spPr>
            <a:xfrm flipH="1" rot="10800000">
              <a:off x="4539391" y="2193212"/>
              <a:ext cx="220287" cy="9194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4" name="Google Shape;244;p15"/>
          <p:cNvSpPr/>
          <p:nvPr/>
        </p:nvSpPr>
        <p:spPr>
          <a:xfrm>
            <a:off x="2838103" y="1275804"/>
            <a:ext cx="1478716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6296526" y="1275804"/>
            <a:ext cx="458134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1926705" y="2696351"/>
            <a:ext cx="955703" cy="3624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4525800" y="2702015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1979115" y="4052252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5398892" y="4084151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2006753" y="5496959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413445" y="5506171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2040425" y="6853163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398892" y="6885659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546628" y="8300092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2043858" y="8292890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" name="Google Shape;261;p16"/>
          <p:cNvGraphicFramePr/>
          <p:nvPr/>
        </p:nvGraphicFramePr>
        <p:xfrm>
          <a:off x="103341" y="749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93975"/>
                <a:gridCol w="1360950"/>
                <a:gridCol w="2630900"/>
                <a:gridCol w="2273475"/>
              </a:tblGrid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16"/>
          <p:cNvSpPr txBox="1"/>
          <p:nvPr/>
        </p:nvSpPr>
        <p:spPr>
          <a:xfrm>
            <a:off x="32084" y="411624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 continued.</a:t>
            </a:r>
            <a:endParaRPr/>
          </a:p>
        </p:txBody>
      </p:sp>
      <p:pic>
        <p:nvPicPr>
          <p:cNvPr id="263" name="Google Shape;2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98" y="3860969"/>
            <a:ext cx="1174465" cy="772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6"/>
          <p:cNvPicPr preferRelativeResize="0"/>
          <p:nvPr/>
        </p:nvPicPr>
        <p:blipFill rotWithShape="1">
          <a:blip r:embed="rId4">
            <a:alphaModFix/>
          </a:blip>
          <a:srcRect b="0" l="4917" r="0" t="0"/>
          <a:stretch/>
        </p:blipFill>
        <p:spPr>
          <a:xfrm>
            <a:off x="561325" y="2239582"/>
            <a:ext cx="1248180" cy="1217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109" y="5208805"/>
            <a:ext cx="1248180" cy="98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218" y="7916023"/>
            <a:ext cx="1178681" cy="1091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271" y="888713"/>
            <a:ext cx="1255530" cy="12407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/>
          <p:nvPr/>
        </p:nvSpPr>
        <p:spPr>
          <a:xfrm rot="6941196">
            <a:off x="745385" y="650941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 rot="9527727">
            <a:off x="1190701" y="663402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16"/>
          <p:cNvGrpSpPr/>
          <p:nvPr/>
        </p:nvGrpSpPr>
        <p:grpSpPr>
          <a:xfrm rot="10800000">
            <a:off x="672640" y="1846598"/>
            <a:ext cx="965353" cy="540514"/>
            <a:chOff x="822154" y="680928"/>
            <a:chExt cx="965353" cy="540514"/>
          </a:xfrm>
        </p:grpSpPr>
        <p:sp>
          <p:nvSpPr>
            <p:cNvPr id="271" name="Google Shape;271;p16"/>
            <p:cNvSpPr/>
            <p:nvPr/>
          </p:nvSpPr>
          <p:spPr>
            <a:xfrm rot="6941196">
              <a:off x="889834" y="747683"/>
              <a:ext cx="401117" cy="402378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 rot="9527727">
              <a:off x="1327199" y="760144"/>
              <a:ext cx="401117" cy="402378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6"/>
          <p:cNvSpPr/>
          <p:nvPr/>
        </p:nvSpPr>
        <p:spPr>
          <a:xfrm rot="4651241">
            <a:off x="434342" y="890236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 rot="616085">
            <a:off x="434341" y="1671800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16"/>
          <p:cNvGrpSpPr/>
          <p:nvPr/>
        </p:nvGrpSpPr>
        <p:grpSpPr>
          <a:xfrm rot="10800000">
            <a:off x="1440735" y="861887"/>
            <a:ext cx="479548" cy="1254576"/>
            <a:chOff x="531625" y="948873"/>
            <a:chExt cx="479548" cy="1254576"/>
          </a:xfrm>
        </p:grpSpPr>
        <p:sp>
          <p:nvSpPr>
            <p:cNvPr id="276" name="Google Shape;276;p16"/>
            <p:cNvSpPr/>
            <p:nvPr/>
          </p:nvSpPr>
          <p:spPr>
            <a:xfrm rot="4651241">
              <a:off x="570840" y="986978"/>
              <a:ext cx="401117" cy="402378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 rot="616085">
              <a:off x="570839" y="1768542"/>
              <a:ext cx="401117" cy="402378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6"/>
          <p:cNvSpPr/>
          <p:nvPr/>
        </p:nvSpPr>
        <p:spPr>
          <a:xfrm rot="2714807">
            <a:off x="308958" y="1269389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 rot="-8079475">
            <a:off x="1612192" y="1298958"/>
            <a:ext cx="401117" cy="40237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802672" y="991556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699568" y="1120763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643156" y="1358762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811841" y="1718180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710612" y="1584987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1083575" y="1719431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1204152" y="1593867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1249316" y="1356990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1186396" y="1127491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1099509" y="987050"/>
            <a:ext cx="4507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949624" y="722827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960328" y="1955355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 rot="-2538560">
            <a:off x="1300174" y="1851773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 rot="-4633100">
            <a:off x="1525084" y="1552642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 rot="2228260">
            <a:off x="589152" y="1840302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 rot="-2126892">
            <a:off x="584620" y="833022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 rot="2120067">
            <a:off x="1324987" y="850002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 rot="4379612">
            <a:off x="1540454" y="1144804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 flipH="1" rot="-4379612">
            <a:off x="373834" y="1147393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 flipH="1" rot="4166906">
            <a:off x="380291" y="1552641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tagon - Simple English Wikipedia, the free encyclopedia" id="300" name="Google Shape;30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899" y="6532923"/>
            <a:ext cx="1091831" cy="109183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 txBox="1"/>
          <p:nvPr/>
        </p:nvSpPr>
        <p:spPr>
          <a:xfrm>
            <a:off x="982787" y="6343825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967684" y="7559936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1501579" y="7370838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463288" y="7370838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78278" y="6506696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1474698" y="6506696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 rot="5400000">
            <a:off x="1587997" y="6955369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 rot="-5400000">
            <a:off x="358339" y="6968648"/>
            <a:ext cx="41870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baseline="30000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 rot="616085">
            <a:off x="427777" y="7159511"/>
            <a:ext cx="401117" cy="402378"/>
          </a:xfrm>
          <a:prstGeom prst="arc">
            <a:avLst>
              <a:gd fmla="val 16200000" name="adj1"/>
              <a:gd fmla="val 11183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698721" y="7073215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 rot="-1208495">
            <a:off x="739029" y="7446028"/>
            <a:ext cx="401117" cy="402378"/>
          </a:xfrm>
          <a:prstGeom prst="arc">
            <a:avLst>
              <a:gd fmla="val 15442795" name="adj1"/>
              <a:gd fmla="val 6105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827334" y="7249747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 rot="-3785530">
            <a:off x="1226473" y="7443863"/>
            <a:ext cx="401117" cy="402378"/>
          </a:xfrm>
          <a:prstGeom prst="arc">
            <a:avLst>
              <a:gd fmla="val 15442795" name="adj1"/>
              <a:gd fmla="val 6105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1138265" y="6658717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1136259" y="7260607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grpSp>
        <p:nvGrpSpPr>
          <p:cNvPr id="316" name="Google Shape;316;p16"/>
          <p:cNvGrpSpPr/>
          <p:nvPr/>
        </p:nvGrpSpPr>
        <p:grpSpPr>
          <a:xfrm rot="10800000">
            <a:off x="672641" y="6244179"/>
            <a:ext cx="1015636" cy="539789"/>
            <a:chOff x="-806737" y="5443631"/>
            <a:chExt cx="1015636" cy="539789"/>
          </a:xfrm>
        </p:grpSpPr>
        <p:sp>
          <p:nvSpPr>
            <p:cNvPr id="317" name="Google Shape;317;p16"/>
            <p:cNvSpPr/>
            <p:nvPr/>
          </p:nvSpPr>
          <p:spPr>
            <a:xfrm rot="-1208495">
              <a:off x="-749725" y="5507697"/>
              <a:ext cx="401117" cy="402378"/>
            </a:xfrm>
            <a:prstGeom prst="arc">
              <a:avLst>
                <a:gd fmla="val 15442795" name="adj1"/>
                <a:gd fmla="val 61057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 rot="-3785530">
              <a:off x="-261831" y="5512337"/>
              <a:ext cx="401117" cy="402378"/>
            </a:xfrm>
            <a:prstGeom prst="arc">
              <a:avLst>
                <a:gd fmla="val 15442795" name="adj1"/>
                <a:gd fmla="val 61057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6"/>
          <p:cNvSpPr txBox="1"/>
          <p:nvPr/>
        </p:nvSpPr>
        <p:spPr>
          <a:xfrm>
            <a:off x="844720" y="6659240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 rot="-7006306">
            <a:off x="1541878" y="7153882"/>
            <a:ext cx="401117" cy="402378"/>
          </a:xfrm>
          <a:prstGeom prst="arc">
            <a:avLst>
              <a:gd fmla="val 16200000" name="adj1"/>
              <a:gd fmla="val 11183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235048" y="7074474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 rot="-10089831">
            <a:off x="1565876" y="6622123"/>
            <a:ext cx="401117" cy="402378"/>
          </a:xfrm>
          <a:prstGeom prst="arc">
            <a:avLst>
              <a:gd fmla="val 16200000" name="adj1"/>
              <a:gd fmla="val 11183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 rot="3767668">
            <a:off x="422624" y="6622360"/>
            <a:ext cx="401117" cy="402378"/>
          </a:xfrm>
          <a:prstGeom prst="arc">
            <a:avLst>
              <a:gd fmla="val 16200000" name="adj1"/>
              <a:gd fmla="val 11183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735079" y="6811902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1226775" y="6809701"/>
            <a:ext cx="4395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r>
              <a:rPr baseline="3000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cxnSp>
        <p:nvCxnSpPr>
          <p:cNvPr id="326" name="Google Shape;326;p16"/>
          <p:cNvCxnSpPr/>
          <p:nvPr/>
        </p:nvCxnSpPr>
        <p:spPr>
          <a:xfrm flipH="1" rot="10800000">
            <a:off x="1118885" y="8785237"/>
            <a:ext cx="215779" cy="9625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16"/>
          <p:cNvCxnSpPr/>
          <p:nvPr/>
        </p:nvCxnSpPr>
        <p:spPr>
          <a:xfrm flipH="1" rot="10800000">
            <a:off x="645766" y="8207258"/>
            <a:ext cx="215779" cy="9625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p16"/>
          <p:cNvSpPr/>
          <p:nvPr/>
        </p:nvSpPr>
        <p:spPr>
          <a:xfrm>
            <a:off x="2002564" y="8290557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5391517" y="8284989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2043462" y="6915483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490331" y="6886254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2012399" y="5450358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359233" y="5524949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2844547" y="4068580"/>
            <a:ext cx="1514802" cy="36353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233500" y="4068580"/>
            <a:ext cx="521159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2854382" y="2683614"/>
            <a:ext cx="1514802" cy="36353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243335" y="2683614"/>
            <a:ext cx="521159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2015741" y="1254833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32751" y="1292160"/>
            <a:ext cx="841983" cy="3568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" name="Google Shape;345;p17"/>
          <p:cNvGraphicFramePr/>
          <p:nvPr/>
        </p:nvGraphicFramePr>
        <p:xfrm>
          <a:off x="103341" y="4287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93975"/>
                <a:gridCol w="1360950"/>
                <a:gridCol w="2630900"/>
                <a:gridCol w="2273475"/>
              </a:tblGrid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Polygon/ Not a polygon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solidFill>
                            <a:schemeClr val="dk1"/>
                          </a:solidFill>
                        </a:rPr>
                        <a:t>Regular/ Irregular/ 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" name="Google Shape;346;p17"/>
          <p:cNvSpPr txBox="1"/>
          <p:nvPr/>
        </p:nvSpPr>
        <p:spPr>
          <a:xfrm>
            <a:off x="23797" y="140923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 continued.</a:t>
            </a:r>
            <a:endParaRPr/>
          </a:p>
        </p:txBody>
      </p:sp>
      <p:pic>
        <p:nvPicPr>
          <p:cNvPr id="347" name="Google Shape;347;p17"/>
          <p:cNvPicPr preferRelativeResize="0"/>
          <p:nvPr/>
        </p:nvPicPr>
        <p:blipFill rotWithShape="1">
          <a:blip r:embed="rId3">
            <a:alphaModFix/>
          </a:blip>
          <a:srcRect b="22154" l="64909" r="6622" t="26637"/>
          <a:stretch/>
        </p:blipFill>
        <p:spPr>
          <a:xfrm>
            <a:off x="618998" y="3484815"/>
            <a:ext cx="1089469" cy="102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917" y="440347"/>
            <a:ext cx="9715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7"/>
          <p:cNvPicPr preferRelativeResize="0"/>
          <p:nvPr/>
        </p:nvPicPr>
        <p:blipFill rotWithShape="1">
          <a:blip r:embed="rId3">
            <a:alphaModFix/>
          </a:blip>
          <a:srcRect b="0" l="0" r="40725" t="0"/>
          <a:stretch/>
        </p:blipFill>
        <p:spPr>
          <a:xfrm>
            <a:off x="598602" y="1918742"/>
            <a:ext cx="1248180" cy="109736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7"/>
          <p:cNvSpPr txBox="1"/>
          <p:nvPr/>
        </p:nvSpPr>
        <p:spPr>
          <a:xfrm>
            <a:off x="23797" y="4733857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Answer the following questions:</a:t>
            </a:r>
            <a:endParaRPr/>
          </a:p>
        </p:txBody>
      </p:sp>
      <p:graphicFrame>
        <p:nvGraphicFramePr>
          <p:cNvPr id="351" name="Google Shape;351;p17"/>
          <p:cNvGraphicFramePr/>
          <p:nvPr/>
        </p:nvGraphicFramePr>
        <p:xfrm>
          <a:off x="112796" y="5026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324925"/>
                <a:gridCol w="3324925"/>
              </a:tblGrid>
              <a:tr h="14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Matty says: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GB" sz="1200">
                          <a:solidFill>
                            <a:schemeClr val="dk1"/>
                          </a:solidFill>
                        </a:rPr>
                        <a:t>“My polygon is a regular hexagon because some of the sides are the same length and some of the angles are the same size”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Do you agree with Matty?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 For the hexagon to be regular, all sides must be the same length (not just some).</a:t>
                      </a:r>
                      <a:endParaRPr b="1" baseline="30000"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Sunita says: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GB" sz="1200">
                          <a:solidFill>
                            <a:schemeClr val="dk1"/>
                          </a:solidFill>
                        </a:rPr>
                        <a:t>“A rectangle is a regular polygon because it has 4 angles of equal size”.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Do you agree with Sunita?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 The side lengths must also all be equal, but this is not true for a rectangle.</a:t>
                      </a:r>
                      <a:endParaRPr b="1" baseline="30000" i="0"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52" name="Google Shape;352;p17"/>
          <p:cNvPicPr preferRelativeResize="0"/>
          <p:nvPr/>
        </p:nvPicPr>
        <p:blipFill rotWithShape="1">
          <a:blip r:embed="rId5">
            <a:alphaModFix/>
          </a:blip>
          <a:srcRect b="51031" l="9463" r="70100" t="31766"/>
          <a:stretch/>
        </p:blipFill>
        <p:spPr>
          <a:xfrm>
            <a:off x="825131" y="6114700"/>
            <a:ext cx="1696452" cy="804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469" y="8371661"/>
            <a:ext cx="1391776" cy="80442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/>
          <p:nvPr/>
        </p:nvSpPr>
        <p:spPr>
          <a:xfrm>
            <a:off x="2852372" y="974052"/>
            <a:ext cx="1517609" cy="33375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6232686" y="920890"/>
            <a:ext cx="529956" cy="44007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2879084" y="2375353"/>
            <a:ext cx="1517609" cy="33375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259398" y="2322191"/>
            <a:ext cx="529956" cy="44007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818892" y="3782472"/>
            <a:ext cx="1517609" cy="33375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199206" y="3729310"/>
            <a:ext cx="529956" cy="44007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 txBox="1"/>
          <p:nvPr/>
        </p:nvSpPr>
        <p:spPr>
          <a:xfrm>
            <a:off x="144113" y="125008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Match each polygon with its name:</a:t>
            </a:r>
            <a:endParaRPr/>
          </a:p>
        </p:txBody>
      </p:sp>
      <p:graphicFrame>
        <p:nvGraphicFramePr>
          <p:cNvPr id="366" name="Google Shape;366;p18"/>
          <p:cNvGraphicFramePr/>
          <p:nvPr/>
        </p:nvGraphicFramePr>
        <p:xfrm>
          <a:off x="247398" y="3779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063675"/>
                <a:gridCol w="1063675"/>
                <a:gridCol w="1063675"/>
                <a:gridCol w="1063675"/>
                <a:gridCol w="1063675"/>
                <a:gridCol w="1063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Octagon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Equilateral Triangle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Square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Pentagon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Irregular Pentagon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Isosceles Triangle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Rectangle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Irregular Quadrilateral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Trapezium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Circle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Hexagon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Irregular Hexagon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7" name="Google Shape;367;p18"/>
          <p:cNvGraphicFramePr/>
          <p:nvPr/>
        </p:nvGraphicFramePr>
        <p:xfrm>
          <a:off x="247397" y="13354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1000"/>
                <a:gridCol w="3191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Regular pentagon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Irregular quadrilateral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Equilateral Triangle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Square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Regular hexagon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Circle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Octagon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Irregular pentagon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Irregular hexagon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Isosceles triangle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Rectangle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Trapezium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68" name="Google Shape;368;p18"/>
          <p:cNvPicPr preferRelativeResize="0"/>
          <p:nvPr/>
        </p:nvPicPr>
        <p:blipFill rotWithShape="1">
          <a:blip r:embed="rId3">
            <a:alphaModFix/>
          </a:blip>
          <a:srcRect b="5683" l="33392" r="53487" t="81413"/>
          <a:stretch/>
        </p:blipFill>
        <p:spPr>
          <a:xfrm>
            <a:off x="1133789" y="8294388"/>
            <a:ext cx="1513091" cy="910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8"/>
          <p:cNvPicPr preferRelativeResize="0"/>
          <p:nvPr/>
        </p:nvPicPr>
        <p:blipFill rotWithShape="1">
          <a:blip r:embed="rId4">
            <a:alphaModFix/>
          </a:blip>
          <a:srcRect b="5299" l="11872" r="76900" t="79788"/>
          <a:stretch/>
        </p:blipFill>
        <p:spPr>
          <a:xfrm>
            <a:off x="4458452" y="6899387"/>
            <a:ext cx="1059547" cy="860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8"/>
          <p:cNvPicPr preferRelativeResize="0"/>
          <p:nvPr/>
        </p:nvPicPr>
        <p:blipFill rotWithShape="1">
          <a:blip r:embed="rId5">
            <a:alphaModFix/>
          </a:blip>
          <a:srcRect b="25277" l="53158" r="33918" t="58665"/>
          <a:stretch/>
        </p:blipFill>
        <p:spPr>
          <a:xfrm>
            <a:off x="1330935" y="6984740"/>
            <a:ext cx="1093619" cy="83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8"/>
          <p:cNvPicPr preferRelativeResize="0"/>
          <p:nvPr/>
        </p:nvPicPr>
        <p:blipFill rotWithShape="1">
          <a:blip r:embed="rId5">
            <a:alphaModFix/>
          </a:blip>
          <a:srcRect b="27476" l="30936" r="53450" t="59334"/>
          <a:stretch/>
        </p:blipFill>
        <p:spPr>
          <a:xfrm>
            <a:off x="4434557" y="5632228"/>
            <a:ext cx="1410205" cy="728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8"/>
          <p:cNvPicPr preferRelativeResize="0"/>
          <p:nvPr/>
        </p:nvPicPr>
        <p:blipFill rotWithShape="1">
          <a:blip r:embed="rId5">
            <a:alphaModFix/>
          </a:blip>
          <a:srcRect b="24800" l="11696" r="77427" t="57995"/>
          <a:stretch/>
        </p:blipFill>
        <p:spPr>
          <a:xfrm>
            <a:off x="1365008" y="5526404"/>
            <a:ext cx="971873" cy="940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8"/>
          <p:cNvPicPr preferRelativeResize="0"/>
          <p:nvPr/>
        </p:nvPicPr>
        <p:blipFill rotWithShape="1">
          <a:blip r:embed="rId5">
            <a:alphaModFix/>
          </a:blip>
          <a:srcRect b="47931" l="55439" r="36140" t="38879"/>
          <a:stretch/>
        </p:blipFill>
        <p:spPr>
          <a:xfrm>
            <a:off x="4615111" y="4161266"/>
            <a:ext cx="973226" cy="9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8"/>
          <p:cNvPicPr preferRelativeResize="0"/>
          <p:nvPr/>
        </p:nvPicPr>
        <p:blipFill rotWithShape="1">
          <a:blip r:embed="rId5">
            <a:alphaModFix/>
          </a:blip>
          <a:srcRect b="45123" l="32348" r="55547" t="36681"/>
          <a:stretch/>
        </p:blipFill>
        <p:spPr>
          <a:xfrm>
            <a:off x="1314197" y="4153420"/>
            <a:ext cx="1022684" cy="940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8"/>
          <p:cNvPicPr preferRelativeResize="0"/>
          <p:nvPr/>
        </p:nvPicPr>
        <p:blipFill rotWithShape="1">
          <a:blip r:embed="rId5">
            <a:alphaModFix/>
          </a:blip>
          <a:srcRect b="46261" l="12222" r="77427" t="37924"/>
          <a:stretch/>
        </p:blipFill>
        <p:spPr>
          <a:xfrm>
            <a:off x="4615111" y="2764483"/>
            <a:ext cx="999877" cy="934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8"/>
          <p:cNvPicPr preferRelativeResize="0"/>
          <p:nvPr/>
        </p:nvPicPr>
        <p:blipFill rotWithShape="1">
          <a:blip r:embed="rId4">
            <a:alphaModFix/>
          </a:blip>
          <a:srcRect b="67429" l="54971" r="33919" t="17087"/>
          <a:stretch/>
        </p:blipFill>
        <p:spPr>
          <a:xfrm>
            <a:off x="1314197" y="2738488"/>
            <a:ext cx="1152277" cy="98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8"/>
          <p:cNvPicPr preferRelativeResize="0"/>
          <p:nvPr/>
        </p:nvPicPr>
        <p:blipFill rotWithShape="1">
          <a:blip r:embed="rId4">
            <a:alphaModFix/>
          </a:blip>
          <a:srcRect b="68481" l="32339" r="55380" t="18042"/>
          <a:stretch/>
        </p:blipFill>
        <p:spPr>
          <a:xfrm>
            <a:off x="4312655" y="1371595"/>
            <a:ext cx="1323641" cy="88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8"/>
          <p:cNvPicPr preferRelativeResize="0"/>
          <p:nvPr/>
        </p:nvPicPr>
        <p:blipFill rotWithShape="1">
          <a:blip r:embed="rId4">
            <a:alphaModFix/>
          </a:blip>
          <a:srcRect b="68385" l="11696" r="77603" t="15558"/>
          <a:stretch/>
        </p:blipFill>
        <p:spPr>
          <a:xfrm>
            <a:off x="1314197" y="1371595"/>
            <a:ext cx="1022684" cy="93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8"/>
          <p:cNvPicPr preferRelativeResize="0"/>
          <p:nvPr/>
        </p:nvPicPr>
        <p:blipFill rotWithShape="1">
          <a:blip r:embed="rId5">
            <a:alphaModFix/>
          </a:blip>
          <a:srcRect b="3770" l="52982" r="31053" t="80173"/>
          <a:stretch/>
        </p:blipFill>
        <p:spPr>
          <a:xfrm>
            <a:off x="4514658" y="8357490"/>
            <a:ext cx="1306877" cy="80423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"/>
          <p:cNvSpPr/>
          <p:nvPr/>
        </p:nvSpPr>
        <p:spPr>
          <a:xfrm>
            <a:off x="73421" y="5762204"/>
            <a:ext cx="6014442" cy="235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interior and exterior angles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71502" y="161104"/>
            <a:ext cx="6714996" cy="24963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9"/>
          <p:cNvCxnSpPr/>
          <p:nvPr/>
        </p:nvCxnSpPr>
        <p:spPr>
          <a:xfrm>
            <a:off x="83375" y="1172432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19"/>
          <p:cNvCxnSpPr>
            <a:stCxn id="386" idx="2"/>
            <a:endCxn id="386" idx="0"/>
          </p:cNvCxnSpPr>
          <p:nvPr/>
        </p:nvCxnSpPr>
        <p:spPr>
          <a:xfrm rot="10800000">
            <a:off x="3429000" y="161132"/>
            <a:ext cx="0" cy="24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p19"/>
          <p:cNvSpPr txBox="1"/>
          <p:nvPr/>
        </p:nvSpPr>
        <p:spPr>
          <a:xfrm>
            <a:off x="76040" y="23932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50522" y="1156219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5601740" y="117325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2552895" y="968430"/>
            <a:ext cx="170505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 Angle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5664215" y="232239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76040" y="487764"/>
            <a:ext cx="34330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angle on the inside of a polygon. The angle is formed where two sides of the polygon meet.​</a:t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71502" y="2731731"/>
            <a:ext cx="6714996" cy="28429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9"/>
          <p:cNvCxnSpPr/>
          <p:nvPr/>
        </p:nvCxnSpPr>
        <p:spPr>
          <a:xfrm>
            <a:off x="85122" y="3831081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7" name="Google Shape;397;p19"/>
          <p:cNvCxnSpPr>
            <a:stCxn id="395" idx="2"/>
            <a:endCxn id="395" idx="0"/>
          </p:cNvCxnSpPr>
          <p:nvPr/>
        </p:nvCxnSpPr>
        <p:spPr>
          <a:xfrm rot="10800000">
            <a:off x="3429000" y="2731626"/>
            <a:ext cx="0" cy="284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8" name="Google Shape;398;p19"/>
          <p:cNvSpPr txBox="1"/>
          <p:nvPr/>
        </p:nvSpPr>
        <p:spPr>
          <a:xfrm>
            <a:off x="76040" y="280995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35295" y="381854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5597394" y="384224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2474574" y="3707351"/>
            <a:ext cx="191682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Exterior Angle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5664215" y="2802864"/>
            <a:ext cx="111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76040" y="3058389"/>
            <a:ext cx="34330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angle on the outside of a polygon. The angle is formed between an extended side and the adjacent side.​</a:t>
            </a:r>
            <a:endParaRPr b="0" i="0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3469081" y="480678"/>
            <a:ext cx="34330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Formed between two side lengths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Interior and exterior angles sum to 180°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3433670" y="3040782"/>
            <a:ext cx="34330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ormed between a side-length and an extension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Interior and exterior angles sum to 180°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Exterior angles sum to 360</a:t>
            </a:r>
            <a:r>
              <a:rPr baseline="3000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baseline="3000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19"/>
          <p:cNvPicPr preferRelativeResize="0"/>
          <p:nvPr/>
        </p:nvPicPr>
        <p:blipFill rotWithShape="1">
          <a:blip r:embed="rId3">
            <a:alphaModFix/>
          </a:blip>
          <a:srcRect b="0" l="1546" r="70902" t="0"/>
          <a:stretch/>
        </p:blipFill>
        <p:spPr>
          <a:xfrm>
            <a:off x="754325" y="1264635"/>
            <a:ext cx="849843" cy="132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9"/>
          <p:cNvPicPr preferRelativeResize="0"/>
          <p:nvPr/>
        </p:nvPicPr>
        <p:blipFill rotWithShape="1">
          <a:blip r:embed="rId3">
            <a:alphaModFix/>
          </a:blip>
          <a:srcRect b="5111" l="73973" r="1" t="0"/>
          <a:stretch/>
        </p:blipFill>
        <p:spPr>
          <a:xfrm>
            <a:off x="1644248" y="1203527"/>
            <a:ext cx="888607" cy="139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7991" y="1176012"/>
            <a:ext cx="951579" cy="139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9818" y="1433218"/>
            <a:ext cx="1066398" cy="118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9"/>
          <p:cNvPicPr preferRelativeResize="0"/>
          <p:nvPr/>
        </p:nvPicPr>
        <p:blipFill rotWithShape="1">
          <a:blip r:embed="rId6">
            <a:alphaModFix/>
          </a:blip>
          <a:srcRect b="0" l="0" r="73460" t="0"/>
          <a:stretch/>
        </p:blipFill>
        <p:spPr>
          <a:xfrm>
            <a:off x="1697855" y="4116893"/>
            <a:ext cx="965424" cy="139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9"/>
          <p:cNvPicPr preferRelativeResize="0"/>
          <p:nvPr/>
        </p:nvPicPr>
        <p:blipFill rotWithShape="1">
          <a:blip r:embed="rId6">
            <a:alphaModFix/>
          </a:blip>
          <a:srcRect b="0" l="58216" r="2244" t="0"/>
          <a:stretch/>
        </p:blipFill>
        <p:spPr>
          <a:xfrm>
            <a:off x="273790" y="4127310"/>
            <a:ext cx="1271882" cy="123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9"/>
          <p:cNvPicPr preferRelativeResize="0"/>
          <p:nvPr/>
        </p:nvPicPr>
        <p:blipFill rotWithShape="1">
          <a:blip r:embed="rId7">
            <a:alphaModFix/>
          </a:blip>
          <a:srcRect b="0" l="0" r="74585" t="0"/>
          <a:stretch/>
        </p:blipFill>
        <p:spPr>
          <a:xfrm>
            <a:off x="4004552" y="4206459"/>
            <a:ext cx="838874" cy="132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9"/>
          <p:cNvPicPr preferRelativeResize="0"/>
          <p:nvPr/>
        </p:nvPicPr>
        <p:blipFill rotWithShape="1">
          <a:blip r:embed="rId7">
            <a:alphaModFix/>
          </a:blip>
          <a:srcRect b="0" l="65115" r="0" t="0"/>
          <a:stretch/>
        </p:blipFill>
        <p:spPr>
          <a:xfrm>
            <a:off x="5235031" y="4076683"/>
            <a:ext cx="1151482" cy="13292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4" name="Google Shape;414;p19"/>
          <p:cNvGraphicFramePr/>
          <p:nvPr/>
        </p:nvGraphicFramePr>
        <p:xfrm>
          <a:off x="71502" y="60383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264000"/>
                <a:gridCol w="1808300"/>
                <a:gridCol w="1808300"/>
                <a:gridCol w="1808300"/>
              </a:tblGrid>
              <a:tr h="2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Identify whether each angle is interior, exterior or neither.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Identify whether each angle is interior, exterior or neither.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Identify whether each angle is interior, exterior or neither.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Is the angle inside the polygon, formed where two sides meet? If so, it is an interior angle.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Is the angle outside the polygon, formed between a side length and a straight line extension? If so, it is an exterior angle.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15" name="Google Shape;415;p19"/>
          <p:cNvPicPr preferRelativeResize="0"/>
          <p:nvPr/>
        </p:nvPicPr>
        <p:blipFill rotWithShape="1">
          <a:blip r:embed="rId8">
            <a:alphaModFix/>
          </a:blip>
          <a:srcRect b="0" l="0" r="14824" t="0"/>
          <a:stretch/>
        </p:blipFill>
        <p:spPr>
          <a:xfrm>
            <a:off x="5391058" y="8367831"/>
            <a:ext cx="862976" cy="71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9"/>
          <p:cNvPicPr preferRelativeResize="0"/>
          <p:nvPr/>
        </p:nvPicPr>
        <p:blipFill rotWithShape="1">
          <a:blip r:embed="rId9">
            <a:alphaModFix/>
          </a:blip>
          <a:srcRect b="0" l="7593" r="0" t="0"/>
          <a:stretch/>
        </p:blipFill>
        <p:spPr>
          <a:xfrm>
            <a:off x="3725358" y="6966563"/>
            <a:ext cx="803982" cy="82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62578" y="8367831"/>
            <a:ext cx="1024224" cy="77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61000" y="6978595"/>
            <a:ext cx="869494" cy="82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37648" y="8250017"/>
            <a:ext cx="803982" cy="95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17309" y="6978595"/>
            <a:ext cx="869493" cy="7886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19"/>
          <p:cNvCxnSpPr/>
          <p:nvPr/>
        </p:nvCxnSpPr>
        <p:spPr>
          <a:xfrm>
            <a:off x="1817309" y="7682986"/>
            <a:ext cx="1226426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2" name="Google Shape;422;p19"/>
          <p:cNvSpPr/>
          <p:nvPr/>
        </p:nvSpPr>
        <p:spPr>
          <a:xfrm>
            <a:off x="1675196" y="7753333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1666352" y="9158732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3560215" y="7766676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3551371" y="9172075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5334242" y="7773946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5325398" y="9179345"/>
            <a:ext cx="1098434" cy="3465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 rot="-328203">
            <a:off x="2341472" y="7506549"/>
            <a:ext cx="401117" cy="402378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 rot="-328203">
            <a:off x="1695076" y="8894090"/>
            <a:ext cx="401117" cy="402378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9"/>
          <p:cNvCxnSpPr/>
          <p:nvPr/>
        </p:nvCxnSpPr>
        <p:spPr>
          <a:xfrm flipH="1">
            <a:off x="3333304" y="7455680"/>
            <a:ext cx="414559" cy="204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1" name="Google Shape;431;p19"/>
          <p:cNvSpPr/>
          <p:nvPr/>
        </p:nvSpPr>
        <p:spPr>
          <a:xfrm rot="10246621">
            <a:off x="3555216" y="7232885"/>
            <a:ext cx="401117" cy="402378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9"/>
          <p:cNvCxnSpPr/>
          <p:nvPr/>
        </p:nvCxnSpPr>
        <p:spPr>
          <a:xfrm flipH="1">
            <a:off x="3510575" y="8262049"/>
            <a:ext cx="602045" cy="56775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3" name="Google Shape;433;p19"/>
          <p:cNvSpPr/>
          <p:nvPr/>
        </p:nvSpPr>
        <p:spPr>
          <a:xfrm rot="10246621">
            <a:off x="3608670" y="8523561"/>
            <a:ext cx="352615" cy="336680"/>
          </a:xfrm>
          <a:prstGeom prst="arc">
            <a:avLst>
              <a:gd fmla="val 16869671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9"/>
          <p:cNvCxnSpPr/>
          <p:nvPr/>
        </p:nvCxnSpPr>
        <p:spPr>
          <a:xfrm flipH="1">
            <a:off x="6221670" y="8599600"/>
            <a:ext cx="452212" cy="40000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p19"/>
          <p:cNvSpPr/>
          <p:nvPr/>
        </p:nvSpPr>
        <p:spPr>
          <a:xfrm rot="-328203">
            <a:off x="5463499" y="7517023"/>
            <a:ext cx="401117" cy="402378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 rot="-328203">
            <a:off x="6028394" y="8661932"/>
            <a:ext cx="401117" cy="402378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 txBox="1"/>
          <p:nvPr/>
        </p:nvSpPr>
        <p:spPr>
          <a:xfrm>
            <a:off x="1732877" y="7751140"/>
            <a:ext cx="938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 txBox="1"/>
          <p:nvPr/>
        </p:nvSpPr>
        <p:spPr>
          <a:xfrm>
            <a:off x="3608490" y="9169390"/>
            <a:ext cx="938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1725086" y="9148421"/>
            <a:ext cx="90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5419533" y="7772024"/>
            <a:ext cx="90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 txBox="1"/>
          <p:nvPr/>
        </p:nvSpPr>
        <p:spPr>
          <a:xfrm>
            <a:off x="3691050" y="7749085"/>
            <a:ext cx="909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Neither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>
            <a:off x="5416262" y="9200189"/>
            <a:ext cx="909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Neither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92438" y="229144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49" name="Google Shape;449;p20"/>
          <p:cNvSpPr txBox="1"/>
          <p:nvPr/>
        </p:nvSpPr>
        <p:spPr>
          <a:xfrm>
            <a:off x="1215340" y="194840"/>
            <a:ext cx="58206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For each angle, decide whether it is an interior angle, an exterior angle or neither.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4687247" y="1076737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3781983" y="2209768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5529825" y="3247669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474197" y="4392533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4588843" y="5446151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3795630" y="6597020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6" name="Google Shape;456;p20"/>
          <p:cNvGraphicFramePr/>
          <p:nvPr/>
        </p:nvGraphicFramePr>
        <p:xfrm>
          <a:off x="103341" y="749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43225"/>
                <a:gridCol w="2982450"/>
                <a:gridCol w="3333650"/>
              </a:tblGrid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7" name="Google Shape;457;p20"/>
          <p:cNvSpPr txBox="1"/>
          <p:nvPr/>
        </p:nvSpPr>
        <p:spPr>
          <a:xfrm>
            <a:off x="3352800" y="1097819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3352800" y="2297453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 txBox="1"/>
          <p:nvPr/>
        </p:nvSpPr>
        <p:spPr>
          <a:xfrm>
            <a:off x="3352800" y="3312421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3352800" y="5543402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3352800" y="4469410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3392444" y="6675369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280" y="923254"/>
            <a:ext cx="1106145" cy="933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allelogram – Definition, Shape, Properties, Formulas" id="464" name="Google Shape;464;p20"/>
          <p:cNvPicPr preferRelativeResize="0"/>
          <p:nvPr/>
        </p:nvPicPr>
        <p:blipFill rotWithShape="1">
          <a:blip r:embed="rId4">
            <a:alphaModFix/>
          </a:blip>
          <a:srcRect b="20972" l="2889" r="2000" t="20090"/>
          <a:stretch/>
        </p:blipFill>
        <p:spPr>
          <a:xfrm>
            <a:off x="1047564" y="2105915"/>
            <a:ext cx="1577214" cy="58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1027" y="3046069"/>
            <a:ext cx="686363" cy="99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2860" y="4193605"/>
            <a:ext cx="1021080" cy="8488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20"/>
          <p:cNvCxnSpPr/>
          <p:nvPr/>
        </p:nvCxnSpPr>
        <p:spPr>
          <a:xfrm>
            <a:off x="1787153" y="955496"/>
            <a:ext cx="803320" cy="3660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20"/>
          <p:cNvCxnSpPr/>
          <p:nvPr/>
        </p:nvCxnSpPr>
        <p:spPr>
          <a:xfrm flipH="1" rot="10800000">
            <a:off x="1913643" y="4844229"/>
            <a:ext cx="775677" cy="138006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9" name="Google Shape;469;p20"/>
          <p:cNvSpPr/>
          <p:nvPr/>
        </p:nvSpPr>
        <p:spPr>
          <a:xfrm rot="6514061">
            <a:off x="2169053" y="1098760"/>
            <a:ext cx="289839" cy="338492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 rot="6514061">
            <a:off x="1264342" y="1961449"/>
            <a:ext cx="289839" cy="338492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 rot="839623">
            <a:off x="1825147" y="3385883"/>
            <a:ext cx="337432" cy="290750"/>
          </a:xfrm>
          <a:prstGeom prst="arc">
            <a:avLst>
              <a:gd fmla="val 14352061" name="adj1"/>
              <a:gd fmla="val 626037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 rot="414488">
            <a:off x="2065474" y="4824350"/>
            <a:ext cx="158813" cy="188222"/>
          </a:xfrm>
          <a:prstGeom prst="arc">
            <a:avLst>
              <a:gd fmla="val 15298763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" name="Google Shape;473;p20"/>
          <p:cNvGrpSpPr/>
          <p:nvPr/>
        </p:nvGrpSpPr>
        <p:grpSpPr>
          <a:xfrm>
            <a:off x="1186828" y="5374292"/>
            <a:ext cx="1577214" cy="1719512"/>
            <a:chOff x="1191276" y="6413654"/>
            <a:chExt cx="2034524" cy="2601986"/>
          </a:xfrm>
        </p:grpSpPr>
        <p:pic>
          <p:nvPicPr>
            <p:cNvPr descr="Irregular Polygons - Definition, Properties, Types, Formula, Example" id="474" name="Google Shape;474;p20"/>
            <p:cNvPicPr preferRelativeResize="0"/>
            <p:nvPr/>
          </p:nvPicPr>
          <p:blipFill rotWithShape="1">
            <a:blip r:embed="rId7">
              <a:alphaModFix/>
            </a:blip>
            <a:srcRect b="0" l="21909" r="22242" t="22904"/>
            <a:stretch/>
          </p:blipFill>
          <p:spPr>
            <a:xfrm>
              <a:off x="1191276" y="7906981"/>
              <a:ext cx="1447488" cy="1108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44650" y="6413654"/>
              <a:ext cx="1057277" cy="126575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6" name="Google Shape;476;p20"/>
            <p:cNvCxnSpPr/>
            <p:nvPr/>
          </p:nvCxnSpPr>
          <p:spPr>
            <a:xfrm>
              <a:off x="2376702" y="7640231"/>
              <a:ext cx="849098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7" name="Google Shape;477;p20"/>
            <p:cNvSpPr/>
            <p:nvPr/>
          </p:nvSpPr>
          <p:spPr>
            <a:xfrm rot="-279153">
              <a:off x="2145788" y="7418327"/>
              <a:ext cx="401117" cy="402378"/>
            </a:xfrm>
            <a:prstGeom prst="arc">
              <a:avLst>
                <a:gd fmla="val 10784764" name="adj1"/>
                <a:gd fmla="val 72346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0"/>
            <p:cNvSpPr/>
            <p:nvPr/>
          </p:nvSpPr>
          <p:spPr>
            <a:xfrm rot="-9063891">
              <a:off x="2251122" y="8181270"/>
              <a:ext cx="401117" cy="402378"/>
            </a:xfrm>
            <a:prstGeom prst="arc">
              <a:avLst>
                <a:gd fmla="val 14352061" name="adj1"/>
                <a:gd fmla="val 72346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20"/>
          <p:cNvGrpSpPr/>
          <p:nvPr/>
        </p:nvGrpSpPr>
        <p:grpSpPr>
          <a:xfrm>
            <a:off x="962073" y="7634984"/>
            <a:ext cx="2002911" cy="1972058"/>
            <a:chOff x="554742" y="923373"/>
            <a:chExt cx="2812679" cy="2492039"/>
          </a:xfrm>
        </p:grpSpPr>
        <p:pic>
          <p:nvPicPr>
            <p:cNvPr descr="Fractions of 3-sided Polygon | ClipArt ETC" id="480" name="Google Shape;480;p20"/>
            <p:cNvPicPr preferRelativeResize="0"/>
            <p:nvPr/>
          </p:nvPicPr>
          <p:blipFill rotWithShape="1">
            <a:blip r:embed="rId9">
              <a:alphaModFix/>
            </a:blip>
            <a:srcRect b="30000" l="8535" r="47740" t="12595"/>
            <a:stretch/>
          </p:blipFill>
          <p:spPr>
            <a:xfrm>
              <a:off x="1456808" y="2197987"/>
              <a:ext cx="815904" cy="121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imple monochrome vector graphic of a scalene trapezium. This is a shape  with four sides where two opposite sides are parallel to each other, but  the Stock Vector Image &amp; Art -" id="481" name="Google Shape;481;p20"/>
            <p:cNvPicPr preferRelativeResize="0"/>
            <p:nvPr/>
          </p:nvPicPr>
          <p:blipFill rotWithShape="1">
            <a:blip r:embed="rId10">
              <a:alphaModFix/>
            </a:blip>
            <a:srcRect b="36838" l="4843" r="6875" t="18222"/>
            <a:stretch/>
          </p:blipFill>
          <p:spPr>
            <a:xfrm>
              <a:off x="1444108" y="923373"/>
              <a:ext cx="1923313" cy="104683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2" name="Google Shape;482;p20"/>
            <p:cNvCxnSpPr/>
            <p:nvPr/>
          </p:nvCxnSpPr>
          <p:spPr>
            <a:xfrm flipH="1" rot="10800000">
              <a:off x="554742" y="1901519"/>
              <a:ext cx="978266" cy="547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3" name="Google Shape;483;p20"/>
            <p:cNvSpPr/>
            <p:nvPr/>
          </p:nvSpPr>
          <p:spPr>
            <a:xfrm rot="-3444862">
              <a:off x="1187151" y="1643509"/>
              <a:ext cx="539314" cy="539475"/>
            </a:xfrm>
            <a:prstGeom prst="arc">
              <a:avLst>
                <a:gd fmla="val 14659727" name="adj1"/>
                <a:gd fmla="val 72346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0"/>
            <p:cNvSpPr/>
            <p:nvPr/>
          </p:nvSpPr>
          <p:spPr>
            <a:xfrm rot="7587833">
              <a:off x="1972587" y="2728815"/>
              <a:ext cx="433744" cy="464843"/>
            </a:xfrm>
            <a:prstGeom prst="arc">
              <a:avLst>
                <a:gd fmla="val 9600417" name="adj1"/>
                <a:gd fmla="val 72346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5" name="Google Shape;485;p20"/>
          <p:cNvSpPr txBox="1"/>
          <p:nvPr/>
        </p:nvSpPr>
        <p:spPr>
          <a:xfrm>
            <a:off x="3352800" y="7744346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3352800" y="8847326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4634909" y="7685460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5493210" y="8808181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1"/>
          <p:cNvSpPr/>
          <p:nvPr/>
        </p:nvSpPr>
        <p:spPr>
          <a:xfrm>
            <a:off x="3765178" y="754790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3730717" y="2035110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469427" y="2999779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3759079" y="4188802"/>
            <a:ext cx="940982" cy="4871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4907396" y="927391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40033" y="208314"/>
            <a:ext cx="5820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 continued.</a:t>
            </a:r>
            <a:endParaRPr/>
          </a:p>
        </p:txBody>
      </p:sp>
      <p:graphicFrame>
        <p:nvGraphicFramePr>
          <p:cNvPr id="500" name="Google Shape;500;p21"/>
          <p:cNvGraphicFramePr/>
          <p:nvPr/>
        </p:nvGraphicFramePr>
        <p:xfrm>
          <a:off x="99349" y="5257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43225"/>
                <a:gridCol w="2982450"/>
                <a:gridCol w="3333650"/>
              </a:tblGrid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1" name="Google Shape;501;p21"/>
          <p:cNvSpPr txBox="1"/>
          <p:nvPr/>
        </p:nvSpPr>
        <p:spPr>
          <a:xfrm>
            <a:off x="3348808" y="873980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3348808" y="2073614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3348808" y="3088582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 txBox="1"/>
          <p:nvPr/>
        </p:nvSpPr>
        <p:spPr>
          <a:xfrm>
            <a:off x="3348808" y="4245571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Interior/ Exterior/ Neither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5" name="Google Shape;505;p21"/>
          <p:cNvGrpSpPr/>
          <p:nvPr/>
        </p:nvGrpSpPr>
        <p:grpSpPr>
          <a:xfrm>
            <a:off x="1226400" y="406958"/>
            <a:ext cx="1225568" cy="2263999"/>
            <a:chOff x="1291650" y="3315752"/>
            <a:chExt cx="1608677" cy="3036206"/>
          </a:xfrm>
        </p:grpSpPr>
        <p:pic>
          <p:nvPicPr>
            <p:cNvPr id="506" name="Google Shape;50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1650" y="3611751"/>
              <a:ext cx="1285228" cy="1315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91650" y="4978422"/>
              <a:ext cx="1422373" cy="137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21"/>
            <p:cNvSpPr/>
            <p:nvPr/>
          </p:nvSpPr>
          <p:spPr>
            <a:xfrm rot="8595641">
              <a:off x="1632019" y="3423475"/>
              <a:ext cx="539314" cy="539475"/>
            </a:xfrm>
            <a:prstGeom prst="arc">
              <a:avLst>
                <a:gd fmla="val 14659727" name="adj1"/>
                <a:gd fmla="val 72346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 rot="-6472828">
              <a:off x="2291168" y="5628110"/>
              <a:ext cx="539314" cy="539475"/>
            </a:xfrm>
            <a:prstGeom prst="arc">
              <a:avLst>
                <a:gd fmla="val 14659727" name="adj1"/>
                <a:gd fmla="val 207762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p21"/>
          <p:cNvGrpSpPr/>
          <p:nvPr/>
        </p:nvGrpSpPr>
        <p:grpSpPr>
          <a:xfrm>
            <a:off x="1226400" y="2848655"/>
            <a:ext cx="1083632" cy="2163788"/>
            <a:chOff x="1276747" y="6402103"/>
            <a:chExt cx="1342278" cy="2951205"/>
          </a:xfrm>
        </p:grpSpPr>
        <p:pic>
          <p:nvPicPr>
            <p:cNvPr id="511" name="Google Shape;51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76747" y="7859702"/>
              <a:ext cx="1316771" cy="1222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very Quadrilateral is Not a Parallelogram – Watch Me While I Disappear" id="512" name="Google Shape;512;p21"/>
            <p:cNvPicPr preferRelativeResize="0"/>
            <p:nvPr/>
          </p:nvPicPr>
          <p:blipFill rotWithShape="1">
            <a:blip r:embed="rId6">
              <a:alphaModFix/>
            </a:blip>
            <a:srcRect b="9527" l="4275" r="4541" t="0"/>
            <a:stretch/>
          </p:blipFill>
          <p:spPr>
            <a:xfrm>
              <a:off x="1316069" y="6402103"/>
              <a:ext cx="1302956" cy="129279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13" name="Google Shape;513;p21"/>
            <p:cNvCxnSpPr/>
            <p:nvPr/>
          </p:nvCxnSpPr>
          <p:spPr>
            <a:xfrm>
              <a:off x="1939215" y="6467650"/>
              <a:ext cx="679810" cy="20294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4" name="Google Shape;514;p21"/>
            <p:cNvSpPr/>
            <p:nvPr/>
          </p:nvSpPr>
          <p:spPr>
            <a:xfrm rot="6085627">
              <a:off x="1916118" y="6427711"/>
              <a:ext cx="389969" cy="423823"/>
            </a:xfrm>
            <a:prstGeom prst="arc">
              <a:avLst>
                <a:gd fmla="val 14571873" name="adj1"/>
                <a:gd fmla="val 2000346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1"/>
            <p:cNvSpPr/>
            <p:nvPr/>
          </p:nvSpPr>
          <p:spPr>
            <a:xfrm rot="-481809">
              <a:off x="1359915" y="8778808"/>
              <a:ext cx="539314" cy="539475"/>
            </a:xfrm>
            <a:prstGeom prst="arc">
              <a:avLst>
                <a:gd fmla="val 14659727" name="adj1"/>
                <a:gd fmla="val 72346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516" name="Google Shape;516;p21"/>
          <p:cNvGraphicFramePr/>
          <p:nvPr/>
        </p:nvGraphicFramePr>
        <p:xfrm>
          <a:off x="99349" y="5371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6659300"/>
              </a:tblGrid>
              <a:tr h="26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5. Which of these congruent pentagons does not have all of its exterior angles shown?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D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17" name="Google Shape;517;p21"/>
          <p:cNvGrpSpPr/>
          <p:nvPr/>
        </p:nvGrpSpPr>
        <p:grpSpPr>
          <a:xfrm>
            <a:off x="1054162" y="5761836"/>
            <a:ext cx="4597276" cy="2828920"/>
            <a:chOff x="506069" y="638180"/>
            <a:chExt cx="5810250" cy="3819525"/>
          </a:xfrm>
        </p:grpSpPr>
        <p:pic>
          <p:nvPicPr>
            <p:cNvPr id="518" name="Google Shape;51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6069" y="638180"/>
              <a:ext cx="5810250" cy="3819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21"/>
            <p:cNvSpPr/>
            <p:nvPr/>
          </p:nvSpPr>
          <p:spPr>
            <a:xfrm>
              <a:off x="955343" y="2547942"/>
              <a:ext cx="4913194" cy="19525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21"/>
            <p:cNvSpPr txBox="1"/>
            <p:nvPr/>
          </p:nvSpPr>
          <p:spPr>
            <a:xfrm>
              <a:off x="1787857" y="1476257"/>
              <a:ext cx="317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521" name="Google Shape;521;p21"/>
            <p:cNvSpPr txBox="1"/>
            <p:nvPr/>
          </p:nvSpPr>
          <p:spPr>
            <a:xfrm>
              <a:off x="4597579" y="1476257"/>
              <a:ext cx="309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522" name="Google Shape;522;p21"/>
            <p:cNvSpPr txBox="1"/>
            <p:nvPr/>
          </p:nvSpPr>
          <p:spPr>
            <a:xfrm>
              <a:off x="1836817" y="3437783"/>
              <a:ext cx="309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523" name="Google Shape;523;p21"/>
            <p:cNvSpPr txBox="1"/>
            <p:nvPr/>
          </p:nvSpPr>
          <p:spPr>
            <a:xfrm>
              <a:off x="4679796" y="3389560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2"/>
          <p:cNvSpPr/>
          <p:nvPr/>
        </p:nvSpPr>
        <p:spPr>
          <a:xfrm>
            <a:off x="149621" y="169322"/>
            <a:ext cx="6014442" cy="263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an exterior angle</a:t>
            </a:r>
            <a:endParaRPr/>
          </a:p>
        </p:txBody>
      </p:sp>
      <p:graphicFrame>
        <p:nvGraphicFramePr>
          <p:cNvPr id="530" name="Google Shape;530;p22"/>
          <p:cNvGraphicFramePr/>
          <p:nvPr/>
        </p:nvGraphicFramePr>
        <p:xfrm>
          <a:off x="149621" y="1105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231675"/>
                <a:gridCol w="1762075"/>
                <a:gridCol w="1762075"/>
                <a:gridCol w="1762075"/>
              </a:tblGrid>
              <a:tr h="25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Below is a regular hexagon. Calculate the value of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regular pentagon. Calculate the value of the exterior angle, 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regular octagon. Calculate the value of the exterior angle, z.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Divide the sum of exterior angles by the number of exterior angles (number of sides).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22"/>
          <p:cNvSpPr/>
          <p:nvPr/>
        </p:nvSpPr>
        <p:spPr>
          <a:xfrm>
            <a:off x="1155700" y="585185"/>
            <a:ext cx="4546599" cy="3765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sum of exterior angles of a polygon is 360°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2" name="Google Shape;532;p22"/>
          <p:cNvGrpSpPr/>
          <p:nvPr/>
        </p:nvGrpSpPr>
        <p:grpSpPr>
          <a:xfrm>
            <a:off x="1716712" y="2395137"/>
            <a:ext cx="1268379" cy="784715"/>
            <a:chOff x="1545631" y="2395137"/>
            <a:chExt cx="1268379" cy="784715"/>
          </a:xfrm>
        </p:grpSpPr>
        <p:sp>
          <p:nvSpPr>
            <p:cNvPr id="533" name="Google Shape;533;p22"/>
            <p:cNvSpPr/>
            <p:nvPr/>
          </p:nvSpPr>
          <p:spPr>
            <a:xfrm>
              <a:off x="1545631" y="2395137"/>
              <a:ext cx="861305" cy="77871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4" name="Google Shape;534;p22"/>
            <p:cNvCxnSpPr>
              <a:stCxn id="533" idx="2"/>
            </p:cNvCxnSpPr>
            <p:nvPr/>
          </p:nvCxnSpPr>
          <p:spPr>
            <a:xfrm>
              <a:off x="1740310" y="3173852"/>
              <a:ext cx="1073700" cy="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5" name="Google Shape;535;p22"/>
          <p:cNvSpPr/>
          <p:nvPr/>
        </p:nvSpPr>
        <p:spPr>
          <a:xfrm rot="3869506">
            <a:off x="2295840" y="2947059"/>
            <a:ext cx="304784" cy="359343"/>
          </a:xfrm>
          <a:prstGeom prst="arc">
            <a:avLst>
              <a:gd fmla="val 13584800" name="adj1"/>
              <a:gd fmla="val 1851310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p22"/>
          <p:cNvGrpSpPr/>
          <p:nvPr/>
        </p:nvGrpSpPr>
        <p:grpSpPr>
          <a:xfrm>
            <a:off x="3627447" y="2436431"/>
            <a:ext cx="1042021" cy="696125"/>
            <a:chOff x="3627447" y="2436431"/>
            <a:chExt cx="1042021" cy="696125"/>
          </a:xfrm>
        </p:grpSpPr>
        <p:sp>
          <p:nvSpPr>
            <p:cNvPr id="537" name="Google Shape;537;p22"/>
            <p:cNvSpPr/>
            <p:nvPr/>
          </p:nvSpPr>
          <p:spPr>
            <a:xfrm>
              <a:off x="3627447" y="2436431"/>
              <a:ext cx="713822" cy="696125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8" name="Google Shape;538;p22"/>
            <p:cNvCxnSpPr>
              <a:stCxn id="537" idx="5"/>
            </p:cNvCxnSpPr>
            <p:nvPr/>
          </p:nvCxnSpPr>
          <p:spPr>
            <a:xfrm>
              <a:off x="4341268" y="2702326"/>
              <a:ext cx="328200" cy="250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9" name="Google Shape;539;p22"/>
          <p:cNvSpPr/>
          <p:nvPr/>
        </p:nvSpPr>
        <p:spPr>
          <a:xfrm rot="10399318">
            <a:off x="4237316" y="2564827"/>
            <a:ext cx="304784" cy="359343"/>
          </a:xfrm>
          <a:prstGeom prst="arc">
            <a:avLst>
              <a:gd fmla="val 13584800" name="adj1"/>
              <a:gd fmla="val 1851310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5450241" y="2436431"/>
            <a:ext cx="713822" cy="696125"/>
          </a:xfrm>
          <a:prstGeom prst="octagon">
            <a:avLst>
              <a:gd fmla="val 29289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2"/>
          <p:cNvCxnSpPr/>
          <p:nvPr/>
        </p:nvCxnSpPr>
        <p:spPr>
          <a:xfrm>
            <a:off x="5450241" y="2271252"/>
            <a:ext cx="0" cy="43107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2" name="Google Shape;542;p22"/>
          <p:cNvSpPr/>
          <p:nvPr/>
        </p:nvSpPr>
        <p:spPr>
          <a:xfrm rot="2314077">
            <a:off x="5318741" y="2433959"/>
            <a:ext cx="304784" cy="359343"/>
          </a:xfrm>
          <a:prstGeom prst="arc">
            <a:avLst>
              <a:gd fmla="val 13584800" name="adj1"/>
              <a:gd fmla="val 1670721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>
            <a:off x="2408374" y="2934774"/>
            <a:ext cx="2519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44" name="Google Shape;544;p22"/>
          <p:cNvSpPr txBox="1"/>
          <p:nvPr/>
        </p:nvSpPr>
        <p:spPr>
          <a:xfrm>
            <a:off x="4273283" y="2684621"/>
            <a:ext cx="2535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545" name="Google Shape;545;p22"/>
          <p:cNvSpPr txBox="1"/>
          <p:nvPr/>
        </p:nvSpPr>
        <p:spPr>
          <a:xfrm>
            <a:off x="5388663" y="2351029"/>
            <a:ext cx="2535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aphicFrame>
        <p:nvGraphicFramePr>
          <p:cNvPr id="546" name="Google Shape;546;p22"/>
          <p:cNvGraphicFramePr/>
          <p:nvPr/>
        </p:nvGraphicFramePr>
        <p:xfrm>
          <a:off x="149621" y="51541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231675"/>
                <a:gridCol w="1762075"/>
                <a:gridCol w="1762075"/>
                <a:gridCol w="1762075"/>
              </a:tblGrid>
              <a:tr h="25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Below is an irregular hexagon. Calculate the value of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an irregular pentagon. Calculate the value of the exterior angle, 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an irregular octagon. Calculate the value of the exterior angle, z.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Subtract all given angles from 360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  <a:endParaRPr b="0" baseline="3000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47" name="Google Shape;547;p22"/>
          <p:cNvGrpSpPr/>
          <p:nvPr/>
        </p:nvGrpSpPr>
        <p:grpSpPr>
          <a:xfrm>
            <a:off x="3095194" y="6274535"/>
            <a:ext cx="1867969" cy="1355407"/>
            <a:chOff x="3106954" y="6015327"/>
            <a:chExt cx="1867969" cy="1355407"/>
          </a:xfrm>
        </p:grpSpPr>
        <p:pic>
          <p:nvPicPr>
            <p:cNvPr id="548" name="Google Shape;54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80478" y="6235490"/>
              <a:ext cx="1396314" cy="865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p22"/>
            <p:cNvSpPr/>
            <p:nvPr/>
          </p:nvSpPr>
          <p:spPr>
            <a:xfrm rot="8327263">
              <a:off x="4461428" y="6121981"/>
              <a:ext cx="227567" cy="253569"/>
            </a:xfrm>
            <a:prstGeom prst="arc">
              <a:avLst>
                <a:gd fmla="val 13266611" name="adj1"/>
                <a:gd fmla="val 188678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0" name="Google Shape;550;p22"/>
            <p:cNvCxnSpPr/>
            <p:nvPr/>
          </p:nvCxnSpPr>
          <p:spPr>
            <a:xfrm>
              <a:off x="3967727" y="6239783"/>
              <a:ext cx="88445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" name="Google Shape;551;p22"/>
            <p:cNvCxnSpPr/>
            <p:nvPr/>
          </p:nvCxnSpPr>
          <p:spPr>
            <a:xfrm>
              <a:off x="4542748" y="6243323"/>
              <a:ext cx="259605" cy="108489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p22"/>
            <p:cNvSpPr/>
            <p:nvPr/>
          </p:nvSpPr>
          <p:spPr>
            <a:xfrm rot="-8641914">
              <a:off x="4626161" y="6966695"/>
              <a:ext cx="227567" cy="253569"/>
            </a:xfrm>
            <a:prstGeom prst="arc">
              <a:avLst>
                <a:gd fmla="val 13266611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3" name="Google Shape;553;p22"/>
            <p:cNvCxnSpPr/>
            <p:nvPr/>
          </p:nvCxnSpPr>
          <p:spPr>
            <a:xfrm>
              <a:off x="3190117" y="6881522"/>
              <a:ext cx="1549827" cy="21195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4" name="Google Shape;554;p22"/>
            <p:cNvSpPr/>
            <p:nvPr/>
          </p:nvSpPr>
          <p:spPr>
            <a:xfrm rot="-2148408">
              <a:off x="3284248" y="6777735"/>
              <a:ext cx="227567" cy="253569"/>
            </a:xfrm>
            <a:prstGeom prst="arc">
              <a:avLst>
                <a:gd fmla="val 13266611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5" name="Google Shape;555;p22"/>
            <p:cNvCxnSpPr/>
            <p:nvPr/>
          </p:nvCxnSpPr>
          <p:spPr>
            <a:xfrm rot="10800000">
              <a:off x="3362228" y="6313063"/>
              <a:ext cx="114264" cy="61668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6" name="Google Shape;556;p22"/>
            <p:cNvSpPr/>
            <p:nvPr/>
          </p:nvSpPr>
          <p:spPr>
            <a:xfrm rot="1613871">
              <a:off x="3315216" y="6351884"/>
              <a:ext cx="227567" cy="253569"/>
            </a:xfrm>
            <a:prstGeom prst="arc">
              <a:avLst>
                <a:gd fmla="val 13266611" name="adj1"/>
                <a:gd fmla="val 1877755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7" name="Google Shape;557;p22"/>
            <p:cNvCxnSpPr/>
            <p:nvPr/>
          </p:nvCxnSpPr>
          <p:spPr>
            <a:xfrm flipH="1" rot="10800000">
              <a:off x="3398092" y="6085621"/>
              <a:ext cx="896652" cy="41341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8" name="Google Shape;558;p22"/>
            <p:cNvSpPr/>
            <p:nvPr/>
          </p:nvSpPr>
          <p:spPr>
            <a:xfrm rot="6008547">
              <a:off x="4014659" y="6080892"/>
              <a:ext cx="227567" cy="253569"/>
            </a:xfrm>
            <a:prstGeom prst="arc">
              <a:avLst>
                <a:gd fmla="val 13266611" name="adj1"/>
                <a:gd fmla="val 1664088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2"/>
            <p:cNvSpPr txBox="1"/>
            <p:nvPr/>
          </p:nvSpPr>
          <p:spPr>
            <a:xfrm>
              <a:off x="4492916" y="7093735"/>
              <a:ext cx="2519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sp>
          <p:nvSpPr>
            <p:cNvPr id="560" name="Google Shape;560;p22"/>
            <p:cNvSpPr txBox="1"/>
            <p:nvPr/>
          </p:nvSpPr>
          <p:spPr>
            <a:xfrm>
              <a:off x="3106954" y="6572230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75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61" name="Google Shape;561;p22"/>
            <p:cNvSpPr txBox="1"/>
            <p:nvPr/>
          </p:nvSpPr>
          <p:spPr>
            <a:xfrm>
              <a:off x="4578661" y="6250940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62" name="Google Shape;562;p22"/>
            <p:cNvSpPr txBox="1"/>
            <p:nvPr/>
          </p:nvSpPr>
          <p:spPr>
            <a:xfrm>
              <a:off x="4198827" y="6015327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63" name="Google Shape;563;p22"/>
            <p:cNvSpPr txBox="1"/>
            <p:nvPr/>
          </p:nvSpPr>
          <p:spPr>
            <a:xfrm>
              <a:off x="3314759" y="6136308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</p:grpSp>
      <p:grpSp>
        <p:nvGrpSpPr>
          <p:cNvPr id="564" name="Google Shape;564;p22"/>
          <p:cNvGrpSpPr/>
          <p:nvPr/>
        </p:nvGrpSpPr>
        <p:grpSpPr>
          <a:xfrm>
            <a:off x="4908075" y="6265677"/>
            <a:ext cx="1801193" cy="1634503"/>
            <a:chOff x="4906133" y="6011044"/>
            <a:chExt cx="1801193" cy="1634503"/>
          </a:xfrm>
        </p:grpSpPr>
        <p:pic>
          <p:nvPicPr>
            <p:cNvPr descr="Irregular Convex Octagon | ClipArt ETC" id="565" name="Google Shape;565;p22"/>
            <p:cNvPicPr preferRelativeResize="0"/>
            <p:nvPr/>
          </p:nvPicPr>
          <p:blipFill rotWithShape="1">
            <a:blip r:embed="rId4">
              <a:alphaModFix/>
            </a:blip>
            <a:srcRect b="17185" l="5357" r="6574" t="15491"/>
            <a:stretch/>
          </p:blipFill>
          <p:spPr>
            <a:xfrm>
              <a:off x="5168528" y="6204551"/>
              <a:ext cx="1226157" cy="121355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6" name="Google Shape;566;p22"/>
            <p:cNvCxnSpPr/>
            <p:nvPr/>
          </p:nvCxnSpPr>
          <p:spPr>
            <a:xfrm>
              <a:off x="5208098" y="6957722"/>
              <a:ext cx="681132" cy="6878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7" name="Google Shape;567;p22"/>
            <p:cNvCxnSpPr/>
            <p:nvPr/>
          </p:nvCxnSpPr>
          <p:spPr>
            <a:xfrm>
              <a:off x="5659801" y="7407341"/>
              <a:ext cx="5507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8" name="Google Shape;568;p22"/>
            <p:cNvCxnSpPr/>
            <p:nvPr/>
          </p:nvCxnSpPr>
          <p:spPr>
            <a:xfrm flipH="1" rot="10800000">
              <a:off x="5922377" y="6786929"/>
              <a:ext cx="628466" cy="6204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9" name="Google Shape;569;p22"/>
            <p:cNvCxnSpPr/>
            <p:nvPr/>
          </p:nvCxnSpPr>
          <p:spPr>
            <a:xfrm rot="10800000">
              <a:off x="6376240" y="6311690"/>
              <a:ext cx="0" cy="64044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0" name="Google Shape;570;p22"/>
            <p:cNvCxnSpPr/>
            <p:nvPr/>
          </p:nvCxnSpPr>
          <p:spPr>
            <a:xfrm rot="10800000">
              <a:off x="5781606" y="6091527"/>
              <a:ext cx="594634" cy="5972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1" name="Google Shape;571;p22"/>
            <p:cNvCxnSpPr/>
            <p:nvPr/>
          </p:nvCxnSpPr>
          <p:spPr>
            <a:xfrm>
              <a:off x="5291266" y="6230026"/>
              <a:ext cx="642740" cy="1390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2" name="Google Shape;572;p22"/>
            <p:cNvCxnSpPr/>
            <p:nvPr/>
          </p:nvCxnSpPr>
          <p:spPr>
            <a:xfrm flipH="1">
              <a:off x="4986825" y="6243927"/>
              <a:ext cx="655434" cy="66027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3" name="Google Shape;573;p22"/>
            <p:cNvCxnSpPr/>
            <p:nvPr/>
          </p:nvCxnSpPr>
          <p:spPr>
            <a:xfrm flipH="1">
              <a:off x="5198771" y="6684636"/>
              <a:ext cx="4326" cy="5801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74" name="Google Shape;574;p22"/>
            <p:cNvSpPr/>
            <p:nvPr/>
          </p:nvSpPr>
          <p:spPr>
            <a:xfrm rot="-3758817">
              <a:off x="5744552" y="6120750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 rot="-1791994">
              <a:off x="6263330" y="6489351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 rot="1108738">
              <a:off x="6353688" y="6773491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 rot="3083212">
              <a:off x="5985638" y="7292283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 rot="6767562">
              <a:off x="5700659" y="7373657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2"/>
            <p:cNvSpPr/>
            <p:nvPr/>
          </p:nvSpPr>
          <p:spPr>
            <a:xfrm rot="9114106">
              <a:off x="5171283" y="6993760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2"/>
            <p:cNvSpPr/>
            <p:nvPr/>
          </p:nvSpPr>
          <p:spPr>
            <a:xfrm rot="-10045122">
              <a:off x="5082219" y="6711253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2"/>
            <p:cNvSpPr/>
            <p:nvPr/>
          </p:nvSpPr>
          <p:spPr>
            <a:xfrm rot="-6280323">
              <a:off x="5465094" y="6209410"/>
              <a:ext cx="142479" cy="155898"/>
            </a:xfrm>
            <a:prstGeom prst="arc">
              <a:avLst>
                <a:gd fmla="val 12520102" name="adj1"/>
                <a:gd fmla="val 2008001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5130949" y="7092700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6158957" y="6276637"/>
              <a:ext cx="2519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endParaRPr/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5761397" y="7355732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45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6044976" y="7166599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52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6" name="Google Shape;586;p22"/>
            <p:cNvSpPr txBox="1"/>
            <p:nvPr/>
          </p:nvSpPr>
          <p:spPr>
            <a:xfrm>
              <a:off x="6311064" y="6563872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41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7" name="Google Shape;587;p22"/>
            <p:cNvSpPr txBox="1"/>
            <p:nvPr/>
          </p:nvSpPr>
          <p:spPr>
            <a:xfrm>
              <a:off x="5142967" y="6193011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55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8" name="Google Shape;588;p22"/>
            <p:cNvSpPr txBox="1"/>
            <p:nvPr/>
          </p:nvSpPr>
          <p:spPr>
            <a:xfrm>
              <a:off x="5446313" y="6011044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  <p:sp>
          <p:nvSpPr>
            <p:cNvPr id="589" name="Google Shape;589;p22"/>
            <p:cNvSpPr txBox="1"/>
            <p:nvPr/>
          </p:nvSpPr>
          <p:spPr>
            <a:xfrm>
              <a:off x="4906133" y="6799329"/>
              <a:ext cx="3962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38</a:t>
              </a:r>
              <a:r>
                <a:rPr baseline="30000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/>
            </a:p>
          </p:txBody>
        </p:sp>
      </p:grpSp>
      <p:pic>
        <p:nvPicPr>
          <p:cNvPr descr="geometry - Correct name of an irregular pentagon with four vertices in a  square shape and one protruding perpendicular from the mid point of two of  the vertices? - Mathematics Stack Exchange" id="590" name="Google Shape;590;p22"/>
          <p:cNvPicPr preferRelativeResize="0"/>
          <p:nvPr/>
        </p:nvPicPr>
        <p:blipFill rotWithShape="1">
          <a:blip r:embed="rId5">
            <a:alphaModFix/>
          </a:blip>
          <a:srcRect b="17780" l="27130" r="29562" t="12983"/>
          <a:stretch/>
        </p:blipFill>
        <p:spPr>
          <a:xfrm>
            <a:off x="1693606" y="6474463"/>
            <a:ext cx="1022908" cy="1254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" name="Google Shape;591;p22"/>
          <p:cNvCxnSpPr/>
          <p:nvPr/>
        </p:nvCxnSpPr>
        <p:spPr>
          <a:xfrm>
            <a:off x="1712031" y="7702146"/>
            <a:ext cx="13420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22"/>
          <p:cNvCxnSpPr/>
          <p:nvPr/>
        </p:nvCxnSpPr>
        <p:spPr>
          <a:xfrm rot="10800000">
            <a:off x="2676557" y="6622693"/>
            <a:ext cx="0" cy="107945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22"/>
          <p:cNvCxnSpPr/>
          <p:nvPr/>
        </p:nvCxnSpPr>
        <p:spPr>
          <a:xfrm>
            <a:off x="2073620" y="6344126"/>
            <a:ext cx="613446" cy="6423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22"/>
          <p:cNvCxnSpPr/>
          <p:nvPr/>
        </p:nvCxnSpPr>
        <p:spPr>
          <a:xfrm flipH="1">
            <a:off x="1539955" y="6491609"/>
            <a:ext cx="668262" cy="66723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22"/>
          <p:cNvCxnSpPr/>
          <p:nvPr/>
        </p:nvCxnSpPr>
        <p:spPr>
          <a:xfrm rot="10800000">
            <a:off x="1727519" y="6979663"/>
            <a:ext cx="0" cy="107945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22"/>
          <p:cNvSpPr/>
          <p:nvPr/>
        </p:nvSpPr>
        <p:spPr>
          <a:xfrm>
            <a:off x="1727519" y="7706239"/>
            <a:ext cx="88952" cy="958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2680170" y="7594731"/>
            <a:ext cx="88952" cy="958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 txBox="1"/>
          <p:nvPr/>
        </p:nvSpPr>
        <p:spPr>
          <a:xfrm>
            <a:off x="2682032" y="7428657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1655516" y="7729962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 rot="-2148408">
            <a:off x="2561811" y="6760326"/>
            <a:ext cx="156462" cy="212282"/>
          </a:xfrm>
          <a:prstGeom prst="arc">
            <a:avLst>
              <a:gd fmla="val 13266611" name="adj1"/>
              <a:gd fmla="val 19811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 rot="-9427048">
            <a:off x="1611239" y="6974305"/>
            <a:ext cx="156462" cy="212282"/>
          </a:xfrm>
          <a:prstGeom prst="arc">
            <a:avLst>
              <a:gd fmla="val 13266611" name="adj1"/>
              <a:gd fmla="val 19811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/>
          <p:nvPr/>
        </p:nvSpPr>
        <p:spPr>
          <a:xfrm rot="-5400000">
            <a:off x="2107362" y="6388960"/>
            <a:ext cx="156462" cy="212282"/>
          </a:xfrm>
          <a:prstGeom prst="arc">
            <a:avLst>
              <a:gd fmla="val 13266611" name="adj1"/>
              <a:gd fmla="val 19811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2"/>
          <p:cNvSpPr txBox="1"/>
          <p:nvPr/>
        </p:nvSpPr>
        <p:spPr>
          <a:xfrm>
            <a:off x="2450394" y="6555061"/>
            <a:ext cx="2519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04" name="Google Shape;604;p22"/>
          <p:cNvSpPr txBox="1"/>
          <p:nvPr/>
        </p:nvSpPr>
        <p:spPr>
          <a:xfrm>
            <a:off x="1401888" y="7123777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605" name="Google Shape;605;p22"/>
          <p:cNvSpPr txBox="1"/>
          <p:nvPr/>
        </p:nvSpPr>
        <p:spPr>
          <a:xfrm>
            <a:off x="1793876" y="6293613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1440163" y="3700135"/>
            <a:ext cx="177965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7" name="Google Shape;607;p22"/>
          <p:cNvSpPr txBox="1"/>
          <p:nvPr/>
        </p:nvSpPr>
        <p:spPr>
          <a:xfrm>
            <a:off x="3151379" y="3705145"/>
            <a:ext cx="177965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4873512" y="3682677"/>
            <a:ext cx="177965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9" name="Google Shape;609;p22"/>
          <p:cNvSpPr txBox="1"/>
          <p:nvPr/>
        </p:nvSpPr>
        <p:spPr>
          <a:xfrm>
            <a:off x="1976546" y="8173323"/>
            <a:ext cx="59984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0" name="Google Shape;610;p22"/>
          <p:cNvSpPr txBox="1"/>
          <p:nvPr/>
        </p:nvSpPr>
        <p:spPr>
          <a:xfrm>
            <a:off x="3672355" y="8173323"/>
            <a:ext cx="73770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1" name="Google Shape;611;p22"/>
          <p:cNvSpPr txBox="1"/>
          <p:nvPr/>
        </p:nvSpPr>
        <p:spPr>
          <a:xfrm>
            <a:off x="5517811" y="8205747"/>
            <a:ext cx="599844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2" name="Google Shape;612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3"/>
          <p:cNvSpPr/>
          <p:nvPr/>
        </p:nvSpPr>
        <p:spPr>
          <a:xfrm>
            <a:off x="178115" y="251896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18" name="Google Shape;618;p23"/>
          <p:cNvSpPr txBox="1"/>
          <p:nvPr/>
        </p:nvSpPr>
        <p:spPr>
          <a:xfrm>
            <a:off x="1316069" y="403928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Fing the missing angle in each of the following problems:</a:t>
            </a:r>
            <a:endParaRPr/>
          </a:p>
        </p:txBody>
      </p:sp>
      <p:graphicFrame>
        <p:nvGraphicFramePr>
          <p:cNvPr id="619" name="Google Shape;619;p23"/>
          <p:cNvGraphicFramePr/>
          <p:nvPr/>
        </p:nvGraphicFramePr>
        <p:xfrm>
          <a:off x="178114" y="6900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octagon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pentagon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pentagon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heptagon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nonagon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Regular hexagon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20" name="Google Shape;620;p23"/>
          <p:cNvPicPr preferRelativeResize="0"/>
          <p:nvPr/>
        </p:nvPicPr>
        <p:blipFill rotWithShape="1">
          <a:blip r:embed="rId3">
            <a:alphaModFix/>
          </a:blip>
          <a:srcRect b="42287" l="18247" r="65460" t="40891"/>
          <a:stretch/>
        </p:blipFill>
        <p:spPr>
          <a:xfrm>
            <a:off x="1057388" y="1257926"/>
            <a:ext cx="1481273" cy="104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23"/>
          <p:cNvPicPr preferRelativeResize="0"/>
          <p:nvPr/>
        </p:nvPicPr>
        <p:blipFill rotWithShape="1">
          <a:blip r:embed="rId4">
            <a:alphaModFix/>
          </a:blip>
          <a:srcRect b="42287" l="68650" r="12561" t="41481"/>
          <a:stretch/>
        </p:blipFill>
        <p:spPr>
          <a:xfrm>
            <a:off x="4319341" y="1230146"/>
            <a:ext cx="1791673" cy="105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23"/>
          <p:cNvPicPr preferRelativeResize="0"/>
          <p:nvPr/>
        </p:nvPicPr>
        <p:blipFill rotWithShape="1">
          <a:blip r:embed="rId5">
            <a:alphaModFix/>
          </a:blip>
          <a:srcRect b="0" l="42401" r="35223" t="89181"/>
          <a:stretch/>
        </p:blipFill>
        <p:spPr>
          <a:xfrm>
            <a:off x="747092" y="4231056"/>
            <a:ext cx="1563568" cy="104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3"/>
          <p:cNvPicPr preferRelativeResize="0"/>
          <p:nvPr/>
        </p:nvPicPr>
        <p:blipFill rotWithShape="1">
          <a:blip r:embed="rId5">
            <a:alphaModFix/>
          </a:blip>
          <a:srcRect b="0" l="12745" r="65539" t="88457"/>
          <a:stretch/>
        </p:blipFill>
        <p:spPr>
          <a:xfrm>
            <a:off x="4359023" y="7015872"/>
            <a:ext cx="1618983" cy="1186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23"/>
          <p:cNvPicPr preferRelativeResize="0"/>
          <p:nvPr/>
        </p:nvPicPr>
        <p:blipFill rotWithShape="1">
          <a:blip r:embed="rId5">
            <a:alphaModFix/>
          </a:blip>
          <a:srcRect b="13217" l="75129" r="0" t="71921"/>
          <a:stretch/>
        </p:blipFill>
        <p:spPr>
          <a:xfrm>
            <a:off x="1057388" y="7043168"/>
            <a:ext cx="1563568" cy="1288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5" name="Google Shape;625;p23"/>
          <p:cNvGrpSpPr/>
          <p:nvPr/>
        </p:nvGrpSpPr>
        <p:grpSpPr>
          <a:xfrm>
            <a:off x="4319341" y="4181575"/>
            <a:ext cx="1244758" cy="1260510"/>
            <a:chOff x="4370230" y="3749612"/>
            <a:chExt cx="1244758" cy="1260510"/>
          </a:xfrm>
        </p:grpSpPr>
        <p:pic>
          <p:nvPicPr>
            <p:cNvPr id="626" name="Google Shape;626;p23"/>
            <p:cNvPicPr preferRelativeResize="0"/>
            <p:nvPr/>
          </p:nvPicPr>
          <p:blipFill rotWithShape="1">
            <a:blip r:embed="rId6">
              <a:alphaModFix/>
            </a:blip>
            <a:srcRect b="56170" l="39010" r="38013" t="27429"/>
            <a:stretch/>
          </p:blipFill>
          <p:spPr>
            <a:xfrm>
              <a:off x="4370230" y="3749612"/>
              <a:ext cx="1244758" cy="1260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" name="Google Shape;627;p23"/>
            <p:cNvSpPr/>
            <p:nvPr/>
          </p:nvSpPr>
          <p:spPr>
            <a:xfrm>
              <a:off x="4752474" y="4318929"/>
              <a:ext cx="553452" cy="2290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8" name="Google Shape;628;p23"/>
          <p:cNvSpPr txBox="1"/>
          <p:nvPr/>
        </p:nvSpPr>
        <p:spPr>
          <a:xfrm>
            <a:off x="841302" y="2783767"/>
            <a:ext cx="177965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9" name="Google Shape;629;p23"/>
          <p:cNvSpPr txBox="1"/>
          <p:nvPr/>
        </p:nvSpPr>
        <p:spPr>
          <a:xfrm>
            <a:off x="4159032" y="2792369"/>
            <a:ext cx="177965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0" name="Google Shape;630;p23"/>
          <p:cNvSpPr txBox="1"/>
          <p:nvPr/>
        </p:nvSpPr>
        <p:spPr>
          <a:xfrm>
            <a:off x="880622" y="5784290"/>
            <a:ext cx="177965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1" name="Google Shape;631;p23"/>
          <p:cNvSpPr txBox="1"/>
          <p:nvPr/>
        </p:nvSpPr>
        <p:spPr>
          <a:xfrm>
            <a:off x="3834655" y="5725369"/>
            <a:ext cx="266771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2" name="Google Shape;632;p23"/>
          <p:cNvSpPr txBox="1"/>
          <p:nvPr/>
        </p:nvSpPr>
        <p:spPr>
          <a:xfrm>
            <a:off x="1001611" y="8656753"/>
            <a:ext cx="1779654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3" name="Google Shape;633;p23"/>
          <p:cNvSpPr txBox="1"/>
          <p:nvPr/>
        </p:nvSpPr>
        <p:spPr>
          <a:xfrm>
            <a:off x="4319341" y="8665355"/>
            <a:ext cx="1779654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4" name="Google Shape;634;p2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4"/>
          <p:cNvSpPr txBox="1"/>
          <p:nvPr/>
        </p:nvSpPr>
        <p:spPr>
          <a:xfrm>
            <a:off x="110460" y="290047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 continued.</a:t>
            </a:r>
            <a:endParaRPr/>
          </a:p>
        </p:txBody>
      </p:sp>
      <p:graphicFrame>
        <p:nvGraphicFramePr>
          <p:cNvPr id="640" name="Google Shape;640;p24"/>
          <p:cNvGraphicFramePr/>
          <p:nvPr/>
        </p:nvGraphicFramePr>
        <p:xfrm>
          <a:off x="191111" y="6489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8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regular decagon has 10 sides. What is the size of each exterior angle?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regular nonagon has 9 sides. What is the size of each exterior angle?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41" name="Google Shape;641;p24"/>
          <p:cNvPicPr preferRelativeResize="0"/>
          <p:nvPr/>
        </p:nvPicPr>
        <p:blipFill rotWithShape="1">
          <a:blip r:embed="rId3">
            <a:alphaModFix/>
          </a:blip>
          <a:srcRect b="77440" l="73994" r="4450" t="2565"/>
          <a:stretch/>
        </p:blipFill>
        <p:spPr>
          <a:xfrm>
            <a:off x="1110807" y="6607019"/>
            <a:ext cx="1321376" cy="169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4"/>
          <p:cNvPicPr preferRelativeResize="0"/>
          <p:nvPr/>
        </p:nvPicPr>
        <p:blipFill rotWithShape="1">
          <a:blip r:embed="rId3">
            <a:alphaModFix/>
          </a:blip>
          <a:srcRect b="80452" l="40884" r="31926" t="4943"/>
          <a:stretch/>
        </p:blipFill>
        <p:spPr>
          <a:xfrm>
            <a:off x="4022746" y="3782106"/>
            <a:ext cx="2073844" cy="1536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4"/>
          <p:cNvPicPr preferRelativeResize="0"/>
          <p:nvPr/>
        </p:nvPicPr>
        <p:blipFill rotWithShape="1">
          <a:blip r:embed="rId3">
            <a:alphaModFix/>
          </a:blip>
          <a:srcRect b="79871" l="9244" r="63853" t="5624"/>
          <a:stretch/>
        </p:blipFill>
        <p:spPr>
          <a:xfrm>
            <a:off x="871647" y="3782106"/>
            <a:ext cx="1924377" cy="1430621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4"/>
          <p:cNvSpPr txBox="1"/>
          <p:nvPr/>
        </p:nvSpPr>
        <p:spPr>
          <a:xfrm>
            <a:off x="841302" y="2783767"/>
            <a:ext cx="19175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5" name="Google Shape;645;p24"/>
          <p:cNvSpPr txBox="1"/>
          <p:nvPr/>
        </p:nvSpPr>
        <p:spPr>
          <a:xfrm>
            <a:off x="4159032" y="2792369"/>
            <a:ext cx="177965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6" name="Google Shape;646;p24"/>
          <p:cNvSpPr txBox="1"/>
          <p:nvPr/>
        </p:nvSpPr>
        <p:spPr>
          <a:xfrm>
            <a:off x="471008" y="5657068"/>
            <a:ext cx="279595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7" name="Google Shape;647;p24"/>
          <p:cNvSpPr txBox="1"/>
          <p:nvPr/>
        </p:nvSpPr>
        <p:spPr>
          <a:xfrm>
            <a:off x="3386721" y="5657068"/>
            <a:ext cx="326082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8" name="Google Shape;648;p24"/>
          <p:cNvSpPr txBox="1"/>
          <p:nvPr/>
        </p:nvSpPr>
        <p:spPr>
          <a:xfrm>
            <a:off x="101859" y="8670765"/>
            <a:ext cx="3409971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9" name="Google Shape;649;p24"/>
          <p:cNvSpPr txBox="1"/>
          <p:nvPr/>
        </p:nvSpPr>
        <p:spPr>
          <a:xfrm>
            <a:off x="4807034" y="8639987"/>
            <a:ext cx="505267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89" l="-10975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50" name="Google Shape;650;p24"/>
          <p:cNvGrpSpPr/>
          <p:nvPr/>
        </p:nvGrpSpPr>
        <p:grpSpPr>
          <a:xfrm>
            <a:off x="3886287" y="6607017"/>
            <a:ext cx="2153126" cy="1690019"/>
            <a:chOff x="3886287" y="6607017"/>
            <a:chExt cx="2153126" cy="1690019"/>
          </a:xfrm>
        </p:grpSpPr>
        <p:pic>
          <p:nvPicPr>
            <p:cNvPr id="651" name="Google Shape;651;p24"/>
            <p:cNvPicPr preferRelativeResize="0"/>
            <p:nvPr/>
          </p:nvPicPr>
          <p:blipFill rotWithShape="1">
            <a:blip r:embed="rId10">
              <a:alphaModFix/>
            </a:blip>
            <a:srcRect b="34756" l="34487" r="36094" t="48968"/>
            <a:stretch/>
          </p:blipFill>
          <p:spPr>
            <a:xfrm>
              <a:off x="3886287" y="6607017"/>
              <a:ext cx="2153126" cy="16900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52" name="Google Shape;652;p24"/>
            <p:cNvCxnSpPr/>
            <p:nvPr/>
          </p:nvCxnSpPr>
          <p:spPr>
            <a:xfrm rot="10800000">
              <a:off x="5663569" y="6723822"/>
              <a:ext cx="46459" cy="83985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3" name="Google Shape;653;p24"/>
            <p:cNvSpPr/>
            <p:nvPr/>
          </p:nvSpPr>
          <p:spPr>
            <a:xfrm rot="-4512410">
              <a:off x="5462817" y="6851286"/>
              <a:ext cx="323178" cy="178904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4"/>
            <p:cNvSpPr txBox="1"/>
            <p:nvPr/>
          </p:nvSpPr>
          <p:spPr>
            <a:xfrm>
              <a:off x="5299635" y="6612718"/>
              <a:ext cx="447558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55" name="Google Shape;655;p2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"/>
          <p:cNvSpPr txBox="1"/>
          <p:nvPr/>
        </p:nvSpPr>
        <p:spPr>
          <a:xfrm>
            <a:off x="110460" y="290047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 continued.</a:t>
            </a:r>
            <a:endParaRPr/>
          </a:p>
        </p:txBody>
      </p:sp>
      <p:graphicFrame>
        <p:nvGraphicFramePr>
          <p:cNvPr id="661" name="Google Shape;661;p25"/>
          <p:cNvGraphicFramePr/>
          <p:nvPr/>
        </p:nvGraphicFramePr>
        <p:xfrm>
          <a:off x="191111" y="6489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62" name="Google Shape;662;p25"/>
          <p:cNvPicPr preferRelativeResize="0"/>
          <p:nvPr/>
        </p:nvPicPr>
        <p:blipFill rotWithShape="1">
          <a:blip r:embed="rId3">
            <a:alphaModFix/>
          </a:blip>
          <a:srcRect b="34692" l="1265" r="73814" t="49043"/>
          <a:stretch/>
        </p:blipFill>
        <p:spPr>
          <a:xfrm>
            <a:off x="4284016" y="6688012"/>
            <a:ext cx="1475150" cy="136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25"/>
          <p:cNvPicPr preferRelativeResize="0"/>
          <p:nvPr/>
        </p:nvPicPr>
        <p:blipFill rotWithShape="1">
          <a:blip r:embed="rId3">
            <a:alphaModFix/>
          </a:blip>
          <a:srcRect b="55640" l="70272" r="0" t="25988"/>
          <a:stretch/>
        </p:blipFill>
        <p:spPr>
          <a:xfrm>
            <a:off x="897570" y="6688012"/>
            <a:ext cx="1785096" cy="156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5"/>
          <p:cNvPicPr preferRelativeResize="0"/>
          <p:nvPr/>
        </p:nvPicPr>
        <p:blipFill rotWithShape="1">
          <a:blip r:embed="rId4">
            <a:alphaModFix/>
          </a:blip>
          <a:srcRect b="0" l="70166" r="8889" t="66215"/>
          <a:stretch/>
        </p:blipFill>
        <p:spPr>
          <a:xfrm>
            <a:off x="4284016" y="3821374"/>
            <a:ext cx="1693950" cy="173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5"/>
          <p:cNvPicPr preferRelativeResize="0"/>
          <p:nvPr/>
        </p:nvPicPr>
        <p:blipFill rotWithShape="1">
          <a:blip r:embed="rId4">
            <a:alphaModFix/>
          </a:blip>
          <a:srcRect b="71782" l="63290" r="10478" t="7270"/>
          <a:stretch/>
        </p:blipFill>
        <p:spPr>
          <a:xfrm>
            <a:off x="674531" y="3889612"/>
            <a:ext cx="2201411" cy="111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5"/>
          <p:cNvPicPr preferRelativeResize="0"/>
          <p:nvPr/>
        </p:nvPicPr>
        <p:blipFill rotWithShape="1">
          <a:blip r:embed="rId5">
            <a:alphaModFix/>
          </a:blip>
          <a:srcRect b="15776" l="5716" r="55179" t="5229"/>
          <a:stretch/>
        </p:blipFill>
        <p:spPr>
          <a:xfrm>
            <a:off x="3997101" y="949056"/>
            <a:ext cx="2055772" cy="174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 rotWithShape="1">
          <a:blip r:embed="rId5">
            <a:alphaModFix/>
          </a:blip>
          <a:srcRect b="7407" l="58245" r="4646" t="4203"/>
          <a:stretch/>
        </p:blipFill>
        <p:spPr>
          <a:xfrm>
            <a:off x="881714" y="949056"/>
            <a:ext cx="1816808" cy="1818534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5"/>
          <p:cNvSpPr txBox="1"/>
          <p:nvPr/>
        </p:nvSpPr>
        <p:spPr>
          <a:xfrm>
            <a:off x="1398336" y="2877665"/>
            <a:ext cx="73770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9" name="Google Shape;669;p25"/>
          <p:cNvSpPr txBox="1"/>
          <p:nvPr/>
        </p:nvSpPr>
        <p:spPr>
          <a:xfrm>
            <a:off x="4799009" y="2908561"/>
            <a:ext cx="59984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0" name="Google Shape;670;p25"/>
          <p:cNvSpPr txBox="1"/>
          <p:nvPr/>
        </p:nvSpPr>
        <p:spPr>
          <a:xfrm>
            <a:off x="1398336" y="5596661"/>
            <a:ext cx="73770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1" name="Google Shape;671;p25"/>
          <p:cNvSpPr txBox="1"/>
          <p:nvPr/>
        </p:nvSpPr>
        <p:spPr>
          <a:xfrm>
            <a:off x="4799009" y="5627557"/>
            <a:ext cx="59984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2" name="Google Shape;672;p25"/>
          <p:cNvSpPr txBox="1"/>
          <p:nvPr/>
        </p:nvSpPr>
        <p:spPr>
          <a:xfrm>
            <a:off x="1294591" y="8529538"/>
            <a:ext cx="73770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3" name="Google Shape;673;p25"/>
          <p:cNvSpPr txBox="1"/>
          <p:nvPr/>
        </p:nvSpPr>
        <p:spPr>
          <a:xfrm>
            <a:off x="4695264" y="8560434"/>
            <a:ext cx="73770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4" name="Google Shape;674;p2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9" name="Google Shape;679;p26"/>
          <p:cNvGraphicFramePr/>
          <p:nvPr/>
        </p:nvGraphicFramePr>
        <p:xfrm>
          <a:off x="170060" y="4675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150575"/>
                <a:gridCol w="1789100"/>
                <a:gridCol w="1789100"/>
                <a:gridCol w="1789100"/>
              </a:tblGrid>
              <a:tr h="25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16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17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18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Calculate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Calculate the interior angle, 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Calculate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Use your knowledge of: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Interior angle + exterior angle = 180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sum of all exterior angles is 360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Angles in a triangle sum to 180</a:t>
                      </a:r>
                      <a:r>
                        <a:rPr b="0" baseline="30000" i="0" lang="en-GB" sz="1200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Angles in a quadrilateral sum to 360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baseline="3000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solve these problems.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80" name="Google Shape;680;p26"/>
          <p:cNvSpPr/>
          <p:nvPr/>
        </p:nvSpPr>
        <p:spPr>
          <a:xfrm>
            <a:off x="159615" y="161591"/>
            <a:ext cx="6014442" cy="263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an exterior angle, given the interior angle, and vice-versa</a:t>
            </a:r>
            <a:endParaRPr/>
          </a:p>
        </p:txBody>
      </p:sp>
      <p:graphicFrame>
        <p:nvGraphicFramePr>
          <p:cNvPr id="681" name="Google Shape;681;p26"/>
          <p:cNvGraphicFramePr/>
          <p:nvPr/>
        </p:nvGraphicFramePr>
        <p:xfrm>
          <a:off x="159615" y="9633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150575"/>
                <a:gridCol w="1789100"/>
                <a:gridCol w="1789100"/>
                <a:gridCol w="1789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13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14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15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Calculate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Calculate the interior angle, 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Calculate the exterior angle, x.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82" name="Google Shape;682;p26"/>
          <p:cNvSpPr/>
          <p:nvPr/>
        </p:nvSpPr>
        <p:spPr>
          <a:xfrm>
            <a:off x="1587785" y="509723"/>
            <a:ext cx="3682430" cy="3765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interior angle + exterior angle = 180°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p26"/>
          <p:cNvPicPr preferRelativeResize="0"/>
          <p:nvPr/>
        </p:nvPicPr>
        <p:blipFill rotWithShape="1">
          <a:blip r:embed="rId3">
            <a:alphaModFix/>
          </a:blip>
          <a:srcRect b="17827" l="38504" r="17674" t="29549"/>
          <a:stretch/>
        </p:blipFill>
        <p:spPr>
          <a:xfrm>
            <a:off x="3155975" y="5495214"/>
            <a:ext cx="1699838" cy="12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8053" y="5495214"/>
            <a:ext cx="1633111" cy="1024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26"/>
          <p:cNvPicPr preferRelativeResize="0"/>
          <p:nvPr/>
        </p:nvPicPr>
        <p:blipFill rotWithShape="1">
          <a:blip r:embed="rId5">
            <a:alphaModFix/>
          </a:blip>
          <a:srcRect b="9229" l="10735" r="6962" t="6488"/>
          <a:stretch/>
        </p:blipFill>
        <p:spPr>
          <a:xfrm>
            <a:off x="1733289" y="1754196"/>
            <a:ext cx="1155961" cy="868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1621" y="1794778"/>
            <a:ext cx="1397279" cy="770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9905" y="1754196"/>
            <a:ext cx="1222026" cy="9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6"/>
          <p:cNvSpPr/>
          <p:nvPr/>
        </p:nvSpPr>
        <p:spPr>
          <a:xfrm rot="-4501506">
            <a:off x="4180598" y="2285098"/>
            <a:ext cx="324551" cy="388210"/>
          </a:xfrm>
          <a:prstGeom prst="arc">
            <a:avLst>
              <a:gd fmla="val 15400010" name="adj1"/>
              <a:gd fmla="val 18398845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 rot="8807957">
            <a:off x="1746665" y="1734295"/>
            <a:ext cx="324551" cy="388210"/>
          </a:xfrm>
          <a:prstGeom prst="arc">
            <a:avLst>
              <a:gd fmla="val 14805117" name="adj1"/>
              <a:gd fmla="val 17651805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 rot="8807957">
            <a:off x="5319701" y="1721759"/>
            <a:ext cx="324551" cy="388210"/>
          </a:xfrm>
          <a:prstGeom prst="arc">
            <a:avLst>
              <a:gd fmla="val 14128872" name="adj1"/>
              <a:gd fmla="val 17651805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 txBox="1"/>
          <p:nvPr/>
        </p:nvSpPr>
        <p:spPr>
          <a:xfrm>
            <a:off x="1835069" y="2048368"/>
            <a:ext cx="426719" cy="2616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2" name="Google Shape;692;p26"/>
          <p:cNvSpPr txBox="1"/>
          <p:nvPr/>
        </p:nvSpPr>
        <p:spPr>
          <a:xfrm>
            <a:off x="3936759" y="2216777"/>
            <a:ext cx="348172" cy="2616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3" name="Google Shape;693;p26"/>
          <p:cNvSpPr txBox="1"/>
          <p:nvPr/>
        </p:nvSpPr>
        <p:spPr>
          <a:xfrm>
            <a:off x="5481976" y="1995140"/>
            <a:ext cx="505267" cy="26161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94" name="Google Shape;694;p26"/>
          <p:cNvPicPr preferRelativeResize="0"/>
          <p:nvPr/>
        </p:nvPicPr>
        <p:blipFill rotWithShape="1">
          <a:blip r:embed="rId11">
            <a:alphaModFix/>
          </a:blip>
          <a:srcRect b="342" l="-1320" r="1320" t="25910"/>
          <a:stretch/>
        </p:blipFill>
        <p:spPr>
          <a:xfrm>
            <a:off x="1379819" y="5495214"/>
            <a:ext cx="1713916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6"/>
          <p:cNvSpPr txBox="1"/>
          <p:nvPr/>
        </p:nvSpPr>
        <p:spPr>
          <a:xfrm>
            <a:off x="1782162" y="2773437"/>
            <a:ext cx="73770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6" name="Google Shape;696;p26"/>
          <p:cNvSpPr txBox="1"/>
          <p:nvPr/>
        </p:nvSpPr>
        <p:spPr>
          <a:xfrm>
            <a:off x="5481976" y="2790166"/>
            <a:ext cx="599844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7" name="Google Shape;697;p26"/>
          <p:cNvSpPr txBox="1"/>
          <p:nvPr/>
        </p:nvSpPr>
        <p:spPr>
          <a:xfrm>
            <a:off x="3738294" y="2802732"/>
            <a:ext cx="59984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8" name="Google Shape;698;p26"/>
          <p:cNvSpPr txBox="1"/>
          <p:nvPr/>
        </p:nvSpPr>
        <p:spPr>
          <a:xfrm>
            <a:off x="1850272" y="6759362"/>
            <a:ext cx="737702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9" name="Google Shape;699;p26"/>
          <p:cNvSpPr txBox="1"/>
          <p:nvPr/>
        </p:nvSpPr>
        <p:spPr>
          <a:xfrm>
            <a:off x="5481976" y="6788657"/>
            <a:ext cx="737702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0" name="Google Shape;700;p26"/>
          <p:cNvSpPr txBox="1"/>
          <p:nvPr/>
        </p:nvSpPr>
        <p:spPr>
          <a:xfrm>
            <a:off x="3806404" y="6788657"/>
            <a:ext cx="599844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1" name="Google Shape;701;p2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7"/>
          <p:cNvSpPr/>
          <p:nvPr/>
        </p:nvSpPr>
        <p:spPr>
          <a:xfrm>
            <a:off x="178115" y="251896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07" name="Google Shape;707;p27"/>
          <p:cNvSpPr txBox="1"/>
          <p:nvPr/>
        </p:nvSpPr>
        <p:spPr>
          <a:xfrm>
            <a:off x="1316069" y="408469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 Find the missing angles in each of the following problems: </a:t>
            </a:r>
            <a:endParaRPr/>
          </a:p>
        </p:txBody>
      </p:sp>
      <p:graphicFrame>
        <p:nvGraphicFramePr>
          <p:cNvPr id="708" name="Google Shape;708;p27"/>
          <p:cNvGraphicFramePr/>
          <p:nvPr/>
        </p:nvGraphicFramePr>
        <p:xfrm>
          <a:off x="178114" y="6900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09" name="Google Shape;709;p27"/>
          <p:cNvPicPr preferRelativeResize="0"/>
          <p:nvPr/>
        </p:nvPicPr>
        <p:blipFill rotWithShape="1">
          <a:blip r:embed="rId3">
            <a:alphaModFix/>
          </a:blip>
          <a:srcRect b="0" l="70366" r="8142" t="6925"/>
          <a:stretch/>
        </p:blipFill>
        <p:spPr>
          <a:xfrm>
            <a:off x="1009541" y="6864636"/>
            <a:ext cx="1537910" cy="140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7"/>
          <p:cNvPicPr preferRelativeResize="0"/>
          <p:nvPr/>
        </p:nvPicPr>
        <p:blipFill rotWithShape="1">
          <a:blip r:embed="rId3">
            <a:alphaModFix/>
          </a:blip>
          <a:srcRect b="10556" l="39884" r="35837" t="14330"/>
          <a:stretch/>
        </p:blipFill>
        <p:spPr>
          <a:xfrm>
            <a:off x="4232829" y="987410"/>
            <a:ext cx="2055500" cy="133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7"/>
          <p:cNvPicPr preferRelativeResize="0"/>
          <p:nvPr/>
        </p:nvPicPr>
        <p:blipFill rotWithShape="1">
          <a:blip r:embed="rId3">
            <a:alphaModFix/>
          </a:blip>
          <a:srcRect b="10555" l="2363" r="70099" t="17008"/>
          <a:stretch/>
        </p:blipFill>
        <p:spPr>
          <a:xfrm>
            <a:off x="569671" y="987410"/>
            <a:ext cx="2417650" cy="133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27"/>
          <p:cNvPicPr preferRelativeResize="0"/>
          <p:nvPr/>
        </p:nvPicPr>
        <p:blipFill rotWithShape="1">
          <a:blip r:embed="rId4">
            <a:alphaModFix/>
          </a:blip>
          <a:srcRect b="59055" l="5575" r="69176" t="5362"/>
          <a:stretch/>
        </p:blipFill>
        <p:spPr>
          <a:xfrm>
            <a:off x="791640" y="3986536"/>
            <a:ext cx="2195681" cy="133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27"/>
          <p:cNvPicPr preferRelativeResize="0"/>
          <p:nvPr/>
        </p:nvPicPr>
        <p:blipFill rotWithShape="1">
          <a:blip r:embed="rId4">
            <a:alphaModFix/>
          </a:blip>
          <a:srcRect b="57156" l="77422" r="8003" t="0"/>
          <a:stretch/>
        </p:blipFill>
        <p:spPr>
          <a:xfrm>
            <a:off x="4452996" y="3967096"/>
            <a:ext cx="1101643" cy="1401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7"/>
          <p:cNvPicPr preferRelativeResize="0"/>
          <p:nvPr/>
        </p:nvPicPr>
        <p:blipFill rotWithShape="1">
          <a:blip r:embed="rId4">
            <a:alphaModFix/>
          </a:blip>
          <a:srcRect b="58105" l="37850" r="35716" t="3464"/>
          <a:stretch/>
        </p:blipFill>
        <p:spPr>
          <a:xfrm>
            <a:off x="4166393" y="6864636"/>
            <a:ext cx="1757429" cy="110546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7"/>
          <p:cNvSpPr txBox="1"/>
          <p:nvPr/>
        </p:nvSpPr>
        <p:spPr>
          <a:xfrm>
            <a:off x="1478574" y="2726543"/>
            <a:ext cx="59984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27"/>
          <p:cNvSpPr txBox="1"/>
          <p:nvPr/>
        </p:nvSpPr>
        <p:spPr>
          <a:xfrm>
            <a:off x="4804231" y="2921817"/>
            <a:ext cx="73770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7" name="Google Shape;717;p27"/>
          <p:cNvSpPr txBox="1"/>
          <p:nvPr/>
        </p:nvSpPr>
        <p:spPr>
          <a:xfrm>
            <a:off x="1316069" y="5734351"/>
            <a:ext cx="73770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8" name="Google Shape;718;p27"/>
          <p:cNvSpPr txBox="1"/>
          <p:nvPr/>
        </p:nvSpPr>
        <p:spPr>
          <a:xfrm>
            <a:off x="4634966" y="5747102"/>
            <a:ext cx="59984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9" name="Google Shape;719;p27"/>
          <p:cNvSpPr txBox="1"/>
          <p:nvPr/>
        </p:nvSpPr>
        <p:spPr>
          <a:xfrm>
            <a:off x="1340715" y="8640849"/>
            <a:ext cx="73770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0" name="Google Shape;720;p27"/>
          <p:cNvSpPr txBox="1"/>
          <p:nvPr/>
        </p:nvSpPr>
        <p:spPr>
          <a:xfrm>
            <a:off x="4659612" y="8653600"/>
            <a:ext cx="73770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1" name="Google Shape;721;p2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8"/>
          <p:cNvSpPr txBox="1"/>
          <p:nvPr/>
        </p:nvSpPr>
        <p:spPr>
          <a:xfrm>
            <a:off x="85992" y="351010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 continued.</a:t>
            </a:r>
            <a:endParaRPr/>
          </a:p>
        </p:txBody>
      </p:sp>
      <p:graphicFrame>
        <p:nvGraphicFramePr>
          <p:cNvPr id="727" name="Google Shape;727;p28"/>
          <p:cNvGraphicFramePr/>
          <p:nvPr/>
        </p:nvGraphicFramePr>
        <p:xfrm>
          <a:off x="178114" y="6900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28" name="Google Shape;728;p28"/>
          <p:cNvPicPr preferRelativeResize="0"/>
          <p:nvPr/>
        </p:nvPicPr>
        <p:blipFill rotWithShape="1">
          <a:blip r:embed="rId3">
            <a:alphaModFix/>
          </a:blip>
          <a:srcRect b="75349" l="6276" r="70527" t="4650"/>
          <a:stretch/>
        </p:blipFill>
        <p:spPr>
          <a:xfrm>
            <a:off x="956399" y="4144890"/>
            <a:ext cx="1491430" cy="150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8"/>
          <p:cNvPicPr preferRelativeResize="0"/>
          <p:nvPr/>
        </p:nvPicPr>
        <p:blipFill rotWithShape="1">
          <a:blip r:embed="rId4">
            <a:alphaModFix/>
          </a:blip>
          <a:srcRect b="8248" l="4431" r="66474" t="48617"/>
          <a:stretch/>
        </p:blipFill>
        <p:spPr>
          <a:xfrm>
            <a:off x="3865890" y="1003140"/>
            <a:ext cx="2299881" cy="147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28"/>
          <p:cNvPicPr preferRelativeResize="0"/>
          <p:nvPr/>
        </p:nvPicPr>
        <p:blipFill rotWithShape="1">
          <a:blip r:embed="rId5">
            <a:alphaModFix/>
          </a:blip>
          <a:srcRect b="0" l="0" r="0" t="15534"/>
          <a:stretch/>
        </p:blipFill>
        <p:spPr>
          <a:xfrm>
            <a:off x="635314" y="1003140"/>
            <a:ext cx="2133600" cy="138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28"/>
          <p:cNvPicPr preferRelativeResize="0"/>
          <p:nvPr/>
        </p:nvPicPr>
        <p:blipFill rotWithShape="1">
          <a:blip r:embed="rId3">
            <a:alphaModFix/>
          </a:blip>
          <a:srcRect b="77095" l="36923" r="32722" t="6248"/>
          <a:stretch/>
        </p:blipFill>
        <p:spPr>
          <a:xfrm>
            <a:off x="4040015" y="4117998"/>
            <a:ext cx="1951630" cy="125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513" y="6989079"/>
            <a:ext cx="1975787" cy="1947959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8"/>
          <p:cNvSpPr/>
          <p:nvPr/>
        </p:nvSpPr>
        <p:spPr>
          <a:xfrm rot="9755326">
            <a:off x="1307785" y="6994542"/>
            <a:ext cx="548157" cy="632278"/>
          </a:xfrm>
          <a:prstGeom prst="arc">
            <a:avLst>
              <a:gd fmla="val 18178498" name="adj1"/>
              <a:gd fmla="val 209397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 txBox="1"/>
          <p:nvPr/>
        </p:nvSpPr>
        <p:spPr>
          <a:xfrm>
            <a:off x="1100561" y="6995527"/>
            <a:ext cx="447558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35" name="Google Shape;735;p28"/>
          <p:cNvCxnSpPr/>
          <p:nvPr/>
        </p:nvCxnSpPr>
        <p:spPr>
          <a:xfrm>
            <a:off x="1329352" y="7192370"/>
            <a:ext cx="190933" cy="3302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36" name="Google Shape;73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26666" y="7017652"/>
            <a:ext cx="2198821" cy="1475247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8"/>
          <p:cNvSpPr/>
          <p:nvPr/>
        </p:nvSpPr>
        <p:spPr>
          <a:xfrm rot="-6472875">
            <a:off x="5287112" y="7059421"/>
            <a:ext cx="548157" cy="632278"/>
          </a:xfrm>
          <a:prstGeom prst="arc">
            <a:avLst>
              <a:gd fmla="val 16513348" name="adj1"/>
              <a:gd fmla="val 209397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 txBox="1"/>
          <p:nvPr/>
        </p:nvSpPr>
        <p:spPr>
          <a:xfrm>
            <a:off x="4868566" y="7076346"/>
            <a:ext cx="416320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029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9" name="Google Shape;739;p28"/>
          <p:cNvSpPr txBox="1"/>
          <p:nvPr/>
        </p:nvSpPr>
        <p:spPr>
          <a:xfrm>
            <a:off x="1478574" y="2726543"/>
            <a:ext cx="73770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0" name="Google Shape;740;p28"/>
          <p:cNvSpPr txBox="1"/>
          <p:nvPr/>
        </p:nvSpPr>
        <p:spPr>
          <a:xfrm>
            <a:off x="4804231" y="2921817"/>
            <a:ext cx="73770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1" name="Google Shape;741;p28"/>
          <p:cNvSpPr txBox="1"/>
          <p:nvPr/>
        </p:nvSpPr>
        <p:spPr>
          <a:xfrm>
            <a:off x="1316069" y="5734351"/>
            <a:ext cx="73770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2" name="Google Shape;742;p28"/>
          <p:cNvSpPr txBox="1"/>
          <p:nvPr/>
        </p:nvSpPr>
        <p:spPr>
          <a:xfrm>
            <a:off x="4634966" y="5747102"/>
            <a:ext cx="737702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3" name="Google Shape;743;p28"/>
          <p:cNvSpPr txBox="1"/>
          <p:nvPr/>
        </p:nvSpPr>
        <p:spPr>
          <a:xfrm>
            <a:off x="1340715" y="8640849"/>
            <a:ext cx="461985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4" name="Google Shape;744;p28"/>
          <p:cNvSpPr txBox="1"/>
          <p:nvPr/>
        </p:nvSpPr>
        <p:spPr>
          <a:xfrm>
            <a:off x="4659612" y="8653600"/>
            <a:ext cx="599844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5" name="Google Shape;745;p2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9"/>
          <p:cNvSpPr txBox="1"/>
          <p:nvPr/>
        </p:nvSpPr>
        <p:spPr>
          <a:xfrm>
            <a:off x="141314" y="128960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 continued.</a:t>
            </a:r>
            <a:endParaRPr/>
          </a:p>
        </p:txBody>
      </p:sp>
      <p:graphicFrame>
        <p:nvGraphicFramePr>
          <p:cNvPr id="751" name="Google Shape;751;p29"/>
          <p:cNvGraphicFramePr/>
          <p:nvPr/>
        </p:nvGraphicFramePr>
        <p:xfrm>
          <a:off x="233436" y="4680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52" name="Google Shape;752;p29"/>
          <p:cNvPicPr preferRelativeResize="0"/>
          <p:nvPr/>
        </p:nvPicPr>
        <p:blipFill rotWithShape="1">
          <a:blip r:embed="rId3">
            <a:alphaModFix/>
          </a:blip>
          <a:srcRect b="15072" l="12308" r="58450" t="32572"/>
          <a:stretch/>
        </p:blipFill>
        <p:spPr>
          <a:xfrm>
            <a:off x="4149650" y="760589"/>
            <a:ext cx="1978925" cy="180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8662" y="3733800"/>
            <a:ext cx="21431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583" y="6774238"/>
            <a:ext cx="280987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8637" y="6774238"/>
            <a:ext cx="2343150" cy="186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29"/>
          <p:cNvGrpSpPr/>
          <p:nvPr/>
        </p:nvGrpSpPr>
        <p:grpSpPr>
          <a:xfrm>
            <a:off x="792871" y="3733800"/>
            <a:ext cx="2019300" cy="1371600"/>
            <a:chOff x="792871" y="3733800"/>
            <a:chExt cx="2019300" cy="1371600"/>
          </a:xfrm>
        </p:grpSpPr>
        <p:pic>
          <p:nvPicPr>
            <p:cNvPr id="757" name="Google Shape;757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2871" y="3733800"/>
              <a:ext cx="20193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29"/>
            <p:cNvSpPr/>
            <p:nvPr/>
          </p:nvSpPr>
          <p:spPr>
            <a:xfrm>
              <a:off x="838200" y="4178300"/>
              <a:ext cx="228600" cy="38346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9" name="Google Shape;759;p29"/>
          <p:cNvPicPr preferRelativeResize="0"/>
          <p:nvPr/>
        </p:nvPicPr>
        <p:blipFill rotWithShape="1">
          <a:blip r:embed="rId8">
            <a:alphaModFix/>
          </a:blip>
          <a:srcRect b="31941" l="72465" r="0" t="48452"/>
          <a:stretch/>
        </p:blipFill>
        <p:spPr>
          <a:xfrm>
            <a:off x="1094697" y="890978"/>
            <a:ext cx="1795560" cy="181398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29"/>
          <p:cNvSpPr txBox="1"/>
          <p:nvPr/>
        </p:nvSpPr>
        <p:spPr>
          <a:xfrm>
            <a:off x="1478574" y="2726543"/>
            <a:ext cx="73770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1" name="Google Shape;761;p29"/>
          <p:cNvSpPr txBox="1"/>
          <p:nvPr/>
        </p:nvSpPr>
        <p:spPr>
          <a:xfrm>
            <a:off x="4804231" y="2921817"/>
            <a:ext cx="73770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2" name="Google Shape;762;p29"/>
          <p:cNvSpPr txBox="1"/>
          <p:nvPr/>
        </p:nvSpPr>
        <p:spPr>
          <a:xfrm>
            <a:off x="1316069" y="5734351"/>
            <a:ext cx="73770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3" name="Google Shape;763;p29"/>
          <p:cNvSpPr txBox="1"/>
          <p:nvPr/>
        </p:nvSpPr>
        <p:spPr>
          <a:xfrm>
            <a:off x="4634966" y="5747102"/>
            <a:ext cx="73770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4" name="Google Shape;764;p29"/>
          <p:cNvSpPr txBox="1"/>
          <p:nvPr/>
        </p:nvSpPr>
        <p:spPr>
          <a:xfrm>
            <a:off x="1598545" y="8641138"/>
            <a:ext cx="599844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5" name="Google Shape;765;p29"/>
          <p:cNvSpPr txBox="1"/>
          <p:nvPr/>
        </p:nvSpPr>
        <p:spPr>
          <a:xfrm>
            <a:off x="4659612" y="8653600"/>
            <a:ext cx="59984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6" name="Google Shape;766;p2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0"/>
          <p:cNvSpPr txBox="1"/>
          <p:nvPr/>
        </p:nvSpPr>
        <p:spPr>
          <a:xfrm>
            <a:off x="141314" y="128960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 continued.</a:t>
            </a:r>
            <a:endParaRPr/>
          </a:p>
        </p:txBody>
      </p:sp>
      <p:graphicFrame>
        <p:nvGraphicFramePr>
          <p:cNvPr id="772" name="Google Shape;772;p30"/>
          <p:cNvGraphicFramePr/>
          <p:nvPr/>
        </p:nvGraphicFramePr>
        <p:xfrm>
          <a:off x="233436" y="4680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195575"/>
                <a:gridCol w="319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v)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73" name="Google Shape;773;p30"/>
          <p:cNvPicPr preferRelativeResize="0"/>
          <p:nvPr/>
        </p:nvPicPr>
        <p:blipFill rotWithShape="1">
          <a:blip r:embed="rId3">
            <a:alphaModFix/>
          </a:blip>
          <a:srcRect b="0" l="56033" r="0" t="0"/>
          <a:stretch/>
        </p:blipFill>
        <p:spPr>
          <a:xfrm>
            <a:off x="3931701" y="792163"/>
            <a:ext cx="2401424" cy="17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30"/>
          <p:cNvPicPr preferRelativeResize="0"/>
          <p:nvPr/>
        </p:nvPicPr>
        <p:blipFill rotWithShape="1">
          <a:blip r:embed="rId4">
            <a:alphaModFix/>
          </a:blip>
          <a:srcRect b="6588" l="0" r="59121" t="0"/>
          <a:stretch/>
        </p:blipFill>
        <p:spPr>
          <a:xfrm>
            <a:off x="635919" y="912478"/>
            <a:ext cx="2401424" cy="1750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5" name="Google Shape;775;p30"/>
          <p:cNvGrpSpPr/>
          <p:nvPr/>
        </p:nvGrpSpPr>
        <p:grpSpPr>
          <a:xfrm>
            <a:off x="983040" y="3763784"/>
            <a:ext cx="5522499" cy="5024073"/>
            <a:chOff x="983040" y="3763784"/>
            <a:chExt cx="5522499" cy="5024073"/>
          </a:xfrm>
        </p:grpSpPr>
        <p:pic>
          <p:nvPicPr>
            <p:cNvPr id="776" name="Google Shape;776;p30"/>
            <p:cNvPicPr preferRelativeResize="0"/>
            <p:nvPr/>
          </p:nvPicPr>
          <p:blipFill rotWithShape="1">
            <a:blip r:embed="rId5">
              <a:alphaModFix/>
            </a:blip>
            <a:srcRect b="0" l="39179" r="8141" t="45638"/>
            <a:stretch/>
          </p:blipFill>
          <p:spPr>
            <a:xfrm>
              <a:off x="3888521" y="6856193"/>
              <a:ext cx="2497992" cy="174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7" name="Google Shape;777;p30"/>
            <p:cNvPicPr preferRelativeResize="0"/>
            <p:nvPr/>
          </p:nvPicPr>
          <p:blipFill rotWithShape="1">
            <a:blip r:embed="rId5">
              <a:alphaModFix/>
            </a:blip>
            <a:srcRect b="2238" l="6620" r="63129" t="48818"/>
            <a:stretch/>
          </p:blipFill>
          <p:spPr>
            <a:xfrm>
              <a:off x="1026694" y="6856193"/>
              <a:ext cx="1766322" cy="19316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30"/>
            <p:cNvPicPr preferRelativeResize="0"/>
            <p:nvPr/>
          </p:nvPicPr>
          <p:blipFill rotWithShape="1">
            <a:blip r:embed="rId5">
              <a:alphaModFix/>
            </a:blip>
            <a:srcRect b="59073" l="42364" r="11782" t="5124"/>
            <a:stretch/>
          </p:blipFill>
          <p:spPr>
            <a:xfrm>
              <a:off x="3800277" y="3793884"/>
              <a:ext cx="2497992" cy="1318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30"/>
            <p:cNvPicPr preferRelativeResize="0"/>
            <p:nvPr/>
          </p:nvPicPr>
          <p:blipFill rotWithShape="1">
            <a:blip r:embed="rId5">
              <a:alphaModFix/>
            </a:blip>
            <a:srcRect b="46235" l="5506" r="57716" t="5477"/>
            <a:stretch/>
          </p:blipFill>
          <p:spPr>
            <a:xfrm>
              <a:off x="983040" y="3763784"/>
              <a:ext cx="1707181" cy="1515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30"/>
            <p:cNvSpPr/>
            <p:nvPr/>
          </p:nvSpPr>
          <p:spPr>
            <a:xfrm>
              <a:off x="1466661" y="4953000"/>
              <a:ext cx="615636" cy="5152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2485198" y="6819605"/>
              <a:ext cx="615636" cy="5152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3668520" y="6838433"/>
              <a:ext cx="615636" cy="5152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5889903" y="6819604"/>
              <a:ext cx="615636" cy="5152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5889903" y="4854621"/>
              <a:ext cx="615636" cy="5152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5" name="Google Shape;785;p30"/>
          <p:cNvSpPr txBox="1"/>
          <p:nvPr/>
        </p:nvSpPr>
        <p:spPr>
          <a:xfrm>
            <a:off x="1478574" y="2726543"/>
            <a:ext cx="59984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6" name="Google Shape;786;p30"/>
          <p:cNvSpPr txBox="1"/>
          <p:nvPr/>
        </p:nvSpPr>
        <p:spPr>
          <a:xfrm>
            <a:off x="4804231" y="2921817"/>
            <a:ext cx="73770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7" name="Google Shape;787;p30"/>
          <p:cNvSpPr txBox="1"/>
          <p:nvPr/>
        </p:nvSpPr>
        <p:spPr>
          <a:xfrm>
            <a:off x="1316069" y="5734351"/>
            <a:ext cx="59984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8" name="Google Shape;788;p30"/>
          <p:cNvSpPr txBox="1"/>
          <p:nvPr/>
        </p:nvSpPr>
        <p:spPr>
          <a:xfrm>
            <a:off x="4634966" y="5747102"/>
            <a:ext cx="73770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9" name="Google Shape;789;p30"/>
          <p:cNvSpPr txBox="1"/>
          <p:nvPr/>
        </p:nvSpPr>
        <p:spPr>
          <a:xfrm>
            <a:off x="1774479" y="8720088"/>
            <a:ext cx="599844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0" name="Google Shape;790;p30"/>
          <p:cNvSpPr txBox="1"/>
          <p:nvPr/>
        </p:nvSpPr>
        <p:spPr>
          <a:xfrm>
            <a:off x="4659612" y="8653600"/>
            <a:ext cx="73770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1" name="Google Shape;791;p3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1"/>
          <p:cNvSpPr/>
          <p:nvPr/>
        </p:nvSpPr>
        <p:spPr>
          <a:xfrm>
            <a:off x="105023" y="76045"/>
            <a:ext cx="6014442" cy="263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properties of exterior angles to calculate the number of sides a shape has</a:t>
            </a:r>
            <a:endParaRPr/>
          </a:p>
        </p:txBody>
      </p:sp>
      <p:graphicFrame>
        <p:nvGraphicFramePr>
          <p:cNvPr id="797" name="Google Shape;797;p31"/>
          <p:cNvGraphicFramePr/>
          <p:nvPr/>
        </p:nvGraphicFramePr>
        <p:xfrm>
          <a:off x="159615" y="4674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150575"/>
                <a:gridCol w="1789100"/>
                <a:gridCol w="1789100"/>
                <a:gridCol w="1789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19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20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21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Below is a section of a regular polygon, showing an exterior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section of a regular polygon, showing an exterior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section of a regular polygon, showing an exterior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Divide 360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by the exterior angle. This will give the number of sides.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98" name="Google Shape;798;p31"/>
          <p:cNvCxnSpPr/>
          <p:nvPr/>
        </p:nvCxnSpPr>
        <p:spPr>
          <a:xfrm>
            <a:off x="5213446" y="2415654"/>
            <a:ext cx="122765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9" name="Google Shape;799;p31"/>
          <p:cNvCxnSpPr/>
          <p:nvPr/>
        </p:nvCxnSpPr>
        <p:spPr>
          <a:xfrm flipH="1" rot="10800000">
            <a:off x="5430254" y="2035856"/>
            <a:ext cx="1117481" cy="3696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0" name="Google Shape;800;p31"/>
          <p:cNvSpPr/>
          <p:nvPr/>
        </p:nvSpPr>
        <p:spPr>
          <a:xfrm rot="1347729">
            <a:off x="5826718" y="2211377"/>
            <a:ext cx="324551" cy="388210"/>
          </a:xfrm>
          <a:prstGeom prst="arc">
            <a:avLst>
              <a:gd fmla="val 15400010" name="adj1"/>
              <a:gd fmla="val 2033194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 txBox="1"/>
          <p:nvPr/>
        </p:nvSpPr>
        <p:spPr>
          <a:xfrm>
            <a:off x="6084655" y="2149572"/>
            <a:ext cx="447558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802" name="Google Shape;802;p31"/>
          <p:cNvCxnSpPr/>
          <p:nvPr/>
        </p:nvCxnSpPr>
        <p:spPr>
          <a:xfrm>
            <a:off x="3242527" y="1905741"/>
            <a:ext cx="1045556" cy="38158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3" name="Google Shape;803;p31"/>
          <p:cNvCxnSpPr/>
          <p:nvPr/>
        </p:nvCxnSpPr>
        <p:spPr>
          <a:xfrm>
            <a:off x="3508555" y="2161415"/>
            <a:ext cx="1325190" cy="2266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4" name="Google Shape;804;p31"/>
          <p:cNvSpPr txBox="1"/>
          <p:nvPr/>
        </p:nvSpPr>
        <p:spPr>
          <a:xfrm>
            <a:off x="3298112" y="1958033"/>
            <a:ext cx="362600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 rot="-5963011">
            <a:off x="3654368" y="2036182"/>
            <a:ext cx="324551" cy="388210"/>
          </a:xfrm>
          <a:prstGeom prst="arc">
            <a:avLst>
              <a:gd fmla="val 17735340" name="adj1"/>
              <a:gd fmla="val 2033194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6" name="Google Shape;806;p31"/>
          <p:cNvCxnSpPr/>
          <p:nvPr/>
        </p:nvCxnSpPr>
        <p:spPr>
          <a:xfrm flipH="1" rot="10800000">
            <a:off x="1555846" y="2140863"/>
            <a:ext cx="1228793" cy="75155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7" name="Google Shape;807;p31"/>
          <p:cNvCxnSpPr/>
          <p:nvPr/>
        </p:nvCxnSpPr>
        <p:spPr>
          <a:xfrm flipH="1" rot="10800000">
            <a:off x="1960669" y="1905741"/>
            <a:ext cx="754776" cy="73413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8" name="Google Shape;808;p31"/>
          <p:cNvSpPr/>
          <p:nvPr/>
        </p:nvSpPr>
        <p:spPr>
          <a:xfrm rot="1347729">
            <a:off x="2292220" y="2143807"/>
            <a:ext cx="324551" cy="388210"/>
          </a:xfrm>
          <a:prstGeom prst="arc">
            <a:avLst>
              <a:gd fmla="val 15400010" name="adj1"/>
              <a:gd fmla="val 1839884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 txBox="1"/>
          <p:nvPr/>
        </p:nvSpPr>
        <p:spPr>
          <a:xfrm>
            <a:off x="2629087" y="1884416"/>
            <a:ext cx="447558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810" name="Google Shape;810;p31"/>
          <p:cNvGraphicFramePr/>
          <p:nvPr/>
        </p:nvGraphicFramePr>
        <p:xfrm>
          <a:off x="159615" y="50585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1150575"/>
                <a:gridCol w="1789100"/>
                <a:gridCol w="1789100"/>
                <a:gridCol w="1789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22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23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24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Below is a section of a regular polygon, showing an interior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section of a regular polygon, showing an interior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Below is a section of a regular polygon, showing an interior angle. How many sides does the polygon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Find the exterior angle, by using the fact that an interior angle + an exterior angle = 180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Divide 360</a:t>
                      </a:r>
                      <a:r>
                        <a:rPr b="0" baseline="3000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by the exterior angle. This will give the number of sides.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11" name="Google Shape;811;p31"/>
          <p:cNvPicPr preferRelativeResize="0"/>
          <p:nvPr/>
        </p:nvPicPr>
        <p:blipFill rotWithShape="1">
          <a:blip r:embed="rId6">
            <a:alphaModFix/>
          </a:blip>
          <a:srcRect b="9478" l="60485" r="17661" t="71554"/>
          <a:stretch/>
        </p:blipFill>
        <p:spPr>
          <a:xfrm>
            <a:off x="5058157" y="6413597"/>
            <a:ext cx="1413419" cy="778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31"/>
          <p:cNvPicPr preferRelativeResize="0"/>
          <p:nvPr/>
        </p:nvPicPr>
        <p:blipFill rotWithShape="1">
          <a:blip r:embed="rId6">
            <a:alphaModFix/>
          </a:blip>
          <a:srcRect b="13693" l="8826" r="65157" t="71554"/>
          <a:stretch/>
        </p:blipFill>
        <p:spPr>
          <a:xfrm>
            <a:off x="1370845" y="6413597"/>
            <a:ext cx="1691751" cy="60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1985" y="6386301"/>
            <a:ext cx="1405033" cy="887389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1"/>
          <p:cNvSpPr txBox="1"/>
          <p:nvPr/>
        </p:nvSpPr>
        <p:spPr>
          <a:xfrm>
            <a:off x="1968833" y="3483000"/>
            <a:ext cx="51328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5" name="Google Shape;815;p31"/>
          <p:cNvSpPr txBox="1"/>
          <p:nvPr/>
        </p:nvSpPr>
        <p:spPr>
          <a:xfrm>
            <a:off x="3688239" y="3500351"/>
            <a:ext cx="51328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6" name="Google Shape;816;p31"/>
          <p:cNvSpPr txBox="1"/>
          <p:nvPr/>
        </p:nvSpPr>
        <p:spPr>
          <a:xfrm>
            <a:off x="5508225" y="3524962"/>
            <a:ext cx="5132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7" name="Google Shape;817;p31"/>
          <p:cNvSpPr txBox="1"/>
          <p:nvPr/>
        </p:nvSpPr>
        <p:spPr>
          <a:xfrm>
            <a:off x="1973728" y="7947967"/>
            <a:ext cx="51328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8" name="Google Shape;818;p31"/>
          <p:cNvSpPr txBox="1"/>
          <p:nvPr/>
        </p:nvSpPr>
        <p:spPr>
          <a:xfrm>
            <a:off x="3693134" y="7965318"/>
            <a:ext cx="51328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9" name="Google Shape;819;p31"/>
          <p:cNvSpPr txBox="1"/>
          <p:nvPr/>
        </p:nvSpPr>
        <p:spPr>
          <a:xfrm>
            <a:off x="5513120" y="7989929"/>
            <a:ext cx="513282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0" name="Google Shape;820;p3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5" name="Google Shape;825;p32"/>
          <p:cNvGraphicFramePr/>
          <p:nvPr/>
        </p:nvGraphicFramePr>
        <p:xfrm>
          <a:off x="159740" y="6333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2152775"/>
                <a:gridCol w="2152775"/>
                <a:gridCol w="21527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26" name="Google Shape;8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62" y="4596962"/>
            <a:ext cx="19431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261" y="980442"/>
            <a:ext cx="1685932" cy="973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32"/>
          <p:cNvPicPr preferRelativeResize="0"/>
          <p:nvPr/>
        </p:nvPicPr>
        <p:blipFill rotWithShape="1">
          <a:blip r:embed="rId5">
            <a:alphaModFix/>
          </a:blip>
          <a:srcRect b="0" l="0" r="0" t="18629"/>
          <a:stretch/>
        </p:blipFill>
        <p:spPr>
          <a:xfrm>
            <a:off x="4675118" y="4596961"/>
            <a:ext cx="1831404" cy="812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7527" y="959068"/>
            <a:ext cx="1403376" cy="966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2"/>
          <p:cNvPicPr preferRelativeResize="0"/>
          <p:nvPr/>
        </p:nvPicPr>
        <p:blipFill rotWithShape="1">
          <a:blip r:embed="rId7">
            <a:alphaModFix/>
          </a:blip>
          <a:srcRect b="19151" l="0" r="0" t="0"/>
          <a:stretch/>
        </p:blipFill>
        <p:spPr>
          <a:xfrm>
            <a:off x="2887640" y="4468884"/>
            <a:ext cx="1184642" cy="217756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2"/>
          <p:cNvSpPr/>
          <p:nvPr/>
        </p:nvSpPr>
        <p:spPr>
          <a:xfrm>
            <a:off x="178371" y="201383"/>
            <a:ext cx="1137954" cy="36379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832" name="Google Shape;832;p32"/>
          <p:cNvSpPr txBox="1"/>
          <p:nvPr/>
        </p:nvSpPr>
        <p:spPr>
          <a:xfrm>
            <a:off x="1239472" y="195019"/>
            <a:ext cx="57006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8. Each question below shows a section of a regular polygon, with a given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angle. How many sides does the polygon have?</a:t>
            </a:r>
            <a:endParaRPr/>
          </a:p>
        </p:txBody>
      </p:sp>
      <p:pic>
        <p:nvPicPr>
          <p:cNvPr id="833" name="Google Shape;833;p32"/>
          <p:cNvPicPr preferRelativeResize="0"/>
          <p:nvPr/>
        </p:nvPicPr>
        <p:blipFill rotWithShape="1">
          <a:blip r:embed="rId8">
            <a:alphaModFix/>
          </a:blip>
          <a:srcRect b="45764" l="12195" r="58063" t="43836"/>
          <a:stretch/>
        </p:blipFill>
        <p:spPr>
          <a:xfrm>
            <a:off x="280261" y="972119"/>
            <a:ext cx="2019301" cy="97356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32"/>
          <p:cNvSpPr/>
          <p:nvPr/>
        </p:nvSpPr>
        <p:spPr>
          <a:xfrm>
            <a:off x="2991106" y="1248632"/>
            <a:ext cx="244386" cy="322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49241" y="7720103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9. Answer the following questions.</a:t>
            </a:r>
            <a:endParaRPr/>
          </a:p>
        </p:txBody>
      </p:sp>
      <p:graphicFrame>
        <p:nvGraphicFramePr>
          <p:cNvPr id="836" name="Google Shape;836;p32"/>
          <p:cNvGraphicFramePr/>
          <p:nvPr/>
        </p:nvGraphicFramePr>
        <p:xfrm>
          <a:off x="159739" y="80253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54600"/>
                <a:gridCol w="2771025"/>
                <a:gridCol w="3332725"/>
              </a:tblGrid>
              <a:tr h="66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exterior angle of a regular polygon is 15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 How many sides does it have?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If each exterior angle of a regular polygon is 30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, how many sides does it have?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37" name="Google Shape;837;p32"/>
          <p:cNvSpPr txBox="1"/>
          <p:nvPr/>
        </p:nvSpPr>
        <p:spPr>
          <a:xfrm>
            <a:off x="1002804" y="6931230"/>
            <a:ext cx="37542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8" name="Google Shape;838;p32"/>
          <p:cNvSpPr txBox="1"/>
          <p:nvPr/>
        </p:nvSpPr>
        <p:spPr>
          <a:xfrm>
            <a:off x="3235492" y="6957257"/>
            <a:ext cx="5132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9" name="Google Shape;839;p32"/>
          <p:cNvSpPr txBox="1"/>
          <p:nvPr/>
        </p:nvSpPr>
        <p:spPr>
          <a:xfrm>
            <a:off x="5396797" y="6984432"/>
            <a:ext cx="37542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0" name="Google Shape;840;p32"/>
          <p:cNvSpPr txBox="1"/>
          <p:nvPr/>
        </p:nvSpPr>
        <p:spPr>
          <a:xfrm>
            <a:off x="1002804" y="3268663"/>
            <a:ext cx="51328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1" name="Google Shape;841;p32"/>
          <p:cNvSpPr txBox="1"/>
          <p:nvPr/>
        </p:nvSpPr>
        <p:spPr>
          <a:xfrm>
            <a:off x="3235492" y="3294690"/>
            <a:ext cx="375423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2" name="Google Shape;842;p32"/>
          <p:cNvSpPr txBox="1"/>
          <p:nvPr/>
        </p:nvSpPr>
        <p:spPr>
          <a:xfrm>
            <a:off x="5396797" y="3321865"/>
            <a:ext cx="651140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3" name="Google Shape;843;p3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3"/>
          <p:cNvSpPr txBox="1"/>
          <p:nvPr/>
        </p:nvSpPr>
        <p:spPr>
          <a:xfrm>
            <a:off x="158529" y="287787"/>
            <a:ext cx="66994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10. Each question below shows a section of a regular polygon, with a given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interior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angle. How many sides does the polygon have?</a:t>
            </a:r>
            <a:endParaRPr/>
          </a:p>
        </p:txBody>
      </p:sp>
      <p:graphicFrame>
        <p:nvGraphicFramePr>
          <p:cNvPr id="849" name="Google Shape;849;p33"/>
          <p:cNvGraphicFramePr/>
          <p:nvPr/>
        </p:nvGraphicFramePr>
        <p:xfrm>
          <a:off x="216890" y="7095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2152775"/>
                <a:gridCol w="2152775"/>
                <a:gridCol w="21527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50" name="Google Shape;8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575" y="4636770"/>
            <a:ext cx="1403377" cy="1307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33"/>
          <p:cNvPicPr preferRelativeResize="0"/>
          <p:nvPr/>
        </p:nvPicPr>
        <p:blipFill rotWithShape="1">
          <a:blip r:embed="rId4">
            <a:alphaModFix/>
          </a:blip>
          <a:srcRect b="0" l="10246" r="54417" t="55651"/>
          <a:stretch/>
        </p:blipFill>
        <p:spPr>
          <a:xfrm>
            <a:off x="341282" y="4628081"/>
            <a:ext cx="1913852" cy="92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9907" y="1003841"/>
            <a:ext cx="1768520" cy="84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1466" y="1163012"/>
            <a:ext cx="1965196" cy="488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33"/>
          <p:cNvPicPr preferRelativeResize="0"/>
          <p:nvPr/>
        </p:nvPicPr>
        <p:blipFill rotWithShape="1">
          <a:blip r:embed="rId7">
            <a:alphaModFix/>
          </a:blip>
          <a:srcRect b="47664" l="61298" r="11205" t="43523"/>
          <a:stretch/>
        </p:blipFill>
        <p:spPr>
          <a:xfrm>
            <a:off x="411320" y="1134698"/>
            <a:ext cx="1866901" cy="82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33"/>
          <p:cNvPicPr preferRelativeResize="0"/>
          <p:nvPr/>
        </p:nvPicPr>
        <p:blipFill rotWithShape="1">
          <a:blip r:embed="rId8">
            <a:alphaModFix/>
          </a:blip>
          <a:srcRect b="0" l="0" r="0" t="18629"/>
          <a:stretch/>
        </p:blipFill>
        <p:spPr>
          <a:xfrm>
            <a:off x="4675118" y="4596961"/>
            <a:ext cx="1831404" cy="81285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33"/>
          <p:cNvSpPr txBox="1"/>
          <p:nvPr/>
        </p:nvSpPr>
        <p:spPr>
          <a:xfrm>
            <a:off x="119340" y="7801195"/>
            <a:ext cx="57006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11. Answer the following questions.</a:t>
            </a:r>
            <a:endParaRPr/>
          </a:p>
        </p:txBody>
      </p:sp>
      <p:graphicFrame>
        <p:nvGraphicFramePr>
          <p:cNvPr id="857" name="Google Shape;857;p33"/>
          <p:cNvGraphicFramePr/>
          <p:nvPr/>
        </p:nvGraphicFramePr>
        <p:xfrm>
          <a:off x="216890" y="80983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54600"/>
                <a:gridCol w="2771025"/>
                <a:gridCol w="3332725"/>
              </a:tblGrid>
              <a:tr h="66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interior angle of a regular polygon is 165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 How many sides does it have?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If each interior angle of a regular polygon is 172.5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, how many sides does it have?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8" name="Google Shape;858;p33"/>
          <p:cNvSpPr txBox="1"/>
          <p:nvPr/>
        </p:nvSpPr>
        <p:spPr>
          <a:xfrm>
            <a:off x="1002804" y="6931230"/>
            <a:ext cx="51328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9" name="Google Shape;859;p33"/>
          <p:cNvSpPr txBox="1"/>
          <p:nvPr/>
        </p:nvSpPr>
        <p:spPr>
          <a:xfrm>
            <a:off x="3235492" y="6957257"/>
            <a:ext cx="5132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0" name="Google Shape;860;p33"/>
          <p:cNvSpPr txBox="1"/>
          <p:nvPr/>
        </p:nvSpPr>
        <p:spPr>
          <a:xfrm>
            <a:off x="5396797" y="6984432"/>
            <a:ext cx="37542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1" name="Google Shape;861;p33"/>
          <p:cNvSpPr txBox="1"/>
          <p:nvPr/>
        </p:nvSpPr>
        <p:spPr>
          <a:xfrm>
            <a:off x="1002804" y="3268663"/>
            <a:ext cx="51328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2" name="Google Shape;862;p33"/>
          <p:cNvSpPr txBox="1"/>
          <p:nvPr/>
        </p:nvSpPr>
        <p:spPr>
          <a:xfrm>
            <a:off x="3235492" y="3294690"/>
            <a:ext cx="513282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3" name="Google Shape;863;p33"/>
          <p:cNvSpPr txBox="1"/>
          <p:nvPr/>
        </p:nvSpPr>
        <p:spPr>
          <a:xfrm>
            <a:off x="5396797" y="3321865"/>
            <a:ext cx="651140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4" name="Google Shape;864;p3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 txBox="1"/>
          <p:nvPr/>
        </p:nvSpPr>
        <p:spPr>
          <a:xfrm>
            <a:off x="114203" y="318783"/>
            <a:ext cx="5363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12. Answer the following questions.</a:t>
            </a:r>
            <a:endParaRPr/>
          </a:p>
        </p:txBody>
      </p:sp>
      <p:graphicFrame>
        <p:nvGraphicFramePr>
          <p:cNvPr id="870" name="Google Shape;870;p34"/>
          <p:cNvGraphicFramePr/>
          <p:nvPr/>
        </p:nvGraphicFramePr>
        <p:xfrm>
          <a:off x="178371" y="669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250625"/>
                <a:gridCol w="3250625"/>
              </a:tblGrid>
              <a:tr h="11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Explain why this cannot be an interior angle of a regular polygon.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Vinny says that he has drawn a regular polygon with interior angles of 25°. James says that is not possible. Who is correct? You must give a reason for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If the interior angle was 173, the exterior angle would have to be 7. 360 divided by 7 is 51.428… which is not a whole number of sides.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James.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the interior angle was 25, the exterior angle would have to be 155. 360 divided by 155 is 2.322… which is not a whole number of sides.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Ellis says that the diagram below shows an exterior angle of a regular polygon. Is this possible? You must explain your answer.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Jamal says that the diagram below shows an exterior angle of a regular polygon. Is this possible? You must explain your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No, because 360 divided by 22 is 16.3636…, which is not a whole number of sides.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Yes, because 360 divided by 24 is 15, meaning it is a regular polygon with 15 sides.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71" name="Google Shape;871;p34"/>
          <p:cNvPicPr preferRelativeResize="0"/>
          <p:nvPr/>
        </p:nvPicPr>
        <p:blipFill rotWithShape="1">
          <a:blip r:embed="rId3">
            <a:alphaModFix/>
          </a:blip>
          <a:srcRect b="4212" l="35466" r="36355" t="30551"/>
          <a:stretch/>
        </p:blipFill>
        <p:spPr>
          <a:xfrm>
            <a:off x="1236171" y="1187558"/>
            <a:ext cx="1299646" cy="78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34"/>
          <p:cNvPicPr preferRelativeResize="0"/>
          <p:nvPr/>
        </p:nvPicPr>
        <p:blipFill rotWithShape="1">
          <a:blip r:embed="rId4">
            <a:alphaModFix/>
          </a:blip>
          <a:srcRect b="26926" l="66820" r="14211" t="31409"/>
          <a:stretch/>
        </p:blipFill>
        <p:spPr>
          <a:xfrm>
            <a:off x="4462359" y="4449785"/>
            <a:ext cx="1152629" cy="116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34"/>
          <p:cNvPicPr preferRelativeResize="0"/>
          <p:nvPr/>
        </p:nvPicPr>
        <p:blipFill rotWithShape="1">
          <a:blip r:embed="rId4">
            <a:alphaModFix/>
          </a:blip>
          <a:srcRect b="21708" l="19257" r="55407" t="25815"/>
          <a:stretch/>
        </p:blipFill>
        <p:spPr>
          <a:xfrm>
            <a:off x="1220129" y="4449785"/>
            <a:ext cx="1152629" cy="11026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4" name="Google Shape;874;p34"/>
          <p:cNvGraphicFramePr/>
          <p:nvPr/>
        </p:nvGraphicFramePr>
        <p:xfrm>
          <a:off x="178371" y="7584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2308150"/>
                <a:gridCol w="4193100"/>
              </a:tblGrid>
              <a:tr h="252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13. Calculate the number of sides in this regular polygon.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47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15 sides.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75" name="Google Shape;875;p34"/>
          <p:cNvPicPr preferRelativeResize="0"/>
          <p:nvPr/>
        </p:nvPicPr>
        <p:blipFill rotWithShape="1">
          <a:blip r:embed="rId5">
            <a:alphaModFix/>
          </a:blip>
          <a:srcRect b="0" l="11384" r="9025" t="22844"/>
          <a:stretch/>
        </p:blipFill>
        <p:spPr>
          <a:xfrm>
            <a:off x="471487" y="8093415"/>
            <a:ext cx="1796717" cy="1153801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3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5"/>
          <p:cNvSpPr txBox="1"/>
          <p:nvPr/>
        </p:nvSpPr>
        <p:spPr>
          <a:xfrm>
            <a:off x="251684" y="245326"/>
            <a:ext cx="66063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14. In the questions below, each diagram shows an angle and a side length of a regular polygon. Calculate the perimeter of each polygon.</a:t>
            </a:r>
            <a:endParaRPr/>
          </a:p>
        </p:txBody>
      </p:sp>
      <p:graphicFrame>
        <p:nvGraphicFramePr>
          <p:cNvPr id="882" name="Google Shape;882;p35"/>
          <p:cNvGraphicFramePr/>
          <p:nvPr/>
        </p:nvGraphicFramePr>
        <p:xfrm>
          <a:off x="319589" y="755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354175"/>
                <a:gridCol w="2679025"/>
                <a:gridCol w="3033725"/>
              </a:tblGrid>
              <a:tr h="137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60m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70mm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360cm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Calculate the perimeter of a regular polygon that has an edge length of 2cm and an interior angle of 162</a:t>
                      </a:r>
                      <a:r>
                        <a:rPr b="0" baseline="30000" lang="en-GB" sz="135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.</a:t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40cm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A regular polygon has a perimeter of 180cm and an exterior angle of 10</a:t>
                      </a:r>
                      <a:r>
                        <a:rPr b="0" baseline="30000" lang="en-GB" sz="135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. How long is each edge in cm?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5cm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A regular polygon has a perimeter of 12m and an interior angle of 171</a:t>
                      </a:r>
                      <a:r>
                        <a:rPr b="0" baseline="30000" lang="en-GB" sz="135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. How long is each edge in cm?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0000"/>
                          </a:solidFill>
                        </a:rPr>
                        <a:t>0.3m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83" name="Google Shape;883;p35"/>
          <p:cNvPicPr preferRelativeResize="0"/>
          <p:nvPr/>
        </p:nvPicPr>
        <p:blipFill rotWithShape="1">
          <a:blip r:embed="rId3">
            <a:alphaModFix/>
          </a:blip>
          <a:srcRect b="8109" l="0" r="0" t="4607"/>
          <a:stretch/>
        </p:blipFill>
        <p:spPr>
          <a:xfrm>
            <a:off x="1187116" y="833159"/>
            <a:ext cx="854429" cy="1209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35"/>
          <p:cNvPicPr preferRelativeResize="0"/>
          <p:nvPr/>
        </p:nvPicPr>
        <p:blipFill rotWithShape="1">
          <a:blip r:embed="rId4">
            <a:alphaModFix/>
          </a:blip>
          <a:srcRect b="8706" l="0" r="0" t="0"/>
          <a:stretch/>
        </p:blipFill>
        <p:spPr>
          <a:xfrm>
            <a:off x="1295400" y="3622456"/>
            <a:ext cx="962843" cy="141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35"/>
          <p:cNvPicPr preferRelativeResize="0"/>
          <p:nvPr/>
        </p:nvPicPr>
        <p:blipFill rotWithShape="1">
          <a:blip r:embed="rId5">
            <a:alphaModFix/>
          </a:blip>
          <a:srcRect b="0" l="8517" r="11548" t="0"/>
          <a:stretch/>
        </p:blipFill>
        <p:spPr>
          <a:xfrm>
            <a:off x="944222" y="2207620"/>
            <a:ext cx="2194646" cy="1129372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3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1" name="Google Shape;891;p36"/>
          <p:cNvGraphicFramePr/>
          <p:nvPr/>
        </p:nvGraphicFramePr>
        <p:xfrm>
          <a:off x="136435" y="57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6585125"/>
              </a:tblGrid>
              <a:tr h="4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392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quadrilateral below is a regular polygon?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correct name for the angle marked </a:t>
                      </a:r>
                      <a:r>
                        <a:rPr b="1" i="1" lang="en-GB" sz="12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these diagrams show a single interior angle?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sum of the exterior angles of this shape?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size of one exterior angle of a regular 12-sided polygon?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92" name="Google Shape;892;p36"/>
          <p:cNvPicPr preferRelativeResize="0"/>
          <p:nvPr/>
        </p:nvPicPr>
        <p:blipFill rotWithShape="1">
          <a:blip r:embed="rId3">
            <a:alphaModFix/>
          </a:blip>
          <a:srcRect b="0" l="0" r="11658" t="59404"/>
          <a:stretch/>
        </p:blipFill>
        <p:spPr>
          <a:xfrm>
            <a:off x="3728014" y="870840"/>
            <a:ext cx="2933744" cy="86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36"/>
          <p:cNvPicPr preferRelativeResize="0"/>
          <p:nvPr/>
        </p:nvPicPr>
        <p:blipFill rotWithShape="1">
          <a:blip r:embed="rId4">
            <a:alphaModFix/>
          </a:blip>
          <a:srcRect b="0" l="0" r="7241" t="58043"/>
          <a:stretch/>
        </p:blipFill>
        <p:spPr>
          <a:xfrm>
            <a:off x="3510529" y="4085869"/>
            <a:ext cx="3178068" cy="883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36"/>
          <p:cNvPicPr preferRelativeResize="0"/>
          <p:nvPr/>
        </p:nvPicPr>
        <p:blipFill rotWithShape="1">
          <a:blip r:embed="rId5">
            <a:alphaModFix/>
          </a:blip>
          <a:srcRect b="34139" l="42875" r="0" t="4099"/>
          <a:stretch/>
        </p:blipFill>
        <p:spPr>
          <a:xfrm>
            <a:off x="2876629" y="5557639"/>
            <a:ext cx="1245532" cy="88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36"/>
          <p:cNvPicPr preferRelativeResize="0"/>
          <p:nvPr/>
        </p:nvPicPr>
        <p:blipFill rotWithShape="1">
          <a:blip r:embed="rId6">
            <a:alphaModFix/>
          </a:blip>
          <a:srcRect b="0" l="0" r="0" t="68772"/>
          <a:stretch/>
        </p:blipFill>
        <p:spPr>
          <a:xfrm>
            <a:off x="1889497" y="3116267"/>
            <a:ext cx="3282728" cy="63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36"/>
          <p:cNvPicPr preferRelativeResize="0"/>
          <p:nvPr/>
        </p:nvPicPr>
        <p:blipFill rotWithShape="1">
          <a:blip r:embed="rId6">
            <a:alphaModFix/>
          </a:blip>
          <a:srcRect b="37120" l="45698" r="0" t="0"/>
          <a:stretch/>
        </p:blipFill>
        <p:spPr>
          <a:xfrm>
            <a:off x="2793836" y="2147704"/>
            <a:ext cx="1270325" cy="915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36"/>
          <p:cNvPicPr preferRelativeResize="0"/>
          <p:nvPr/>
        </p:nvPicPr>
        <p:blipFill rotWithShape="1">
          <a:blip r:embed="rId4">
            <a:alphaModFix/>
          </a:blip>
          <a:srcRect b="44781" l="0" r="0" t="12772"/>
          <a:stretch/>
        </p:blipFill>
        <p:spPr>
          <a:xfrm>
            <a:off x="201913" y="4174405"/>
            <a:ext cx="3386512" cy="88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36"/>
          <p:cNvPicPr preferRelativeResize="0"/>
          <p:nvPr/>
        </p:nvPicPr>
        <p:blipFill rotWithShape="1">
          <a:blip r:embed="rId3">
            <a:alphaModFix/>
          </a:blip>
          <a:srcRect b="54946" l="0" r="8247" t="15179"/>
          <a:stretch/>
        </p:blipFill>
        <p:spPr>
          <a:xfrm>
            <a:off x="227079" y="956184"/>
            <a:ext cx="3324837" cy="695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36"/>
          <p:cNvPicPr preferRelativeResize="0"/>
          <p:nvPr/>
        </p:nvPicPr>
        <p:blipFill rotWithShape="1">
          <a:blip r:embed="rId5">
            <a:alphaModFix/>
          </a:blip>
          <a:srcRect b="662" l="0" r="0" t="69500"/>
          <a:stretch/>
        </p:blipFill>
        <p:spPr>
          <a:xfrm>
            <a:off x="1838953" y="6535202"/>
            <a:ext cx="3320885" cy="65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36"/>
          <p:cNvPicPr preferRelativeResize="0"/>
          <p:nvPr/>
        </p:nvPicPr>
        <p:blipFill rotWithShape="1">
          <a:blip r:embed="rId6">
            <a:alphaModFix/>
          </a:blip>
          <a:srcRect b="0" l="0" r="0" t="68772"/>
          <a:stretch/>
        </p:blipFill>
        <p:spPr>
          <a:xfrm>
            <a:off x="1090435" y="8019012"/>
            <a:ext cx="4840187" cy="94021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36"/>
          <p:cNvSpPr/>
          <p:nvPr/>
        </p:nvSpPr>
        <p:spPr>
          <a:xfrm>
            <a:off x="1187355" y="8664834"/>
            <a:ext cx="4612944" cy="3703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6"/>
          <p:cNvSpPr txBox="1"/>
          <p:nvPr/>
        </p:nvSpPr>
        <p:spPr>
          <a:xfrm>
            <a:off x="1456339" y="8581694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03" name="Google Shape;903;p36"/>
          <p:cNvSpPr txBox="1"/>
          <p:nvPr/>
        </p:nvSpPr>
        <p:spPr>
          <a:xfrm>
            <a:off x="2666116" y="8581694"/>
            <a:ext cx="4748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04" name="Google Shape;904;p36"/>
          <p:cNvSpPr txBox="1"/>
          <p:nvPr/>
        </p:nvSpPr>
        <p:spPr>
          <a:xfrm>
            <a:off x="3924030" y="8581694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05" name="Google Shape;905;p36"/>
          <p:cNvSpPr txBox="1"/>
          <p:nvPr/>
        </p:nvSpPr>
        <p:spPr>
          <a:xfrm>
            <a:off x="5099563" y="8594848"/>
            <a:ext cx="4748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06" name="Google Shape;906;p36"/>
          <p:cNvSpPr/>
          <p:nvPr/>
        </p:nvSpPr>
        <p:spPr>
          <a:xfrm>
            <a:off x="5172225" y="697750"/>
            <a:ext cx="1489533" cy="103959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6"/>
          <p:cNvSpPr/>
          <p:nvPr/>
        </p:nvSpPr>
        <p:spPr>
          <a:xfrm>
            <a:off x="4282189" y="3185788"/>
            <a:ext cx="912697" cy="56815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6"/>
          <p:cNvSpPr/>
          <p:nvPr/>
        </p:nvSpPr>
        <p:spPr>
          <a:xfrm>
            <a:off x="3588425" y="4098470"/>
            <a:ext cx="1387612" cy="95444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6"/>
          <p:cNvSpPr/>
          <p:nvPr/>
        </p:nvSpPr>
        <p:spPr>
          <a:xfrm>
            <a:off x="2692658" y="6515401"/>
            <a:ext cx="693808" cy="67254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6"/>
          <p:cNvSpPr/>
          <p:nvPr/>
        </p:nvSpPr>
        <p:spPr>
          <a:xfrm>
            <a:off x="1274118" y="8047652"/>
            <a:ext cx="693808" cy="82419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6" name="Google Shape;916;p37"/>
          <p:cNvGraphicFramePr/>
          <p:nvPr/>
        </p:nvGraphicFramePr>
        <p:xfrm>
          <a:off x="136435" y="57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{9C31290B-AD94-456D-AC86-30F41AC76214}</a:tableStyleId>
              </a:tblPr>
              <a:tblGrid>
                <a:gridCol w="6585125"/>
              </a:tblGrid>
              <a:tr h="4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495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size of angle </a:t>
                      </a:r>
                      <a:r>
                        <a:rPr b="1" i="1" lang="en-GB" sz="12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One of the exterior angles of an irregular polygon is 30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 What is the size of the interior angle adjacent to it?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regular polygon has an exterior angle of 24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 How many sides does it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This is part of a regular polygon. How many sides does it have?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values cannot be an external angle of a regular polygon?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17" name="Google Shape;917;p37"/>
          <p:cNvPicPr preferRelativeResize="0"/>
          <p:nvPr/>
        </p:nvPicPr>
        <p:blipFill rotWithShape="1">
          <a:blip r:embed="rId3">
            <a:alphaModFix/>
          </a:blip>
          <a:srcRect b="0" l="0" r="0" t="60860"/>
          <a:stretch/>
        </p:blipFill>
        <p:spPr>
          <a:xfrm>
            <a:off x="1374810" y="3336510"/>
            <a:ext cx="4241252" cy="96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37"/>
          <p:cNvPicPr preferRelativeResize="0"/>
          <p:nvPr/>
        </p:nvPicPr>
        <p:blipFill rotWithShape="1">
          <a:blip r:embed="rId4">
            <a:alphaModFix/>
          </a:blip>
          <a:srcRect b="0" l="0" r="0" t="69346"/>
          <a:stretch/>
        </p:blipFill>
        <p:spPr>
          <a:xfrm>
            <a:off x="1646340" y="2081269"/>
            <a:ext cx="3507169" cy="710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7"/>
          <p:cNvPicPr preferRelativeResize="0"/>
          <p:nvPr/>
        </p:nvPicPr>
        <p:blipFill rotWithShape="1">
          <a:blip r:embed="rId5">
            <a:alphaModFix/>
          </a:blip>
          <a:srcRect b="5720" l="0" r="0" t="60515"/>
          <a:stretch/>
        </p:blipFill>
        <p:spPr>
          <a:xfrm>
            <a:off x="1041613" y="6949390"/>
            <a:ext cx="4807479" cy="88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7"/>
          <p:cNvPicPr preferRelativeResize="0"/>
          <p:nvPr/>
        </p:nvPicPr>
        <p:blipFill rotWithShape="1">
          <a:blip r:embed="rId6">
            <a:alphaModFix/>
          </a:blip>
          <a:srcRect b="0" l="0" r="0" t="68772"/>
          <a:stretch/>
        </p:blipFill>
        <p:spPr>
          <a:xfrm>
            <a:off x="1008906" y="4695385"/>
            <a:ext cx="4840187" cy="940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37"/>
          <p:cNvSpPr/>
          <p:nvPr/>
        </p:nvSpPr>
        <p:spPr>
          <a:xfrm>
            <a:off x="1105826" y="5341207"/>
            <a:ext cx="4612944" cy="3703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7"/>
          <p:cNvSpPr txBox="1"/>
          <p:nvPr/>
        </p:nvSpPr>
        <p:spPr>
          <a:xfrm>
            <a:off x="1374810" y="5258067"/>
            <a:ext cx="341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aseline="30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7"/>
          <p:cNvSpPr txBox="1"/>
          <p:nvPr/>
        </p:nvSpPr>
        <p:spPr>
          <a:xfrm>
            <a:off x="2584587" y="5258067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endParaRPr baseline="30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7"/>
          <p:cNvSpPr txBox="1"/>
          <p:nvPr/>
        </p:nvSpPr>
        <p:spPr>
          <a:xfrm>
            <a:off x="3842501" y="5258067"/>
            <a:ext cx="341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aseline="30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7"/>
          <p:cNvSpPr txBox="1"/>
          <p:nvPr/>
        </p:nvSpPr>
        <p:spPr>
          <a:xfrm>
            <a:off x="5018034" y="5271221"/>
            <a:ext cx="4203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156</a:t>
            </a:r>
            <a:endParaRPr baseline="30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6" name="Google Shape;926;p37"/>
          <p:cNvPicPr preferRelativeResize="0"/>
          <p:nvPr/>
        </p:nvPicPr>
        <p:blipFill rotWithShape="1">
          <a:blip r:embed="rId4">
            <a:alphaModFix/>
          </a:blip>
          <a:srcRect b="30820" l="39356" r="4602" t="0"/>
          <a:stretch/>
        </p:blipFill>
        <p:spPr>
          <a:xfrm>
            <a:off x="2639015" y="818199"/>
            <a:ext cx="1579967" cy="1288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37"/>
          <p:cNvPicPr preferRelativeResize="0"/>
          <p:nvPr/>
        </p:nvPicPr>
        <p:blipFill rotWithShape="1">
          <a:blip r:embed="rId5">
            <a:alphaModFix/>
          </a:blip>
          <a:srcRect b="52977" l="45976" r="5731" t="7631"/>
          <a:stretch/>
        </p:blipFill>
        <p:spPr>
          <a:xfrm>
            <a:off x="2656076" y="6133381"/>
            <a:ext cx="1742468" cy="77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37"/>
          <p:cNvPicPr preferRelativeResize="0"/>
          <p:nvPr/>
        </p:nvPicPr>
        <p:blipFill rotWithShape="1">
          <a:blip r:embed="rId6">
            <a:alphaModFix/>
          </a:blip>
          <a:srcRect b="0" l="0" r="0" t="68772"/>
          <a:stretch/>
        </p:blipFill>
        <p:spPr>
          <a:xfrm>
            <a:off x="1008906" y="8365627"/>
            <a:ext cx="4840187" cy="940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37"/>
          <p:cNvSpPr/>
          <p:nvPr/>
        </p:nvSpPr>
        <p:spPr>
          <a:xfrm>
            <a:off x="1105826" y="9011449"/>
            <a:ext cx="4612944" cy="37032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7"/>
          <p:cNvSpPr txBox="1"/>
          <p:nvPr/>
        </p:nvSpPr>
        <p:spPr>
          <a:xfrm>
            <a:off x="1374810" y="8928309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31" name="Google Shape;931;p37"/>
          <p:cNvSpPr txBox="1"/>
          <p:nvPr/>
        </p:nvSpPr>
        <p:spPr>
          <a:xfrm>
            <a:off x="2584587" y="8928309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32" name="Google Shape;932;p37"/>
          <p:cNvSpPr txBox="1"/>
          <p:nvPr/>
        </p:nvSpPr>
        <p:spPr>
          <a:xfrm>
            <a:off x="3842501" y="8928309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33" name="Google Shape;933;p37"/>
          <p:cNvSpPr txBox="1"/>
          <p:nvPr/>
        </p:nvSpPr>
        <p:spPr>
          <a:xfrm>
            <a:off x="5018034" y="8941463"/>
            <a:ext cx="396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934" name="Google Shape;934;p37"/>
          <p:cNvSpPr/>
          <p:nvPr/>
        </p:nvSpPr>
        <p:spPr>
          <a:xfrm>
            <a:off x="1771072" y="2101856"/>
            <a:ext cx="505561" cy="63554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7"/>
          <p:cNvSpPr/>
          <p:nvPr/>
        </p:nvSpPr>
        <p:spPr>
          <a:xfrm>
            <a:off x="3750197" y="3296818"/>
            <a:ext cx="543215" cy="86894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7"/>
          <p:cNvSpPr/>
          <p:nvPr/>
        </p:nvSpPr>
        <p:spPr>
          <a:xfrm>
            <a:off x="3769024" y="4710876"/>
            <a:ext cx="543215" cy="86894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7"/>
          <p:cNvSpPr/>
          <p:nvPr/>
        </p:nvSpPr>
        <p:spPr>
          <a:xfrm>
            <a:off x="3741773" y="6909699"/>
            <a:ext cx="543215" cy="86894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7"/>
          <p:cNvSpPr/>
          <p:nvPr/>
        </p:nvSpPr>
        <p:spPr>
          <a:xfrm>
            <a:off x="4969109" y="8431302"/>
            <a:ext cx="543215" cy="86894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