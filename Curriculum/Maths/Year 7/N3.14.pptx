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91D494-ABCD-45E8-9792-2A32A0FD62E0}">
  <a:tblStyle styleId="{FD91D494-ABCD-45E8-9792-2A32A0FD62E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2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2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2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30.png"/><Relationship Id="rId11" Type="http://schemas.openxmlformats.org/officeDocument/2006/relationships/image" Target="../media/image12.png"/><Relationship Id="rId10" Type="http://schemas.openxmlformats.org/officeDocument/2006/relationships/image" Target="../media/image16.png"/><Relationship Id="rId12" Type="http://schemas.openxmlformats.org/officeDocument/2006/relationships/image" Target="../media/image27.png"/><Relationship Id="rId9"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6.png"/><Relationship Id="rId7" Type="http://schemas.openxmlformats.org/officeDocument/2006/relationships/image" Target="../media/image23.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5.png"/><Relationship Id="rId13" Type="http://schemas.openxmlformats.org/officeDocument/2006/relationships/image" Target="../media/image7.png"/><Relationship Id="rId12" Type="http://schemas.openxmlformats.org/officeDocument/2006/relationships/image" Target="../media/image25.png"/><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2.png"/><Relationship Id="rId14"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14.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20.png"/><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8.png"/><Relationship Id="rId9"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9.png"/><Relationship Id="rId8"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p:nvPr/>
        </p:nvSpPr>
        <p:spPr>
          <a:xfrm>
            <a:off x="92150" y="291918"/>
            <a:ext cx="6673700" cy="1296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89" name="Google Shape;89;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N3.14 - Converting Metric Units</a:t>
            </a:r>
            <a:endParaRPr sz="1800">
              <a:solidFill>
                <a:srgbClr val="FF0000"/>
              </a:solidFill>
              <a:latin typeface="Calibri"/>
              <a:ea typeface="Calibri"/>
              <a:cs typeface="Calibri"/>
              <a:sym typeface="Calibri"/>
            </a:endParaRPr>
          </a:p>
        </p:txBody>
      </p:sp>
      <p:sp>
        <p:nvSpPr>
          <p:cNvPr id="90" name="Google Shape;90;p13"/>
          <p:cNvSpPr txBox="1"/>
          <p:nvPr/>
        </p:nvSpPr>
        <p:spPr>
          <a:xfrm>
            <a:off x="109193" y="594196"/>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1" name="Google Shape;91;p13"/>
          <p:cNvSpPr txBox="1"/>
          <p:nvPr/>
        </p:nvSpPr>
        <p:spPr>
          <a:xfrm>
            <a:off x="119775" y="767334"/>
            <a:ext cx="5473693"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convert between metric units of length involving multiplying</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convert between metric units of length involving dividing.</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convert between metric units of weight and capacity using multiplying</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convert between metric units of weight and capacity involving dividing</a:t>
            </a:r>
            <a:endParaRPr/>
          </a:p>
        </p:txBody>
      </p:sp>
      <p:sp>
        <p:nvSpPr>
          <p:cNvPr id="92" name="Google Shape;92;p13"/>
          <p:cNvSpPr txBox="1"/>
          <p:nvPr/>
        </p:nvSpPr>
        <p:spPr>
          <a:xfrm>
            <a:off x="168747" y="321861"/>
            <a:ext cx="6550828"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be able to convert between metric units for length, mass and volume</a:t>
            </a:r>
            <a:endParaRPr sz="1200">
              <a:solidFill>
                <a:srgbClr val="FF0000"/>
              </a:solidFill>
              <a:latin typeface="Calibri"/>
              <a:ea typeface="Calibri"/>
              <a:cs typeface="Calibri"/>
              <a:sym typeface="Calibri"/>
            </a:endParaRPr>
          </a:p>
        </p:txBody>
      </p:sp>
      <p:sp>
        <p:nvSpPr>
          <p:cNvPr id="93" name="Google Shape;93;p13"/>
          <p:cNvSpPr txBox="1"/>
          <p:nvPr/>
        </p:nvSpPr>
        <p:spPr>
          <a:xfrm>
            <a:off x="5565843" y="622317"/>
            <a:ext cx="1153732" cy="936000"/>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u="sng">
                <a:solidFill>
                  <a:schemeClr val="dk1"/>
                </a:solidFill>
                <a:latin typeface="Calibri"/>
                <a:ea typeface="Calibri"/>
                <a:cs typeface="Calibri"/>
                <a:sym typeface="Calibri"/>
              </a:rPr>
              <a:t>Keywords: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Metric</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Unit</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Convert</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Length</a:t>
            </a:r>
            <a:endParaRPr/>
          </a:p>
        </p:txBody>
      </p:sp>
      <p:cxnSp>
        <p:nvCxnSpPr>
          <p:cNvPr id="94" name="Google Shape;94;p13"/>
          <p:cNvCxnSpPr/>
          <p:nvPr/>
        </p:nvCxnSpPr>
        <p:spPr>
          <a:xfrm flipH="1" rot="10800000">
            <a:off x="897104" y="4186965"/>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95" name="Google Shape;95;p13"/>
          <p:cNvSpPr/>
          <p:nvPr/>
        </p:nvSpPr>
        <p:spPr>
          <a:xfrm>
            <a:off x="78892" y="2443136"/>
            <a:ext cx="6680506" cy="331460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6" name="Google Shape;96;p13"/>
          <p:cNvCxnSpPr/>
          <p:nvPr/>
        </p:nvCxnSpPr>
        <p:spPr>
          <a:xfrm>
            <a:off x="60178" y="4430734"/>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97" name="Google Shape;97;p13"/>
          <p:cNvCxnSpPr/>
          <p:nvPr/>
        </p:nvCxnSpPr>
        <p:spPr>
          <a:xfrm rot="10800000">
            <a:off x="3377701" y="2443133"/>
            <a:ext cx="0" cy="3354572"/>
          </a:xfrm>
          <a:prstGeom prst="straightConnector1">
            <a:avLst/>
          </a:prstGeom>
          <a:noFill/>
          <a:ln cap="flat" cmpd="sng" w="9525">
            <a:solidFill>
              <a:schemeClr val="dk1"/>
            </a:solidFill>
            <a:prstDash val="solid"/>
            <a:miter lim="800000"/>
            <a:headEnd len="sm" w="sm" type="none"/>
            <a:tailEnd len="sm" w="sm" type="none"/>
          </a:ln>
        </p:spPr>
      </p:cxnSp>
      <p:sp>
        <p:nvSpPr>
          <p:cNvPr id="98" name="Google Shape;98;p13"/>
          <p:cNvSpPr txBox="1"/>
          <p:nvPr/>
        </p:nvSpPr>
        <p:spPr>
          <a:xfrm>
            <a:off x="96646" y="2443133"/>
            <a:ext cx="327760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rPr b="0" i="0" lang="en-GB" sz="1200">
                <a:solidFill>
                  <a:schemeClr val="dk1"/>
                </a:solidFill>
                <a:latin typeface="Calibri"/>
                <a:ea typeface="Calibri"/>
                <a:cs typeface="Calibri"/>
                <a:sym typeface="Calibri"/>
              </a:rPr>
              <a:t>The metric system is an international decimal system of weights and measures, based on the metre for length and the kilogram for mass. </a:t>
            </a:r>
            <a:endParaRPr sz="1200">
              <a:solidFill>
                <a:schemeClr val="dk1"/>
              </a:solidFill>
              <a:latin typeface="Calibri"/>
              <a:ea typeface="Calibri"/>
              <a:cs typeface="Calibri"/>
              <a:sym typeface="Calibri"/>
            </a:endParaRPr>
          </a:p>
        </p:txBody>
      </p:sp>
      <p:sp>
        <p:nvSpPr>
          <p:cNvPr id="99" name="Google Shape;99;p13"/>
          <p:cNvSpPr txBox="1"/>
          <p:nvPr/>
        </p:nvSpPr>
        <p:spPr>
          <a:xfrm>
            <a:off x="3311868" y="2390824"/>
            <a:ext cx="3543084" cy="19389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GB" sz="1200">
                <a:solidFill>
                  <a:schemeClr val="dk1"/>
                </a:solidFill>
                <a:latin typeface="Calibri"/>
                <a:ea typeface="Calibri"/>
                <a:cs typeface="Calibri"/>
                <a:sym typeface="Calibri"/>
              </a:rPr>
              <a:t>Characteristics </a:t>
            </a:r>
            <a:endParaRPr b="1" sz="1200">
              <a:solidFill>
                <a:schemeClr val="lt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Me</a:t>
            </a:r>
            <a:r>
              <a:rPr b="0" i="0" lang="en-GB" sz="1200">
                <a:solidFill>
                  <a:schemeClr val="dk1"/>
                </a:solidFill>
                <a:latin typeface="Calibri"/>
                <a:ea typeface="Calibri"/>
                <a:cs typeface="Calibri"/>
                <a:sym typeface="Calibri"/>
              </a:rPr>
              <a:t>tric units have base units for different types of measurements.</a:t>
            </a:r>
            <a:r>
              <a:rPr lang="en-GB" sz="1200">
                <a:solidFill>
                  <a:schemeClr val="dk1"/>
                </a:solidFill>
                <a:latin typeface="Calibri"/>
                <a:ea typeface="Calibri"/>
                <a:cs typeface="Calibri"/>
                <a:sym typeface="Calibri"/>
              </a:rPr>
              <a:t> They are all based around powers of 10. </a:t>
            </a:r>
            <a:r>
              <a:rPr b="0" i="0" lang="en-GB" sz="1200">
                <a:solidFill>
                  <a:schemeClr val="dk1"/>
                </a:solidFill>
                <a:latin typeface="Calibri"/>
                <a:ea typeface="Calibri"/>
                <a:cs typeface="Calibri"/>
                <a:sym typeface="Calibri"/>
              </a:rPr>
              <a:t> Some common base units include:</a:t>
            </a:r>
            <a:endParaRPr/>
          </a:p>
          <a:p>
            <a:pPr indent="-76200" lvl="0" marL="0" marR="0" rtl="0" algn="l">
              <a:spcBef>
                <a:spcPts val="0"/>
              </a:spcBef>
              <a:spcAft>
                <a:spcPts val="0"/>
              </a:spcAft>
              <a:buClr>
                <a:schemeClr val="dk1"/>
              </a:buClr>
              <a:buSzPts val="1200"/>
              <a:buFont typeface="Arial"/>
              <a:buChar char="•"/>
            </a:pPr>
            <a:r>
              <a:rPr b="0" lang="en-GB" sz="1200">
                <a:solidFill>
                  <a:schemeClr val="dk1"/>
                </a:solidFill>
                <a:latin typeface="Calibri"/>
                <a:ea typeface="Calibri"/>
                <a:cs typeface="Calibri"/>
                <a:sym typeface="Calibri"/>
              </a:rPr>
              <a:t> Length: Kilometre (km), Metre (m), Centimetre (cm), Millimetre (mm).</a:t>
            </a:r>
            <a:endParaRPr/>
          </a:p>
          <a:p>
            <a:pPr indent="-76200" lvl="0" marL="0" marR="0" rtl="0" algn="l">
              <a:spcBef>
                <a:spcPts val="0"/>
              </a:spcBef>
              <a:spcAft>
                <a:spcPts val="0"/>
              </a:spcAft>
              <a:buClr>
                <a:schemeClr val="dk1"/>
              </a:buClr>
              <a:buSzPts val="1200"/>
              <a:buFont typeface="Arial"/>
              <a:buChar char="•"/>
            </a:pPr>
            <a:r>
              <a:rPr b="0" lang="en-GB" sz="1200">
                <a:solidFill>
                  <a:schemeClr val="dk1"/>
                </a:solidFill>
                <a:latin typeface="Calibri"/>
                <a:ea typeface="Calibri"/>
                <a:cs typeface="Calibri"/>
                <a:sym typeface="Calibri"/>
              </a:rPr>
              <a:t> Mass: Kilogram (kg), Gram (g)</a:t>
            </a:r>
            <a:endParaRPr/>
          </a:p>
          <a:p>
            <a:pPr indent="-76200" lvl="0" marL="0" marR="0" rtl="0" algn="l">
              <a:spcBef>
                <a:spcPts val="0"/>
              </a:spcBef>
              <a:spcAft>
                <a:spcPts val="0"/>
              </a:spcAft>
              <a:buClr>
                <a:schemeClr val="dk1"/>
              </a:buClr>
              <a:buSzPts val="1200"/>
              <a:buFont typeface="Arial"/>
              <a:buChar char="•"/>
            </a:pPr>
            <a:r>
              <a:rPr b="0" lang="en-GB" sz="1200">
                <a:solidFill>
                  <a:schemeClr val="dk1"/>
                </a:solidFill>
                <a:latin typeface="Calibri"/>
                <a:ea typeface="Calibri"/>
                <a:cs typeface="Calibri"/>
                <a:sym typeface="Calibri"/>
              </a:rPr>
              <a:t> Volume: Litre (L), Centilitre (cl), Millilitre (ml)</a:t>
            </a:r>
            <a:endParaRPr/>
          </a:p>
          <a:p>
            <a:pPr indent="-76200" lvl="0" marL="0" marR="0" rtl="0" algn="l">
              <a:spcBef>
                <a:spcPts val="0"/>
              </a:spcBef>
              <a:spcAft>
                <a:spcPts val="0"/>
              </a:spcAft>
              <a:buClr>
                <a:schemeClr val="dk1"/>
              </a:buClr>
              <a:buSzPts val="1200"/>
              <a:buFont typeface="Arial"/>
              <a:buChar char="•"/>
            </a:pPr>
            <a:r>
              <a:rPr b="0" lang="en-GB" sz="1200">
                <a:solidFill>
                  <a:schemeClr val="dk1"/>
                </a:solidFill>
                <a:latin typeface="Calibri"/>
                <a:ea typeface="Calibri"/>
                <a:cs typeface="Calibri"/>
                <a:sym typeface="Calibri"/>
              </a:rPr>
              <a:t> Temperature: Celsius (°C)</a:t>
            </a:r>
            <a:endParaRPr/>
          </a:p>
          <a:p>
            <a:pPr indent="-76200" lvl="0" marL="0" marR="0" rtl="0" algn="l">
              <a:spcBef>
                <a:spcPts val="0"/>
              </a:spcBef>
              <a:spcAft>
                <a:spcPts val="0"/>
              </a:spcAft>
              <a:buClr>
                <a:schemeClr val="dk1"/>
              </a:buClr>
              <a:buSzPts val="1200"/>
              <a:buFont typeface="Arial"/>
              <a:buChar char="•"/>
            </a:pPr>
            <a:r>
              <a:rPr b="0" i="0" lang="en-GB" sz="1200">
                <a:solidFill>
                  <a:schemeClr val="dk1"/>
                </a:solidFill>
                <a:latin typeface="Calibri"/>
                <a:ea typeface="Calibri"/>
                <a:cs typeface="Calibri"/>
                <a:sym typeface="Calibri"/>
              </a:rPr>
              <a:t> The metric system is based on the power of 10.</a:t>
            </a:r>
            <a:endParaRPr/>
          </a:p>
        </p:txBody>
      </p:sp>
      <p:sp>
        <p:nvSpPr>
          <p:cNvPr id="100" name="Google Shape;100;p13"/>
          <p:cNvSpPr txBox="1"/>
          <p:nvPr/>
        </p:nvSpPr>
        <p:spPr>
          <a:xfrm>
            <a:off x="54527" y="4412710"/>
            <a:ext cx="3381738"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sz="1200">
              <a:solidFill>
                <a:schemeClr val="dk1"/>
              </a:solidFill>
              <a:latin typeface="Calibri"/>
              <a:ea typeface="Calibri"/>
              <a:cs typeface="Calibri"/>
              <a:sym typeface="Calibri"/>
            </a:endParaRPr>
          </a:p>
          <a:p>
            <a:pPr indent="-76200" lvl="0" marL="0" marR="0" rtl="0" algn="l">
              <a:spcBef>
                <a:spcPts val="0"/>
              </a:spcBef>
              <a:spcAft>
                <a:spcPts val="0"/>
              </a:spcAft>
              <a:buClr>
                <a:schemeClr val="dk1"/>
              </a:buClr>
              <a:buSzPts val="1200"/>
              <a:buFont typeface="Arial"/>
              <a:buChar char="•"/>
            </a:pPr>
            <a:r>
              <a:rPr i="0" lang="en-GB" sz="1200">
                <a:solidFill>
                  <a:schemeClr val="dk1"/>
                </a:solidFill>
                <a:latin typeface="Calibri"/>
                <a:ea typeface="Calibri"/>
                <a:cs typeface="Calibri"/>
                <a:sym typeface="Calibri"/>
              </a:rPr>
              <a:t> Length: You could measure the length of a pencil in millimetres, centimetres or meters</a:t>
            </a:r>
            <a:endParaRPr/>
          </a:p>
          <a:p>
            <a:pPr indent="-76200" lvl="0" marL="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 </a:t>
            </a:r>
            <a:r>
              <a:rPr i="0" lang="en-GB" sz="1200">
                <a:solidFill>
                  <a:schemeClr val="dk1"/>
                </a:solidFill>
                <a:latin typeface="Calibri"/>
                <a:ea typeface="Calibri"/>
                <a:cs typeface="Calibri"/>
                <a:sym typeface="Calibri"/>
              </a:rPr>
              <a:t>Mass: You could measure the mass of a book in grams or kilograms. </a:t>
            </a:r>
            <a:endParaRPr/>
          </a:p>
          <a:p>
            <a:pPr indent="-76200" lvl="0" marL="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Volume</a:t>
            </a:r>
            <a:r>
              <a:rPr i="0" lang="en-GB" sz="1200">
                <a:solidFill>
                  <a:schemeClr val="dk1"/>
                </a:solidFill>
                <a:latin typeface="Calibri"/>
                <a:ea typeface="Calibri"/>
                <a:cs typeface="Calibri"/>
                <a:sym typeface="Calibri"/>
              </a:rPr>
              <a:t>: You could measure the volume of water in millilitres, centilitres or litres.</a:t>
            </a:r>
            <a:endParaRPr/>
          </a:p>
        </p:txBody>
      </p:sp>
      <p:sp>
        <p:nvSpPr>
          <p:cNvPr id="101" name="Google Shape;101;p13"/>
          <p:cNvSpPr txBox="1"/>
          <p:nvPr/>
        </p:nvSpPr>
        <p:spPr>
          <a:xfrm>
            <a:off x="3533424" y="4443871"/>
            <a:ext cx="3239344"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GB" sz="1200">
                <a:solidFill>
                  <a:schemeClr val="dk1"/>
                </a:solidFill>
                <a:latin typeface="Calibri"/>
                <a:ea typeface="Calibri"/>
                <a:cs typeface="Calibri"/>
                <a:sym typeface="Calibri"/>
              </a:rPr>
              <a:t>Non – Examples</a:t>
            </a:r>
            <a:endParaRPr/>
          </a:p>
          <a:p>
            <a:pPr indent="0" lvl="0" marL="0" marR="0" rtl="0" algn="l">
              <a:spcBef>
                <a:spcPts val="0"/>
              </a:spcBef>
              <a:spcAft>
                <a:spcPts val="0"/>
              </a:spcAft>
              <a:buNone/>
            </a:pPr>
            <a:r>
              <a:rPr i="0" lang="en-GB" sz="1200">
                <a:solidFill>
                  <a:schemeClr val="dk1"/>
                </a:solidFill>
                <a:latin typeface="Calibri"/>
                <a:ea typeface="Calibri"/>
                <a:cs typeface="Calibri"/>
                <a:sym typeface="Calibri"/>
              </a:rPr>
              <a:t>Imperial Units: </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Length: Could be measured in feet and inches</a:t>
            </a:r>
            <a:endParaRPr/>
          </a:p>
          <a:p>
            <a:pPr indent="-171450" lvl="0" marL="171450" marR="0" rtl="0" algn="l">
              <a:spcBef>
                <a:spcPts val="0"/>
              </a:spcBef>
              <a:spcAft>
                <a:spcPts val="0"/>
              </a:spcAft>
              <a:buClr>
                <a:schemeClr val="dk1"/>
              </a:buClr>
              <a:buSzPts val="1200"/>
              <a:buFont typeface="Arial"/>
              <a:buChar char="•"/>
            </a:pPr>
            <a:r>
              <a:rPr i="0" lang="en-GB" sz="1200">
                <a:solidFill>
                  <a:schemeClr val="dk1"/>
                </a:solidFill>
                <a:latin typeface="Calibri"/>
                <a:ea typeface="Calibri"/>
                <a:cs typeface="Calibri"/>
                <a:sym typeface="Calibri"/>
              </a:rPr>
              <a:t>Ma</a:t>
            </a:r>
            <a:r>
              <a:rPr lang="en-GB" sz="1200">
                <a:solidFill>
                  <a:schemeClr val="dk1"/>
                </a:solidFill>
                <a:latin typeface="Calibri"/>
                <a:ea typeface="Calibri"/>
                <a:cs typeface="Calibri"/>
                <a:sym typeface="Calibri"/>
              </a:rPr>
              <a:t>ss: Could be measured in pounds or stones</a:t>
            </a:r>
            <a:endParaRPr/>
          </a:p>
          <a:p>
            <a:pPr indent="-171450" lvl="0" marL="171450" marR="0" rtl="0" algn="l">
              <a:spcBef>
                <a:spcPts val="0"/>
              </a:spcBef>
              <a:spcAft>
                <a:spcPts val="0"/>
              </a:spcAft>
              <a:buClr>
                <a:schemeClr val="dk1"/>
              </a:buClr>
              <a:buSzPts val="1200"/>
              <a:buFont typeface="Arial"/>
              <a:buChar char="•"/>
            </a:pPr>
            <a:r>
              <a:rPr i="0" lang="en-GB" sz="1200">
                <a:solidFill>
                  <a:schemeClr val="dk1"/>
                </a:solidFill>
                <a:latin typeface="Calibri"/>
                <a:ea typeface="Calibri"/>
                <a:cs typeface="Calibri"/>
                <a:sym typeface="Calibri"/>
              </a:rPr>
              <a:t>Volume</a:t>
            </a:r>
            <a:r>
              <a:rPr lang="en-GB" sz="1200">
                <a:solidFill>
                  <a:schemeClr val="dk1"/>
                </a:solidFill>
                <a:latin typeface="Calibri"/>
                <a:ea typeface="Calibri"/>
                <a:cs typeface="Calibri"/>
                <a:sym typeface="Calibri"/>
              </a:rPr>
              <a:t>: Could be measured in pints or gallons</a:t>
            </a:r>
            <a:r>
              <a:rPr i="0" lang="en-GB"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102" name="Google Shape;102;p13"/>
          <p:cNvSpPr txBox="1"/>
          <p:nvPr/>
        </p:nvSpPr>
        <p:spPr>
          <a:xfrm>
            <a:off x="2980139" y="4259205"/>
            <a:ext cx="80381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Metric</a:t>
            </a:r>
            <a:endParaRPr sz="1800">
              <a:solidFill>
                <a:schemeClr val="dk1"/>
              </a:solidFill>
              <a:latin typeface="Calibri"/>
              <a:ea typeface="Calibri"/>
              <a:cs typeface="Calibri"/>
              <a:sym typeface="Calibri"/>
            </a:endParaRPr>
          </a:p>
        </p:txBody>
      </p:sp>
      <p:sp>
        <p:nvSpPr>
          <p:cNvPr id="103" name="Google Shape;103;p13"/>
          <p:cNvSpPr/>
          <p:nvPr/>
        </p:nvSpPr>
        <p:spPr>
          <a:xfrm>
            <a:off x="83968" y="5785858"/>
            <a:ext cx="4334265" cy="31464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Converting between metric units of length involving multiplying.</a:t>
            </a:r>
            <a:endParaRPr sz="1200">
              <a:solidFill>
                <a:schemeClr val="lt1"/>
              </a:solidFill>
              <a:latin typeface="Calibri"/>
              <a:ea typeface="Calibri"/>
              <a:cs typeface="Calibri"/>
              <a:sym typeface="Calibri"/>
            </a:endParaRPr>
          </a:p>
        </p:txBody>
      </p:sp>
      <p:sp>
        <p:nvSpPr>
          <p:cNvPr id="104" name="Google Shape;104;p13"/>
          <p:cNvSpPr txBox="1"/>
          <p:nvPr>
            <p:ph idx="12" type="sldNum"/>
          </p:nvPr>
        </p:nvSpPr>
        <p:spPr>
          <a:xfrm>
            <a:off x="5256942" y="942603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05" name="Google Shape;105;p13"/>
          <p:cNvGraphicFramePr/>
          <p:nvPr/>
        </p:nvGraphicFramePr>
        <p:xfrm>
          <a:off x="98837" y="6187332"/>
          <a:ext cx="3000000" cy="3000000"/>
        </p:xfrm>
        <a:graphic>
          <a:graphicData uri="http://schemas.openxmlformats.org/drawingml/2006/table">
            <a:tbl>
              <a:tblPr bandRow="1" firstRow="1">
                <a:noFill/>
                <a:tableStyleId>{FD91D494-ABCD-45E8-9792-2A32A0FD62E0}</a:tableStyleId>
              </a:tblPr>
              <a:tblGrid>
                <a:gridCol w="3330275"/>
                <a:gridCol w="3330275"/>
              </a:tblGrid>
              <a:tr h="290500">
                <a:tc gridSpan="2">
                  <a:txBody>
                    <a:bodyPr/>
                    <a:lstStyle/>
                    <a:p>
                      <a:pPr indent="0" lvl="0" marL="0" marR="0" rtl="0" algn="l">
                        <a:lnSpc>
                          <a:spcPct val="100000"/>
                        </a:lnSpc>
                        <a:spcBef>
                          <a:spcPts val="0"/>
                        </a:spcBef>
                        <a:spcAft>
                          <a:spcPts val="0"/>
                        </a:spcAft>
                        <a:buClr>
                          <a:schemeClr val="dk1"/>
                        </a:buClr>
                        <a:buSzPts val="1200"/>
                        <a:buFont typeface="Calibri"/>
                        <a:buNone/>
                      </a:pPr>
                      <a:r>
                        <a:rPr lang="en-GB" sz="1200"/>
                        <a:t>1. Facts - Fill in the missing values:</a:t>
                      </a:r>
                      <a:endParaRPr/>
                    </a:p>
                  </a:txBody>
                  <a:tcPr marT="45725" marB="45725" marR="91450" marL="91450"/>
                </a:tc>
                <a:tc hMerge="1"/>
              </a:tr>
              <a:tr h="686025">
                <a:tc>
                  <a:txBody>
                    <a:bodyPr/>
                    <a:lstStyle/>
                    <a:p>
                      <a:pPr indent="0" lvl="0" marL="0" marR="0" rtl="0" algn="l">
                        <a:spcBef>
                          <a:spcPts val="0"/>
                        </a:spcBef>
                        <a:spcAft>
                          <a:spcPts val="0"/>
                        </a:spcAft>
                        <a:buClr>
                          <a:schemeClr val="dk1"/>
                        </a:buClr>
                        <a:buSzPts val="1200"/>
                        <a:buFont typeface="Calibri"/>
                        <a:buNone/>
                      </a:pPr>
                      <a:r>
                        <a:rPr lang="en-GB" sz="1200"/>
                        <a:t>a) 1 cm = ____ mm</a:t>
                      </a:r>
                      <a:endParaRPr/>
                    </a:p>
                  </a:txBody>
                  <a:tcPr marT="45725" marB="45725" marR="91450" marL="91450" anchor="ctr"/>
                </a:tc>
                <a:tc>
                  <a:txBody>
                    <a:bodyPr/>
                    <a:lstStyle/>
                    <a:p>
                      <a:pPr indent="0" lvl="0" marL="0" marR="0" rtl="0" algn="l">
                        <a:spcBef>
                          <a:spcPts val="0"/>
                        </a:spcBef>
                        <a:spcAft>
                          <a:spcPts val="0"/>
                        </a:spcAft>
                        <a:buNone/>
                      </a:pPr>
                      <a:r>
                        <a:rPr lang="en-GB" sz="1200"/>
                        <a:t>b) 1 m = ______ cm</a:t>
                      </a:r>
                      <a:endParaRPr/>
                    </a:p>
                  </a:txBody>
                  <a:tcPr marT="45725" marB="45725" marR="91450" marL="91450" anchor="ctr"/>
                </a:tc>
              </a:tr>
              <a:tr h="686025">
                <a:tc>
                  <a:txBody>
                    <a:bodyPr/>
                    <a:lstStyle/>
                    <a:p>
                      <a:pPr indent="0" lvl="0" marL="0" marR="0" rtl="0" algn="l">
                        <a:spcBef>
                          <a:spcPts val="0"/>
                        </a:spcBef>
                        <a:spcAft>
                          <a:spcPts val="0"/>
                        </a:spcAft>
                        <a:buNone/>
                      </a:pPr>
                      <a:r>
                        <a:rPr lang="en-GB" sz="1200"/>
                        <a:t>c) 1 km = _____ m</a:t>
                      </a:r>
                      <a:endParaRPr/>
                    </a:p>
                  </a:txBody>
                  <a:tcPr marT="45725" marB="45725" marR="91450" marL="91450" anchor="ctr"/>
                </a:tc>
                <a:tc>
                  <a:txBody>
                    <a:bodyPr/>
                    <a:lstStyle/>
                    <a:p>
                      <a:pPr indent="0" lvl="0" marL="0" marR="0" rtl="0" algn="l">
                        <a:spcBef>
                          <a:spcPts val="0"/>
                        </a:spcBef>
                        <a:spcAft>
                          <a:spcPts val="0"/>
                        </a:spcAft>
                        <a:buNone/>
                      </a:pPr>
                      <a:r>
                        <a:rPr lang="en-GB" sz="1200"/>
                        <a:t>d) 1 m = ______ mm</a:t>
                      </a:r>
                      <a:endParaRPr/>
                    </a:p>
                  </a:txBody>
                  <a:tcPr marT="45725" marB="45725" marR="91450" marL="91450" anchor="ctr"/>
                </a:tc>
              </a:tr>
            </a:tbl>
          </a:graphicData>
        </a:graphic>
      </p:graphicFrame>
      <p:grpSp>
        <p:nvGrpSpPr>
          <p:cNvPr id="106" name="Google Shape;106;p13"/>
          <p:cNvGrpSpPr/>
          <p:nvPr/>
        </p:nvGrpSpPr>
        <p:grpSpPr>
          <a:xfrm>
            <a:off x="797171" y="7903476"/>
            <a:ext cx="5263657" cy="1697633"/>
            <a:chOff x="797171" y="7832036"/>
            <a:chExt cx="5263657" cy="1697633"/>
          </a:xfrm>
        </p:grpSpPr>
        <p:grpSp>
          <p:nvGrpSpPr>
            <p:cNvPr id="107" name="Google Shape;107;p13"/>
            <p:cNvGrpSpPr/>
            <p:nvPr/>
          </p:nvGrpSpPr>
          <p:grpSpPr>
            <a:xfrm>
              <a:off x="797171" y="8282328"/>
              <a:ext cx="5263657" cy="795115"/>
              <a:chOff x="776254" y="8123764"/>
              <a:chExt cx="5263657" cy="795115"/>
            </a:xfrm>
          </p:grpSpPr>
          <p:sp>
            <p:nvSpPr>
              <p:cNvPr id="108" name="Google Shape;108;p13"/>
              <p:cNvSpPr txBox="1"/>
              <p:nvPr/>
            </p:nvSpPr>
            <p:spPr>
              <a:xfrm>
                <a:off x="776254" y="8344144"/>
                <a:ext cx="773797" cy="36933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09" name="Google Shape;109;p13"/>
              <p:cNvSpPr txBox="1"/>
              <p:nvPr/>
            </p:nvSpPr>
            <p:spPr>
              <a:xfrm>
                <a:off x="2348458" y="8333701"/>
                <a:ext cx="773797"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0" name="Google Shape;110;p13"/>
              <p:cNvSpPr txBox="1"/>
              <p:nvPr/>
            </p:nvSpPr>
            <p:spPr>
              <a:xfrm>
                <a:off x="3776268" y="8344144"/>
                <a:ext cx="773797"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1" name="Google Shape;111;p13"/>
              <p:cNvSpPr txBox="1"/>
              <p:nvPr/>
            </p:nvSpPr>
            <p:spPr>
              <a:xfrm>
                <a:off x="5266114" y="8333701"/>
                <a:ext cx="773797" cy="369332"/>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2" name="Google Shape;112;p13"/>
              <p:cNvSpPr/>
              <p:nvPr/>
            </p:nvSpPr>
            <p:spPr>
              <a:xfrm>
                <a:off x="1298472" y="8146744"/>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13"/>
              <p:cNvSpPr/>
              <p:nvPr/>
            </p:nvSpPr>
            <p:spPr>
              <a:xfrm>
                <a:off x="2800628" y="8135839"/>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13"/>
              <p:cNvSpPr/>
              <p:nvPr/>
            </p:nvSpPr>
            <p:spPr>
              <a:xfrm>
                <a:off x="4302784" y="8123764"/>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13"/>
              <p:cNvSpPr/>
              <p:nvPr/>
            </p:nvSpPr>
            <p:spPr>
              <a:xfrm rot="10800000">
                <a:off x="4302784" y="8385737"/>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13"/>
              <p:cNvSpPr/>
              <p:nvPr/>
            </p:nvSpPr>
            <p:spPr>
              <a:xfrm rot="10800000">
                <a:off x="2820890" y="8378196"/>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13"/>
              <p:cNvSpPr/>
              <p:nvPr/>
            </p:nvSpPr>
            <p:spPr>
              <a:xfrm rot="10800000">
                <a:off x="1270278" y="8385737"/>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8" name="Google Shape;118;p13"/>
            <p:cNvSpPr txBox="1"/>
            <p:nvPr/>
          </p:nvSpPr>
          <p:spPr>
            <a:xfrm>
              <a:off x="1319388" y="7842012"/>
              <a:ext cx="1210343" cy="369332"/>
            </a:xfrm>
            <a:prstGeom prst="rect">
              <a:avLst/>
            </a:prstGeom>
            <a:blipFill rotWithShape="1">
              <a:blip r:embed="rId7">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19" name="Google Shape;119;p13"/>
            <p:cNvSpPr txBox="1"/>
            <p:nvPr/>
          </p:nvSpPr>
          <p:spPr>
            <a:xfrm>
              <a:off x="2821545" y="7832036"/>
              <a:ext cx="1210343" cy="369332"/>
            </a:xfrm>
            <a:prstGeom prst="rect">
              <a:avLst/>
            </a:prstGeom>
            <a:blipFill rotWithShape="1">
              <a:blip r:embed="rId8">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20" name="Google Shape;120;p13"/>
            <p:cNvSpPr txBox="1"/>
            <p:nvPr/>
          </p:nvSpPr>
          <p:spPr>
            <a:xfrm>
              <a:off x="4355709" y="7842012"/>
              <a:ext cx="1210343" cy="369332"/>
            </a:xfrm>
            <a:prstGeom prst="rect">
              <a:avLst/>
            </a:prstGeom>
            <a:blipFill rotWithShape="1">
              <a:blip r:embed="rId9">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21" name="Google Shape;121;p13"/>
            <p:cNvSpPr txBox="1"/>
            <p:nvPr/>
          </p:nvSpPr>
          <p:spPr>
            <a:xfrm>
              <a:off x="1311817" y="9160337"/>
              <a:ext cx="1210343" cy="369332"/>
            </a:xfrm>
            <a:prstGeom prst="rect">
              <a:avLst/>
            </a:prstGeom>
            <a:blipFill rotWithShape="1">
              <a:blip r:embed="rId10">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22" name="Google Shape;122;p13"/>
            <p:cNvSpPr txBox="1"/>
            <p:nvPr/>
          </p:nvSpPr>
          <p:spPr>
            <a:xfrm>
              <a:off x="2813974" y="9150361"/>
              <a:ext cx="1210343" cy="369332"/>
            </a:xfrm>
            <a:prstGeom prst="rect">
              <a:avLst/>
            </a:prstGeom>
            <a:blipFill rotWithShape="1">
              <a:blip r:embed="rId11">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23" name="Google Shape;123;p13"/>
            <p:cNvSpPr txBox="1"/>
            <p:nvPr/>
          </p:nvSpPr>
          <p:spPr>
            <a:xfrm>
              <a:off x="4348138" y="9160337"/>
              <a:ext cx="1210343" cy="369332"/>
            </a:xfrm>
            <a:prstGeom prst="rect">
              <a:avLst/>
            </a:prstGeom>
            <a:blipFill rotWithShape="1">
              <a:blip r:embed="rId12">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sp>
        <p:nvSpPr>
          <p:cNvPr id="124" name="Google Shape;124;p13"/>
          <p:cNvSpPr/>
          <p:nvPr/>
        </p:nvSpPr>
        <p:spPr>
          <a:xfrm>
            <a:off x="87999" y="1611924"/>
            <a:ext cx="6686879" cy="792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125" name="Google Shape;125;p13"/>
          <p:cNvSpPr txBox="1"/>
          <p:nvPr/>
        </p:nvSpPr>
        <p:spPr>
          <a:xfrm>
            <a:off x="60470" y="1575279"/>
            <a:ext cx="27782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sng" cap="none" strike="noStrike">
                <a:solidFill>
                  <a:srgbClr val="000000"/>
                </a:solidFill>
                <a:latin typeface="Calibri"/>
                <a:ea typeface="Calibri"/>
                <a:cs typeface="Calibri"/>
                <a:sym typeface="Calibri"/>
              </a:rPr>
              <a:t>Introduction – read and annotate:: </a:t>
            </a:r>
            <a:endParaRPr/>
          </a:p>
        </p:txBody>
      </p:sp>
      <p:sp>
        <p:nvSpPr>
          <p:cNvPr id="126" name="Google Shape;126;p13"/>
          <p:cNvSpPr txBox="1"/>
          <p:nvPr/>
        </p:nvSpPr>
        <p:spPr>
          <a:xfrm>
            <a:off x="87999" y="1798876"/>
            <a:ext cx="6768000" cy="646331"/>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Metric units are standard units of measurement that are based on powers of ten. Metric conversions</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help us change measurements like length, weight, or volume from one unit to another, such as</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centimetres to metres or grams to kilograms. This makes it easier to understand and compare sizes.</a:t>
            </a:r>
            <a:endParaRPr/>
          </a:p>
        </p:txBody>
      </p:sp>
      <p:sp>
        <p:nvSpPr>
          <p:cNvPr id="127" name="Google Shape;127;p13"/>
          <p:cNvSpPr txBox="1"/>
          <p:nvPr/>
        </p:nvSpPr>
        <p:spPr>
          <a:xfrm>
            <a:off x="553143" y="6541546"/>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a:t>
            </a:r>
            <a:endParaRPr/>
          </a:p>
        </p:txBody>
      </p:sp>
      <p:sp>
        <p:nvSpPr>
          <p:cNvPr id="128" name="Google Shape;128;p13"/>
          <p:cNvSpPr txBox="1"/>
          <p:nvPr/>
        </p:nvSpPr>
        <p:spPr>
          <a:xfrm>
            <a:off x="3825394" y="6536650"/>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a:t>
            </a:r>
            <a:endParaRPr/>
          </a:p>
        </p:txBody>
      </p:sp>
      <p:sp>
        <p:nvSpPr>
          <p:cNvPr id="129" name="Google Shape;129;p13"/>
          <p:cNvSpPr txBox="1"/>
          <p:nvPr/>
        </p:nvSpPr>
        <p:spPr>
          <a:xfrm>
            <a:off x="3872297" y="7240234"/>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a:t>
            </a:r>
            <a:endParaRPr/>
          </a:p>
        </p:txBody>
      </p:sp>
      <p:sp>
        <p:nvSpPr>
          <p:cNvPr id="130" name="Google Shape;130;p13"/>
          <p:cNvSpPr txBox="1"/>
          <p:nvPr/>
        </p:nvSpPr>
        <p:spPr>
          <a:xfrm>
            <a:off x="568812" y="7234312"/>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1000</a:t>
            </a:r>
            <a:endParaRPr/>
          </a:p>
        </p:txBody>
      </p:sp>
      <p:sp>
        <p:nvSpPr>
          <p:cNvPr id="131" name="Google Shape;131;p13"/>
          <p:cNvSpPr txBox="1"/>
          <p:nvPr/>
        </p:nvSpPr>
        <p:spPr>
          <a:xfrm>
            <a:off x="1666973" y="7877203"/>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1000</a:t>
            </a:r>
            <a:endParaRPr/>
          </a:p>
        </p:txBody>
      </p:sp>
      <p:sp>
        <p:nvSpPr>
          <p:cNvPr id="132" name="Google Shape;132;p13"/>
          <p:cNvSpPr txBox="1"/>
          <p:nvPr/>
        </p:nvSpPr>
        <p:spPr>
          <a:xfrm>
            <a:off x="1675390" y="9208444"/>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1000</a:t>
            </a:r>
            <a:endParaRPr/>
          </a:p>
        </p:txBody>
      </p:sp>
      <p:sp>
        <p:nvSpPr>
          <p:cNvPr id="133" name="Google Shape;133;p13"/>
          <p:cNvSpPr txBox="1"/>
          <p:nvPr/>
        </p:nvSpPr>
        <p:spPr>
          <a:xfrm>
            <a:off x="3130012" y="7859461"/>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a:t>
            </a:r>
            <a:endParaRPr/>
          </a:p>
        </p:txBody>
      </p:sp>
      <p:sp>
        <p:nvSpPr>
          <p:cNvPr id="134" name="Google Shape;134;p13"/>
          <p:cNvSpPr txBox="1"/>
          <p:nvPr/>
        </p:nvSpPr>
        <p:spPr>
          <a:xfrm>
            <a:off x="3137769" y="9188228"/>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100</a:t>
            </a:r>
            <a:endParaRPr/>
          </a:p>
        </p:txBody>
      </p:sp>
      <p:sp>
        <p:nvSpPr>
          <p:cNvPr id="135" name="Google Shape;135;p13"/>
          <p:cNvSpPr txBox="1"/>
          <p:nvPr/>
        </p:nvSpPr>
        <p:spPr>
          <a:xfrm>
            <a:off x="4679121" y="7871539"/>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a:t>
            </a:r>
            <a:endParaRPr/>
          </a:p>
        </p:txBody>
      </p:sp>
      <p:sp>
        <p:nvSpPr>
          <p:cNvPr id="136" name="Google Shape;136;p13"/>
          <p:cNvSpPr txBox="1"/>
          <p:nvPr/>
        </p:nvSpPr>
        <p:spPr>
          <a:xfrm>
            <a:off x="4679121" y="9192617"/>
            <a:ext cx="8068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aphicFrame>
        <p:nvGraphicFramePr>
          <p:cNvPr id="141" name="Google Shape;141;p14"/>
          <p:cNvGraphicFramePr/>
          <p:nvPr/>
        </p:nvGraphicFramePr>
        <p:xfrm>
          <a:off x="120315" y="164592"/>
          <a:ext cx="3000000" cy="3000000"/>
        </p:xfrm>
        <a:graphic>
          <a:graphicData uri="http://schemas.openxmlformats.org/drawingml/2006/table">
            <a:tbl>
              <a:tblPr bandRow="1" firstRow="1">
                <a:noFill/>
                <a:tableStyleId>{FD91D494-ABCD-45E8-9792-2A32A0FD62E0}</a:tableStyleId>
              </a:tblPr>
              <a:tblGrid>
                <a:gridCol w="1039550"/>
                <a:gridCol w="1836625"/>
                <a:gridCol w="1836625"/>
                <a:gridCol w="1836625"/>
              </a:tblGrid>
              <a:tr h="337025">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1 –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2 –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3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4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52950">
                <a:tc rowSpan="3">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Identify the correct length conversion.</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2) Multiply the amount by the required value</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3) Include the units of your answer.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950">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950">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42" name="Google Shape;142;p14"/>
          <p:cNvGraphicFramePr/>
          <p:nvPr/>
        </p:nvGraphicFramePr>
        <p:xfrm>
          <a:off x="139631" y="4751293"/>
          <a:ext cx="3000000" cy="3000000"/>
        </p:xfrm>
        <a:graphic>
          <a:graphicData uri="http://schemas.openxmlformats.org/drawingml/2006/table">
            <a:tbl>
              <a:tblPr bandRow="1" firstRow="1">
                <a:noFill/>
                <a:tableStyleId>{FD91D494-ABCD-45E8-9792-2A32A0FD62E0}</a:tableStyleId>
              </a:tblPr>
              <a:tblGrid>
                <a:gridCol w="2176700"/>
                <a:gridCol w="2176700"/>
                <a:gridCol w="2176700"/>
              </a:tblGrid>
              <a:tr h="276900">
                <a:tc gridSpan="3">
                  <a:txBody>
                    <a:bodyPr/>
                    <a:lstStyle/>
                    <a:p>
                      <a:pPr indent="0" lvl="0" marL="0" marR="0" rtl="0" algn="l">
                        <a:spcBef>
                          <a:spcPts val="0"/>
                        </a:spcBef>
                        <a:spcAft>
                          <a:spcPts val="0"/>
                        </a:spcAft>
                        <a:buNone/>
                      </a:pPr>
                      <a:r>
                        <a:rPr lang="en-GB" sz="1200"/>
                        <a:t>2. Convert the following units. Include the units in your answer.</a:t>
                      </a:r>
                      <a:endParaRPr/>
                    </a:p>
                  </a:txBody>
                  <a:tcPr marT="45725" marB="45725" marR="91450" marL="91450"/>
                </a:tc>
                <a:tc hMerge="1"/>
                <a:tc hMerge="1"/>
              </a:tr>
              <a:tr h="27690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528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80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405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892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405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251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405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143" name="Google Shape;143;p14"/>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44" name="Google Shape;144;p14"/>
          <p:cNvGraphicFramePr/>
          <p:nvPr/>
        </p:nvGraphicFramePr>
        <p:xfrm>
          <a:off x="1555376" y="122368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45" name="Google Shape;145;p14"/>
          <p:cNvGraphicFramePr/>
          <p:nvPr/>
        </p:nvGraphicFramePr>
        <p:xfrm>
          <a:off x="3395028" y="122368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46" name="Google Shape;146;p14"/>
          <p:cNvGraphicFramePr/>
          <p:nvPr/>
        </p:nvGraphicFramePr>
        <p:xfrm>
          <a:off x="5234680" y="122368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147" name="Google Shape;147;p14"/>
          <p:cNvSpPr txBox="1"/>
          <p:nvPr/>
        </p:nvSpPr>
        <p:spPr>
          <a:xfrm>
            <a:off x="1469829" y="120708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148" name="Google Shape;148;p14"/>
          <p:cNvSpPr txBox="1"/>
          <p:nvPr/>
        </p:nvSpPr>
        <p:spPr>
          <a:xfrm>
            <a:off x="1462595" y="91417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cm    mm</a:t>
            </a:r>
            <a:endParaRPr/>
          </a:p>
        </p:txBody>
      </p:sp>
      <p:sp>
        <p:nvSpPr>
          <p:cNvPr id="149" name="Google Shape;149;p14"/>
          <p:cNvSpPr txBox="1"/>
          <p:nvPr/>
        </p:nvSpPr>
        <p:spPr>
          <a:xfrm>
            <a:off x="1484117" y="157412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3       30</a:t>
            </a:r>
            <a:endParaRPr/>
          </a:p>
        </p:txBody>
      </p:sp>
      <p:sp>
        <p:nvSpPr>
          <p:cNvPr id="150" name="Google Shape;150;p14"/>
          <p:cNvSpPr txBox="1"/>
          <p:nvPr/>
        </p:nvSpPr>
        <p:spPr>
          <a:xfrm>
            <a:off x="3312827" y="118224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151" name="Google Shape;151;p14"/>
          <p:cNvSpPr txBox="1"/>
          <p:nvPr/>
        </p:nvSpPr>
        <p:spPr>
          <a:xfrm>
            <a:off x="3258979" y="155157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0.6     6</a:t>
            </a:r>
            <a:endParaRPr/>
          </a:p>
        </p:txBody>
      </p:sp>
      <p:sp>
        <p:nvSpPr>
          <p:cNvPr id="152" name="Google Shape;152;p14"/>
          <p:cNvSpPr txBox="1"/>
          <p:nvPr/>
        </p:nvSpPr>
        <p:spPr>
          <a:xfrm>
            <a:off x="5165730" y="122372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153" name="Google Shape;153;p14"/>
          <p:cNvSpPr txBox="1"/>
          <p:nvPr/>
        </p:nvSpPr>
        <p:spPr>
          <a:xfrm>
            <a:off x="5158496" y="93081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cm    mm</a:t>
            </a:r>
            <a:endParaRPr/>
          </a:p>
        </p:txBody>
      </p:sp>
      <p:sp>
        <p:nvSpPr>
          <p:cNvPr id="154" name="Google Shape;154;p14"/>
          <p:cNvSpPr txBox="1"/>
          <p:nvPr/>
        </p:nvSpPr>
        <p:spPr>
          <a:xfrm>
            <a:off x="5180018" y="159076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8       80</a:t>
            </a:r>
            <a:endParaRPr/>
          </a:p>
        </p:txBody>
      </p:sp>
      <p:graphicFrame>
        <p:nvGraphicFramePr>
          <p:cNvPr id="155" name="Google Shape;155;p14"/>
          <p:cNvGraphicFramePr/>
          <p:nvPr/>
        </p:nvGraphicFramePr>
        <p:xfrm>
          <a:off x="1555376" y="247953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56" name="Google Shape;156;p14"/>
          <p:cNvGraphicFramePr/>
          <p:nvPr/>
        </p:nvGraphicFramePr>
        <p:xfrm>
          <a:off x="3395028" y="247953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57" name="Google Shape;157;p14"/>
          <p:cNvGraphicFramePr/>
          <p:nvPr/>
        </p:nvGraphicFramePr>
        <p:xfrm>
          <a:off x="5234680" y="247953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158" name="Google Shape;158;p14"/>
          <p:cNvSpPr txBox="1"/>
          <p:nvPr/>
        </p:nvSpPr>
        <p:spPr>
          <a:xfrm>
            <a:off x="1469829" y="246293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159" name="Google Shape;159;p14"/>
          <p:cNvSpPr txBox="1"/>
          <p:nvPr/>
        </p:nvSpPr>
        <p:spPr>
          <a:xfrm>
            <a:off x="1462595" y="217002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160" name="Google Shape;160;p14"/>
          <p:cNvSpPr txBox="1"/>
          <p:nvPr/>
        </p:nvSpPr>
        <p:spPr>
          <a:xfrm>
            <a:off x="1484117" y="282997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1.4     140</a:t>
            </a:r>
            <a:endParaRPr/>
          </a:p>
        </p:txBody>
      </p:sp>
      <p:sp>
        <p:nvSpPr>
          <p:cNvPr id="161" name="Google Shape;161;p14"/>
          <p:cNvSpPr txBox="1"/>
          <p:nvPr/>
        </p:nvSpPr>
        <p:spPr>
          <a:xfrm>
            <a:off x="3312827" y="243809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162" name="Google Shape;162;p14"/>
          <p:cNvSpPr txBox="1"/>
          <p:nvPr/>
        </p:nvSpPr>
        <p:spPr>
          <a:xfrm>
            <a:off x="3305593" y="214518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163" name="Google Shape;163;p14"/>
          <p:cNvSpPr txBox="1"/>
          <p:nvPr/>
        </p:nvSpPr>
        <p:spPr>
          <a:xfrm>
            <a:off x="3290814" y="282289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2.72  272</a:t>
            </a:r>
            <a:endParaRPr/>
          </a:p>
        </p:txBody>
      </p:sp>
      <p:sp>
        <p:nvSpPr>
          <p:cNvPr id="164" name="Google Shape;164;p14"/>
          <p:cNvSpPr txBox="1"/>
          <p:nvPr/>
        </p:nvSpPr>
        <p:spPr>
          <a:xfrm>
            <a:off x="5165730" y="247957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165" name="Google Shape;165;p14"/>
          <p:cNvSpPr txBox="1"/>
          <p:nvPr/>
        </p:nvSpPr>
        <p:spPr>
          <a:xfrm>
            <a:off x="5158496" y="218666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166" name="Google Shape;166;p14"/>
          <p:cNvSpPr txBox="1"/>
          <p:nvPr/>
        </p:nvSpPr>
        <p:spPr>
          <a:xfrm>
            <a:off x="5180018" y="284661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5.3    530</a:t>
            </a:r>
            <a:endParaRPr/>
          </a:p>
        </p:txBody>
      </p:sp>
      <p:graphicFrame>
        <p:nvGraphicFramePr>
          <p:cNvPr id="167" name="Google Shape;167;p14"/>
          <p:cNvGraphicFramePr/>
          <p:nvPr/>
        </p:nvGraphicFramePr>
        <p:xfrm>
          <a:off x="1586984" y="38174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68" name="Google Shape;168;p14"/>
          <p:cNvGraphicFramePr/>
          <p:nvPr/>
        </p:nvGraphicFramePr>
        <p:xfrm>
          <a:off x="3426636" y="38174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169" name="Google Shape;169;p14"/>
          <p:cNvGraphicFramePr/>
          <p:nvPr/>
        </p:nvGraphicFramePr>
        <p:xfrm>
          <a:off x="5266288" y="38174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170" name="Google Shape;170;p14"/>
          <p:cNvSpPr txBox="1"/>
          <p:nvPr/>
        </p:nvSpPr>
        <p:spPr>
          <a:xfrm>
            <a:off x="1501437" y="380085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171" name="Google Shape;171;p14"/>
          <p:cNvSpPr txBox="1"/>
          <p:nvPr/>
        </p:nvSpPr>
        <p:spPr>
          <a:xfrm>
            <a:off x="1494203" y="350794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172" name="Google Shape;172;p14"/>
          <p:cNvSpPr txBox="1"/>
          <p:nvPr/>
        </p:nvSpPr>
        <p:spPr>
          <a:xfrm>
            <a:off x="1515724" y="4167895"/>
            <a:ext cx="141321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25     25000</a:t>
            </a:r>
            <a:endParaRPr/>
          </a:p>
        </p:txBody>
      </p:sp>
      <p:sp>
        <p:nvSpPr>
          <p:cNvPr id="173" name="Google Shape;173;p14"/>
          <p:cNvSpPr txBox="1"/>
          <p:nvPr/>
        </p:nvSpPr>
        <p:spPr>
          <a:xfrm>
            <a:off x="3344435" y="377601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174" name="Google Shape;174;p14"/>
          <p:cNvSpPr txBox="1"/>
          <p:nvPr/>
        </p:nvSpPr>
        <p:spPr>
          <a:xfrm>
            <a:off x="3337201" y="348310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175" name="Google Shape;175;p14"/>
          <p:cNvSpPr txBox="1"/>
          <p:nvPr/>
        </p:nvSpPr>
        <p:spPr>
          <a:xfrm>
            <a:off x="3322422" y="416081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9.2    9200</a:t>
            </a:r>
            <a:endParaRPr/>
          </a:p>
        </p:txBody>
      </p:sp>
      <p:sp>
        <p:nvSpPr>
          <p:cNvPr id="176" name="Google Shape;176;p14"/>
          <p:cNvSpPr txBox="1"/>
          <p:nvPr/>
        </p:nvSpPr>
        <p:spPr>
          <a:xfrm>
            <a:off x="5197338" y="381749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177" name="Google Shape;177;p14"/>
          <p:cNvSpPr txBox="1"/>
          <p:nvPr/>
        </p:nvSpPr>
        <p:spPr>
          <a:xfrm>
            <a:off x="5190104" y="352459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178" name="Google Shape;178;p14"/>
          <p:cNvSpPr txBox="1"/>
          <p:nvPr/>
        </p:nvSpPr>
        <p:spPr>
          <a:xfrm>
            <a:off x="5240202" y="418453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13    13000</a:t>
            </a:r>
            <a:endParaRPr/>
          </a:p>
        </p:txBody>
      </p:sp>
      <p:sp>
        <p:nvSpPr>
          <p:cNvPr id="179" name="Google Shape;179;p14"/>
          <p:cNvSpPr txBox="1"/>
          <p:nvPr/>
        </p:nvSpPr>
        <p:spPr>
          <a:xfrm>
            <a:off x="553700" y="553803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70</a:t>
            </a:r>
            <a:endParaRPr/>
          </a:p>
        </p:txBody>
      </p:sp>
      <p:sp>
        <p:nvSpPr>
          <p:cNvPr id="180" name="Google Shape;180;p14"/>
          <p:cNvSpPr txBox="1"/>
          <p:nvPr/>
        </p:nvSpPr>
        <p:spPr>
          <a:xfrm>
            <a:off x="2928937" y="543680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450</a:t>
            </a:r>
            <a:endParaRPr/>
          </a:p>
        </p:txBody>
      </p:sp>
      <p:sp>
        <p:nvSpPr>
          <p:cNvPr id="181" name="Google Shape;181;p14"/>
          <p:cNvSpPr txBox="1"/>
          <p:nvPr/>
        </p:nvSpPr>
        <p:spPr>
          <a:xfrm>
            <a:off x="5036079" y="551261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a:t>
            </a:r>
            <a:endParaRPr/>
          </a:p>
        </p:txBody>
      </p:sp>
      <p:sp>
        <p:nvSpPr>
          <p:cNvPr id="182" name="Google Shape;182;p14"/>
          <p:cNvSpPr txBox="1"/>
          <p:nvPr/>
        </p:nvSpPr>
        <p:spPr>
          <a:xfrm>
            <a:off x="553700" y="650056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170</a:t>
            </a:r>
            <a:endParaRPr/>
          </a:p>
        </p:txBody>
      </p:sp>
      <p:sp>
        <p:nvSpPr>
          <p:cNvPr id="183" name="Google Shape;183;p14"/>
          <p:cNvSpPr txBox="1"/>
          <p:nvPr/>
        </p:nvSpPr>
        <p:spPr>
          <a:xfrm>
            <a:off x="2928937" y="649032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20</a:t>
            </a:r>
            <a:endParaRPr/>
          </a:p>
        </p:txBody>
      </p:sp>
      <p:sp>
        <p:nvSpPr>
          <p:cNvPr id="184" name="Google Shape;184;p14"/>
          <p:cNvSpPr txBox="1"/>
          <p:nvPr/>
        </p:nvSpPr>
        <p:spPr>
          <a:xfrm>
            <a:off x="5035449" y="654653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95</a:t>
            </a:r>
            <a:endParaRPr/>
          </a:p>
        </p:txBody>
      </p:sp>
      <p:sp>
        <p:nvSpPr>
          <p:cNvPr id="185" name="Google Shape;185;p14"/>
          <p:cNvSpPr txBox="1"/>
          <p:nvPr/>
        </p:nvSpPr>
        <p:spPr>
          <a:xfrm>
            <a:off x="553700" y="762178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5200</a:t>
            </a:r>
            <a:endParaRPr/>
          </a:p>
        </p:txBody>
      </p:sp>
      <p:sp>
        <p:nvSpPr>
          <p:cNvPr id="186" name="Google Shape;186;p14"/>
          <p:cNvSpPr txBox="1"/>
          <p:nvPr/>
        </p:nvSpPr>
        <p:spPr>
          <a:xfrm>
            <a:off x="2820625" y="766866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3456</a:t>
            </a:r>
            <a:endParaRPr/>
          </a:p>
        </p:txBody>
      </p:sp>
      <p:sp>
        <p:nvSpPr>
          <p:cNvPr id="187" name="Google Shape;187;p14"/>
          <p:cNvSpPr txBox="1"/>
          <p:nvPr/>
        </p:nvSpPr>
        <p:spPr>
          <a:xfrm>
            <a:off x="5087550" y="765506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752</a:t>
            </a:r>
            <a:endParaRPr/>
          </a:p>
        </p:txBody>
      </p:sp>
      <p:sp>
        <p:nvSpPr>
          <p:cNvPr id="188" name="Google Shape;188;p14"/>
          <p:cNvSpPr txBox="1"/>
          <p:nvPr/>
        </p:nvSpPr>
        <p:spPr>
          <a:xfrm>
            <a:off x="533660" y="881453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4.38</a:t>
            </a:r>
            <a:endParaRPr/>
          </a:p>
        </p:txBody>
      </p:sp>
      <p:sp>
        <p:nvSpPr>
          <p:cNvPr id="189" name="Google Shape;189;p14"/>
          <p:cNvSpPr txBox="1"/>
          <p:nvPr/>
        </p:nvSpPr>
        <p:spPr>
          <a:xfrm>
            <a:off x="2800585" y="886141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43.8</a:t>
            </a:r>
            <a:endParaRPr/>
          </a:p>
        </p:txBody>
      </p:sp>
      <p:sp>
        <p:nvSpPr>
          <p:cNvPr id="190" name="Google Shape;190;p14"/>
          <p:cNvSpPr txBox="1"/>
          <p:nvPr/>
        </p:nvSpPr>
        <p:spPr>
          <a:xfrm>
            <a:off x="5067510" y="884781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438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15"/>
          <p:cNvGraphicFramePr/>
          <p:nvPr/>
        </p:nvGraphicFramePr>
        <p:xfrm>
          <a:off x="177765" y="163865"/>
          <a:ext cx="3000000" cy="3000000"/>
        </p:xfrm>
        <a:graphic>
          <a:graphicData uri="http://schemas.openxmlformats.org/drawingml/2006/table">
            <a:tbl>
              <a:tblPr bandRow="1" firstRow="1">
                <a:noFill/>
                <a:tableStyleId>{FD91D494-ABCD-45E8-9792-2A32A0FD62E0}</a:tableStyleId>
              </a:tblPr>
              <a:tblGrid>
                <a:gridCol w="3251225"/>
                <a:gridCol w="3251225"/>
              </a:tblGrid>
              <a:tr h="306100">
                <a:tc gridSpan="2">
                  <a:txBody>
                    <a:bodyPr/>
                    <a:lstStyle/>
                    <a:p>
                      <a:pPr indent="0" lvl="0" marL="0" marR="0" rtl="0" algn="l">
                        <a:spcBef>
                          <a:spcPts val="0"/>
                        </a:spcBef>
                        <a:spcAft>
                          <a:spcPts val="0"/>
                        </a:spcAft>
                        <a:buNone/>
                      </a:pPr>
                      <a:r>
                        <a:rPr lang="en-GB" sz="1200"/>
                        <a:t>3. Convert the following units. Include the units in your answer.</a:t>
                      </a:r>
                      <a:endParaRPr/>
                    </a:p>
                  </a:txBody>
                  <a:tcPr marT="45725" marB="45725" marR="91450" marL="91450"/>
                </a:tc>
                <a:tc hMerge="1"/>
              </a:tr>
              <a:tr h="30610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2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0987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9291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1977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9291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594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9291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457200">
                <a:tc gridSpan="2">
                  <a:txBody>
                    <a:bodyPr/>
                    <a:lstStyle/>
                    <a:p>
                      <a:pPr indent="0" lvl="0" marL="0" marR="0" rtl="0" algn="l">
                        <a:spcBef>
                          <a:spcPts val="0"/>
                        </a:spcBef>
                        <a:spcAft>
                          <a:spcPts val="0"/>
                        </a:spcAft>
                        <a:buNone/>
                      </a:pPr>
                      <a:r>
                        <a:t/>
                      </a:r>
                      <a:endParaRPr sz="1350"/>
                    </a:p>
                  </a:txBody>
                  <a:tcPr marT="45725" marB="45725" marR="91450" marL="91450"/>
                </a:tc>
                <a:tc hMerge="1"/>
              </a:tr>
              <a:tr h="822950">
                <a:tc gridSpan="2">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hMerge="1"/>
              </a:tr>
              <a:tr h="1737350">
                <a:tc gridSpan="2">
                  <a:txBody>
                    <a:bodyPr/>
                    <a:lstStyle/>
                    <a:p>
                      <a:pPr indent="0" lvl="0" marL="0" marR="0" rtl="0" algn="l">
                        <a:spcBef>
                          <a:spcPts val="0"/>
                        </a:spcBef>
                        <a:spcAft>
                          <a:spcPts val="0"/>
                        </a:spcAft>
                        <a:buNone/>
                      </a:pPr>
                      <a:r>
                        <a:t/>
                      </a:r>
                      <a:endParaRPr sz="1350"/>
                    </a:p>
                  </a:txBody>
                  <a:tcPr marT="45725" marB="45725" marR="91450" marL="91450"/>
                </a:tc>
                <a:tc hMerge="1"/>
              </a:tr>
              <a:tr h="1005850">
                <a:tc gridSpan="2">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hMerge="1"/>
              </a:tr>
            </a:tbl>
          </a:graphicData>
        </a:graphic>
      </p:graphicFrame>
      <p:grpSp>
        <p:nvGrpSpPr>
          <p:cNvPr id="196" name="Google Shape;196;p15"/>
          <p:cNvGrpSpPr/>
          <p:nvPr/>
        </p:nvGrpSpPr>
        <p:grpSpPr>
          <a:xfrm>
            <a:off x="927100" y="6914635"/>
            <a:ext cx="5410200" cy="1163597"/>
            <a:chOff x="622300" y="6698735"/>
            <a:chExt cx="5410200" cy="1163597"/>
          </a:xfrm>
        </p:grpSpPr>
        <p:grpSp>
          <p:nvGrpSpPr>
            <p:cNvPr id="197" name="Google Shape;197;p15"/>
            <p:cNvGrpSpPr/>
            <p:nvPr/>
          </p:nvGrpSpPr>
          <p:grpSpPr>
            <a:xfrm>
              <a:off x="622300" y="7073900"/>
              <a:ext cx="5410200" cy="788432"/>
              <a:chOff x="7010400" y="6705600"/>
              <a:chExt cx="5410200" cy="788432"/>
            </a:xfrm>
          </p:grpSpPr>
          <p:grpSp>
            <p:nvGrpSpPr>
              <p:cNvPr id="198" name="Google Shape;198;p15"/>
              <p:cNvGrpSpPr/>
              <p:nvPr/>
            </p:nvGrpSpPr>
            <p:grpSpPr>
              <a:xfrm>
                <a:off x="7251700" y="6705600"/>
                <a:ext cx="4927600" cy="419100"/>
                <a:chOff x="7251700" y="6705600"/>
                <a:chExt cx="4927600" cy="419100"/>
              </a:xfrm>
            </p:grpSpPr>
            <p:cxnSp>
              <p:nvCxnSpPr>
                <p:cNvPr id="199" name="Google Shape;199;p15"/>
                <p:cNvCxnSpPr/>
                <p:nvPr/>
              </p:nvCxnSpPr>
              <p:spPr>
                <a:xfrm rot="10800000">
                  <a:off x="7251700" y="6883400"/>
                  <a:ext cx="4927600" cy="0"/>
                </a:xfrm>
                <a:prstGeom prst="straightConnector1">
                  <a:avLst/>
                </a:prstGeom>
                <a:noFill/>
                <a:ln cap="flat" cmpd="sng" w="38100">
                  <a:solidFill>
                    <a:schemeClr val="dk1"/>
                  </a:solidFill>
                  <a:prstDash val="solid"/>
                  <a:miter lim="800000"/>
                  <a:headEnd len="sm" w="sm" type="none"/>
                  <a:tailEnd len="sm" w="sm" type="none"/>
                </a:ln>
              </p:spPr>
            </p:cxnSp>
            <p:cxnSp>
              <p:nvCxnSpPr>
                <p:cNvPr id="200" name="Google Shape;200;p15"/>
                <p:cNvCxnSpPr/>
                <p:nvPr/>
              </p:nvCxnSpPr>
              <p:spPr>
                <a:xfrm rot="10800000">
                  <a:off x="12179300" y="6705600"/>
                  <a:ext cx="0" cy="419100"/>
                </a:xfrm>
                <a:prstGeom prst="straightConnector1">
                  <a:avLst/>
                </a:prstGeom>
                <a:noFill/>
                <a:ln cap="flat" cmpd="sng" w="38100">
                  <a:solidFill>
                    <a:schemeClr val="dk1"/>
                  </a:solidFill>
                  <a:prstDash val="solid"/>
                  <a:miter lim="800000"/>
                  <a:headEnd len="sm" w="sm" type="none"/>
                  <a:tailEnd len="sm" w="sm" type="none"/>
                </a:ln>
              </p:spPr>
            </p:cxnSp>
            <p:cxnSp>
              <p:nvCxnSpPr>
                <p:cNvPr id="201" name="Google Shape;201;p15"/>
                <p:cNvCxnSpPr/>
                <p:nvPr/>
              </p:nvCxnSpPr>
              <p:spPr>
                <a:xfrm rot="10800000">
                  <a:off x="7251700" y="6705600"/>
                  <a:ext cx="0" cy="419100"/>
                </a:xfrm>
                <a:prstGeom prst="straightConnector1">
                  <a:avLst/>
                </a:prstGeom>
                <a:noFill/>
                <a:ln cap="flat" cmpd="sng" w="38100">
                  <a:solidFill>
                    <a:schemeClr val="dk1"/>
                  </a:solidFill>
                  <a:prstDash val="solid"/>
                  <a:miter lim="800000"/>
                  <a:headEnd len="sm" w="sm" type="none"/>
                  <a:tailEnd len="sm" w="sm" type="none"/>
                </a:ln>
              </p:spPr>
            </p:cxnSp>
            <p:cxnSp>
              <p:nvCxnSpPr>
                <p:cNvPr id="202" name="Google Shape;202;p15"/>
                <p:cNvCxnSpPr/>
                <p:nvPr/>
              </p:nvCxnSpPr>
              <p:spPr>
                <a:xfrm rot="10800000">
                  <a:off x="9055100" y="6705600"/>
                  <a:ext cx="0" cy="419100"/>
                </a:xfrm>
                <a:prstGeom prst="straightConnector1">
                  <a:avLst/>
                </a:prstGeom>
                <a:noFill/>
                <a:ln cap="flat" cmpd="sng" w="38100">
                  <a:solidFill>
                    <a:schemeClr val="dk1"/>
                  </a:solidFill>
                  <a:prstDash val="solid"/>
                  <a:miter lim="800000"/>
                  <a:headEnd len="sm" w="sm" type="none"/>
                  <a:tailEnd len="sm" w="sm" type="none"/>
                </a:ln>
              </p:spPr>
            </p:cxnSp>
          </p:grpSp>
          <p:sp>
            <p:nvSpPr>
              <p:cNvPr id="203" name="Google Shape;203;p15"/>
              <p:cNvSpPr txBox="1"/>
              <p:nvPr/>
            </p:nvSpPr>
            <p:spPr>
              <a:xfrm>
                <a:off x="7010400" y="7117834"/>
                <a:ext cx="482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Calibri"/>
                    <a:ea typeface="Calibri"/>
                    <a:cs typeface="Calibri"/>
                    <a:sym typeface="Calibri"/>
                  </a:rPr>
                  <a:t>A</a:t>
                </a:r>
                <a:endParaRPr/>
              </a:p>
            </p:txBody>
          </p:sp>
          <p:sp>
            <p:nvSpPr>
              <p:cNvPr id="204" name="Google Shape;204;p15"/>
              <p:cNvSpPr txBox="1"/>
              <p:nvPr/>
            </p:nvSpPr>
            <p:spPr>
              <a:xfrm>
                <a:off x="8813800" y="7124700"/>
                <a:ext cx="482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Calibri"/>
                    <a:ea typeface="Calibri"/>
                    <a:cs typeface="Calibri"/>
                    <a:sym typeface="Calibri"/>
                  </a:rPr>
                  <a:t>B</a:t>
                </a:r>
                <a:endParaRPr/>
              </a:p>
            </p:txBody>
          </p:sp>
          <p:sp>
            <p:nvSpPr>
              <p:cNvPr id="205" name="Google Shape;205;p15"/>
              <p:cNvSpPr txBox="1"/>
              <p:nvPr/>
            </p:nvSpPr>
            <p:spPr>
              <a:xfrm>
                <a:off x="11938000" y="7124700"/>
                <a:ext cx="482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Calibri"/>
                    <a:ea typeface="Calibri"/>
                    <a:cs typeface="Calibri"/>
                    <a:sym typeface="Calibri"/>
                  </a:rPr>
                  <a:t>C</a:t>
                </a:r>
                <a:endParaRPr/>
              </a:p>
            </p:txBody>
          </p:sp>
        </p:grpSp>
        <p:cxnSp>
          <p:nvCxnSpPr>
            <p:cNvPr id="206" name="Google Shape;206;p15"/>
            <p:cNvCxnSpPr/>
            <p:nvPr/>
          </p:nvCxnSpPr>
          <p:spPr>
            <a:xfrm rot="10800000">
              <a:off x="863600" y="7073900"/>
              <a:ext cx="1714500" cy="0"/>
            </a:xfrm>
            <a:prstGeom prst="straightConnector1">
              <a:avLst/>
            </a:prstGeom>
            <a:noFill/>
            <a:ln cap="flat" cmpd="sng" w="9525">
              <a:solidFill>
                <a:schemeClr val="dk1"/>
              </a:solidFill>
              <a:prstDash val="solid"/>
              <a:miter lim="800000"/>
              <a:headEnd len="med" w="med" type="triangle"/>
              <a:tailEnd len="med" w="med" type="triangle"/>
            </a:ln>
          </p:spPr>
        </p:cxnSp>
        <p:cxnSp>
          <p:nvCxnSpPr>
            <p:cNvPr id="207" name="Google Shape;207;p15"/>
            <p:cNvCxnSpPr/>
            <p:nvPr/>
          </p:nvCxnSpPr>
          <p:spPr>
            <a:xfrm rot="10800000">
              <a:off x="2667000" y="7435334"/>
              <a:ext cx="3124200" cy="0"/>
            </a:xfrm>
            <a:prstGeom prst="straightConnector1">
              <a:avLst/>
            </a:prstGeom>
            <a:noFill/>
            <a:ln cap="flat" cmpd="sng" w="9525">
              <a:solidFill>
                <a:schemeClr val="dk1"/>
              </a:solidFill>
              <a:prstDash val="solid"/>
              <a:miter lim="800000"/>
              <a:headEnd len="med" w="med" type="triangle"/>
              <a:tailEnd len="med" w="med" type="triangle"/>
            </a:ln>
          </p:spPr>
        </p:cxnSp>
        <p:sp>
          <p:nvSpPr>
            <p:cNvPr id="208" name="Google Shape;208;p15"/>
            <p:cNvSpPr txBox="1"/>
            <p:nvPr/>
          </p:nvSpPr>
          <p:spPr>
            <a:xfrm>
              <a:off x="1200150" y="6698735"/>
              <a:ext cx="1346200" cy="36933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09" name="Google Shape;209;p15"/>
            <p:cNvSpPr txBox="1"/>
            <p:nvPr/>
          </p:nvSpPr>
          <p:spPr>
            <a:xfrm>
              <a:off x="3651250" y="7429500"/>
              <a:ext cx="1346200"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sp>
        <p:nvSpPr>
          <p:cNvPr id="210" name="Google Shape;210;p15"/>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1" name="Google Shape;211;p15"/>
          <p:cNvSpPr txBox="1"/>
          <p:nvPr/>
        </p:nvSpPr>
        <p:spPr>
          <a:xfrm>
            <a:off x="678426" y="963561"/>
            <a:ext cx="2052074"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2" name="Google Shape;212;p15"/>
          <p:cNvSpPr txBox="1"/>
          <p:nvPr/>
        </p:nvSpPr>
        <p:spPr>
          <a:xfrm>
            <a:off x="3802626" y="963561"/>
            <a:ext cx="2052074" cy="369332"/>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3" name="Google Shape;213;p15"/>
          <p:cNvSpPr txBox="1"/>
          <p:nvPr/>
        </p:nvSpPr>
        <p:spPr>
          <a:xfrm>
            <a:off x="678426" y="2118507"/>
            <a:ext cx="2052074" cy="36933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4" name="Google Shape;214;p15"/>
          <p:cNvSpPr txBox="1"/>
          <p:nvPr/>
        </p:nvSpPr>
        <p:spPr>
          <a:xfrm>
            <a:off x="3816145" y="2133408"/>
            <a:ext cx="2052074" cy="369332"/>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5" name="Google Shape;215;p15"/>
          <p:cNvSpPr txBox="1"/>
          <p:nvPr/>
        </p:nvSpPr>
        <p:spPr>
          <a:xfrm>
            <a:off x="673715" y="3446401"/>
            <a:ext cx="2052074" cy="369332"/>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6" name="Google Shape;216;p15"/>
          <p:cNvSpPr txBox="1"/>
          <p:nvPr/>
        </p:nvSpPr>
        <p:spPr>
          <a:xfrm>
            <a:off x="3802626" y="3445991"/>
            <a:ext cx="2052074" cy="369332"/>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7" name="Google Shape;217;p15"/>
          <p:cNvSpPr txBox="1"/>
          <p:nvPr/>
        </p:nvSpPr>
        <p:spPr>
          <a:xfrm>
            <a:off x="673715" y="4623399"/>
            <a:ext cx="2052074" cy="369332"/>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8" name="Google Shape;218;p15"/>
          <p:cNvSpPr txBox="1"/>
          <p:nvPr/>
        </p:nvSpPr>
        <p:spPr>
          <a:xfrm>
            <a:off x="3802626" y="4622989"/>
            <a:ext cx="2052074" cy="369332"/>
          </a:xfrm>
          <a:prstGeom prst="rect">
            <a:avLst/>
          </a:pr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19" name="Google Shape;219;p15"/>
          <p:cNvSpPr txBox="1"/>
          <p:nvPr/>
        </p:nvSpPr>
        <p:spPr>
          <a:xfrm>
            <a:off x="2402963" y="6002721"/>
            <a:ext cx="2052074" cy="369332"/>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220" name="Google Shape;220;p15"/>
          <p:cNvSpPr txBox="1"/>
          <p:nvPr/>
        </p:nvSpPr>
        <p:spPr>
          <a:xfrm>
            <a:off x="2275554" y="8708529"/>
            <a:ext cx="2052074" cy="369332"/>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aphicFrame>
        <p:nvGraphicFramePr>
          <p:cNvPr id="225" name="Google Shape;225;p16"/>
          <p:cNvGraphicFramePr/>
          <p:nvPr/>
        </p:nvGraphicFramePr>
        <p:xfrm>
          <a:off x="139631" y="401895"/>
          <a:ext cx="3000000" cy="3000000"/>
        </p:xfrm>
        <a:graphic>
          <a:graphicData uri="http://schemas.openxmlformats.org/drawingml/2006/table">
            <a:tbl>
              <a:tblPr bandRow="1" firstRow="1">
                <a:noFill/>
                <a:tableStyleId>{FD91D494-ABCD-45E8-9792-2A32A0FD62E0}</a:tableStyleId>
              </a:tblPr>
              <a:tblGrid>
                <a:gridCol w="1044225"/>
                <a:gridCol w="1844850"/>
                <a:gridCol w="1844850"/>
                <a:gridCol w="1844850"/>
              </a:tblGrid>
              <a:tr h="274325">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4 –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5 –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6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4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59775">
                <a:tc rowSpan="3">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Identify the correct length conversion.</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2) Divide the amount by the required value</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3) Include the units of your answer.</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977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4327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26" name="Google Shape;226;p16"/>
          <p:cNvGraphicFramePr/>
          <p:nvPr/>
        </p:nvGraphicFramePr>
        <p:xfrm>
          <a:off x="139631" y="5014907"/>
          <a:ext cx="3000000" cy="3000000"/>
        </p:xfrm>
        <a:graphic>
          <a:graphicData uri="http://schemas.openxmlformats.org/drawingml/2006/table">
            <a:tbl>
              <a:tblPr bandRow="1" firstRow="1">
                <a:noFill/>
                <a:tableStyleId>{FD91D494-ABCD-45E8-9792-2A32A0FD62E0}</a:tableStyleId>
              </a:tblPr>
              <a:tblGrid>
                <a:gridCol w="2192925"/>
                <a:gridCol w="2192925"/>
                <a:gridCol w="2192925"/>
              </a:tblGrid>
              <a:tr h="274325">
                <a:tc gridSpan="3">
                  <a:txBody>
                    <a:bodyPr/>
                    <a:lstStyle/>
                    <a:p>
                      <a:pPr indent="0" lvl="0" marL="0" marR="0" rtl="0" algn="l">
                        <a:spcBef>
                          <a:spcPts val="0"/>
                        </a:spcBef>
                        <a:spcAft>
                          <a:spcPts val="0"/>
                        </a:spcAft>
                        <a:buNone/>
                      </a:pPr>
                      <a:r>
                        <a:rPr lang="en-GB" sz="1200"/>
                        <a:t>6. Convert the following units. Include the units in your answer.</a:t>
                      </a:r>
                      <a:endParaRPr/>
                    </a:p>
                  </a:txBody>
                  <a:tcPr marT="45725" marB="45725" marR="91450" marL="91450"/>
                </a:tc>
                <a:tc hMerge="1"/>
                <a:tc hMerge="1"/>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0945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920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920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0640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9202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227" name="Google Shape;227;p16"/>
          <p:cNvSpPr txBox="1"/>
          <p:nvPr>
            <p:ph idx="12" type="sldNum"/>
          </p:nvPr>
        </p:nvSpPr>
        <p:spPr>
          <a:xfrm>
            <a:off x="5263552"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28" name="Google Shape;228;p16"/>
          <p:cNvSpPr/>
          <p:nvPr/>
        </p:nvSpPr>
        <p:spPr>
          <a:xfrm>
            <a:off x="1" y="88940"/>
            <a:ext cx="4016188" cy="312957"/>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Converting between metric units of length involving dividing.</a:t>
            </a:r>
            <a:endParaRPr sz="1200">
              <a:solidFill>
                <a:schemeClr val="lt1"/>
              </a:solidFill>
              <a:latin typeface="Calibri"/>
              <a:ea typeface="Calibri"/>
              <a:cs typeface="Calibri"/>
              <a:sym typeface="Calibri"/>
            </a:endParaRPr>
          </a:p>
        </p:txBody>
      </p:sp>
      <p:graphicFrame>
        <p:nvGraphicFramePr>
          <p:cNvPr id="229" name="Google Shape;229;p16"/>
          <p:cNvGraphicFramePr/>
          <p:nvPr/>
        </p:nvGraphicFramePr>
        <p:xfrm>
          <a:off x="1555376" y="133514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30" name="Google Shape;230;p16"/>
          <p:cNvGraphicFramePr/>
          <p:nvPr/>
        </p:nvGraphicFramePr>
        <p:xfrm>
          <a:off x="3395028" y="133514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31" name="Google Shape;231;p16"/>
          <p:cNvGraphicFramePr/>
          <p:nvPr/>
        </p:nvGraphicFramePr>
        <p:xfrm>
          <a:off x="5234680" y="1335142"/>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232" name="Google Shape;232;p16"/>
          <p:cNvSpPr txBox="1"/>
          <p:nvPr/>
        </p:nvSpPr>
        <p:spPr>
          <a:xfrm>
            <a:off x="1469829" y="131854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233" name="Google Shape;233;p16"/>
          <p:cNvSpPr txBox="1"/>
          <p:nvPr/>
        </p:nvSpPr>
        <p:spPr>
          <a:xfrm>
            <a:off x="1462595" y="102563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cm    mm</a:t>
            </a:r>
            <a:endParaRPr/>
          </a:p>
        </p:txBody>
      </p:sp>
      <p:sp>
        <p:nvSpPr>
          <p:cNvPr id="234" name="Google Shape;234;p16"/>
          <p:cNvSpPr txBox="1"/>
          <p:nvPr/>
        </p:nvSpPr>
        <p:spPr>
          <a:xfrm>
            <a:off x="1484117" y="168558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2.6       26</a:t>
            </a:r>
            <a:endParaRPr/>
          </a:p>
        </p:txBody>
      </p:sp>
      <p:sp>
        <p:nvSpPr>
          <p:cNvPr id="235" name="Google Shape;235;p16"/>
          <p:cNvSpPr txBox="1"/>
          <p:nvPr/>
        </p:nvSpPr>
        <p:spPr>
          <a:xfrm>
            <a:off x="3312827" y="129370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236" name="Google Shape;236;p16"/>
          <p:cNvSpPr txBox="1"/>
          <p:nvPr/>
        </p:nvSpPr>
        <p:spPr>
          <a:xfrm>
            <a:off x="3305593" y="100079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cm    mm</a:t>
            </a:r>
            <a:endParaRPr/>
          </a:p>
        </p:txBody>
      </p:sp>
      <p:sp>
        <p:nvSpPr>
          <p:cNvPr id="237" name="Google Shape;237;p16"/>
          <p:cNvSpPr txBox="1"/>
          <p:nvPr/>
        </p:nvSpPr>
        <p:spPr>
          <a:xfrm>
            <a:off x="3258979" y="166303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0.7     7</a:t>
            </a:r>
            <a:endParaRPr/>
          </a:p>
        </p:txBody>
      </p:sp>
      <p:sp>
        <p:nvSpPr>
          <p:cNvPr id="238" name="Google Shape;238;p16"/>
          <p:cNvSpPr txBox="1"/>
          <p:nvPr/>
        </p:nvSpPr>
        <p:spPr>
          <a:xfrm>
            <a:off x="5165730" y="133518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239" name="Google Shape;239;p16"/>
          <p:cNvSpPr txBox="1"/>
          <p:nvPr/>
        </p:nvSpPr>
        <p:spPr>
          <a:xfrm>
            <a:off x="5158496" y="104227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cm    mm</a:t>
            </a:r>
            <a:endParaRPr/>
          </a:p>
        </p:txBody>
      </p:sp>
      <p:sp>
        <p:nvSpPr>
          <p:cNvPr id="240" name="Google Shape;240;p16"/>
          <p:cNvSpPr txBox="1"/>
          <p:nvPr/>
        </p:nvSpPr>
        <p:spPr>
          <a:xfrm>
            <a:off x="5180018" y="170222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4.1       41</a:t>
            </a:r>
            <a:endParaRPr/>
          </a:p>
        </p:txBody>
      </p:sp>
      <p:graphicFrame>
        <p:nvGraphicFramePr>
          <p:cNvPr id="241" name="Google Shape;241;p16"/>
          <p:cNvGraphicFramePr/>
          <p:nvPr/>
        </p:nvGraphicFramePr>
        <p:xfrm>
          <a:off x="1555376" y="259099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42" name="Google Shape;242;p16"/>
          <p:cNvGraphicFramePr/>
          <p:nvPr/>
        </p:nvGraphicFramePr>
        <p:xfrm>
          <a:off x="3395028" y="259099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43" name="Google Shape;243;p16"/>
          <p:cNvGraphicFramePr/>
          <p:nvPr/>
        </p:nvGraphicFramePr>
        <p:xfrm>
          <a:off x="5234680" y="2590994"/>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244" name="Google Shape;244;p16"/>
          <p:cNvSpPr txBox="1"/>
          <p:nvPr/>
        </p:nvSpPr>
        <p:spPr>
          <a:xfrm>
            <a:off x="1469829" y="257439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245" name="Google Shape;245;p16"/>
          <p:cNvSpPr txBox="1"/>
          <p:nvPr/>
        </p:nvSpPr>
        <p:spPr>
          <a:xfrm>
            <a:off x="1462595" y="228148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246" name="Google Shape;246;p16"/>
          <p:cNvSpPr txBox="1"/>
          <p:nvPr/>
        </p:nvSpPr>
        <p:spPr>
          <a:xfrm>
            <a:off x="1484117" y="294143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2.88     288</a:t>
            </a:r>
            <a:endParaRPr/>
          </a:p>
        </p:txBody>
      </p:sp>
      <p:sp>
        <p:nvSpPr>
          <p:cNvPr id="247" name="Google Shape;247;p16"/>
          <p:cNvSpPr txBox="1"/>
          <p:nvPr/>
        </p:nvSpPr>
        <p:spPr>
          <a:xfrm>
            <a:off x="3312827" y="254955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248" name="Google Shape;248;p16"/>
          <p:cNvSpPr txBox="1"/>
          <p:nvPr/>
        </p:nvSpPr>
        <p:spPr>
          <a:xfrm>
            <a:off x="3305593" y="225664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249" name="Google Shape;249;p16"/>
          <p:cNvSpPr txBox="1"/>
          <p:nvPr/>
        </p:nvSpPr>
        <p:spPr>
          <a:xfrm>
            <a:off x="3265581" y="2934356"/>
            <a:ext cx="128011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0.751  75.1</a:t>
            </a:r>
            <a:endParaRPr/>
          </a:p>
        </p:txBody>
      </p:sp>
      <p:sp>
        <p:nvSpPr>
          <p:cNvPr id="250" name="Google Shape;250;p16"/>
          <p:cNvSpPr txBox="1"/>
          <p:nvPr/>
        </p:nvSpPr>
        <p:spPr>
          <a:xfrm>
            <a:off x="5165730" y="259103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251" name="Google Shape;251;p16"/>
          <p:cNvSpPr txBox="1"/>
          <p:nvPr/>
        </p:nvSpPr>
        <p:spPr>
          <a:xfrm>
            <a:off x="5158496" y="229812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m    cm</a:t>
            </a:r>
            <a:endParaRPr/>
          </a:p>
        </p:txBody>
      </p:sp>
      <p:sp>
        <p:nvSpPr>
          <p:cNvPr id="252" name="Google Shape;252;p16"/>
          <p:cNvSpPr txBox="1"/>
          <p:nvPr/>
        </p:nvSpPr>
        <p:spPr>
          <a:xfrm>
            <a:off x="5180018" y="295807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4.36    436</a:t>
            </a:r>
            <a:endParaRPr/>
          </a:p>
        </p:txBody>
      </p:sp>
      <p:graphicFrame>
        <p:nvGraphicFramePr>
          <p:cNvPr id="253" name="Google Shape;253;p16"/>
          <p:cNvGraphicFramePr/>
          <p:nvPr/>
        </p:nvGraphicFramePr>
        <p:xfrm>
          <a:off x="1586984" y="392891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54" name="Google Shape;254;p16"/>
          <p:cNvGraphicFramePr/>
          <p:nvPr/>
        </p:nvGraphicFramePr>
        <p:xfrm>
          <a:off x="3426636" y="392891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255" name="Google Shape;255;p16"/>
          <p:cNvGraphicFramePr/>
          <p:nvPr/>
        </p:nvGraphicFramePr>
        <p:xfrm>
          <a:off x="5266288" y="392891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256" name="Google Shape;256;p16"/>
          <p:cNvSpPr txBox="1"/>
          <p:nvPr/>
        </p:nvSpPr>
        <p:spPr>
          <a:xfrm>
            <a:off x="1501437" y="391231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257" name="Google Shape;257;p16"/>
          <p:cNvSpPr txBox="1"/>
          <p:nvPr/>
        </p:nvSpPr>
        <p:spPr>
          <a:xfrm>
            <a:off x="1494203" y="361940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258" name="Google Shape;258;p16"/>
          <p:cNvSpPr txBox="1"/>
          <p:nvPr/>
        </p:nvSpPr>
        <p:spPr>
          <a:xfrm>
            <a:off x="1462596" y="4279355"/>
            <a:ext cx="146634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3.788    3788</a:t>
            </a:r>
            <a:endParaRPr/>
          </a:p>
        </p:txBody>
      </p:sp>
      <p:sp>
        <p:nvSpPr>
          <p:cNvPr id="259" name="Google Shape;259;p16"/>
          <p:cNvSpPr txBox="1"/>
          <p:nvPr/>
        </p:nvSpPr>
        <p:spPr>
          <a:xfrm>
            <a:off x="3344435" y="388747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260" name="Google Shape;260;p16"/>
          <p:cNvSpPr txBox="1"/>
          <p:nvPr/>
        </p:nvSpPr>
        <p:spPr>
          <a:xfrm>
            <a:off x="3337201" y="359456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261" name="Google Shape;261;p16"/>
          <p:cNvSpPr txBox="1"/>
          <p:nvPr/>
        </p:nvSpPr>
        <p:spPr>
          <a:xfrm>
            <a:off x="3254325" y="4272277"/>
            <a:ext cx="128011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0.378    378</a:t>
            </a:r>
            <a:endParaRPr/>
          </a:p>
        </p:txBody>
      </p:sp>
      <p:sp>
        <p:nvSpPr>
          <p:cNvPr id="262" name="Google Shape;262;p16"/>
          <p:cNvSpPr txBox="1"/>
          <p:nvPr/>
        </p:nvSpPr>
        <p:spPr>
          <a:xfrm>
            <a:off x="5197338" y="392895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263" name="Google Shape;263;p16"/>
          <p:cNvSpPr txBox="1"/>
          <p:nvPr/>
        </p:nvSpPr>
        <p:spPr>
          <a:xfrm>
            <a:off x="5190104" y="363605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km    m</a:t>
            </a:r>
            <a:endParaRPr/>
          </a:p>
        </p:txBody>
      </p:sp>
      <p:sp>
        <p:nvSpPr>
          <p:cNvPr id="264" name="Google Shape;264;p16"/>
          <p:cNvSpPr txBox="1"/>
          <p:nvPr/>
        </p:nvSpPr>
        <p:spPr>
          <a:xfrm>
            <a:off x="5029874" y="4295997"/>
            <a:ext cx="142235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4.965    4965</a:t>
            </a:r>
            <a:endParaRPr/>
          </a:p>
        </p:txBody>
      </p:sp>
      <p:sp>
        <p:nvSpPr>
          <p:cNvPr id="265" name="Google Shape;265;p16"/>
          <p:cNvSpPr txBox="1"/>
          <p:nvPr/>
        </p:nvSpPr>
        <p:spPr>
          <a:xfrm>
            <a:off x="548125" y="568223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9.1</a:t>
            </a:r>
            <a:endParaRPr/>
          </a:p>
        </p:txBody>
      </p:sp>
      <p:sp>
        <p:nvSpPr>
          <p:cNvPr id="266" name="Google Shape;266;p16"/>
          <p:cNvSpPr txBox="1"/>
          <p:nvPr/>
        </p:nvSpPr>
        <p:spPr>
          <a:xfrm>
            <a:off x="2923362" y="558099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4.75</a:t>
            </a:r>
            <a:endParaRPr/>
          </a:p>
        </p:txBody>
      </p:sp>
      <p:sp>
        <p:nvSpPr>
          <p:cNvPr id="267" name="Google Shape;267;p16"/>
          <p:cNvSpPr txBox="1"/>
          <p:nvPr/>
        </p:nvSpPr>
        <p:spPr>
          <a:xfrm>
            <a:off x="5030504" y="565681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0.3</a:t>
            </a:r>
            <a:endParaRPr/>
          </a:p>
        </p:txBody>
      </p:sp>
      <p:sp>
        <p:nvSpPr>
          <p:cNvPr id="268" name="Google Shape;268;p16"/>
          <p:cNvSpPr txBox="1"/>
          <p:nvPr/>
        </p:nvSpPr>
        <p:spPr>
          <a:xfrm>
            <a:off x="548125" y="664475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3950</a:t>
            </a:r>
            <a:endParaRPr/>
          </a:p>
        </p:txBody>
      </p:sp>
      <p:sp>
        <p:nvSpPr>
          <p:cNvPr id="269" name="Google Shape;269;p16"/>
          <p:cNvSpPr txBox="1"/>
          <p:nvPr/>
        </p:nvSpPr>
        <p:spPr>
          <a:xfrm>
            <a:off x="2923362" y="663452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4113</a:t>
            </a:r>
            <a:endParaRPr/>
          </a:p>
        </p:txBody>
      </p:sp>
      <p:sp>
        <p:nvSpPr>
          <p:cNvPr id="270" name="Google Shape;270;p16"/>
          <p:cNvSpPr txBox="1"/>
          <p:nvPr/>
        </p:nvSpPr>
        <p:spPr>
          <a:xfrm>
            <a:off x="5029874" y="669073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350</a:t>
            </a:r>
            <a:endParaRPr/>
          </a:p>
        </p:txBody>
      </p:sp>
      <p:sp>
        <p:nvSpPr>
          <p:cNvPr id="271" name="Google Shape;271;p16"/>
          <p:cNvSpPr txBox="1"/>
          <p:nvPr/>
        </p:nvSpPr>
        <p:spPr>
          <a:xfrm>
            <a:off x="548125" y="776597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6.728</a:t>
            </a:r>
            <a:endParaRPr/>
          </a:p>
        </p:txBody>
      </p:sp>
      <p:sp>
        <p:nvSpPr>
          <p:cNvPr id="272" name="Google Shape;272;p16"/>
          <p:cNvSpPr txBox="1"/>
          <p:nvPr/>
        </p:nvSpPr>
        <p:spPr>
          <a:xfrm>
            <a:off x="2815050" y="781285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97.5424</a:t>
            </a:r>
            <a:endParaRPr/>
          </a:p>
        </p:txBody>
      </p:sp>
      <p:sp>
        <p:nvSpPr>
          <p:cNvPr id="273" name="Google Shape;273;p16"/>
          <p:cNvSpPr txBox="1"/>
          <p:nvPr/>
        </p:nvSpPr>
        <p:spPr>
          <a:xfrm>
            <a:off x="5081975" y="779926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0.984</a:t>
            </a:r>
            <a:endParaRPr/>
          </a:p>
        </p:txBody>
      </p:sp>
      <p:sp>
        <p:nvSpPr>
          <p:cNvPr id="274" name="Google Shape;274;p16"/>
          <p:cNvSpPr txBox="1"/>
          <p:nvPr/>
        </p:nvSpPr>
        <p:spPr>
          <a:xfrm>
            <a:off x="528085" y="895872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225000</a:t>
            </a:r>
            <a:endParaRPr/>
          </a:p>
        </p:txBody>
      </p:sp>
      <p:sp>
        <p:nvSpPr>
          <p:cNvPr id="275" name="Google Shape;275;p16"/>
          <p:cNvSpPr txBox="1"/>
          <p:nvPr/>
        </p:nvSpPr>
        <p:spPr>
          <a:xfrm>
            <a:off x="2795010" y="900561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225</a:t>
            </a:r>
            <a:endParaRPr/>
          </a:p>
        </p:txBody>
      </p:sp>
      <p:sp>
        <p:nvSpPr>
          <p:cNvPr id="276" name="Google Shape;276;p16"/>
          <p:cNvSpPr txBox="1"/>
          <p:nvPr/>
        </p:nvSpPr>
        <p:spPr>
          <a:xfrm>
            <a:off x="5061935" y="899201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22.5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7"/>
          <p:cNvSpPr/>
          <p:nvPr/>
        </p:nvSpPr>
        <p:spPr>
          <a:xfrm>
            <a:off x="74428" y="88940"/>
            <a:ext cx="1180214" cy="2832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Mixed Practice</a:t>
            </a:r>
            <a:endParaRPr sz="1200">
              <a:solidFill>
                <a:schemeClr val="lt1"/>
              </a:solidFill>
              <a:latin typeface="Calibri"/>
              <a:ea typeface="Calibri"/>
              <a:cs typeface="Calibri"/>
              <a:sym typeface="Calibri"/>
            </a:endParaRPr>
          </a:p>
        </p:txBody>
      </p:sp>
      <p:graphicFrame>
        <p:nvGraphicFramePr>
          <p:cNvPr id="282" name="Google Shape;282;p17"/>
          <p:cNvGraphicFramePr/>
          <p:nvPr/>
        </p:nvGraphicFramePr>
        <p:xfrm>
          <a:off x="382771" y="542260"/>
          <a:ext cx="3000000" cy="3000000"/>
        </p:xfrm>
        <a:graphic>
          <a:graphicData uri="http://schemas.openxmlformats.org/drawingml/2006/table">
            <a:tbl>
              <a:tblPr bandRow="1" firstRow="1">
                <a:noFill/>
                <a:tableStyleId>{FD91D494-ABCD-45E8-9792-2A32A0FD62E0}</a:tableStyleId>
              </a:tblPr>
              <a:tblGrid>
                <a:gridCol w="1555000"/>
                <a:gridCol w="518325"/>
                <a:gridCol w="1036675"/>
                <a:gridCol w="1036675"/>
                <a:gridCol w="518325"/>
                <a:gridCol w="1555000"/>
              </a:tblGrid>
              <a:tr h="274325">
                <a:tc gridSpan="6">
                  <a:txBody>
                    <a:bodyPr/>
                    <a:lstStyle/>
                    <a:p>
                      <a:pPr indent="0" lvl="0" marL="0" marR="0" rtl="0" algn="l">
                        <a:lnSpc>
                          <a:spcPct val="100000"/>
                        </a:lnSpc>
                        <a:spcBef>
                          <a:spcPts val="0"/>
                        </a:spcBef>
                        <a:spcAft>
                          <a:spcPts val="0"/>
                        </a:spcAft>
                        <a:buClr>
                          <a:schemeClr val="dk1"/>
                        </a:buClr>
                        <a:buSzPts val="1200"/>
                        <a:buFont typeface="Calibri"/>
                        <a:buNone/>
                      </a:pPr>
                      <a:r>
                        <a:rPr lang="en-GB" sz="1200"/>
                        <a:t>7. Complete the completion table below: </a:t>
                      </a:r>
                      <a:endParaRPr/>
                    </a:p>
                  </a:txBody>
                  <a:tcPr marT="45725" marB="45725" marR="91450" marL="91450"/>
                </a:tc>
                <a:tc hMerge="1"/>
                <a:tc hMerge="1"/>
                <a:tc hMerge="1"/>
                <a:tc hMerge="1"/>
                <a:tc hMerge="1"/>
              </a:tr>
              <a:tr h="274325">
                <a:tc>
                  <a:txBody>
                    <a:bodyPr/>
                    <a:lstStyle/>
                    <a:p>
                      <a:pPr indent="0" lvl="0" marL="0" marR="0" rtl="0" algn="l">
                        <a:spcBef>
                          <a:spcPts val="0"/>
                        </a:spcBef>
                        <a:spcAft>
                          <a:spcPts val="0"/>
                        </a:spcAft>
                        <a:buNone/>
                      </a:pPr>
                      <a:r>
                        <a:t/>
                      </a:r>
                      <a:endParaRPr sz="1350"/>
                    </a:p>
                  </a:txBody>
                  <a:tcPr marT="45725" marB="45725" marR="91450" marL="91450"/>
                </a:tc>
                <a:tc gridSpan="2">
                  <a:txBody>
                    <a:bodyPr/>
                    <a:lstStyle/>
                    <a:p>
                      <a:pPr indent="0" lvl="0" marL="0" marR="0" rtl="0" algn="l">
                        <a:spcBef>
                          <a:spcPts val="0"/>
                        </a:spcBef>
                        <a:spcAft>
                          <a:spcPts val="0"/>
                        </a:spcAft>
                        <a:buNone/>
                      </a:pPr>
                      <a:r>
                        <a:t/>
                      </a:r>
                      <a:endParaRPr sz="1350"/>
                    </a:p>
                  </a:txBody>
                  <a:tcPr marT="45725" marB="45725" marR="91450" marL="91450"/>
                </a:tc>
                <a:tc hMerge="1"/>
                <a:tc gridSpan="2">
                  <a:txBody>
                    <a:bodyPr/>
                    <a:lstStyle/>
                    <a:p>
                      <a:pPr indent="0" lvl="0" marL="0" marR="0" rtl="0" algn="l">
                        <a:spcBef>
                          <a:spcPts val="0"/>
                        </a:spcBef>
                        <a:spcAft>
                          <a:spcPts val="0"/>
                        </a:spcAft>
                        <a:buNone/>
                      </a:pPr>
                      <a:r>
                        <a:t/>
                      </a:r>
                      <a:endParaRPr sz="1350"/>
                    </a:p>
                  </a:txBody>
                  <a:tcPr marT="45725" marB="45725" marR="91450" marL="91450"/>
                </a:tc>
                <a:tc hMerge="1"/>
                <a:tc>
                  <a:txBody>
                    <a:bodyPr/>
                    <a:lstStyle/>
                    <a:p>
                      <a:pPr indent="0" lvl="0" marL="0" marR="0" rtl="0" algn="l">
                        <a:spcBef>
                          <a:spcPts val="0"/>
                        </a:spcBef>
                        <a:spcAft>
                          <a:spcPts val="0"/>
                        </a:spcAft>
                        <a:buNone/>
                      </a:pPr>
                      <a:r>
                        <a:t/>
                      </a:r>
                      <a:endParaRPr sz="1350"/>
                    </a:p>
                  </a:txBody>
                  <a:tcPr marT="45725" marB="45725" marR="91450" marL="91450"/>
                </a:tc>
              </a:tr>
              <a:tr h="422300">
                <a:tc>
                  <a:txBody>
                    <a:bodyPr/>
                    <a:lstStyle/>
                    <a:p>
                      <a:pPr indent="0" lvl="0" marL="0" marR="0" rtl="0" algn="ctr">
                        <a:spcBef>
                          <a:spcPts val="0"/>
                        </a:spcBef>
                        <a:spcAft>
                          <a:spcPts val="0"/>
                        </a:spcAft>
                        <a:buNone/>
                      </a:pPr>
                      <a:r>
                        <a:rPr lang="en-GB" sz="1200"/>
                        <a:t>100</a:t>
                      </a:r>
                      <a:endParaRPr/>
                    </a:p>
                  </a:txBody>
                  <a:tcPr marT="45725" marB="45725" marR="91450" marL="91450" anchor="ctr"/>
                </a:tc>
                <a:tc gridSpan="2">
                  <a:txBody>
                    <a:bodyPr/>
                    <a:lstStyle/>
                    <a:p>
                      <a:pPr indent="0" lvl="0" marL="0" marR="0" rtl="0" algn="ctr">
                        <a:spcBef>
                          <a:spcPts val="0"/>
                        </a:spcBef>
                        <a:spcAft>
                          <a:spcPts val="0"/>
                        </a:spcAft>
                        <a:buNone/>
                      </a:pPr>
                      <a:r>
                        <a:t/>
                      </a:r>
                      <a:endParaRPr sz="1200">
                        <a:solidFill>
                          <a:srgbClr val="FF0000"/>
                        </a:solidFill>
                      </a:endParaRPr>
                    </a:p>
                  </a:txBody>
                  <a:tcPr marT="45725" marB="45725" marR="91450" marL="91450" anchor="ctr"/>
                </a:tc>
                <a:tc hMerge="1"/>
                <a:tc gridSpan="2">
                  <a:txBody>
                    <a:bodyPr/>
                    <a:lstStyle/>
                    <a:p>
                      <a:pPr indent="0" lvl="0" marL="0" marR="0" rtl="0" algn="ctr">
                        <a:spcBef>
                          <a:spcPts val="0"/>
                        </a:spcBef>
                        <a:spcAft>
                          <a:spcPts val="0"/>
                        </a:spcAft>
                        <a:buNone/>
                      </a:pPr>
                      <a:r>
                        <a:t/>
                      </a:r>
                      <a:endParaRPr sz="1200"/>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422300">
                <a:tc>
                  <a:txBody>
                    <a:bodyPr/>
                    <a:lstStyle/>
                    <a:p>
                      <a:pPr indent="0" lvl="0" marL="0" marR="0" rtl="0" algn="ctr">
                        <a:spcBef>
                          <a:spcPts val="0"/>
                        </a:spcBef>
                        <a:spcAft>
                          <a:spcPts val="0"/>
                        </a:spcAft>
                        <a:buNone/>
                      </a:pPr>
                      <a:r>
                        <a:t/>
                      </a:r>
                      <a:endParaRPr sz="1200"/>
                    </a:p>
                  </a:txBody>
                  <a:tcPr marT="45725" marB="45725" marR="91450" marL="91450" anchor="ctr"/>
                </a:tc>
                <a:tc gridSpan="2">
                  <a:txBody>
                    <a:bodyPr/>
                    <a:lstStyle/>
                    <a:p>
                      <a:pPr indent="0" lvl="0" marL="0" marR="0" rtl="0" algn="ctr">
                        <a:spcBef>
                          <a:spcPts val="0"/>
                        </a:spcBef>
                        <a:spcAft>
                          <a:spcPts val="0"/>
                        </a:spcAft>
                        <a:buNone/>
                      </a:pPr>
                      <a:r>
                        <a:rPr lang="en-GB" sz="1200"/>
                        <a:t>200</a:t>
                      </a:r>
                      <a:endParaRPr/>
                    </a:p>
                  </a:txBody>
                  <a:tcPr marT="45725" marB="45725" marR="91450" marL="91450" anchor="ctr"/>
                </a:tc>
                <a:tc hMerge="1"/>
                <a:tc gridSpan="2">
                  <a:txBody>
                    <a:bodyPr/>
                    <a:lstStyle/>
                    <a:p>
                      <a:pPr indent="0" lvl="0" marL="0" marR="0" rtl="0" algn="ctr">
                        <a:spcBef>
                          <a:spcPts val="0"/>
                        </a:spcBef>
                        <a:spcAft>
                          <a:spcPts val="0"/>
                        </a:spcAft>
                        <a:buNone/>
                      </a:pPr>
                      <a:r>
                        <a:t/>
                      </a:r>
                      <a:endParaRPr sz="1200"/>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422300">
                <a:tc>
                  <a:txBody>
                    <a:bodyPr/>
                    <a:lstStyle/>
                    <a:p>
                      <a:pPr indent="0" lvl="0" marL="0" marR="0" rtl="0" algn="ctr">
                        <a:spcBef>
                          <a:spcPts val="0"/>
                        </a:spcBef>
                        <a:spcAft>
                          <a:spcPts val="0"/>
                        </a:spcAft>
                        <a:buNone/>
                      </a:pPr>
                      <a:r>
                        <a:t/>
                      </a:r>
                      <a:endParaRPr sz="1200"/>
                    </a:p>
                  </a:txBody>
                  <a:tcPr marT="45725" marB="45725" marR="91450" marL="91450" anchor="ctr"/>
                </a:tc>
                <a:tc gridSpan="2">
                  <a:txBody>
                    <a:bodyPr/>
                    <a:lstStyle/>
                    <a:p>
                      <a:pPr indent="0" lvl="0" marL="0" marR="0" rtl="0" algn="ctr">
                        <a:spcBef>
                          <a:spcPts val="0"/>
                        </a:spcBef>
                        <a:spcAft>
                          <a:spcPts val="0"/>
                        </a:spcAft>
                        <a:buNone/>
                      </a:pPr>
                      <a:r>
                        <a:t/>
                      </a:r>
                      <a:endParaRPr sz="1200"/>
                    </a:p>
                  </a:txBody>
                  <a:tcPr marT="45725" marB="45725" marR="91450" marL="91450" anchor="ctr"/>
                </a:tc>
                <a:tc hMerge="1"/>
                <a:tc gridSpan="2">
                  <a:txBody>
                    <a:bodyPr/>
                    <a:lstStyle/>
                    <a:p>
                      <a:pPr indent="0" lvl="0" marL="0" marR="0" rtl="0" algn="ctr">
                        <a:spcBef>
                          <a:spcPts val="0"/>
                        </a:spcBef>
                        <a:spcAft>
                          <a:spcPts val="0"/>
                        </a:spcAft>
                        <a:buNone/>
                      </a:pPr>
                      <a:r>
                        <a:rPr lang="en-GB" sz="1200"/>
                        <a:t>300</a:t>
                      </a:r>
                      <a:endParaRPr/>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422300">
                <a:tc>
                  <a:txBody>
                    <a:bodyPr/>
                    <a:lstStyle/>
                    <a:p>
                      <a:pPr indent="0" lvl="0" marL="0" marR="0" rtl="0" algn="ctr">
                        <a:spcBef>
                          <a:spcPts val="0"/>
                        </a:spcBef>
                        <a:spcAft>
                          <a:spcPts val="0"/>
                        </a:spcAft>
                        <a:buNone/>
                      </a:pPr>
                      <a:r>
                        <a:t/>
                      </a:r>
                      <a:endParaRPr sz="1200"/>
                    </a:p>
                  </a:txBody>
                  <a:tcPr marT="45725" marB="45725" marR="91450" marL="91450" anchor="ctr"/>
                </a:tc>
                <a:tc gridSpan="2">
                  <a:txBody>
                    <a:bodyPr/>
                    <a:lstStyle/>
                    <a:p>
                      <a:pPr indent="0" lvl="0" marL="0" marR="0" rtl="0" algn="ctr">
                        <a:spcBef>
                          <a:spcPts val="0"/>
                        </a:spcBef>
                        <a:spcAft>
                          <a:spcPts val="0"/>
                        </a:spcAft>
                        <a:buNone/>
                      </a:pPr>
                      <a:r>
                        <a:t/>
                      </a:r>
                      <a:endParaRPr sz="1200"/>
                    </a:p>
                  </a:txBody>
                  <a:tcPr marT="45725" marB="45725" marR="91450" marL="91450" anchor="ctr"/>
                </a:tc>
                <a:tc hMerge="1"/>
                <a:tc gridSpan="2">
                  <a:txBody>
                    <a:bodyPr/>
                    <a:lstStyle/>
                    <a:p>
                      <a:pPr indent="0" lvl="0" marL="0" marR="0" rtl="0" algn="ctr">
                        <a:spcBef>
                          <a:spcPts val="0"/>
                        </a:spcBef>
                        <a:spcAft>
                          <a:spcPts val="0"/>
                        </a:spcAft>
                        <a:buNone/>
                      </a:pPr>
                      <a:r>
                        <a:t/>
                      </a:r>
                      <a:endParaRPr sz="1200"/>
                    </a:p>
                  </a:txBody>
                  <a:tcPr marT="45725" marB="45725" marR="91450" marL="91450" anchor="ctr"/>
                </a:tc>
                <a:tc hMerge="1"/>
                <a:tc>
                  <a:txBody>
                    <a:bodyPr/>
                    <a:lstStyle/>
                    <a:p>
                      <a:pPr indent="0" lvl="0" marL="0" marR="0" rtl="0" algn="ctr">
                        <a:spcBef>
                          <a:spcPts val="0"/>
                        </a:spcBef>
                        <a:spcAft>
                          <a:spcPts val="0"/>
                        </a:spcAft>
                        <a:buNone/>
                      </a:pPr>
                      <a:r>
                        <a:rPr lang="en-GB" sz="1200"/>
                        <a:t>400</a:t>
                      </a:r>
                      <a:endParaRPr/>
                    </a:p>
                  </a:txBody>
                  <a:tcPr marT="45725" marB="45725" marR="91450" marL="91450" anchor="ctr"/>
                </a:tc>
              </a:tr>
              <a:tr h="422300">
                <a:tc>
                  <a:txBody>
                    <a:bodyPr/>
                    <a:lstStyle/>
                    <a:p>
                      <a:pPr indent="0" lvl="0" marL="0" marR="0" rtl="0" algn="ctr">
                        <a:spcBef>
                          <a:spcPts val="0"/>
                        </a:spcBef>
                        <a:spcAft>
                          <a:spcPts val="0"/>
                        </a:spcAft>
                        <a:buNone/>
                      </a:pPr>
                      <a:r>
                        <a:t/>
                      </a:r>
                      <a:endParaRPr sz="1200"/>
                    </a:p>
                  </a:txBody>
                  <a:tcPr marT="45725" marB="45725" marR="91450" marL="91450" anchor="ctr"/>
                </a:tc>
                <a:tc gridSpan="2">
                  <a:txBody>
                    <a:bodyPr/>
                    <a:lstStyle/>
                    <a:p>
                      <a:pPr indent="0" lvl="0" marL="0" marR="0" rtl="0" algn="ctr">
                        <a:spcBef>
                          <a:spcPts val="0"/>
                        </a:spcBef>
                        <a:spcAft>
                          <a:spcPts val="0"/>
                        </a:spcAft>
                        <a:buNone/>
                      </a:pPr>
                      <a:r>
                        <a:t/>
                      </a:r>
                      <a:endParaRPr sz="1200"/>
                    </a:p>
                  </a:txBody>
                  <a:tcPr marT="45725" marB="45725" marR="91450" marL="91450" anchor="ctr"/>
                </a:tc>
                <a:tc hMerge="1"/>
                <a:tc gridSpan="2">
                  <a:txBody>
                    <a:bodyPr/>
                    <a:lstStyle/>
                    <a:p>
                      <a:pPr indent="0" lvl="0" marL="0" marR="0" rtl="0" algn="ctr">
                        <a:spcBef>
                          <a:spcPts val="0"/>
                        </a:spcBef>
                        <a:spcAft>
                          <a:spcPts val="0"/>
                        </a:spcAft>
                        <a:buNone/>
                      </a:pPr>
                      <a:r>
                        <a:rPr lang="en-GB" sz="1200"/>
                        <a:t>450</a:t>
                      </a:r>
                      <a:endParaRPr/>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422300">
                <a:tc>
                  <a:txBody>
                    <a:bodyPr/>
                    <a:lstStyle/>
                    <a:p>
                      <a:pPr indent="0" lvl="0" marL="0" marR="0" rtl="0" algn="ctr">
                        <a:spcBef>
                          <a:spcPts val="0"/>
                        </a:spcBef>
                        <a:spcAft>
                          <a:spcPts val="0"/>
                        </a:spcAft>
                        <a:buNone/>
                      </a:pPr>
                      <a:r>
                        <a:t/>
                      </a:r>
                      <a:endParaRPr sz="1200"/>
                    </a:p>
                  </a:txBody>
                  <a:tcPr marT="45725" marB="45725" marR="91450" marL="91450" anchor="ctr"/>
                </a:tc>
                <a:tc gridSpan="2">
                  <a:txBody>
                    <a:bodyPr/>
                    <a:lstStyle/>
                    <a:p>
                      <a:pPr indent="0" lvl="0" marL="0" marR="0" rtl="0" algn="ctr">
                        <a:spcBef>
                          <a:spcPts val="0"/>
                        </a:spcBef>
                        <a:spcAft>
                          <a:spcPts val="0"/>
                        </a:spcAft>
                        <a:buNone/>
                      </a:pPr>
                      <a:r>
                        <a:rPr lang="en-GB" sz="1200"/>
                        <a:t>550</a:t>
                      </a:r>
                      <a:endParaRPr/>
                    </a:p>
                  </a:txBody>
                  <a:tcPr marT="45725" marB="45725" marR="91450" marL="91450" anchor="ctr"/>
                </a:tc>
                <a:tc hMerge="1"/>
                <a:tc gridSpan="2">
                  <a:txBody>
                    <a:bodyPr/>
                    <a:lstStyle/>
                    <a:p>
                      <a:pPr indent="0" lvl="0" marL="0" marR="0" rtl="0" algn="ctr">
                        <a:spcBef>
                          <a:spcPts val="0"/>
                        </a:spcBef>
                        <a:spcAft>
                          <a:spcPts val="0"/>
                        </a:spcAft>
                        <a:buNone/>
                      </a:pPr>
                      <a:r>
                        <a:t/>
                      </a:r>
                      <a:endParaRPr sz="1200"/>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422300">
                <a:tc>
                  <a:txBody>
                    <a:bodyPr/>
                    <a:lstStyle/>
                    <a:p>
                      <a:pPr indent="0" lvl="0" marL="0" marR="0" rtl="0" algn="ctr">
                        <a:spcBef>
                          <a:spcPts val="0"/>
                        </a:spcBef>
                        <a:spcAft>
                          <a:spcPts val="0"/>
                        </a:spcAft>
                        <a:buNone/>
                      </a:pPr>
                      <a:r>
                        <a:rPr lang="en-GB" sz="1200"/>
                        <a:t>575</a:t>
                      </a:r>
                      <a:endParaRPr/>
                    </a:p>
                  </a:txBody>
                  <a:tcPr marT="45725" marB="45725" marR="91450" marL="91450" anchor="ctr"/>
                </a:tc>
                <a:tc gridSpan="2">
                  <a:txBody>
                    <a:bodyPr/>
                    <a:lstStyle/>
                    <a:p>
                      <a:pPr indent="0" lvl="0" marL="0" marR="0" rtl="0" algn="ctr">
                        <a:spcBef>
                          <a:spcPts val="0"/>
                        </a:spcBef>
                        <a:spcAft>
                          <a:spcPts val="0"/>
                        </a:spcAft>
                        <a:buNone/>
                      </a:pPr>
                      <a:r>
                        <a:t/>
                      </a:r>
                      <a:endParaRPr sz="1200"/>
                    </a:p>
                  </a:txBody>
                  <a:tcPr marT="45725" marB="45725" marR="91450" marL="91450" anchor="ctr"/>
                </a:tc>
                <a:tc hMerge="1"/>
                <a:tc gridSpan="2">
                  <a:txBody>
                    <a:bodyPr/>
                    <a:lstStyle/>
                    <a:p>
                      <a:pPr indent="0" lvl="0" marL="0" marR="0" rtl="0" algn="ctr">
                        <a:spcBef>
                          <a:spcPts val="0"/>
                        </a:spcBef>
                        <a:spcAft>
                          <a:spcPts val="0"/>
                        </a:spcAft>
                        <a:buNone/>
                      </a:pPr>
                      <a:r>
                        <a:t/>
                      </a:r>
                      <a:endParaRPr sz="1200"/>
                    </a:p>
                  </a:txBody>
                  <a:tcPr marT="45725" marB="45725" marR="91450" marL="91450" anchor="ctr"/>
                </a:tc>
                <a:tc hMerge="1"/>
                <a:tc>
                  <a:txBody>
                    <a:bodyPr/>
                    <a:lstStyle/>
                    <a:p>
                      <a:pPr indent="0" lvl="0" marL="0" marR="0" rtl="0" algn="ctr">
                        <a:spcBef>
                          <a:spcPts val="0"/>
                        </a:spcBef>
                        <a:spcAft>
                          <a:spcPts val="0"/>
                        </a:spcAft>
                        <a:buNone/>
                      </a:pPr>
                      <a:r>
                        <a:t/>
                      </a:r>
                      <a:endParaRPr sz="1200"/>
                    </a:p>
                  </a:txBody>
                  <a:tcPr marT="45725" marB="45725" marR="91450" marL="91450" anchor="ctr"/>
                </a:tc>
              </a:tr>
              <a:tr h="274325">
                <a:tc gridSpan="6">
                  <a:txBody>
                    <a:bodyPr/>
                    <a:lstStyle/>
                    <a:p>
                      <a:pPr indent="0" lvl="0" marL="0" marR="0" rtl="0" algn="l">
                        <a:spcBef>
                          <a:spcPts val="0"/>
                        </a:spcBef>
                        <a:spcAft>
                          <a:spcPts val="0"/>
                        </a:spcAft>
                        <a:buNone/>
                      </a:pPr>
                      <a:r>
                        <a:rPr lang="en-GB" sz="1200"/>
                        <a:t>8. Convert the following units. Include the units in your answer.</a:t>
                      </a:r>
                      <a:endParaRPr/>
                    </a:p>
                  </a:txBody>
                  <a:tcPr marT="45725" marB="45725" marR="91450" marL="91450" anchor="ctr"/>
                </a:tc>
                <a:tc hMerge="1"/>
                <a:tc hMerge="1"/>
                <a:tc hMerge="1"/>
                <a:tc hMerge="1"/>
                <a:tc hMerge="1"/>
              </a:tr>
              <a:tr h="274325">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r>
              <a:tr h="914400">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r>
              <a:tr h="274325">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r>
              <a:tr h="927100">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r>
              <a:tr h="303450">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r>
              <a:tr h="1050900">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r>
              <a:tr h="290100">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c gridSpan="2">
                  <a:txBody>
                    <a:bodyPr/>
                    <a:lstStyle/>
                    <a:p>
                      <a:pPr indent="0" lvl="0" marL="0" marR="0" rtl="0" algn="l">
                        <a:spcBef>
                          <a:spcPts val="0"/>
                        </a:spcBef>
                        <a:spcAft>
                          <a:spcPts val="0"/>
                        </a:spcAft>
                        <a:buNone/>
                      </a:pPr>
                      <a:r>
                        <a:t/>
                      </a:r>
                      <a:endParaRPr sz="1350"/>
                    </a:p>
                  </a:txBody>
                  <a:tcPr marT="45725" marB="45725" marR="91450" marL="91450" anchor="ctr"/>
                </a:tc>
                <a:tc hMerge="1"/>
              </a:tr>
              <a:tr h="1097375">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c gridSpan="2">
                  <a:txBody>
                    <a:bodyPr/>
                    <a:lstStyle/>
                    <a:p>
                      <a:pPr indent="0" lvl="0" marL="0" marR="0" rtl="0" algn="l">
                        <a:spcBef>
                          <a:spcPts val="0"/>
                        </a:spcBef>
                        <a:spcAft>
                          <a:spcPts val="0"/>
                        </a:spcAft>
                        <a:buNone/>
                      </a:pPr>
                      <a:r>
                        <a:t/>
                      </a:r>
                      <a:endParaRPr sz="1200"/>
                    </a:p>
                  </a:txBody>
                  <a:tcPr marT="45725" marB="45725" marR="91450" marL="91450" anchor="ctr"/>
                </a:tc>
                <a:tc hMerge="1"/>
              </a:tr>
            </a:tbl>
          </a:graphicData>
        </a:graphic>
      </p:graphicFrame>
      <p:sp>
        <p:nvSpPr>
          <p:cNvPr id="283" name="Google Shape;283;p17"/>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84" name="Google Shape;284;p17"/>
          <p:cNvSpPr txBox="1"/>
          <p:nvPr/>
        </p:nvSpPr>
        <p:spPr>
          <a:xfrm>
            <a:off x="2163097" y="1140543"/>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100,000</a:t>
            </a:r>
            <a:endParaRPr/>
          </a:p>
        </p:txBody>
      </p:sp>
      <p:sp>
        <p:nvSpPr>
          <p:cNvPr id="285" name="Google Shape;285;p17"/>
          <p:cNvSpPr txBox="1"/>
          <p:nvPr/>
        </p:nvSpPr>
        <p:spPr>
          <a:xfrm>
            <a:off x="3701846" y="1140543"/>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10,000,000</a:t>
            </a:r>
            <a:endParaRPr/>
          </a:p>
        </p:txBody>
      </p:sp>
      <p:sp>
        <p:nvSpPr>
          <p:cNvPr id="286" name="Google Shape;286;p17"/>
          <p:cNvSpPr txBox="1"/>
          <p:nvPr/>
        </p:nvSpPr>
        <p:spPr>
          <a:xfrm>
            <a:off x="5314950" y="1140542"/>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100,000,000</a:t>
            </a:r>
            <a:endParaRPr/>
          </a:p>
        </p:txBody>
      </p:sp>
      <p:sp>
        <p:nvSpPr>
          <p:cNvPr id="287" name="Google Shape;287;p17"/>
          <p:cNvSpPr txBox="1"/>
          <p:nvPr/>
        </p:nvSpPr>
        <p:spPr>
          <a:xfrm>
            <a:off x="585020" y="156824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0.2</a:t>
            </a:r>
            <a:endParaRPr/>
          </a:p>
        </p:txBody>
      </p:sp>
      <p:sp>
        <p:nvSpPr>
          <p:cNvPr id="288" name="Google Shape;288;p17"/>
          <p:cNvSpPr txBox="1"/>
          <p:nvPr/>
        </p:nvSpPr>
        <p:spPr>
          <a:xfrm>
            <a:off x="3701846" y="1536597"/>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20,000</a:t>
            </a:r>
            <a:endParaRPr/>
          </a:p>
        </p:txBody>
      </p:sp>
      <p:sp>
        <p:nvSpPr>
          <p:cNvPr id="289" name="Google Shape;289;p17"/>
          <p:cNvSpPr txBox="1"/>
          <p:nvPr/>
        </p:nvSpPr>
        <p:spPr>
          <a:xfrm>
            <a:off x="5314950" y="156824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200,000</a:t>
            </a:r>
            <a:endParaRPr/>
          </a:p>
        </p:txBody>
      </p:sp>
      <p:sp>
        <p:nvSpPr>
          <p:cNvPr id="290" name="Google Shape;290;p17"/>
          <p:cNvSpPr txBox="1"/>
          <p:nvPr/>
        </p:nvSpPr>
        <p:spPr>
          <a:xfrm>
            <a:off x="5314950" y="1995950"/>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3000</a:t>
            </a:r>
            <a:endParaRPr/>
          </a:p>
        </p:txBody>
      </p:sp>
      <p:sp>
        <p:nvSpPr>
          <p:cNvPr id="291" name="Google Shape;291;p17"/>
          <p:cNvSpPr txBox="1"/>
          <p:nvPr/>
        </p:nvSpPr>
        <p:spPr>
          <a:xfrm>
            <a:off x="2163097" y="199103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3</a:t>
            </a:r>
            <a:endParaRPr/>
          </a:p>
        </p:txBody>
      </p:sp>
      <p:sp>
        <p:nvSpPr>
          <p:cNvPr id="292" name="Google Shape;292;p17"/>
          <p:cNvSpPr txBox="1"/>
          <p:nvPr/>
        </p:nvSpPr>
        <p:spPr>
          <a:xfrm>
            <a:off x="585020" y="1976079"/>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0.003</a:t>
            </a:r>
            <a:endParaRPr/>
          </a:p>
        </p:txBody>
      </p:sp>
      <p:sp>
        <p:nvSpPr>
          <p:cNvPr id="293" name="Google Shape;293;p17"/>
          <p:cNvSpPr txBox="1"/>
          <p:nvPr/>
        </p:nvSpPr>
        <p:spPr>
          <a:xfrm>
            <a:off x="3701846" y="2413615"/>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40</a:t>
            </a:r>
            <a:endParaRPr/>
          </a:p>
        </p:txBody>
      </p:sp>
      <p:sp>
        <p:nvSpPr>
          <p:cNvPr id="294" name="Google Shape;294;p17"/>
          <p:cNvSpPr txBox="1"/>
          <p:nvPr/>
        </p:nvSpPr>
        <p:spPr>
          <a:xfrm>
            <a:off x="2163097" y="2413615"/>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0.4</a:t>
            </a:r>
            <a:endParaRPr/>
          </a:p>
        </p:txBody>
      </p:sp>
      <p:sp>
        <p:nvSpPr>
          <p:cNvPr id="295" name="Google Shape;295;p17"/>
          <p:cNvSpPr txBox="1"/>
          <p:nvPr/>
        </p:nvSpPr>
        <p:spPr>
          <a:xfrm>
            <a:off x="585020" y="2413615"/>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0.0004</a:t>
            </a:r>
            <a:endParaRPr/>
          </a:p>
        </p:txBody>
      </p:sp>
      <p:sp>
        <p:nvSpPr>
          <p:cNvPr id="296" name="Google Shape;296;p17"/>
          <p:cNvSpPr txBox="1"/>
          <p:nvPr/>
        </p:nvSpPr>
        <p:spPr>
          <a:xfrm>
            <a:off x="585020" y="2851151"/>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0.0045</a:t>
            </a:r>
            <a:endParaRPr/>
          </a:p>
        </p:txBody>
      </p:sp>
      <p:sp>
        <p:nvSpPr>
          <p:cNvPr id="297" name="Google Shape;297;p17"/>
          <p:cNvSpPr txBox="1"/>
          <p:nvPr/>
        </p:nvSpPr>
        <p:spPr>
          <a:xfrm>
            <a:off x="2163097" y="2836194"/>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4.5</a:t>
            </a:r>
            <a:endParaRPr/>
          </a:p>
        </p:txBody>
      </p:sp>
      <p:sp>
        <p:nvSpPr>
          <p:cNvPr id="298" name="Google Shape;298;p17"/>
          <p:cNvSpPr txBox="1"/>
          <p:nvPr/>
        </p:nvSpPr>
        <p:spPr>
          <a:xfrm>
            <a:off x="5314950" y="2836193"/>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4500</a:t>
            </a:r>
            <a:endParaRPr/>
          </a:p>
        </p:txBody>
      </p:sp>
      <p:sp>
        <p:nvSpPr>
          <p:cNvPr id="299" name="Google Shape;299;p17"/>
          <p:cNvSpPr txBox="1"/>
          <p:nvPr/>
        </p:nvSpPr>
        <p:spPr>
          <a:xfrm>
            <a:off x="3701846" y="3267795"/>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55,000</a:t>
            </a:r>
            <a:endParaRPr/>
          </a:p>
        </p:txBody>
      </p:sp>
      <p:sp>
        <p:nvSpPr>
          <p:cNvPr id="300" name="Google Shape;300;p17"/>
          <p:cNvSpPr txBox="1"/>
          <p:nvPr/>
        </p:nvSpPr>
        <p:spPr>
          <a:xfrm>
            <a:off x="5314950" y="325539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550,000</a:t>
            </a:r>
            <a:endParaRPr/>
          </a:p>
        </p:txBody>
      </p:sp>
      <p:sp>
        <p:nvSpPr>
          <p:cNvPr id="301" name="Google Shape;301;p17"/>
          <p:cNvSpPr txBox="1"/>
          <p:nvPr/>
        </p:nvSpPr>
        <p:spPr>
          <a:xfrm>
            <a:off x="585020" y="3255695"/>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0.55</a:t>
            </a:r>
            <a:endParaRPr/>
          </a:p>
        </p:txBody>
      </p:sp>
      <p:sp>
        <p:nvSpPr>
          <p:cNvPr id="302" name="Google Shape;302;p17"/>
          <p:cNvSpPr txBox="1"/>
          <p:nvPr/>
        </p:nvSpPr>
        <p:spPr>
          <a:xfrm>
            <a:off x="2163097" y="3683398"/>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575,000</a:t>
            </a:r>
            <a:endParaRPr/>
          </a:p>
        </p:txBody>
      </p:sp>
      <p:sp>
        <p:nvSpPr>
          <p:cNvPr id="303" name="Google Shape;303;p17"/>
          <p:cNvSpPr txBox="1"/>
          <p:nvPr/>
        </p:nvSpPr>
        <p:spPr>
          <a:xfrm>
            <a:off x="3701846" y="3683398"/>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57,500,000</a:t>
            </a:r>
            <a:endParaRPr/>
          </a:p>
        </p:txBody>
      </p:sp>
      <p:sp>
        <p:nvSpPr>
          <p:cNvPr id="304" name="Google Shape;304;p17"/>
          <p:cNvSpPr txBox="1"/>
          <p:nvPr/>
        </p:nvSpPr>
        <p:spPr>
          <a:xfrm>
            <a:off x="5284841" y="3674599"/>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575,000,000</a:t>
            </a:r>
            <a:endParaRPr/>
          </a:p>
        </p:txBody>
      </p:sp>
      <p:sp>
        <p:nvSpPr>
          <p:cNvPr id="305" name="Google Shape;305;p17"/>
          <p:cNvSpPr txBox="1"/>
          <p:nvPr/>
        </p:nvSpPr>
        <p:spPr>
          <a:xfrm>
            <a:off x="786583" y="4843857"/>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8000 mm</a:t>
            </a:r>
            <a:endParaRPr/>
          </a:p>
        </p:txBody>
      </p:sp>
      <p:sp>
        <p:nvSpPr>
          <p:cNvPr id="306" name="Google Shape;306;p17"/>
          <p:cNvSpPr txBox="1"/>
          <p:nvPr/>
        </p:nvSpPr>
        <p:spPr>
          <a:xfrm>
            <a:off x="2863645" y="484385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800,000 cm</a:t>
            </a:r>
            <a:endParaRPr/>
          </a:p>
        </p:txBody>
      </p:sp>
      <p:sp>
        <p:nvSpPr>
          <p:cNvPr id="307" name="Google Shape;307;p17"/>
          <p:cNvSpPr txBox="1"/>
          <p:nvPr/>
        </p:nvSpPr>
        <p:spPr>
          <a:xfrm>
            <a:off x="4832556" y="4842018"/>
            <a:ext cx="140109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8,000,000 mm</a:t>
            </a:r>
            <a:endParaRPr/>
          </a:p>
        </p:txBody>
      </p:sp>
      <p:sp>
        <p:nvSpPr>
          <p:cNvPr id="308" name="Google Shape;308;p17"/>
          <p:cNvSpPr txBox="1"/>
          <p:nvPr/>
        </p:nvSpPr>
        <p:spPr>
          <a:xfrm>
            <a:off x="786583" y="6046686"/>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4600 mm</a:t>
            </a:r>
            <a:endParaRPr/>
          </a:p>
        </p:txBody>
      </p:sp>
      <p:sp>
        <p:nvSpPr>
          <p:cNvPr id="309" name="Google Shape;309;p17"/>
          <p:cNvSpPr txBox="1"/>
          <p:nvPr/>
        </p:nvSpPr>
        <p:spPr>
          <a:xfrm>
            <a:off x="2824317" y="6069472"/>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460,000 cm</a:t>
            </a:r>
            <a:endParaRPr/>
          </a:p>
        </p:txBody>
      </p:sp>
      <p:sp>
        <p:nvSpPr>
          <p:cNvPr id="310" name="Google Shape;310;p17"/>
          <p:cNvSpPr txBox="1"/>
          <p:nvPr/>
        </p:nvSpPr>
        <p:spPr>
          <a:xfrm>
            <a:off x="4859824" y="6122420"/>
            <a:ext cx="140109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4,600,000 mm</a:t>
            </a:r>
            <a:endParaRPr/>
          </a:p>
        </p:txBody>
      </p:sp>
      <p:sp>
        <p:nvSpPr>
          <p:cNvPr id="311" name="Google Shape;311;p17"/>
          <p:cNvSpPr txBox="1"/>
          <p:nvPr/>
        </p:nvSpPr>
        <p:spPr>
          <a:xfrm>
            <a:off x="838204" y="7357423"/>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70 m</a:t>
            </a:r>
            <a:endParaRPr/>
          </a:p>
        </p:txBody>
      </p:sp>
      <p:sp>
        <p:nvSpPr>
          <p:cNvPr id="312" name="Google Shape;312;p17"/>
          <p:cNvSpPr txBox="1"/>
          <p:nvPr/>
        </p:nvSpPr>
        <p:spPr>
          <a:xfrm>
            <a:off x="2915266" y="7357422"/>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0.7 cm</a:t>
            </a:r>
            <a:endParaRPr/>
          </a:p>
        </p:txBody>
      </p:sp>
      <p:sp>
        <p:nvSpPr>
          <p:cNvPr id="313" name="Google Shape;313;p17"/>
          <p:cNvSpPr txBox="1"/>
          <p:nvPr/>
        </p:nvSpPr>
        <p:spPr>
          <a:xfrm>
            <a:off x="4884177" y="7355584"/>
            <a:ext cx="140109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0.07 mm</a:t>
            </a:r>
            <a:endParaRPr/>
          </a:p>
        </p:txBody>
      </p:sp>
      <p:sp>
        <p:nvSpPr>
          <p:cNvPr id="314" name="Google Shape;314;p17"/>
          <p:cNvSpPr txBox="1"/>
          <p:nvPr/>
        </p:nvSpPr>
        <p:spPr>
          <a:xfrm>
            <a:off x="838204" y="8560252"/>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2,560 m</a:t>
            </a:r>
            <a:endParaRPr/>
          </a:p>
        </p:txBody>
      </p:sp>
      <p:sp>
        <p:nvSpPr>
          <p:cNvPr id="315" name="Google Shape;315;p17"/>
          <p:cNvSpPr txBox="1"/>
          <p:nvPr/>
        </p:nvSpPr>
        <p:spPr>
          <a:xfrm>
            <a:off x="2875938" y="8583038"/>
            <a:ext cx="113071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25.6 cm</a:t>
            </a:r>
            <a:endParaRPr/>
          </a:p>
        </p:txBody>
      </p:sp>
      <p:sp>
        <p:nvSpPr>
          <p:cNvPr id="316" name="Google Shape;316;p17"/>
          <p:cNvSpPr txBox="1"/>
          <p:nvPr/>
        </p:nvSpPr>
        <p:spPr>
          <a:xfrm>
            <a:off x="4911445" y="8635986"/>
            <a:ext cx="140109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rgbClr val="FF0000"/>
                </a:solidFill>
                <a:latin typeface="Calibri"/>
                <a:ea typeface="Calibri"/>
                <a:cs typeface="Calibri"/>
                <a:sym typeface="Calibri"/>
              </a:rPr>
              <a:t>2.56 km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22" name="Google Shape;322;p18"/>
          <p:cNvSpPr txBox="1"/>
          <p:nvPr/>
        </p:nvSpPr>
        <p:spPr>
          <a:xfrm>
            <a:off x="249149" y="111877"/>
            <a:ext cx="344905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Calculate the perimeters of the following shapes:</a:t>
            </a:r>
            <a:endParaRPr/>
          </a:p>
        </p:txBody>
      </p:sp>
      <p:graphicFrame>
        <p:nvGraphicFramePr>
          <p:cNvPr id="323" name="Google Shape;323;p18"/>
          <p:cNvGraphicFramePr/>
          <p:nvPr/>
        </p:nvGraphicFramePr>
        <p:xfrm>
          <a:off x="308809" y="396733"/>
          <a:ext cx="3000000" cy="3000000"/>
        </p:xfrm>
        <a:graphic>
          <a:graphicData uri="http://schemas.openxmlformats.org/drawingml/2006/table">
            <a:tbl>
              <a:tblPr bandRow="1" firstRow="1">
                <a:noFill/>
                <a:tableStyleId>{FD91D494-ABCD-45E8-9792-2A32A0FD62E0}</a:tableStyleId>
              </a:tblPr>
              <a:tblGrid>
                <a:gridCol w="3300675"/>
                <a:gridCol w="2903625"/>
              </a:tblGrid>
              <a:tr h="350775">
                <a:tc>
                  <a:txBody>
                    <a:bodyPr/>
                    <a:lstStyle/>
                    <a:p>
                      <a:pPr indent="0" lvl="0" marL="0" marR="0" rtl="0" algn="l">
                        <a:spcBef>
                          <a:spcPts val="0"/>
                        </a:spcBef>
                        <a:spcAft>
                          <a:spcPts val="0"/>
                        </a:spcAft>
                        <a:buNone/>
                      </a:pPr>
                      <a:r>
                        <a:rPr b="0" lang="en-GB" sz="1200">
                          <a:solidFill>
                            <a:schemeClr val="dk1"/>
                          </a:solidFill>
                        </a:rPr>
                        <a:t>a)</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Give your answer in mm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rPr b="0" lang="en-GB" sz="1200">
                          <a:solidFill>
                            <a:schemeClr val="dk1"/>
                          </a:solidFill>
                        </a:rPr>
                        <a:t>b)</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Give your answer in cm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rPr b="0" lang="en-GB" sz="1200">
                          <a:solidFill>
                            <a:schemeClr val="dk1"/>
                          </a:solidFill>
                        </a:rPr>
                        <a:t>c)</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Give your answer in cm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rPr b="0" lang="en-GB" sz="1200">
                          <a:solidFill>
                            <a:schemeClr val="dk1"/>
                          </a:solidFill>
                        </a:rPr>
                        <a:t>d)</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Give your answer in mm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rPr b="0" lang="en-GB" sz="1200">
                          <a:solidFill>
                            <a:schemeClr val="dk1"/>
                          </a:solidFill>
                        </a:rPr>
                        <a:t>e)</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Give your answer in mm</a:t>
                      </a:r>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Give your answer in mm</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24" name="Google Shape;324;p18"/>
          <p:cNvSpPr/>
          <p:nvPr/>
        </p:nvSpPr>
        <p:spPr>
          <a:xfrm>
            <a:off x="1058778" y="657690"/>
            <a:ext cx="1748590" cy="67380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18"/>
          <p:cNvSpPr/>
          <p:nvPr/>
        </p:nvSpPr>
        <p:spPr>
          <a:xfrm rot="-5400000">
            <a:off x="1197442" y="2077502"/>
            <a:ext cx="1383699" cy="95452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18"/>
          <p:cNvSpPr/>
          <p:nvPr/>
        </p:nvSpPr>
        <p:spPr>
          <a:xfrm rot="-5400000">
            <a:off x="1375603" y="3641558"/>
            <a:ext cx="954522" cy="1155031"/>
          </a:xfrm>
          <a:prstGeom prst="triangle">
            <a:avLst>
              <a:gd fmla="val 50000"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18"/>
          <p:cNvSpPr/>
          <p:nvPr/>
        </p:nvSpPr>
        <p:spPr>
          <a:xfrm rot="10800000">
            <a:off x="1151355" y="5022369"/>
            <a:ext cx="1475874" cy="1155031"/>
          </a:xfrm>
          <a:prstGeom prst="rtTriangl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18"/>
          <p:cNvSpPr/>
          <p:nvPr/>
        </p:nvSpPr>
        <p:spPr>
          <a:xfrm>
            <a:off x="1163387" y="6535519"/>
            <a:ext cx="1451810" cy="1287371"/>
          </a:xfrm>
          <a:prstGeom prst="hexagon">
            <a:avLst>
              <a:gd fmla="val 25000" name="adj"/>
              <a:gd fmla="val 115470" name="vf"/>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18"/>
          <p:cNvSpPr/>
          <p:nvPr/>
        </p:nvSpPr>
        <p:spPr>
          <a:xfrm rot="-2143004">
            <a:off x="1114926" y="8094429"/>
            <a:ext cx="1475874" cy="1343835"/>
          </a:xfrm>
          <a:prstGeom prst="pentagon">
            <a:avLst>
              <a:gd fmla="val 105146" name="hf"/>
              <a:gd fmla="val 110557" name="vf"/>
            </a:avLst>
          </a:prstGeom>
          <a:solidFill>
            <a:schemeClr val="l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0" name="Google Shape;330;p18"/>
          <p:cNvCxnSpPr/>
          <p:nvPr/>
        </p:nvCxnSpPr>
        <p:spPr>
          <a:xfrm>
            <a:off x="1900989" y="593522"/>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1" name="Google Shape;331;p18"/>
          <p:cNvCxnSpPr/>
          <p:nvPr/>
        </p:nvCxnSpPr>
        <p:spPr>
          <a:xfrm>
            <a:off x="2005263" y="601544"/>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2" name="Google Shape;332;p18"/>
          <p:cNvCxnSpPr/>
          <p:nvPr/>
        </p:nvCxnSpPr>
        <p:spPr>
          <a:xfrm>
            <a:off x="1909011" y="1243224"/>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3" name="Google Shape;333;p18"/>
          <p:cNvCxnSpPr/>
          <p:nvPr/>
        </p:nvCxnSpPr>
        <p:spPr>
          <a:xfrm>
            <a:off x="2013285" y="1235204"/>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4" name="Google Shape;334;p18"/>
          <p:cNvCxnSpPr/>
          <p:nvPr/>
        </p:nvCxnSpPr>
        <p:spPr>
          <a:xfrm>
            <a:off x="2823407" y="938428"/>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5" name="Google Shape;335;p18"/>
          <p:cNvCxnSpPr/>
          <p:nvPr/>
        </p:nvCxnSpPr>
        <p:spPr>
          <a:xfrm>
            <a:off x="1050755" y="962492"/>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6" name="Google Shape;336;p18"/>
          <p:cNvCxnSpPr/>
          <p:nvPr/>
        </p:nvCxnSpPr>
        <p:spPr>
          <a:xfrm>
            <a:off x="2370220" y="2431328"/>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7" name="Google Shape;337;p18"/>
          <p:cNvCxnSpPr/>
          <p:nvPr/>
        </p:nvCxnSpPr>
        <p:spPr>
          <a:xfrm>
            <a:off x="2378240" y="2535602"/>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8" name="Google Shape;338;p18"/>
          <p:cNvCxnSpPr/>
          <p:nvPr/>
        </p:nvCxnSpPr>
        <p:spPr>
          <a:xfrm>
            <a:off x="1415720" y="2439350"/>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39" name="Google Shape;339;p18"/>
          <p:cNvCxnSpPr/>
          <p:nvPr/>
        </p:nvCxnSpPr>
        <p:spPr>
          <a:xfrm>
            <a:off x="1407698" y="2543624"/>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40" name="Google Shape;340;p18"/>
          <p:cNvCxnSpPr/>
          <p:nvPr/>
        </p:nvCxnSpPr>
        <p:spPr>
          <a:xfrm rot="10800000">
            <a:off x="1896978" y="3177284"/>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41" name="Google Shape;341;p18"/>
          <p:cNvCxnSpPr/>
          <p:nvPr/>
        </p:nvCxnSpPr>
        <p:spPr>
          <a:xfrm rot="10800000">
            <a:off x="1888956" y="1789640"/>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42" name="Google Shape;342;p18"/>
          <p:cNvCxnSpPr/>
          <p:nvPr/>
        </p:nvCxnSpPr>
        <p:spPr>
          <a:xfrm rot="10800000">
            <a:off x="1876927" y="3805980"/>
            <a:ext cx="193496" cy="168589"/>
          </a:xfrm>
          <a:prstGeom prst="straightConnector1">
            <a:avLst/>
          </a:prstGeom>
          <a:noFill/>
          <a:ln cap="flat" cmpd="sng" w="9525">
            <a:solidFill>
              <a:schemeClr val="dk1"/>
            </a:solidFill>
            <a:prstDash val="solid"/>
            <a:miter lim="800000"/>
            <a:headEnd len="sm" w="sm" type="none"/>
            <a:tailEnd len="sm" w="sm" type="none"/>
          </a:ln>
        </p:spPr>
      </p:cxnSp>
      <p:cxnSp>
        <p:nvCxnSpPr>
          <p:cNvPr id="343" name="Google Shape;343;p18"/>
          <p:cNvCxnSpPr/>
          <p:nvPr/>
        </p:nvCxnSpPr>
        <p:spPr>
          <a:xfrm flipH="1">
            <a:off x="1861381" y="4428104"/>
            <a:ext cx="209042" cy="164134"/>
          </a:xfrm>
          <a:prstGeom prst="straightConnector1">
            <a:avLst/>
          </a:prstGeom>
          <a:noFill/>
          <a:ln cap="flat" cmpd="sng" w="9525">
            <a:solidFill>
              <a:schemeClr val="dk1"/>
            </a:solidFill>
            <a:prstDash val="solid"/>
            <a:miter lim="800000"/>
            <a:headEnd len="sm" w="sm" type="none"/>
            <a:tailEnd len="sm" w="sm" type="none"/>
          </a:ln>
        </p:spPr>
      </p:cxnSp>
      <p:cxnSp>
        <p:nvCxnSpPr>
          <p:cNvPr id="344" name="Google Shape;344;p18"/>
          <p:cNvCxnSpPr/>
          <p:nvPr/>
        </p:nvCxnSpPr>
        <p:spPr>
          <a:xfrm rot="10800000">
            <a:off x="1913020" y="6465911"/>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45" name="Google Shape;345;p18"/>
          <p:cNvCxnSpPr/>
          <p:nvPr/>
        </p:nvCxnSpPr>
        <p:spPr>
          <a:xfrm rot="10800000">
            <a:off x="1905000" y="7709173"/>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46" name="Google Shape;346;p18"/>
          <p:cNvCxnSpPr/>
          <p:nvPr/>
        </p:nvCxnSpPr>
        <p:spPr>
          <a:xfrm flipH="1" rot="10800000">
            <a:off x="2362179" y="6759002"/>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47" name="Google Shape;347;p18"/>
          <p:cNvCxnSpPr/>
          <p:nvPr/>
        </p:nvCxnSpPr>
        <p:spPr>
          <a:xfrm>
            <a:off x="1247252" y="6799108"/>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48" name="Google Shape;348;p18"/>
          <p:cNvCxnSpPr/>
          <p:nvPr/>
        </p:nvCxnSpPr>
        <p:spPr>
          <a:xfrm rot="10800000">
            <a:off x="2386243" y="7376620"/>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49" name="Google Shape;349;p18"/>
          <p:cNvCxnSpPr/>
          <p:nvPr/>
        </p:nvCxnSpPr>
        <p:spPr>
          <a:xfrm flipH="1">
            <a:off x="1255274" y="7400684"/>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50" name="Google Shape;350;p18"/>
          <p:cNvCxnSpPr/>
          <p:nvPr/>
        </p:nvCxnSpPr>
        <p:spPr>
          <a:xfrm rot="10800000">
            <a:off x="1913022" y="8150329"/>
            <a:ext cx="0" cy="160457"/>
          </a:xfrm>
          <a:prstGeom prst="straightConnector1">
            <a:avLst/>
          </a:prstGeom>
          <a:noFill/>
          <a:ln cap="flat" cmpd="sng" w="9525">
            <a:solidFill>
              <a:schemeClr val="dk1"/>
            </a:solidFill>
            <a:prstDash val="solid"/>
            <a:miter lim="800000"/>
            <a:headEnd len="sm" w="sm" type="none"/>
            <a:tailEnd len="sm" w="sm" type="none"/>
          </a:ln>
        </p:spPr>
      </p:cxnSp>
      <p:cxnSp>
        <p:nvCxnSpPr>
          <p:cNvPr id="351" name="Google Shape;351;p18"/>
          <p:cNvCxnSpPr/>
          <p:nvPr/>
        </p:nvCxnSpPr>
        <p:spPr>
          <a:xfrm flipH="1" rot="10800000">
            <a:off x="2338116" y="8499569"/>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52" name="Google Shape;352;p18"/>
          <p:cNvCxnSpPr/>
          <p:nvPr/>
        </p:nvCxnSpPr>
        <p:spPr>
          <a:xfrm>
            <a:off x="1223189" y="8539675"/>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53" name="Google Shape;353;p18"/>
          <p:cNvCxnSpPr/>
          <p:nvPr/>
        </p:nvCxnSpPr>
        <p:spPr>
          <a:xfrm rot="10800000">
            <a:off x="2253893" y="9198216"/>
            <a:ext cx="160458" cy="121272"/>
          </a:xfrm>
          <a:prstGeom prst="straightConnector1">
            <a:avLst/>
          </a:prstGeom>
          <a:noFill/>
          <a:ln cap="flat" cmpd="sng" w="9525">
            <a:solidFill>
              <a:schemeClr val="dk1"/>
            </a:solidFill>
            <a:prstDash val="solid"/>
            <a:miter lim="800000"/>
            <a:headEnd len="sm" w="sm" type="none"/>
            <a:tailEnd len="sm" w="sm" type="none"/>
          </a:ln>
        </p:spPr>
      </p:cxnSp>
      <p:cxnSp>
        <p:nvCxnSpPr>
          <p:cNvPr id="354" name="Google Shape;354;p18"/>
          <p:cNvCxnSpPr/>
          <p:nvPr/>
        </p:nvCxnSpPr>
        <p:spPr>
          <a:xfrm flipH="1">
            <a:off x="1343506" y="9189378"/>
            <a:ext cx="160458" cy="121272"/>
          </a:xfrm>
          <a:prstGeom prst="straightConnector1">
            <a:avLst/>
          </a:prstGeom>
          <a:noFill/>
          <a:ln cap="flat" cmpd="sng" w="9525">
            <a:solidFill>
              <a:schemeClr val="dk1"/>
            </a:solidFill>
            <a:prstDash val="solid"/>
            <a:miter lim="800000"/>
            <a:headEnd len="sm" w="sm" type="none"/>
            <a:tailEnd len="sm" w="sm" type="none"/>
          </a:ln>
        </p:spPr>
      </p:cxnSp>
      <p:sp>
        <p:nvSpPr>
          <p:cNvPr id="355" name="Google Shape;355;p18"/>
          <p:cNvSpPr txBox="1"/>
          <p:nvPr/>
        </p:nvSpPr>
        <p:spPr>
          <a:xfrm>
            <a:off x="1685281" y="321053"/>
            <a:ext cx="5838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6cm</a:t>
            </a:r>
            <a:endParaRPr/>
          </a:p>
        </p:txBody>
      </p:sp>
      <p:sp>
        <p:nvSpPr>
          <p:cNvPr id="356" name="Google Shape;356;p18"/>
          <p:cNvSpPr txBox="1"/>
          <p:nvPr/>
        </p:nvSpPr>
        <p:spPr>
          <a:xfrm>
            <a:off x="1713356" y="1323169"/>
            <a:ext cx="5838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6cm</a:t>
            </a:r>
            <a:endParaRPr/>
          </a:p>
        </p:txBody>
      </p:sp>
      <p:sp>
        <p:nvSpPr>
          <p:cNvPr id="357" name="Google Shape;357;p18"/>
          <p:cNvSpPr txBox="1"/>
          <p:nvPr/>
        </p:nvSpPr>
        <p:spPr>
          <a:xfrm>
            <a:off x="2895620" y="809926"/>
            <a:ext cx="7873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12mm</a:t>
            </a:r>
            <a:endParaRPr/>
          </a:p>
        </p:txBody>
      </p:sp>
      <p:sp>
        <p:nvSpPr>
          <p:cNvPr id="358" name="Google Shape;358;p18"/>
          <p:cNvSpPr txBox="1"/>
          <p:nvPr/>
        </p:nvSpPr>
        <p:spPr>
          <a:xfrm>
            <a:off x="297247" y="865872"/>
            <a:ext cx="7873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12mm</a:t>
            </a:r>
            <a:endParaRPr/>
          </a:p>
        </p:txBody>
      </p:sp>
      <p:sp>
        <p:nvSpPr>
          <p:cNvPr id="359" name="Google Shape;359;p18"/>
          <p:cNvSpPr txBox="1"/>
          <p:nvPr/>
        </p:nvSpPr>
        <p:spPr>
          <a:xfrm>
            <a:off x="834085" y="2384044"/>
            <a:ext cx="4860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2m</a:t>
            </a:r>
            <a:endParaRPr/>
          </a:p>
        </p:txBody>
      </p:sp>
      <p:sp>
        <p:nvSpPr>
          <p:cNvPr id="360" name="Google Shape;360;p18"/>
          <p:cNvSpPr txBox="1"/>
          <p:nvPr/>
        </p:nvSpPr>
        <p:spPr>
          <a:xfrm>
            <a:off x="1546561" y="2888180"/>
            <a:ext cx="7008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15cm</a:t>
            </a:r>
            <a:endParaRPr/>
          </a:p>
        </p:txBody>
      </p:sp>
      <p:sp>
        <p:nvSpPr>
          <p:cNvPr id="361" name="Google Shape;361;p18"/>
          <p:cNvSpPr txBox="1"/>
          <p:nvPr/>
        </p:nvSpPr>
        <p:spPr>
          <a:xfrm>
            <a:off x="2431879" y="4071213"/>
            <a:ext cx="660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0.4m</a:t>
            </a:r>
            <a:endParaRPr/>
          </a:p>
        </p:txBody>
      </p:sp>
      <p:sp>
        <p:nvSpPr>
          <p:cNvPr id="362" name="Google Shape;362;p18"/>
          <p:cNvSpPr txBox="1"/>
          <p:nvPr/>
        </p:nvSpPr>
        <p:spPr>
          <a:xfrm>
            <a:off x="1174595" y="3548814"/>
            <a:ext cx="7008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15cm</a:t>
            </a:r>
            <a:endParaRPr/>
          </a:p>
        </p:txBody>
      </p:sp>
      <p:sp>
        <p:nvSpPr>
          <p:cNvPr id="363" name="Google Shape;363;p18"/>
          <p:cNvSpPr txBox="1"/>
          <p:nvPr/>
        </p:nvSpPr>
        <p:spPr>
          <a:xfrm>
            <a:off x="2628559" y="5350287"/>
            <a:ext cx="660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0.3m</a:t>
            </a:r>
            <a:endParaRPr/>
          </a:p>
        </p:txBody>
      </p:sp>
      <p:sp>
        <p:nvSpPr>
          <p:cNvPr id="364" name="Google Shape;364;p18"/>
          <p:cNvSpPr txBox="1"/>
          <p:nvPr/>
        </p:nvSpPr>
        <p:spPr>
          <a:xfrm>
            <a:off x="1423735" y="5602599"/>
            <a:ext cx="660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0.7m</a:t>
            </a:r>
            <a:endParaRPr/>
          </a:p>
        </p:txBody>
      </p:sp>
      <p:sp>
        <p:nvSpPr>
          <p:cNvPr id="365" name="Google Shape;365;p18"/>
          <p:cNvSpPr txBox="1"/>
          <p:nvPr/>
        </p:nvSpPr>
        <p:spPr>
          <a:xfrm>
            <a:off x="1594159" y="4947677"/>
            <a:ext cx="9044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600mm</a:t>
            </a:r>
            <a:endParaRPr/>
          </a:p>
        </p:txBody>
      </p:sp>
      <p:sp>
        <p:nvSpPr>
          <p:cNvPr id="366" name="Google Shape;366;p18"/>
          <p:cNvSpPr txBox="1"/>
          <p:nvPr/>
        </p:nvSpPr>
        <p:spPr>
          <a:xfrm>
            <a:off x="2573257" y="6591607"/>
            <a:ext cx="660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0.2m</a:t>
            </a:r>
            <a:endParaRPr/>
          </a:p>
        </p:txBody>
      </p:sp>
      <p:sp>
        <p:nvSpPr>
          <p:cNvPr id="367" name="Google Shape;367;p18"/>
          <p:cNvSpPr txBox="1"/>
          <p:nvPr/>
        </p:nvSpPr>
        <p:spPr>
          <a:xfrm>
            <a:off x="2565241" y="8316619"/>
            <a:ext cx="7777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0.27m</a:t>
            </a:r>
            <a:endParaRPr/>
          </a:p>
        </p:txBody>
      </p:sp>
      <p:sp>
        <p:nvSpPr>
          <p:cNvPr id="368" name="Google Shape;368;p18"/>
          <p:cNvSpPr txBox="1"/>
          <p:nvPr/>
        </p:nvSpPr>
        <p:spPr>
          <a:xfrm>
            <a:off x="4714276" y="858908"/>
            <a:ext cx="9108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144mm</a:t>
            </a:r>
            <a:endParaRPr/>
          </a:p>
        </p:txBody>
      </p:sp>
      <p:sp>
        <p:nvSpPr>
          <p:cNvPr id="369" name="Google Shape;369;p18"/>
          <p:cNvSpPr txBox="1"/>
          <p:nvPr/>
        </p:nvSpPr>
        <p:spPr>
          <a:xfrm>
            <a:off x="4688628" y="2399254"/>
            <a:ext cx="819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430cm</a:t>
            </a:r>
            <a:endParaRPr/>
          </a:p>
        </p:txBody>
      </p:sp>
      <p:sp>
        <p:nvSpPr>
          <p:cNvPr id="370" name="Google Shape;370;p18"/>
          <p:cNvSpPr txBox="1"/>
          <p:nvPr/>
        </p:nvSpPr>
        <p:spPr>
          <a:xfrm>
            <a:off x="4528142" y="5474711"/>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1600mm</a:t>
            </a:r>
            <a:endParaRPr/>
          </a:p>
        </p:txBody>
      </p:sp>
      <p:sp>
        <p:nvSpPr>
          <p:cNvPr id="371" name="Google Shape;371;p18"/>
          <p:cNvSpPr txBox="1"/>
          <p:nvPr/>
        </p:nvSpPr>
        <p:spPr>
          <a:xfrm>
            <a:off x="4716219" y="4034407"/>
            <a:ext cx="7024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70cm</a:t>
            </a:r>
            <a:endParaRPr/>
          </a:p>
        </p:txBody>
      </p:sp>
      <p:sp>
        <p:nvSpPr>
          <p:cNvPr id="372" name="Google Shape;372;p18"/>
          <p:cNvSpPr txBox="1"/>
          <p:nvPr/>
        </p:nvSpPr>
        <p:spPr>
          <a:xfrm>
            <a:off x="4439176" y="6960939"/>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1200mm</a:t>
            </a:r>
            <a:endParaRPr/>
          </a:p>
        </p:txBody>
      </p:sp>
      <p:sp>
        <p:nvSpPr>
          <p:cNvPr id="373" name="Google Shape;373;p18"/>
          <p:cNvSpPr txBox="1"/>
          <p:nvPr/>
        </p:nvSpPr>
        <p:spPr>
          <a:xfrm>
            <a:off x="4528144" y="8685951"/>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1350mm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9"/>
          <p:cNvSpPr txBox="1"/>
          <p:nvPr>
            <p:ph idx="12" type="sldNum"/>
          </p:nvPr>
        </p:nvSpPr>
        <p:spPr>
          <a:xfrm>
            <a:off x="5251450" y="94674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79" name="Google Shape;379;p19"/>
          <p:cNvSpPr txBox="1"/>
          <p:nvPr/>
        </p:nvSpPr>
        <p:spPr>
          <a:xfrm>
            <a:off x="244976" y="119734"/>
            <a:ext cx="344905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10.</a:t>
            </a:r>
            <a:endParaRPr/>
          </a:p>
        </p:txBody>
      </p:sp>
      <p:graphicFrame>
        <p:nvGraphicFramePr>
          <p:cNvPr id="380" name="Google Shape;380;p19"/>
          <p:cNvGraphicFramePr/>
          <p:nvPr/>
        </p:nvGraphicFramePr>
        <p:xfrm>
          <a:off x="272630" y="396733"/>
          <a:ext cx="3000000" cy="3000000"/>
        </p:xfrm>
        <a:graphic>
          <a:graphicData uri="http://schemas.openxmlformats.org/drawingml/2006/table">
            <a:tbl>
              <a:tblPr bandRow="1" firstRow="1">
                <a:noFill/>
                <a:tableStyleId>{FD91D494-ABCD-45E8-9792-2A32A0FD62E0}</a:tableStyleId>
              </a:tblPr>
              <a:tblGrid>
                <a:gridCol w="3184025"/>
                <a:gridCol w="3184025"/>
              </a:tblGrid>
              <a:tr h="21287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35000">
                <a:tc>
                  <a:txBody>
                    <a:bodyPr/>
                    <a:lstStyle/>
                    <a:p>
                      <a:pPr indent="0" lvl="0" marL="0" marR="0" rtl="0" algn="l">
                        <a:spcBef>
                          <a:spcPts val="0"/>
                        </a:spcBef>
                        <a:spcAft>
                          <a:spcPts val="0"/>
                        </a:spcAft>
                        <a:buNone/>
                      </a:pPr>
                      <a:r>
                        <a:rPr b="0" lang="en-GB" sz="1200">
                          <a:solidFill>
                            <a:schemeClr val="dk1"/>
                          </a:solidFill>
                        </a:rPr>
                        <a:t>Work out the distance between the town and the beach, giving your answer in km.</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Order the following measurements in ascending order of size.</a:t>
                      </a:r>
                      <a:endParaRPr/>
                    </a:p>
                    <a:p>
                      <a:pPr indent="0" lvl="0" marL="0" marR="0" rtl="0" algn="l">
                        <a:spcBef>
                          <a:spcPts val="0"/>
                        </a:spcBef>
                        <a:spcAft>
                          <a:spcPts val="0"/>
                        </a:spcAft>
                        <a:buNone/>
                      </a:pPr>
                      <a:r>
                        <a:t/>
                      </a:r>
                      <a:endParaRPr b="0" sz="1200">
                        <a:solidFill>
                          <a:schemeClr val="dk1"/>
                        </a:solidFill>
                      </a:endParaRPr>
                    </a:p>
                    <a:p>
                      <a:pPr indent="0" lvl="0" marL="0" marR="0" rtl="0" algn="ctr">
                        <a:spcBef>
                          <a:spcPts val="0"/>
                        </a:spcBef>
                        <a:spcAft>
                          <a:spcPts val="0"/>
                        </a:spcAft>
                        <a:buNone/>
                      </a:pPr>
                      <a:r>
                        <a:rPr b="0" lang="en-GB" sz="1800">
                          <a:solidFill>
                            <a:schemeClr val="dk1"/>
                          </a:solidFill>
                        </a:rPr>
                        <a:t>400cm      2m      0.003km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9300">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35000">
                <a:tc>
                  <a:txBody>
                    <a:bodyPr/>
                    <a:lstStyle/>
                    <a:p>
                      <a:pPr indent="0" lvl="0" marL="0" marR="0" rtl="0" algn="l">
                        <a:spcBef>
                          <a:spcPts val="0"/>
                        </a:spcBef>
                        <a:spcAft>
                          <a:spcPts val="0"/>
                        </a:spcAft>
                        <a:buNone/>
                      </a:pPr>
                      <a:r>
                        <a:rPr lang="en-GB" sz="1200"/>
                        <a:t>James runs 400m every day. Work out how far James runs in one week. Give your answer in kilometres.</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t>A single lap of an athletics track is 400 metres. How many laps will a person run in a two kilometre race?</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587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35000">
                <a:tc>
                  <a:txBody>
                    <a:bodyPr/>
                    <a:lstStyle/>
                    <a:p>
                      <a:pPr indent="0" lvl="0" marL="0" marR="0" rtl="0" algn="l">
                        <a:spcBef>
                          <a:spcPts val="0"/>
                        </a:spcBef>
                        <a:spcAft>
                          <a:spcPts val="0"/>
                        </a:spcAft>
                        <a:buNone/>
                      </a:pPr>
                      <a:r>
                        <a:rPr lang="en-GB" sz="1200"/>
                        <a:t>A plank of wood is 4.2 m long. A piece 650 mm is sawn off. What is the length of the remaining wood? Give your answer in metres.</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GB" sz="1200">
                          <a:solidFill>
                            <a:srgbClr val="374151"/>
                          </a:solidFill>
                          <a:latin typeface="Calibri"/>
                          <a:ea typeface="Calibri"/>
                          <a:cs typeface="Calibri"/>
                          <a:sym typeface="Calibri"/>
                        </a:rPr>
                        <a:t>Alex has a sheet of paper that is 0.3 metres long. He wants to cut it into equal parts, with each part being 5 millimetres wide. How many equal parts can he cut from the paper, and what will be the width of each part in millimetres?</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pic>
        <p:nvPicPr>
          <p:cNvPr id="381" name="Google Shape;381;p19"/>
          <p:cNvPicPr preferRelativeResize="0"/>
          <p:nvPr/>
        </p:nvPicPr>
        <p:blipFill rotWithShape="1">
          <a:blip r:embed="rId3">
            <a:alphaModFix/>
          </a:blip>
          <a:srcRect b="23977" l="24244" r="10122" t="0"/>
          <a:stretch/>
        </p:blipFill>
        <p:spPr>
          <a:xfrm>
            <a:off x="546100" y="1098614"/>
            <a:ext cx="2641599" cy="1865936"/>
          </a:xfrm>
          <a:prstGeom prst="rect">
            <a:avLst/>
          </a:prstGeom>
          <a:noFill/>
          <a:ln>
            <a:noFill/>
          </a:ln>
        </p:spPr>
      </p:pic>
      <p:sp>
        <p:nvSpPr>
          <p:cNvPr id="382" name="Google Shape;382;p19"/>
          <p:cNvSpPr txBox="1"/>
          <p:nvPr/>
        </p:nvSpPr>
        <p:spPr>
          <a:xfrm>
            <a:off x="1474804" y="3056883"/>
            <a:ext cx="8947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3.25km</a:t>
            </a:r>
            <a:endParaRPr/>
          </a:p>
        </p:txBody>
      </p:sp>
      <p:sp>
        <p:nvSpPr>
          <p:cNvPr id="383" name="Google Shape;383;p19"/>
          <p:cNvSpPr txBox="1"/>
          <p:nvPr/>
        </p:nvSpPr>
        <p:spPr>
          <a:xfrm>
            <a:off x="4080186" y="2486902"/>
            <a:ext cx="21755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2m, 0.003km, 400cm</a:t>
            </a:r>
            <a:endParaRPr/>
          </a:p>
        </p:txBody>
      </p:sp>
      <p:sp>
        <p:nvSpPr>
          <p:cNvPr id="384" name="Google Shape;384;p19"/>
          <p:cNvSpPr txBox="1"/>
          <p:nvPr/>
        </p:nvSpPr>
        <p:spPr>
          <a:xfrm>
            <a:off x="1474804" y="5315735"/>
            <a:ext cx="7777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2.8km</a:t>
            </a:r>
            <a:endParaRPr/>
          </a:p>
        </p:txBody>
      </p:sp>
      <p:sp>
        <p:nvSpPr>
          <p:cNvPr id="385" name="Google Shape;385;p19"/>
          <p:cNvSpPr txBox="1"/>
          <p:nvPr/>
        </p:nvSpPr>
        <p:spPr>
          <a:xfrm>
            <a:off x="5081510" y="531573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a:t>
            </a:r>
            <a:endParaRPr/>
          </a:p>
        </p:txBody>
      </p:sp>
      <p:sp>
        <p:nvSpPr>
          <p:cNvPr id="386" name="Google Shape;386;p19"/>
          <p:cNvSpPr txBox="1"/>
          <p:nvPr/>
        </p:nvSpPr>
        <p:spPr>
          <a:xfrm>
            <a:off x="1474804" y="8339180"/>
            <a:ext cx="7841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3.55m</a:t>
            </a:r>
            <a:endParaRPr/>
          </a:p>
        </p:txBody>
      </p:sp>
      <p:sp>
        <p:nvSpPr>
          <p:cNvPr id="387" name="Google Shape;387;p19"/>
          <p:cNvSpPr txBox="1"/>
          <p:nvPr/>
        </p:nvSpPr>
        <p:spPr>
          <a:xfrm>
            <a:off x="4654062" y="8339180"/>
            <a:ext cx="7938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60mm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graphicFrame>
        <p:nvGraphicFramePr>
          <p:cNvPr id="392" name="Google Shape;392;p20"/>
          <p:cNvGraphicFramePr/>
          <p:nvPr/>
        </p:nvGraphicFramePr>
        <p:xfrm>
          <a:off x="139630" y="4320862"/>
          <a:ext cx="3000000" cy="3000000"/>
        </p:xfrm>
        <a:graphic>
          <a:graphicData uri="http://schemas.openxmlformats.org/drawingml/2006/table">
            <a:tbl>
              <a:tblPr bandRow="1" firstRow="1">
                <a:noFill/>
                <a:tableStyleId>{FD91D494-ABCD-45E8-9792-2A32A0FD62E0}</a:tableStyleId>
              </a:tblPr>
              <a:tblGrid>
                <a:gridCol w="1039775"/>
                <a:gridCol w="1837025"/>
                <a:gridCol w="1837025"/>
                <a:gridCol w="1837025"/>
              </a:tblGrid>
              <a:tr h="274325">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7 –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8 –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9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4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34875">
                <a:tc rowSpan="3">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Identify the correct conversion.</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2) Multiply the amount by the required value</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3) Include the units of your answer.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3487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3487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93" name="Google Shape;393;p20"/>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94" name="Google Shape;394;p20"/>
          <p:cNvSpPr/>
          <p:nvPr/>
        </p:nvSpPr>
        <p:spPr>
          <a:xfrm>
            <a:off x="0" y="88940"/>
            <a:ext cx="5086350" cy="28253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Converting between metric units of weight and capacity involving multiplying.</a:t>
            </a:r>
            <a:endParaRPr sz="1200">
              <a:solidFill>
                <a:schemeClr val="lt1"/>
              </a:solidFill>
              <a:latin typeface="Calibri"/>
              <a:ea typeface="Calibri"/>
              <a:cs typeface="Calibri"/>
              <a:sym typeface="Calibri"/>
            </a:endParaRPr>
          </a:p>
        </p:txBody>
      </p:sp>
      <p:graphicFrame>
        <p:nvGraphicFramePr>
          <p:cNvPr id="395" name="Google Shape;395;p20"/>
          <p:cNvGraphicFramePr/>
          <p:nvPr/>
        </p:nvGraphicFramePr>
        <p:xfrm>
          <a:off x="139631" y="527403"/>
          <a:ext cx="3000000" cy="3000000"/>
        </p:xfrm>
        <a:graphic>
          <a:graphicData uri="http://schemas.openxmlformats.org/drawingml/2006/table">
            <a:tbl>
              <a:tblPr bandRow="1" firstRow="1">
                <a:noFill/>
                <a:tableStyleId>{FD91D494-ABCD-45E8-9792-2A32A0FD62E0}</a:tableStyleId>
              </a:tblPr>
              <a:tblGrid>
                <a:gridCol w="3275425"/>
                <a:gridCol w="3275425"/>
              </a:tblGrid>
              <a:tr h="290500">
                <a:tc gridSpan="2">
                  <a:txBody>
                    <a:bodyPr/>
                    <a:lstStyle/>
                    <a:p>
                      <a:pPr indent="0" lvl="0" marL="0" marR="0" rtl="0" algn="l">
                        <a:lnSpc>
                          <a:spcPct val="100000"/>
                        </a:lnSpc>
                        <a:spcBef>
                          <a:spcPts val="0"/>
                        </a:spcBef>
                        <a:spcAft>
                          <a:spcPts val="0"/>
                        </a:spcAft>
                        <a:buClr>
                          <a:schemeClr val="dk1"/>
                        </a:buClr>
                        <a:buSzPts val="1200"/>
                        <a:buFont typeface="Calibri"/>
                        <a:buNone/>
                      </a:pPr>
                      <a:r>
                        <a:rPr lang="en-GB" sz="1200"/>
                        <a:t>11. Facts - Fill in the missing values:</a:t>
                      </a:r>
                      <a:endParaRPr/>
                    </a:p>
                  </a:txBody>
                  <a:tcPr marT="45725" marB="45725" marR="91450" marL="91450"/>
                </a:tc>
                <a:tc hMerge="1"/>
              </a:tr>
              <a:tr h="686025">
                <a:tc>
                  <a:txBody>
                    <a:bodyPr/>
                    <a:lstStyle/>
                    <a:p>
                      <a:pPr indent="0" lvl="0" marL="0" marR="0" rtl="0" algn="l">
                        <a:spcBef>
                          <a:spcPts val="0"/>
                        </a:spcBef>
                        <a:spcAft>
                          <a:spcPts val="0"/>
                        </a:spcAft>
                        <a:buClr>
                          <a:schemeClr val="dk1"/>
                        </a:buClr>
                        <a:buSzPts val="1200"/>
                        <a:buFont typeface="Calibri"/>
                        <a:buNone/>
                      </a:pPr>
                      <a:r>
                        <a:rPr lang="en-GB" sz="1200"/>
                        <a:t>a) 1 kg = ________ g</a:t>
                      </a:r>
                      <a:endParaRPr/>
                    </a:p>
                  </a:txBody>
                  <a:tcPr marT="45725" marB="45725" marR="91450" marL="91450" anchor="ctr"/>
                </a:tc>
                <a:tc>
                  <a:txBody>
                    <a:bodyPr/>
                    <a:lstStyle/>
                    <a:p>
                      <a:pPr indent="0" lvl="0" marL="0" marR="0" rtl="0" algn="l">
                        <a:spcBef>
                          <a:spcPts val="0"/>
                        </a:spcBef>
                        <a:spcAft>
                          <a:spcPts val="0"/>
                        </a:spcAft>
                        <a:buNone/>
                      </a:pPr>
                      <a:r>
                        <a:rPr lang="en-GB" sz="1200"/>
                        <a:t>b) 1 litre = __________ cl</a:t>
                      </a:r>
                      <a:endParaRPr/>
                    </a:p>
                  </a:txBody>
                  <a:tcPr marT="45725" marB="45725" marR="91450" marL="91450" anchor="ctr"/>
                </a:tc>
              </a:tr>
              <a:tr h="686025">
                <a:tc>
                  <a:txBody>
                    <a:bodyPr/>
                    <a:lstStyle/>
                    <a:p>
                      <a:pPr indent="0" lvl="0" marL="0" marR="0" rtl="0" algn="l">
                        <a:spcBef>
                          <a:spcPts val="0"/>
                        </a:spcBef>
                        <a:spcAft>
                          <a:spcPts val="0"/>
                        </a:spcAft>
                        <a:buNone/>
                      </a:pPr>
                      <a:r>
                        <a:rPr lang="en-GB" sz="1200"/>
                        <a:t>c) 1 cl = ________ ml</a:t>
                      </a:r>
                      <a:endParaRPr/>
                    </a:p>
                  </a:txBody>
                  <a:tcPr marT="45725" marB="45725" marR="91450" marL="91450" anchor="ctr"/>
                </a:tc>
                <a:tc>
                  <a:txBody>
                    <a:bodyPr/>
                    <a:lstStyle/>
                    <a:p>
                      <a:pPr indent="0" lvl="0" marL="0" marR="0" rtl="0" algn="l">
                        <a:spcBef>
                          <a:spcPts val="0"/>
                        </a:spcBef>
                        <a:spcAft>
                          <a:spcPts val="0"/>
                        </a:spcAft>
                        <a:buNone/>
                      </a:pPr>
                      <a:r>
                        <a:rPr lang="en-GB" sz="1200"/>
                        <a:t>d) 1 litre = _________ ml</a:t>
                      </a:r>
                      <a:endParaRPr/>
                    </a:p>
                  </a:txBody>
                  <a:tcPr marT="45725" marB="45725" marR="91450" marL="91450" anchor="ctr"/>
                </a:tc>
              </a:tr>
            </a:tbl>
          </a:graphicData>
        </a:graphic>
      </p:graphicFrame>
      <p:grpSp>
        <p:nvGrpSpPr>
          <p:cNvPr id="396" name="Google Shape;396;p20"/>
          <p:cNvGrpSpPr/>
          <p:nvPr/>
        </p:nvGrpSpPr>
        <p:grpSpPr>
          <a:xfrm>
            <a:off x="3199444" y="2448573"/>
            <a:ext cx="3773811" cy="1697633"/>
            <a:chOff x="797171" y="7832036"/>
            <a:chExt cx="3773811" cy="1697633"/>
          </a:xfrm>
        </p:grpSpPr>
        <p:grpSp>
          <p:nvGrpSpPr>
            <p:cNvPr id="397" name="Google Shape;397;p20"/>
            <p:cNvGrpSpPr/>
            <p:nvPr/>
          </p:nvGrpSpPr>
          <p:grpSpPr>
            <a:xfrm>
              <a:off x="797171" y="8294403"/>
              <a:ext cx="3773811" cy="783040"/>
              <a:chOff x="776254" y="8135839"/>
              <a:chExt cx="3773811" cy="783040"/>
            </a:xfrm>
          </p:grpSpPr>
          <p:sp>
            <p:nvSpPr>
              <p:cNvPr id="398" name="Google Shape;398;p20"/>
              <p:cNvSpPr txBox="1"/>
              <p:nvPr/>
            </p:nvSpPr>
            <p:spPr>
              <a:xfrm>
                <a:off x="776254" y="8344144"/>
                <a:ext cx="773797" cy="36933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399" name="Google Shape;399;p20"/>
              <p:cNvSpPr txBox="1"/>
              <p:nvPr/>
            </p:nvSpPr>
            <p:spPr>
              <a:xfrm>
                <a:off x="2348458" y="8333701"/>
                <a:ext cx="773797"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00" name="Google Shape;400;p20"/>
              <p:cNvSpPr txBox="1"/>
              <p:nvPr/>
            </p:nvSpPr>
            <p:spPr>
              <a:xfrm>
                <a:off x="3776268" y="8344144"/>
                <a:ext cx="773797"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01" name="Google Shape;401;p20"/>
              <p:cNvSpPr/>
              <p:nvPr/>
            </p:nvSpPr>
            <p:spPr>
              <a:xfrm>
                <a:off x="1298472" y="8146744"/>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0"/>
              <p:cNvSpPr/>
              <p:nvPr/>
            </p:nvSpPr>
            <p:spPr>
              <a:xfrm>
                <a:off x="2800628" y="8135839"/>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0"/>
              <p:cNvSpPr/>
              <p:nvPr/>
            </p:nvSpPr>
            <p:spPr>
              <a:xfrm rot="10800000">
                <a:off x="2820890" y="8378196"/>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20"/>
              <p:cNvSpPr/>
              <p:nvPr/>
            </p:nvSpPr>
            <p:spPr>
              <a:xfrm rot="10800000">
                <a:off x="1270278" y="8385737"/>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5" name="Google Shape;405;p20"/>
            <p:cNvSpPr txBox="1"/>
            <p:nvPr/>
          </p:nvSpPr>
          <p:spPr>
            <a:xfrm>
              <a:off x="1319388" y="7842012"/>
              <a:ext cx="1210343" cy="369332"/>
            </a:xfrm>
            <a:prstGeom prst="rect">
              <a:avLst/>
            </a:prstGeom>
            <a:blipFill rotWithShape="1">
              <a:blip r:embed="rId6">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06" name="Google Shape;406;p20"/>
            <p:cNvSpPr txBox="1"/>
            <p:nvPr/>
          </p:nvSpPr>
          <p:spPr>
            <a:xfrm>
              <a:off x="2821545" y="7832036"/>
              <a:ext cx="1210343" cy="369332"/>
            </a:xfrm>
            <a:prstGeom prst="rect">
              <a:avLst/>
            </a:prstGeom>
            <a:blipFill rotWithShape="1">
              <a:blip r:embed="rId7">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07" name="Google Shape;407;p20"/>
            <p:cNvSpPr txBox="1"/>
            <p:nvPr/>
          </p:nvSpPr>
          <p:spPr>
            <a:xfrm>
              <a:off x="1311817" y="9160337"/>
              <a:ext cx="1210343" cy="369332"/>
            </a:xfrm>
            <a:prstGeom prst="rect">
              <a:avLst/>
            </a:prstGeom>
            <a:blipFill rotWithShape="1">
              <a:blip r:embed="rId8">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08" name="Google Shape;408;p20"/>
            <p:cNvSpPr txBox="1"/>
            <p:nvPr/>
          </p:nvSpPr>
          <p:spPr>
            <a:xfrm>
              <a:off x="2813974" y="9150361"/>
              <a:ext cx="1210343" cy="369332"/>
            </a:xfrm>
            <a:prstGeom prst="rect">
              <a:avLst/>
            </a:prstGeom>
            <a:blipFill rotWithShape="1">
              <a:blip r:embed="rId9">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grpSp>
        <p:nvGrpSpPr>
          <p:cNvPr id="409" name="Google Shape;409;p20"/>
          <p:cNvGrpSpPr/>
          <p:nvPr/>
        </p:nvGrpSpPr>
        <p:grpSpPr>
          <a:xfrm>
            <a:off x="95646" y="2460082"/>
            <a:ext cx="2346001" cy="1687657"/>
            <a:chOff x="797171" y="7842012"/>
            <a:chExt cx="2346001" cy="1687657"/>
          </a:xfrm>
        </p:grpSpPr>
        <p:grpSp>
          <p:nvGrpSpPr>
            <p:cNvPr id="410" name="Google Shape;410;p20"/>
            <p:cNvGrpSpPr/>
            <p:nvPr/>
          </p:nvGrpSpPr>
          <p:grpSpPr>
            <a:xfrm>
              <a:off x="797171" y="8305308"/>
              <a:ext cx="2346001" cy="772135"/>
              <a:chOff x="776254" y="8146744"/>
              <a:chExt cx="2346001" cy="772135"/>
            </a:xfrm>
          </p:grpSpPr>
          <p:sp>
            <p:nvSpPr>
              <p:cNvPr id="411" name="Google Shape;411;p20"/>
              <p:cNvSpPr txBox="1"/>
              <p:nvPr/>
            </p:nvSpPr>
            <p:spPr>
              <a:xfrm>
                <a:off x="776254" y="8344144"/>
                <a:ext cx="773797" cy="369332"/>
              </a:xfrm>
              <a:prstGeom prst="rect">
                <a:avLst/>
              </a:prstGeom>
              <a:blipFill rotWithShape="1">
                <a:blip r:embed="rId10">
                  <a:alphaModFix/>
                </a:blip>
                <a:stretch>
                  <a:fillRect b="-9677"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12" name="Google Shape;412;p20"/>
              <p:cNvSpPr txBox="1"/>
              <p:nvPr/>
            </p:nvSpPr>
            <p:spPr>
              <a:xfrm>
                <a:off x="2348458" y="8333701"/>
                <a:ext cx="773797" cy="369332"/>
              </a:xfrm>
              <a:prstGeom prst="rect">
                <a:avLst/>
              </a:prstGeom>
              <a:blipFill rotWithShape="1">
                <a:blip r:embed="rId11">
                  <a:alphaModFix/>
                </a:blip>
                <a:stretch>
                  <a:fillRect b="-645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13" name="Google Shape;413;p20"/>
              <p:cNvSpPr/>
              <p:nvPr/>
            </p:nvSpPr>
            <p:spPr>
              <a:xfrm>
                <a:off x="1298472" y="8146744"/>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0"/>
              <p:cNvSpPr/>
              <p:nvPr/>
            </p:nvSpPr>
            <p:spPr>
              <a:xfrm rot="10800000">
                <a:off x="1270278" y="8385737"/>
                <a:ext cx="1256744" cy="533142"/>
              </a:xfrm>
              <a:prstGeom prst="arc">
                <a:avLst>
                  <a:gd fmla="val 11066294" name="adj1"/>
                  <a:gd fmla="val 0" name="adj2"/>
                </a:avLst>
              </a:prstGeom>
              <a:noFill/>
              <a:ln cap="flat" cmpd="sng" w="9525">
                <a:solidFill>
                  <a:schemeClr val="dk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5" name="Google Shape;415;p20"/>
            <p:cNvSpPr txBox="1"/>
            <p:nvPr/>
          </p:nvSpPr>
          <p:spPr>
            <a:xfrm>
              <a:off x="1319388" y="7842012"/>
              <a:ext cx="1210343" cy="369332"/>
            </a:xfrm>
            <a:prstGeom prst="rect">
              <a:avLst/>
            </a:prstGeom>
            <a:blipFill rotWithShape="1">
              <a:blip r:embed="rId6">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416" name="Google Shape;416;p20"/>
            <p:cNvSpPr txBox="1"/>
            <p:nvPr/>
          </p:nvSpPr>
          <p:spPr>
            <a:xfrm>
              <a:off x="1311817" y="9160337"/>
              <a:ext cx="1210343" cy="369332"/>
            </a:xfrm>
            <a:prstGeom prst="rect">
              <a:avLst/>
            </a:prstGeom>
            <a:blipFill rotWithShape="1">
              <a:blip r:embed="rId8">
                <a:alphaModFix/>
              </a:blip>
              <a:stretch>
                <a:fillRect b="0" l="0" r="0" t="0"/>
              </a:stretch>
            </a:blip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sp>
        <p:nvSpPr>
          <p:cNvPr id="417" name="Google Shape;417;p20"/>
          <p:cNvSpPr txBox="1"/>
          <p:nvPr/>
        </p:nvSpPr>
        <p:spPr>
          <a:xfrm>
            <a:off x="742870" y="946055"/>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1000</a:t>
            </a:r>
            <a:endParaRPr/>
          </a:p>
        </p:txBody>
      </p:sp>
      <p:sp>
        <p:nvSpPr>
          <p:cNvPr id="418" name="Google Shape;418;p20"/>
          <p:cNvSpPr txBox="1"/>
          <p:nvPr/>
        </p:nvSpPr>
        <p:spPr>
          <a:xfrm>
            <a:off x="4211406" y="946055"/>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a:t>
            </a:r>
            <a:endParaRPr/>
          </a:p>
        </p:txBody>
      </p:sp>
      <p:sp>
        <p:nvSpPr>
          <p:cNvPr id="419" name="Google Shape;419;p20"/>
          <p:cNvSpPr txBox="1"/>
          <p:nvPr/>
        </p:nvSpPr>
        <p:spPr>
          <a:xfrm>
            <a:off x="771064" y="1642167"/>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a:t>
            </a:r>
            <a:endParaRPr/>
          </a:p>
        </p:txBody>
      </p:sp>
      <p:sp>
        <p:nvSpPr>
          <p:cNvPr id="420" name="Google Shape;420;p20"/>
          <p:cNvSpPr txBox="1"/>
          <p:nvPr/>
        </p:nvSpPr>
        <p:spPr>
          <a:xfrm>
            <a:off x="4176253" y="1641628"/>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1000</a:t>
            </a:r>
            <a:endParaRPr/>
          </a:p>
        </p:txBody>
      </p:sp>
      <p:sp>
        <p:nvSpPr>
          <p:cNvPr id="421" name="Google Shape;421;p20"/>
          <p:cNvSpPr txBox="1"/>
          <p:nvPr/>
        </p:nvSpPr>
        <p:spPr>
          <a:xfrm>
            <a:off x="948505" y="2448573"/>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1000</a:t>
            </a:r>
            <a:endParaRPr/>
          </a:p>
        </p:txBody>
      </p:sp>
      <p:sp>
        <p:nvSpPr>
          <p:cNvPr id="422" name="Google Shape;422;p20"/>
          <p:cNvSpPr txBox="1"/>
          <p:nvPr/>
        </p:nvSpPr>
        <p:spPr>
          <a:xfrm>
            <a:off x="897350" y="3774241"/>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1000</a:t>
            </a:r>
            <a:endParaRPr/>
          </a:p>
        </p:txBody>
      </p:sp>
      <p:sp>
        <p:nvSpPr>
          <p:cNvPr id="423" name="Google Shape;423;p20"/>
          <p:cNvSpPr txBox="1"/>
          <p:nvPr/>
        </p:nvSpPr>
        <p:spPr>
          <a:xfrm>
            <a:off x="4081606" y="2452638"/>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a:t>
            </a:r>
            <a:endParaRPr/>
          </a:p>
        </p:txBody>
      </p:sp>
      <p:sp>
        <p:nvSpPr>
          <p:cNvPr id="424" name="Google Shape;424;p20"/>
          <p:cNvSpPr txBox="1"/>
          <p:nvPr/>
        </p:nvSpPr>
        <p:spPr>
          <a:xfrm>
            <a:off x="4081606" y="3774241"/>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a:t>
            </a:r>
            <a:endParaRPr/>
          </a:p>
        </p:txBody>
      </p:sp>
      <p:sp>
        <p:nvSpPr>
          <p:cNvPr id="425" name="Google Shape;425;p20"/>
          <p:cNvSpPr txBox="1"/>
          <p:nvPr/>
        </p:nvSpPr>
        <p:spPr>
          <a:xfrm>
            <a:off x="5615109" y="2421415"/>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a:t>
            </a:r>
            <a:endParaRPr/>
          </a:p>
        </p:txBody>
      </p:sp>
      <p:sp>
        <p:nvSpPr>
          <p:cNvPr id="426" name="Google Shape;426;p20"/>
          <p:cNvSpPr txBox="1"/>
          <p:nvPr/>
        </p:nvSpPr>
        <p:spPr>
          <a:xfrm>
            <a:off x="5601015" y="3764746"/>
            <a:ext cx="10753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a:t>
            </a:r>
            <a:endParaRPr/>
          </a:p>
        </p:txBody>
      </p:sp>
      <p:graphicFrame>
        <p:nvGraphicFramePr>
          <p:cNvPr id="427" name="Google Shape;427;p20"/>
          <p:cNvGraphicFramePr/>
          <p:nvPr/>
        </p:nvGraphicFramePr>
        <p:xfrm>
          <a:off x="1569426" y="538273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28" name="Google Shape;428;p20"/>
          <p:cNvGraphicFramePr/>
          <p:nvPr/>
        </p:nvGraphicFramePr>
        <p:xfrm>
          <a:off x="3409078" y="538273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29" name="Google Shape;429;p20"/>
          <p:cNvGraphicFramePr/>
          <p:nvPr/>
        </p:nvGraphicFramePr>
        <p:xfrm>
          <a:off x="5248730" y="538273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430" name="Google Shape;430;p20"/>
          <p:cNvSpPr txBox="1"/>
          <p:nvPr/>
        </p:nvSpPr>
        <p:spPr>
          <a:xfrm>
            <a:off x="1525919" y="538048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431" name="Google Shape;431;p20"/>
          <p:cNvSpPr txBox="1"/>
          <p:nvPr/>
        </p:nvSpPr>
        <p:spPr>
          <a:xfrm>
            <a:off x="1498167" y="573317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6       6000</a:t>
            </a:r>
            <a:endParaRPr/>
          </a:p>
        </p:txBody>
      </p:sp>
      <p:sp>
        <p:nvSpPr>
          <p:cNvPr id="432" name="Google Shape;432;p20"/>
          <p:cNvSpPr txBox="1"/>
          <p:nvPr/>
        </p:nvSpPr>
        <p:spPr>
          <a:xfrm>
            <a:off x="3410230" y="535390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433" name="Google Shape;433;p20"/>
          <p:cNvSpPr txBox="1"/>
          <p:nvPr/>
        </p:nvSpPr>
        <p:spPr>
          <a:xfrm>
            <a:off x="3329761" y="571068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6.2    6200</a:t>
            </a:r>
            <a:endParaRPr/>
          </a:p>
        </p:txBody>
      </p:sp>
      <p:sp>
        <p:nvSpPr>
          <p:cNvPr id="434" name="Google Shape;434;p20"/>
          <p:cNvSpPr txBox="1"/>
          <p:nvPr/>
        </p:nvSpPr>
        <p:spPr>
          <a:xfrm>
            <a:off x="5236337" y="538069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435" name="Google Shape;435;p20"/>
          <p:cNvSpPr txBox="1"/>
          <p:nvPr/>
        </p:nvSpPr>
        <p:spPr>
          <a:xfrm>
            <a:off x="5172546" y="508987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
        <p:nvSpPr>
          <p:cNvPr id="436" name="Google Shape;436;p20"/>
          <p:cNvSpPr txBox="1"/>
          <p:nvPr/>
        </p:nvSpPr>
        <p:spPr>
          <a:xfrm>
            <a:off x="5236932" y="574981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7    7000</a:t>
            </a:r>
            <a:endParaRPr/>
          </a:p>
        </p:txBody>
      </p:sp>
      <p:graphicFrame>
        <p:nvGraphicFramePr>
          <p:cNvPr id="437" name="Google Shape;437;p20"/>
          <p:cNvGraphicFramePr/>
          <p:nvPr/>
        </p:nvGraphicFramePr>
        <p:xfrm>
          <a:off x="1579605" y="6923459"/>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38" name="Google Shape;438;p20"/>
          <p:cNvGraphicFramePr/>
          <p:nvPr/>
        </p:nvGraphicFramePr>
        <p:xfrm>
          <a:off x="3419257" y="6923459"/>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39" name="Google Shape;439;p20"/>
          <p:cNvGraphicFramePr/>
          <p:nvPr/>
        </p:nvGraphicFramePr>
        <p:xfrm>
          <a:off x="5258909" y="6923459"/>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440" name="Google Shape;440;p20"/>
          <p:cNvSpPr txBox="1"/>
          <p:nvPr/>
        </p:nvSpPr>
        <p:spPr>
          <a:xfrm>
            <a:off x="1494058" y="690685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441" name="Google Shape;441;p20"/>
          <p:cNvSpPr txBox="1"/>
          <p:nvPr/>
        </p:nvSpPr>
        <p:spPr>
          <a:xfrm>
            <a:off x="1486824" y="661395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442" name="Google Shape;442;p20"/>
          <p:cNvSpPr txBox="1"/>
          <p:nvPr/>
        </p:nvSpPr>
        <p:spPr>
          <a:xfrm>
            <a:off x="1508346" y="727389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1.4     140</a:t>
            </a:r>
            <a:endParaRPr/>
          </a:p>
        </p:txBody>
      </p:sp>
      <p:sp>
        <p:nvSpPr>
          <p:cNvPr id="443" name="Google Shape;443;p20"/>
          <p:cNvSpPr txBox="1"/>
          <p:nvPr/>
        </p:nvSpPr>
        <p:spPr>
          <a:xfrm>
            <a:off x="3337056" y="688201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444" name="Google Shape;444;p20"/>
          <p:cNvSpPr txBox="1"/>
          <p:nvPr/>
        </p:nvSpPr>
        <p:spPr>
          <a:xfrm>
            <a:off x="3329822" y="658911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445" name="Google Shape;445;p20"/>
          <p:cNvSpPr txBox="1"/>
          <p:nvPr/>
        </p:nvSpPr>
        <p:spPr>
          <a:xfrm>
            <a:off x="3315043" y="726682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0.25    25</a:t>
            </a:r>
            <a:endParaRPr/>
          </a:p>
        </p:txBody>
      </p:sp>
      <p:sp>
        <p:nvSpPr>
          <p:cNvPr id="446" name="Google Shape;446;p20"/>
          <p:cNvSpPr txBox="1"/>
          <p:nvPr/>
        </p:nvSpPr>
        <p:spPr>
          <a:xfrm>
            <a:off x="5189959" y="692350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447" name="Google Shape;447;p20"/>
          <p:cNvSpPr txBox="1"/>
          <p:nvPr/>
        </p:nvSpPr>
        <p:spPr>
          <a:xfrm>
            <a:off x="5182725" y="663059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448" name="Google Shape;448;p20"/>
          <p:cNvSpPr txBox="1"/>
          <p:nvPr/>
        </p:nvSpPr>
        <p:spPr>
          <a:xfrm>
            <a:off x="5204247" y="729054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2.3    230</a:t>
            </a:r>
            <a:endParaRPr/>
          </a:p>
        </p:txBody>
      </p:sp>
      <p:graphicFrame>
        <p:nvGraphicFramePr>
          <p:cNvPr id="449" name="Google Shape;449;p20"/>
          <p:cNvGraphicFramePr/>
          <p:nvPr/>
        </p:nvGraphicFramePr>
        <p:xfrm>
          <a:off x="1611466" y="84181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50" name="Google Shape;450;p20"/>
          <p:cNvGraphicFramePr/>
          <p:nvPr/>
        </p:nvGraphicFramePr>
        <p:xfrm>
          <a:off x="3451118" y="84181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451" name="Google Shape;451;p20"/>
          <p:cNvGraphicFramePr/>
          <p:nvPr/>
        </p:nvGraphicFramePr>
        <p:xfrm>
          <a:off x="5290770" y="841815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452" name="Google Shape;452;p20"/>
          <p:cNvSpPr txBox="1"/>
          <p:nvPr/>
        </p:nvSpPr>
        <p:spPr>
          <a:xfrm>
            <a:off x="1525919" y="840155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453" name="Google Shape;453;p20"/>
          <p:cNvSpPr txBox="1"/>
          <p:nvPr/>
        </p:nvSpPr>
        <p:spPr>
          <a:xfrm>
            <a:off x="1518685" y="810864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454" name="Google Shape;454;p20"/>
          <p:cNvSpPr txBox="1"/>
          <p:nvPr/>
        </p:nvSpPr>
        <p:spPr>
          <a:xfrm>
            <a:off x="1452632" y="8754244"/>
            <a:ext cx="141321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26     260</a:t>
            </a:r>
            <a:endParaRPr/>
          </a:p>
        </p:txBody>
      </p:sp>
      <p:sp>
        <p:nvSpPr>
          <p:cNvPr id="455" name="Google Shape;455;p20"/>
          <p:cNvSpPr txBox="1"/>
          <p:nvPr/>
        </p:nvSpPr>
        <p:spPr>
          <a:xfrm>
            <a:off x="3368917" y="837671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456" name="Google Shape;456;p20"/>
          <p:cNvSpPr txBox="1"/>
          <p:nvPr/>
        </p:nvSpPr>
        <p:spPr>
          <a:xfrm>
            <a:off x="3361683" y="808380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457" name="Google Shape;457;p20"/>
          <p:cNvSpPr txBox="1"/>
          <p:nvPr/>
        </p:nvSpPr>
        <p:spPr>
          <a:xfrm>
            <a:off x="3346904" y="876151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17.3   173</a:t>
            </a:r>
            <a:endParaRPr/>
          </a:p>
        </p:txBody>
      </p:sp>
      <p:sp>
        <p:nvSpPr>
          <p:cNvPr id="458" name="Google Shape;458;p20"/>
          <p:cNvSpPr txBox="1"/>
          <p:nvPr/>
        </p:nvSpPr>
        <p:spPr>
          <a:xfrm>
            <a:off x="5221820" y="841819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459" name="Google Shape;459;p20"/>
          <p:cNvSpPr txBox="1"/>
          <p:nvPr/>
        </p:nvSpPr>
        <p:spPr>
          <a:xfrm>
            <a:off x="5214586" y="812529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460" name="Google Shape;460;p20"/>
          <p:cNvSpPr txBox="1"/>
          <p:nvPr/>
        </p:nvSpPr>
        <p:spPr>
          <a:xfrm>
            <a:off x="5203874" y="8775373"/>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2       20 </a:t>
            </a:r>
            <a:endParaRPr/>
          </a:p>
        </p:txBody>
      </p:sp>
      <p:sp>
        <p:nvSpPr>
          <p:cNvPr id="461" name="Google Shape;461;p20"/>
          <p:cNvSpPr txBox="1"/>
          <p:nvPr/>
        </p:nvSpPr>
        <p:spPr>
          <a:xfrm>
            <a:off x="3312589" y="507006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
        <p:nvSpPr>
          <p:cNvPr id="462" name="Google Shape;462;p20"/>
          <p:cNvSpPr txBox="1"/>
          <p:nvPr/>
        </p:nvSpPr>
        <p:spPr>
          <a:xfrm>
            <a:off x="1452632" y="507006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aphicFrame>
        <p:nvGraphicFramePr>
          <p:cNvPr id="467" name="Google Shape;467;p21"/>
          <p:cNvGraphicFramePr/>
          <p:nvPr/>
        </p:nvGraphicFramePr>
        <p:xfrm>
          <a:off x="139630" y="178464"/>
          <a:ext cx="3000000" cy="3000000"/>
        </p:xfrm>
        <a:graphic>
          <a:graphicData uri="http://schemas.openxmlformats.org/drawingml/2006/table">
            <a:tbl>
              <a:tblPr bandRow="1" firstRow="1">
                <a:noFill/>
                <a:tableStyleId>{FD91D494-ABCD-45E8-9792-2A32A0FD62E0}</a:tableStyleId>
              </a:tblPr>
              <a:tblGrid>
                <a:gridCol w="2192925"/>
                <a:gridCol w="2192925"/>
                <a:gridCol w="2192925"/>
              </a:tblGrid>
              <a:tr h="274325">
                <a:tc gridSpan="3">
                  <a:txBody>
                    <a:bodyPr/>
                    <a:lstStyle/>
                    <a:p>
                      <a:pPr indent="0" lvl="0" marL="0" marR="0" rtl="0" algn="l">
                        <a:spcBef>
                          <a:spcPts val="0"/>
                        </a:spcBef>
                        <a:spcAft>
                          <a:spcPts val="0"/>
                        </a:spcAft>
                        <a:buNone/>
                      </a:pPr>
                      <a:r>
                        <a:rPr lang="en-GB" sz="1200"/>
                        <a:t>12. Convert the following units. Include the units in your answer.</a:t>
                      </a:r>
                      <a:endParaRPr/>
                    </a:p>
                  </a:txBody>
                  <a:tcPr marT="45725" marB="45725" marR="91450" marL="91450"/>
                </a:tc>
                <a:tc hMerge="1"/>
                <a:tc hMerge="1"/>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458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770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8657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221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1150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10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310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8326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468" name="Google Shape;468;p21"/>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69" name="Google Shape;469;p21"/>
          <p:cNvSpPr txBox="1"/>
          <p:nvPr/>
        </p:nvSpPr>
        <p:spPr>
          <a:xfrm>
            <a:off x="544010" y="84495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7000 g</a:t>
            </a:r>
            <a:endParaRPr/>
          </a:p>
        </p:txBody>
      </p:sp>
      <p:sp>
        <p:nvSpPr>
          <p:cNvPr id="470" name="Google Shape;470;p21"/>
          <p:cNvSpPr txBox="1"/>
          <p:nvPr/>
        </p:nvSpPr>
        <p:spPr>
          <a:xfrm>
            <a:off x="2827115" y="84495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6381 g</a:t>
            </a:r>
            <a:endParaRPr/>
          </a:p>
        </p:txBody>
      </p:sp>
      <p:sp>
        <p:nvSpPr>
          <p:cNvPr id="471" name="Google Shape;471;p21"/>
          <p:cNvSpPr txBox="1"/>
          <p:nvPr/>
        </p:nvSpPr>
        <p:spPr>
          <a:xfrm>
            <a:off x="4982534" y="84495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400 g</a:t>
            </a:r>
            <a:endParaRPr/>
          </a:p>
        </p:txBody>
      </p:sp>
      <p:sp>
        <p:nvSpPr>
          <p:cNvPr id="472" name="Google Shape;472;p21"/>
          <p:cNvSpPr txBox="1"/>
          <p:nvPr/>
        </p:nvSpPr>
        <p:spPr>
          <a:xfrm>
            <a:off x="544010" y="1972311"/>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270 cl</a:t>
            </a:r>
            <a:endParaRPr/>
          </a:p>
        </p:txBody>
      </p:sp>
      <p:sp>
        <p:nvSpPr>
          <p:cNvPr id="473" name="Google Shape;473;p21"/>
          <p:cNvSpPr txBox="1"/>
          <p:nvPr/>
        </p:nvSpPr>
        <p:spPr>
          <a:xfrm>
            <a:off x="2827114" y="1972311"/>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376.2 cl</a:t>
            </a:r>
            <a:endParaRPr/>
          </a:p>
        </p:txBody>
      </p:sp>
      <p:sp>
        <p:nvSpPr>
          <p:cNvPr id="474" name="Google Shape;474;p21"/>
          <p:cNvSpPr txBox="1"/>
          <p:nvPr/>
        </p:nvSpPr>
        <p:spPr>
          <a:xfrm>
            <a:off x="4982534" y="1972311"/>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30 cl</a:t>
            </a:r>
            <a:endParaRPr/>
          </a:p>
        </p:txBody>
      </p:sp>
      <p:sp>
        <p:nvSpPr>
          <p:cNvPr id="475" name="Google Shape;475;p21"/>
          <p:cNvSpPr txBox="1"/>
          <p:nvPr/>
        </p:nvSpPr>
        <p:spPr>
          <a:xfrm>
            <a:off x="551243" y="3099670"/>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50 ml</a:t>
            </a:r>
            <a:endParaRPr/>
          </a:p>
        </p:txBody>
      </p:sp>
      <p:sp>
        <p:nvSpPr>
          <p:cNvPr id="476" name="Google Shape;476;p21"/>
          <p:cNvSpPr txBox="1"/>
          <p:nvPr/>
        </p:nvSpPr>
        <p:spPr>
          <a:xfrm>
            <a:off x="2717637" y="3099670"/>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54.2 ml</a:t>
            </a:r>
            <a:endParaRPr/>
          </a:p>
        </p:txBody>
      </p:sp>
      <p:sp>
        <p:nvSpPr>
          <p:cNvPr id="477" name="Google Shape;477;p21"/>
          <p:cNvSpPr txBox="1"/>
          <p:nvPr/>
        </p:nvSpPr>
        <p:spPr>
          <a:xfrm>
            <a:off x="4982533" y="3086294"/>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3.1 ml</a:t>
            </a:r>
            <a:endParaRPr/>
          </a:p>
        </p:txBody>
      </p:sp>
      <p:sp>
        <p:nvSpPr>
          <p:cNvPr id="478" name="Google Shape;478;p21"/>
          <p:cNvSpPr txBox="1"/>
          <p:nvPr/>
        </p:nvSpPr>
        <p:spPr>
          <a:xfrm>
            <a:off x="544009" y="4227029"/>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3710 g</a:t>
            </a:r>
            <a:endParaRPr/>
          </a:p>
        </p:txBody>
      </p:sp>
      <p:sp>
        <p:nvSpPr>
          <p:cNvPr id="479" name="Google Shape;479;p21"/>
          <p:cNvSpPr txBox="1"/>
          <p:nvPr/>
        </p:nvSpPr>
        <p:spPr>
          <a:xfrm>
            <a:off x="2717637" y="4227029"/>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371 cl</a:t>
            </a:r>
            <a:endParaRPr/>
          </a:p>
        </p:txBody>
      </p:sp>
      <p:sp>
        <p:nvSpPr>
          <p:cNvPr id="480" name="Google Shape;480;p21"/>
          <p:cNvSpPr txBox="1"/>
          <p:nvPr/>
        </p:nvSpPr>
        <p:spPr>
          <a:xfrm>
            <a:off x="4982532" y="4235518"/>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37.1 ml</a:t>
            </a:r>
            <a:endParaRPr/>
          </a:p>
        </p:txBody>
      </p:sp>
      <p:sp>
        <p:nvSpPr>
          <p:cNvPr id="481" name="Google Shape;481;p21"/>
          <p:cNvSpPr txBox="1"/>
          <p:nvPr/>
        </p:nvSpPr>
        <p:spPr>
          <a:xfrm>
            <a:off x="544008" y="5406858"/>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520 g</a:t>
            </a:r>
            <a:endParaRPr/>
          </a:p>
        </p:txBody>
      </p:sp>
      <p:sp>
        <p:nvSpPr>
          <p:cNvPr id="482" name="Google Shape;482;p21"/>
          <p:cNvSpPr txBox="1"/>
          <p:nvPr/>
        </p:nvSpPr>
        <p:spPr>
          <a:xfrm>
            <a:off x="2717636" y="5406858"/>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52 cl</a:t>
            </a:r>
            <a:endParaRPr/>
          </a:p>
        </p:txBody>
      </p:sp>
      <p:sp>
        <p:nvSpPr>
          <p:cNvPr id="483" name="Google Shape;483;p21"/>
          <p:cNvSpPr txBox="1"/>
          <p:nvPr/>
        </p:nvSpPr>
        <p:spPr>
          <a:xfrm>
            <a:off x="4882708" y="5406858"/>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5.2 ml</a:t>
            </a:r>
            <a:endParaRPr/>
          </a:p>
        </p:txBody>
      </p:sp>
      <p:sp>
        <p:nvSpPr>
          <p:cNvPr id="484" name="Google Shape;484;p21"/>
          <p:cNvSpPr txBox="1"/>
          <p:nvPr/>
        </p:nvSpPr>
        <p:spPr>
          <a:xfrm>
            <a:off x="551243" y="6602299"/>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3870 ml</a:t>
            </a:r>
            <a:endParaRPr/>
          </a:p>
        </p:txBody>
      </p:sp>
      <p:sp>
        <p:nvSpPr>
          <p:cNvPr id="485" name="Google Shape;485;p21"/>
          <p:cNvSpPr txBox="1"/>
          <p:nvPr/>
        </p:nvSpPr>
        <p:spPr>
          <a:xfrm>
            <a:off x="2724871" y="6602299"/>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25,380 g</a:t>
            </a:r>
            <a:endParaRPr/>
          </a:p>
        </p:txBody>
      </p:sp>
      <p:sp>
        <p:nvSpPr>
          <p:cNvPr id="486" name="Google Shape;486;p21"/>
          <p:cNvSpPr txBox="1"/>
          <p:nvPr/>
        </p:nvSpPr>
        <p:spPr>
          <a:xfrm>
            <a:off x="4889943" y="6602299"/>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4700 ml</a:t>
            </a:r>
            <a:endParaRPr/>
          </a:p>
        </p:txBody>
      </p:sp>
      <p:sp>
        <p:nvSpPr>
          <p:cNvPr id="487" name="Google Shape;487;p21"/>
          <p:cNvSpPr txBox="1"/>
          <p:nvPr/>
        </p:nvSpPr>
        <p:spPr>
          <a:xfrm>
            <a:off x="528091" y="772742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320,000 g</a:t>
            </a:r>
            <a:endParaRPr/>
          </a:p>
        </p:txBody>
      </p:sp>
      <p:sp>
        <p:nvSpPr>
          <p:cNvPr id="488" name="Google Shape;488;p21"/>
          <p:cNvSpPr txBox="1"/>
          <p:nvPr/>
        </p:nvSpPr>
        <p:spPr>
          <a:xfrm>
            <a:off x="2701719" y="772742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2865.6 g</a:t>
            </a:r>
            <a:endParaRPr/>
          </a:p>
        </p:txBody>
      </p:sp>
      <p:sp>
        <p:nvSpPr>
          <p:cNvPr id="489" name="Google Shape;489;p21"/>
          <p:cNvSpPr txBox="1"/>
          <p:nvPr/>
        </p:nvSpPr>
        <p:spPr>
          <a:xfrm>
            <a:off x="4866791" y="7727422"/>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4.3 cl</a:t>
            </a:r>
            <a:endParaRPr/>
          </a:p>
        </p:txBody>
      </p:sp>
      <p:sp>
        <p:nvSpPr>
          <p:cNvPr id="490" name="Google Shape;490;p21"/>
          <p:cNvSpPr txBox="1"/>
          <p:nvPr/>
        </p:nvSpPr>
        <p:spPr>
          <a:xfrm>
            <a:off x="616347" y="8811857"/>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2620 ml</a:t>
            </a:r>
            <a:endParaRPr/>
          </a:p>
        </p:txBody>
      </p:sp>
      <p:sp>
        <p:nvSpPr>
          <p:cNvPr id="491" name="Google Shape;491;p21"/>
          <p:cNvSpPr txBox="1"/>
          <p:nvPr/>
        </p:nvSpPr>
        <p:spPr>
          <a:xfrm>
            <a:off x="2789975" y="8811857"/>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5.4 ml</a:t>
            </a:r>
            <a:endParaRPr/>
          </a:p>
        </p:txBody>
      </p:sp>
      <p:sp>
        <p:nvSpPr>
          <p:cNvPr id="492" name="Google Shape;492;p21"/>
          <p:cNvSpPr txBox="1"/>
          <p:nvPr/>
        </p:nvSpPr>
        <p:spPr>
          <a:xfrm>
            <a:off x="4955047" y="8811857"/>
            <a:ext cx="120376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800">
                <a:solidFill>
                  <a:srgbClr val="FF0000"/>
                </a:solidFill>
                <a:latin typeface="Calibri"/>
                <a:ea typeface="Calibri"/>
                <a:cs typeface="Calibri"/>
                <a:sym typeface="Calibri"/>
              </a:rPr>
              <a:t>4 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2"/>
          <p:cNvSpPr txBox="1"/>
          <p:nvPr>
            <p:ph idx="12" type="sldNum"/>
          </p:nvPr>
        </p:nvSpPr>
        <p:spPr>
          <a:xfrm>
            <a:off x="5314950" y="950895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98" name="Google Shape;498;p22"/>
          <p:cNvSpPr txBox="1"/>
          <p:nvPr/>
        </p:nvSpPr>
        <p:spPr>
          <a:xfrm>
            <a:off x="144379" y="161391"/>
            <a:ext cx="344905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13. Answer the following questions:</a:t>
            </a:r>
            <a:endParaRPr/>
          </a:p>
        </p:txBody>
      </p:sp>
      <p:graphicFrame>
        <p:nvGraphicFramePr>
          <p:cNvPr id="499" name="Google Shape;499;p22"/>
          <p:cNvGraphicFramePr/>
          <p:nvPr/>
        </p:nvGraphicFramePr>
        <p:xfrm>
          <a:off x="272713" y="509336"/>
          <a:ext cx="3000000" cy="3000000"/>
        </p:xfrm>
        <a:graphic>
          <a:graphicData uri="http://schemas.openxmlformats.org/drawingml/2006/table">
            <a:tbl>
              <a:tblPr bandRow="1" firstRow="1">
                <a:noFill/>
                <a:tableStyleId>{FD91D494-ABCD-45E8-9792-2A32A0FD62E0}</a:tableStyleId>
              </a:tblPr>
              <a:tblGrid>
                <a:gridCol w="3144250"/>
                <a:gridCol w="3144250"/>
              </a:tblGrid>
              <a:tr h="340900">
                <a:tc>
                  <a:txBody>
                    <a:bodyPr/>
                    <a:lstStyle/>
                    <a:p>
                      <a:pPr indent="0" lvl="0" marL="0" marR="0" rtl="0" algn="l">
                        <a:spcBef>
                          <a:spcPts val="0"/>
                        </a:spcBef>
                        <a:spcAft>
                          <a:spcPts val="0"/>
                        </a:spcAft>
                        <a:buNone/>
                      </a:pPr>
                      <a:r>
                        <a:rPr b="0" lang="en-GB" sz="1200">
                          <a:solidFill>
                            <a:schemeClr val="dk1"/>
                          </a:solidFill>
                        </a:rPr>
                        <a:t>a) Karl is baking a loaf of bread and needs 0.8 kg of flour. He has 72 grams of flour. How much more flour does Karl need? Give your answer in grams.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 Rebecca has two dogs, Lucky and Pepe. Lucky weighs 5.4 kilograms. Pepe is 800 grams lighter than Lucky. Work out how much Pepe weighs. Give your answer in grams.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735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55450">
                <a:tc>
                  <a:txBody>
                    <a:bodyPr/>
                    <a:lstStyle/>
                    <a:p>
                      <a:pPr indent="0" lvl="0" marL="0" marR="0" rtl="0" algn="l">
                        <a:spcBef>
                          <a:spcPts val="0"/>
                        </a:spcBef>
                        <a:spcAft>
                          <a:spcPts val="0"/>
                        </a:spcAft>
                        <a:buNone/>
                      </a:pPr>
                      <a:r>
                        <a:rPr b="0" lang="en-GB" sz="1200">
                          <a:solidFill>
                            <a:schemeClr val="dk1"/>
                          </a:solidFill>
                        </a:rPr>
                        <a:t>c) </a:t>
                      </a:r>
                      <a:r>
                        <a:rPr lang="en-GB" sz="1200"/>
                        <a:t>Kelly has two dogs, Pixie and Fifi. Pixie weighs 8.5 kilograms Fifi is 720 grams lighter than Pixie. Work out how much Fifi weighs. Give your answer in grams.</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 </a:t>
                      </a:r>
                      <a:r>
                        <a:rPr lang="en-GB" sz="1200"/>
                        <a:t>A bucket weighs 800g. When half filled with water, the bucket weighs 4.5kg. Work out the weight when the bucket is filled with water. Give your answer in grams.</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735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7350">
                <a:tc>
                  <a:txBody>
                    <a:bodyPr/>
                    <a:lstStyle/>
                    <a:p>
                      <a:pPr indent="0" lvl="0" marL="0" marR="0" rtl="0" algn="l">
                        <a:spcBef>
                          <a:spcPts val="0"/>
                        </a:spcBef>
                        <a:spcAft>
                          <a:spcPts val="0"/>
                        </a:spcAft>
                        <a:buNone/>
                      </a:pPr>
                      <a:r>
                        <a:rPr b="0" lang="en-GB" sz="1200">
                          <a:solidFill>
                            <a:schemeClr val="dk1"/>
                          </a:solidFill>
                        </a:rPr>
                        <a:t>e) Gary is putting up a fence around his rectangular garden. The garden is 4m long by 3m wide. Each fence panel is 1m wide and weighs 7.2kg. He then adds fairy lights to his fence, weighing 275g per metre. What is the total weight of the fence with lights?  Give your answer in grams.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e) Find the median of the following values. </a:t>
                      </a:r>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600g         1.3kg          2.85kg          90g         0.3kg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735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500" name="Google Shape;500;p22"/>
          <p:cNvSpPr txBox="1"/>
          <p:nvPr/>
        </p:nvSpPr>
        <p:spPr>
          <a:xfrm>
            <a:off x="1474804" y="2117570"/>
            <a:ext cx="6447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728g</a:t>
            </a:r>
            <a:endParaRPr/>
          </a:p>
        </p:txBody>
      </p:sp>
      <p:sp>
        <p:nvSpPr>
          <p:cNvPr id="501" name="Google Shape;501;p22"/>
          <p:cNvSpPr txBox="1"/>
          <p:nvPr/>
        </p:nvSpPr>
        <p:spPr>
          <a:xfrm>
            <a:off x="4738470" y="2124508"/>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4600g</a:t>
            </a:r>
            <a:endParaRPr/>
          </a:p>
        </p:txBody>
      </p:sp>
      <p:sp>
        <p:nvSpPr>
          <p:cNvPr id="502" name="Google Shape;502;p22"/>
          <p:cNvSpPr txBox="1"/>
          <p:nvPr/>
        </p:nvSpPr>
        <p:spPr>
          <a:xfrm>
            <a:off x="1474804" y="5043709"/>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7780g</a:t>
            </a:r>
            <a:endParaRPr/>
          </a:p>
        </p:txBody>
      </p:sp>
      <p:sp>
        <p:nvSpPr>
          <p:cNvPr id="503" name="Google Shape;503;p22"/>
          <p:cNvSpPr txBox="1"/>
          <p:nvPr/>
        </p:nvSpPr>
        <p:spPr>
          <a:xfrm>
            <a:off x="4670091" y="5053477"/>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8200g</a:t>
            </a:r>
            <a:endParaRPr/>
          </a:p>
        </p:txBody>
      </p:sp>
      <p:sp>
        <p:nvSpPr>
          <p:cNvPr id="504" name="Google Shape;504;p22"/>
          <p:cNvSpPr txBox="1"/>
          <p:nvPr/>
        </p:nvSpPr>
        <p:spPr>
          <a:xfrm>
            <a:off x="1474804" y="8339180"/>
            <a:ext cx="9957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104650g</a:t>
            </a:r>
            <a:endParaRPr/>
          </a:p>
        </p:txBody>
      </p:sp>
      <p:sp>
        <p:nvSpPr>
          <p:cNvPr id="505" name="Google Shape;505;p22"/>
          <p:cNvSpPr txBox="1"/>
          <p:nvPr/>
        </p:nvSpPr>
        <p:spPr>
          <a:xfrm>
            <a:off x="4670091" y="8339180"/>
            <a:ext cx="6447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600g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graphicFrame>
        <p:nvGraphicFramePr>
          <p:cNvPr id="510" name="Google Shape;510;p23"/>
          <p:cNvGraphicFramePr/>
          <p:nvPr/>
        </p:nvGraphicFramePr>
        <p:xfrm>
          <a:off x="158945" y="369674"/>
          <a:ext cx="3000000" cy="3000000"/>
        </p:xfrm>
        <a:graphic>
          <a:graphicData uri="http://schemas.openxmlformats.org/drawingml/2006/table">
            <a:tbl>
              <a:tblPr bandRow="1" firstRow="1">
                <a:noFill/>
                <a:tableStyleId>{FD91D494-ABCD-45E8-9792-2A32A0FD62E0}</a:tableStyleId>
              </a:tblPr>
              <a:tblGrid>
                <a:gridCol w="1046350"/>
                <a:gridCol w="1848625"/>
                <a:gridCol w="1848625"/>
                <a:gridCol w="1848625"/>
              </a:tblGrid>
              <a:tr h="34400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10 –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11 –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12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179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8875">
                <a:tc rowSpan="3">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Identify the correct length conversion.</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2) Divide the amount by the required value</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3) Include the units of your answer.</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7887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63625">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511" name="Google Shape;511;p23"/>
          <p:cNvGraphicFramePr/>
          <p:nvPr/>
        </p:nvGraphicFramePr>
        <p:xfrm>
          <a:off x="89130" y="5149860"/>
          <a:ext cx="3000000" cy="3000000"/>
        </p:xfrm>
        <a:graphic>
          <a:graphicData uri="http://schemas.openxmlformats.org/drawingml/2006/table">
            <a:tbl>
              <a:tblPr bandRow="1" firstRow="1">
                <a:noFill/>
                <a:tableStyleId>{FD91D494-ABCD-45E8-9792-2A32A0FD62E0}</a:tableStyleId>
              </a:tblPr>
              <a:tblGrid>
                <a:gridCol w="2233025"/>
                <a:gridCol w="2233025"/>
                <a:gridCol w="2233025"/>
              </a:tblGrid>
              <a:tr h="274325">
                <a:tc gridSpan="3">
                  <a:txBody>
                    <a:bodyPr/>
                    <a:lstStyle/>
                    <a:p>
                      <a:pPr indent="0" lvl="0" marL="0" marR="0" rtl="0" algn="l">
                        <a:spcBef>
                          <a:spcPts val="0"/>
                        </a:spcBef>
                        <a:spcAft>
                          <a:spcPts val="0"/>
                        </a:spcAft>
                        <a:buNone/>
                      </a:pPr>
                      <a:r>
                        <a:rPr lang="en-GB" sz="1200"/>
                        <a:t>14. Convert the following units. Include the units in your answer.</a:t>
                      </a:r>
                      <a:endParaRPr/>
                    </a:p>
                  </a:txBody>
                  <a:tcPr marT="45725" marB="45725" marR="91450" marL="91450"/>
                </a:tc>
                <a:tc hMerge="1"/>
                <a:tc hMerge="1"/>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6549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312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7432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312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r h="282875">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73120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sp>
        <p:nvSpPr>
          <p:cNvPr id="512" name="Google Shape;512;p23"/>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13" name="Google Shape;513;p23"/>
          <p:cNvSpPr/>
          <p:nvPr/>
        </p:nvSpPr>
        <p:spPr>
          <a:xfrm>
            <a:off x="106809" y="89646"/>
            <a:ext cx="4812632" cy="28002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Converting between metric units of weight and capacity involving dividing.</a:t>
            </a:r>
            <a:endParaRPr sz="1200">
              <a:solidFill>
                <a:schemeClr val="lt1"/>
              </a:solidFill>
              <a:latin typeface="Calibri"/>
              <a:ea typeface="Calibri"/>
              <a:cs typeface="Calibri"/>
              <a:sym typeface="Calibri"/>
            </a:endParaRPr>
          </a:p>
        </p:txBody>
      </p:sp>
      <p:graphicFrame>
        <p:nvGraphicFramePr>
          <p:cNvPr id="514" name="Google Shape;514;p23"/>
          <p:cNvGraphicFramePr/>
          <p:nvPr/>
        </p:nvGraphicFramePr>
        <p:xfrm>
          <a:off x="1555139" y="1465687"/>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15" name="Google Shape;515;p23"/>
          <p:cNvGraphicFramePr/>
          <p:nvPr/>
        </p:nvGraphicFramePr>
        <p:xfrm>
          <a:off x="3394791" y="1465687"/>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16" name="Google Shape;516;p23"/>
          <p:cNvGraphicFramePr/>
          <p:nvPr/>
        </p:nvGraphicFramePr>
        <p:xfrm>
          <a:off x="5234443" y="1465687"/>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517" name="Google Shape;517;p23"/>
          <p:cNvSpPr txBox="1"/>
          <p:nvPr/>
        </p:nvSpPr>
        <p:spPr>
          <a:xfrm>
            <a:off x="1511632" y="146343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518" name="Google Shape;518;p23"/>
          <p:cNvSpPr txBox="1"/>
          <p:nvPr/>
        </p:nvSpPr>
        <p:spPr>
          <a:xfrm>
            <a:off x="1425978" y="1830300"/>
            <a:ext cx="132563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7.5    7500</a:t>
            </a:r>
            <a:endParaRPr/>
          </a:p>
        </p:txBody>
      </p:sp>
      <p:sp>
        <p:nvSpPr>
          <p:cNvPr id="519" name="Google Shape;519;p23"/>
          <p:cNvSpPr txBox="1"/>
          <p:nvPr/>
        </p:nvSpPr>
        <p:spPr>
          <a:xfrm>
            <a:off x="3395943" y="143685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520" name="Google Shape;520;p23"/>
          <p:cNvSpPr txBox="1"/>
          <p:nvPr/>
        </p:nvSpPr>
        <p:spPr>
          <a:xfrm>
            <a:off x="3228315" y="1808242"/>
            <a:ext cx="147084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12.4  12400</a:t>
            </a:r>
            <a:endParaRPr/>
          </a:p>
        </p:txBody>
      </p:sp>
      <p:sp>
        <p:nvSpPr>
          <p:cNvPr id="521" name="Google Shape;521;p23"/>
          <p:cNvSpPr txBox="1"/>
          <p:nvPr/>
        </p:nvSpPr>
        <p:spPr>
          <a:xfrm>
            <a:off x="5222050" y="146364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1     1000</a:t>
            </a:r>
            <a:endParaRPr/>
          </a:p>
        </p:txBody>
      </p:sp>
      <p:sp>
        <p:nvSpPr>
          <p:cNvPr id="522" name="Google Shape;522;p23"/>
          <p:cNvSpPr txBox="1"/>
          <p:nvPr/>
        </p:nvSpPr>
        <p:spPr>
          <a:xfrm>
            <a:off x="5158259" y="117282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
        <p:nvSpPr>
          <p:cNvPr id="523" name="Google Shape;523;p23"/>
          <p:cNvSpPr txBox="1"/>
          <p:nvPr/>
        </p:nvSpPr>
        <p:spPr>
          <a:xfrm>
            <a:off x="5110064" y="1832774"/>
            <a:ext cx="127521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6.54   6540</a:t>
            </a:r>
            <a:endParaRPr/>
          </a:p>
        </p:txBody>
      </p:sp>
      <p:graphicFrame>
        <p:nvGraphicFramePr>
          <p:cNvPr id="524" name="Google Shape;524;p23"/>
          <p:cNvGraphicFramePr/>
          <p:nvPr/>
        </p:nvGraphicFramePr>
        <p:xfrm>
          <a:off x="1610853" y="2792236"/>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25" name="Google Shape;525;p23"/>
          <p:cNvGraphicFramePr/>
          <p:nvPr/>
        </p:nvGraphicFramePr>
        <p:xfrm>
          <a:off x="3450505" y="2792236"/>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26" name="Google Shape;526;p23"/>
          <p:cNvGraphicFramePr/>
          <p:nvPr/>
        </p:nvGraphicFramePr>
        <p:xfrm>
          <a:off x="5290157" y="2792236"/>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527" name="Google Shape;527;p23"/>
          <p:cNvSpPr txBox="1"/>
          <p:nvPr/>
        </p:nvSpPr>
        <p:spPr>
          <a:xfrm>
            <a:off x="1525306" y="277563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528" name="Google Shape;528;p23"/>
          <p:cNvSpPr txBox="1"/>
          <p:nvPr/>
        </p:nvSpPr>
        <p:spPr>
          <a:xfrm>
            <a:off x="1518072" y="248272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529" name="Google Shape;529;p23"/>
          <p:cNvSpPr txBox="1"/>
          <p:nvPr/>
        </p:nvSpPr>
        <p:spPr>
          <a:xfrm>
            <a:off x="1539594" y="314267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4     400</a:t>
            </a:r>
            <a:endParaRPr/>
          </a:p>
        </p:txBody>
      </p:sp>
      <p:sp>
        <p:nvSpPr>
          <p:cNvPr id="530" name="Google Shape;530;p23"/>
          <p:cNvSpPr txBox="1"/>
          <p:nvPr/>
        </p:nvSpPr>
        <p:spPr>
          <a:xfrm>
            <a:off x="3368304" y="275079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531" name="Google Shape;531;p23"/>
          <p:cNvSpPr txBox="1"/>
          <p:nvPr/>
        </p:nvSpPr>
        <p:spPr>
          <a:xfrm>
            <a:off x="3361070" y="245789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532" name="Google Shape;532;p23"/>
          <p:cNvSpPr txBox="1"/>
          <p:nvPr/>
        </p:nvSpPr>
        <p:spPr>
          <a:xfrm>
            <a:off x="3346291" y="313559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0.6    60</a:t>
            </a:r>
            <a:endParaRPr/>
          </a:p>
        </p:txBody>
      </p:sp>
      <p:sp>
        <p:nvSpPr>
          <p:cNvPr id="533" name="Google Shape;533;p23"/>
          <p:cNvSpPr txBox="1"/>
          <p:nvPr/>
        </p:nvSpPr>
        <p:spPr>
          <a:xfrm>
            <a:off x="5221207" y="279227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1       100</a:t>
            </a:r>
            <a:endParaRPr/>
          </a:p>
        </p:txBody>
      </p:sp>
      <p:sp>
        <p:nvSpPr>
          <p:cNvPr id="534" name="Google Shape;534;p23"/>
          <p:cNvSpPr txBox="1"/>
          <p:nvPr/>
        </p:nvSpPr>
        <p:spPr>
          <a:xfrm>
            <a:off x="5213973" y="2499371"/>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l       cl</a:t>
            </a:r>
            <a:endParaRPr/>
          </a:p>
        </p:txBody>
      </p:sp>
      <p:sp>
        <p:nvSpPr>
          <p:cNvPr id="535" name="Google Shape;535;p23"/>
          <p:cNvSpPr txBox="1"/>
          <p:nvPr/>
        </p:nvSpPr>
        <p:spPr>
          <a:xfrm>
            <a:off x="5235495" y="315931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2.4    240</a:t>
            </a:r>
            <a:endParaRPr/>
          </a:p>
        </p:txBody>
      </p:sp>
      <p:graphicFrame>
        <p:nvGraphicFramePr>
          <p:cNvPr id="536" name="Google Shape;536;p23"/>
          <p:cNvGraphicFramePr/>
          <p:nvPr/>
        </p:nvGraphicFramePr>
        <p:xfrm>
          <a:off x="1555139" y="411759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37" name="Google Shape;537;p23"/>
          <p:cNvGraphicFramePr/>
          <p:nvPr/>
        </p:nvGraphicFramePr>
        <p:xfrm>
          <a:off x="3394791" y="411759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graphicFrame>
        <p:nvGraphicFramePr>
          <p:cNvPr id="538" name="Google Shape;538;p23"/>
          <p:cNvGraphicFramePr/>
          <p:nvPr/>
        </p:nvGraphicFramePr>
        <p:xfrm>
          <a:off x="5234443" y="4117595"/>
          <a:ext cx="3000000" cy="3000000"/>
        </p:xfrm>
        <a:graphic>
          <a:graphicData uri="http://schemas.openxmlformats.org/drawingml/2006/table">
            <a:tbl>
              <a:tblPr bandRow="1" firstRow="1">
                <a:noFill/>
                <a:tableStyleId>{FD91D494-ABCD-45E8-9792-2A32A0FD62E0}</a:tableStyleId>
              </a:tblPr>
              <a:tblGrid>
                <a:gridCol w="513225"/>
                <a:gridCol w="513225"/>
              </a:tblGrid>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r h="356350">
                <a:tc>
                  <a:txBody>
                    <a:bodyPr/>
                    <a:lstStyle/>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None/>
                      </a:pPr>
                      <a:r>
                        <a:t/>
                      </a:r>
                      <a:endParaRPr sz="1350"/>
                    </a:p>
                  </a:txBody>
                  <a:tcPr marT="45725" marB="45725" marR="91450" marL="91450"/>
                </a:tc>
              </a:tr>
            </a:tbl>
          </a:graphicData>
        </a:graphic>
      </p:graphicFrame>
      <p:sp>
        <p:nvSpPr>
          <p:cNvPr id="539" name="Google Shape;539;p23"/>
          <p:cNvSpPr txBox="1"/>
          <p:nvPr/>
        </p:nvSpPr>
        <p:spPr>
          <a:xfrm>
            <a:off x="1469592" y="410099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540" name="Google Shape;540;p23"/>
          <p:cNvSpPr txBox="1"/>
          <p:nvPr/>
        </p:nvSpPr>
        <p:spPr>
          <a:xfrm>
            <a:off x="1462358" y="380808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541" name="Google Shape;541;p23"/>
          <p:cNvSpPr txBox="1"/>
          <p:nvPr/>
        </p:nvSpPr>
        <p:spPr>
          <a:xfrm>
            <a:off x="1396305" y="4453684"/>
            <a:ext cx="141321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92.5     925</a:t>
            </a:r>
            <a:endParaRPr/>
          </a:p>
        </p:txBody>
      </p:sp>
      <p:sp>
        <p:nvSpPr>
          <p:cNvPr id="542" name="Google Shape;542;p23"/>
          <p:cNvSpPr txBox="1"/>
          <p:nvPr/>
        </p:nvSpPr>
        <p:spPr>
          <a:xfrm>
            <a:off x="3312590" y="407615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543" name="Google Shape;543;p23"/>
          <p:cNvSpPr txBox="1"/>
          <p:nvPr/>
        </p:nvSpPr>
        <p:spPr>
          <a:xfrm>
            <a:off x="3305356" y="378324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544" name="Google Shape;544;p23"/>
          <p:cNvSpPr txBox="1"/>
          <p:nvPr/>
        </p:nvSpPr>
        <p:spPr>
          <a:xfrm>
            <a:off x="3290577" y="446095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3.5   35</a:t>
            </a:r>
            <a:endParaRPr/>
          </a:p>
        </p:txBody>
      </p:sp>
      <p:sp>
        <p:nvSpPr>
          <p:cNvPr id="545" name="Google Shape;545;p23"/>
          <p:cNvSpPr txBox="1"/>
          <p:nvPr/>
        </p:nvSpPr>
        <p:spPr>
          <a:xfrm>
            <a:off x="5165493" y="411763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1       10</a:t>
            </a:r>
            <a:endParaRPr/>
          </a:p>
        </p:txBody>
      </p:sp>
      <p:sp>
        <p:nvSpPr>
          <p:cNvPr id="546" name="Google Shape;546;p23"/>
          <p:cNvSpPr txBox="1"/>
          <p:nvPr/>
        </p:nvSpPr>
        <p:spPr>
          <a:xfrm>
            <a:off x="5158259" y="382473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cl      ml</a:t>
            </a:r>
            <a:endParaRPr/>
          </a:p>
        </p:txBody>
      </p:sp>
      <p:sp>
        <p:nvSpPr>
          <p:cNvPr id="547" name="Google Shape;547;p23"/>
          <p:cNvSpPr txBox="1"/>
          <p:nvPr/>
        </p:nvSpPr>
        <p:spPr>
          <a:xfrm>
            <a:off x="5051918" y="4471008"/>
            <a:ext cx="142470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10.5    105 </a:t>
            </a:r>
            <a:endParaRPr/>
          </a:p>
        </p:txBody>
      </p:sp>
      <p:sp>
        <p:nvSpPr>
          <p:cNvPr id="548" name="Google Shape;548;p23"/>
          <p:cNvSpPr txBox="1"/>
          <p:nvPr/>
        </p:nvSpPr>
        <p:spPr>
          <a:xfrm>
            <a:off x="3298302" y="115302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
        <p:nvSpPr>
          <p:cNvPr id="549" name="Google Shape;549;p23"/>
          <p:cNvSpPr txBox="1"/>
          <p:nvPr/>
        </p:nvSpPr>
        <p:spPr>
          <a:xfrm>
            <a:off x="1438345" y="115302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kg    g</a:t>
            </a:r>
            <a:endParaRPr/>
          </a:p>
        </p:txBody>
      </p:sp>
      <p:sp>
        <p:nvSpPr>
          <p:cNvPr id="550" name="Google Shape;550;p23"/>
          <p:cNvSpPr txBox="1"/>
          <p:nvPr/>
        </p:nvSpPr>
        <p:spPr>
          <a:xfrm>
            <a:off x="554437" y="588214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4.62</a:t>
            </a:r>
            <a:endParaRPr/>
          </a:p>
        </p:txBody>
      </p:sp>
      <p:sp>
        <p:nvSpPr>
          <p:cNvPr id="551" name="Google Shape;551;p23"/>
          <p:cNvSpPr txBox="1"/>
          <p:nvPr/>
        </p:nvSpPr>
        <p:spPr>
          <a:xfrm>
            <a:off x="2929674" y="578091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7.531</a:t>
            </a:r>
            <a:endParaRPr/>
          </a:p>
        </p:txBody>
      </p:sp>
      <p:sp>
        <p:nvSpPr>
          <p:cNvPr id="552" name="Google Shape;552;p23"/>
          <p:cNvSpPr txBox="1"/>
          <p:nvPr/>
        </p:nvSpPr>
        <p:spPr>
          <a:xfrm>
            <a:off x="5036816" y="5856726"/>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0.89</a:t>
            </a:r>
            <a:endParaRPr/>
          </a:p>
        </p:txBody>
      </p:sp>
      <p:sp>
        <p:nvSpPr>
          <p:cNvPr id="553" name="Google Shape;553;p23"/>
          <p:cNvSpPr txBox="1"/>
          <p:nvPr/>
        </p:nvSpPr>
        <p:spPr>
          <a:xfrm>
            <a:off x="554437" y="684467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6.5</a:t>
            </a:r>
            <a:endParaRPr/>
          </a:p>
        </p:txBody>
      </p:sp>
      <p:sp>
        <p:nvSpPr>
          <p:cNvPr id="554" name="Google Shape;554;p23"/>
          <p:cNvSpPr txBox="1"/>
          <p:nvPr/>
        </p:nvSpPr>
        <p:spPr>
          <a:xfrm>
            <a:off x="2929674" y="683443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19.25</a:t>
            </a:r>
            <a:endParaRPr/>
          </a:p>
        </p:txBody>
      </p:sp>
      <p:sp>
        <p:nvSpPr>
          <p:cNvPr id="555" name="Google Shape;555;p23"/>
          <p:cNvSpPr txBox="1"/>
          <p:nvPr/>
        </p:nvSpPr>
        <p:spPr>
          <a:xfrm>
            <a:off x="5036186" y="6890644"/>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0.56</a:t>
            </a:r>
            <a:endParaRPr/>
          </a:p>
        </p:txBody>
      </p:sp>
      <p:sp>
        <p:nvSpPr>
          <p:cNvPr id="556" name="Google Shape;556;p23"/>
          <p:cNvSpPr txBox="1"/>
          <p:nvPr/>
        </p:nvSpPr>
        <p:spPr>
          <a:xfrm>
            <a:off x="570745" y="7768805"/>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54.5</a:t>
            </a:r>
            <a:endParaRPr/>
          </a:p>
        </p:txBody>
      </p:sp>
      <p:sp>
        <p:nvSpPr>
          <p:cNvPr id="557" name="Google Shape;557;p23"/>
          <p:cNvSpPr txBox="1"/>
          <p:nvPr/>
        </p:nvSpPr>
        <p:spPr>
          <a:xfrm>
            <a:off x="2837670" y="7815687"/>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298.2</a:t>
            </a:r>
            <a:endParaRPr/>
          </a:p>
        </p:txBody>
      </p:sp>
      <p:sp>
        <p:nvSpPr>
          <p:cNvPr id="558" name="Google Shape;558;p23"/>
          <p:cNvSpPr txBox="1"/>
          <p:nvPr/>
        </p:nvSpPr>
        <p:spPr>
          <a:xfrm>
            <a:off x="5104595" y="7802089"/>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7.7</a:t>
            </a:r>
            <a:endParaRPr/>
          </a:p>
        </p:txBody>
      </p:sp>
      <p:sp>
        <p:nvSpPr>
          <p:cNvPr id="559" name="Google Shape;559;p23"/>
          <p:cNvSpPr txBox="1"/>
          <p:nvPr/>
        </p:nvSpPr>
        <p:spPr>
          <a:xfrm>
            <a:off x="550705" y="8961558"/>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18.995</a:t>
            </a:r>
            <a:endParaRPr/>
          </a:p>
        </p:txBody>
      </p:sp>
      <p:sp>
        <p:nvSpPr>
          <p:cNvPr id="560" name="Google Shape;560;p23"/>
          <p:cNvSpPr txBox="1"/>
          <p:nvPr/>
        </p:nvSpPr>
        <p:spPr>
          <a:xfrm>
            <a:off x="2817630" y="9008440"/>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189.55</a:t>
            </a:r>
            <a:endParaRPr/>
          </a:p>
        </p:txBody>
      </p:sp>
      <p:sp>
        <p:nvSpPr>
          <p:cNvPr id="561" name="Google Shape;561;p23"/>
          <p:cNvSpPr txBox="1"/>
          <p:nvPr/>
        </p:nvSpPr>
        <p:spPr>
          <a:xfrm>
            <a:off x="5084555" y="8994842"/>
            <a:ext cx="12120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1895.5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4"/>
          <p:cNvSpPr txBox="1"/>
          <p:nvPr>
            <p:ph idx="12" type="sldNum"/>
          </p:nvPr>
        </p:nvSpPr>
        <p:spPr>
          <a:xfrm>
            <a:off x="531495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67" name="Google Shape;567;p24"/>
          <p:cNvGraphicFramePr/>
          <p:nvPr/>
        </p:nvGraphicFramePr>
        <p:xfrm>
          <a:off x="203200" y="215900"/>
          <a:ext cx="3000000" cy="3000000"/>
        </p:xfrm>
        <a:graphic>
          <a:graphicData uri="http://schemas.openxmlformats.org/drawingml/2006/table">
            <a:tbl>
              <a:tblPr bandRow="1" firstRow="1">
                <a:noFill/>
                <a:tableStyleId>{FD91D494-ABCD-45E8-9792-2A32A0FD62E0}</a:tableStyleId>
              </a:tblPr>
              <a:tblGrid>
                <a:gridCol w="2146300"/>
                <a:gridCol w="2146300"/>
                <a:gridCol w="2146300"/>
              </a:tblGrid>
              <a:tr h="317500">
                <a:tc gridSpan="3">
                  <a:txBody>
                    <a:bodyPr/>
                    <a:lstStyle/>
                    <a:p>
                      <a:pPr indent="0" lvl="0" marL="0" marR="0" rtl="0" algn="l">
                        <a:spcBef>
                          <a:spcPts val="0"/>
                        </a:spcBef>
                        <a:spcAft>
                          <a:spcPts val="0"/>
                        </a:spcAft>
                        <a:buNone/>
                      </a:pPr>
                      <a:r>
                        <a:rPr lang="en-GB" sz="1200"/>
                        <a:t>15. Complete the completion table below</a:t>
                      </a:r>
                      <a:endParaRPr/>
                    </a:p>
                  </a:txBody>
                  <a:tcPr marT="45725" marB="45725" marR="91450" marL="91450"/>
                </a:tc>
                <a:tc hMerge="1"/>
                <a:tc hMerge="1"/>
              </a:tr>
              <a:tr h="450850">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50850">
                <a:tc>
                  <a:txBody>
                    <a:bodyPr/>
                    <a:lstStyle/>
                    <a:p>
                      <a:pPr indent="0" lvl="0" marL="0" marR="0" rtl="0" algn="ctr">
                        <a:spcBef>
                          <a:spcPts val="0"/>
                        </a:spcBef>
                        <a:spcAft>
                          <a:spcPts val="0"/>
                        </a:spcAft>
                        <a:buNone/>
                      </a:pPr>
                      <a:r>
                        <a:rPr lang="en-GB" sz="1200"/>
                        <a:t>7</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700</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7000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0.5</a:t>
                      </a:r>
                      <a:endParaRPr/>
                    </a:p>
                  </a:txBody>
                  <a:tcPr marT="45725" marB="45725" marR="91450" marL="91450" anchor="ctr"/>
                </a:tc>
                <a:tc>
                  <a:txBody>
                    <a:bodyPr/>
                    <a:lstStyle/>
                    <a:p>
                      <a:pPr indent="0" lvl="0" marL="0" marR="0" rtl="0" algn="ctr">
                        <a:spcBef>
                          <a:spcPts val="0"/>
                        </a:spcBef>
                        <a:spcAft>
                          <a:spcPts val="0"/>
                        </a:spcAft>
                        <a:buNone/>
                      </a:pPr>
                      <a:r>
                        <a:rPr lang="en-GB" sz="1200"/>
                        <a:t>50</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500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2</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200</a:t>
                      </a:r>
                      <a:endParaRPr/>
                    </a:p>
                  </a:txBody>
                  <a:tcPr marT="45725" marB="45725" marR="91450" marL="91450" anchor="ctr"/>
                </a:tc>
                <a:tc>
                  <a:txBody>
                    <a:bodyPr/>
                    <a:lstStyle/>
                    <a:p>
                      <a:pPr indent="0" lvl="0" marL="0" marR="0" rtl="0" algn="ctr">
                        <a:spcBef>
                          <a:spcPts val="0"/>
                        </a:spcBef>
                        <a:spcAft>
                          <a:spcPts val="0"/>
                        </a:spcAft>
                        <a:buNone/>
                      </a:pPr>
                      <a:r>
                        <a:rPr lang="en-GB" sz="1200"/>
                        <a:t>2000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30</a:t>
                      </a:r>
                      <a:endParaRPr/>
                    </a:p>
                  </a:txBody>
                  <a:tcPr marT="45725" marB="45725" marR="91450" marL="91450" anchor="ctr"/>
                </a:tc>
                <a:tc>
                  <a:txBody>
                    <a:bodyPr/>
                    <a:lstStyle/>
                    <a:p>
                      <a:pPr indent="0" lvl="0" marL="0" marR="0" rtl="0" algn="ctr">
                        <a:spcBef>
                          <a:spcPts val="0"/>
                        </a:spcBef>
                        <a:spcAft>
                          <a:spcPts val="0"/>
                        </a:spcAft>
                        <a:buNone/>
                      </a:pPr>
                      <a:r>
                        <a:rPr lang="en-GB" sz="1200"/>
                        <a:t>3000</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30,000</a:t>
                      </a:r>
                      <a:endParaRPr/>
                    </a:p>
                  </a:txBody>
                  <a:tcPr marT="45725" marB="45725" marR="91450" marL="91450" anchor="ctr"/>
                </a:tc>
              </a:tr>
              <a:tr h="450850">
                <a:tc>
                  <a:txBody>
                    <a:bodyPr/>
                    <a:lstStyle/>
                    <a:p>
                      <a:pPr indent="0" lvl="0" marL="0" marR="0" rtl="0" algn="ctr">
                        <a:spcBef>
                          <a:spcPts val="0"/>
                        </a:spcBef>
                        <a:spcAft>
                          <a:spcPts val="0"/>
                        </a:spcAft>
                        <a:buNone/>
                      </a:pPr>
                      <a:r>
                        <a:rPr lang="en-GB" sz="1200"/>
                        <a:t>14</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1400</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14,000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1.46</a:t>
                      </a:r>
                      <a:endParaRPr/>
                    </a:p>
                  </a:txBody>
                  <a:tcPr marT="45725" marB="45725" marR="91450" marL="91450" anchor="ctr"/>
                </a:tc>
                <a:tc>
                  <a:txBody>
                    <a:bodyPr/>
                    <a:lstStyle/>
                    <a:p>
                      <a:pPr indent="0" lvl="0" marL="0" marR="0" rtl="0" algn="ctr">
                        <a:spcBef>
                          <a:spcPts val="0"/>
                        </a:spcBef>
                        <a:spcAft>
                          <a:spcPts val="0"/>
                        </a:spcAft>
                        <a:buNone/>
                      </a:pPr>
                      <a:r>
                        <a:rPr lang="en-GB" sz="1200"/>
                        <a:t>146</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1460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1.47</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147</a:t>
                      </a:r>
                      <a:endParaRPr/>
                    </a:p>
                  </a:txBody>
                  <a:tcPr marT="45725" marB="45725" marR="91450" marL="91450" anchor="ctr"/>
                </a:tc>
                <a:tc>
                  <a:txBody>
                    <a:bodyPr/>
                    <a:lstStyle/>
                    <a:p>
                      <a:pPr indent="0" lvl="0" marL="0" marR="0" rtl="0" algn="ctr">
                        <a:spcBef>
                          <a:spcPts val="0"/>
                        </a:spcBef>
                        <a:spcAft>
                          <a:spcPts val="0"/>
                        </a:spcAft>
                        <a:buNone/>
                      </a:pPr>
                      <a:r>
                        <a:rPr lang="en-GB" sz="1200"/>
                        <a:t>1470</a:t>
                      </a:r>
                      <a:endParaRPr/>
                    </a:p>
                  </a:txBody>
                  <a:tcPr marT="45725" marB="45725" marR="91450" marL="91450" anchor="ctr"/>
                </a:tc>
              </a:tr>
              <a:tr h="450850">
                <a:tc>
                  <a:txBody>
                    <a:bodyPr/>
                    <a:lstStyle/>
                    <a:p>
                      <a:pPr indent="0" lvl="0" marL="0" marR="0" rtl="0" algn="ctr">
                        <a:spcBef>
                          <a:spcPts val="0"/>
                        </a:spcBef>
                        <a:spcAft>
                          <a:spcPts val="0"/>
                        </a:spcAft>
                        <a:buNone/>
                      </a:pPr>
                      <a:r>
                        <a:rPr b="1" lang="en-GB" sz="1200">
                          <a:solidFill>
                            <a:srgbClr val="FF0000"/>
                          </a:solidFill>
                        </a:rPr>
                        <a:t>0.85</a:t>
                      </a:r>
                      <a:endParaRPr/>
                    </a:p>
                  </a:txBody>
                  <a:tcPr marT="45725" marB="45725" marR="91450" marL="91450" anchor="ctr"/>
                </a:tc>
                <a:tc>
                  <a:txBody>
                    <a:bodyPr/>
                    <a:lstStyle/>
                    <a:p>
                      <a:pPr indent="0" lvl="0" marL="0" marR="0" rtl="0" algn="ctr">
                        <a:spcBef>
                          <a:spcPts val="0"/>
                        </a:spcBef>
                        <a:spcAft>
                          <a:spcPts val="0"/>
                        </a:spcAft>
                        <a:buNone/>
                      </a:pPr>
                      <a:r>
                        <a:rPr lang="en-GB" sz="1200"/>
                        <a:t>85</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850</a:t>
                      </a:r>
                      <a:endParaRPr/>
                    </a:p>
                  </a:txBody>
                  <a:tcPr marT="45725" marB="45725" marR="91450" marL="91450" anchor="ctr"/>
                </a:tc>
              </a:tr>
              <a:tr h="450850">
                <a:tc>
                  <a:txBody>
                    <a:bodyPr/>
                    <a:lstStyle/>
                    <a:p>
                      <a:pPr indent="0" lvl="0" marL="0" marR="0" rtl="0" algn="ctr">
                        <a:spcBef>
                          <a:spcPts val="0"/>
                        </a:spcBef>
                        <a:spcAft>
                          <a:spcPts val="0"/>
                        </a:spcAft>
                        <a:buNone/>
                      </a:pPr>
                      <a:r>
                        <a:rPr lang="en-GB" sz="1200"/>
                        <a:t>0.086</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8.6</a:t>
                      </a:r>
                      <a:endParaRPr/>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86</a:t>
                      </a:r>
                      <a:endParaRPr/>
                    </a:p>
                  </a:txBody>
                  <a:tcPr marT="45725" marB="45725" marR="91450" marL="91450" anchor="ctr"/>
                </a:tc>
              </a:tr>
            </a:tbl>
          </a:graphicData>
        </a:graphic>
      </p:graphicFrame>
      <p:graphicFrame>
        <p:nvGraphicFramePr>
          <p:cNvPr id="568" name="Google Shape;568;p24"/>
          <p:cNvGraphicFramePr/>
          <p:nvPr/>
        </p:nvGraphicFramePr>
        <p:xfrm>
          <a:off x="203202" y="5041900"/>
          <a:ext cx="3000000" cy="3000000"/>
        </p:xfrm>
        <a:graphic>
          <a:graphicData uri="http://schemas.openxmlformats.org/drawingml/2006/table">
            <a:tbl>
              <a:tblPr bandRow="1" firstRow="1">
                <a:noFill/>
                <a:tableStyleId>{FD91D494-ABCD-45E8-9792-2A32A0FD62E0}</a:tableStyleId>
              </a:tblPr>
              <a:tblGrid>
                <a:gridCol w="419300"/>
                <a:gridCol w="2006525"/>
                <a:gridCol w="2006525"/>
                <a:gridCol w="2006525"/>
              </a:tblGrid>
              <a:tr h="368300">
                <a:tc gridSpan="4">
                  <a:txBody>
                    <a:bodyPr/>
                    <a:lstStyle/>
                    <a:p>
                      <a:pPr indent="0" lvl="0" marL="0" marR="0" rtl="0" algn="l">
                        <a:lnSpc>
                          <a:spcPct val="100000"/>
                        </a:lnSpc>
                        <a:spcBef>
                          <a:spcPts val="0"/>
                        </a:spcBef>
                        <a:spcAft>
                          <a:spcPts val="0"/>
                        </a:spcAft>
                        <a:buClr>
                          <a:schemeClr val="dk1"/>
                        </a:buClr>
                        <a:buSzPts val="1200"/>
                        <a:buFont typeface="Calibri"/>
                        <a:buNone/>
                      </a:pPr>
                      <a:r>
                        <a:rPr lang="en-GB" sz="1200"/>
                        <a:t>16. Use the correct inequality symbol ( &gt; , &lt; , = ) to make each statement correct:</a:t>
                      </a:r>
                      <a:endParaRPr/>
                    </a:p>
                  </a:txBody>
                  <a:tcPr marT="45725" marB="45725" marR="91450" marL="91450" anchor="ctr"/>
                </a:tc>
                <a:tc hMerge="1"/>
                <a:tc hMerge="1"/>
                <a:tc hMerge="1"/>
              </a:tr>
              <a:tr h="483500">
                <a:tc>
                  <a:txBody>
                    <a:bodyPr/>
                    <a:lstStyle/>
                    <a:p>
                      <a:pPr indent="0" lvl="0" marL="0" marR="0" rtl="0" algn="ctr">
                        <a:spcBef>
                          <a:spcPts val="0"/>
                        </a:spcBef>
                        <a:spcAft>
                          <a:spcPts val="0"/>
                        </a:spcAft>
                        <a:buNone/>
                      </a:pPr>
                      <a:r>
                        <a:rPr lang="en-GB" sz="1200"/>
                        <a:t>a)</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&lt;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b)</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&lt;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c)</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&gt;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d)</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&gt;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e)</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f)</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&gt;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g)</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r h="483500">
                <a:tc>
                  <a:txBody>
                    <a:bodyPr/>
                    <a:lstStyle/>
                    <a:p>
                      <a:pPr indent="0" lvl="0" marL="0" marR="0" rtl="0" algn="ctr">
                        <a:spcBef>
                          <a:spcPts val="0"/>
                        </a:spcBef>
                        <a:spcAft>
                          <a:spcPts val="0"/>
                        </a:spcAft>
                        <a:buNone/>
                      </a:pPr>
                      <a:r>
                        <a:rPr lang="en-GB" sz="1200"/>
                        <a:t>h)</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nchor="ctr"/>
                </a:tc>
                <a:tc>
                  <a:txBody>
                    <a:bodyPr/>
                    <a:lstStyle/>
                    <a:p>
                      <a:pPr indent="0" lvl="0" marL="0" marR="0" rtl="0" algn="l">
                        <a:spcBef>
                          <a:spcPts val="0"/>
                        </a:spcBef>
                        <a:spcAft>
                          <a:spcPts val="0"/>
                        </a:spcAft>
                        <a:buNone/>
                      </a:pPr>
                      <a:r>
                        <a:t/>
                      </a:r>
                      <a:endParaRPr sz="1350"/>
                    </a:p>
                  </a:txBody>
                  <a:tcPr marT="45725" marB="45725" marR="91450" marL="9145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graphicFrame>
        <p:nvGraphicFramePr>
          <p:cNvPr id="573" name="Google Shape;573;p25"/>
          <p:cNvGraphicFramePr/>
          <p:nvPr/>
        </p:nvGraphicFramePr>
        <p:xfrm>
          <a:off x="143259" y="5149530"/>
          <a:ext cx="3000000" cy="3000000"/>
        </p:xfrm>
        <a:graphic>
          <a:graphicData uri="http://schemas.openxmlformats.org/drawingml/2006/table">
            <a:tbl>
              <a:tblPr bandRow="1" firstRow="1">
                <a:noFill/>
                <a:tableStyleId>{FD91D494-ABCD-45E8-9792-2A32A0FD62E0}</a:tableStyleId>
              </a:tblPr>
              <a:tblGrid>
                <a:gridCol w="6571475"/>
              </a:tblGrid>
              <a:tr h="365750">
                <a:tc>
                  <a:txBody>
                    <a:bodyPr/>
                    <a:lstStyle/>
                    <a:p>
                      <a:pPr indent="0" lvl="0" marL="0" marR="0" rtl="0" algn="ctr">
                        <a:lnSpc>
                          <a:spcPct val="100000"/>
                        </a:lnSpc>
                        <a:spcBef>
                          <a:spcPts val="0"/>
                        </a:spcBef>
                        <a:spcAft>
                          <a:spcPts val="0"/>
                        </a:spcAft>
                        <a:buClr>
                          <a:schemeClr val="lt1"/>
                        </a:buClr>
                        <a:buSzPts val="1800"/>
                        <a:buFont typeface="Calibri"/>
                        <a:buNone/>
                      </a:pPr>
                      <a:r>
                        <a:rPr b="1" lang="en-GB" sz="1800">
                          <a:solidFill>
                            <a:schemeClr val="lt1"/>
                          </a:solidFill>
                        </a:rPr>
                        <a:t>Skills Check</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7E2341"/>
                    </a:solidFill>
                  </a:tcPr>
                </a:tc>
              </a:tr>
              <a:tr h="1005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05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05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05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574" name="Google Shape;574;p25"/>
          <p:cNvGraphicFramePr/>
          <p:nvPr/>
        </p:nvGraphicFramePr>
        <p:xfrm>
          <a:off x="217783" y="367350"/>
          <a:ext cx="3000000" cy="3000000"/>
        </p:xfrm>
        <a:graphic>
          <a:graphicData uri="http://schemas.openxmlformats.org/drawingml/2006/table">
            <a:tbl>
              <a:tblPr bandRow="1" firstRow="1">
                <a:noFill/>
                <a:tableStyleId>{FD91D494-ABCD-45E8-9792-2A32A0FD62E0}</a:tableStyleId>
              </a:tblPr>
              <a:tblGrid>
                <a:gridCol w="3232150"/>
                <a:gridCol w="3232150"/>
              </a:tblGrid>
              <a:tr h="340900">
                <a:tc>
                  <a:txBody>
                    <a:bodyPr/>
                    <a:lstStyle/>
                    <a:p>
                      <a:pPr indent="0" lvl="0" marL="0" marR="0" rtl="0" algn="l">
                        <a:spcBef>
                          <a:spcPts val="0"/>
                        </a:spcBef>
                        <a:spcAft>
                          <a:spcPts val="0"/>
                        </a:spcAft>
                        <a:buNone/>
                      </a:pPr>
                      <a:r>
                        <a:rPr b="0" lang="en-GB" sz="1200">
                          <a:solidFill>
                            <a:schemeClr val="dk1"/>
                          </a:solidFill>
                        </a:rPr>
                        <a:t>a) James and Jack buy a 3000cl carton of orange juice. Each boy drinks 650ml of orange juice. How much orange juice is left? Give your answer in ml.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 There are 1500cl of water in a bottle. There are 250 millilitres of water in another bottle. Work out the total amount of water in the two bottles, giving your answer in ml.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575" name="Google Shape;575;p25"/>
          <p:cNvSpPr txBox="1"/>
          <p:nvPr/>
        </p:nvSpPr>
        <p:spPr>
          <a:xfrm>
            <a:off x="175917" y="104340"/>
            <a:ext cx="343301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lang="en-GB" sz="1200">
                <a:solidFill>
                  <a:srgbClr val="000000"/>
                </a:solidFill>
                <a:latin typeface="Calibri"/>
                <a:ea typeface="Calibri"/>
                <a:cs typeface="Calibri"/>
                <a:sym typeface="Calibri"/>
              </a:rPr>
              <a:t>17. Answer the following problems:</a:t>
            </a:r>
            <a:endParaRPr b="0" i="0" sz="1200" u="none" cap="none" strike="noStrike">
              <a:solidFill>
                <a:srgbClr val="000000"/>
              </a:solidFill>
              <a:latin typeface="Calibri"/>
              <a:ea typeface="Calibri"/>
              <a:cs typeface="Calibri"/>
              <a:sym typeface="Calibri"/>
            </a:endParaRPr>
          </a:p>
        </p:txBody>
      </p:sp>
      <p:graphicFrame>
        <p:nvGraphicFramePr>
          <p:cNvPr id="576" name="Google Shape;576;p25"/>
          <p:cNvGraphicFramePr/>
          <p:nvPr/>
        </p:nvGraphicFramePr>
        <p:xfrm>
          <a:off x="217783" y="2630310"/>
          <a:ext cx="3000000" cy="3000000"/>
        </p:xfrm>
        <a:graphic>
          <a:graphicData uri="http://schemas.openxmlformats.org/drawingml/2006/table">
            <a:tbl>
              <a:tblPr bandRow="1" firstRow="1">
                <a:noFill/>
                <a:tableStyleId>{FD91D494-ABCD-45E8-9792-2A32A0FD62E0}</a:tableStyleId>
              </a:tblPr>
              <a:tblGrid>
                <a:gridCol w="3232150"/>
                <a:gridCol w="3232150"/>
              </a:tblGrid>
              <a:tr h="807325">
                <a:tc>
                  <a:txBody>
                    <a:bodyPr/>
                    <a:lstStyle/>
                    <a:p>
                      <a:pPr indent="0" lvl="0" marL="0" marR="0" rtl="0" algn="l">
                        <a:spcBef>
                          <a:spcPts val="0"/>
                        </a:spcBef>
                        <a:spcAft>
                          <a:spcPts val="0"/>
                        </a:spcAft>
                        <a:buNone/>
                      </a:pPr>
                      <a:r>
                        <a:rPr b="0" lang="en-GB" sz="1200">
                          <a:solidFill>
                            <a:schemeClr val="dk1"/>
                          </a:solidFill>
                        </a:rPr>
                        <a:t>c) Robyn is filling a paddling pool up with 4000cl of cold water. She then adds 2500ml of hot water. How much water is in the paddling pool altogether? Give your answer in ml.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 Daanya is mixing red and blue paint to make purple paint. She uses 70cl of red paint and 340ml of blue paint. How much purple paint does she make? Give your answer in ml.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577" name="Google Shape;577;p25"/>
          <p:cNvSpPr txBox="1"/>
          <p:nvPr>
            <p:ph idx="12" type="sldNum"/>
          </p:nvPr>
        </p:nvSpPr>
        <p:spPr>
          <a:xfrm>
            <a:off x="5171691"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578" name="Google Shape;578;p25"/>
          <p:cNvSpPr txBox="1"/>
          <p:nvPr/>
        </p:nvSpPr>
        <p:spPr>
          <a:xfrm>
            <a:off x="1310628" y="1682861"/>
            <a:ext cx="10134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28700ml</a:t>
            </a:r>
            <a:endParaRPr/>
          </a:p>
        </p:txBody>
      </p:sp>
      <p:sp>
        <p:nvSpPr>
          <p:cNvPr id="579" name="Google Shape;579;p25"/>
          <p:cNvSpPr txBox="1"/>
          <p:nvPr/>
        </p:nvSpPr>
        <p:spPr>
          <a:xfrm>
            <a:off x="4601033" y="1682861"/>
            <a:ext cx="10134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15250ml</a:t>
            </a:r>
            <a:endParaRPr/>
          </a:p>
        </p:txBody>
      </p:sp>
      <p:sp>
        <p:nvSpPr>
          <p:cNvPr id="580" name="Google Shape;580;p25"/>
          <p:cNvSpPr txBox="1"/>
          <p:nvPr/>
        </p:nvSpPr>
        <p:spPr>
          <a:xfrm>
            <a:off x="1291525" y="3761155"/>
            <a:ext cx="10134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42500ml</a:t>
            </a:r>
            <a:endParaRPr/>
          </a:p>
        </p:txBody>
      </p:sp>
      <p:sp>
        <p:nvSpPr>
          <p:cNvPr id="581" name="Google Shape;581;p25"/>
          <p:cNvSpPr txBox="1"/>
          <p:nvPr/>
        </p:nvSpPr>
        <p:spPr>
          <a:xfrm>
            <a:off x="4581930" y="3761155"/>
            <a:ext cx="8963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1040ml</a:t>
            </a:r>
            <a:endParaRPr/>
          </a:p>
        </p:txBody>
      </p:sp>
      <p:sp>
        <p:nvSpPr>
          <p:cNvPr id="582" name="Google Shape;582;p25"/>
          <p:cNvSpPr/>
          <p:nvPr/>
        </p:nvSpPr>
        <p:spPr>
          <a:xfrm>
            <a:off x="2091413" y="5853317"/>
            <a:ext cx="1200150" cy="34914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3" name="Google Shape;583;p25"/>
          <p:cNvSpPr/>
          <p:nvPr/>
        </p:nvSpPr>
        <p:spPr>
          <a:xfrm>
            <a:off x="2091413" y="6835125"/>
            <a:ext cx="1200150" cy="34914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4" name="Google Shape;584;p25"/>
          <p:cNvSpPr/>
          <p:nvPr/>
        </p:nvSpPr>
        <p:spPr>
          <a:xfrm>
            <a:off x="2091413" y="8215654"/>
            <a:ext cx="1200150" cy="34914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5" name="Google Shape;585;p25"/>
          <p:cNvSpPr/>
          <p:nvPr/>
        </p:nvSpPr>
        <p:spPr>
          <a:xfrm>
            <a:off x="2057400" y="9247043"/>
            <a:ext cx="1200150" cy="34914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