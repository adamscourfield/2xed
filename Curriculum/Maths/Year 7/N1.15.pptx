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78AC73-93AD-4269-B337-4D8EB6AACEA8}">
  <a:tblStyle styleId="{9778AC73-93AD-4269-B337-4D8EB6AACE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402765" y="95889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N1.15 – Order any Integers, Decimals and Negatives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3144" y="1033208"/>
            <a:ext cx="50472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integers, decimals and negatives using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order integers, decimals and negatives without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ordering integers, decimals and negatives.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93698" y="57425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1077950"/>
                <a:gridCol w="1867450"/>
                <a:gridCol w="1867450"/>
                <a:gridCol w="1867450"/>
              </a:tblGrid>
              <a:tr h="25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21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Look for the negative furthest from zero. This is the smallest number.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 this step for the remaining numbers until all numbers have been ordered.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-3,     -7,     -2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-41,      -13,     -82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-4,     -3,    -7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8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-62,  -64,  -12,  -22,  - 26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-17,   -45,   -19,    -44,   -27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-34,   -43,    -63,   -39,  -93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13"/>
          <p:cNvSpPr txBox="1"/>
          <p:nvPr/>
        </p:nvSpPr>
        <p:spPr>
          <a:xfrm>
            <a:off x="5276549" y="94210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6108" y="337576"/>
            <a:ext cx="6679742" cy="14395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2983" y="748771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50468" y="385966"/>
            <a:ext cx="6551021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how to order decimals.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622572" y="715117"/>
            <a:ext cx="108074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Value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90276" y="1826176"/>
            <a:ext cx="6672205" cy="124443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Ordering a mix of integers, decimals, and negative numbers brings together all the skills we’ve built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far — understanding place value, comparing numbers, estimating positions on number lines,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recognising midpoints. By applying these ideas together, we can confidently arrange any set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numbers from smallest to largest or largest to smallest, whether they’re positive, negative, whole, or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decimal.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13"/>
          <p:cNvGrpSpPr/>
          <p:nvPr/>
        </p:nvGrpSpPr>
        <p:grpSpPr>
          <a:xfrm>
            <a:off x="58441" y="3085853"/>
            <a:ext cx="6807419" cy="2269622"/>
            <a:chOff x="50581" y="1910511"/>
            <a:chExt cx="6807419" cy="2126169"/>
          </a:xfrm>
        </p:grpSpPr>
        <p:cxnSp>
          <p:nvCxnSpPr>
            <p:cNvPr id="100" name="Google Shape;100;p13"/>
            <p:cNvCxnSpPr/>
            <p:nvPr/>
          </p:nvCxnSpPr>
          <p:spPr>
            <a:xfrm flipH="1" rot="10800000">
              <a:off x="931051" y="3894707"/>
              <a:ext cx="5541513" cy="2282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" name="Google Shape;101;p13"/>
            <p:cNvSpPr/>
            <p:nvPr/>
          </p:nvSpPr>
          <p:spPr>
            <a:xfrm>
              <a:off x="76370" y="1964111"/>
              <a:ext cx="6699219" cy="20725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3"/>
            <p:cNvCxnSpPr/>
            <p:nvPr/>
          </p:nvCxnSpPr>
          <p:spPr>
            <a:xfrm>
              <a:off x="76370" y="3134598"/>
              <a:ext cx="669921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3" name="Google Shape;103;p13"/>
            <p:cNvCxnSpPr>
              <a:stCxn id="101" idx="2"/>
              <a:endCxn id="101" idx="0"/>
            </p:cNvCxnSpPr>
            <p:nvPr/>
          </p:nvCxnSpPr>
          <p:spPr>
            <a:xfrm rot="10800000">
              <a:off x="3425980" y="1963980"/>
              <a:ext cx="0" cy="207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4" name="Google Shape;104;p13"/>
            <p:cNvSpPr txBox="1"/>
            <p:nvPr/>
          </p:nvSpPr>
          <p:spPr>
            <a:xfrm>
              <a:off x="50581" y="1931453"/>
              <a:ext cx="8247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5745772" y="1910511"/>
              <a:ext cx="11122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Characteristics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52843" y="3110540"/>
              <a:ext cx="78816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5685115" y="3101940"/>
              <a:ext cx="11728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 - Examples</a:t>
              </a:r>
              <a:endParaRPr b="1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2599153" y="2901200"/>
              <a:ext cx="1650132" cy="33855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Negative Number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3"/>
          <p:cNvSpPr txBox="1"/>
          <p:nvPr/>
        </p:nvSpPr>
        <p:spPr>
          <a:xfrm>
            <a:off x="66960" y="3285891"/>
            <a:ext cx="3230335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numbers are numbers that represent values that are less than zero. They show things like temperatures below zero, debts and losses.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459630" y="4590030"/>
            <a:ext cx="32303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Numbers: Positive numbers are greater than zero and are not negative.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Zero: Zero is not positive or negative.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66960" y="4635689"/>
            <a:ext cx="347335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temperature drops below zero, like -10 degrees Celsius, it means it's colder than zero degrees.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Debt: When you owe money, the amount is represented by a negative number. 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414847" y="3248658"/>
            <a:ext cx="3497414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numbers have a negative sign (-) in front of them.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comparing negative numbers, the one with the smaller distance from zero is considered greater. For example, -3 is greater than -5 because -3 is closer to 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-282585" y="4504388"/>
            <a:ext cx="44196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         -10            -0.5           -⅔            -632.456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368009" y="4556192"/>
            <a:ext cx="7315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5          0           2.5         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⅔         </a:t>
            </a: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200       45.67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9470" y="541489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Ordering negative numbers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-1842434" y="7136214"/>
            <a:ext cx="79846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-7, -3, -2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1630237" y="6885682"/>
            <a:ext cx="79846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-7, -4, -3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1125294" y="7179995"/>
            <a:ext cx="57258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-82, -41, -13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-816428" y="8552207"/>
            <a:ext cx="57258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-64, -62, -26, -22, -12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186375" y="8563362"/>
            <a:ext cx="57258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-45, -44, -27, -19, -17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2984225" y="8585316"/>
            <a:ext cx="57258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-93, -63, -43, -39, -34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28" name="Google Shape;128;p14"/>
          <p:cNvGraphicFramePr/>
          <p:nvPr/>
        </p:nvGraphicFramePr>
        <p:xfrm>
          <a:off x="130135" y="37295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332525"/>
                <a:gridCol w="3332525"/>
              </a:tblGrid>
              <a:tr h="136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-3, 13, 3, -2, 0, 1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-3, -1, 3, -7, 0, 14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-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 -1, 3, -7, 10, 14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 -11, 3, -72, 104, -4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</a:t>
                      </a:r>
                      <a:r>
                        <a:rPr lang="en-GB" sz="1200"/>
                        <a:t>3, −5, 1, 0, −2, 4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</a:t>
                      </a:r>
                      <a:r>
                        <a:rPr lang="en-GB" sz="1200"/>
                        <a:t>−1, 8, −5, 2, −9, −4, 3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</a:t>
                      </a:r>
                      <a:r>
                        <a:rPr lang="en-GB" sz="1200"/>
                        <a:t>−1, −7, −2, 5, −6, 1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</a:t>
                      </a:r>
                      <a:r>
                        <a:rPr lang="en-GB" sz="1200"/>
                        <a:t>10, −7, −3, 5, −9, −2, −12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14"/>
          <p:cNvSpPr txBox="1"/>
          <p:nvPr/>
        </p:nvSpPr>
        <p:spPr>
          <a:xfrm>
            <a:off x="5312093" y="948868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99656" y="3504802"/>
            <a:ext cx="1137954" cy="42711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114896" y="194240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Ordering positive and negative numbers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14"/>
          <p:cNvGraphicFramePr/>
          <p:nvPr/>
        </p:nvGraphicFramePr>
        <p:xfrm>
          <a:off x="114896" y="412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1393875"/>
                <a:gridCol w="1762150"/>
                <a:gridCol w="1762150"/>
                <a:gridCol w="1762150"/>
              </a:tblGrid>
              <a:tr h="194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9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Look for the negative furthest from zero. This is the smallest number.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 this step for the remaining numbers until all numbers have been ordered.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-9, 9, 0, -1, -7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-9, 9, 0, -11, -7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-9, 9, 0, 11, -7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4"/>
          <p:cNvSpPr txBox="1"/>
          <p:nvPr/>
        </p:nvSpPr>
        <p:spPr>
          <a:xfrm>
            <a:off x="1237610" y="3718361"/>
            <a:ext cx="72999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the following questions, list the numbers in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order.</a:t>
            </a:r>
            <a:endParaRPr/>
          </a:p>
        </p:txBody>
      </p:sp>
      <p:graphicFrame>
        <p:nvGraphicFramePr>
          <p:cNvPr id="134" name="Google Shape;134;p14"/>
          <p:cNvGraphicFramePr/>
          <p:nvPr/>
        </p:nvGraphicFramePr>
        <p:xfrm>
          <a:off x="130134" y="71151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332525"/>
                <a:gridCol w="3332525"/>
              </a:tblGrid>
              <a:tr h="1524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list the numbers in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order.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560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/>
                        <a:t>21, −3, 16, −19, −15, 23, −30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/>
                        <a:t>−25, 35, 15, −5, 25, −45, 20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/>
                        <a:t>129, 101, −11, −111, 92, −91, 133, −29 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-92, -93, -99, -32, -98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-130, -139, -133, -132, -138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-180, -189, -183, -182, -138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4"/>
          <p:cNvSpPr txBox="1"/>
          <p:nvPr/>
        </p:nvSpPr>
        <p:spPr>
          <a:xfrm>
            <a:off x="-1559380" y="1836514"/>
            <a:ext cx="7875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-9, -7, -1, 0, 9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39708" y="1868234"/>
            <a:ext cx="7875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-11, -9, -7, 0, 9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2043792" y="1883131"/>
            <a:ext cx="7875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-9, -7, 0, 9, 11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862694" y="4220061"/>
            <a:ext cx="8496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-3, -2, 0, 1, 3, 13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4289420" y="4229353"/>
            <a:ext cx="8496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-7, -3, -1, 0, 3, 14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668633" y="4961823"/>
            <a:ext cx="9933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-13, -7, -1, 3, 10, 14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019551" y="5000704"/>
            <a:ext cx="9933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-72, -11, -4, 3, 13, 104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058634" y="5743742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-5, -2, 0, 1, 3, 4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101194" y="5733174"/>
            <a:ext cx="23431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-9, -5, -4, -1, 2, 3, 8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862694" y="6503841"/>
            <a:ext cx="10847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-7, -6, -2, -1, 1, 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033880" y="6467700"/>
            <a:ext cx="10847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-12, -9, -7, -3, -2, 5, 10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419100" y="7626928"/>
            <a:ext cx="8218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23, 21, 16, -3, -15, -19, -30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858986" y="7619166"/>
            <a:ext cx="8218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35, 25, 20, 15, -5, -25, -45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0" y="8411096"/>
            <a:ext cx="8218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133, 129, 101, 92, -11, -29, -91, -111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3858986" y="8441964"/>
            <a:ext cx="8218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-32, -92, -93, -98, -99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19100" y="9226132"/>
            <a:ext cx="8218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-130, -132, -133, -138, -139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3846017" y="9205849"/>
            <a:ext cx="8218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-138, -180, -182, -183, -189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290531" y="4240689"/>
            <a:ext cx="6298637" cy="5339431"/>
            <a:chOff x="319877" y="4321782"/>
            <a:chExt cx="6298637" cy="5339431"/>
          </a:xfrm>
        </p:grpSpPr>
        <p:pic>
          <p:nvPicPr>
            <p:cNvPr descr="A picture containing chart&#10;&#10;Description automatically generated" id="159" name="Google Shape;15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9877" y="4321782"/>
              <a:ext cx="6206999" cy="5339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5"/>
            <p:cNvSpPr/>
            <p:nvPr/>
          </p:nvSpPr>
          <p:spPr>
            <a:xfrm>
              <a:off x="319877" y="4321782"/>
              <a:ext cx="6298637" cy="300865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5"/>
          <p:cNvSpPr txBox="1"/>
          <p:nvPr/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15"/>
          <p:cNvGraphicFramePr/>
          <p:nvPr/>
        </p:nvGraphicFramePr>
        <p:xfrm>
          <a:off x="164101" y="1564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286250"/>
                <a:gridCol w="3286250"/>
              </a:tblGrid>
              <a:tr h="1527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Arrange the following temperatures in order, from lowest to highest.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-</a:t>
                      </a:r>
                      <a:r>
                        <a:rPr lang="en-GB" sz="1200"/>
                        <a:t>8°C, 12°C, 9°C, -15°C, 11°C, -7°C, 2°C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lang="en-GB" sz="1200"/>
                        <a:t>2°C, −5°C, 4°C, 8°C, −3°C, 1°C, −7°C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07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468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Arrange the towns in order of temperature, starting with the lowest.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163" name="Google Shape;16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31" y="1950287"/>
            <a:ext cx="2285029" cy="17057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15"/>
          <p:cNvGraphicFramePr/>
          <p:nvPr/>
        </p:nvGraphicFramePr>
        <p:xfrm>
          <a:off x="179840" y="38007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286250"/>
                <a:gridCol w="3286250"/>
              </a:tblGrid>
              <a:tr h="1572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is the list of numbers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neither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1, 2, 3, 4, 5 ….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8, 9, 10, 11, 12 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-1, -2, -3, -4, -5 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-8, -9, -10, -11, -12 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435, 21, 14, 9, 8 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-435, -21, -14, -9, -8 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-8, -9, -14, -21, -435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-8, 9, -14, 21, -435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5"/>
          <p:cNvSpPr txBox="1"/>
          <p:nvPr/>
        </p:nvSpPr>
        <p:spPr>
          <a:xfrm>
            <a:off x="3466079" y="767834"/>
            <a:ext cx="6983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-7°C, -5°C, -3°C, 1°C, 2°C, 4°C, 8°C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0" y="984381"/>
            <a:ext cx="87575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-15°C, 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8°C, -7°C, 2°C, 9°C, 11°C, 12°C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3002552" y="2016234"/>
            <a:ext cx="875755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Redville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Milton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Newtown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Castleville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Leek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952500" y="4318534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4098471" y="4355555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048485" y="5180527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4183571" y="5139360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048485" y="5855902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4302734" y="5780754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846818" y="6605726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Descending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4355855" y="6620528"/>
            <a:ext cx="59055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Neither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idx="12" type="sldNum"/>
          </p:nvPr>
        </p:nvSpPr>
        <p:spPr>
          <a:xfrm>
            <a:off x="-2251301" y="99066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5319076" y="950162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88859" y="9780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Ordering a mixture of decimals, negatives and integers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6"/>
          <p:cNvGraphicFramePr/>
          <p:nvPr/>
        </p:nvGraphicFramePr>
        <p:xfrm>
          <a:off x="88859" y="3636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873175"/>
                <a:gridCol w="1935700"/>
                <a:gridCol w="1935700"/>
                <a:gridCol w="1935700"/>
              </a:tblGrid>
              <a:tr h="23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Place the following numbers in ascending order: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9165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Look for the negative furthest from zero. This is the smallest number.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</a:t>
                      </a: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 this step for the remaining numbers until all numbers have been ordered.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-2.3, 2.6, -2.7, 2.9, -2.1, 2.4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-52.9, -45.6, -60.3, -48.2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-3.7, 3.2, -3.5, 3.1, -3.3, 3.9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9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-0.4, -0.71, -0.38, -0.402, -0.25</a:t>
                      </a:r>
                      <a:endParaRPr b="0" i="0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-0.9, -0.58, -0.702, -0.583, -0.5</a:t>
                      </a:r>
                      <a:endParaRPr b="0"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-0.56, -0.813, -0.2, -0.501,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-0.123</a:t>
                      </a:r>
                      <a:endParaRPr b="0" sz="10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16"/>
          <p:cNvSpPr/>
          <p:nvPr/>
        </p:nvSpPr>
        <p:spPr>
          <a:xfrm>
            <a:off x="76158" y="4729360"/>
            <a:ext cx="1689141" cy="23531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86" name="Google Shape;186;p16"/>
          <p:cNvGraphicFramePr/>
          <p:nvPr/>
        </p:nvGraphicFramePr>
        <p:xfrm>
          <a:off x="88859" y="50327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340150"/>
                <a:gridCol w="3340150"/>
              </a:tblGrid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- 0.321, - 0.301, - 0.312, - 0.213, - 0.212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0.1031, - 0.1021, - 0.2021, - 0.1030, - 0.2020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- 0.31, - 0.301, - 0.312, - 0.23, - 0.2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- 0.31, - 0.103, - 0.312, - 0.23, - 0.2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- 0.33, - 0.103, - 0.312, - 0.032, - 0.2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- 0.33, - 0.103, - 0.0312, - 0.032, - 0.2</a:t>
                      </a:r>
                      <a:endParaRPr b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98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"/>
                        <a:buFont typeface="Calibri"/>
                        <a:buNone/>
                      </a:pPr>
                      <a:r>
                        <a:t/>
                      </a:r>
                      <a:endParaRPr sz="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list the numbers in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order.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2.4, -2.1, 2.9, -2.5, 2.7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-3.8, 3.2, -3.5, 3.1, -3.3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4.2, -4.9, 4.5, -4.1, 4.7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-5.6, 5.3, -5.9, 5.1, -5.4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6.3, -6.1, 6.9, -6.5, 6.7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7.4, 7.2, -7.9, 7.1, -7.6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16"/>
          <p:cNvSpPr txBox="1"/>
          <p:nvPr/>
        </p:nvSpPr>
        <p:spPr>
          <a:xfrm>
            <a:off x="1765299" y="4744587"/>
            <a:ext cx="61753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For the following questions, list the numbers in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order.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0" y="1776466"/>
            <a:ext cx="7734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-60.3, -52.9, -48.2, -45.6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-1916794" y="3507337"/>
            <a:ext cx="7734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-0.71, -0.402, -0.4, -0.38, -0.25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0" y="3638866"/>
            <a:ext cx="7734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-0.9, -0.702, -0.583, -0.58, -0.5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2039215" y="3466328"/>
            <a:ext cx="7734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-0.813, -0.56, -0.501, -0.2, -0.123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-1056822" y="1785259"/>
            <a:ext cx="6014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2.9, 2.6, 2.4, -2.1, -2.3, -2.7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2810328" y="1765297"/>
            <a:ext cx="6014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3.9, 3.2, 3.1, -3.3, -3.5, -3.7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8945" y="5305339"/>
            <a:ext cx="60143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-0.321, -0.312, -0.301, -0.213, -0.212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3428999" y="5294170"/>
            <a:ext cx="60143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-0.2021, -0.2020, -0.1031, -0.1030, -0.1021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66007" y="6023997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-0.312, -0.31, -0.301, -0.23, -0.2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3428999" y="6022846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-0.312, -0.31, -0.23, -0.2, -0.103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66007" y="6707965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-0.33, -0.312, -0.2, -0.103, -0.032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3428999" y="6718579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-0.33, -0.2, -0.103, -0.032, -0.0312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166007" y="7771371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2.9, 2.7, 2.4, -2.1, -2.5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3584122" y="7771371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3.2, 3.1 , -3.3, -3.5, -3.8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88945" y="8465445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4.7, 4.5, 4.2, -4.1, -4.9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3584122" y="8476614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5.3, 5.1, -5.4, -5.6, -5.9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66007" y="9244507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6.9, 6.7, 6.3, -6.1, -6.5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3467573" y="9200791"/>
            <a:ext cx="601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7.4, 7.2, -7.1, -7.6, -7.9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5181828" y="940831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12" name="Google Shape;212;p17"/>
          <p:cNvGraphicFramePr/>
          <p:nvPr/>
        </p:nvGraphicFramePr>
        <p:xfrm>
          <a:off x="142761" y="179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286250"/>
                <a:gridCol w="3286250"/>
              </a:tblGrid>
              <a:tr h="2626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the following questions, list the numbers in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ascending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order.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-0.876, 1.532, -2.04, 0.3, -1.21, 0.713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-2.04, -1.21, -0.876, 0.3, 0.713, 1.532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-3.1, 1.7, -2.44, 0.9, -0.566, 2.02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-3.1, -2.44, -0.566, 0.9, 1.7, 2.02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0.2, -0.56, 1.004, -2.05, 0.89, -1.2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-2.05, -1.2, -0.56, 0.2, 0.89, 1.004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d) </a:t>
                      </a: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-2.45, 0.84, -1.009, 0.333, -0.76, 1.234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-2.45, -1.009, -0.76, 0.333, 0.84, 1.234</a:t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e) -1.3, 0.567, -0.789, 2.01, -0.456, 1.2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-1.3, -0.789, -0.456, 0.567, 1.2, 2.01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0.5, -1.234, 2.1, -0.3, 1.009, -0.42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--1.234, -0.42, -0.3, 0.5, 1.009, 2.1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g) -0.84, 1.3, -2.01, 0.56, -1.201, 0.713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-2.01, -1.201, -0.84, 0.56, 0.713, 1.3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h) -1.8, 0.213, -3.21, 1.4, -0.12, 0.501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-3.21, -1.8, -0.12, 0.213, 0.501, 1.4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0.7, -2.009, 0.123, -1.2, 1.005, -0.888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-2.009, -1.2, -0.888, 0.123, 0.7, 1.005</a:t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j) 0.1, -0.5, 1.006, -2.09, 0.3, -1.234</a:t>
                      </a:r>
                      <a:b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GB" sz="12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-2.09, -1.234, -1.006, -0.5, 0.1, 0.3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7"/>
          <p:cNvSpPr txBox="1"/>
          <p:nvPr/>
        </p:nvSpPr>
        <p:spPr>
          <a:xfrm>
            <a:off x="130109" y="4953000"/>
            <a:ext cx="6585130" cy="37856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A company is analysing the financial performance of different departments.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recorded the profit margins for the following departments: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A: -3.25%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B: 2.5%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C: -1.75%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D: 4.8%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E: -2.1%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F: 0.5%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Arrange the departments in ascending order based on their profit margins.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142761" y="7440776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A, E, C, F, B, 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idx="12" type="sldNum"/>
          </p:nvPr>
        </p:nvSpPr>
        <p:spPr>
          <a:xfrm>
            <a:off x="5314950" y="946932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21" name="Google Shape;221;p18"/>
          <p:cNvGraphicFramePr/>
          <p:nvPr/>
        </p:nvGraphicFramePr>
        <p:xfrm>
          <a:off x="259930" y="705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169075"/>
                <a:gridCol w="3169075"/>
              </a:tblGrid>
              <a:tr h="2870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</a:rPr>
                        <a:t>Mixed Fluency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39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Write Three hundred thousand, five hundred and twenty−nine in figures      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Write Seven million, five hundred and two thousand, seven hundred and nineteen in figures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Write 50,000,012 in words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4300" marL="1143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the value of the 4 in each of these numbers: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34601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3.46            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43.6          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3.64                        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14.63                            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f) Now find the median of the five numbers above.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Write these numbers in words: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</a:t>
                      </a: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5.006</a:t>
                      </a: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3.02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 each of the following scales: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3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Unfamiliar Contexts</a:t>
                      </a:r>
                      <a:endParaRPr/>
                    </a:p>
                  </a:txBody>
                  <a:tcPr marT="0" marB="0" marR="114300" marL="1143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7348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Hannah is recording the number of letters in each word in an article. These are the first ten lengths.  </a:t>
                      </a:r>
                      <a:r>
                        <a:rPr lang="en-GB" sz="1600"/>
                        <a:t>3    4    5    6    2    4    3    7    3    6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" u="sng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The 11th word has 4 letters. Tick the correct box to describe how the median will be affected.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700" u="sng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median will decrease               The median will remain the same             The median will increase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6687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Here are six number cards.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all the numbers, what is the smallest number you can make which would round to 1.2?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22" name="Google Shape;222;p18"/>
          <p:cNvSpPr txBox="1"/>
          <p:nvPr/>
        </p:nvSpPr>
        <p:spPr>
          <a:xfrm>
            <a:off x="0" y="19720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9195" y="4433998"/>
            <a:ext cx="2919670" cy="1245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/>
          <p:cNvPicPr preferRelativeResize="0"/>
          <p:nvPr/>
        </p:nvPicPr>
        <p:blipFill rotWithShape="1">
          <a:blip r:embed="rId4">
            <a:alphaModFix/>
          </a:blip>
          <a:srcRect b="12043" l="14486" r="3539" t="27859"/>
          <a:stretch/>
        </p:blipFill>
        <p:spPr>
          <a:xfrm>
            <a:off x="1928787" y="8130912"/>
            <a:ext cx="3029931" cy="5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/>
          <p:nvPr/>
        </p:nvSpPr>
        <p:spPr>
          <a:xfrm>
            <a:off x="292865" y="9064754"/>
            <a:ext cx="6156000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1.23456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31546" y="7361226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3256575" y="7365163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5520013" y="7361226"/>
            <a:ext cx="342273" cy="3385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94108" y="4325990"/>
            <a:ext cx="2937661" cy="28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point seven or Five and seven tenths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391145" y="4863569"/>
            <a:ext cx="2937661" cy="28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point zero Castle Ville six or Five and six thousandths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410151" y="5457436"/>
            <a:ext cx="2937661" cy="28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 point zero two or Three and two hundredths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64016" y="1478802"/>
            <a:ext cx="2937661" cy="3825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300,529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364015" y="2606315"/>
            <a:ext cx="2937661" cy="3825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7, 502, 719 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377542" y="3389694"/>
            <a:ext cx="2937661" cy="4892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Fifty thousand and twelve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548166" y="3467121"/>
            <a:ext cx="2937661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14.63</a:t>
            </a:r>
            <a:endParaRPr b="1"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4393455" y="144497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4000 (4 thousands)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4393454" y="174875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 (4 tenths)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4393454" y="205253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 (4 tens)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4393453" y="2356316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0.04 (4 hundredths)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4391737" y="2654064"/>
            <a:ext cx="2100529" cy="26716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(4 ones)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3684895" y="4498065"/>
            <a:ext cx="259878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0.1   0.2  0.3   0.4   0.5   0.6    0.7   0.8   0.9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3659324" y="4969515"/>
            <a:ext cx="263245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0.01   0.02   0.03  0.04   0.05   0.06    0.07   0.08   0.09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3717602" y="5400748"/>
            <a:ext cx="274466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0.2   0.4  0.6   0.8           1.2   1.4   1.6   1.8    2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/>
          <p:nvPr>
            <p:ph idx="12" type="sldNum"/>
          </p:nvPr>
        </p:nvSpPr>
        <p:spPr>
          <a:xfrm>
            <a:off x="5116178" y="948228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49" name="Google Shape;249;p19"/>
          <p:cNvGraphicFramePr/>
          <p:nvPr/>
        </p:nvGraphicFramePr>
        <p:xfrm>
          <a:off x="198772" y="627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3230225"/>
                <a:gridCol w="3230225"/>
              </a:tblGrid>
              <a:tr h="3009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Unfamiliar Contexts (continued)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4582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Shown below are the temperatures recorded over four days.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which day was the lowest temperature recorded? 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Arrange the temperatures in order, starting with the lowest.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548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value of the bold digit in the number 17.</a:t>
                      </a:r>
                      <a:r>
                        <a:rPr b="1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 is 4 tenths.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each of the following, how many times the size of 4 tenths is the value of the underlined digit?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a) 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7.105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b) 1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.705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c) 17.50</a:t>
                      </a:r>
                      <a:r>
                        <a:rPr b="0" lang="en-GB" sz="1200" u="sng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730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values can each missing digit take? List all possibilities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4?90 = 4000 to the nearest 1000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9?12 = 10,000 to the nearest 1000</a:t>
                      </a: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GB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34,?90 = 30,000 to the nearest 10,000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86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Give an example of a number that remains the same when rounded to one, two or three decimal places.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the difference between four tenths and forty hundredths? Explain your answer.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19"/>
          <p:cNvSpPr txBox="1"/>
          <p:nvPr/>
        </p:nvSpPr>
        <p:spPr>
          <a:xfrm>
            <a:off x="0" y="16001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463184" y="5434069"/>
            <a:ext cx="2817812" cy="5274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4, 3, 2, 1, 0</a:t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3463184" y="6145108"/>
            <a:ext cx="2817812" cy="5274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5, 6, 7, 8, 9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481139" y="6850395"/>
            <a:ext cx="2817811" cy="5274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9, 8, 7, 6, 5, 4, 3, 2, 1, 0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1398620" y="3026374"/>
            <a:ext cx="4918284" cy="5453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1398620" y="3755315"/>
            <a:ext cx="4900330" cy="5453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398620" y="4464203"/>
            <a:ext cx="4900330" cy="5453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0.01 (accept ÷ 100)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470889" y="8233925"/>
            <a:ext cx="2679541" cy="12117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5.0004</a:t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3707572" y="8233925"/>
            <a:ext cx="2679541" cy="12117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difference. They are equivalent.</a:t>
            </a:r>
            <a:endParaRPr/>
          </a:p>
        </p:txBody>
      </p:sp>
      <p:pic>
        <p:nvPicPr>
          <p:cNvPr id="259" name="Google Shape;259;p19"/>
          <p:cNvPicPr preferRelativeResize="0"/>
          <p:nvPr/>
        </p:nvPicPr>
        <p:blipFill rotWithShape="1">
          <a:blip r:embed="rId3">
            <a:alphaModFix/>
          </a:blip>
          <a:srcRect b="70782" l="0" r="9150" t="9332"/>
          <a:stretch/>
        </p:blipFill>
        <p:spPr>
          <a:xfrm>
            <a:off x="733714" y="1201140"/>
            <a:ext cx="2153893" cy="372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4296787" y="1407044"/>
            <a:ext cx="2153893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Wednesday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4296787" y="1921374"/>
            <a:ext cx="2153893" cy="396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C, -3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C, -1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C, 0</a:t>
            </a:r>
            <a:r>
              <a:rPr b="0" baseline="3000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67" name="Google Shape;267;p20"/>
          <p:cNvGraphicFramePr/>
          <p:nvPr/>
        </p:nvGraphicFramePr>
        <p:xfrm>
          <a:off x="402692" y="6277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{9778AC73-93AD-4269-B337-4D8EB6AACEA8}</a:tableStyleId>
              </a:tblPr>
              <a:tblGrid>
                <a:gridCol w="6088525"/>
              </a:tblGrid>
              <a:tr h="31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SSDD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</a:rPr>
                        <a:t>SSDD</a:t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20"/>
          <p:cNvSpPr txBox="1"/>
          <p:nvPr/>
        </p:nvSpPr>
        <p:spPr>
          <a:xfrm>
            <a:off x="0" y="160010"/>
            <a:ext cx="6858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Selection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20"/>
          <p:cNvPicPr preferRelativeResize="0"/>
          <p:nvPr/>
        </p:nvPicPr>
        <p:blipFill rotWithShape="1">
          <a:blip r:embed="rId3">
            <a:alphaModFix/>
          </a:blip>
          <a:srcRect b="5794" l="0" r="0" t="5875"/>
          <a:stretch/>
        </p:blipFill>
        <p:spPr>
          <a:xfrm>
            <a:off x="437089" y="1134979"/>
            <a:ext cx="5983821" cy="381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0"/>
          <p:cNvPicPr preferRelativeResize="0"/>
          <p:nvPr/>
        </p:nvPicPr>
        <p:blipFill rotWithShape="1">
          <a:blip r:embed="rId4">
            <a:alphaModFix/>
          </a:blip>
          <a:srcRect b="16769" l="6498" r="3637" t="6837"/>
          <a:stretch/>
        </p:blipFill>
        <p:spPr>
          <a:xfrm>
            <a:off x="587512" y="5409260"/>
            <a:ext cx="5682974" cy="386894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/>
          <p:nvPr/>
        </p:nvSpPr>
        <p:spPr>
          <a:xfrm>
            <a:off x="3636335" y="5409260"/>
            <a:ext cx="2634151" cy="7469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3721395" y="5409260"/>
            <a:ext cx="2634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each card only once, complete the following inequality: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684547" y="5867381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4211191" y="5870925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5233257" y="5863836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755859" y="5845560"/>
            <a:ext cx="467833" cy="6043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 rot="10800000">
            <a:off x="4749641" y="5794200"/>
            <a:ext cx="46519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3643401" y="6571857"/>
            <a:ext cx="2634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different statements can you make?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50665" y="1610435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965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5727305" y="1610435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5.69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710725" y="4412992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695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5806483" y="4273414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 x 5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1292678" y="5988831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1.57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1466935" y="8586776"/>
            <a:ext cx="1160060" cy="368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9751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4289218" y="8701499"/>
            <a:ext cx="1543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£97.51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3221666" y="5979800"/>
            <a:ext cx="3233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9        7                  5       1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4372955" y="6951272"/>
            <a:ext cx="3233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statements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