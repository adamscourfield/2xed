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81139D-B645-4067-A57D-94982313FB7E}">
  <a:tblStyle styleId="{0381139D-B645-4067-A57D-94982313FB7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6.png"/><Relationship Id="rId13" Type="http://schemas.openxmlformats.org/officeDocument/2006/relationships/image" Target="../media/image8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18.png"/><Relationship Id="rId1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5151587" y="931847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86108" y="348847"/>
            <a:ext cx="6679742" cy="153215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0" y="-1524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N1.6 – Decimal place value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09272" y="751923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09272" y="1008676"/>
            <a:ext cx="48726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understand representations of tenths hundredths and thousandths.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compose and decompose decimal values into their place values.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89476" y="417484"/>
            <a:ext cx="6477602" cy="28362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understand place value for decimal numbers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561929" y="771481"/>
            <a:ext cx="1101584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Decimal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Tenth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Hundredth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Thousandth</a:t>
            </a:r>
            <a:endParaRPr/>
          </a:p>
        </p:txBody>
      </p:sp>
      <p:cxnSp>
        <p:nvCxnSpPr>
          <p:cNvPr id="96" name="Google Shape;96;p13"/>
          <p:cNvCxnSpPr/>
          <p:nvPr/>
        </p:nvCxnSpPr>
        <p:spPr>
          <a:xfrm flipH="1" rot="10800000">
            <a:off x="904762" y="5308425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13"/>
          <p:cNvSpPr/>
          <p:nvPr/>
        </p:nvSpPr>
        <p:spPr>
          <a:xfrm>
            <a:off x="90276" y="3402706"/>
            <a:ext cx="6683739" cy="276942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13"/>
          <p:cNvCxnSpPr/>
          <p:nvPr/>
        </p:nvCxnSpPr>
        <p:spPr>
          <a:xfrm>
            <a:off x="90276" y="4650260"/>
            <a:ext cx="668373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" name="Google Shape;99;p13"/>
          <p:cNvCxnSpPr>
            <a:stCxn id="97" idx="2"/>
            <a:endCxn id="97" idx="0"/>
          </p:cNvCxnSpPr>
          <p:nvPr/>
        </p:nvCxnSpPr>
        <p:spPr>
          <a:xfrm rot="10800000">
            <a:off x="3432146" y="3402834"/>
            <a:ext cx="0" cy="2769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13"/>
          <p:cNvSpPr txBox="1"/>
          <p:nvPr/>
        </p:nvSpPr>
        <p:spPr>
          <a:xfrm>
            <a:off x="67836" y="3377829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5688076" y="3375087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82983" y="4635837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5672800" y="4641936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166934" y="3578401"/>
            <a:ext cx="323033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decimal is a number that is not whole, as it lies between whole numbers.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Consists of a whole and a fraction part.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fractional part is written as digits after a point rather than a fraction.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3464302" y="3605985"/>
            <a:ext cx="323033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whole and fraction parts are separated by a point called the decimal point.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terminating or recurring.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2754911" y="4497674"/>
            <a:ext cx="1172885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Decimal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3410471" y="4803270"/>
            <a:ext cx="3230335" cy="85696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08" name="Google Shape;108;p13"/>
          <p:cNvCxnSpPr/>
          <p:nvPr/>
        </p:nvCxnSpPr>
        <p:spPr>
          <a:xfrm flipH="1" rot="10800000">
            <a:off x="3424406" y="5215442"/>
            <a:ext cx="337519" cy="33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" name="Google Shape;109;p13"/>
          <p:cNvSpPr txBox="1"/>
          <p:nvPr/>
        </p:nvSpPr>
        <p:spPr>
          <a:xfrm>
            <a:off x="4634437" y="4643611"/>
            <a:ext cx="842456" cy="8085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6160197" y="4939918"/>
            <a:ext cx="8424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240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5458793" y="4800397"/>
            <a:ext cx="842456" cy="62324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147658" y="4778163"/>
            <a:ext cx="4909650" cy="139397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3445542" y="5192000"/>
            <a:ext cx="3230335" cy="82330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90276" y="1913806"/>
            <a:ext cx="6672205" cy="141182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Decimal place value extends our number system by introducing new columns to the right of the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decimal point, such as tenths, hundredths, and thousandths. Each new place is one-tenth the value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the place to its left, just like how tens and hundreds work on the left side of the decimal. This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“thousandths” aspect of the terminology helps us read, write, and compare numbers that are smaller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than one, making it easier to work with precise measurements, money, and real-world data.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5" name="Google Shape;115;p13"/>
          <p:cNvGraphicFramePr/>
          <p:nvPr/>
        </p:nvGraphicFramePr>
        <p:xfrm>
          <a:off x="83848" y="68071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{0381139D-B645-4067-A57D-94982313FB7E}</a:tableStyleId>
              </a:tblPr>
              <a:tblGrid>
                <a:gridCol w="1153700"/>
                <a:gridCol w="1841650"/>
                <a:gridCol w="1841650"/>
                <a:gridCol w="1841650"/>
              </a:tblGrid>
              <a:tr h="39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down the value of the underlined digit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down the value of the underlined digit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down the value of the underlined digit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97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Identify the underlined digit.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3.</a:t>
                      </a:r>
                      <a:r>
                        <a:rPr b="1" lang="en-GB" sz="1200" u="sng">
                          <a:solidFill>
                            <a:schemeClr val="dk1"/>
                          </a:solidFill>
                        </a:rPr>
                        <a:t>4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78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4 tenths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or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0.4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23.3</a:t>
                      </a:r>
                      <a:r>
                        <a:rPr b="1" lang="en-GB" sz="1200" u="sng">
                          <a:solidFill>
                            <a:schemeClr val="dk1"/>
                          </a:solidFill>
                        </a:rPr>
                        <a:t>5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hundredths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14.36</a:t>
                      </a:r>
                      <a:r>
                        <a:rPr b="1" lang="en-GB" sz="1200" u="sng">
                          <a:solidFill>
                            <a:schemeClr val="dk1"/>
                          </a:solidFill>
                        </a:rPr>
                        <a:t>9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thousandths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0.009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65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Identify the place value of the underlined digit.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16" name="Google Shape;116;p13"/>
          <p:cNvSpPr txBox="1"/>
          <p:nvPr/>
        </p:nvSpPr>
        <p:spPr>
          <a:xfrm>
            <a:off x="1476441" y="6546840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5094329" y="651690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3232320" y="6530556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119" name="Google Shape;119;p13"/>
          <p:cNvSpPr/>
          <p:nvPr/>
        </p:nvSpPr>
        <p:spPr>
          <a:xfrm>
            <a:off x="83848" y="6256215"/>
            <a:ext cx="2437397" cy="25005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Identifying place value in decimals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" name="Google Shape;124;p14"/>
          <p:cNvGraphicFramePr/>
          <p:nvPr/>
        </p:nvGraphicFramePr>
        <p:xfrm>
          <a:off x="130322" y="6407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{0381139D-B645-4067-A57D-94982313FB7E}</a:tableStyleId>
              </a:tblPr>
              <a:tblGrid>
                <a:gridCol w="1305900"/>
                <a:gridCol w="1305900"/>
                <a:gridCol w="1305900"/>
                <a:gridCol w="1305900"/>
                <a:gridCol w="1305900"/>
              </a:tblGrid>
              <a:tr h="13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2.</a:t>
                      </a:r>
                      <a:r>
                        <a:rPr b="0" lang="en-GB" sz="1200" u="sng">
                          <a:solidFill>
                            <a:schemeClr val="dk1"/>
                          </a:solidFill>
                        </a:rPr>
                        <a:t>4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01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2.4</a:t>
                      </a:r>
                      <a:r>
                        <a:rPr b="0" lang="en-GB" sz="1200" u="sng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0.32</a:t>
                      </a:r>
                      <a:r>
                        <a:rPr b="0" lang="en-GB" sz="1200" u="sng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0.</a:t>
                      </a:r>
                      <a:r>
                        <a:rPr b="0" lang="en-GB" sz="1200" u="sng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281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</a:t>
                      </a:r>
                      <a:r>
                        <a:rPr b="0" lang="en-GB" sz="1200" u="sng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.002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1.</a:t>
                      </a:r>
                      <a:r>
                        <a:rPr b="0" lang="en-GB" sz="1200" u="sng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28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19.</a:t>
                      </a:r>
                      <a:r>
                        <a:rPr b="0" lang="en-GB" sz="1200" u="sng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0.12</a:t>
                      </a:r>
                      <a:r>
                        <a:rPr b="0" lang="en-GB" sz="1200" u="sng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1.</a:t>
                      </a:r>
                      <a:r>
                        <a:rPr b="0" lang="en-GB" sz="1200" u="sng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 0.8</a:t>
                      </a:r>
                      <a:r>
                        <a:rPr b="0" lang="en-GB" sz="1200" u="sng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5" name="Google Shape;125;p14"/>
          <p:cNvSpPr/>
          <p:nvPr/>
        </p:nvSpPr>
        <p:spPr>
          <a:xfrm>
            <a:off x="130322" y="114660"/>
            <a:ext cx="1137954" cy="4320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1268276" y="330660"/>
            <a:ext cx="375186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1. Write down the value of the underlined digit: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-36441" y="3492600"/>
            <a:ext cx="50294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2. Write down the value of the 3 in each of the following numbers:</a:t>
            </a:r>
            <a:endParaRPr/>
          </a:p>
        </p:txBody>
      </p:sp>
      <p:graphicFrame>
        <p:nvGraphicFramePr>
          <p:cNvPr id="128" name="Google Shape;128;p14"/>
          <p:cNvGraphicFramePr/>
          <p:nvPr/>
        </p:nvGraphicFramePr>
        <p:xfrm>
          <a:off x="130322" y="37695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{0381139D-B645-4067-A57D-94982313FB7E}</a:tableStyleId>
              </a:tblPr>
              <a:tblGrid>
                <a:gridCol w="1632400"/>
                <a:gridCol w="1632400"/>
                <a:gridCol w="1632400"/>
                <a:gridCol w="1632400"/>
              </a:tblGrid>
              <a:tr h="140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12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.456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21.456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4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21.456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4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21.4567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42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1.4567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241.4567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0241.4567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024.14567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.02414567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 456.12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 456.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21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 456.4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21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9" name="Google Shape;129;p14"/>
          <p:cNvSpPr txBox="1"/>
          <p:nvPr>
            <p:ph idx="12" type="sldNum"/>
          </p:nvPr>
        </p:nvSpPr>
        <p:spPr>
          <a:xfrm>
            <a:off x="5151587" y="937562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245309" y="1035052"/>
            <a:ext cx="34442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tenths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0.4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1437990" y="1019812"/>
            <a:ext cx="34442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hundredths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0.02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2729431" y="1001971"/>
            <a:ext cx="34442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thousandths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0.008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4053808" y="1001971"/>
            <a:ext cx="34442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tenths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0.3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5378309" y="1035051"/>
            <a:ext cx="34442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167083" y="2346071"/>
            <a:ext cx="34442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tenths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1412046" y="2346070"/>
            <a:ext cx="34442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hundredths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0.02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2693770" y="2342339"/>
            <a:ext cx="34442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thousandths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0.009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4053808" y="2359682"/>
            <a:ext cx="34442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tenths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5378309" y="2342339"/>
            <a:ext cx="34442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hundredths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0.07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461917" y="4161701"/>
            <a:ext cx="34442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ones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1967429" y="4161700"/>
            <a:ext cx="34442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hundreds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300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3689549" y="4150411"/>
            <a:ext cx="34442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hundreds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300</a:t>
            </a:r>
            <a:endParaRPr b="0"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5378309" y="4161700"/>
            <a:ext cx="34442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hundreds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300</a:t>
            </a:r>
            <a:endParaRPr b="0"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399488" y="5487077"/>
            <a:ext cx="34442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tens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1905000" y="5487076"/>
            <a:ext cx="34442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thousands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3000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3429000" y="5508647"/>
            <a:ext cx="34442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Thirty thousand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30000</a:t>
            </a:r>
            <a:endParaRPr b="0"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382779" y="6945613"/>
            <a:ext cx="34442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ones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1888291" y="6945612"/>
            <a:ext cx="34442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thousandths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0.003</a:t>
            </a:r>
            <a:endParaRPr b="0"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3610411" y="6934323"/>
            <a:ext cx="34442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tenths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0.3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5324178" y="5428957"/>
            <a:ext cx="34442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thousand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3000</a:t>
            </a:r>
            <a:endParaRPr b="0"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5104525" y="6948467"/>
            <a:ext cx="34442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hundredths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0.03</a:t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110225" y="8311233"/>
            <a:ext cx="6549657" cy="116955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777" y="8404148"/>
            <a:ext cx="3643951" cy="76910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4"/>
          <p:cNvSpPr txBox="1"/>
          <p:nvPr/>
        </p:nvSpPr>
        <p:spPr>
          <a:xfrm>
            <a:off x="4993013" y="8686283"/>
            <a:ext cx="21984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0.345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0" y="8064598"/>
            <a:ext cx="524880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3. What is the smallest number that can be made using all of the cards?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 txBox="1"/>
          <p:nvPr>
            <p:ph idx="12" type="sldNum"/>
          </p:nvPr>
        </p:nvSpPr>
        <p:spPr>
          <a:xfrm>
            <a:off x="5210620" y="931127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61" name="Google Shape;161;p15"/>
          <p:cNvGraphicFramePr/>
          <p:nvPr/>
        </p:nvGraphicFramePr>
        <p:xfrm>
          <a:off x="135923" y="6984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{0381139D-B645-4067-A57D-94982313FB7E}</a:tableStyleId>
              </a:tblPr>
              <a:tblGrid>
                <a:gridCol w="1273775"/>
                <a:gridCol w="1766225"/>
                <a:gridCol w="1766225"/>
                <a:gridCol w="17662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decimal as a sum of fractions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decimal as a sum of fractions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decimal as a sum of fractions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42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Identify the place value of each digit.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Re-write the value as a sum of each of its digits place value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" name="Google Shape;162;p15"/>
          <p:cNvSpPr txBox="1"/>
          <p:nvPr/>
        </p:nvSpPr>
        <p:spPr>
          <a:xfrm>
            <a:off x="1631754" y="428515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 - I do…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5018154" y="42498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164" name="Google Shape;164;p15"/>
          <p:cNvSpPr/>
          <p:nvPr/>
        </p:nvSpPr>
        <p:spPr>
          <a:xfrm>
            <a:off x="136353" y="2879201"/>
            <a:ext cx="1137954" cy="3960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3327906" y="435116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 – We do…</a:t>
            </a:r>
            <a:endParaRPr/>
          </a:p>
        </p:txBody>
      </p:sp>
      <p:sp>
        <p:nvSpPr>
          <p:cNvPr id="166" name="Google Shape;166;p15"/>
          <p:cNvSpPr/>
          <p:nvPr/>
        </p:nvSpPr>
        <p:spPr>
          <a:xfrm>
            <a:off x="982050" y="4191426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1238313" y="3070597"/>
            <a:ext cx="405072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3. Write the following decimals as a sum of fractions</a:t>
            </a:r>
            <a:endParaRPr/>
          </a:p>
        </p:txBody>
      </p:sp>
      <p:sp>
        <p:nvSpPr>
          <p:cNvPr id="168" name="Google Shape;168;p15"/>
          <p:cNvSpPr/>
          <p:nvPr/>
        </p:nvSpPr>
        <p:spPr>
          <a:xfrm>
            <a:off x="132806" y="113145"/>
            <a:ext cx="2437397" cy="324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Decimals as sums of fractions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9" name="Google Shape;169;p15"/>
          <p:cNvGraphicFramePr/>
          <p:nvPr/>
        </p:nvGraphicFramePr>
        <p:xfrm>
          <a:off x="132806" y="33369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{0381139D-B645-4067-A57D-94982313FB7E}</a:tableStyleId>
              </a:tblPr>
              <a:tblGrid>
                <a:gridCol w="1639075"/>
                <a:gridCol w="1639075"/>
                <a:gridCol w="1639075"/>
                <a:gridCol w="1639075"/>
              </a:tblGrid>
              <a:tr h="127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0.1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0.01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0.6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0.07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0.12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0.31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0.60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0.001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0.143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 0.301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 1.437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 7.057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0" name="Google Shape;170;p15"/>
          <p:cNvSpPr txBox="1"/>
          <p:nvPr/>
        </p:nvSpPr>
        <p:spPr>
          <a:xfrm>
            <a:off x="-2613637" y="3563359"/>
            <a:ext cx="7191374" cy="6127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-1653410" y="3540594"/>
            <a:ext cx="8496300" cy="6127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15150" y="3580430"/>
            <a:ext cx="8496300" cy="6127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1653505" y="3542453"/>
            <a:ext cx="8496300" cy="61087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-3279739" y="5044106"/>
            <a:ext cx="8496300" cy="6127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5" name="Google Shape;175;p15"/>
          <p:cNvSpPr txBox="1"/>
          <p:nvPr/>
        </p:nvSpPr>
        <p:spPr>
          <a:xfrm>
            <a:off x="-1789946" y="5005131"/>
            <a:ext cx="8829674" cy="6127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6" name="Google Shape;176;p15"/>
          <p:cNvSpPr txBox="1"/>
          <p:nvPr/>
        </p:nvSpPr>
        <p:spPr>
          <a:xfrm>
            <a:off x="-151537" y="4990225"/>
            <a:ext cx="8829674" cy="6127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1486818" y="5088290"/>
            <a:ext cx="8829674" cy="492443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50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-3446426" y="6431166"/>
            <a:ext cx="8829674" cy="492443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23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-1862960" y="6470141"/>
            <a:ext cx="8915400" cy="492443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247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0" name="Google Shape;180;p15"/>
          <p:cNvSpPr txBox="1"/>
          <p:nvPr/>
        </p:nvSpPr>
        <p:spPr>
          <a:xfrm>
            <a:off x="-237263" y="6535133"/>
            <a:ext cx="8915400" cy="403508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1" name="Google Shape;181;p15"/>
          <p:cNvSpPr txBox="1"/>
          <p:nvPr/>
        </p:nvSpPr>
        <p:spPr>
          <a:xfrm>
            <a:off x="1443955" y="6456783"/>
            <a:ext cx="8915400" cy="496546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243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182" name="Google Shape;182;p15"/>
          <p:cNvGraphicFramePr/>
          <p:nvPr/>
        </p:nvGraphicFramePr>
        <p:xfrm>
          <a:off x="148717" y="75137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{0381139D-B645-4067-A57D-94982313FB7E}</a:tableStyleId>
              </a:tblPr>
              <a:tblGrid>
                <a:gridCol w="819025"/>
                <a:gridCol w="1917825"/>
                <a:gridCol w="1917825"/>
                <a:gridCol w="19178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sum of fractions in decimal form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sum of fractions in decimal form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sum of fractions in decimal form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7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Re-write the value as a sum of each of its digits place value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3" name="Google Shape;183;p15"/>
          <p:cNvSpPr txBox="1"/>
          <p:nvPr/>
        </p:nvSpPr>
        <p:spPr>
          <a:xfrm>
            <a:off x="1221270" y="7253385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5030948" y="722186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3055252" y="722186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 – We do…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"/>
          <p:cNvSpPr/>
          <p:nvPr/>
        </p:nvSpPr>
        <p:spPr>
          <a:xfrm>
            <a:off x="107490" y="139817"/>
            <a:ext cx="1137954" cy="4320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1160402" y="343356"/>
            <a:ext cx="29718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Question 4. Write the following as decimals.</a:t>
            </a:r>
            <a:endParaRPr/>
          </a:p>
        </p:txBody>
      </p:sp>
      <p:sp>
        <p:nvSpPr>
          <p:cNvPr id="192" name="Google Shape;192;p16"/>
          <p:cNvSpPr txBox="1"/>
          <p:nvPr>
            <p:ph idx="12" type="sldNum"/>
          </p:nvPr>
        </p:nvSpPr>
        <p:spPr>
          <a:xfrm>
            <a:off x="5198020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93" name="Google Shape;193;p16"/>
          <p:cNvGraphicFramePr/>
          <p:nvPr/>
        </p:nvGraphicFramePr>
        <p:xfrm>
          <a:off x="116930" y="6706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{0381139D-B645-4067-A57D-94982313FB7E}</a:tableStyleId>
              </a:tblPr>
              <a:tblGrid>
                <a:gridCol w="1639075"/>
                <a:gridCol w="1639075"/>
                <a:gridCol w="1639075"/>
                <a:gridCol w="1639075"/>
              </a:tblGrid>
              <a:tr h="127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4" name="Google Shape;194;p16"/>
          <p:cNvSpPr txBox="1"/>
          <p:nvPr/>
        </p:nvSpPr>
        <p:spPr>
          <a:xfrm>
            <a:off x="-820778" y="1265543"/>
            <a:ext cx="3467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0.3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2279169" y="1149745"/>
            <a:ext cx="38766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 txBox="1"/>
          <p:nvPr/>
        </p:nvSpPr>
        <p:spPr>
          <a:xfrm>
            <a:off x="2288846" y="1260811"/>
            <a:ext cx="38766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3943424" y="1203786"/>
            <a:ext cx="38766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 txBox="1"/>
          <p:nvPr/>
        </p:nvSpPr>
        <p:spPr>
          <a:xfrm>
            <a:off x="-1249403" y="2472382"/>
            <a:ext cx="4324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0.79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2197646" y="2518769"/>
            <a:ext cx="45434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0.793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 txBox="1"/>
          <p:nvPr/>
        </p:nvSpPr>
        <p:spPr>
          <a:xfrm>
            <a:off x="2037844" y="2538624"/>
            <a:ext cx="45434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0.703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3496187" y="2444094"/>
            <a:ext cx="45434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1.7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-1253096" y="3856895"/>
            <a:ext cx="4648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3.142</a:t>
            </a:r>
            <a:endParaRPr/>
          </a:p>
        </p:txBody>
      </p:sp>
      <p:sp>
        <p:nvSpPr>
          <p:cNvPr id="203" name="Google Shape;203;p16"/>
          <p:cNvSpPr txBox="1"/>
          <p:nvPr/>
        </p:nvSpPr>
        <p:spPr>
          <a:xfrm>
            <a:off x="274388" y="3837040"/>
            <a:ext cx="4648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2.508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1893406" y="3812015"/>
            <a:ext cx="4648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1.007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 txBox="1"/>
          <p:nvPr/>
        </p:nvSpPr>
        <p:spPr>
          <a:xfrm>
            <a:off x="3545170" y="3796113"/>
            <a:ext cx="4648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13.17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116930" y="4607480"/>
            <a:ext cx="6585130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7" name="Google Shape;207;p16"/>
          <p:cNvGraphicFramePr/>
          <p:nvPr/>
        </p:nvGraphicFramePr>
        <p:xfrm>
          <a:off x="124955" y="49460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{0381139D-B645-4067-A57D-94982313FB7E}</a:tableStyleId>
              </a:tblPr>
              <a:tblGrid>
                <a:gridCol w="6570675"/>
              </a:tblGrid>
              <a:tr h="1005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value of the underlined digit in this number?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31.</a:t>
                      </a:r>
                      <a:r>
                        <a:rPr b="0" lang="en-GB" sz="1200" u="sng">
                          <a:solidFill>
                            <a:schemeClr val="dk1"/>
                          </a:solidFill>
                        </a:rPr>
                        <a:t>4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05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3429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4                      B. 0.4</a:t>
                      </a:r>
                      <a:endParaRPr/>
                    </a:p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 startAt="3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0.04                  D. 0.004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number nine hundredths in figures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342900" lvl="6" marL="24003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0.09                B. 0.9</a:t>
                      </a:r>
                      <a:endParaRPr/>
                    </a:p>
                    <a:p>
                      <a:pPr indent="-342900" lvl="6" marL="2400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 startAt="3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0.009              D. 900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2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8" name="Google Shape;208;p16"/>
          <p:cNvSpPr/>
          <p:nvPr/>
        </p:nvSpPr>
        <p:spPr>
          <a:xfrm>
            <a:off x="3447595" y="5423182"/>
            <a:ext cx="1142318" cy="309966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2081844" y="6482284"/>
            <a:ext cx="1142318" cy="309966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1898522" y="7655888"/>
            <a:ext cx="1656344" cy="44880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6"/>
          <p:cNvSpPr/>
          <p:nvPr/>
        </p:nvSpPr>
        <p:spPr>
          <a:xfrm>
            <a:off x="2081844" y="8787564"/>
            <a:ext cx="1142318" cy="309966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