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2EAB3D-4911-44A0-A901-489883D42D86}">
  <a:tblStyle styleId="{C82EAB3D-4911-44A0-A901-489883D42D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32434" y="5706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906650"/>
                <a:gridCol w="1888600"/>
                <a:gridCol w="1888600"/>
                <a:gridCol w="1888600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following multiplication.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following multiplication.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following multiplication.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Multiply the single digit number by the ones column of the two digit. number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Multiply the single digit number by the tens column of the two digit number.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32 x 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22 x 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22 x 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204987" y="544638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14665" y="541485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338597" y="949266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12133"/>
            <a:ext cx="6679742" cy="138729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N3.4 – Multiplication (without carrying)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87998" y="65407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03885" y="819836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multiply by single digits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multiply three-digit numbers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worded problems involving multiplication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48240" y="343608"/>
            <a:ext cx="6263979" cy="28541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use formal methods to multiply numbers (without carrying)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496313" y="653535"/>
            <a:ext cx="1115906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</a:t>
            </a:r>
            <a:endParaRPr/>
          </a:p>
        </p:txBody>
      </p:sp>
      <p:cxnSp>
        <p:nvCxnSpPr>
          <p:cNvPr id="99" name="Google Shape;99;p13"/>
          <p:cNvCxnSpPr/>
          <p:nvPr/>
        </p:nvCxnSpPr>
        <p:spPr>
          <a:xfrm flipH="1" rot="10800000">
            <a:off x="938594" y="3977452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77190" y="2555218"/>
            <a:ext cx="6699219" cy="25606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83913" y="3570113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26800" y="2555342"/>
            <a:ext cx="0" cy="256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94945" y="2555217"/>
            <a:ext cx="327760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multiplying two or more numbers or terms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3481050" y="2505623"/>
            <a:ext cx="334960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words include times, multiply and factor.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does not always make numbers bigger.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6738" y="3578861"/>
            <a:ext cx="3271473" cy="18710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570913" y="3497867"/>
            <a:ext cx="3239344" cy="15670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966250" y="3359368"/>
            <a:ext cx="91993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038969" y="54148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132434" y="521981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2-digit numbers by a single digit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10" name="Google Shape;110;p13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1069513" y="643104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11" name="Google Shape;111;p13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944745" y="643104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12" name="Google Shape;112;p13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4866078" y="6431045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1283578" y="667130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5142489" y="667130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3262519" y="667130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75781" y="1734518"/>
            <a:ext cx="6686879" cy="76905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0162" y="1719904"/>
            <a:ext cx="67747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subtopic, you'll practise written multiplication methods that don’t require carrying, helping you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accuracy and confidence with multiplying larger numbers. This is a key step before moving on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complex methods.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>
            <p:ph idx="12" type="sldNum"/>
          </p:nvPr>
        </p:nvSpPr>
        <p:spPr>
          <a:xfrm>
            <a:off x="5384318" y="95621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8085" y="47977"/>
            <a:ext cx="1802254" cy="25750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0" y="305484"/>
            <a:ext cx="6858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x 2 				b) 34 x 2 				c) 23 x 3 	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31 x 3				e) 33 x 3				f) 21 x 4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12 x 4				h) 21 x 3				i) 13 x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32 x 2				h) 33 x 2				i) 43 x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4292" y="583120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2380987" y="58311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4649271" y="58311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94292" y="220890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2380987" y="220890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4649271" y="2201339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4"/>
          <p:cNvGraphicFramePr/>
          <p:nvPr/>
        </p:nvGraphicFramePr>
        <p:xfrm>
          <a:off x="94292" y="7260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861675"/>
                <a:gridCol w="1875175"/>
                <a:gridCol w="1917825"/>
                <a:gridCol w="1917825"/>
              </a:tblGrid>
              <a:tr h="42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Multiply each digit of the three digit number by the single digit, starting with the ones column.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122 x 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341 x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312 x 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4"/>
          <p:cNvSpPr txBox="1"/>
          <p:nvPr/>
        </p:nvSpPr>
        <p:spPr>
          <a:xfrm>
            <a:off x="1269165" y="701608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3086741" y="698837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959301" y="70073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pic>
        <p:nvPicPr>
          <p:cNvPr descr="A screenshot of a computer&#10;&#10;Description automatically generated" id="135" name="Google Shape;135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70647" y="60775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6" name="Google Shape;136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31687" y="61460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7" name="Google Shape;137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06304" y="61460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8" name="Google Shape;138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42747" y="223982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9" name="Google Shape;139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31687" y="223982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0" name="Google Shape;140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01209" y="223982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1" name="Google Shape;141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0401" y="795263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2" name="Google Shape;142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68163" y="795263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3" name="Google Shape;143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96763" y="795263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94292" y="679705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3-digit numbers by a single digit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384712" y="94961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2645752" y="94961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4945147" y="94526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901261" y="25805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2659840" y="25805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84712" y="25843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1176176" y="815001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488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3075961" y="815001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682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052630" y="815001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936</a:t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94292" y="3887414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2380987" y="3887414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4649271" y="3879845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57" name="Google Shape;157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42747" y="391832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8" name="Google Shape;158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31687" y="391832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9" name="Google Shape;159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01209" y="391832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/>
        </p:nvSpPr>
        <p:spPr>
          <a:xfrm>
            <a:off x="4901261" y="425903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2659840" y="425903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384712" y="426281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94292" y="5467713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2380987" y="5467713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4649271" y="5460144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66" name="Google Shape;166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42747" y="549862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7" name="Google Shape;167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31687" y="549862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8" name="Google Shape;168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01209" y="5498628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 txBox="1"/>
          <p:nvPr/>
        </p:nvSpPr>
        <p:spPr>
          <a:xfrm>
            <a:off x="4901261" y="583933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2659840" y="583933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384712" y="584310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1860339" y="78412"/>
            <a:ext cx="34731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Calculate: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32480" y="5720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32480" y="475104"/>
            <a:ext cx="6738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Calculate: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 x 2				b) 321 x 3				c) 122 x 4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78182" y="985175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80" name="Google Shape;180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42970" y="1020327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/>
          <p:nvPr/>
        </p:nvSpPr>
        <p:spPr>
          <a:xfrm>
            <a:off x="2401708" y="981146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4660274" y="981147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83" name="Google Shape;183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25062" y="100241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84" name="Google Shape;184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66496" y="1002411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4939127" y="140569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488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2662401" y="13998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963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357841" y="13706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482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32479" y="2350273"/>
            <a:ext cx="67383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 201 x 3				e) 331 x 3				f) 102 x 4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78182" y="2610035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90" name="Google Shape;190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42970" y="2645187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/>
          <p:nvPr/>
        </p:nvSpPr>
        <p:spPr>
          <a:xfrm>
            <a:off x="2401708" y="2606006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4660274" y="2606007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93" name="Google Shape;193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25062" y="262727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4" name="Google Shape;194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66496" y="2627271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/>
          <p:nvPr/>
        </p:nvSpPr>
        <p:spPr>
          <a:xfrm>
            <a:off x="4939127" y="303055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408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2662401" y="302470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993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57841" y="299554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603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32479" y="4021222"/>
            <a:ext cx="67383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  143 x 2				h) 330 x 3				i) 221 x 4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78182" y="4280984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00" name="Google Shape;200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42970" y="4316136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/>
          <p:nvPr/>
        </p:nvSpPr>
        <p:spPr>
          <a:xfrm>
            <a:off x="2401708" y="4276955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4660274" y="4276956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03" name="Google Shape;203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25062" y="429822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4" name="Google Shape;204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66496" y="4298220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/>
          <p:nvPr/>
        </p:nvSpPr>
        <p:spPr>
          <a:xfrm>
            <a:off x="4939127" y="470149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884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2662401" y="469564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990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357841" y="466649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286</a:t>
            </a:r>
            <a:endParaRPr/>
          </a:p>
        </p:txBody>
      </p:sp>
      <p:graphicFrame>
        <p:nvGraphicFramePr>
          <p:cNvPr id="208" name="Google Shape;208;p15"/>
          <p:cNvGraphicFramePr/>
          <p:nvPr/>
        </p:nvGraphicFramePr>
        <p:xfrm>
          <a:off x="149505" y="62462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1156450"/>
                <a:gridCol w="1805350"/>
                <a:gridCol w="1805350"/>
                <a:gridCol w="1805350"/>
              </a:tblGrid>
              <a:tr h="51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4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Multiply the ones column of the second number by the ones and tens column of the first number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Multiply the tens column of the second number by the ones and tens column of the first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14 x 22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308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 x 42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21 x 23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5"/>
          <p:cNvSpPr txBox="1"/>
          <p:nvPr/>
        </p:nvSpPr>
        <p:spPr>
          <a:xfrm>
            <a:off x="1538006" y="596920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3316830" y="596920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5078160" y="596920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110266" y="569769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2-digit numbers by 2-digit numbers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5283959" y="943413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/>
        </p:nvSpPr>
        <p:spPr>
          <a:xfrm>
            <a:off x="96982" y="604547"/>
            <a:ext cx="6738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Calculate: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 x 21 				b) 31 x 12 				c) 23 x 22</a:t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136094" y="1214514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20" name="Google Shape;220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00882" y="1249666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6"/>
          <p:cNvSpPr/>
          <p:nvPr/>
        </p:nvSpPr>
        <p:spPr>
          <a:xfrm>
            <a:off x="2459620" y="1210485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718186" y="1210486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23" name="Google Shape;223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83146" y="124966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4" name="Google Shape;22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24408" y="1231750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96982" y="11579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997039" y="15838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506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2705993" y="15838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372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414947" y="15838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882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74633" y="2474662"/>
            <a:ext cx="6738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24 x 21 				e) 13 x 12 				f) 32 x 22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122929" y="3000477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31" name="Google Shape;23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87717" y="303562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/>
          <p:nvPr/>
        </p:nvSpPr>
        <p:spPr>
          <a:xfrm>
            <a:off x="2446455" y="2996448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4705021" y="2996449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34" name="Google Shape;23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69981" y="303562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35" name="Google Shape;23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1243" y="3017713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 txBox="1"/>
          <p:nvPr/>
        </p:nvSpPr>
        <p:spPr>
          <a:xfrm>
            <a:off x="4983874" y="336979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704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2692828" y="336979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156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401782" y="336979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504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74633" y="4322758"/>
            <a:ext cx="6738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 34 x 21				h) 43 x 21				i) 43 x 22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122929" y="4848573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41" name="Google Shape;24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187717" y="4883725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/>
          <p:nvPr/>
        </p:nvSpPr>
        <p:spPr>
          <a:xfrm>
            <a:off x="2446455" y="4844544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705021" y="4844545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44" name="Google Shape;24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69981" y="486987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5" name="Google Shape;24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1243" y="486580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4983874" y="521788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946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2692828" y="521788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903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401782" y="521788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714</a:t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96982" y="6079460"/>
            <a:ext cx="6738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 34 x 12				k) 41 x 22				l) 31 x 22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136094" y="6606041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51" name="Google Shape;25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00882" y="6641193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/>
          <p:nvPr/>
        </p:nvSpPr>
        <p:spPr>
          <a:xfrm>
            <a:off x="2451426" y="6601246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718014" y="6598581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54" name="Google Shape;25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82974" y="662251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55" name="Google Shape;25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6214" y="6622511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6"/>
          <p:cNvSpPr txBox="1"/>
          <p:nvPr/>
        </p:nvSpPr>
        <p:spPr>
          <a:xfrm>
            <a:off x="4983012" y="69719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682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2697799" y="697459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902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414947" y="697535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408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96982" y="7852632"/>
            <a:ext cx="6738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 13 x 22				n) 78 x 11				o) 52 x 11</a:t>
            </a:r>
            <a:endParaRPr/>
          </a:p>
        </p:txBody>
      </p:sp>
      <p:sp>
        <p:nvSpPr>
          <p:cNvPr id="260" name="Google Shape;260;p16"/>
          <p:cNvSpPr/>
          <p:nvPr/>
        </p:nvSpPr>
        <p:spPr>
          <a:xfrm>
            <a:off x="136094" y="8386714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61" name="Google Shape;26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00882" y="8421866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6"/>
          <p:cNvSpPr/>
          <p:nvPr/>
        </p:nvSpPr>
        <p:spPr>
          <a:xfrm>
            <a:off x="2459620" y="8382685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4718186" y="8382686"/>
            <a:ext cx="1968410" cy="12301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64" name="Google Shape;26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83146" y="842186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5" name="Google Shape;26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24408" y="8403950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6"/>
          <p:cNvSpPr txBox="1"/>
          <p:nvPr/>
        </p:nvSpPr>
        <p:spPr>
          <a:xfrm>
            <a:off x="4997039" y="87560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572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2705993" y="87560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858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414947" y="87560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286</a:t>
            </a:r>
            <a:endParaRPr/>
          </a:p>
        </p:txBody>
      </p:sp>
      <p:sp>
        <p:nvSpPr>
          <p:cNvPr id="269" name="Google Shape;269;p16"/>
          <p:cNvSpPr txBox="1"/>
          <p:nvPr>
            <p:ph idx="12" type="sldNum"/>
          </p:nvPr>
        </p:nvSpPr>
        <p:spPr>
          <a:xfrm>
            <a:off x="5314950" y="948581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/>
          <p:nvPr/>
        </p:nvSpPr>
        <p:spPr>
          <a:xfrm>
            <a:off x="59585" y="427541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202346" y="5149067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2475556" y="5136661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754217" y="5136660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202346" y="6781163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2475556" y="6781162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4754217" y="6781162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202346" y="842121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2475556" y="842121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754217" y="8421218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84" name="Google Shape;284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62476" y="518421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85" name="Google Shape;285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64302" y="517412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86" name="Google Shape;286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19005" y="517820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87" name="Google Shape;287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62476" y="683467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88" name="Google Shape;288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40344" y="681351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89" name="Google Shape;289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19005" y="683467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0" name="Google Shape;290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62476" y="845190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1" name="Google Shape;291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40344" y="846013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2" name="Google Shape;292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19005" y="8451908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 txBox="1"/>
          <p:nvPr/>
        </p:nvSpPr>
        <p:spPr>
          <a:xfrm>
            <a:off x="0" y="4615864"/>
            <a:ext cx="6858000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Find the product of the following numbers. 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423 x 21 				b) 341 x 12 				c) 243 x 22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312 x 32 				e) 232 x 31				f) 213 x 33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122 x 43				h) 211 x 42 				i) 121 x 44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 txBox="1"/>
          <p:nvPr>
            <p:ph idx="12" type="sldNum"/>
          </p:nvPr>
        </p:nvSpPr>
        <p:spPr>
          <a:xfrm>
            <a:off x="5314950" y="953387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432602" y="546087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8883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2610970" y="546858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4092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4949906" y="546087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5346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4973485" y="862106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5324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2668906" y="862106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8862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432602" y="862106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5246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4973485" y="708802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7029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2697549" y="709319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7192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416956" y="709319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9984</a:t>
            </a:r>
            <a:endParaRPr/>
          </a:p>
        </p:txBody>
      </p:sp>
      <p:graphicFrame>
        <p:nvGraphicFramePr>
          <p:cNvPr id="304" name="Google Shape;304;p17"/>
          <p:cNvGraphicFramePr/>
          <p:nvPr/>
        </p:nvGraphicFramePr>
        <p:xfrm>
          <a:off x="142761" y="6820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1447050"/>
                <a:gridCol w="1708475"/>
                <a:gridCol w="1708475"/>
                <a:gridCol w="170847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product of the following numbers.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Multiply the ones column of the second number by the ones, tens and hundreds column number of the first number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Multiply the tens column of the second number by the ones, tens and hundreds column number of the first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131 x 32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213 x 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121 x 42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17"/>
          <p:cNvSpPr/>
          <p:nvPr/>
        </p:nvSpPr>
        <p:spPr>
          <a:xfrm>
            <a:off x="142761" y="152282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3-digit numbers by 2-digit numbers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1578791" y="43149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3300663" y="43149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5065145" y="41829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5283047" y="203045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5082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3366772" y="203462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4899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1286845" y="203045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4192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idx="12" type="sldNum"/>
          </p:nvPr>
        </p:nvSpPr>
        <p:spPr>
          <a:xfrm>
            <a:off x="5275068" y="950304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81105" y="2299914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Worded problems involving column multiplication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18"/>
          <p:cNvGraphicFramePr/>
          <p:nvPr/>
        </p:nvGraphicFramePr>
        <p:xfrm>
          <a:off x="112376" y="2927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2190825"/>
                <a:gridCol w="2190825"/>
                <a:gridCol w="21908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James, a crane operator works on 4 hour shifts everyday. If he worked 122 days in a year, how many hours of work did he put in altogether?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Joy made 3 trips to the candy store. For every trip she made, she bought 31 packs of orange candies. How many packs of candies did Joy buy in total?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George visits a store to buy 3 Nintendo switch games. They are priced at £32 each. How much does he spend on his purchase?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18"/>
          <p:cNvSpPr txBox="1"/>
          <p:nvPr/>
        </p:nvSpPr>
        <p:spPr>
          <a:xfrm>
            <a:off x="571227" y="26501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2576911" y="26527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4815296" y="264325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pic>
        <p:nvPicPr>
          <p:cNvPr descr="A screenshot of a computer&#10;&#10;Description automatically generated" id="323" name="Google Shape;323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52796" y="458171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4" name="Google Shape;324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1285" y="458171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5" name="Google Shape;325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73533" y="4549125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8"/>
          <p:cNvSpPr txBox="1"/>
          <p:nvPr/>
        </p:nvSpPr>
        <p:spPr>
          <a:xfrm>
            <a:off x="4855741" y="49057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£96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2725350" y="490574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 packs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487598" y="485055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488 hours</a:t>
            </a:r>
            <a:endParaRPr/>
          </a:p>
        </p:txBody>
      </p:sp>
      <p:graphicFrame>
        <p:nvGraphicFramePr>
          <p:cNvPr id="329" name="Google Shape;329;p18"/>
          <p:cNvGraphicFramePr/>
          <p:nvPr/>
        </p:nvGraphicFramePr>
        <p:xfrm>
          <a:off x="112376" y="64679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2190825"/>
                <a:gridCol w="2190825"/>
                <a:gridCol w="21908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Ferris wheel completes a rotation in 43 seconds. How many seconds in all would it take to complete 121 rotations?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small dairy farm produces 32 gallons of milk in a day. How many gallons of milk will it produce in 213 days?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auditorium at Lion’s school has 22 rows in all. If each row consists of 332 seats, calculate the total capacity of the auditorium?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18"/>
          <p:cNvSpPr txBox="1"/>
          <p:nvPr/>
        </p:nvSpPr>
        <p:spPr>
          <a:xfrm>
            <a:off x="530250" y="619099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2652140" y="61909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4751287" y="61909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pic>
        <p:nvPicPr>
          <p:cNvPr descr="A screenshot of a computer&#10;&#10;Description automatically generated" id="333" name="Google Shape;333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73534" y="819287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34" name="Google Shape;334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1286" y="819287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35" name="Google Shape;335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63499" y="8222120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 txBox="1"/>
          <p:nvPr/>
        </p:nvSpPr>
        <p:spPr>
          <a:xfrm>
            <a:off x="4866444" y="854614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7304 seats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487599" y="8516895"/>
            <a:ext cx="14107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5203 seconds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2669581" y="8516896"/>
            <a:ext cx="14107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6816 gallons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173146" y="165932"/>
            <a:ext cx="6858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412 x 22 				k) 432 x 12				l) 403 x 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173146" y="539259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2446356" y="539259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725017" y="539259"/>
            <a:ext cx="1968410" cy="12652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43" name="Google Shape;343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33276" y="56995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44" name="Google Shape;344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1144" y="57817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45" name="Google Shape;345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89805" y="56994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8"/>
          <p:cNvSpPr txBox="1"/>
          <p:nvPr/>
        </p:nvSpPr>
        <p:spPr>
          <a:xfrm>
            <a:off x="4944285" y="73910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4433</a:t>
            </a:r>
            <a:endParaRPr/>
          </a:p>
        </p:txBody>
      </p:sp>
      <p:sp>
        <p:nvSpPr>
          <p:cNvPr id="347" name="Google Shape;347;p18"/>
          <p:cNvSpPr txBox="1"/>
          <p:nvPr/>
        </p:nvSpPr>
        <p:spPr>
          <a:xfrm>
            <a:off x="2639706" y="73910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5184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403402" y="73910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9064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"/>
          <p:cNvSpPr/>
          <p:nvPr/>
        </p:nvSpPr>
        <p:spPr>
          <a:xfrm>
            <a:off x="2363924" y="8024703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4677858" y="8024703"/>
            <a:ext cx="1968410" cy="16938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56" name="Google Shape;356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28712" y="8070477"/>
            <a:ext cx="1838834" cy="1598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7" name="Google Shape;357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56431" y="8070477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9"/>
          <p:cNvSpPr/>
          <p:nvPr/>
        </p:nvSpPr>
        <p:spPr>
          <a:xfrm>
            <a:off x="120398" y="8027878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59" name="Google Shape;359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19665" y="8095432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9"/>
          <p:cNvSpPr/>
          <p:nvPr/>
        </p:nvSpPr>
        <p:spPr>
          <a:xfrm>
            <a:off x="4626855" y="1705357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2363924" y="4793193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101685" y="4269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2399111" y="6306581"/>
            <a:ext cx="206271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It takes an hour for a car manufacturing company to assemble 34 cars. How many cars can the company assemble in 210 hours?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4691643" y="6302064"/>
            <a:ext cx="20627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A primary school are carpeting a classroom. The room is 21 square metre. The carpet is £322 per square metre. Calculate the cost of the carpet.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 txBox="1"/>
          <p:nvPr/>
        </p:nvSpPr>
        <p:spPr>
          <a:xfrm>
            <a:off x="70958" y="6518710"/>
            <a:ext cx="20627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 startAt="7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Clara and her friends take an average of 12 hours to mow a community lawn over a weekend. How many hours on an average will they take to mow 124 such lawns?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4997508" y="845600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£6762</a:t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>
            <a:off x="2654293" y="845100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7140 hours</a:t>
            </a:r>
            <a:endParaRPr/>
          </a:p>
        </p:txBody>
      </p:sp>
      <p:sp>
        <p:nvSpPr>
          <p:cNvPr id="369" name="Google Shape;369;p19"/>
          <p:cNvSpPr txBox="1"/>
          <p:nvPr/>
        </p:nvSpPr>
        <p:spPr>
          <a:xfrm>
            <a:off x="444117" y="845100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1488 hours</a:t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122901" y="1705357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2342217" y="1715499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32051" y="346094"/>
            <a:ext cx="206271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goes to a movie with his dad and brother. Each movie ticket costs $23. How much in total does Jim pay for the tickets?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2353249" y="111173"/>
            <a:ext cx="206271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A rugby team brought 4 coaches of supporters to a cup match. Each coach held 121 supporter. How many supporters were brought to the match?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4674447" y="118402"/>
            <a:ext cx="206271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A cinema has 132 seats in each row. There are 3 rows. How many seats are there in total?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14056" y="3398995"/>
            <a:ext cx="206271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 startAt="4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Eleanor goes to an ice hockey match. There were 12 blocks of seats with 431 seats in each block. How many seats were there altogether?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2337802" y="3188168"/>
            <a:ext cx="206271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The garden of a house is 33 square metres. Jeremiah wants to cover the entire garden with grass. Grass costs £21 per square metre.  How much will the grass cost?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4650513" y="3187329"/>
            <a:ext cx="20627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Andy is doing a charity carwash. He charges £13 per car and washes 312 cars.  How much money did he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78" name="Google Shape;378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16817" y="1772523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9"/>
          <p:cNvSpPr txBox="1"/>
          <p:nvPr/>
        </p:nvSpPr>
        <p:spPr>
          <a:xfrm>
            <a:off x="2621070" y="2064569"/>
            <a:ext cx="14107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484 supporters</a:t>
            </a:r>
            <a:endParaRPr/>
          </a:p>
        </p:txBody>
      </p:sp>
      <p:pic>
        <p:nvPicPr>
          <p:cNvPr descr="A screenshot of a computer&#10;&#10;Description automatically generated" id="380" name="Google Shape;380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1643" y="1748844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9"/>
          <p:cNvSpPr txBox="1"/>
          <p:nvPr/>
        </p:nvSpPr>
        <p:spPr>
          <a:xfrm>
            <a:off x="4949231" y="214808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396 seats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4677858" y="4793193"/>
            <a:ext cx="1968410" cy="16938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83" name="Google Shape;383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28712" y="4838967"/>
            <a:ext cx="1838834" cy="1598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84" name="Google Shape;384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56431" y="4838967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 txBox="1"/>
          <p:nvPr/>
        </p:nvSpPr>
        <p:spPr>
          <a:xfrm>
            <a:off x="4984061" y="515945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£4056</a:t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2655900" y="507594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£693</a:t>
            </a:r>
            <a:endParaRPr/>
          </a:p>
        </p:txBody>
      </p:sp>
      <p:pic>
        <p:nvPicPr>
          <p:cNvPr descr="A screenshot of a computer&#10;&#10;Description automatically generated" id="387" name="Google Shape;387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22168" y="1772911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9"/>
          <p:cNvSpPr txBox="1"/>
          <p:nvPr/>
        </p:nvSpPr>
        <p:spPr>
          <a:xfrm>
            <a:off x="359210" y="214808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$69</a:t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120398" y="4796368"/>
            <a:ext cx="1968410" cy="17156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90" name="Google Shape;390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19665" y="4863922"/>
            <a:ext cx="1838834" cy="159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9"/>
          <p:cNvSpPr txBox="1"/>
          <p:nvPr/>
        </p:nvSpPr>
        <p:spPr>
          <a:xfrm>
            <a:off x="394040" y="515945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5172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1341595" y="184286"/>
            <a:ext cx="3449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Work out the following: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 txBox="1"/>
          <p:nvPr>
            <p:ph idx="12" type="sldNum"/>
          </p:nvPr>
        </p:nvSpPr>
        <p:spPr>
          <a:xfrm>
            <a:off x="5224442" y="936540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/>
              <a:t>‹#›</a:t>
            </a:fld>
            <a:endParaRPr sz="1000"/>
          </a:p>
        </p:txBody>
      </p:sp>
      <p:sp>
        <p:nvSpPr>
          <p:cNvPr id="399" name="Google Shape;399;p20"/>
          <p:cNvSpPr txBox="1"/>
          <p:nvPr/>
        </p:nvSpPr>
        <p:spPr>
          <a:xfrm>
            <a:off x="159010" y="104387"/>
            <a:ext cx="6655712" cy="4678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Find the missing digits for each calculation below: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      				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10" y="697902"/>
            <a:ext cx="6339118" cy="282270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0"/>
          <p:cNvSpPr txBox="1"/>
          <p:nvPr/>
        </p:nvSpPr>
        <p:spPr>
          <a:xfrm>
            <a:off x="152793" y="792948"/>
            <a:ext cx="47958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2400083" y="792948"/>
            <a:ext cx="47958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4552799" y="792948"/>
            <a:ext cx="47958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157729" y="2447202"/>
            <a:ext cx="47958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2400083" y="2447202"/>
            <a:ext cx="47958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4552799" y="2447202"/>
            <a:ext cx="47958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1120518" y="752454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923625" y="1346694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5907622" y="752454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5534543" y="752454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3176337" y="1360171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3404260" y="752454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5722039" y="1360171"/>
            <a:ext cx="157766" cy="40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1233252" y="3036528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1449805" y="2367784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1020255" y="2366301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3414893" y="2998432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3196417" y="2353892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3619154" y="2358512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0" name="Google Shape;420;p20"/>
          <p:cNvSpPr txBox="1"/>
          <p:nvPr/>
        </p:nvSpPr>
        <p:spPr>
          <a:xfrm>
            <a:off x="5523909" y="2358952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5968333" y="2355668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5743304" y="2998432"/>
            <a:ext cx="252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89738" y="4140101"/>
            <a:ext cx="6609252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92454" y="4477562"/>
            <a:ext cx="6601934" cy="4463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592625" y="8507433"/>
            <a:ext cx="1975236" cy="215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104497" y="4555152"/>
            <a:ext cx="64303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 x 3</a:t>
            </a:r>
            <a:endParaRPr/>
          </a:p>
        </p:txBody>
      </p:sp>
      <p:pic>
        <p:nvPicPr>
          <p:cNvPr id="427" name="Google Shape;4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11" y="5265011"/>
            <a:ext cx="6355956" cy="11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0"/>
          <p:cNvSpPr txBox="1"/>
          <p:nvPr/>
        </p:nvSpPr>
        <p:spPr>
          <a:xfrm>
            <a:off x="141711" y="6939799"/>
            <a:ext cx="64303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Calculate: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 x 24</a:t>
            </a:r>
            <a:endParaRPr/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711" y="7635949"/>
            <a:ext cx="6355956" cy="111508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/>
          <p:nvPr/>
        </p:nvSpPr>
        <p:spPr>
          <a:xfrm>
            <a:off x="5737229" y="5933100"/>
            <a:ext cx="886355" cy="597904"/>
          </a:xfrm>
          <a:prstGeom prst="ellipse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149447" y="8248141"/>
            <a:ext cx="886355" cy="597904"/>
          </a:xfrm>
          <a:prstGeom prst="ellipse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2" name="Google Shape;432;p20"/>
          <p:cNvGraphicFramePr/>
          <p:nvPr/>
        </p:nvGraphicFramePr>
        <p:xfrm>
          <a:off x="157729" y="717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{C82EAB3D-4911-44A0-A901-489883D42D86}</a:tableStyleId>
              </a:tblPr>
              <a:tblGrid>
                <a:gridCol w="2182500"/>
                <a:gridCol w="2182500"/>
                <a:gridCol w="2182500"/>
              </a:tblGrid>
              <a:tr h="1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