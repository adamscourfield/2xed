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9906000" cx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48365BD-FC6D-423E-9DE8-EAC0A2F9B1C8}">
  <a:tblStyle styleId="{148365BD-FC6D-423E-9DE8-EAC0A2F9B1C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fill>
          <a:solidFill>
            <a:srgbClr val="D0DEEF"/>
          </a:solidFill>
        </a:fill>
      </a:tcStyle>
    </a:band1H>
    <a:band2H>
      <a:tcTxStyle/>
    </a:band2H>
    <a:band1V>
      <a:tcTxStyle/>
      <a:tcStyle>
        <a:fill>
          <a:solidFill>
            <a:srgbClr val="D0DEEF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98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9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9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9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99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00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9" name="Google Shape;319;p20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20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201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4" name="Google Shape;454;p20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20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20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202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514350" y="1621191"/>
            <a:ext cx="5829300" cy="34487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857250" y="5202944"/>
            <a:ext cx="5143500" cy="2391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467916" y="2469624"/>
            <a:ext cx="5915025" cy="41206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467916" y="6629226"/>
            <a:ext cx="5915025" cy="2166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9" name="Google Shape;39;p6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" type="body"/>
          </p:nvPr>
        </p:nvSpPr>
        <p:spPr>
          <a:xfrm>
            <a:off x="471488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7"/>
          <p:cNvSpPr txBox="1"/>
          <p:nvPr>
            <p:ph idx="2" type="body"/>
          </p:nvPr>
        </p:nvSpPr>
        <p:spPr>
          <a:xfrm>
            <a:off x="3471863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72381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" type="body"/>
          </p:nvPr>
        </p:nvSpPr>
        <p:spPr>
          <a:xfrm>
            <a:off x="472381" y="2428347"/>
            <a:ext cx="2901255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2" name="Google Shape;52;p8"/>
          <p:cNvSpPr txBox="1"/>
          <p:nvPr>
            <p:ph idx="2" type="body"/>
          </p:nvPr>
        </p:nvSpPr>
        <p:spPr>
          <a:xfrm>
            <a:off x="472381" y="3618442"/>
            <a:ext cx="2901255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3" type="body"/>
          </p:nvPr>
        </p:nvSpPr>
        <p:spPr>
          <a:xfrm>
            <a:off x="3471863" y="2428347"/>
            <a:ext cx="2915543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4" name="Google Shape;54;p8"/>
          <p:cNvSpPr txBox="1"/>
          <p:nvPr>
            <p:ph idx="4" type="body"/>
          </p:nvPr>
        </p:nvSpPr>
        <p:spPr>
          <a:xfrm>
            <a:off x="3471863" y="3618442"/>
            <a:ext cx="2915543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286367" y="2822135"/>
            <a:ext cx="6285266" cy="591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1449696" y="3985464"/>
            <a:ext cx="8394877" cy="1478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-1550679" y="2549570"/>
            <a:ext cx="8394877" cy="4350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9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3.png"/><Relationship Id="rId7" Type="http://schemas.openxmlformats.org/officeDocument/2006/relationships/image" Target="../media/image8.png"/><Relationship Id="rId8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2.png"/><Relationship Id="rId5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3"/>
          <p:cNvSpPr txBox="1"/>
          <p:nvPr>
            <p:ph idx="12" type="sldNum"/>
          </p:nvPr>
        </p:nvSpPr>
        <p:spPr>
          <a:xfrm>
            <a:off x="5219842" y="9333328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90" name="Google Shape;90;p13"/>
          <p:cNvSpPr/>
          <p:nvPr/>
        </p:nvSpPr>
        <p:spPr>
          <a:xfrm>
            <a:off x="0" y="0"/>
            <a:ext cx="6858000" cy="29191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Subtopic N2.12 – Perimeter of an Isosceles Triangle or an Isosceles Trapezium</a:t>
            </a:r>
            <a:endParaRPr sz="16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3"/>
          <p:cNvSpPr/>
          <p:nvPr/>
        </p:nvSpPr>
        <p:spPr>
          <a:xfrm>
            <a:off x="109273" y="3052417"/>
            <a:ext cx="6602856" cy="2459284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cxnSp>
        <p:nvCxnSpPr>
          <p:cNvPr id="92" name="Google Shape;92;p13"/>
          <p:cNvCxnSpPr>
            <a:stCxn id="91" idx="2"/>
            <a:endCxn id="91" idx="0"/>
          </p:cNvCxnSpPr>
          <p:nvPr/>
        </p:nvCxnSpPr>
        <p:spPr>
          <a:xfrm rot="10800000">
            <a:off x="3410701" y="3052301"/>
            <a:ext cx="0" cy="2459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3" name="Google Shape;93;p13"/>
          <p:cNvSpPr txBox="1"/>
          <p:nvPr/>
        </p:nvSpPr>
        <p:spPr>
          <a:xfrm>
            <a:off x="104908" y="3042180"/>
            <a:ext cx="82471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3"/>
          <p:cNvSpPr txBox="1"/>
          <p:nvPr/>
        </p:nvSpPr>
        <p:spPr>
          <a:xfrm>
            <a:off x="5688019" y="2989461"/>
            <a:ext cx="111222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Characteristics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3"/>
          <p:cNvSpPr txBox="1"/>
          <p:nvPr/>
        </p:nvSpPr>
        <p:spPr>
          <a:xfrm>
            <a:off x="107389" y="3249161"/>
            <a:ext cx="3230335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 isosceles triangle is a triangle that has two sides of equal length.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 isosceles trapezium is a trapezium where the two non-parallel sides are of equal length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3382828" y="3154071"/>
            <a:ext cx="3383022" cy="11079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an isosceles triangle there are also two angle of equal size.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an isosceles trapezium there are two pairs of equal angles.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Both an isosceles triangle and an isosceles trapezium have one line of symmetry</a:t>
            </a:r>
            <a:endParaRPr/>
          </a:p>
        </p:txBody>
      </p:sp>
      <p:sp>
        <p:nvSpPr>
          <p:cNvPr id="97" name="Google Shape;97;p13"/>
          <p:cNvSpPr txBox="1"/>
          <p:nvPr/>
        </p:nvSpPr>
        <p:spPr>
          <a:xfrm>
            <a:off x="1238281" y="4223599"/>
            <a:ext cx="50042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3cm</a:t>
            </a:r>
            <a:endParaRPr/>
          </a:p>
        </p:txBody>
      </p:sp>
      <p:sp>
        <p:nvSpPr>
          <p:cNvPr id="98" name="Google Shape;98;p13"/>
          <p:cNvSpPr/>
          <p:nvPr/>
        </p:nvSpPr>
        <p:spPr>
          <a:xfrm>
            <a:off x="111149" y="348511"/>
            <a:ext cx="6600980" cy="1413008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88724" y="841123"/>
            <a:ext cx="139976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Objectives:</a:t>
            </a:r>
            <a:endParaRPr/>
          </a:p>
        </p:txBody>
      </p:sp>
      <p:sp>
        <p:nvSpPr>
          <p:cNvPr id="100" name="Google Shape;100;p13"/>
          <p:cNvSpPr txBox="1"/>
          <p:nvPr/>
        </p:nvSpPr>
        <p:spPr>
          <a:xfrm>
            <a:off x="145871" y="1063873"/>
            <a:ext cx="495958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recognise an isosceles triangle and an isosceles trapezium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find the perimeter of an isosceles triangle or an isosceles trapezium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find missing lengths in an isosceles triangle or an isosceles trapezium</a:t>
            </a:r>
            <a:endParaRPr/>
          </a:p>
        </p:txBody>
      </p:sp>
      <p:sp>
        <p:nvSpPr>
          <p:cNvPr id="101" name="Google Shape;101;p13"/>
          <p:cNvSpPr txBox="1"/>
          <p:nvPr/>
        </p:nvSpPr>
        <p:spPr>
          <a:xfrm>
            <a:off x="150332" y="393571"/>
            <a:ext cx="5350356" cy="46166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LEARNING OUTCOME: </a:t>
            </a: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solve problems involving the perimeter of an isosceles triangle or an isosceles trapezium </a:t>
            </a:r>
            <a:endParaRPr/>
          </a:p>
        </p:txBody>
      </p:sp>
      <p:sp>
        <p:nvSpPr>
          <p:cNvPr id="102" name="Google Shape;102;p13"/>
          <p:cNvSpPr txBox="1"/>
          <p:nvPr/>
        </p:nvSpPr>
        <p:spPr>
          <a:xfrm>
            <a:off x="5668521" y="383039"/>
            <a:ext cx="1002454" cy="1015663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Keywords: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Triangle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Trapezium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Isosceles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Perimeter</a:t>
            </a:r>
            <a:endParaRPr/>
          </a:p>
        </p:txBody>
      </p:sp>
      <p:graphicFrame>
        <p:nvGraphicFramePr>
          <p:cNvPr id="103" name="Google Shape;103;p13"/>
          <p:cNvGraphicFramePr/>
          <p:nvPr/>
        </p:nvGraphicFramePr>
        <p:xfrm>
          <a:off x="124464" y="611596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{148365BD-FC6D-423E-9DE8-EAC0A2F9B1C8}</a:tableStyleId>
              </a:tblPr>
              <a:tblGrid>
                <a:gridCol w="1198850"/>
                <a:gridCol w="1791200"/>
                <a:gridCol w="1791200"/>
                <a:gridCol w="1791200"/>
              </a:tblGrid>
              <a:tr h="396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Circle the isosceles triangle and isosceles trapezium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Circle the isosceles triangle and isosceles trapezium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Circle the isosceles triangle and isosceles trapezium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996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Count the number of  equal sides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165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For a trapezium, check the equal sides are opposite each other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 vMerge="1"/>
                <a:tc vMerge="1"/>
              </a:tr>
            </a:tbl>
          </a:graphicData>
        </a:graphic>
      </p:graphicFrame>
      <p:sp>
        <p:nvSpPr>
          <p:cNvPr id="104" name="Google Shape;104;p13"/>
          <p:cNvSpPr txBox="1"/>
          <p:nvPr/>
        </p:nvSpPr>
        <p:spPr>
          <a:xfrm>
            <a:off x="1637340" y="5875951"/>
            <a:ext cx="14107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1 - I do…</a:t>
            </a:r>
            <a:endParaRPr/>
          </a:p>
        </p:txBody>
      </p:sp>
      <p:sp>
        <p:nvSpPr>
          <p:cNvPr id="105" name="Google Shape;105;p13"/>
          <p:cNvSpPr txBox="1"/>
          <p:nvPr/>
        </p:nvSpPr>
        <p:spPr>
          <a:xfrm>
            <a:off x="5090099" y="5856364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3 – You do…</a:t>
            </a:r>
            <a:endParaRPr/>
          </a:p>
        </p:txBody>
      </p:sp>
      <p:cxnSp>
        <p:nvCxnSpPr>
          <p:cNvPr id="106" name="Google Shape;106;p13"/>
          <p:cNvCxnSpPr/>
          <p:nvPr/>
        </p:nvCxnSpPr>
        <p:spPr>
          <a:xfrm flipH="1" rot="10800000">
            <a:off x="967650" y="5005583"/>
            <a:ext cx="5541513" cy="22822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7" name="Google Shape;107;p13"/>
          <p:cNvCxnSpPr/>
          <p:nvPr/>
        </p:nvCxnSpPr>
        <p:spPr>
          <a:xfrm>
            <a:off x="109272" y="4282059"/>
            <a:ext cx="6588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8" name="Google Shape;108;p13"/>
          <p:cNvSpPr txBox="1"/>
          <p:nvPr/>
        </p:nvSpPr>
        <p:spPr>
          <a:xfrm>
            <a:off x="62519" y="4230089"/>
            <a:ext cx="78816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3"/>
          <p:cNvSpPr txBox="1"/>
          <p:nvPr/>
        </p:nvSpPr>
        <p:spPr>
          <a:xfrm>
            <a:off x="5608556" y="4249217"/>
            <a:ext cx="117288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Non - Examples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3"/>
          <p:cNvSpPr txBox="1"/>
          <p:nvPr/>
        </p:nvSpPr>
        <p:spPr>
          <a:xfrm>
            <a:off x="3328377" y="5867073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2 – We do…</a:t>
            </a:r>
            <a:endParaRPr/>
          </a:p>
        </p:txBody>
      </p:sp>
      <p:sp>
        <p:nvSpPr>
          <p:cNvPr id="111" name="Google Shape;111;p13"/>
          <p:cNvSpPr txBox="1"/>
          <p:nvPr/>
        </p:nvSpPr>
        <p:spPr>
          <a:xfrm>
            <a:off x="37025" y="4828871"/>
            <a:ext cx="5283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5cm</a:t>
            </a:r>
            <a:endParaRPr/>
          </a:p>
        </p:txBody>
      </p:sp>
      <p:sp>
        <p:nvSpPr>
          <p:cNvPr id="112" name="Google Shape;112;p13"/>
          <p:cNvSpPr txBox="1"/>
          <p:nvPr/>
        </p:nvSpPr>
        <p:spPr>
          <a:xfrm>
            <a:off x="3391235" y="4541615"/>
            <a:ext cx="323033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3"/>
          <p:cNvSpPr/>
          <p:nvPr/>
        </p:nvSpPr>
        <p:spPr>
          <a:xfrm>
            <a:off x="104908" y="5590675"/>
            <a:ext cx="4089864" cy="25404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Recognise an isosceles triangle or an isosceles trapezium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3"/>
          <p:cNvSpPr/>
          <p:nvPr/>
        </p:nvSpPr>
        <p:spPr>
          <a:xfrm>
            <a:off x="2154213" y="4915117"/>
            <a:ext cx="913453" cy="389008"/>
          </a:xfrm>
          <a:prstGeom prst="trapezoid">
            <a:avLst>
              <a:gd fmla="val 25000" name="adj"/>
            </a:avLst>
          </a:prstGeom>
          <a:noFill/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3"/>
          <p:cNvSpPr/>
          <p:nvPr/>
        </p:nvSpPr>
        <p:spPr>
          <a:xfrm>
            <a:off x="333434" y="4634806"/>
            <a:ext cx="396570" cy="691482"/>
          </a:xfrm>
          <a:prstGeom prst="triangle">
            <a:avLst>
              <a:gd fmla="val 50000" name="adj"/>
            </a:avLst>
          </a:prstGeom>
          <a:noFill/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3"/>
          <p:cNvSpPr txBox="1"/>
          <p:nvPr/>
        </p:nvSpPr>
        <p:spPr>
          <a:xfrm>
            <a:off x="332240" y="5258386"/>
            <a:ext cx="48748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3cm</a:t>
            </a:r>
            <a:endParaRPr/>
          </a:p>
        </p:txBody>
      </p:sp>
      <p:sp>
        <p:nvSpPr>
          <p:cNvPr id="117" name="Google Shape;117;p13"/>
          <p:cNvSpPr txBox="1"/>
          <p:nvPr/>
        </p:nvSpPr>
        <p:spPr>
          <a:xfrm>
            <a:off x="659979" y="4803054"/>
            <a:ext cx="48748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5cm</a:t>
            </a:r>
            <a:endParaRPr/>
          </a:p>
        </p:txBody>
      </p:sp>
      <p:cxnSp>
        <p:nvCxnSpPr>
          <p:cNvPr id="118" name="Google Shape;118;p13"/>
          <p:cNvCxnSpPr/>
          <p:nvPr/>
        </p:nvCxnSpPr>
        <p:spPr>
          <a:xfrm flipH="1" rot="10800000">
            <a:off x="571870" y="4862583"/>
            <a:ext cx="128570" cy="7714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9" name="Google Shape;119;p13"/>
          <p:cNvCxnSpPr/>
          <p:nvPr/>
        </p:nvCxnSpPr>
        <p:spPr>
          <a:xfrm>
            <a:off x="2114091" y="5046391"/>
            <a:ext cx="180753" cy="3615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0" name="Google Shape;120;p13"/>
          <p:cNvSpPr txBox="1"/>
          <p:nvPr/>
        </p:nvSpPr>
        <p:spPr>
          <a:xfrm>
            <a:off x="1773036" y="4948989"/>
            <a:ext cx="50042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2cm</a:t>
            </a:r>
            <a:endParaRPr/>
          </a:p>
        </p:txBody>
      </p:sp>
      <p:sp>
        <p:nvSpPr>
          <p:cNvPr id="121" name="Google Shape;121;p13"/>
          <p:cNvSpPr txBox="1"/>
          <p:nvPr/>
        </p:nvSpPr>
        <p:spPr>
          <a:xfrm>
            <a:off x="2398118" y="4654903"/>
            <a:ext cx="50042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6cm</a:t>
            </a:r>
            <a:endParaRPr/>
          </a:p>
        </p:txBody>
      </p:sp>
      <p:sp>
        <p:nvSpPr>
          <p:cNvPr id="122" name="Google Shape;122;p13"/>
          <p:cNvSpPr txBox="1"/>
          <p:nvPr/>
        </p:nvSpPr>
        <p:spPr>
          <a:xfrm>
            <a:off x="2393588" y="5263658"/>
            <a:ext cx="50042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4cm</a:t>
            </a:r>
            <a:endParaRPr/>
          </a:p>
        </p:txBody>
      </p:sp>
      <p:sp>
        <p:nvSpPr>
          <p:cNvPr id="123" name="Google Shape;123;p13"/>
          <p:cNvSpPr txBox="1"/>
          <p:nvPr/>
        </p:nvSpPr>
        <p:spPr>
          <a:xfrm>
            <a:off x="3011010" y="4974126"/>
            <a:ext cx="50042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2cm</a:t>
            </a:r>
            <a:endParaRPr/>
          </a:p>
        </p:txBody>
      </p:sp>
      <p:cxnSp>
        <p:nvCxnSpPr>
          <p:cNvPr id="124" name="Google Shape;124;p13"/>
          <p:cNvCxnSpPr/>
          <p:nvPr/>
        </p:nvCxnSpPr>
        <p:spPr>
          <a:xfrm>
            <a:off x="4302630" y="4883088"/>
            <a:ext cx="374409" cy="409546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5" name="Google Shape;125;p13"/>
          <p:cNvCxnSpPr/>
          <p:nvPr/>
        </p:nvCxnSpPr>
        <p:spPr>
          <a:xfrm flipH="1">
            <a:off x="3584838" y="4887140"/>
            <a:ext cx="718122" cy="280974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6" name="Google Shape;126;p13"/>
          <p:cNvCxnSpPr/>
          <p:nvPr/>
        </p:nvCxnSpPr>
        <p:spPr>
          <a:xfrm>
            <a:off x="3577131" y="5162448"/>
            <a:ext cx="1106239" cy="121804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7" name="Google Shape;127;p13"/>
          <p:cNvSpPr/>
          <p:nvPr/>
        </p:nvSpPr>
        <p:spPr>
          <a:xfrm>
            <a:off x="4832906" y="4569265"/>
            <a:ext cx="612742" cy="390829"/>
          </a:xfrm>
          <a:prstGeom prst="triangle">
            <a:avLst>
              <a:gd fmla="val 50000" name="adj"/>
            </a:avLst>
          </a:prstGeom>
          <a:noFill/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3"/>
          <p:cNvSpPr txBox="1"/>
          <p:nvPr/>
        </p:nvSpPr>
        <p:spPr>
          <a:xfrm>
            <a:off x="4371446" y="4871535"/>
            <a:ext cx="50042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3cm</a:t>
            </a:r>
            <a:endParaRPr/>
          </a:p>
        </p:txBody>
      </p:sp>
      <p:sp>
        <p:nvSpPr>
          <p:cNvPr id="129" name="Google Shape;129;p13"/>
          <p:cNvSpPr txBox="1"/>
          <p:nvPr/>
        </p:nvSpPr>
        <p:spPr>
          <a:xfrm>
            <a:off x="3605382" y="4765547"/>
            <a:ext cx="50042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4cm</a:t>
            </a:r>
            <a:endParaRPr/>
          </a:p>
        </p:txBody>
      </p:sp>
      <p:sp>
        <p:nvSpPr>
          <p:cNvPr id="130" name="Google Shape;130;p13"/>
          <p:cNvSpPr txBox="1"/>
          <p:nvPr/>
        </p:nvSpPr>
        <p:spPr>
          <a:xfrm>
            <a:off x="3860877" y="5201544"/>
            <a:ext cx="50042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7cm</a:t>
            </a:r>
            <a:endParaRPr/>
          </a:p>
        </p:txBody>
      </p:sp>
      <p:sp>
        <p:nvSpPr>
          <p:cNvPr id="131" name="Google Shape;131;p13"/>
          <p:cNvSpPr txBox="1"/>
          <p:nvPr/>
        </p:nvSpPr>
        <p:spPr>
          <a:xfrm>
            <a:off x="4581055" y="4586782"/>
            <a:ext cx="50042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2cm</a:t>
            </a:r>
            <a:endParaRPr/>
          </a:p>
        </p:txBody>
      </p:sp>
      <p:sp>
        <p:nvSpPr>
          <p:cNvPr id="132" name="Google Shape;132;p13"/>
          <p:cNvSpPr txBox="1"/>
          <p:nvPr/>
        </p:nvSpPr>
        <p:spPr>
          <a:xfrm>
            <a:off x="4914093" y="4959217"/>
            <a:ext cx="50042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2cm</a:t>
            </a:r>
            <a:endParaRPr/>
          </a:p>
        </p:txBody>
      </p:sp>
      <p:sp>
        <p:nvSpPr>
          <p:cNvPr id="133" name="Google Shape;133;p13"/>
          <p:cNvSpPr txBox="1"/>
          <p:nvPr/>
        </p:nvSpPr>
        <p:spPr>
          <a:xfrm>
            <a:off x="5255412" y="4577005"/>
            <a:ext cx="45945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2cm</a:t>
            </a:r>
            <a:endParaRPr/>
          </a:p>
        </p:txBody>
      </p:sp>
      <p:cxnSp>
        <p:nvCxnSpPr>
          <p:cNvPr id="134" name="Google Shape;134;p13"/>
          <p:cNvCxnSpPr/>
          <p:nvPr/>
        </p:nvCxnSpPr>
        <p:spPr>
          <a:xfrm>
            <a:off x="5247461" y="4715505"/>
            <a:ext cx="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5" name="Google Shape;135;p13"/>
          <p:cNvCxnSpPr/>
          <p:nvPr/>
        </p:nvCxnSpPr>
        <p:spPr>
          <a:xfrm>
            <a:off x="5131326" y="4870188"/>
            <a:ext cx="0" cy="19375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6" name="Google Shape;136;p13"/>
          <p:cNvCxnSpPr/>
          <p:nvPr/>
        </p:nvCxnSpPr>
        <p:spPr>
          <a:xfrm flipH="1" rot="10800000">
            <a:off x="5164304" y="4639215"/>
            <a:ext cx="169025" cy="143649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137" name="Google Shape;137;p13"/>
          <p:cNvGrpSpPr/>
          <p:nvPr/>
        </p:nvGrpSpPr>
        <p:grpSpPr>
          <a:xfrm>
            <a:off x="5317975" y="4704617"/>
            <a:ext cx="1330261" cy="880583"/>
            <a:chOff x="5317975" y="4704617"/>
            <a:chExt cx="1330261" cy="880583"/>
          </a:xfrm>
        </p:grpSpPr>
        <p:cxnSp>
          <p:nvCxnSpPr>
            <p:cNvPr id="138" name="Google Shape;138;p13"/>
            <p:cNvCxnSpPr/>
            <p:nvPr/>
          </p:nvCxnSpPr>
          <p:spPr>
            <a:xfrm>
              <a:off x="5695791" y="4898066"/>
              <a:ext cx="0" cy="46797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139" name="Google Shape;139;p13"/>
            <p:cNvGrpSpPr/>
            <p:nvPr/>
          </p:nvGrpSpPr>
          <p:grpSpPr>
            <a:xfrm>
              <a:off x="5695791" y="4898066"/>
              <a:ext cx="952445" cy="467974"/>
              <a:chOff x="5767129" y="3788125"/>
              <a:chExt cx="952445" cy="467974"/>
            </a:xfrm>
          </p:grpSpPr>
          <p:cxnSp>
            <p:nvCxnSpPr>
              <p:cNvPr id="140" name="Google Shape;140;p13"/>
              <p:cNvCxnSpPr/>
              <p:nvPr/>
            </p:nvCxnSpPr>
            <p:spPr>
              <a:xfrm>
                <a:off x="5767129" y="4256099"/>
                <a:ext cx="925779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41" name="Google Shape;141;p13"/>
              <p:cNvCxnSpPr/>
              <p:nvPr/>
            </p:nvCxnSpPr>
            <p:spPr>
              <a:xfrm>
                <a:off x="5767129" y="3788125"/>
                <a:ext cx="705435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42" name="Google Shape;142;p13"/>
              <p:cNvCxnSpPr/>
              <p:nvPr/>
            </p:nvCxnSpPr>
            <p:spPr>
              <a:xfrm>
                <a:off x="6472564" y="3788125"/>
                <a:ext cx="247010" cy="467974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sp>
          <p:nvSpPr>
            <p:cNvPr id="143" name="Google Shape;143;p13"/>
            <p:cNvSpPr txBox="1"/>
            <p:nvPr/>
          </p:nvSpPr>
          <p:spPr>
            <a:xfrm>
              <a:off x="5852266" y="4704617"/>
              <a:ext cx="500423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6cm</a:t>
              </a:r>
              <a:endParaRPr/>
            </a:p>
          </p:txBody>
        </p:sp>
        <p:sp>
          <p:nvSpPr>
            <p:cNvPr id="144" name="Google Shape;144;p13"/>
            <p:cNvSpPr txBox="1"/>
            <p:nvPr/>
          </p:nvSpPr>
          <p:spPr>
            <a:xfrm>
              <a:off x="6144325" y="5013094"/>
              <a:ext cx="500423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5cm</a:t>
              </a:r>
              <a:endParaRPr/>
            </a:p>
          </p:txBody>
        </p:sp>
        <p:sp>
          <p:nvSpPr>
            <p:cNvPr id="145" name="Google Shape;145;p13"/>
            <p:cNvSpPr txBox="1"/>
            <p:nvPr/>
          </p:nvSpPr>
          <p:spPr>
            <a:xfrm>
              <a:off x="5317975" y="4999975"/>
              <a:ext cx="500423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4cm</a:t>
              </a:r>
              <a:endParaRPr/>
            </a:p>
          </p:txBody>
        </p:sp>
        <p:sp>
          <p:nvSpPr>
            <p:cNvPr id="146" name="Google Shape;146;p13"/>
            <p:cNvSpPr txBox="1"/>
            <p:nvPr/>
          </p:nvSpPr>
          <p:spPr>
            <a:xfrm>
              <a:off x="5910428" y="5308201"/>
              <a:ext cx="500423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9cm</a:t>
              </a:r>
              <a:endParaRPr/>
            </a:p>
          </p:txBody>
        </p:sp>
      </p:grpSp>
      <p:pic>
        <p:nvPicPr>
          <p:cNvPr descr="A picture containing line, design, antenna&#10;&#10;Description automatically generated" id="147" name="Google Shape;14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5487" y="4410545"/>
            <a:ext cx="695134" cy="6953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3"/>
          <p:cNvSpPr txBox="1"/>
          <p:nvPr/>
        </p:nvSpPr>
        <p:spPr>
          <a:xfrm>
            <a:off x="1438177" y="4672462"/>
            <a:ext cx="50042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5cm</a:t>
            </a:r>
            <a:endParaRPr/>
          </a:p>
        </p:txBody>
      </p:sp>
      <p:sp>
        <p:nvSpPr>
          <p:cNvPr id="149" name="Google Shape;149;p13"/>
          <p:cNvSpPr txBox="1"/>
          <p:nvPr/>
        </p:nvSpPr>
        <p:spPr>
          <a:xfrm>
            <a:off x="801614" y="4574529"/>
            <a:ext cx="50042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3cm</a:t>
            </a:r>
            <a:endParaRPr/>
          </a:p>
        </p:txBody>
      </p:sp>
      <p:cxnSp>
        <p:nvCxnSpPr>
          <p:cNvPr id="150" name="Google Shape;150;p13"/>
          <p:cNvCxnSpPr/>
          <p:nvPr/>
        </p:nvCxnSpPr>
        <p:spPr>
          <a:xfrm rot="10800000">
            <a:off x="366452" y="4879814"/>
            <a:ext cx="128570" cy="7714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1" name="Google Shape;151;p13"/>
          <p:cNvCxnSpPr/>
          <p:nvPr/>
        </p:nvCxnSpPr>
        <p:spPr>
          <a:xfrm flipH="1">
            <a:off x="2894645" y="5039767"/>
            <a:ext cx="180753" cy="3615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2" name="Google Shape;152;p13"/>
          <p:cNvCxnSpPr/>
          <p:nvPr/>
        </p:nvCxnSpPr>
        <p:spPr>
          <a:xfrm rot="10800000">
            <a:off x="4902949" y="4649319"/>
            <a:ext cx="169025" cy="143649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3" name="Google Shape;153;p13"/>
          <p:cNvSpPr txBox="1"/>
          <p:nvPr/>
        </p:nvSpPr>
        <p:spPr>
          <a:xfrm>
            <a:off x="1989634" y="4210703"/>
            <a:ext cx="3016583" cy="30777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Isosceles Triangles and Trapeziums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3"/>
          <p:cNvSpPr/>
          <p:nvPr/>
        </p:nvSpPr>
        <p:spPr>
          <a:xfrm>
            <a:off x="111509" y="1811147"/>
            <a:ext cx="6600620" cy="120393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1" i="0" lang="en-GB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Introduction – Read and annotate: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 isosceles triangle has two sides that are equal in length and an isosceles trapezium has a pair of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equal non-parallel sides. In this subtopic, you will use your knowledge of perimeter and apply it to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find the perimeter of these two types of shape. Sometimes, you will be given isosceles triangles and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isosceles trapeziums where some side lengths are missing. You will need to use these facts to find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missing sides, before adding to get the perimeter.</a:t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5" name="Google Shape;155;p13"/>
          <p:cNvCxnSpPr/>
          <p:nvPr/>
        </p:nvCxnSpPr>
        <p:spPr>
          <a:xfrm>
            <a:off x="1498961" y="6845231"/>
            <a:ext cx="260269" cy="35887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6" name="Google Shape;156;p13"/>
          <p:cNvCxnSpPr/>
          <p:nvPr/>
        </p:nvCxnSpPr>
        <p:spPr>
          <a:xfrm flipH="1">
            <a:off x="1357004" y="6853127"/>
            <a:ext cx="144670" cy="59250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7" name="Google Shape;157;p13"/>
          <p:cNvCxnSpPr/>
          <p:nvPr/>
        </p:nvCxnSpPr>
        <p:spPr>
          <a:xfrm flipH="1">
            <a:off x="1362278" y="7195794"/>
            <a:ext cx="388671" cy="260231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8" name="Google Shape;158;p13"/>
          <p:cNvSpPr/>
          <p:nvPr/>
        </p:nvSpPr>
        <p:spPr>
          <a:xfrm>
            <a:off x="1854995" y="7074073"/>
            <a:ext cx="415321" cy="534726"/>
          </a:xfrm>
          <a:prstGeom prst="triangle">
            <a:avLst>
              <a:gd fmla="val 50000" name="adj"/>
            </a:avLst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3"/>
          <p:cNvSpPr/>
          <p:nvPr/>
        </p:nvSpPr>
        <p:spPr>
          <a:xfrm>
            <a:off x="3188433" y="6928553"/>
            <a:ext cx="524344" cy="487999"/>
          </a:xfrm>
          <a:prstGeom prst="rtTriangle">
            <a:avLst/>
          </a:prstGeom>
          <a:noFill/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3"/>
          <p:cNvSpPr/>
          <p:nvPr/>
        </p:nvSpPr>
        <p:spPr>
          <a:xfrm>
            <a:off x="2378992" y="7022316"/>
            <a:ext cx="664514" cy="441285"/>
          </a:xfrm>
          <a:prstGeom prst="triangle">
            <a:avLst>
              <a:gd fmla="val 50000" name="adj"/>
            </a:avLst>
          </a:prstGeom>
          <a:noFill/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1" name="Google Shape;161;p13"/>
          <p:cNvCxnSpPr/>
          <p:nvPr/>
        </p:nvCxnSpPr>
        <p:spPr>
          <a:xfrm>
            <a:off x="1869849" y="7327327"/>
            <a:ext cx="156436" cy="68134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2" name="Google Shape;162;p13"/>
          <p:cNvCxnSpPr/>
          <p:nvPr/>
        </p:nvCxnSpPr>
        <p:spPr>
          <a:xfrm flipH="1">
            <a:off x="2706966" y="7382696"/>
            <a:ext cx="4500" cy="15639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3" name="Google Shape;163;p13"/>
          <p:cNvCxnSpPr/>
          <p:nvPr/>
        </p:nvCxnSpPr>
        <p:spPr>
          <a:xfrm>
            <a:off x="3106045" y="7169873"/>
            <a:ext cx="172010" cy="16216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4" name="Google Shape;164;p13"/>
          <p:cNvSpPr/>
          <p:nvPr/>
        </p:nvSpPr>
        <p:spPr>
          <a:xfrm rot="2040000">
            <a:off x="3820731" y="6928553"/>
            <a:ext cx="643748" cy="410130"/>
          </a:xfrm>
          <a:prstGeom prst="triangle">
            <a:avLst>
              <a:gd fmla="val 50000" name="adj"/>
            </a:avLst>
          </a:prstGeom>
          <a:noFill/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5" name="Google Shape;165;p13"/>
          <p:cNvCxnSpPr/>
          <p:nvPr/>
        </p:nvCxnSpPr>
        <p:spPr>
          <a:xfrm>
            <a:off x="3973014" y="6951846"/>
            <a:ext cx="68181" cy="15639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6" name="Google Shape;166;p13"/>
          <p:cNvCxnSpPr/>
          <p:nvPr/>
        </p:nvCxnSpPr>
        <p:spPr>
          <a:xfrm flipH="1" rot="10800000">
            <a:off x="4149529" y="7160158"/>
            <a:ext cx="203159" cy="35701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7" name="Google Shape;167;p13"/>
          <p:cNvCxnSpPr/>
          <p:nvPr/>
        </p:nvCxnSpPr>
        <p:spPr>
          <a:xfrm flipH="1" rot="10800000">
            <a:off x="3957470" y="7243230"/>
            <a:ext cx="109713" cy="103194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8" name="Google Shape;168;p13"/>
          <p:cNvCxnSpPr/>
          <p:nvPr/>
        </p:nvCxnSpPr>
        <p:spPr>
          <a:xfrm>
            <a:off x="5927306" y="6933704"/>
            <a:ext cx="83756" cy="353684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9" name="Google Shape;169;p13"/>
          <p:cNvCxnSpPr/>
          <p:nvPr/>
        </p:nvCxnSpPr>
        <p:spPr>
          <a:xfrm flipH="1">
            <a:off x="4376044" y="7250391"/>
            <a:ext cx="487309" cy="182356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0" name="Google Shape;170;p13"/>
          <p:cNvCxnSpPr/>
          <p:nvPr/>
        </p:nvCxnSpPr>
        <p:spPr>
          <a:xfrm flipH="1">
            <a:off x="4360479" y="6912955"/>
            <a:ext cx="373097" cy="519821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1" name="Google Shape;171;p13"/>
          <p:cNvCxnSpPr/>
          <p:nvPr/>
        </p:nvCxnSpPr>
        <p:spPr>
          <a:xfrm>
            <a:off x="4723211" y="6907771"/>
            <a:ext cx="146053" cy="343301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2" name="Google Shape;172;p13"/>
          <p:cNvCxnSpPr/>
          <p:nvPr/>
        </p:nvCxnSpPr>
        <p:spPr>
          <a:xfrm flipH="1" rot="10800000">
            <a:off x="5636990" y="7287398"/>
            <a:ext cx="369289" cy="22779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3" name="Google Shape;173;p13"/>
          <p:cNvCxnSpPr/>
          <p:nvPr/>
        </p:nvCxnSpPr>
        <p:spPr>
          <a:xfrm flipH="1">
            <a:off x="5637701" y="6912966"/>
            <a:ext cx="284842" cy="60808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4" name="Google Shape;174;p13"/>
          <p:cNvSpPr/>
          <p:nvPr/>
        </p:nvSpPr>
        <p:spPr>
          <a:xfrm rot="-1860000">
            <a:off x="4945645" y="6790375"/>
            <a:ext cx="622982" cy="560679"/>
          </a:xfrm>
          <a:prstGeom prst="triangle">
            <a:avLst>
              <a:gd fmla="val 50000" name="adj"/>
            </a:avLst>
          </a:prstGeom>
          <a:noFill/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3"/>
          <p:cNvSpPr/>
          <p:nvPr/>
        </p:nvSpPr>
        <p:spPr>
          <a:xfrm rot="2340000">
            <a:off x="6307272" y="6873518"/>
            <a:ext cx="384172" cy="617791"/>
          </a:xfrm>
          <a:prstGeom prst="triangle">
            <a:avLst>
              <a:gd fmla="val 50000" name="adj"/>
            </a:avLst>
          </a:prstGeom>
          <a:noFill/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6" name="Google Shape;176;p13"/>
          <p:cNvCxnSpPr/>
          <p:nvPr/>
        </p:nvCxnSpPr>
        <p:spPr>
          <a:xfrm flipH="1" rot="10800000">
            <a:off x="5074321" y="7138658"/>
            <a:ext cx="177202" cy="4551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7" name="Google Shape;177;p13"/>
          <p:cNvCxnSpPr/>
          <p:nvPr/>
        </p:nvCxnSpPr>
        <p:spPr>
          <a:xfrm flipH="1" rot="10800000">
            <a:off x="5333398" y="6916181"/>
            <a:ext cx="99330" cy="14472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8" name="Google Shape;178;p13"/>
          <p:cNvCxnSpPr/>
          <p:nvPr/>
        </p:nvCxnSpPr>
        <p:spPr>
          <a:xfrm rot="10800000">
            <a:off x="5328415" y="7238314"/>
            <a:ext cx="103139" cy="165494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9" name="Google Shape;179;p13"/>
          <p:cNvCxnSpPr/>
          <p:nvPr/>
        </p:nvCxnSpPr>
        <p:spPr>
          <a:xfrm rot="10800000">
            <a:off x="6356045" y="7051431"/>
            <a:ext cx="92756" cy="149919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0" name="Google Shape;180;p13"/>
          <p:cNvSpPr/>
          <p:nvPr/>
        </p:nvSpPr>
        <p:spPr>
          <a:xfrm>
            <a:off x="1475309" y="8232806"/>
            <a:ext cx="690471" cy="399751"/>
          </a:xfrm>
          <a:prstGeom prst="trapezoid">
            <a:avLst>
              <a:gd fmla="val 25000" name="adj"/>
            </a:avLst>
          </a:prstGeom>
          <a:noFill/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3"/>
          <p:cNvSpPr/>
          <p:nvPr/>
        </p:nvSpPr>
        <p:spPr>
          <a:xfrm rot="-5400000">
            <a:off x="3785990" y="8376332"/>
            <a:ext cx="576258" cy="332257"/>
          </a:xfrm>
          <a:prstGeom prst="trapezoid">
            <a:avLst>
              <a:gd fmla="val 25000" name="adj"/>
            </a:avLst>
          </a:prstGeom>
          <a:noFill/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3"/>
          <p:cNvSpPr/>
          <p:nvPr/>
        </p:nvSpPr>
        <p:spPr>
          <a:xfrm rot="10800000">
            <a:off x="5926917" y="8529204"/>
            <a:ext cx="581450" cy="384172"/>
          </a:xfrm>
          <a:prstGeom prst="trapezoid">
            <a:avLst>
              <a:gd fmla="val 25000" name="adj"/>
            </a:avLst>
          </a:prstGeom>
          <a:noFill/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3" name="Google Shape;183;p13"/>
          <p:cNvCxnSpPr/>
          <p:nvPr/>
        </p:nvCxnSpPr>
        <p:spPr>
          <a:xfrm>
            <a:off x="2592063" y="8263720"/>
            <a:ext cx="312185" cy="36406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84" name="Google Shape;184;p13"/>
          <p:cNvCxnSpPr/>
          <p:nvPr/>
        </p:nvCxnSpPr>
        <p:spPr>
          <a:xfrm>
            <a:off x="2898520" y="8621947"/>
            <a:ext cx="694" cy="58731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85" name="Google Shape;185;p13"/>
          <p:cNvCxnSpPr/>
          <p:nvPr/>
        </p:nvCxnSpPr>
        <p:spPr>
          <a:xfrm>
            <a:off x="2441691" y="8653097"/>
            <a:ext cx="462737" cy="55616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86" name="Google Shape;186;p13"/>
          <p:cNvCxnSpPr/>
          <p:nvPr/>
        </p:nvCxnSpPr>
        <p:spPr>
          <a:xfrm flipH="1">
            <a:off x="2442400" y="8284512"/>
            <a:ext cx="144668" cy="358876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187" name="Google Shape;187;p13"/>
          <p:cNvGrpSpPr/>
          <p:nvPr/>
        </p:nvGrpSpPr>
        <p:grpSpPr>
          <a:xfrm>
            <a:off x="1474166" y="8873835"/>
            <a:ext cx="815162" cy="421204"/>
            <a:chOff x="1322152" y="7689022"/>
            <a:chExt cx="815162" cy="421204"/>
          </a:xfrm>
        </p:grpSpPr>
        <p:cxnSp>
          <p:nvCxnSpPr>
            <p:cNvPr id="188" name="Google Shape;188;p13"/>
            <p:cNvCxnSpPr/>
            <p:nvPr/>
          </p:nvCxnSpPr>
          <p:spPr>
            <a:xfrm flipH="1">
              <a:off x="1322152" y="7689022"/>
              <a:ext cx="4498" cy="42117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9" name="Google Shape;189;p13"/>
            <p:cNvCxnSpPr/>
            <p:nvPr/>
          </p:nvCxnSpPr>
          <p:spPr>
            <a:xfrm flipH="1">
              <a:off x="1322219" y="7699419"/>
              <a:ext cx="565181" cy="64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0" name="Google Shape;190;p13"/>
            <p:cNvCxnSpPr/>
            <p:nvPr/>
          </p:nvCxnSpPr>
          <p:spPr>
            <a:xfrm flipH="1">
              <a:off x="1322246" y="8109559"/>
              <a:ext cx="803991" cy="64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1" name="Google Shape;191;p13"/>
            <p:cNvCxnSpPr/>
            <p:nvPr/>
          </p:nvCxnSpPr>
          <p:spPr>
            <a:xfrm>
              <a:off x="1892620" y="7689048"/>
              <a:ext cx="244694" cy="42117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cxnSp>
        <p:nvCxnSpPr>
          <p:cNvPr id="192" name="Google Shape;192;p13"/>
          <p:cNvCxnSpPr/>
          <p:nvPr/>
        </p:nvCxnSpPr>
        <p:spPr>
          <a:xfrm>
            <a:off x="4019885" y="8237978"/>
            <a:ext cx="31842" cy="13562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93" name="Google Shape;193;p13"/>
          <p:cNvCxnSpPr/>
          <p:nvPr/>
        </p:nvCxnSpPr>
        <p:spPr>
          <a:xfrm flipH="1">
            <a:off x="4020838" y="8694848"/>
            <a:ext cx="30456" cy="14081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94" name="Google Shape;194;p13"/>
          <p:cNvCxnSpPr/>
          <p:nvPr/>
        </p:nvCxnSpPr>
        <p:spPr>
          <a:xfrm>
            <a:off x="6376257" y="8669477"/>
            <a:ext cx="156438" cy="52561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95" name="Google Shape;195;p13"/>
          <p:cNvCxnSpPr/>
          <p:nvPr/>
        </p:nvCxnSpPr>
        <p:spPr>
          <a:xfrm flipH="1" rot="10800000">
            <a:off x="4448273" y="8282846"/>
            <a:ext cx="493887" cy="13953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196" name="Google Shape;196;p13"/>
          <p:cNvGrpSpPr/>
          <p:nvPr/>
        </p:nvGrpSpPr>
        <p:grpSpPr>
          <a:xfrm rot="5040000">
            <a:off x="3114686" y="8577927"/>
            <a:ext cx="815162" cy="421204"/>
            <a:chOff x="1322152" y="7689022"/>
            <a:chExt cx="815162" cy="421204"/>
          </a:xfrm>
        </p:grpSpPr>
        <p:cxnSp>
          <p:nvCxnSpPr>
            <p:cNvPr id="197" name="Google Shape;197;p13"/>
            <p:cNvCxnSpPr/>
            <p:nvPr/>
          </p:nvCxnSpPr>
          <p:spPr>
            <a:xfrm flipH="1">
              <a:off x="1322152" y="7689022"/>
              <a:ext cx="4498" cy="42117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8" name="Google Shape;198;p13"/>
            <p:cNvCxnSpPr/>
            <p:nvPr/>
          </p:nvCxnSpPr>
          <p:spPr>
            <a:xfrm flipH="1">
              <a:off x="1322219" y="7699419"/>
              <a:ext cx="565181" cy="64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9" name="Google Shape;199;p13"/>
            <p:cNvCxnSpPr/>
            <p:nvPr/>
          </p:nvCxnSpPr>
          <p:spPr>
            <a:xfrm flipH="1">
              <a:off x="1322246" y="8109559"/>
              <a:ext cx="803991" cy="64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0" name="Google Shape;200;p13"/>
            <p:cNvCxnSpPr/>
            <p:nvPr/>
          </p:nvCxnSpPr>
          <p:spPr>
            <a:xfrm>
              <a:off x="1892620" y="7689048"/>
              <a:ext cx="244694" cy="42117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201" name="Google Shape;201;p13"/>
          <p:cNvGrpSpPr/>
          <p:nvPr/>
        </p:nvGrpSpPr>
        <p:grpSpPr>
          <a:xfrm rot="10800000">
            <a:off x="5107381" y="8910753"/>
            <a:ext cx="815162" cy="421204"/>
            <a:chOff x="1322152" y="7689022"/>
            <a:chExt cx="815162" cy="421204"/>
          </a:xfrm>
        </p:grpSpPr>
        <p:cxnSp>
          <p:nvCxnSpPr>
            <p:cNvPr id="202" name="Google Shape;202;p13"/>
            <p:cNvCxnSpPr/>
            <p:nvPr/>
          </p:nvCxnSpPr>
          <p:spPr>
            <a:xfrm flipH="1">
              <a:off x="1322152" y="7689022"/>
              <a:ext cx="4498" cy="42117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3" name="Google Shape;203;p13"/>
            <p:cNvCxnSpPr/>
            <p:nvPr/>
          </p:nvCxnSpPr>
          <p:spPr>
            <a:xfrm flipH="1">
              <a:off x="1322219" y="7699419"/>
              <a:ext cx="565181" cy="64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4" name="Google Shape;204;p13"/>
            <p:cNvCxnSpPr/>
            <p:nvPr/>
          </p:nvCxnSpPr>
          <p:spPr>
            <a:xfrm flipH="1">
              <a:off x="1322246" y="8109559"/>
              <a:ext cx="803991" cy="64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5" name="Google Shape;205;p13"/>
            <p:cNvCxnSpPr/>
            <p:nvPr/>
          </p:nvCxnSpPr>
          <p:spPr>
            <a:xfrm>
              <a:off x="1892620" y="7689048"/>
              <a:ext cx="244694" cy="42117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cxnSp>
        <p:nvCxnSpPr>
          <p:cNvPr id="206" name="Google Shape;206;p13"/>
          <p:cNvCxnSpPr/>
          <p:nvPr/>
        </p:nvCxnSpPr>
        <p:spPr>
          <a:xfrm flipH="1" rot="10800000">
            <a:off x="4287603" y="8687793"/>
            <a:ext cx="654824" cy="201839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07" name="Google Shape;207;p13"/>
          <p:cNvCxnSpPr/>
          <p:nvPr/>
        </p:nvCxnSpPr>
        <p:spPr>
          <a:xfrm flipH="1">
            <a:off x="4937236" y="8287398"/>
            <a:ext cx="4499" cy="38483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08" name="Google Shape;208;p13"/>
          <p:cNvCxnSpPr/>
          <p:nvPr/>
        </p:nvCxnSpPr>
        <p:spPr>
          <a:xfrm flipH="1" rot="10800000">
            <a:off x="4297995" y="8433409"/>
            <a:ext cx="151247" cy="456239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09" name="Google Shape;209;p13"/>
          <p:cNvCxnSpPr/>
          <p:nvPr/>
        </p:nvCxnSpPr>
        <p:spPr>
          <a:xfrm flipH="1" rot="10800000">
            <a:off x="5201345" y="8142709"/>
            <a:ext cx="5885" cy="435471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10" name="Google Shape;210;p13"/>
          <p:cNvCxnSpPr/>
          <p:nvPr/>
        </p:nvCxnSpPr>
        <p:spPr>
          <a:xfrm flipH="1" rot="10800000">
            <a:off x="5455732" y="7841591"/>
            <a:ext cx="5884" cy="79889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11" name="Google Shape;211;p13"/>
          <p:cNvCxnSpPr/>
          <p:nvPr/>
        </p:nvCxnSpPr>
        <p:spPr>
          <a:xfrm flipH="1" rot="10800000">
            <a:off x="5206542" y="7841608"/>
            <a:ext cx="249887" cy="3056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12" name="Google Shape;212;p13"/>
          <p:cNvCxnSpPr/>
          <p:nvPr/>
        </p:nvCxnSpPr>
        <p:spPr>
          <a:xfrm>
            <a:off x="5206559" y="8598955"/>
            <a:ext cx="249887" cy="3179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13" name="Google Shape;213;p13"/>
          <p:cNvCxnSpPr/>
          <p:nvPr/>
        </p:nvCxnSpPr>
        <p:spPr>
          <a:xfrm>
            <a:off x="4334223" y="8585851"/>
            <a:ext cx="90583" cy="6948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14" name="Google Shape;214;p13"/>
          <p:cNvCxnSpPr/>
          <p:nvPr/>
        </p:nvCxnSpPr>
        <p:spPr>
          <a:xfrm>
            <a:off x="4695216" y="8287784"/>
            <a:ext cx="26322" cy="12279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15" name="Google Shape;215;p13"/>
          <p:cNvSpPr/>
          <p:nvPr/>
        </p:nvSpPr>
        <p:spPr>
          <a:xfrm>
            <a:off x="1759230" y="7074073"/>
            <a:ext cx="611971" cy="592507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3"/>
          <p:cNvSpPr/>
          <p:nvPr/>
        </p:nvSpPr>
        <p:spPr>
          <a:xfrm>
            <a:off x="6132815" y="6937931"/>
            <a:ext cx="611971" cy="592507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3"/>
          <p:cNvSpPr/>
          <p:nvPr/>
        </p:nvSpPr>
        <p:spPr>
          <a:xfrm>
            <a:off x="3785795" y="8216187"/>
            <a:ext cx="611971" cy="592507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3"/>
          <p:cNvSpPr/>
          <p:nvPr/>
        </p:nvSpPr>
        <p:spPr>
          <a:xfrm>
            <a:off x="3056277" y="6946582"/>
            <a:ext cx="611971" cy="592507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3"/>
          <p:cNvSpPr/>
          <p:nvPr/>
        </p:nvSpPr>
        <p:spPr>
          <a:xfrm>
            <a:off x="5917311" y="8461453"/>
            <a:ext cx="611971" cy="592507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3"/>
          <p:cNvSpPr/>
          <p:nvPr/>
        </p:nvSpPr>
        <p:spPr>
          <a:xfrm>
            <a:off x="1394426" y="8145094"/>
            <a:ext cx="611971" cy="592507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1" name="Google Shape;221;p13"/>
          <p:cNvCxnSpPr/>
          <p:nvPr/>
        </p:nvCxnSpPr>
        <p:spPr>
          <a:xfrm flipH="1">
            <a:off x="2096680" y="7320232"/>
            <a:ext cx="156436" cy="68134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22" name="Google Shape;222;p13"/>
          <p:cNvCxnSpPr/>
          <p:nvPr/>
        </p:nvCxnSpPr>
        <p:spPr>
          <a:xfrm>
            <a:off x="2446935" y="7226693"/>
            <a:ext cx="156436" cy="68134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23" name="Google Shape;223;p13"/>
          <p:cNvCxnSpPr/>
          <p:nvPr/>
        </p:nvCxnSpPr>
        <p:spPr>
          <a:xfrm flipH="1">
            <a:off x="2801975" y="7217445"/>
            <a:ext cx="156436" cy="68134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24" name="Google Shape;224;p13"/>
          <p:cNvCxnSpPr/>
          <p:nvPr/>
        </p:nvCxnSpPr>
        <p:spPr>
          <a:xfrm>
            <a:off x="1447471" y="8373213"/>
            <a:ext cx="156436" cy="68134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25" name="Google Shape;225;p13"/>
          <p:cNvCxnSpPr/>
          <p:nvPr/>
        </p:nvCxnSpPr>
        <p:spPr>
          <a:xfrm flipH="1">
            <a:off x="2036426" y="8365771"/>
            <a:ext cx="156436" cy="68134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26" name="Google Shape;226;p13"/>
          <p:cNvCxnSpPr/>
          <p:nvPr/>
        </p:nvCxnSpPr>
        <p:spPr>
          <a:xfrm flipH="1" rot="5400000">
            <a:off x="3365687" y="7418718"/>
            <a:ext cx="172010" cy="16216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27" name="Google Shape;227;p13"/>
          <p:cNvCxnSpPr/>
          <p:nvPr/>
        </p:nvCxnSpPr>
        <p:spPr>
          <a:xfrm rot="10800000">
            <a:off x="6489642" y="7242835"/>
            <a:ext cx="144714" cy="2913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28" name="Google Shape;228;p13"/>
          <p:cNvCxnSpPr/>
          <p:nvPr/>
        </p:nvCxnSpPr>
        <p:spPr>
          <a:xfrm flipH="1">
            <a:off x="5911967" y="8683648"/>
            <a:ext cx="156438" cy="52561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4"/>
          <p:cNvSpPr txBox="1"/>
          <p:nvPr>
            <p:ph idx="12" type="sldNum"/>
          </p:nvPr>
        </p:nvSpPr>
        <p:spPr>
          <a:xfrm>
            <a:off x="5245251" y="9240690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34" name="Google Shape;234;p14"/>
          <p:cNvSpPr/>
          <p:nvPr/>
        </p:nvSpPr>
        <p:spPr>
          <a:xfrm>
            <a:off x="268792" y="69260"/>
            <a:ext cx="1137954" cy="340453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pic>
        <p:nvPicPr>
          <p:cNvPr id="235" name="Google Shape;23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2858" y="652643"/>
            <a:ext cx="4246970" cy="1592162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14"/>
          <p:cNvSpPr txBox="1"/>
          <p:nvPr/>
        </p:nvSpPr>
        <p:spPr>
          <a:xfrm>
            <a:off x="205692" y="415486"/>
            <a:ext cx="381784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Which of these are isosceles triangles?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grey triangle with black text&#10;&#10;Description automatically generated" id="237" name="Google Shape;23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14824" y="3890731"/>
            <a:ext cx="668672" cy="912977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14"/>
          <p:cNvSpPr txBox="1"/>
          <p:nvPr/>
        </p:nvSpPr>
        <p:spPr>
          <a:xfrm>
            <a:off x="205692" y="2479339"/>
            <a:ext cx="381784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Which of these are isosceles trapeziums?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39" name="Google Shape;239;p14"/>
          <p:cNvGrpSpPr/>
          <p:nvPr/>
        </p:nvGrpSpPr>
        <p:grpSpPr>
          <a:xfrm>
            <a:off x="4708078" y="2771425"/>
            <a:ext cx="1493117" cy="654802"/>
            <a:chOff x="3383044" y="2494823"/>
            <a:chExt cx="1493117" cy="654802"/>
          </a:xfrm>
        </p:grpSpPr>
        <p:pic>
          <p:nvPicPr>
            <p:cNvPr descr="A white rectangular object with black border&#10;&#10;Description automatically generated" id="240" name="Google Shape;240;p1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383044" y="2494823"/>
              <a:ext cx="1493117" cy="654802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41" name="Google Shape;241;p14"/>
            <p:cNvCxnSpPr/>
            <p:nvPr/>
          </p:nvCxnSpPr>
          <p:spPr>
            <a:xfrm flipH="1" rot="10800000">
              <a:off x="3645540" y="2862943"/>
              <a:ext cx="81003" cy="6315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42" name="Google Shape;242;p14"/>
            <p:cNvCxnSpPr/>
            <p:nvPr/>
          </p:nvCxnSpPr>
          <p:spPr>
            <a:xfrm>
              <a:off x="4640942" y="2804886"/>
              <a:ext cx="101601" cy="5805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aphicFrame>
        <p:nvGraphicFramePr>
          <p:cNvPr id="243" name="Google Shape;243;p14"/>
          <p:cNvGraphicFramePr/>
          <p:nvPr/>
        </p:nvGraphicFramePr>
        <p:xfrm>
          <a:off x="163357" y="570171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{148365BD-FC6D-423E-9DE8-EAC0A2F9B1C8}</a:tableStyleId>
              </a:tblPr>
              <a:tblGrid>
                <a:gridCol w="819025"/>
                <a:gridCol w="1917825"/>
                <a:gridCol w="1917825"/>
                <a:gridCol w="1917825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Calculate the perimeter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Calculate the perimeter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Calculate the perimeter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31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1) Fill in the missing side lengths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2) Add up the side lengths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244" name="Google Shape;244;p14"/>
          <p:cNvSpPr txBox="1"/>
          <p:nvPr/>
        </p:nvSpPr>
        <p:spPr>
          <a:xfrm>
            <a:off x="1295674" y="5454272"/>
            <a:ext cx="14107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4 - I do…</a:t>
            </a:r>
            <a:endParaRPr/>
          </a:p>
        </p:txBody>
      </p:sp>
      <p:sp>
        <p:nvSpPr>
          <p:cNvPr id="245" name="Google Shape;245;p14"/>
          <p:cNvSpPr txBox="1"/>
          <p:nvPr/>
        </p:nvSpPr>
        <p:spPr>
          <a:xfrm>
            <a:off x="3049284" y="5438101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5 – We do…</a:t>
            </a:r>
            <a:endParaRPr/>
          </a:p>
        </p:txBody>
      </p:sp>
      <p:sp>
        <p:nvSpPr>
          <p:cNvPr id="246" name="Google Shape;246;p14"/>
          <p:cNvSpPr txBox="1"/>
          <p:nvPr/>
        </p:nvSpPr>
        <p:spPr>
          <a:xfrm>
            <a:off x="5005233" y="5443923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6 – You do…</a:t>
            </a:r>
            <a:endParaRPr/>
          </a:p>
        </p:txBody>
      </p:sp>
      <p:sp>
        <p:nvSpPr>
          <p:cNvPr id="247" name="Google Shape;247;p14"/>
          <p:cNvSpPr/>
          <p:nvPr/>
        </p:nvSpPr>
        <p:spPr>
          <a:xfrm>
            <a:off x="172091" y="5040019"/>
            <a:ext cx="4397737" cy="28382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Find the perimeter of an isosceles triangle or an isosceles trapezium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graph paper with triangles&#10;&#10;Description automatically generated" id="248" name="Google Shape;248;p14"/>
          <p:cNvPicPr preferRelativeResize="0"/>
          <p:nvPr/>
        </p:nvPicPr>
        <p:blipFill rotWithShape="1">
          <a:blip r:embed="rId6">
            <a:alphaModFix/>
          </a:blip>
          <a:srcRect b="0" l="46070" r="0" t="0"/>
          <a:stretch/>
        </p:blipFill>
        <p:spPr>
          <a:xfrm>
            <a:off x="2556321" y="3871723"/>
            <a:ext cx="1478487" cy="97639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9" name="Google Shape;249;p14"/>
          <p:cNvGrpSpPr/>
          <p:nvPr/>
        </p:nvGrpSpPr>
        <p:grpSpPr>
          <a:xfrm>
            <a:off x="2940885" y="2788251"/>
            <a:ext cx="976229" cy="586982"/>
            <a:chOff x="2009224" y="2549819"/>
            <a:chExt cx="976229" cy="586982"/>
          </a:xfrm>
        </p:grpSpPr>
        <p:pic>
          <p:nvPicPr>
            <p:cNvPr descr="A grey triangle with black lines&#10;&#10;Description automatically generated" id="250" name="Google Shape;250;p14"/>
            <p:cNvPicPr preferRelativeResize="0"/>
            <p:nvPr/>
          </p:nvPicPr>
          <p:blipFill rotWithShape="1">
            <a:blip r:embed="rId7">
              <a:alphaModFix/>
            </a:blip>
            <a:srcRect b="-6016" l="64391" r="0" t="0"/>
            <a:stretch/>
          </p:blipFill>
          <p:spPr>
            <a:xfrm>
              <a:off x="2009224" y="2549819"/>
              <a:ext cx="976229" cy="586982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51" name="Google Shape;251;p14"/>
            <p:cNvCxnSpPr/>
            <p:nvPr/>
          </p:nvCxnSpPr>
          <p:spPr>
            <a:xfrm>
              <a:off x="2224314" y="2717799"/>
              <a:ext cx="101601" cy="5805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52" name="Google Shape;252;p14"/>
            <p:cNvCxnSpPr/>
            <p:nvPr/>
          </p:nvCxnSpPr>
          <p:spPr>
            <a:xfrm flipH="1" rot="10800000">
              <a:off x="2652485" y="2659743"/>
              <a:ext cx="87087" cy="8708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pic>
        <p:nvPicPr>
          <p:cNvPr id="253" name="Google Shape;253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170893" y="749809"/>
            <a:ext cx="1188445" cy="676093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14"/>
          <p:cNvSpPr txBox="1"/>
          <p:nvPr/>
        </p:nvSpPr>
        <p:spPr>
          <a:xfrm>
            <a:off x="4837097" y="721658"/>
            <a:ext cx="420721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(g)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(h)</a:t>
            </a:r>
            <a:endParaRPr/>
          </a:p>
        </p:txBody>
      </p:sp>
      <p:pic>
        <p:nvPicPr>
          <p:cNvPr id="255" name="Google Shape;255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114747" y="1529782"/>
            <a:ext cx="1163332" cy="7048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graph paper with triangles&#10;&#10;Description automatically generated" id="256" name="Google Shape;256;p14"/>
          <p:cNvPicPr preferRelativeResize="0"/>
          <p:nvPr/>
        </p:nvPicPr>
        <p:blipFill rotWithShape="1">
          <a:blip r:embed="rId6">
            <a:alphaModFix/>
          </a:blip>
          <a:srcRect b="0" l="0" r="56377" t="0"/>
          <a:stretch/>
        </p:blipFill>
        <p:spPr>
          <a:xfrm>
            <a:off x="680052" y="3865387"/>
            <a:ext cx="1195925" cy="97639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7" name="Google Shape;257;p14"/>
          <p:cNvGrpSpPr/>
          <p:nvPr/>
        </p:nvGrpSpPr>
        <p:grpSpPr>
          <a:xfrm>
            <a:off x="458251" y="2843687"/>
            <a:ext cx="1704085" cy="586982"/>
            <a:chOff x="243976" y="2516511"/>
            <a:chExt cx="1704085" cy="586982"/>
          </a:xfrm>
        </p:grpSpPr>
        <p:pic>
          <p:nvPicPr>
            <p:cNvPr descr="A grey triangle with black lines&#10;&#10;Description automatically generated" id="258" name="Google Shape;258;p14"/>
            <p:cNvPicPr preferRelativeResize="0"/>
            <p:nvPr/>
          </p:nvPicPr>
          <p:blipFill rotWithShape="1">
            <a:blip r:embed="rId7">
              <a:alphaModFix/>
            </a:blip>
            <a:srcRect b="0" l="0" r="37840" t="-6016"/>
            <a:stretch/>
          </p:blipFill>
          <p:spPr>
            <a:xfrm>
              <a:off x="243976" y="2516511"/>
              <a:ext cx="1704085" cy="586982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59" name="Google Shape;259;p14"/>
            <p:cNvCxnSpPr/>
            <p:nvPr/>
          </p:nvCxnSpPr>
          <p:spPr>
            <a:xfrm flipH="1" rot="10800000">
              <a:off x="1455057" y="2659743"/>
              <a:ext cx="159658" cy="13062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cxnSp>
        <p:nvCxnSpPr>
          <p:cNvPr id="260" name="Google Shape;260;p14"/>
          <p:cNvCxnSpPr/>
          <p:nvPr/>
        </p:nvCxnSpPr>
        <p:spPr>
          <a:xfrm flipH="1" rot="10800000">
            <a:off x="1499942" y="4290636"/>
            <a:ext cx="159658" cy="6531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61" name="Google Shape;261;p14"/>
          <p:cNvCxnSpPr/>
          <p:nvPr/>
        </p:nvCxnSpPr>
        <p:spPr>
          <a:xfrm rot="10800000">
            <a:off x="727307" y="4304808"/>
            <a:ext cx="159658" cy="6531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62" name="Google Shape;262;p14"/>
          <p:cNvCxnSpPr/>
          <p:nvPr/>
        </p:nvCxnSpPr>
        <p:spPr>
          <a:xfrm rot="10800000">
            <a:off x="684045" y="3001094"/>
            <a:ext cx="159658" cy="13062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263" name="Google Shape;263;p14"/>
          <p:cNvGrpSpPr/>
          <p:nvPr/>
        </p:nvGrpSpPr>
        <p:grpSpPr>
          <a:xfrm>
            <a:off x="1069822" y="7606327"/>
            <a:ext cx="5202821" cy="1078421"/>
            <a:chOff x="1120621" y="7605245"/>
            <a:chExt cx="5202821" cy="1078421"/>
          </a:xfrm>
        </p:grpSpPr>
        <p:sp>
          <p:nvSpPr>
            <p:cNvPr id="264" name="Google Shape;264;p14"/>
            <p:cNvSpPr txBox="1"/>
            <p:nvPr/>
          </p:nvSpPr>
          <p:spPr>
            <a:xfrm>
              <a:off x="3655319" y="7607393"/>
              <a:ext cx="580571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3cm</a:t>
              </a:r>
              <a:endParaRPr/>
            </a:p>
          </p:txBody>
        </p:sp>
        <p:sp>
          <p:nvSpPr>
            <p:cNvPr id="265" name="Google Shape;265;p14"/>
            <p:cNvSpPr txBox="1"/>
            <p:nvPr/>
          </p:nvSpPr>
          <p:spPr>
            <a:xfrm>
              <a:off x="5634277" y="7605245"/>
              <a:ext cx="580571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4cm</a:t>
              </a:r>
              <a:endParaRPr/>
            </a:p>
          </p:txBody>
        </p:sp>
        <p:sp>
          <p:nvSpPr>
            <p:cNvPr id="266" name="Google Shape;266;p14"/>
            <p:cNvSpPr txBox="1"/>
            <p:nvPr/>
          </p:nvSpPr>
          <p:spPr>
            <a:xfrm>
              <a:off x="1761798" y="8406667"/>
              <a:ext cx="580571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6cm</a:t>
              </a:r>
              <a:endParaRPr/>
            </a:p>
          </p:txBody>
        </p:sp>
        <p:sp>
          <p:nvSpPr>
            <p:cNvPr id="267" name="Google Shape;267;p14"/>
            <p:cNvSpPr txBox="1"/>
            <p:nvPr/>
          </p:nvSpPr>
          <p:spPr>
            <a:xfrm>
              <a:off x="1120621" y="7975194"/>
              <a:ext cx="580571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4cm</a:t>
              </a:r>
              <a:endParaRPr/>
            </a:p>
          </p:txBody>
        </p:sp>
        <p:sp>
          <p:nvSpPr>
            <p:cNvPr id="268" name="Google Shape;268;p14"/>
            <p:cNvSpPr txBox="1"/>
            <p:nvPr/>
          </p:nvSpPr>
          <p:spPr>
            <a:xfrm>
              <a:off x="1761799" y="7627337"/>
              <a:ext cx="580571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2cm</a:t>
              </a:r>
              <a:endParaRPr/>
            </a:p>
          </p:txBody>
        </p:sp>
        <p:grpSp>
          <p:nvGrpSpPr>
            <p:cNvPr id="269" name="Google Shape;269;p14"/>
            <p:cNvGrpSpPr/>
            <p:nvPr/>
          </p:nvGrpSpPr>
          <p:grpSpPr>
            <a:xfrm>
              <a:off x="1504643" y="7871786"/>
              <a:ext cx="937432" cy="543414"/>
              <a:chOff x="1342465" y="2245230"/>
              <a:chExt cx="937432" cy="543414"/>
            </a:xfrm>
          </p:grpSpPr>
          <p:sp>
            <p:nvSpPr>
              <p:cNvPr id="270" name="Google Shape;270;p14"/>
              <p:cNvSpPr/>
              <p:nvPr/>
            </p:nvSpPr>
            <p:spPr>
              <a:xfrm>
                <a:off x="1377701" y="2245230"/>
                <a:ext cx="902196" cy="543414"/>
              </a:xfrm>
              <a:prstGeom prst="trapezoid">
                <a:avLst>
                  <a:gd fmla="val 25000" name="adj"/>
                </a:avLst>
              </a:prstGeom>
              <a:noFill/>
              <a:ln cap="flat" cmpd="sng" w="12700">
                <a:solidFill>
                  <a:srgbClr val="264159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71" name="Google Shape;271;p14"/>
              <p:cNvCxnSpPr/>
              <p:nvPr/>
            </p:nvCxnSpPr>
            <p:spPr>
              <a:xfrm>
                <a:off x="1342465" y="2410014"/>
                <a:ext cx="192456" cy="11982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sp>
          <p:nvSpPr>
            <p:cNvPr id="272" name="Google Shape;272;p14"/>
            <p:cNvSpPr/>
            <p:nvPr/>
          </p:nvSpPr>
          <p:spPr>
            <a:xfrm>
              <a:off x="3443974" y="7828441"/>
              <a:ext cx="902196" cy="543414"/>
            </a:xfrm>
            <a:prstGeom prst="trapezoid">
              <a:avLst>
                <a:gd fmla="val 25000" name="adj"/>
              </a:avLst>
            </a:prstGeom>
            <a:noFill/>
            <a:ln cap="flat" cmpd="sng" w="12700">
              <a:solidFill>
                <a:srgbClr val="264159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" name="Google Shape;273;p14"/>
            <p:cNvSpPr txBox="1"/>
            <p:nvPr/>
          </p:nvSpPr>
          <p:spPr>
            <a:xfrm>
              <a:off x="2984674" y="7991271"/>
              <a:ext cx="580571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6.2cm</a:t>
              </a:r>
              <a:endParaRPr/>
            </a:p>
          </p:txBody>
        </p:sp>
        <p:sp>
          <p:nvSpPr>
            <p:cNvPr id="274" name="Google Shape;274;p14"/>
            <p:cNvSpPr txBox="1"/>
            <p:nvPr/>
          </p:nvSpPr>
          <p:spPr>
            <a:xfrm>
              <a:off x="3702175" y="8321848"/>
              <a:ext cx="580571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8.4cm</a:t>
              </a:r>
              <a:endParaRPr/>
            </a:p>
          </p:txBody>
        </p:sp>
        <p:sp>
          <p:nvSpPr>
            <p:cNvPr id="275" name="Google Shape;275;p14"/>
            <p:cNvSpPr/>
            <p:nvPr/>
          </p:nvSpPr>
          <p:spPr>
            <a:xfrm>
              <a:off x="5421246" y="7857367"/>
              <a:ext cx="902196" cy="543414"/>
            </a:xfrm>
            <a:prstGeom prst="trapezoid">
              <a:avLst>
                <a:gd fmla="val 25000" name="adj"/>
              </a:avLst>
            </a:prstGeom>
            <a:noFill/>
            <a:ln cap="flat" cmpd="sng" w="12700">
              <a:solidFill>
                <a:srgbClr val="264159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6" name="Google Shape;276;p14"/>
            <p:cNvSpPr txBox="1"/>
            <p:nvPr/>
          </p:nvSpPr>
          <p:spPr>
            <a:xfrm>
              <a:off x="5634278" y="8359421"/>
              <a:ext cx="580571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7cm</a:t>
              </a:r>
              <a:endParaRPr/>
            </a:p>
          </p:txBody>
        </p:sp>
        <p:sp>
          <p:nvSpPr>
            <p:cNvPr id="277" name="Google Shape;277;p14"/>
            <p:cNvSpPr txBox="1"/>
            <p:nvPr/>
          </p:nvSpPr>
          <p:spPr>
            <a:xfrm>
              <a:off x="5027145" y="7992437"/>
              <a:ext cx="580571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5cm</a:t>
              </a:r>
              <a:endParaRPr/>
            </a:p>
          </p:txBody>
        </p:sp>
        <p:cxnSp>
          <p:nvCxnSpPr>
            <p:cNvPr id="278" name="Google Shape;278;p14"/>
            <p:cNvCxnSpPr/>
            <p:nvPr/>
          </p:nvCxnSpPr>
          <p:spPr>
            <a:xfrm>
              <a:off x="3756056" y="7857367"/>
              <a:ext cx="0" cy="464481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279" name="Google Shape;279;p14"/>
            <p:cNvSpPr txBox="1"/>
            <p:nvPr/>
          </p:nvSpPr>
          <p:spPr>
            <a:xfrm>
              <a:off x="3697045" y="7938784"/>
              <a:ext cx="580571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6cm</a:t>
              </a:r>
              <a:endParaRPr/>
            </a:p>
          </p:txBody>
        </p:sp>
      </p:grpSp>
      <p:cxnSp>
        <p:nvCxnSpPr>
          <p:cNvPr id="280" name="Google Shape;280;p14"/>
          <p:cNvCxnSpPr/>
          <p:nvPr/>
        </p:nvCxnSpPr>
        <p:spPr>
          <a:xfrm flipH="1">
            <a:off x="2212301" y="8041190"/>
            <a:ext cx="192456" cy="11982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81" name="Google Shape;281;p14"/>
          <p:cNvCxnSpPr/>
          <p:nvPr/>
        </p:nvCxnSpPr>
        <p:spPr>
          <a:xfrm flipH="1">
            <a:off x="4140771" y="8014542"/>
            <a:ext cx="192456" cy="11982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82" name="Google Shape;282;p14"/>
          <p:cNvCxnSpPr/>
          <p:nvPr/>
        </p:nvCxnSpPr>
        <p:spPr>
          <a:xfrm>
            <a:off x="3335959" y="8029279"/>
            <a:ext cx="192456" cy="11982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83" name="Google Shape;283;p14"/>
          <p:cNvCxnSpPr/>
          <p:nvPr/>
        </p:nvCxnSpPr>
        <p:spPr>
          <a:xfrm flipH="1">
            <a:off x="6140351" y="8014542"/>
            <a:ext cx="192456" cy="11982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84" name="Google Shape;284;p14"/>
          <p:cNvCxnSpPr/>
          <p:nvPr/>
        </p:nvCxnSpPr>
        <p:spPr>
          <a:xfrm>
            <a:off x="5335539" y="8029279"/>
            <a:ext cx="192456" cy="11982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285" name="Google Shape;285;p14"/>
          <p:cNvGrpSpPr/>
          <p:nvPr/>
        </p:nvGrpSpPr>
        <p:grpSpPr>
          <a:xfrm>
            <a:off x="1303825" y="6054953"/>
            <a:ext cx="4895249" cy="1077794"/>
            <a:chOff x="1357429" y="6263617"/>
            <a:chExt cx="4895249" cy="1077794"/>
          </a:xfrm>
        </p:grpSpPr>
        <p:sp>
          <p:nvSpPr>
            <p:cNvPr id="286" name="Google Shape;286;p14"/>
            <p:cNvSpPr txBox="1"/>
            <p:nvPr/>
          </p:nvSpPr>
          <p:spPr>
            <a:xfrm>
              <a:off x="1357429" y="6500610"/>
              <a:ext cx="580571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4cm</a:t>
              </a:r>
              <a:endParaRPr/>
            </a:p>
          </p:txBody>
        </p:sp>
        <p:sp>
          <p:nvSpPr>
            <p:cNvPr id="287" name="Google Shape;287;p14"/>
            <p:cNvSpPr txBox="1"/>
            <p:nvPr/>
          </p:nvSpPr>
          <p:spPr>
            <a:xfrm>
              <a:off x="1751996" y="7014602"/>
              <a:ext cx="580571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2cm</a:t>
              </a:r>
              <a:endParaRPr/>
            </a:p>
          </p:txBody>
        </p:sp>
        <p:grpSp>
          <p:nvGrpSpPr>
            <p:cNvPr id="288" name="Google Shape;288;p14"/>
            <p:cNvGrpSpPr/>
            <p:nvPr/>
          </p:nvGrpSpPr>
          <p:grpSpPr>
            <a:xfrm>
              <a:off x="1689430" y="6263617"/>
              <a:ext cx="580571" cy="805542"/>
              <a:chOff x="1538513" y="900812"/>
              <a:chExt cx="580571" cy="805542"/>
            </a:xfrm>
          </p:grpSpPr>
          <p:sp>
            <p:nvSpPr>
              <p:cNvPr id="289" name="Google Shape;289;p14"/>
              <p:cNvSpPr/>
              <p:nvPr/>
            </p:nvSpPr>
            <p:spPr>
              <a:xfrm>
                <a:off x="1538513" y="900812"/>
                <a:ext cx="580571" cy="805542"/>
              </a:xfrm>
              <a:prstGeom prst="triangle">
                <a:avLst>
                  <a:gd fmla="val 50000" name="adj"/>
                </a:avLst>
              </a:prstGeom>
              <a:noFill/>
              <a:ln cap="flat" cmpd="sng" w="12700">
                <a:solidFill>
                  <a:srgbClr val="264159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90" name="Google Shape;290;p14"/>
              <p:cNvCxnSpPr/>
              <p:nvPr/>
            </p:nvCxnSpPr>
            <p:spPr>
              <a:xfrm>
                <a:off x="1594021" y="1213064"/>
                <a:ext cx="192456" cy="11982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sp>
          <p:nvSpPr>
            <p:cNvPr id="291" name="Google Shape;291;p14"/>
            <p:cNvSpPr/>
            <p:nvPr/>
          </p:nvSpPr>
          <p:spPr>
            <a:xfrm>
              <a:off x="3593526" y="6263617"/>
              <a:ext cx="580571" cy="805542"/>
            </a:xfrm>
            <a:prstGeom prst="triangle">
              <a:avLst>
                <a:gd fmla="val 50000" name="adj"/>
              </a:avLst>
            </a:prstGeom>
            <a:noFill/>
            <a:ln cap="flat" cmpd="sng" w="12700">
              <a:solidFill>
                <a:srgbClr val="264159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2" name="Google Shape;292;p14"/>
            <p:cNvSpPr txBox="1"/>
            <p:nvPr/>
          </p:nvSpPr>
          <p:spPr>
            <a:xfrm>
              <a:off x="3666702" y="7031159"/>
              <a:ext cx="697333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2.5cm</a:t>
              </a:r>
              <a:endParaRPr/>
            </a:p>
          </p:txBody>
        </p:sp>
        <p:sp>
          <p:nvSpPr>
            <p:cNvPr id="293" name="Google Shape;293;p14"/>
            <p:cNvSpPr txBox="1"/>
            <p:nvPr/>
          </p:nvSpPr>
          <p:spPr>
            <a:xfrm>
              <a:off x="3139797" y="6561257"/>
              <a:ext cx="765837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7.5cm</a:t>
              </a:r>
              <a:endParaRPr/>
            </a:p>
          </p:txBody>
        </p:sp>
        <p:sp>
          <p:nvSpPr>
            <p:cNvPr id="294" name="Google Shape;294;p14"/>
            <p:cNvSpPr/>
            <p:nvPr/>
          </p:nvSpPr>
          <p:spPr>
            <a:xfrm>
              <a:off x="5570798" y="6273307"/>
              <a:ext cx="580571" cy="805542"/>
            </a:xfrm>
            <a:prstGeom prst="triangle">
              <a:avLst>
                <a:gd fmla="val 50000" name="adj"/>
              </a:avLst>
            </a:prstGeom>
            <a:noFill/>
            <a:ln cap="flat" cmpd="sng" w="12700">
              <a:solidFill>
                <a:srgbClr val="264159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5" name="Google Shape;295;p14"/>
            <p:cNvSpPr txBox="1"/>
            <p:nvPr/>
          </p:nvSpPr>
          <p:spPr>
            <a:xfrm>
              <a:off x="5672107" y="7064412"/>
              <a:ext cx="580571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4cm</a:t>
              </a:r>
              <a:endParaRPr/>
            </a:p>
          </p:txBody>
        </p:sp>
        <p:sp>
          <p:nvSpPr>
            <p:cNvPr id="296" name="Google Shape;296;p14"/>
            <p:cNvSpPr txBox="1"/>
            <p:nvPr/>
          </p:nvSpPr>
          <p:spPr>
            <a:xfrm>
              <a:off x="5221637" y="6612083"/>
              <a:ext cx="580571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5cm</a:t>
              </a:r>
              <a:endParaRPr/>
            </a:p>
          </p:txBody>
        </p:sp>
      </p:grpSp>
      <p:cxnSp>
        <p:nvCxnSpPr>
          <p:cNvPr id="297" name="Google Shape;297;p14"/>
          <p:cNvCxnSpPr/>
          <p:nvPr/>
        </p:nvCxnSpPr>
        <p:spPr>
          <a:xfrm flipH="1">
            <a:off x="1972072" y="6371110"/>
            <a:ext cx="192456" cy="11982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98" name="Google Shape;298;p14"/>
          <p:cNvCxnSpPr/>
          <p:nvPr/>
        </p:nvCxnSpPr>
        <p:spPr>
          <a:xfrm flipH="1">
            <a:off x="3899348" y="6406800"/>
            <a:ext cx="192456" cy="11982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99" name="Google Shape;299;p14"/>
          <p:cNvCxnSpPr/>
          <p:nvPr/>
        </p:nvCxnSpPr>
        <p:spPr>
          <a:xfrm>
            <a:off x="3539922" y="6423975"/>
            <a:ext cx="192456" cy="11982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00" name="Google Shape;300;p14"/>
          <p:cNvCxnSpPr/>
          <p:nvPr/>
        </p:nvCxnSpPr>
        <p:spPr>
          <a:xfrm flipH="1">
            <a:off x="5900015" y="6441415"/>
            <a:ext cx="192456" cy="11982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01" name="Google Shape;301;p14"/>
          <p:cNvCxnSpPr/>
          <p:nvPr/>
        </p:nvCxnSpPr>
        <p:spPr>
          <a:xfrm>
            <a:off x="5541161" y="6448607"/>
            <a:ext cx="192456" cy="11982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302" name="Google Shape;302;p14"/>
          <p:cNvGraphicFramePr/>
          <p:nvPr/>
        </p:nvGraphicFramePr>
        <p:xfrm>
          <a:off x="268792" y="67463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{148365BD-FC6D-423E-9DE8-EAC0A2F9B1C8}</a:tableStyleId>
              </a:tblPr>
              <a:tblGrid>
                <a:gridCol w="1537675"/>
                <a:gridCol w="1537675"/>
                <a:gridCol w="1537675"/>
                <a:gridCol w="1537675"/>
              </a:tblGrid>
              <a:tr h="830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30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03" name="Google Shape;303;p14"/>
          <p:cNvGraphicFramePr/>
          <p:nvPr/>
        </p:nvGraphicFramePr>
        <p:xfrm>
          <a:off x="284602" y="274511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{148365BD-FC6D-423E-9DE8-EAC0A2F9B1C8}</a:tableStyleId>
              </a:tblPr>
              <a:tblGrid>
                <a:gridCol w="2050225"/>
                <a:gridCol w="2050225"/>
                <a:gridCol w="2050225"/>
              </a:tblGrid>
              <a:tr h="1071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71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04" name="Google Shape;304;p14"/>
          <p:cNvSpPr/>
          <p:nvPr/>
        </p:nvSpPr>
        <p:spPr>
          <a:xfrm>
            <a:off x="3629276" y="769664"/>
            <a:ext cx="809173" cy="676093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4"/>
          <p:cNvSpPr/>
          <p:nvPr/>
        </p:nvSpPr>
        <p:spPr>
          <a:xfrm>
            <a:off x="2185744" y="1614944"/>
            <a:ext cx="809173" cy="676093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4"/>
          <p:cNvSpPr/>
          <p:nvPr/>
        </p:nvSpPr>
        <p:spPr>
          <a:xfrm>
            <a:off x="5071117" y="744165"/>
            <a:ext cx="809173" cy="676093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4"/>
          <p:cNvSpPr/>
          <p:nvPr/>
        </p:nvSpPr>
        <p:spPr>
          <a:xfrm>
            <a:off x="639746" y="2888175"/>
            <a:ext cx="1054679" cy="819782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4"/>
          <p:cNvSpPr/>
          <p:nvPr/>
        </p:nvSpPr>
        <p:spPr>
          <a:xfrm>
            <a:off x="3137036" y="3031863"/>
            <a:ext cx="809173" cy="676093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4"/>
          <p:cNvSpPr/>
          <p:nvPr/>
        </p:nvSpPr>
        <p:spPr>
          <a:xfrm>
            <a:off x="5238491" y="2860378"/>
            <a:ext cx="1146571" cy="818391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4"/>
          <p:cNvSpPr/>
          <p:nvPr/>
        </p:nvSpPr>
        <p:spPr>
          <a:xfrm>
            <a:off x="542787" y="3758128"/>
            <a:ext cx="1168212" cy="1044718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4"/>
          <p:cNvSpPr txBox="1"/>
          <p:nvPr/>
        </p:nvSpPr>
        <p:spPr>
          <a:xfrm>
            <a:off x="1420642" y="7043914"/>
            <a:ext cx="90219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10cm</a:t>
            </a:r>
            <a:endParaRPr/>
          </a:p>
        </p:txBody>
      </p:sp>
      <p:sp>
        <p:nvSpPr>
          <p:cNvPr id="312" name="Google Shape;312;p14"/>
          <p:cNvSpPr txBox="1"/>
          <p:nvPr/>
        </p:nvSpPr>
        <p:spPr>
          <a:xfrm>
            <a:off x="3579214" y="7044240"/>
            <a:ext cx="90219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17.5cm</a:t>
            </a:r>
            <a:endParaRPr/>
          </a:p>
        </p:txBody>
      </p:sp>
      <p:sp>
        <p:nvSpPr>
          <p:cNvPr id="313" name="Google Shape;313;p14"/>
          <p:cNvSpPr txBox="1"/>
          <p:nvPr/>
        </p:nvSpPr>
        <p:spPr>
          <a:xfrm>
            <a:off x="5500981" y="7079554"/>
            <a:ext cx="90219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14cm</a:t>
            </a:r>
            <a:endParaRPr/>
          </a:p>
        </p:txBody>
      </p:sp>
      <p:sp>
        <p:nvSpPr>
          <p:cNvPr id="314" name="Google Shape;314;p14"/>
          <p:cNvSpPr txBox="1"/>
          <p:nvPr/>
        </p:nvSpPr>
        <p:spPr>
          <a:xfrm>
            <a:off x="3466631" y="8719622"/>
            <a:ext cx="90219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23.8cm</a:t>
            </a:r>
            <a:endParaRPr/>
          </a:p>
        </p:txBody>
      </p:sp>
      <p:sp>
        <p:nvSpPr>
          <p:cNvPr id="315" name="Google Shape;315;p14"/>
          <p:cNvSpPr txBox="1"/>
          <p:nvPr/>
        </p:nvSpPr>
        <p:spPr>
          <a:xfrm>
            <a:off x="1568863" y="8720736"/>
            <a:ext cx="90219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16cm</a:t>
            </a:r>
            <a:endParaRPr/>
          </a:p>
        </p:txBody>
      </p:sp>
      <p:sp>
        <p:nvSpPr>
          <p:cNvPr id="316" name="Google Shape;316;p14"/>
          <p:cNvSpPr txBox="1"/>
          <p:nvPr/>
        </p:nvSpPr>
        <p:spPr>
          <a:xfrm>
            <a:off x="5482566" y="8683666"/>
            <a:ext cx="90219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21cm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5"/>
          <p:cNvSpPr txBox="1"/>
          <p:nvPr>
            <p:ph idx="12" type="sldNum"/>
          </p:nvPr>
        </p:nvSpPr>
        <p:spPr>
          <a:xfrm>
            <a:off x="5193254" y="9436274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23" name="Google Shape;323;p15"/>
          <p:cNvSpPr/>
          <p:nvPr/>
        </p:nvSpPr>
        <p:spPr>
          <a:xfrm>
            <a:off x="93546" y="79526"/>
            <a:ext cx="1137954" cy="340453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sp>
        <p:nvSpPr>
          <p:cNvPr id="324" name="Google Shape;324;p15"/>
          <p:cNvSpPr txBox="1"/>
          <p:nvPr/>
        </p:nvSpPr>
        <p:spPr>
          <a:xfrm>
            <a:off x="1385389" y="6938743"/>
            <a:ext cx="14107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7 - I do…</a:t>
            </a:r>
            <a:endParaRPr/>
          </a:p>
        </p:txBody>
      </p:sp>
      <p:sp>
        <p:nvSpPr>
          <p:cNvPr id="325" name="Google Shape;325;p15"/>
          <p:cNvSpPr txBox="1"/>
          <p:nvPr/>
        </p:nvSpPr>
        <p:spPr>
          <a:xfrm>
            <a:off x="3114366" y="6922566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8 – We do…</a:t>
            </a:r>
            <a:endParaRPr/>
          </a:p>
        </p:txBody>
      </p:sp>
      <p:sp>
        <p:nvSpPr>
          <p:cNvPr id="326" name="Google Shape;326;p15"/>
          <p:cNvSpPr/>
          <p:nvPr/>
        </p:nvSpPr>
        <p:spPr>
          <a:xfrm>
            <a:off x="59131" y="6681011"/>
            <a:ext cx="6014442" cy="23531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Find missing lengths in an isosceles triangle or an isosceles trapezium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27" name="Google Shape;327;p15"/>
          <p:cNvGraphicFramePr/>
          <p:nvPr/>
        </p:nvGraphicFramePr>
        <p:xfrm>
          <a:off x="89707" y="717430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{148365BD-FC6D-423E-9DE8-EAC0A2F9B1C8}</a:tableStyleId>
              </a:tblPr>
              <a:tblGrid>
                <a:gridCol w="1042400"/>
                <a:gridCol w="1843350"/>
                <a:gridCol w="1843350"/>
                <a:gridCol w="1843350"/>
              </a:tblGrid>
              <a:tr h="207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Calculate 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Calculate 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Calculate 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161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1) Subtract known side lengths from the perimeter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2) Divide as necessary to find missing side lengths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328" name="Google Shape;328;p15"/>
          <p:cNvSpPr txBox="1"/>
          <p:nvPr/>
        </p:nvSpPr>
        <p:spPr>
          <a:xfrm>
            <a:off x="4991737" y="6933425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9 – You do…</a:t>
            </a:r>
            <a:endParaRPr/>
          </a:p>
        </p:txBody>
      </p:sp>
      <p:graphicFrame>
        <p:nvGraphicFramePr>
          <p:cNvPr id="329" name="Google Shape;329;p15"/>
          <p:cNvGraphicFramePr/>
          <p:nvPr/>
        </p:nvGraphicFramePr>
        <p:xfrm>
          <a:off x="89707" y="48238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{148365BD-FC6D-423E-9DE8-EAC0A2F9B1C8}</a:tableStyleId>
              </a:tblPr>
              <a:tblGrid>
                <a:gridCol w="1668975"/>
                <a:gridCol w="1668975"/>
                <a:gridCol w="1668975"/>
                <a:gridCol w="1668975"/>
              </a:tblGrid>
              <a:tr h="1852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52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330" name="Google Shape;330;p15"/>
          <p:cNvGrpSpPr/>
          <p:nvPr/>
        </p:nvGrpSpPr>
        <p:grpSpPr>
          <a:xfrm>
            <a:off x="249455" y="533063"/>
            <a:ext cx="6409053" cy="1324209"/>
            <a:chOff x="123594" y="612968"/>
            <a:chExt cx="6409053" cy="1324209"/>
          </a:xfrm>
        </p:grpSpPr>
        <p:grpSp>
          <p:nvGrpSpPr>
            <p:cNvPr id="331" name="Google Shape;331;p15"/>
            <p:cNvGrpSpPr/>
            <p:nvPr/>
          </p:nvGrpSpPr>
          <p:grpSpPr>
            <a:xfrm>
              <a:off x="450399" y="879398"/>
              <a:ext cx="580571" cy="805542"/>
              <a:chOff x="1538513" y="900812"/>
              <a:chExt cx="580571" cy="805542"/>
            </a:xfrm>
          </p:grpSpPr>
          <p:sp>
            <p:nvSpPr>
              <p:cNvPr id="332" name="Google Shape;332;p15"/>
              <p:cNvSpPr/>
              <p:nvPr/>
            </p:nvSpPr>
            <p:spPr>
              <a:xfrm>
                <a:off x="1538513" y="900812"/>
                <a:ext cx="580571" cy="805542"/>
              </a:xfrm>
              <a:prstGeom prst="triangle">
                <a:avLst>
                  <a:gd fmla="val 50000" name="adj"/>
                </a:avLst>
              </a:prstGeom>
              <a:noFill/>
              <a:ln cap="flat" cmpd="sng" w="12700">
                <a:solidFill>
                  <a:srgbClr val="264159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333" name="Google Shape;333;p15"/>
              <p:cNvCxnSpPr/>
              <p:nvPr/>
            </p:nvCxnSpPr>
            <p:spPr>
              <a:xfrm>
                <a:off x="1604654" y="1213064"/>
                <a:ext cx="192456" cy="11982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334" name="Google Shape;334;p15"/>
            <p:cNvGrpSpPr/>
            <p:nvPr/>
          </p:nvGrpSpPr>
          <p:grpSpPr>
            <a:xfrm rot="10800000">
              <a:off x="1917240" y="918805"/>
              <a:ext cx="580571" cy="805542"/>
              <a:chOff x="1538513" y="900812"/>
              <a:chExt cx="580571" cy="805542"/>
            </a:xfrm>
          </p:grpSpPr>
          <p:sp>
            <p:nvSpPr>
              <p:cNvPr id="335" name="Google Shape;335;p15"/>
              <p:cNvSpPr/>
              <p:nvPr/>
            </p:nvSpPr>
            <p:spPr>
              <a:xfrm>
                <a:off x="1538513" y="900812"/>
                <a:ext cx="580571" cy="805542"/>
              </a:xfrm>
              <a:prstGeom prst="triangle">
                <a:avLst>
                  <a:gd fmla="val 50000" name="adj"/>
                </a:avLst>
              </a:prstGeom>
              <a:noFill/>
              <a:ln cap="flat" cmpd="sng" w="12700">
                <a:solidFill>
                  <a:srgbClr val="264159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336" name="Google Shape;336;p15"/>
              <p:cNvCxnSpPr/>
              <p:nvPr/>
            </p:nvCxnSpPr>
            <p:spPr>
              <a:xfrm>
                <a:off x="1604654" y="1213064"/>
                <a:ext cx="192456" cy="11982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337" name="Google Shape;337;p15"/>
            <p:cNvGrpSpPr/>
            <p:nvPr/>
          </p:nvGrpSpPr>
          <p:grpSpPr>
            <a:xfrm rot="6573668">
              <a:off x="3962252" y="834180"/>
              <a:ext cx="580571" cy="805542"/>
              <a:chOff x="1312547" y="592055"/>
              <a:chExt cx="580571" cy="805542"/>
            </a:xfrm>
          </p:grpSpPr>
          <p:sp>
            <p:nvSpPr>
              <p:cNvPr id="338" name="Google Shape;338;p15"/>
              <p:cNvSpPr/>
              <p:nvPr/>
            </p:nvSpPr>
            <p:spPr>
              <a:xfrm>
                <a:off x="1312547" y="592055"/>
                <a:ext cx="580571" cy="805542"/>
              </a:xfrm>
              <a:prstGeom prst="triangle">
                <a:avLst>
                  <a:gd fmla="val 50000" name="adj"/>
                </a:avLst>
              </a:prstGeom>
              <a:noFill/>
              <a:ln cap="flat" cmpd="sng" w="12700">
                <a:solidFill>
                  <a:srgbClr val="264159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339" name="Google Shape;339;p15"/>
              <p:cNvCxnSpPr/>
              <p:nvPr/>
            </p:nvCxnSpPr>
            <p:spPr>
              <a:xfrm>
                <a:off x="1378687" y="904307"/>
                <a:ext cx="192456" cy="11982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40" name="Google Shape;340;p15"/>
              <p:cNvCxnSpPr/>
              <p:nvPr/>
            </p:nvCxnSpPr>
            <p:spPr>
              <a:xfrm rot="-6573668">
                <a:off x="1683325" y="840777"/>
                <a:ext cx="83146" cy="21204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341" name="Google Shape;341;p15"/>
            <p:cNvGrpSpPr/>
            <p:nvPr/>
          </p:nvGrpSpPr>
          <p:grpSpPr>
            <a:xfrm rot="-7434701">
              <a:off x="5331490" y="830036"/>
              <a:ext cx="580571" cy="805542"/>
              <a:chOff x="1434488" y="1073588"/>
              <a:chExt cx="580571" cy="805542"/>
            </a:xfrm>
          </p:grpSpPr>
          <p:sp>
            <p:nvSpPr>
              <p:cNvPr id="342" name="Google Shape;342;p15"/>
              <p:cNvSpPr/>
              <p:nvPr/>
            </p:nvSpPr>
            <p:spPr>
              <a:xfrm>
                <a:off x="1434488" y="1073588"/>
                <a:ext cx="580571" cy="805542"/>
              </a:xfrm>
              <a:prstGeom prst="triangle">
                <a:avLst>
                  <a:gd fmla="val 50000" name="adj"/>
                </a:avLst>
              </a:prstGeom>
              <a:noFill/>
              <a:ln cap="flat" cmpd="sng" w="12700">
                <a:solidFill>
                  <a:srgbClr val="264159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343" name="Google Shape;343;p15"/>
              <p:cNvCxnSpPr/>
              <p:nvPr/>
            </p:nvCxnSpPr>
            <p:spPr>
              <a:xfrm>
                <a:off x="1500629" y="1385839"/>
                <a:ext cx="192456" cy="11982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44" name="Google Shape;344;p15"/>
              <p:cNvCxnSpPr/>
              <p:nvPr/>
            </p:nvCxnSpPr>
            <p:spPr>
              <a:xfrm rot="-3365299">
                <a:off x="1822612" y="1410292"/>
                <a:ext cx="177484" cy="10005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sp>
          <p:nvSpPr>
            <p:cNvPr id="345" name="Google Shape;345;p15"/>
            <p:cNvSpPr txBox="1"/>
            <p:nvPr/>
          </p:nvSpPr>
          <p:spPr>
            <a:xfrm>
              <a:off x="123594" y="1086225"/>
              <a:ext cx="452368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5cm</a:t>
              </a:r>
              <a:endParaRPr/>
            </a:p>
          </p:txBody>
        </p:sp>
        <p:sp>
          <p:nvSpPr>
            <p:cNvPr id="346" name="Google Shape;346;p15"/>
            <p:cNvSpPr txBox="1"/>
            <p:nvPr/>
          </p:nvSpPr>
          <p:spPr>
            <a:xfrm>
              <a:off x="3409035" y="889967"/>
              <a:ext cx="569387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3.5cm</a:t>
              </a:r>
              <a:endParaRPr/>
            </a:p>
          </p:txBody>
        </p:sp>
        <p:sp>
          <p:nvSpPr>
            <p:cNvPr id="347" name="Google Shape;347;p15"/>
            <p:cNvSpPr txBox="1"/>
            <p:nvPr/>
          </p:nvSpPr>
          <p:spPr>
            <a:xfrm>
              <a:off x="1619707" y="1112207"/>
              <a:ext cx="386644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6m</a:t>
              </a:r>
              <a:endParaRPr/>
            </a:p>
          </p:txBody>
        </p:sp>
        <p:sp>
          <p:nvSpPr>
            <p:cNvPr id="348" name="Google Shape;348;p15"/>
            <p:cNvSpPr txBox="1"/>
            <p:nvPr/>
          </p:nvSpPr>
          <p:spPr>
            <a:xfrm>
              <a:off x="5944024" y="739178"/>
              <a:ext cx="588623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30mm</a:t>
              </a:r>
              <a:endParaRPr/>
            </a:p>
          </p:txBody>
        </p:sp>
        <p:sp>
          <p:nvSpPr>
            <p:cNvPr id="349" name="Google Shape;349;p15"/>
            <p:cNvSpPr txBox="1"/>
            <p:nvPr/>
          </p:nvSpPr>
          <p:spPr>
            <a:xfrm>
              <a:off x="1964880" y="612968"/>
              <a:ext cx="386644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3m</a:t>
              </a:r>
              <a:endParaRPr/>
            </a:p>
          </p:txBody>
        </p:sp>
        <p:sp>
          <p:nvSpPr>
            <p:cNvPr id="350" name="Google Shape;350;p15"/>
            <p:cNvSpPr txBox="1"/>
            <p:nvPr/>
          </p:nvSpPr>
          <p:spPr>
            <a:xfrm>
              <a:off x="3899678" y="1474631"/>
              <a:ext cx="569387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6.5cm</a:t>
              </a:r>
              <a:endParaRPr/>
            </a:p>
          </p:txBody>
        </p:sp>
        <p:sp>
          <p:nvSpPr>
            <p:cNvPr id="351" name="Google Shape;351;p15"/>
            <p:cNvSpPr txBox="1"/>
            <p:nvPr/>
          </p:nvSpPr>
          <p:spPr>
            <a:xfrm>
              <a:off x="5687579" y="1397479"/>
              <a:ext cx="588623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60mm</a:t>
              </a:r>
              <a:endParaRPr/>
            </a:p>
          </p:txBody>
        </p:sp>
        <p:sp>
          <p:nvSpPr>
            <p:cNvPr id="352" name="Google Shape;352;p15"/>
            <p:cNvSpPr txBox="1"/>
            <p:nvPr/>
          </p:nvSpPr>
          <p:spPr>
            <a:xfrm>
              <a:off x="503476" y="1660178"/>
              <a:ext cx="452368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2cm</a:t>
              </a:r>
              <a:endParaRPr/>
            </a:p>
          </p:txBody>
        </p:sp>
      </p:grpSp>
      <p:grpSp>
        <p:nvGrpSpPr>
          <p:cNvPr id="353" name="Google Shape;353;p15"/>
          <p:cNvGrpSpPr/>
          <p:nvPr/>
        </p:nvGrpSpPr>
        <p:grpSpPr>
          <a:xfrm>
            <a:off x="299676" y="2298480"/>
            <a:ext cx="6458368" cy="1313700"/>
            <a:chOff x="269100" y="2569851"/>
            <a:chExt cx="6458368" cy="1313700"/>
          </a:xfrm>
        </p:grpSpPr>
        <p:sp>
          <p:nvSpPr>
            <p:cNvPr id="354" name="Google Shape;354;p15"/>
            <p:cNvSpPr txBox="1"/>
            <p:nvPr/>
          </p:nvSpPr>
          <p:spPr>
            <a:xfrm>
              <a:off x="2348278" y="3606552"/>
              <a:ext cx="452368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3m</a:t>
              </a:r>
              <a:endParaRPr/>
            </a:p>
          </p:txBody>
        </p:sp>
        <p:sp>
          <p:nvSpPr>
            <p:cNvPr id="355" name="Google Shape;355;p15"/>
            <p:cNvSpPr/>
            <p:nvPr/>
          </p:nvSpPr>
          <p:spPr>
            <a:xfrm>
              <a:off x="304336" y="2801530"/>
              <a:ext cx="902196" cy="543414"/>
            </a:xfrm>
            <a:prstGeom prst="trapezoid">
              <a:avLst>
                <a:gd fmla="val 25000" name="adj"/>
              </a:avLst>
            </a:prstGeom>
            <a:noFill/>
            <a:ln cap="flat" cmpd="sng" w="12700">
              <a:solidFill>
                <a:srgbClr val="264159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56" name="Google Shape;356;p15"/>
            <p:cNvCxnSpPr/>
            <p:nvPr/>
          </p:nvCxnSpPr>
          <p:spPr>
            <a:xfrm>
              <a:off x="269100" y="2966314"/>
              <a:ext cx="192456" cy="11982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57" name="Google Shape;357;p15"/>
            <p:cNvSpPr/>
            <p:nvPr/>
          </p:nvSpPr>
          <p:spPr>
            <a:xfrm rot="5217420">
              <a:off x="2044278" y="2914933"/>
              <a:ext cx="902196" cy="543414"/>
            </a:xfrm>
            <a:prstGeom prst="trapezoid">
              <a:avLst>
                <a:gd fmla="val 25000" name="adj"/>
              </a:avLst>
            </a:prstGeom>
            <a:noFill/>
            <a:ln cap="flat" cmpd="sng" w="12700">
              <a:solidFill>
                <a:srgbClr val="264159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58" name="Google Shape;358;p15"/>
            <p:cNvCxnSpPr/>
            <p:nvPr/>
          </p:nvCxnSpPr>
          <p:spPr>
            <a:xfrm rot="5217420">
              <a:off x="2425384" y="2734677"/>
              <a:ext cx="192456" cy="11982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59" name="Google Shape;359;p15"/>
            <p:cNvSpPr/>
            <p:nvPr/>
          </p:nvSpPr>
          <p:spPr>
            <a:xfrm rot="10800000">
              <a:off x="3755138" y="2814098"/>
              <a:ext cx="902196" cy="543414"/>
            </a:xfrm>
            <a:prstGeom prst="trapezoid">
              <a:avLst>
                <a:gd fmla="val 25000" name="adj"/>
              </a:avLst>
            </a:prstGeom>
            <a:noFill/>
            <a:ln cap="flat" cmpd="sng" w="12700">
              <a:solidFill>
                <a:srgbClr val="264159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" name="Google Shape;360;p15"/>
            <p:cNvSpPr/>
            <p:nvPr/>
          </p:nvSpPr>
          <p:spPr>
            <a:xfrm rot="-3091463">
              <a:off x="5525367" y="2820348"/>
              <a:ext cx="902196" cy="543414"/>
            </a:xfrm>
            <a:prstGeom prst="trapezoid">
              <a:avLst>
                <a:gd fmla="val 25000" name="adj"/>
              </a:avLst>
            </a:prstGeom>
            <a:noFill/>
            <a:ln cap="flat" cmpd="sng" w="12700">
              <a:solidFill>
                <a:srgbClr val="264159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61" name="Google Shape;361;p15"/>
            <p:cNvCxnSpPr/>
            <p:nvPr/>
          </p:nvCxnSpPr>
          <p:spPr>
            <a:xfrm rot="-3091463">
              <a:off x="5600716" y="3308297"/>
              <a:ext cx="192456" cy="11982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62" name="Google Shape;362;p15"/>
            <p:cNvCxnSpPr/>
            <p:nvPr/>
          </p:nvCxnSpPr>
          <p:spPr>
            <a:xfrm flipH="1" rot="7708537">
              <a:off x="6036377" y="2737281"/>
              <a:ext cx="266225" cy="10118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63" name="Google Shape;363;p15"/>
            <p:cNvSpPr txBox="1"/>
            <p:nvPr/>
          </p:nvSpPr>
          <p:spPr>
            <a:xfrm>
              <a:off x="552554" y="2577580"/>
              <a:ext cx="452368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3cm</a:t>
              </a:r>
              <a:endParaRPr/>
            </a:p>
          </p:txBody>
        </p:sp>
        <p:sp>
          <p:nvSpPr>
            <p:cNvPr id="364" name="Google Shape;364;p15"/>
            <p:cNvSpPr txBox="1"/>
            <p:nvPr/>
          </p:nvSpPr>
          <p:spPr>
            <a:xfrm>
              <a:off x="503804" y="3342533"/>
              <a:ext cx="452368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5cm</a:t>
              </a:r>
              <a:endParaRPr/>
            </a:p>
          </p:txBody>
        </p:sp>
        <p:sp>
          <p:nvSpPr>
            <p:cNvPr id="365" name="Google Shape;365;p15"/>
            <p:cNvSpPr txBox="1"/>
            <p:nvPr/>
          </p:nvSpPr>
          <p:spPr>
            <a:xfrm>
              <a:off x="1137545" y="2972496"/>
              <a:ext cx="452368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2cm</a:t>
              </a:r>
              <a:endParaRPr/>
            </a:p>
          </p:txBody>
        </p:sp>
        <p:sp>
          <p:nvSpPr>
            <p:cNvPr id="366" name="Google Shape;366;p15"/>
            <p:cNvSpPr txBox="1"/>
            <p:nvPr/>
          </p:nvSpPr>
          <p:spPr>
            <a:xfrm>
              <a:off x="3980051" y="3323823"/>
              <a:ext cx="569387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3.5cm</a:t>
              </a:r>
              <a:endParaRPr/>
            </a:p>
          </p:txBody>
        </p:sp>
        <p:sp>
          <p:nvSpPr>
            <p:cNvPr id="367" name="Google Shape;367;p15"/>
            <p:cNvSpPr txBox="1"/>
            <p:nvPr/>
          </p:nvSpPr>
          <p:spPr>
            <a:xfrm>
              <a:off x="3947144" y="2574685"/>
              <a:ext cx="569387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5.5cm</a:t>
              </a:r>
              <a:endParaRPr/>
            </a:p>
          </p:txBody>
        </p:sp>
        <p:sp>
          <p:nvSpPr>
            <p:cNvPr id="368" name="Google Shape;368;p15"/>
            <p:cNvSpPr txBox="1"/>
            <p:nvPr/>
          </p:nvSpPr>
          <p:spPr>
            <a:xfrm>
              <a:off x="5244456" y="2681857"/>
              <a:ext cx="588623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40mm</a:t>
              </a:r>
              <a:endParaRPr/>
            </a:p>
          </p:txBody>
        </p:sp>
        <p:sp>
          <p:nvSpPr>
            <p:cNvPr id="369" name="Google Shape;369;p15"/>
            <p:cNvSpPr txBox="1"/>
            <p:nvPr/>
          </p:nvSpPr>
          <p:spPr>
            <a:xfrm>
              <a:off x="6209817" y="3115159"/>
              <a:ext cx="452368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8cm</a:t>
              </a:r>
              <a:endParaRPr/>
            </a:p>
          </p:txBody>
        </p:sp>
        <p:sp>
          <p:nvSpPr>
            <p:cNvPr id="370" name="Google Shape;370;p15"/>
            <p:cNvSpPr txBox="1"/>
            <p:nvPr/>
          </p:nvSpPr>
          <p:spPr>
            <a:xfrm>
              <a:off x="6138845" y="2583254"/>
              <a:ext cx="588623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35mm</a:t>
              </a:r>
              <a:endParaRPr/>
            </a:p>
          </p:txBody>
        </p:sp>
        <p:sp>
          <p:nvSpPr>
            <p:cNvPr id="371" name="Google Shape;371;p15"/>
            <p:cNvSpPr txBox="1"/>
            <p:nvPr/>
          </p:nvSpPr>
          <p:spPr>
            <a:xfrm>
              <a:off x="1756377" y="3126079"/>
              <a:ext cx="386644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8m</a:t>
              </a:r>
              <a:endParaRPr/>
            </a:p>
          </p:txBody>
        </p:sp>
        <p:sp>
          <p:nvSpPr>
            <p:cNvPr id="372" name="Google Shape;372;p15"/>
            <p:cNvSpPr txBox="1"/>
            <p:nvPr/>
          </p:nvSpPr>
          <p:spPr>
            <a:xfrm>
              <a:off x="2750969" y="3060315"/>
              <a:ext cx="386644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5m</a:t>
              </a:r>
              <a:endParaRPr/>
            </a:p>
          </p:txBody>
        </p:sp>
        <p:sp>
          <p:nvSpPr>
            <p:cNvPr id="373" name="Google Shape;373;p15"/>
            <p:cNvSpPr txBox="1"/>
            <p:nvPr/>
          </p:nvSpPr>
          <p:spPr>
            <a:xfrm>
              <a:off x="4581483" y="3005253"/>
              <a:ext cx="569387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4.6cm</a:t>
              </a:r>
              <a:endParaRPr/>
            </a:p>
          </p:txBody>
        </p:sp>
        <p:cxnSp>
          <p:nvCxnSpPr>
            <p:cNvPr id="374" name="Google Shape;374;p15"/>
            <p:cNvCxnSpPr/>
            <p:nvPr/>
          </p:nvCxnSpPr>
          <p:spPr>
            <a:xfrm>
              <a:off x="3961339" y="2851684"/>
              <a:ext cx="0" cy="472139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375" name="Google Shape;375;p15"/>
            <p:cNvSpPr txBox="1"/>
            <p:nvPr/>
          </p:nvSpPr>
          <p:spPr>
            <a:xfrm>
              <a:off x="3905409" y="2983322"/>
              <a:ext cx="569387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4.2cm</a:t>
              </a:r>
              <a:endParaRPr/>
            </a:p>
          </p:txBody>
        </p:sp>
        <p:cxnSp>
          <p:nvCxnSpPr>
            <p:cNvPr id="376" name="Google Shape;376;p15"/>
            <p:cNvCxnSpPr/>
            <p:nvPr/>
          </p:nvCxnSpPr>
          <p:spPr>
            <a:xfrm>
              <a:off x="5836414" y="2939089"/>
              <a:ext cx="310851" cy="304188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377" name="Google Shape;377;p15"/>
            <p:cNvSpPr txBox="1"/>
            <p:nvPr/>
          </p:nvSpPr>
          <p:spPr>
            <a:xfrm>
              <a:off x="5609533" y="3008542"/>
              <a:ext cx="452368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3cm</a:t>
              </a:r>
              <a:endParaRPr/>
            </a:p>
          </p:txBody>
        </p:sp>
      </p:grpSp>
      <p:cxnSp>
        <p:nvCxnSpPr>
          <p:cNvPr id="378" name="Google Shape;378;p15"/>
          <p:cNvCxnSpPr/>
          <p:nvPr/>
        </p:nvCxnSpPr>
        <p:spPr>
          <a:xfrm flipH="1">
            <a:off x="921269" y="1126107"/>
            <a:ext cx="192456" cy="11982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79" name="Google Shape;379;p15"/>
          <p:cNvCxnSpPr/>
          <p:nvPr/>
        </p:nvCxnSpPr>
        <p:spPr>
          <a:xfrm flipH="1">
            <a:off x="2084236" y="1204607"/>
            <a:ext cx="192456" cy="11982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80" name="Google Shape;380;p15"/>
          <p:cNvCxnSpPr/>
          <p:nvPr/>
        </p:nvCxnSpPr>
        <p:spPr>
          <a:xfrm flipH="1">
            <a:off x="1068558" y="2677098"/>
            <a:ext cx="192456" cy="11982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81" name="Google Shape;381;p15"/>
          <p:cNvCxnSpPr/>
          <p:nvPr/>
        </p:nvCxnSpPr>
        <p:spPr>
          <a:xfrm flipH="1" rot="5582580">
            <a:off x="2494659" y="3235797"/>
            <a:ext cx="192456" cy="11982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82" name="Google Shape;382;p15"/>
          <p:cNvCxnSpPr/>
          <p:nvPr/>
        </p:nvCxnSpPr>
        <p:spPr>
          <a:xfrm>
            <a:off x="3714654" y="2737009"/>
            <a:ext cx="192456" cy="11982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83" name="Google Shape;383;p15"/>
          <p:cNvCxnSpPr/>
          <p:nvPr/>
        </p:nvCxnSpPr>
        <p:spPr>
          <a:xfrm flipH="1">
            <a:off x="4515228" y="2744096"/>
            <a:ext cx="192456" cy="11982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84" name="Google Shape;384;p15"/>
          <p:cNvSpPr/>
          <p:nvPr/>
        </p:nvSpPr>
        <p:spPr>
          <a:xfrm>
            <a:off x="908860" y="6142486"/>
            <a:ext cx="1289107" cy="362194"/>
          </a:xfrm>
          <a:prstGeom prst="rect">
            <a:avLst/>
          </a:prstGeom>
          <a:noFill/>
          <a:ln cap="flat" cmpd="sng" w="127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5"/>
          <p:cNvSpPr/>
          <p:nvPr/>
        </p:nvSpPr>
        <p:spPr>
          <a:xfrm>
            <a:off x="3213642" y="6147150"/>
            <a:ext cx="1289107" cy="379271"/>
          </a:xfrm>
          <a:prstGeom prst="rect">
            <a:avLst/>
          </a:prstGeom>
          <a:noFill/>
          <a:ln cap="flat" cmpd="sng" w="127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5"/>
          <p:cNvSpPr/>
          <p:nvPr/>
        </p:nvSpPr>
        <p:spPr>
          <a:xfrm>
            <a:off x="5428373" y="6157173"/>
            <a:ext cx="1284887" cy="378503"/>
          </a:xfrm>
          <a:prstGeom prst="rect">
            <a:avLst/>
          </a:prstGeom>
          <a:noFill/>
          <a:ln cap="flat" cmpd="sng" w="127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5"/>
          <p:cNvSpPr/>
          <p:nvPr/>
        </p:nvSpPr>
        <p:spPr>
          <a:xfrm>
            <a:off x="167639" y="4960356"/>
            <a:ext cx="2030327" cy="1105934"/>
          </a:xfrm>
          <a:prstGeom prst="rect">
            <a:avLst/>
          </a:prstGeom>
          <a:noFill/>
          <a:ln cap="flat" cmpd="sng" w="127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5"/>
          <p:cNvSpPr/>
          <p:nvPr/>
        </p:nvSpPr>
        <p:spPr>
          <a:xfrm>
            <a:off x="2395848" y="4962871"/>
            <a:ext cx="2093718" cy="1105934"/>
          </a:xfrm>
          <a:prstGeom prst="rect">
            <a:avLst/>
          </a:prstGeom>
          <a:noFill/>
          <a:ln cap="flat" cmpd="sng" w="127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5"/>
          <p:cNvSpPr/>
          <p:nvPr/>
        </p:nvSpPr>
        <p:spPr>
          <a:xfrm>
            <a:off x="4671539" y="4952601"/>
            <a:ext cx="2030327" cy="1105934"/>
          </a:xfrm>
          <a:prstGeom prst="rect">
            <a:avLst/>
          </a:prstGeom>
          <a:noFill/>
          <a:ln cap="flat" cmpd="sng" w="127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5"/>
          <p:cNvSpPr txBox="1"/>
          <p:nvPr/>
        </p:nvSpPr>
        <p:spPr>
          <a:xfrm>
            <a:off x="64938" y="504952"/>
            <a:ext cx="5569986" cy="61863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a)                                             b)			                   c)				d)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e)                                              f)                                             g)      			h)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 The lengths in an isosceles trapezium are 3.2 cm, 4 cm and 5.8 cm.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Sketch three different possibilities for the trapezium and find their perimeters.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Option 1:				Option 2:				Option 3: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Perimeter = 				Perimeter = 			           Perimeter = </a:t>
            </a:r>
            <a:endParaRPr/>
          </a:p>
        </p:txBody>
      </p:sp>
      <p:grpSp>
        <p:nvGrpSpPr>
          <p:cNvPr id="391" name="Google Shape;391;p15"/>
          <p:cNvGrpSpPr/>
          <p:nvPr/>
        </p:nvGrpSpPr>
        <p:grpSpPr>
          <a:xfrm>
            <a:off x="1696121" y="7673223"/>
            <a:ext cx="580571" cy="805542"/>
            <a:chOff x="1538513" y="900812"/>
            <a:chExt cx="580571" cy="805542"/>
          </a:xfrm>
        </p:grpSpPr>
        <p:sp>
          <p:nvSpPr>
            <p:cNvPr id="392" name="Google Shape;392;p15"/>
            <p:cNvSpPr/>
            <p:nvPr/>
          </p:nvSpPr>
          <p:spPr>
            <a:xfrm>
              <a:off x="1538513" y="900812"/>
              <a:ext cx="580571" cy="805542"/>
            </a:xfrm>
            <a:prstGeom prst="triangle">
              <a:avLst>
                <a:gd fmla="val 50000" name="adj"/>
              </a:avLst>
            </a:prstGeom>
            <a:noFill/>
            <a:ln cap="flat" cmpd="sng" w="12700">
              <a:solidFill>
                <a:srgbClr val="264159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93" name="Google Shape;393;p15"/>
            <p:cNvCxnSpPr/>
            <p:nvPr/>
          </p:nvCxnSpPr>
          <p:spPr>
            <a:xfrm>
              <a:off x="1604654" y="1213064"/>
              <a:ext cx="192456" cy="11982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394" name="Google Shape;394;p15"/>
          <p:cNvSpPr/>
          <p:nvPr/>
        </p:nvSpPr>
        <p:spPr>
          <a:xfrm>
            <a:off x="3625014" y="7684159"/>
            <a:ext cx="580571" cy="805542"/>
          </a:xfrm>
          <a:prstGeom prst="triangle">
            <a:avLst>
              <a:gd fmla="val 50000" name="adj"/>
            </a:avLst>
          </a:prstGeom>
          <a:noFill/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5"/>
          <p:cNvSpPr/>
          <p:nvPr/>
        </p:nvSpPr>
        <p:spPr>
          <a:xfrm>
            <a:off x="5577324" y="7669000"/>
            <a:ext cx="580571" cy="805542"/>
          </a:xfrm>
          <a:prstGeom prst="triangle">
            <a:avLst>
              <a:gd fmla="val 50000" name="adj"/>
            </a:avLst>
          </a:prstGeom>
          <a:noFill/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5"/>
          <p:cNvSpPr txBox="1"/>
          <p:nvPr/>
        </p:nvSpPr>
        <p:spPr>
          <a:xfrm>
            <a:off x="1336612" y="7440690"/>
            <a:ext cx="129958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Perimeter = 15cm</a:t>
            </a:r>
            <a:endParaRPr/>
          </a:p>
        </p:txBody>
      </p:sp>
      <p:sp>
        <p:nvSpPr>
          <p:cNvPr id="397" name="Google Shape;397;p15"/>
          <p:cNvSpPr txBox="1"/>
          <p:nvPr/>
        </p:nvSpPr>
        <p:spPr>
          <a:xfrm>
            <a:off x="3206876" y="7452508"/>
            <a:ext cx="129958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Perimeter = 20cm</a:t>
            </a:r>
            <a:endParaRPr/>
          </a:p>
        </p:txBody>
      </p:sp>
      <p:sp>
        <p:nvSpPr>
          <p:cNvPr id="398" name="Google Shape;398;p15"/>
          <p:cNvSpPr txBox="1"/>
          <p:nvPr/>
        </p:nvSpPr>
        <p:spPr>
          <a:xfrm>
            <a:off x="5210005" y="7435389"/>
            <a:ext cx="129958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Perimeter = 30cm</a:t>
            </a:r>
            <a:endParaRPr/>
          </a:p>
        </p:txBody>
      </p:sp>
      <p:sp>
        <p:nvSpPr>
          <p:cNvPr id="399" name="Google Shape;399;p15"/>
          <p:cNvSpPr txBox="1"/>
          <p:nvPr/>
        </p:nvSpPr>
        <p:spPr>
          <a:xfrm>
            <a:off x="1504667" y="7863721"/>
            <a:ext cx="28405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/>
          </a:p>
        </p:txBody>
      </p:sp>
      <p:sp>
        <p:nvSpPr>
          <p:cNvPr id="400" name="Google Shape;400;p15"/>
          <p:cNvSpPr txBox="1"/>
          <p:nvPr/>
        </p:nvSpPr>
        <p:spPr>
          <a:xfrm>
            <a:off x="3298114" y="7925498"/>
            <a:ext cx="45236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8cm</a:t>
            </a:r>
            <a:endParaRPr/>
          </a:p>
        </p:txBody>
      </p:sp>
      <p:sp>
        <p:nvSpPr>
          <p:cNvPr id="401" name="Google Shape;401;p15"/>
          <p:cNvSpPr txBox="1"/>
          <p:nvPr/>
        </p:nvSpPr>
        <p:spPr>
          <a:xfrm>
            <a:off x="5400374" y="7819421"/>
            <a:ext cx="28405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/>
          </a:p>
        </p:txBody>
      </p:sp>
      <p:sp>
        <p:nvSpPr>
          <p:cNvPr id="402" name="Google Shape;402;p15"/>
          <p:cNvSpPr txBox="1"/>
          <p:nvPr/>
        </p:nvSpPr>
        <p:spPr>
          <a:xfrm>
            <a:off x="1762262" y="8432545"/>
            <a:ext cx="45236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3cm</a:t>
            </a:r>
            <a:endParaRPr/>
          </a:p>
        </p:txBody>
      </p:sp>
      <p:sp>
        <p:nvSpPr>
          <p:cNvPr id="403" name="Google Shape;403;p15"/>
          <p:cNvSpPr txBox="1"/>
          <p:nvPr/>
        </p:nvSpPr>
        <p:spPr>
          <a:xfrm>
            <a:off x="3792064" y="8405432"/>
            <a:ext cx="27283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5"/>
          <p:cNvSpPr txBox="1"/>
          <p:nvPr/>
        </p:nvSpPr>
        <p:spPr>
          <a:xfrm>
            <a:off x="5632772" y="8417216"/>
            <a:ext cx="45236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8cm</a:t>
            </a:r>
            <a:endParaRPr/>
          </a:p>
        </p:txBody>
      </p:sp>
      <p:cxnSp>
        <p:nvCxnSpPr>
          <p:cNvPr id="405" name="Google Shape;405;p15"/>
          <p:cNvCxnSpPr/>
          <p:nvPr/>
        </p:nvCxnSpPr>
        <p:spPr>
          <a:xfrm flipH="1">
            <a:off x="2032095" y="7978166"/>
            <a:ext cx="192456" cy="11982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06" name="Google Shape;406;p15"/>
          <p:cNvCxnSpPr/>
          <p:nvPr/>
        </p:nvCxnSpPr>
        <p:spPr>
          <a:xfrm flipH="1">
            <a:off x="3972817" y="8004087"/>
            <a:ext cx="192456" cy="11982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07" name="Google Shape;407;p15"/>
          <p:cNvCxnSpPr/>
          <p:nvPr/>
        </p:nvCxnSpPr>
        <p:spPr>
          <a:xfrm>
            <a:off x="3648431" y="8008631"/>
            <a:ext cx="192456" cy="11982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08" name="Google Shape;408;p15"/>
          <p:cNvCxnSpPr/>
          <p:nvPr/>
        </p:nvCxnSpPr>
        <p:spPr>
          <a:xfrm flipH="1">
            <a:off x="5932751" y="8018262"/>
            <a:ext cx="192456" cy="11982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09" name="Google Shape;409;p15"/>
          <p:cNvCxnSpPr/>
          <p:nvPr/>
        </p:nvCxnSpPr>
        <p:spPr>
          <a:xfrm>
            <a:off x="5608365" y="8022806"/>
            <a:ext cx="192456" cy="11982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10" name="Google Shape;410;p15"/>
          <p:cNvSpPr txBox="1"/>
          <p:nvPr/>
        </p:nvSpPr>
        <p:spPr>
          <a:xfrm>
            <a:off x="1220894" y="196228"/>
            <a:ext cx="345621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3. Calculate the perimeter</a:t>
            </a:r>
            <a:endParaRPr/>
          </a:p>
        </p:txBody>
      </p:sp>
      <p:sp>
        <p:nvSpPr>
          <p:cNvPr id="411" name="Google Shape;411;p15"/>
          <p:cNvSpPr/>
          <p:nvPr/>
        </p:nvSpPr>
        <p:spPr>
          <a:xfrm>
            <a:off x="89707" y="4231041"/>
            <a:ext cx="6668337" cy="2345161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5"/>
          <p:cNvSpPr txBox="1"/>
          <p:nvPr/>
        </p:nvSpPr>
        <p:spPr>
          <a:xfrm>
            <a:off x="1067262" y="1935400"/>
            <a:ext cx="97582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12cm</a:t>
            </a:r>
            <a:endParaRPr/>
          </a:p>
        </p:txBody>
      </p:sp>
      <p:sp>
        <p:nvSpPr>
          <p:cNvPr id="413" name="Google Shape;413;p15"/>
          <p:cNvSpPr txBox="1"/>
          <p:nvPr/>
        </p:nvSpPr>
        <p:spPr>
          <a:xfrm>
            <a:off x="5817499" y="3782188"/>
            <a:ext cx="97582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190mm</a:t>
            </a:r>
            <a:endParaRPr/>
          </a:p>
        </p:txBody>
      </p:sp>
      <p:sp>
        <p:nvSpPr>
          <p:cNvPr id="414" name="Google Shape;414;p15"/>
          <p:cNvSpPr txBox="1"/>
          <p:nvPr/>
        </p:nvSpPr>
        <p:spPr>
          <a:xfrm>
            <a:off x="4236787" y="3774409"/>
            <a:ext cx="97582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18.2cm</a:t>
            </a:r>
            <a:endParaRPr/>
          </a:p>
        </p:txBody>
      </p:sp>
      <p:sp>
        <p:nvSpPr>
          <p:cNvPr id="415" name="Google Shape;415;p15"/>
          <p:cNvSpPr txBox="1"/>
          <p:nvPr/>
        </p:nvSpPr>
        <p:spPr>
          <a:xfrm>
            <a:off x="2810095" y="3778991"/>
            <a:ext cx="97582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19m</a:t>
            </a:r>
            <a:endParaRPr/>
          </a:p>
        </p:txBody>
      </p:sp>
      <p:sp>
        <p:nvSpPr>
          <p:cNvPr id="416" name="Google Shape;416;p15"/>
          <p:cNvSpPr txBox="1"/>
          <p:nvPr/>
        </p:nvSpPr>
        <p:spPr>
          <a:xfrm>
            <a:off x="982625" y="3791636"/>
            <a:ext cx="97582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12cm</a:t>
            </a:r>
            <a:endParaRPr/>
          </a:p>
        </p:txBody>
      </p:sp>
      <p:sp>
        <p:nvSpPr>
          <p:cNvPr id="417" name="Google Shape;417;p15"/>
          <p:cNvSpPr txBox="1"/>
          <p:nvPr/>
        </p:nvSpPr>
        <p:spPr>
          <a:xfrm>
            <a:off x="5874864" y="1921520"/>
            <a:ext cx="97582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150mm</a:t>
            </a:r>
            <a:endParaRPr/>
          </a:p>
        </p:txBody>
      </p:sp>
      <p:sp>
        <p:nvSpPr>
          <p:cNvPr id="418" name="Google Shape;418;p15"/>
          <p:cNvSpPr txBox="1"/>
          <p:nvPr/>
        </p:nvSpPr>
        <p:spPr>
          <a:xfrm>
            <a:off x="4251629" y="1893428"/>
            <a:ext cx="97582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16.5cm</a:t>
            </a:r>
            <a:endParaRPr/>
          </a:p>
        </p:txBody>
      </p:sp>
      <p:sp>
        <p:nvSpPr>
          <p:cNvPr id="419" name="Google Shape;419;p15"/>
          <p:cNvSpPr txBox="1"/>
          <p:nvPr/>
        </p:nvSpPr>
        <p:spPr>
          <a:xfrm>
            <a:off x="2822650" y="1907898"/>
            <a:ext cx="97582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15m</a:t>
            </a:r>
            <a:endParaRPr/>
          </a:p>
        </p:txBody>
      </p:sp>
      <p:sp>
        <p:nvSpPr>
          <p:cNvPr id="420" name="Google Shape;420;p15"/>
          <p:cNvSpPr/>
          <p:nvPr/>
        </p:nvSpPr>
        <p:spPr>
          <a:xfrm>
            <a:off x="642391" y="3740278"/>
            <a:ext cx="1034163" cy="362194"/>
          </a:xfrm>
          <a:prstGeom prst="rect">
            <a:avLst/>
          </a:prstGeom>
          <a:noFill/>
          <a:ln cap="flat" cmpd="sng" w="127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5"/>
          <p:cNvSpPr/>
          <p:nvPr/>
        </p:nvSpPr>
        <p:spPr>
          <a:xfrm>
            <a:off x="669548" y="1891190"/>
            <a:ext cx="1034163" cy="362194"/>
          </a:xfrm>
          <a:prstGeom prst="rect">
            <a:avLst/>
          </a:prstGeom>
          <a:noFill/>
          <a:ln cap="flat" cmpd="sng" w="127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5"/>
          <p:cNvSpPr/>
          <p:nvPr/>
        </p:nvSpPr>
        <p:spPr>
          <a:xfrm>
            <a:off x="2293553" y="3730506"/>
            <a:ext cx="1034163" cy="362194"/>
          </a:xfrm>
          <a:prstGeom prst="rect">
            <a:avLst/>
          </a:prstGeom>
          <a:noFill/>
          <a:ln cap="flat" cmpd="sng" w="127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5"/>
          <p:cNvSpPr/>
          <p:nvPr/>
        </p:nvSpPr>
        <p:spPr>
          <a:xfrm>
            <a:off x="2320710" y="1881418"/>
            <a:ext cx="1034163" cy="362194"/>
          </a:xfrm>
          <a:prstGeom prst="rect">
            <a:avLst/>
          </a:prstGeom>
          <a:noFill/>
          <a:ln cap="flat" cmpd="sng" w="127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5"/>
          <p:cNvSpPr/>
          <p:nvPr/>
        </p:nvSpPr>
        <p:spPr>
          <a:xfrm>
            <a:off x="3985220" y="3754096"/>
            <a:ext cx="1034163" cy="362194"/>
          </a:xfrm>
          <a:prstGeom prst="rect">
            <a:avLst/>
          </a:prstGeom>
          <a:noFill/>
          <a:ln cap="flat" cmpd="sng" w="127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5"/>
          <p:cNvSpPr/>
          <p:nvPr/>
        </p:nvSpPr>
        <p:spPr>
          <a:xfrm>
            <a:off x="4012377" y="1905008"/>
            <a:ext cx="1034163" cy="362194"/>
          </a:xfrm>
          <a:prstGeom prst="rect">
            <a:avLst/>
          </a:prstGeom>
          <a:noFill/>
          <a:ln cap="flat" cmpd="sng" w="127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5"/>
          <p:cNvSpPr/>
          <p:nvPr/>
        </p:nvSpPr>
        <p:spPr>
          <a:xfrm>
            <a:off x="5636382" y="3744324"/>
            <a:ext cx="1034163" cy="362194"/>
          </a:xfrm>
          <a:prstGeom prst="rect">
            <a:avLst/>
          </a:prstGeom>
          <a:noFill/>
          <a:ln cap="flat" cmpd="sng" w="127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5"/>
          <p:cNvSpPr/>
          <p:nvPr/>
        </p:nvSpPr>
        <p:spPr>
          <a:xfrm>
            <a:off x="5663539" y="1895236"/>
            <a:ext cx="1034163" cy="362194"/>
          </a:xfrm>
          <a:prstGeom prst="rect">
            <a:avLst/>
          </a:prstGeom>
          <a:noFill/>
          <a:ln cap="flat" cmpd="sng" w="127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5"/>
          <p:cNvSpPr/>
          <p:nvPr/>
        </p:nvSpPr>
        <p:spPr>
          <a:xfrm>
            <a:off x="708996" y="5465732"/>
            <a:ext cx="682990" cy="427132"/>
          </a:xfrm>
          <a:prstGeom prst="trapezoid">
            <a:avLst>
              <a:gd fmla="val 25000" name="adj"/>
            </a:avLst>
          </a:prstGeom>
          <a:solidFill>
            <a:schemeClr val="accent1"/>
          </a:solidFill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5"/>
          <p:cNvSpPr/>
          <p:nvPr/>
        </p:nvSpPr>
        <p:spPr>
          <a:xfrm>
            <a:off x="5020271" y="5465285"/>
            <a:ext cx="682990" cy="427132"/>
          </a:xfrm>
          <a:prstGeom prst="trapezoid">
            <a:avLst>
              <a:gd fmla="val 25000" name="adj"/>
            </a:avLst>
          </a:prstGeom>
          <a:solidFill>
            <a:schemeClr val="accent1"/>
          </a:solidFill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5"/>
          <p:cNvSpPr/>
          <p:nvPr/>
        </p:nvSpPr>
        <p:spPr>
          <a:xfrm>
            <a:off x="2796761" y="5465285"/>
            <a:ext cx="682990" cy="427132"/>
          </a:xfrm>
          <a:prstGeom prst="trapezoid">
            <a:avLst>
              <a:gd fmla="val 25000" name="adj"/>
            </a:avLst>
          </a:prstGeom>
          <a:solidFill>
            <a:schemeClr val="accent1"/>
          </a:solidFill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5"/>
          <p:cNvSpPr txBox="1"/>
          <p:nvPr/>
        </p:nvSpPr>
        <p:spPr>
          <a:xfrm>
            <a:off x="1346664" y="5561176"/>
            <a:ext cx="69730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3.2cm</a:t>
            </a:r>
            <a:endParaRPr/>
          </a:p>
        </p:txBody>
      </p:sp>
      <p:sp>
        <p:nvSpPr>
          <p:cNvPr id="432" name="Google Shape;432;p15"/>
          <p:cNvSpPr txBox="1"/>
          <p:nvPr/>
        </p:nvSpPr>
        <p:spPr>
          <a:xfrm>
            <a:off x="5085555" y="5222408"/>
            <a:ext cx="69730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3.2cm</a:t>
            </a:r>
            <a:endParaRPr/>
          </a:p>
        </p:txBody>
      </p:sp>
      <p:sp>
        <p:nvSpPr>
          <p:cNvPr id="433" name="Google Shape;433;p15"/>
          <p:cNvSpPr txBox="1"/>
          <p:nvPr/>
        </p:nvSpPr>
        <p:spPr>
          <a:xfrm>
            <a:off x="2847726" y="5235527"/>
            <a:ext cx="69730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3.2cm</a:t>
            </a:r>
            <a:endParaRPr/>
          </a:p>
        </p:txBody>
      </p:sp>
      <p:sp>
        <p:nvSpPr>
          <p:cNvPr id="434" name="Google Shape;434;p15"/>
          <p:cNvSpPr txBox="1"/>
          <p:nvPr/>
        </p:nvSpPr>
        <p:spPr>
          <a:xfrm>
            <a:off x="3441860" y="5561176"/>
            <a:ext cx="58862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4cm</a:t>
            </a:r>
            <a:endParaRPr/>
          </a:p>
        </p:txBody>
      </p:sp>
      <p:sp>
        <p:nvSpPr>
          <p:cNvPr id="435" name="Google Shape;435;p15"/>
          <p:cNvSpPr txBox="1"/>
          <p:nvPr/>
        </p:nvSpPr>
        <p:spPr>
          <a:xfrm>
            <a:off x="793456" y="5243973"/>
            <a:ext cx="69730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4cm</a:t>
            </a:r>
            <a:endParaRPr/>
          </a:p>
        </p:txBody>
      </p:sp>
      <p:sp>
        <p:nvSpPr>
          <p:cNvPr id="436" name="Google Shape;436;p15"/>
          <p:cNvSpPr txBox="1"/>
          <p:nvPr/>
        </p:nvSpPr>
        <p:spPr>
          <a:xfrm>
            <a:off x="5146914" y="5842440"/>
            <a:ext cx="58862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4cm</a:t>
            </a:r>
            <a:endParaRPr/>
          </a:p>
        </p:txBody>
      </p:sp>
      <p:sp>
        <p:nvSpPr>
          <p:cNvPr id="437" name="Google Shape;437;p15"/>
          <p:cNvSpPr txBox="1"/>
          <p:nvPr/>
        </p:nvSpPr>
        <p:spPr>
          <a:xfrm>
            <a:off x="794736" y="5833569"/>
            <a:ext cx="56938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5.8cm</a:t>
            </a:r>
            <a:endParaRPr/>
          </a:p>
        </p:txBody>
      </p:sp>
      <p:sp>
        <p:nvSpPr>
          <p:cNvPr id="438" name="Google Shape;438;p15"/>
          <p:cNvSpPr txBox="1"/>
          <p:nvPr/>
        </p:nvSpPr>
        <p:spPr>
          <a:xfrm>
            <a:off x="2881986" y="5826393"/>
            <a:ext cx="56938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5.8cm</a:t>
            </a:r>
            <a:endParaRPr/>
          </a:p>
        </p:txBody>
      </p:sp>
      <p:sp>
        <p:nvSpPr>
          <p:cNvPr id="439" name="Google Shape;439;p15"/>
          <p:cNvSpPr txBox="1"/>
          <p:nvPr/>
        </p:nvSpPr>
        <p:spPr>
          <a:xfrm>
            <a:off x="5756334" y="5573172"/>
            <a:ext cx="56938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5.8cm</a:t>
            </a:r>
            <a:endParaRPr/>
          </a:p>
        </p:txBody>
      </p:sp>
      <p:cxnSp>
        <p:nvCxnSpPr>
          <p:cNvPr id="440" name="Google Shape;440;p15"/>
          <p:cNvCxnSpPr/>
          <p:nvPr/>
        </p:nvCxnSpPr>
        <p:spPr>
          <a:xfrm flipH="1">
            <a:off x="1233515" y="5577556"/>
            <a:ext cx="192456" cy="11982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41" name="Google Shape;441;p15"/>
          <p:cNvCxnSpPr/>
          <p:nvPr/>
        </p:nvCxnSpPr>
        <p:spPr>
          <a:xfrm>
            <a:off x="639312" y="5591848"/>
            <a:ext cx="192456" cy="11982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42" name="Google Shape;442;p15"/>
          <p:cNvCxnSpPr/>
          <p:nvPr/>
        </p:nvCxnSpPr>
        <p:spPr>
          <a:xfrm flipH="1">
            <a:off x="3331668" y="5612993"/>
            <a:ext cx="192456" cy="11982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43" name="Google Shape;443;p15"/>
          <p:cNvCxnSpPr/>
          <p:nvPr/>
        </p:nvCxnSpPr>
        <p:spPr>
          <a:xfrm>
            <a:off x="2737465" y="5627285"/>
            <a:ext cx="192456" cy="11982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44" name="Google Shape;444;p15"/>
          <p:cNvCxnSpPr/>
          <p:nvPr/>
        </p:nvCxnSpPr>
        <p:spPr>
          <a:xfrm flipH="1">
            <a:off x="5564527" y="5612993"/>
            <a:ext cx="192456" cy="11982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45" name="Google Shape;445;p15"/>
          <p:cNvCxnSpPr/>
          <p:nvPr/>
        </p:nvCxnSpPr>
        <p:spPr>
          <a:xfrm>
            <a:off x="4970324" y="5627285"/>
            <a:ext cx="192456" cy="11982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46" name="Google Shape;446;p15"/>
          <p:cNvSpPr txBox="1"/>
          <p:nvPr/>
        </p:nvSpPr>
        <p:spPr>
          <a:xfrm>
            <a:off x="1023221" y="6155435"/>
            <a:ext cx="97582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16.2cm</a:t>
            </a:r>
            <a:endParaRPr/>
          </a:p>
        </p:txBody>
      </p:sp>
      <p:sp>
        <p:nvSpPr>
          <p:cNvPr id="447" name="Google Shape;447;p15"/>
          <p:cNvSpPr txBox="1"/>
          <p:nvPr/>
        </p:nvSpPr>
        <p:spPr>
          <a:xfrm>
            <a:off x="5623065" y="6150936"/>
            <a:ext cx="97582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18.8cm</a:t>
            </a:r>
            <a:endParaRPr/>
          </a:p>
        </p:txBody>
      </p:sp>
      <p:sp>
        <p:nvSpPr>
          <p:cNvPr id="448" name="Google Shape;448;p15"/>
          <p:cNvSpPr txBox="1"/>
          <p:nvPr/>
        </p:nvSpPr>
        <p:spPr>
          <a:xfrm>
            <a:off x="3368941" y="6165833"/>
            <a:ext cx="97582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17cm</a:t>
            </a:r>
            <a:endParaRPr/>
          </a:p>
        </p:txBody>
      </p:sp>
      <p:sp>
        <p:nvSpPr>
          <p:cNvPr id="449" name="Google Shape;449;p15"/>
          <p:cNvSpPr txBox="1"/>
          <p:nvPr/>
        </p:nvSpPr>
        <p:spPr>
          <a:xfrm>
            <a:off x="1552167" y="8971764"/>
            <a:ext cx="68704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6cm</a:t>
            </a:r>
            <a:endParaRPr/>
          </a:p>
        </p:txBody>
      </p:sp>
      <p:sp>
        <p:nvSpPr>
          <p:cNvPr id="450" name="Google Shape;450;p15"/>
          <p:cNvSpPr txBox="1"/>
          <p:nvPr/>
        </p:nvSpPr>
        <p:spPr>
          <a:xfrm>
            <a:off x="5197136" y="8967541"/>
            <a:ext cx="92963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11cm</a:t>
            </a:r>
            <a:endParaRPr/>
          </a:p>
        </p:txBody>
      </p:sp>
      <p:sp>
        <p:nvSpPr>
          <p:cNvPr id="451" name="Google Shape;451;p15"/>
          <p:cNvSpPr txBox="1"/>
          <p:nvPr/>
        </p:nvSpPr>
        <p:spPr>
          <a:xfrm>
            <a:off x="3369016" y="8962615"/>
            <a:ext cx="68704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4cm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16"/>
          <p:cNvSpPr txBox="1"/>
          <p:nvPr>
            <p:ph idx="12" type="sldNum"/>
          </p:nvPr>
        </p:nvSpPr>
        <p:spPr>
          <a:xfrm>
            <a:off x="5242284" y="9422140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58" name="Google Shape;458;p16"/>
          <p:cNvSpPr txBox="1"/>
          <p:nvPr/>
        </p:nvSpPr>
        <p:spPr>
          <a:xfrm>
            <a:off x="1308905" y="70821"/>
            <a:ext cx="14107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10 - I do…</a:t>
            </a:r>
            <a:endParaRPr/>
          </a:p>
        </p:txBody>
      </p:sp>
      <p:sp>
        <p:nvSpPr>
          <p:cNvPr id="459" name="Google Shape;459;p16"/>
          <p:cNvSpPr txBox="1"/>
          <p:nvPr/>
        </p:nvSpPr>
        <p:spPr>
          <a:xfrm>
            <a:off x="3088567" y="57513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11 – We do…</a:t>
            </a:r>
            <a:endParaRPr/>
          </a:p>
        </p:txBody>
      </p:sp>
      <p:sp>
        <p:nvSpPr>
          <p:cNvPr id="460" name="Google Shape;460;p16"/>
          <p:cNvSpPr txBox="1"/>
          <p:nvPr/>
        </p:nvSpPr>
        <p:spPr>
          <a:xfrm>
            <a:off x="4982762" y="46859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12 – You do…</a:t>
            </a:r>
            <a:endParaRPr/>
          </a:p>
        </p:txBody>
      </p:sp>
      <p:graphicFrame>
        <p:nvGraphicFramePr>
          <p:cNvPr id="461" name="Google Shape;461;p16"/>
          <p:cNvGraphicFramePr/>
          <p:nvPr/>
        </p:nvGraphicFramePr>
        <p:xfrm>
          <a:off x="172224" y="3247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{148365BD-FC6D-423E-9DE8-EAC0A2F9B1C8}</a:tableStyleId>
              </a:tblPr>
              <a:tblGrid>
                <a:gridCol w="928500"/>
                <a:gridCol w="1808325"/>
                <a:gridCol w="1917825"/>
                <a:gridCol w="1917825"/>
              </a:tblGrid>
              <a:tr h="219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Calculate 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Calculate 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Calculate 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121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1) Subtract known side lengths from the perimeter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2) Divide as necessary to find missing side lengths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pSp>
        <p:nvGrpSpPr>
          <p:cNvPr id="462" name="Google Shape;462;p16"/>
          <p:cNvGrpSpPr/>
          <p:nvPr/>
        </p:nvGrpSpPr>
        <p:grpSpPr>
          <a:xfrm>
            <a:off x="1126158" y="596822"/>
            <a:ext cx="5374880" cy="1311956"/>
            <a:chOff x="1018291" y="4086328"/>
            <a:chExt cx="5374880" cy="1311956"/>
          </a:xfrm>
        </p:grpSpPr>
        <p:grpSp>
          <p:nvGrpSpPr>
            <p:cNvPr id="463" name="Google Shape;463;p16"/>
            <p:cNvGrpSpPr/>
            <p:nvPr/>
          </p:nvGrpSpPr>
          <p:grpSpPr>
            <a:xfrm>
              <a:off x="1371689" y="4585345"/>
              <a:ext cx="937432" cy="543414"/>
              <a:chOff x="1342465" y="2245230"/>
              <a:chExt cx="937432" cy="543414"/>
            </a:xfrm>
          </p:grpSpPr>
          <p:sp>
            <p:nvSpPr>
              <p:cNvPr id="464" name="Google Shape;464;p16"/>
              <p:cNvSpPr/>
              <p:nvPr/>
            </p:nvSpPr>
            <p:spPr>
              <a:xfrm>
                <a:off x="1377701" y="2245230"/>
                <a:ext cx="902196" cy="543414"/>
              </a:xfrm>
              <a:prstGeom prst="trapezoid">
                <a:avLst>
                  <a:gd fmla="val 25000" name="adj"/>
                </a:avLst>
              </a:prstGeom>
              <a:noFill/>
              <a:ln cap="flat" cmpd="sng" w="12700">
                <a:solidFill>
                  <a:srgbClr val="264159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465" name="Google Shape;465;p16"/>
              <p:cNvCxnSpPr/>
              <p:nvPr/>
            </p:nvCxnSpPr>
            <p:spPr>
              <a:xfrm>
                <a:off x="1342465" y="2410014"/>
                <a:ext cx="192456" cy="11982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sp>
          <p:nvSpPr>
            <p:cNvPr id="466" name="Google Shape;466;p16"/>
            <p:cNvSpPr/>
            <p:nvPr/>
          </p:nvSpPr>
          <p:spPr>
            <a:xfrm>
              <a:off x="3399798" y="4581216"/>
              <a:ext cx="902196" cy="543414"/>
            </a:xfrm>
            <a:prstGeom prst="trapezoid">
              <a:avLst>
                <a:gd fmla="val 25000" name="adj"/>
              </a:avLst>
            </a:prstGeom>
            <a:noFill/>
            <a:ln cap="flat" cmpd="sng" w="12700">
              <a:solidFill>
                <a:srgbClr val="264159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7" name="Google Shape;467;p16"/>
            <p:cNvSpPr/>
            <p:nvPr/>
          </p:nvSpPr>
          <p:spPr>
            <a:xfrm>
              <a:off x="5336488" y="4581216"/>
              <a:ext cx="902196" cy="543414"/>
            </a:xfrm>
            <a:prstGeom prst="trapezoid">
              <a:avLst>
                <a:gd fmla="val 25000" name="adj"/>
              </a:avLst>
            </a:prstGeom>
            <a:noFill/>
            <a:ln cap="flat" cmpd="sng" w="12700">
              <a:solidFill>
                <a:srgbClr val="264159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8" name="Google Shape;468;p16"/>
            <p:cNvSpPr txBox="1"/>
            <p:nvPr/>
          </p:nvSpPr>
          <p:spPr>
            <a:xfrm>
              <a:off x="1185595" y="4086328"/>
              <a:ext cx="1299587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Perimeter = 15cm</a:t>
              </a:r>
              <a:endParaRPr/>
            </a:p>
          </p:txBody>
        </p:sp>
        <p:sp>
          <p:nvSpPr>
            <p:cNvPr id="469" name="Google Shape;469;p16"/>
            <p:cNvSpPr txBox="1"/>
            <p:nvPr/>
          </p:nvSpPr>
          <p:spPr>
            <a:xfrm>
              <a:off x="3127697" y="4102427"/>
              <a:ext cx="1299587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Perimeter = 25cm</a:t>
              </a:r>
              <a:endParaRPr/>
            </a:p>
          </p:txBody>
        </p:sp>
        <p:sp>
          <p:nvSpPr>
            <p:cNvPr id="470" name="Google Shape;470;p16"/>
            <p:cNvSpPr txBox="1"/>
            <p:nvPr/>
          </p:nvSpPr>
          <p:spPr>
            <a:xfrm>
              <a:off x="5093584" y="4091200"/>
              <a:ext cx="1299587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Perimeter = 30cm</a:t>
              </a:r>
              <a:endParaRPr/>
            </a:p>
          </p:txBody>
        </p:sp>
        <p:sp>
          <p:nvSpPr>
            <p:cNvPr id="471" name="Google Shape;471;p16"/>
            <p:cNvSpPr txBox="1"/>
            <p:nvPr/>
          </p:nvSpPr>
          <p:spPr>
            <a:xfrm>
              <a:off x="1018291" y="4570044"/>
              <a:ext cx="284052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x</a:t>
              </a:r>
              <a:endParaRPr/>
            </a:p>
          </p:txBody>
        </p:sp>
        <p:sp>
          <p:nvSpPr>
            <p:cNvPr id="472" name="Google Shape;472;p16"/>
            <p:cNvSpPr txBox="1"/>
            <p:nvPr/>
          </p:nvSpPr>
          <p:spPr>
            <a:xfrm>
              <a:off x="3677213" y="5028952"/>
              <a:ext cx="284052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x</a:t>
              </a:r>
              <a:endParaRPr/>
            </a:p>
          </p:txBody>
        </p:sp>
        <p:sp>
          <p:nvSpPr>
            <p:cNvPr id="473" name="Google Shape;473;p16"/>
            <p:cNvSpPr txBox="1"/>
            <p:nvPr/>
          </p:nvSpPr>
          <p:spPr>
            <a:xfrm>
              <a:off x="5042836" y="4561334"/>
              <a:ext cx="284052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x</a:t>
              </a:r>
              <a:endParaRPr/>
            </a:p>
          </p:txBody>
        </p:sp>
        <p:sp>
          <p:nvSpPr>
            <p:cNvPr id="474" name="Google Shape;474;p16"/>
            <p:cNvSpPr txBox="1"/>
            <p:nvPr/>
          </p:nvSpPr>
          <p:spPr>
            <a:xfrm>
              <a:off x="1629971" y="4355018"/>
              <a:ext cx="452368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2cm</a:t>
              </a:r>
              <a:endParaRPr/>
            </a:p>
          </p:txBody>
        </p:sp>
        <p:sp>
          <p:nvSpPr>
            <p:cNvPr id="475" name="Google Shape;475;p16"/>
            <p:cNvSpPr txBox="1"/>
            <p:nvPr/>
          </p:nvSpPr>
          <p:spPr>
            <a:xfrm>
              <a:off x="1642826" y="5110180"/>
              <a:ext cx="452368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5cm</a:t>
              </a:r>
              <a:endParaRPr/>
            </a:p>
          </p:txBody>
        </p:sp>
        <p:sp>
          <p:nvSpPr>
            <p:cNvPr id="476" name="Google Shape;476;p16"/>
            <p:cNvSpPr txBox="1"/>
            <p:nvPr/>
          </p:nvSpPr>
          <p:spPr>
            <a:xfrm>
              <a:off x="3606611" y="4361216"/>
              <a:ext cx="452368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4cm</a:t>
              </a:r>
              <a:endParaRPr/>
            </a:p>
          </p:txBody>
        </p:sp>
        <p:sp>
          <p:nvSpPr>
            <p:cNvPr id="477" name="Google Shape;477;p16"/>
            <p:cNvSpPr txBox="1"/>
            <p:nvPr/>
          </p:nvSpPr>
          <p:spPr>
            <a:xfrm>
              <a:off x="2954424" y="4644457"/>
              <a:ext cx="452368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6cm</a:t>
              </a:r>
              <a:endParaRPr/>
            </a:p>
          </p:txBody>
        </p:sp>
        <p:sp>
          <p:nvSpPr>
            <p:cNvPr id="478" name="Google Shape;478;p16"/>
            <p:cNvSpPr txBox="1"/>
            <p:nvPr/>
          </p:nvSpPr>
          <p:spPr>
            <a:xfrm>
              <a:off x="5561402" y="4348076"/>
              <a:ext cx="452368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5cm</a:t>
              </a:r>
              <a:endParaRPr/>
            </a:p>
          </p:txBody>
        </p:sp>
        <p:sp>
          <p:nvSpPr>
            <p:cNvPr id="479" name="Google Shape;479;p16"/>
            <p:cNvSpPr txBox="1"/>
            <p:nvPr/>
          </p:nvSpPr>
          <p:spPr>
            <a:xfrm>
              <a:off x="5561402" y="5080755"/>
              <a:ext cx="452368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7cm</a:t>
              </a:r>
              <a:endParaRPr/>
            </a:p>
          </p:txBody>
        </p:sp>
      </p:grpSp>
      <p:cxnSp>
        <p:nvCxnSpPr>
          <p:cNvPr id="480" name="Google Shape;480;p16"/>
          <p:cNvCxnSpPr/>
          <p:nvPr/>
        </p:nvCxnSpPr>
        <p:spPr>
          <a:xfrm flipH="1">
            <a:off x="2248669" y="1264229"/>
            <a:ext cx="192456" cy="11982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81" name="Google Shape;481;p16"/>
          <p:cNvCxnSpPr/>
          <p:nvPr/>
        </p:nvCxnSpPr>
        <p:spPr>
          <a:xfrm flipH="1">
            <a:off x="4266205" y="1268857"/>
            <a:ext cx="192456" cy="11982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82" name="Google Shape;482;p16"/>
          <p:cNvCxnSpPr/>
          <p:nvPr/>
        </p:nvCxnSpPr>
        <p:spPr>
          <a:xfrm>
            <a:off x="3460442" y="1287115"/>
            <a:ext cx="192456" cy="11982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83" name="Google Shape;483;p16"/>
          <p:cNvCxnSpPr/>
          <p:nvPr/>
        </p:nvCxnSpPr>
        <p:spPr>
          <a:xfrm flipH="1">
            <a:off x="6216353" y="1260623"/>
            <a:ext cx="192456" cy="11982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84" name="Google Shape;484;p16"/>
          <p:cNvCxnSpPr/>
          <p:nvPr/>
        </p:nvCxnSpPr>
        <p:spPr>
          <a:xfrm>
            <a:off x="5410590" y="1278881"/>
            <a:ext cx="192456" cy="11982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85" name="Google Shape;485;p16"/>
          <p:cNvSpPr/>
          <p:nvPr/>
        </p:nvSpPr>
        <p:spPr>
          <a:xfrm>
            <a:off x="159899" y="2773196"/>
            <a:ext cx="1750589" cy="249732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grpSp>
        <p:nvGrpSpPr>
          <p:cNvPr id="486" name="Google Shape;486;p16"/>
          <p:cNvGrpSpPr/>
          <p:nvPr/>
        </p:nvGrpSpPr>
        <p:grpSpPr>
          <a:xfrm rot="6536733">
            <a:off x="2411563" y="3321432"/>
            <a:ext cx="513690" cy="776126"/>
            <a:chOff x="1538513" y="900812"/>
            <a:chExt cx="580571" cy="805542"/>
          </a:xfrm>
        </p:grpSpPr>
        <p:sp>
          <p:nvSpPr>
            <p:cNvPr id="487" name="Google Shape;487;p16"/>
            <p:cNvSpPr/>
            <p:nvPr/>
          </p:nvSpPr>
          <p:spPr>
            <a:xfrm>
              <a:off x="1538513" y="900812"/>
              <a:ext cx="580571" cy="805542"/>
            </a:xfrm>
            <a:prstGeom prst="triangle">
              <a:avLst>
                <a:gd fmla="val 50000" name="adj"/>
              </a:avLst>
            </a:prstGeom>
            <a:noFill/>
            <a:ln cap="flat" cmpd="sng" w="12700">
              <a:solidFill>
                <a:srgbClr val="264159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488" name="Google Shape;488;p16"/>
            <p:cNvCxnSpPr/>
            <p:nvPr/>
          </p:nvCxnSpPr>
          <p:spPr>
            <a:xfrm>
              <a:off x="1604654" y="1213064"/>
              <a:ext cx="192456" cy="11982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89" name="Google Shape;489;p16"/>
            <p:cNvCxnSpPr/>
            <p:nvPr/>
          </p:nvCxnSpPr>
          <p:spPr>
            <a:xfrm flipH="1" rot="10800000">
              <a:off x="1840180" y="1241803"/>
              <a:ext cx="266225" cy="10118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490" name="Google Shape;490;p16"/>
          <p:cNvGrpSpPr/>
          <p:nvPr/>
        </p:nvGrpSpPr>
        <p:grpSpPr>
          <a:xfrm>
            <a:off x="611946" y="3353123"/>
            <a:ext cx="559370" cy="712744"/>
            <a:chOff x="1538513" y="900812"/>
            <a:chExt cx="580571" cy="805542"/>
          </a:xfrm>
        </p:grpSpPr>
        <p:sp>
          <p:nvSpPr>
            <p:cNvPr id="491" name="Google Shape;491;p16"/>
            <p:cNvSpPr/>
            <p:nvPr/>
          </p:nvSpPr>
          <p:spPr>
            <a:xfrm>
              <a:off x="1538513" y="900812"/>
              <a:ext cx="580571" cy="805542"/>
            </a:xfrm>
            <a:prstGeom prst="triangle">
              <a:avLst>
                <a:gd fmla="val 50000" name="adj"/>
              </a:avLst>
            </a:prstGeom>
            <a:noFill/>
            <a:ln cap="flat" cmpd="sng" w="12700">
              <a:solidFill>
                <a:srgbClr val="264159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492" name="Google Shape;492;p16"/>
            <p:cNvCxnSpPr/>
            <p:nvPr/>
          </p:nvCxnSpPr>
          <p:spPr>
            <a:xfrm>
              <a:off x="1604654" y="1213064"/>
              <a:ext cx="192456" cy="11982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93" name="Google Shape;493;p16"/>
            <p:cNvCxnSpPr/>
            <p:nvPr/>
          </p:nvCxnSpPr>
          <p:spPr>
            <a:xfrm flipH="1" rot="10800000">
              <a:off x="1840180" y="1241803"/>
              <a:ext cx="266225" cy="10118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494" name="Google Shape;494;p16"/>
          <p:cNvGrpSpPr/>
          <p:nvPr/>
        </p:nvGrpSpPr>
        <p:grpSpPr>
          <a:xfrm rot="10800000">
            <a:off x="3954066" y="3438381"/>
            <a:ext cx="559370" cy="712744"/>
            <a:chOff x="1538513" y="900812"/>
            <a:chExt cx="580571" cy="805542"/>
          </a:xfrm>
        </p:grpSpPr>
        <p:sp>
          <p:nvSpPr>
            <p:cNvPr id="495" name="Google Shape;495;p16"/>
            <p:cNvSpPr/>
            <p:nvPr/>
          </p:nvSpPr>
          <p:spPr>
            <a:xfrm>
              <a:off x="1538513" y="900812"/>
              <a:ext cx="580571" cy="805542"/>
            </a:xfrm>
            <a:prstGeom prst="triangle">
              <a:avLst>
                <a:gd fmla="val 50000" name="adj"/>
              </a:avLst>
            </a:prstGeom>
            <a:noFill/>
            <a:ln cap="flat" cmpd="sng" w="12700">
              <a:solidFill>
                <a:srgbClr val="264159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496" name="Google Shape;496;p16"/>
            <p:cNvCxnSpPr/>
            <p:nvPr/>
          </p:nvCxnSpPr>
          <p:spPr>
            <a:xfrm>
              <a:off x="1604654" y="1213064"/>
              <a:ext cx="192456" cy="11982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97" name="Google Shape;497;p16"/>
            <p:cNvCxnSpPr/>
            <p:nvPr/>
          </p:nvCxnSpPr>
          <p:spPr>
            <a:xfrm flipH="1" rot="10800000">
              <a:off x="1840180" y="1241803"/>
              <a:ext cx="266225" cy="10118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498" name="Google Shape;498;p16"/>
          <p:cNvGrpSpPr/>
          <p:nvPr/>
        </p:nvGrpSpPr>
        <p:grpSpPr>
          <a:xfrm rot="-3480757">
            <a:off x="5571668" y="3376644"/>
            <a:ext cx="513690" cy="776126"/>
            <a:chOff x="1538513" y="900812"/>
            <a:chExt cx="580571" cy="805542"/>
          </a:xfrm>
        </p:grpSpPr>
        <p:sp>
          <p:nvSpPr>
            <p:cNvPr id="499" name="Google Shape;499;p16"/>
            <p:cNvSpPr/>
            <p:nvPr/>
          </p:nvSpPr>
          <p:spPr>
            <a:xfrm>
              <a:off x="1538513" y="900812"/>
              <a:ext cx="580571" cy="805542"/>
            </a:xfrm>
            <a:prstGeom prst="triangle">
              <a:avLst>
                <a:gd fmla="val 50000" name="adj"/>
              </a:avLst>
            </a:prstGeom>
            <a:noFill/>
            <a:ln cap="flat" cmpd="sng" w="12700">
              <a:solidFill>
                <a:srgbClr val="264159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00" name="Google Shape;500;p16"/>
            <p:cNvCxnSpPr/>
            <p:nvPr/>
          </p:nvCxnSpPr>
          <p:spPr>
            <a:xfrm>
              <a:off x="1604654" y="1213064"/>
              <a:ext cx="192456" cy="11982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01" name="Google Shape;501;p16"/>
            <p:cNvCxnSpPr/>
            <p:nvPr/>
          </p:nvCxnSpPr>
          <p:spPr>
            <a:xfrm flipH="1" rot="10800000">
              <a:off x="1840180" y="1241803"/>
              <a:ext cx="266225" cy="10118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502" name="Google Shape;502;p16"/>
          <p:cNvGrpSpPr/>
          <p:nvPr/>
        </p:nvGrpSpPr>
        <p:grpSpPr>
          <a:xfrm>
            <a:off x="285244" y="5821087"/>
            <a:ext cx="941975" cy="480813"/>
            <a:chOff x="1342465" y="2245230"/>
            <a:chExt cx="977677" cy="543414"/>
          </a:xfrm>
        </p:grpSpPr>
        <p:sp>
          <p:nvSpPr>
            <p:cNvPr id="503" name="Google Shape;503;p16"/>
            <p:cNvSpPr/>
            <p:nvPr/>
          </p:nvSpPr>
          <p:spPr>
            <a:xfrm>
              <a:off x="1377701" y="2245230"/>
              <a:ext cx="902196" cy="543414"/>
            </a:xfrm>
            <a:prstGeom prst="trapezoid">
              <a:avLst>
                <a:gd fmla="val 25000" name="adj"/>
              </a:avLst>
            </a:prstGeom>
            <a:noFill/>
            <a:ln cap="flat" cmpd="sng" w="12700">
              <a:solidFill>
                <a:srgbClr val="264159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04" name="Google Shape;504;p16"/>
            <p:cNvCxnSpPr/>
            <p:nvPr/>
          </p:nvCxnSpPr>
          <p:spPr>
            <a:xfrm>
              <a:off x="1342465" y="2410014"/>
              <a:ext cx="192456" cy="11982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05" name="Google Shape;505;p16"/>
            <p:cNvCxnSpPr/>
            <p:nvPr/>
          </p:nvCxnSpPr>
          <p:spPr>
            <a:xfrm flipH="1" rot="10800000">
              <a:off x="2053917" y="2428202"/>
              <a:ext cx="266225" cy="10118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506" name="Google Shape;506;p16"/>
          <p:cNvGrpSpPr/>
          <p:nvPr/>
        </p:nvGrpSpPr>
        <p:grpSpPr>
          <a:xfrm rot="10636458">
            <a:off x="3703135" y="5821087"/>
            <a:ext cx="941975" cy="480813"/>
            <a:chOff x="1342465" y="2245230"/>
            <a:chExt cx="977677" cy="543414"/>
          </a:xfrm>
        </p:grpSpPr>
        <p:sp>
          <p:nvSpPr>
            <p:cNvPr id="507" name="Google Shape;507;p16"/>
            <p:cNvSpPr/>
            <p:nvPr/>
          </p:nvSpPr>
          <p:spPr>
            <a:xfrm>
              <a:off x="1377701" y="2245230"/>
              <a:ext cx="902196" cy="543414"/>
            </a:xfrm>
            <a:prstGeom prst="trapezoid">
              <a:avLst>
                <a:gd fmla="val 25000" name="adj"/>
              </a:avLst>
            </a:prstGeom>
            <a:noFill/>
            <a:ln cap="flat" cmpd="sng" w="12700">
              <a:solidFill>
                <a:srgbClr val="264159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08" name="Google Shape;508;p16"/>
            <p:cNvCxnSpPr/>
            <p:nvPr/>
          </p:nvCxnSpPr>
          <p:spPr>
            <a:xfrm>
              <a:off x="1342465" y="2410014"/>
              <a:ext cx="192456" cy="11982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09" name="Google Shape;509;p16"/>
            <p:cNvCxnSpPr/>
            <p:nvPr/>
          </p:nvCxnSpPr>
          <p:spPr>
            <a:xfrm flipH="1" rot="10800000">
              <a:off x="2053917" y="2428202"/>
              <a:ext cx="266225" cy="10118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510" name="Google Shape;510;p16"/>
          <p:cNvGrpSpPr/>
          <p:nvPr/>
        </p:nvGrpSpPr>
        <p:grpSpPr>
          <a:xfrm rot="3201663">
            <a:off x="2096008" y="5765961"/>
            <a:ext cx="865050" cy="523570"/>
            <a:chOff x="1342465" y="2245230"/>
            <a:chExt cx="977677" cy="543414"/>
          </a:xfrm>
        </p:grpSpPr>
        <p:sp>
          <p:nvSpPr>
            <p:cNvPr id="511" name="Google Shape;511;p16"/>
            <p:cNvSpPr/>
            <p:nvPr/>
          </p:nvSpPr>
          <p:spPr>
            <a:xfrm>
              <a:off x="1377701" y="2245230"/>
              <a:ext cx="902196" cy="543414"/>
            </a:xfrm>
            <a:prstGeom prst="trapezoid">
              <a:avLst>
                <a:gd fmla="val 25000" name="adj"/>
              </a:avLst>
            </a:prstGeom>
            <a:noFill/>
            <a:ln cap="flat" cmpd="sng" w="12700">
              <a:solidFill>
                <a:srgbClr val="264159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12" name="Google Shape;512;p16"/>
            <p:cNvCxnSpPr/>
            <p:nvPr/>
          </p:nvCxnSpPr>
          <p:spPr>
            <a:xfrm>
              <a:off x="1342465" y="2410014"/>
              <a:ext cx="192456" cy="11982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13" name="Google Shape;513;p16"/>
            <p:cNvCxnSpPr/>
            <p:nvPr/>
          </p:nvCxnSpPr>
          <p:spPr>
            <a:xfrm flipH="1" rot="10800000">
              <a:off x="2053917" y="2428202"/>
              <a:ext cx="266225" cy="10118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514" name="Google Shape;514;p16"/>
          <p:cNvGrpSpPr/>
          <p:nvPr/>
        </p:nvGrpSpPr>
        <p:grpSpPr>
          <a:xfrm rot="5400000">
            <a:off x="5343130" y="5741150"/>
            <a:ext cx="865050" cy="523570"/>
            <a:chOff x="1342465" y="2245230"/>
            <a:chExt cx="977677" cy="543414"/>
          </a:xfrm>
        </p:grpSpPr>
        <p:sp>
          <p:nvSpPr>
            <p:cNvPr id="515" name="Google Shape;515;p16"/>
            <p:cNvSpPr/>
            <p:nvPr/>
          </p:nvSpPr>
          <p:spPr>
            <a:xfrm>
              <a:off x="1377701" y="2245230"/>
              <a:ext cx="902196" cy="543414"/>
            </a:xfrm>
            <a:prstGeom prst="trapezoid">
              <a:avLst>
                <a:gd fmla="val 25000" name="adj"/>
              </a:avLst>
            </a:prstGeom>
            <a:noFill/>
            <a:ln cap="flat" cmpd="sng" w="12700">
              <a:solidFill>
                <a:srgbClr val="264159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16" name="Google Shape;516;p16"/>
            <p:cNvCxnSpPr/>
            <p:nvPr/>
          </p:nvCxnSpPr>
          <p:spPr>
            <a:xfrm>
              <a:off x="1342465" y="2410014"/>
              <a:ext cx="192456" cy="11982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17" name="Google Shape;517;p16"/>
            <p:cNvCxnSpPr/>
            <p:nvPr/>
          </p:nvCxnSpPr>
          <p:spPr>
            <a:xfrm flipH="1" rot="10800000">
              <a:off x="2053917" y="2428202"/>
              <a:ext cx="266225" cy="10118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518" name="Google Shape;518;p16"/>
          <p:cNvSpPr txBox="1"/>
          <p:nvPr/>
        </p:nvSpPr>
        <p:spPr>
          <a:xfrm>
            <a:off x="175495" y="3066423"/>
            <a:ext cx="145507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a) Perimeter = 20cm</a:t>
            </a:r>
            <a:endParaRPr/>
          </a:p>
        </p:txBody>
      </p:sp>
      <p:sp>
        <p:nvSpPr>
          <p:cNvPr id="519" name="Google Shape;519;p16"/>
          <p:cNvSpPr txBox="1"/>
          <p:nvPr/>
        </p:nvSpPr>
        <p:spPr>
          <a:xfrm>
            <a:off x="1814409" y="5254974"/>
            <a:ext cx="136434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f) Perimeter = 24m</a:t>
            </a:r>
            <a:endParaRPr/>
          </a:p>
        </p:txBody>
      </p:sp>
      <p:sp>
        <p:nvSpPr>
          <p:cNvPr id="520" name="Google Shape;520;p16"/>
          <p:cNvSpPr txBox="1"/>
          <p:nvPr/>
        </p:nvSpPr>
        <p:spPr>
          <a:xfrm>
            <a:off x="1756468" y="3045520"/>
            <a:ext cx="139576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b) Perimeter = 24m</a:t>
            </a:r>
            <a:endParaRPr/>
          </a:p>
        </p:txBody>
      </p:sp>
      <p:sp>
        <p:nvSpPr>
          <p:cNvPr id="521" name="Google Shape;521;p16"/>
          <p:cNvSpPr txBox="1"/>
          <p:nvPr/>
        </p:nvSpPr>
        <p:spPr>
          <a:xfrm>
            <a:off x="3477403" y="3059712"/>
            <a:ext cx="144706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c) Perimeter = 30cm</a:t>
            </a:r>
            <a:endParaRPr/>
          </a:p>
        </p:txBody>
      </p:sp>
      <p:sp>
        <p:nvSpPr>
          <p:cNvPr id="522" name="Google Shape;522;p16"/>
          <p:cNvSpPr txBox="1"/>
          <p:nvPr/>
        </p:nvSpPr>
        <p:spPr>
          <a:xfrm>
            <a:off x="5177412" y="3073471"/>
            <a:ext cx="146149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d) Perimeter = 35cm</a:t>
            </a:r>
            <a:endParaRPr/>
          </a:p>
        </p:txBody>
      </p:sp>
      <p:sp>
        <p:nvSpPr>
          <p:cNvPr id="523" name="Google Shape;523;p16"/>
          <p:cNvSpPr txBox="1"/>
          <p:nvPr/>
        </p:nvSpPr>
        <p:spPr>
          <a:xfrm>
            <a:off x="3548058" y="5254137"/>
            <a:ext cx="145347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g) Perimeter = 30cm</a:t>
            </a:r>
            <a:endParaRPr/>
          </a:p>
        </p:txBody>
      </p:sp>
      <p:sp>
        <p:nvSpPr>
          <p:cNvPr id="524" name="Google Shape;524;p16"/>
          <p:cNvSpPr txBox="1"/>
          <p:nvPr/>
        </p:nvSpPr>
        <p:spPr>
          <a:xfrm>
            <a:off x="5162185" y="5232332"/>
            <a:ext cx="146149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h) Perimeter = 35cm</a:t>
            </a:r>
            <a:endParaRPr/>
          </a:p>
        </p:txBody>
      </p:sp>
      <p:sp>
        <p:nvSpPr>
          <p:cNvPr id="525" name="Google Shape;525;p16"/>
          <p:cNvSpPr txBox="1"/>
          <p:nvPr/>
        </p:nvSpPr>
        <p:spPr>
          <a:xfrm>
            <a:off x="140521" y="5249233"/>
            <a:ext cx="145828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e) Perimeter = 20cm</a:t>
            </a:r>
            <a:endParaRPr/>
          </a:p>
        </p:txBody>
      </p:sp>
      <p:sp>
        <p:nvSpPr>
          <p:cNvPr id="526" name="Google Shape;526;p16"/>
          <p:cNvSpPr txBox="1"/>
          <p:nvPr/>
        </p:nvSpPr>
        <p:spPr>
          <a:xfrm>
            <a:off x="2677790" y="3242688"/>
            <a:ext cx="273679" cy="3267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/>
          </a:p>
        </p:txBody>
      </p:sp>
      <p:sp>
        <p:nvSpPr>
          <p:cNvPr id="527" name="Google Shape;527;p16"/>
          <p:cNvSpPr txBox="1"/>
          <p:nvPr/>
        </p:nvSpPr>
        <p:spPr>
          <a:xfrm>
            <a:off x="1113552" y="3472699"/>
            <a:ext cx="273679" cy="3267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/>
          </a:p>
        </p:txBody>
      </p:sp>
      <p:sp>
        <p:nvSpPr>
          <p:cNvPr id="528" name="Google Shape;528;p16"/>
          <p:cNvSpPr txBox="1"/>
          <p:nvPr/>
        </p:nvSpPr>
        <p:spPr>
          <a:xfrm>
            <a:off x="3720892" y="3594683"/>
            <a:ext cx="273679" cy="3267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/>
          </a:p>
        </p:txBody>
      </p:sp>
      <p:sp>
        <p:nvSpPr>
          <p:cNvPr id="529" name="Google Shape;529;p16"/>
          <p:cNvSpPr txBox="1"/>
          <p:nvPr/>
        </p:nvSpPr>
        <p:spPr>
          <a:xfrm>
            <a:off x="4623116" y="5933377"/>
            <a:ext cx="273679" cy="3267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/>
          </a:p>
        </p:txBody>
      </p:sp>
      <p:sp>
        <p:nvSpPr>
          <p:cNvPr id="530" name="Google Shape;530;p16"/>
          <p:cNvSpPr txBox="1"/>
          <p:nvPr/>
        </p:nvSpPr>
        <p:spPr>
          <a:xfrm>
            <a:off x="5242284" y="3729291"/>
            <a:ext cx="273679" cy="3267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/>
          </a:p>
        </p:txBody>
      </p:sp>
      <p:sp>
        <p:nvSpPr>
          <p:cNvPr id="531" name="Google Shape;531;p16"/>
          <p:cNvSpPr txBox="1"/>
          <p:nvPr/>
        </p:nvSpPr>
        <p:spPr>
          <a:xfrm>
            <a:off x="1231922" y="5837327"/>
            <a:ext cx="273679" cy="3267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/>
          </a:p>
        </p:txBody>
      </p:sp>
      <p:sp>
        <p:nvSpPr>
          <p:cNvPr id="532" name="Google Shape;532;p16"/>
          <p:cNvSpPr txBox="1"/>
          <p:nvPr/>
        </p:nvSpPr>
        <p:spPr>
          <a:xfrm>
            <a:off x="2852581" y="6138941"/>
            <a:ext cx="273679" cy="3267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/>
          </a:p>
        </p:txBody>
      </p:sp>
      <p:sp>
        <p:nvSpPr>
          <p:cNvPr id="533" name="Google Shape;533;p16"/>
          <p:cNvSpPr txBox="1"/>
          <p:nvPr/>
        </p:nvSpPr>
        <p:spPr>
          <a:xfrm>
            <a:off x="5723644" y="6381385"/>
            <a:ext cx="273679" cy="3267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/>
          </a:p>
        </p:txBody>
      </p:sp>
      <p:sp>
        <p:nvSpPr>
          <p:cNvPr id="534" name="Google Shape;534;p16"/>
          <p:cNvSpPr txBox="1"/>
          <p:nvPr/>
        </p:nvSpPr>
        <p:spPr>
          <a:xfrm>
            <a:off x="692900" y="4048791"/>
            <a:ext cx="435849" cy="2450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4cm</a:t>
            </a:r>
            <a:endParaRPr/>
          </a:p>
        </p:txBody>
      </p:sp>
      <p:sp>
        <p:nvSpPr>
          <p:cNvPr id="535" name="Google Shape;535;p16"/>
          <p:cNvSpPr txBox="1"/>
          <p:nvPr/>
        </p:nvSpPr>
        <p:spPr>
          <a:xfrm>
            <a:off x="554058" y="5587311"/>
            <a:ext cx="435849" cy="2450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5cm</a:t>
            </a:r>
            <a:endParaRPr/>
          </a:p>
        </p:txBody>
      </p:sp>
      <p:sp>
        <p:nvSpPr>
          <p:cNvPr id="536" name="Google Shape;536;p16"/>
          <p:cNvSpPr txBox="1"/>
          <p:nvPr/>
        </p:nvSpPr>
        <p:spPr>
          <a:xfrm>
            <a:off x="3891891" y="3199509"/>
            <a:ext cx="548595" cy="2450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3.5cm</a:t>
            </a:r>
            <a:endParaRPr/>
          </a:p>
        </p:txBody>
      </p:sp>
      <p:sp>
        <p:nvSpPr>
          <p:cNvPr id="537" name="Google Shape;537;p16"/>
          <p:cNvSpPr txBox="1"/>
          <p:nvPr/>
        </p:nvSpPr>
        <p:spPr>
          <a:xfrm>
            <a:off x="6082287" y="3905661"/>
            <a:ext cx="567128" cy="2450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50mm</a:t>
            </a:r>
            <a:endParaRPr/>
          </a:p>
        </p:txBody>
      </p:sp>
      <p:sp>
        <p:nvSpPr>
          <p:cNvPr id="538" name="Google Shape;538;p16"/>
          <p:cNvSpPr txBox="1"/>
          <p:nvPr/>
        </p:nvSpPr>
        <p:spPr>
          <a:xfrm>
            <a:off x="1860413" y="3430413"/>
            <a:ext cx="435849" cy="2450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6m</a:t>
            </a:r>
            <a:endParaRPr/>
          </a:p>
        </p:txBody>
      </p:sp>
      <p:sp>
        <p:nvSpPr>
          <p:cNvPr id="539" name="Google Shape;539;p16"/>
          <p:cNvSpPr txBox="1"/>
          <p:nvPr/>
        </p:nvSpPr>
        <p:spPr>
          <a:xfrm>
            <a:off x="548661" y="6312915"/>
            <a:ext cx="435849" cy="2450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9cm</a:t>
            </a:r>
            <a:endParaRPr/>
          </a:p>
        </p:txBody>
      </p:sp>
      <p:sp>
        <p:nvSpPr>
          <p:cNvPr id="540" name="Google Shape;540;p16"/>
          <p:cNvSpPr txBox="1"/>
          <p:nvPr/>
        </p:nvSpPr>
        <p:spPr>
          <a:xfrm>
            <a:off x="2692419" y="5685194"/>
            <a:ext cx="372525" cy="2450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4m</a:t>
            </a:r>
            <a:endParaRPr/>
          </a:p>
        </p:txBody>
      </p:sp>
      <p:sp>
        <p:nvSpPr>
          <p:cNvPr id="541" name="Google Shape;541;p16"/>
          <p:cNvSpPr txBox="1"/>
          <p:nvPr/>
        </p:nvSpPr>
        <p:spPr>
          <a:xfrm>
            <a:off x="1892404" y="6107076"/>
            <a:ext cx="435849" cy="2450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7cm</a:t>
            </a:r>
            <a:endParaRPr/>
          </a:p>
        </p:txBody>
      </p:sp>
      <p:sp>
        <p:nvSpPr>
          <p:cNvPr id="542" name="Google Shape;542;p16"/>
          <p:cNvSpPr txBox="1"/>
          <p:nvPr/>
        </p:nvSpPr>
        <p:spPr>
          <a:xfrm>
            <a:off x="3921767" y="5575998"/>
            <a:ext cx="548595" cy="2450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7.5cm</a:t>
            </a:r>
            <a:endParaRPr/>
          </a:p>
        </p:txBody>
      </p:sp>
      <p:sp>
        <p:nvSpPr>
          <p:cNvPr id="543" name="Google Shape;543;p16"/>
          <p:cNvSpPr txBox="1"/>
          <p:nvPr/>
        </p:nvSpPr>
        <p:spPr>
          <a:xfrm>
            <a:off x="3972405" y="6320504"/>
            <a:ext cx="548595" cy="2450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4.5cm</a:t>
            </a:r>
            <a:endParaRPr/>
          </a:p>
        </p:txBody>
      </p:sp>
      <p:sp>
        <p:nvSpPr>
          <p:cNvPr id="544" name="Google Shape;544;p16"/>
          <p:cNvSpPr txBox="1"/>
          <p:nvPr/>
        </p:nvSpPr>
        <p:spPr>
          <a:xfrm>
            <a:off x="5032709" y="5861987"/>
            <a:ext cx="567128" cy="2450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80mm</a:t>
            </a:r>
            <a:endParaRPr/>
          </a:p>
        </p:txBody>
      </p:sp>
      <p:sp>
        <p:nvSpPr>
          <p:cNvPr id="545" name="Google Shape;545;p16"/>
          <p:cNvSpPr txBox="1"/>
          <p:nvPr/>
        </p:nvSpPr>
        <p:spPr>
          <a:xfrm>
            <a:off x="6037230" y="5861987"/>
            <a:ext cx="567128" cy="2450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40mm</a:t>
            </a:r>
            <a:endParaRPr/>
          </a:p>
        </p:txBody>
      </p:sp>
      <p:graphicFrame>
        <p:nvGraphicFramePr>
          <p:cNvPr id="546" name="Google Shape;546;p16"/>
          <p:cNvGraphicFramePr/>
          <p:nvPr/>
        </p:nvGraphicFramePr>
        <p:xfrm>
          <a:off x="159899" y="307347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{148365BD-FC6D-423E-9DE8-EAC0A2F9B1C8}</a:tableStyleId>
              </a:tblPr>
              <a:tblGrid>
                <a:gridCol w="1642275"/>
                <a:gridCol w="1642275"/>
                <a:gridCol w="1642275"/>
                <a:gridCol w="1642275"/>
              </a:tblGrid>
              <a:tr h="216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6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47" name="Google Shape;547;p16"/>
          <p:cNvSpPr txBox="1"/>
          <p:nvPr/>
        </p:nvSpPr>
        <p:spPr>
          <a:xfrm>
            <a:off x="1927513" y="2816532"/>
            <a:ext cx="345077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5. Work out x</a:t>
            </a:r>
            <a:endParaRPr/>
          </a:p>
        </p:txBody>
      </p:sp>
      <p:sp>
        <p:nvSpPr>
          <p:cNvPr id="548" name="Google Shape;548;p16"/>
          <p:cNvSpPr txBox="1"/>
          <p:nvPr/>
        </p:nvSpPr>
        <p:spPr>
          <a:xfrm>
            <a:off x="129045" y="7480903"/>
            <a:ext cx="6716007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6. An isosceles triangle has a side with length 10.3 cm. Its perimeter is 45 cm. Sketch two different possibilities for the triangle, labelling the lengths of all the sides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16"/>
          <p:cNvSpPr/>
          <p:nvPr/>
        </p:nvSpPr>
        <p:spPr>
          <a:xfrm>
            <a:off x="159899" y="7471661"/>
            <a:ext cx="6569056" cy="1950479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16"/>
          <p:cNvSpPr txBox="1"/>
          <p:nvPr/>
        </p:nvSpPr>
        <p:spPr>
          <a:xfrm>
            <a:off x="1414826" y="2156617"/>
            <a:ext cx="89117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4cm</a:t>
            </a:r>
            <a:endParaRPr/>
          </a:p>
        </p:txBody>
      </p:sp>
      <p:sp>
        <p:nvSpPr>
          <p:cNvPr id="551" name="Google Shape;551;p16"/>
          <p:cNvSpPr txBox="1"/>
          <p:nvPr/>
        </p:nvSpPr>
        <p:spPr>
          <a:xfrm>
            <a:off x="5546200" y="2117604"/>
            <a:ext cx="89117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9cm</a:t>
            </a:r>
            <a:endParaRPr/>
          </a:p>
        </p:txBody>
      </p:sp>
      <p:sp>
        <p:nvSpPr>
          <p:cNvPr id="552" name="Google Shape;552;p16"/>
          <p:cNvSpPr txBox="1"/>
          <p:nvPr/>
        </p:nvSpPr>
        <p:spPr>
          <a:xfrm>
            <a:off x="3531183" y="2120529"/>
            <a:ext cx="89117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9cm</a:t>
            </a:r>
            <a:endParaRPr/>
          </a:p>
        </p:txBody>
      </p:sp>
      <p:sp>
        <p:nvSpPr>
          <p:cNvPr id="553" name="Google Shape;553;p16"/>
          <p:cNvSpPr txBox="1"/>
          <p:nvPr/>
        </p:nvSpPr>
        <p:spPr>
          <a:xfrm>
            <a:off x="803933" y="4790820"/>
            <a:ext cx="89301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8cm</a:t>
            </a:r>
            <a:endParaRPr/>
          </a:p>
        </p:txBody>
      </p:sp>
      <p:sp>
        <p:nvSpPr>
          <p:cNvPr id="554" name="Google Shape;554;p16"/>
          <p:cNvSpPr txBox="1"/>
          <p:nvPr/>
        </p:nvSpPr>
        <p:spPr>
          <a:xfrm>
            <a:off x="5788134" y="6969598"/>
            <a:ext cx="89301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11.5cm</a:t>
            </a:r>
            <a:endParaRPr/>
          </a:p>
        </p:txBody>
      </p:sp>
      <p:sp>
        <p:nvSpPr>
          <p:cNvPr id="555" name="Google Shape;555;p16"/>
          <p:cNvSpPr txBox="1"/>
          <p:nvPr/>
        </p:nvSpPr>
        <p:spPr>
          <a:xfrm>
            <a:off x="4104152" y="6976849"/>
            <a:ext cx="89301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9cm</a:t>
            </a:r>
            <a:endParaRPr/>
          </a:p>
        </p:txBody>
      </p:sp>
      <p:sp>
        <p:nvSpPr>
          <p:cNvPr id="556" name="Google Shape;556;p16"/>
          <p:cNvSpPr txBox="1"/>
          <p:nvPr/>
        </p:nvSpPr>
        <p:spPr>
          <a:xfrm>
            <a:off x="2430083" y="6977926"/>
            <a:ext cx="89301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6.5cm</a:t>
            </a:r>
            <a:endParaRPr/>
          </a:p>
        </p:txBody>
      </p:sp>
      <p:sp>
        <p:nvSpPr>
          <p:cNvPr id="557" name="Google Shape;557;p16"/>
          <p:cNvSpPr txBox="1"/>
          <p:nvPr/>
        </p:nvSpPr>
        <p:spPr>
          <a:xfrm>
            <a:off x="667491" y="6973845"/>
            <a:ext cx="89301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3cm</a:t>
            </a:r>
            <a:endParaRPr/>
          </a:p>
        </p:txBody>
      </p:sp>
      <p:sp>
        <p:nvSpPr>
          <p:cNvPr id="558" name="Google Shape;558;p16"/>
          <p:cNvSpPr txBox="1"/>
          <p:nvPr/>
        </p:nvSpPr>
        <p:spPr>
          <a:xfrm>
            <a:off x="5917842" y="4798500"/>
            <a:ext cx="89301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15cm</a:t>
            </a:r>
            <a:endParaRPr/>
          </a:p>
        </p:txBody>
      </p:sp>
      <p:sp>
        <p:nvSpPr>
          <p:cNvPr id="559" name="Google Shape;559;p16"/>
          <p:cNvSpPr txBox="1"/>
          <p:nvPr/>
        </p:nvSpPr>
        <p:spPr>
          <a:xfrm>
            <a:off x="4054903" y="4790820"/>
            <a:ext cx="112838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13.25cm</a:t>
            </a:r>
            <a:endParaRPr/>
          </a:p>
        </p:txBody>
      </p:sp>
      <p:sp>
        <p:nvSpPr>
          <p:cNvPr id="560" name="Google Shape;560;p16"/>
          <p:cNvSpPr txBox="1"/>
          <p:nvPr/>
        </p:nvSpPr>
        <p:spPr>
          <a:xfrm>
            <a:off x="2458946" y="4795355"/>
            <a:ext cx="89301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9cm</a:t>
            </a:r>
            <a:endParaRPr/>
          </a:p>
        </p:txBody>
      </p:sp>
      <p:sp>
        <p:nvSpPr>
          <p:cNvPr id="561" name="Google Shape;561;p16"/>
          <p:cNvSpPr/>
          <p:nvPr/>
        </p:nvSpPr>
        <p:spPr>
          <a:xfrm>
            <a:off x="648445" y="4803902"/>
            <a:ext cx="1034163" cy="362194"/>
          </a:xfrm>
          <a:prstGeom prst="rect">
            <a:avLst/>
          </a:prstGeom>
          <a:noFill/>
          <a:ln cap="flat" cmpd="sng" w="127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16"/>
          <p:cNvSpPr/>
          <p:nvPr/>
        </p:nvSpPr>
        <p:spPr>
          <a:xfrm>
            <a:off x="659110" y="6973600"/>
            <a:ext cx="1034163" cy="362194"/>
          </a:xfrm>
          <a:prstGeom prst="rect">
            <a:avLst/>
          </a:prstGeom>
          <a:noFill/>
          <a:ln cap="flat" cmpd="sng" w="127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16"/>
          <p:cNvSpPr/>
          <p:nvPr/>
        </p:nvSpPr>
        <p:spPr>
          <a:xfrm>
            <a:off x="2300411" y="4803902"/>
            <a:ext cx="1034163" cy="362194"/>
          </a:xfrm>
          <a:prstGeom prst="rect">
            <a:avLst/>
          </a:prstGeom>
          <a:noFill/>
          <a:ln cap="flat" cmpd="sng" w="127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16"/>
          <p:cNvSpPr/>
          <p:nvPr/>
        </p:nvSpPr>
        <p:spPr>
          <a:xfrm>
            <a:off x="2280080" y="6973600"/>
            <a:ext cx="1034163" cy="362194"/>
          </a:xfrm>
          <a:prstGeom prst="rect">
            <a:avLst/>
          </a:prstGeom>
          <a:noFill/>
          <a:ln cap="flat" cmpd="sng" w="127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16"/>
          <p:cNvSpPr/>
          <p:nvPr/>
        </p:nvSpPr>
        <p:spPr>
          <a:xfrm>
            <a:off x="3959263" y="4803902"/>
            <a:ext cx="1034163" cy="362194"/>
          </a:xfrm>
          <a:prstGeom prst="rect">
            <a:avLst/>
          </a:prstGeom>
          <a:noFill/>
          <a:ln cap="flat" cmpd="sng" w="127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16"/>
          <p:cNvSpPr/>
          <p:nvPr/>
        </p:nvSpPr>
        <p:spPr>
          <a:xfrm>
            <a:off x="3938932" y="6973600"/>
            <a:ext cx="1034163" cy="362194"/>
          </a:xfrm>
          <a:prstGeom prst="rect">
            <a:avLst/>
          </a:prstGeom>
          <a:noFill/>
          <a:ln cap="flat" cmpd="sng" w="127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16"/>
          <p:cNvSpPr/>
          <p:nvPr/>
        </p:nvSpPr>
        <p:spPr>
          <a:xfrm>
            <a:off x="5565205" y="4806708"/>
            <a:ext cx="1034163" cy="362194"/>
          </a:xfrm>
          <a:prstGeom prst="rect">
            <a:avLst/>
          </a:prstGeom>
          <a:noFill/>
          <a:ln cap="flat" cmpd="sng" w="127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16"/>
          <p:cNvSpPr/>
          <p:nvPr/>
        </p:nvSpPr>
        <p:spPr>
          <a:xfrm>
            <a:off x="5560372" y="6976406"/>
            <a:ext cx="1034163" cy="362194"/>
          </a:xfrm>
          <a:prstGeom prst="rect">
            <a:avLst/>
          </a:prstGeom>
          <a:noFill/>
          <a:ln cap="flat" cmpd="sng" w="127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69" name="Google Shape;569;p16"/>
          <p:cNvCxnSpPr/>
          <p:nvPr/>
        </p:nvCxnSpPr>
        <p:spPr>
          <a:xfrm>
            <a:off x="447857" y="9409189"/>
            <a:ext cx="6408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570" name="Google Shape;570;p16"/>
          <p:cNvGrpSpPr/>
          <p:nvPr/>
        </p:nvGrpSpPr>
        <p:grpSpPr>
          <a:xfrm>
            <a:off x="989816" y="8050757"/>
            <a:ext cx="5326530" cy="1242870"/>
            <a:chOff x="652436" y="5420664"/>
            <a:chExt cx="5326530" cy="1242870"/>
          </a:xfrm>
        </p:grpSpPr>
        <p:sp>
          <p:nvSpPr>
            <p:cNvPr id="571" name="Google Shape;571;p16"/>
            <p:cNvSpPr/>
            <p:nvPr/>
          </p:nvSpPr>
          <p:spPr>
            <a:xfrm>
              <a:off x="786647" y="5599331"/>
              <a:ext cx="2693266" cy="733378"/>
            </a:xfrm>
            <a:prstGeom prst="triangle">
              <a:avLst>
                <a:gd fmla="val 50000" name="adj"/>
              </a:avLst>
            </a:prstGeom>
            <a:solidFill>
              <a:schemeClr val="accent1"/>
            </a:solidFill>
            <a:ln cap="flat" cmpd="sng" w="12700">
              <a:solidFill>
                <a:srgbClr val="264159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2" name="Google Shape;572;p16"/>
            <p:cNvSpPr/>
            <p:nvPr/>
          </p:nvSpPr>
          <p:spPr>
            <a:xfrm>
              <a:off x="4611017" y="5420664"/>
              <a:ext cx="721083" cy="991233"/>
            </a:xfrm>
            <a:prstGeom prst="triangle">
              <a:avLst>
                <a:gd fmla="val 50000" name="adj"/>
              </a:avLst>
            </a:prstGeom>
            <a:solidFill>
              <a:schemeClr val="accent1"/>
            </a:solidFill>
            <a:ln cap="flat" cmpd="sng" w="12700">
              <a:solidFill>
                <a:srgbClr val="264159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3" name="Google Shape;573;p16"/>
            <p:cNvSpPr txBox="1"/>
            <p:nvPr/>
          </p:nvSpPr>
          <p:spPr>
            <a:xfrm>
              <a:off x="652436" y="5743044"/>
              <a:ext cx="651523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10.3cm</a:t>
              </a:r>
              <a:endParaRPr/>
            </a:p>
          </p:txBody>
        </p:sp>
        <p:sp>
          <p:nvSpPr>
            <p:cNvPr id="574" name="Google Shape;574;p16"/>
            <p:cNvSpPr txBox="1"/>
            <p:nvPr/>
          </p:nvSpPr>
          <p:spPr>
            <a:xfrm>
              <a:off x="4680577" y="6386535"/>
              <a:ext cx="651523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10.3cm</a:t>
              </a:r>
              <a:endParaRPr/>
            </a:p>
          </p:txBody>
        </p:sp>
        <p:sp>
          <p:nvSpPr>
            <p:cNvPr id="575" name="Google Shape;575;p16"/>
            <p:cNvSpPr txBox="1"/>
            <p:nvPr/>
          </p:nvSpPr>
          <p:spPr>
            <a:xfrm>
              <a:off x="1780016" y="6324772"/>
              <a:ext cx="754840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24.4cm</a:t>
              </a:r>
              <a:endParaRPr/>
            </a:p>
          </p:txBody>
        </p:sp>
        <p:sp>
          <p:nvSpPr>
            <p:cNvPr id="576" name="Google Shape;576;p16"/>
            <p:cNvSpPr txBox="1"/>
            <p:nvPr/>
          </p:nvSpPr>
          <p:spPr>
            <a:xfrm>
              <a:off x="5198544" y="5903449"/>
              <a:ext cx="780422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17.35cm</a:t>
              </a:r>
              <a:endParaRPr/>
            </a:p>
          </p:txBody>
        </p:sp>
      </p:grpSp>
      <p:grpSp>
        <p:nvGrpSpPr>
          <p:cNvPr id="577" name="Google Shape;577;p16"/>
          <p:cNvGrpSpPr/>
          <p:nvPr/>
        </p:nvGrpSpPr>
        <p:grpSpPr>
          <a:xfrm>
            <a:off x="1572590" y="8466213"/>
            <a:ext cx="4020693" cy="259800"/>
            <a:chOff x="1229044" y="5843659"/>
            <a:chExt cx="4020693" cy="259800"/>
          </a:xfrm>
        </p:grpSpPr>
        <p:cxnSp>
          <p:nvCxnSpPr>
            <p:cNvPr id="578" name="Google Shape;578;p16"/>
            <p:cNvCxnSpPr/>
            <p:nvPr/>
          </p:nvCxnSpPr>
          <p:spPr>
            <a:xfrm flipH="1">
              <a:off x="5057281" y="5843659"/>
              <a:ext cx="192456" cy="11982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79" name="Google Shape;579;p16"/>
            <p:cNvCxnSpPr/>
            <p:nvPr/>
          </p:nvCxnSpPr>
          <p:spPr>
            <a:xfrm>
              <a:off x="4669038" y="5846197"/>
              <a:ext cx="192456" cy="11982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80" name="Google Shape;580;p16"/>
            <p:cNvCxnSpPr/>
            <p:nvPr/>
          </p:nvCxnSpPr>
          <p:spPr>
            <a:xfrm flipH="1">
              <a:off x="2776447" y="5918569"/>
              <a:ext cx="192456" cy="11982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81" name="Google Shape;581;p16"/>
            <p:cNvCxnSpPr/>
            <p:nvPr/>
          </p:nvCxnSpPr>
          <p:spPr>
            <a:xfrm>
              <a:off x="1229044" y="5983636"/>
              <a:ext cx="192456" cy="11982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17"/>
          <p:cNvSpPr txBox="1"/>
          <p:nvPr>
            <p:ph idx="12" type="sldNum"/>
          </p:nvPr>
        </p:nvSpPr>
        <p:spPr>
          <a:xfrm>
            <a:off x="5337127" y="9470113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aphicFrame>
        <p:nvGraphicFramePr>
          <p:cNvPr id="587" name="Google Shape;587;p17"/>
          <p:cNvGraphicFramePr/>
          <p:nvPr/>
        </p:nvGraphicFramePr>
        <p:xfrm>
          <a:off x="244839" y="20238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{148365BD-FC6D-423E-9DE8-EAC0A2F9B1C8}</a:tableStyleId>
              </a:tblPr>
              <a:tblGrid>
                <a:gridCol w="6392575"/>
              </a:tblGrid>
              <a:tr h="1283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7. An isosceles triangle has a perimeter of 73cm. An equilateral triangle has a perimeter of 51cm. The triangles are put together to make a kite. Work out the perimeter of the kite.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588" name="Google Shape;588;p17"/>
          <p:cNvPicPr preferRelativeResize="0"/>
          <p:nvPr/>
        </p:nvPicPr>
        <p:blipFill rotWithShape="1">
          <a:blip r:embed="rId3">
            <a:alphaModFix/>
          </a:blip>
          <a:srcRect b="14918" l="0" r="0" t="34508"/>
          <a:stretch/>
        </p:blipFill>
        <p:spPr>
          <a:xfrm>
            <a:off x="289092" y="641376"/>
            <a:ext cx="4249388" cy="79975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89" name="Google Shape;589;p17"/>
          <p:cNvGrpSpPr/>
          <p:nvPr/>
        </p:nvGrpSpPr>
        <p:grpSpPr>
          <a:xfrm>
            <a:off x="3383300" y="3957750"/>
            <a:ext cx="1167339" cy="691938"/>
            <a:chOff x="1342465" y="2245230"/>
            <a:chExt cx="977677" cy="543414"/>
          </a:xfrm>
        </p:grpSpPr>
        <p:sp>
          <p:nvSpPr>
            <p:cNvPr id="590" name="Google Shape;590;p17"/>
            <p:cNvSpPr/>
            <p:nvPr/>
          </p:nvSpPr>
          <p:spPr>
            <a:xfrm>
              <a:off x="1377701" y="2245230"/>
              <a:ext cx="902196" cy="543414"/>
            </a:xfrm>
            <a:prstGeom prst="trapezoid">
              <a:avLst>
                <a:gd fmla="val 25000" name="adj"/>
              </a:avLst>
            </a:prstGeom>
            <a:noFill/>
            <a:ln cap="flat" cmpd="sng" w="12700">
              <a:solidFill>
                <a:srgbClr val="264159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91" name="Google Shape;591;p17"/>
            <p:cNvCxnSpPr/>
            <p:nvPr/>
          </p:nvCxnSpPr>
          <p:spPr>
            <a:xfrm>
              <a:off x="1342465" y="2410014"/>
              <a:ext cx="192456" cy="11982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92" name="Google Shape;592;p17"/>
            <p:cNvCxnSpPr/>
            <p:nvPr/>
          </p:nvCxnSpPr>
          <p:spPr>
            <a:xfrm flipH="1" rot="10800000">
              <a:off x="2053917" y="2428202"/>
              <a:ext cx="266225" cy="10118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593" name="Google Shape;593;p17"/>
          <p:cNvSpPr txBox="1"/>
          <p:nvPr/>
        </p:nvSpPr>
        <p:spPr>
          <a:xfrm>
            <a:off x="452396" y="3746216"/>
            <a:ext cx="292990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ABCD is a trapezium. AD is 5cm. DC is twice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 long as AB. The perimeter is 31cm. What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the length of AB? </a:t>
            </a:r>
            <a:endParaRPr/>
          </a:p>
        </p:txBody>
      </p:sp>
      <p:sp>
        <p:nvSpPr>
          <p:cNvPr id="594" name="Google Shape;594;p17"/>
          <p:cNvSpPr txBox="1"/>
          <p:nvPr/>
        </p:nvSpPr>
        <p:spPr>
          <a:xfrm>
            <a:off x="3302801" y="3719741"/>
            <a:ext cx="3063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595" name="Google Shape;595;p17"/>
          <p:cNvSpPr txBox="1"/>
          <p:nvPr/>
        </p:nvSpPr>
        <p:spPr>
          <a:xfrm>
            <a:off x="4329816" y="3719741"/>
            <a:ext cx="3063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sp>
        <p:nvSpPr>
          <p:cNvPr id="596" name="Google Shape;596;p17"/>
          <p:cNvSpPr txBox="1"/>
          <p:nvPr/>
        </p:nvSpPr>
        <p:spPr>
          <a:xfrm>
            <a:off x="4482996" y="4517451"/>
            <a:ext cx="3063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/>
          </a:p>
        </p:txBody>
      </p:sp>
      <p:sp>
        <p:nvSpPr>
          <p:cNvPr id="597" name="Google Shape;597;p17"/>
          <p:cNvSpPr txBox="1"/>
          <p:nvPr/>
        </p:nvSpPr>
        <p:spPr>
          <a:xfrm>
            <a:off x="3133312" y="4445128"/>
            <a:ext cx="3063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/>
          </a:p>
        </p:txBody>
      </p:sp>
      <p:grpSp>
        <p:nvGrpSpPr>
          <p:cNvPr id="598" name="Google Shape;598;p17"/>
          <p:cNvGrpSpPr/>
          <p:nvPr/>
        </p:nvGrpSpPr>
        <p:grpSpPr>
          <a:xfrm>
            <a:off x="3058498" y="2664974"/>
            <a:ext cx="580571" cy="805542"/>
            <a:chOff x="1538513" y="900812"/>
            <a:chExt cx="580571" cy="805542"/>
          </a:xfrm>
        </p:grpSpPr>
        <p:sp>
          <p:nvSpPr>
            <p:cNvPr id="599" name="Google Shape;599;p17"/>
            <p:cNvSpPr/>
            <p:nvPr/>
          </p:nvSpPr>
          <p:spPr>
            <a:xfrm>
              <a:off x="1538513" y="900812"/>
              <a:ext cx="580571" cy="805542"/>
            </a:xfrm>
            <a:prstGeom prst="triangle">
              <a:avLst>
                <a:gd fmla="val 50000" name="adj"/>
              </a:avLst>
            </a:prstGeom>
            <a:noFill/>
            <a:ln cap="flat" cmpd="sng" w="12700">
              <a:solidFill>
                <a:srgbClr val="264159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600" name="Google Shape;600;p17"/>
            <p:cNvCxnSpPr/>
            <p:nvPr/>
          </p:nvCxnSpPr>
          <p:spPr>
            <a:xfrm>
              <a:off x="1576944" y="1240774"/>
              <a:ext cx="192456" cy="11982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601" name="Google Shape;601;p17"/>
          <p:cNvSpPr txBox="1"/>
          <p:nvPr/>
        </p:nvSpPr>
        <p:spPr>
          <a:xfrm>
            <a:off x="432809" y="2589166"/>
            <a:ext cx="256743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perimeter of this triangle is 14cm.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Find two possible values for x and y</a:t>
            </a:r>
            <a:endParaRPr/>
          </a:p>
        </p:txBody>
      </p:sp>
      <p:sp>
        <p:nvSpPr>
          <p:cNvPr id="602" name="Google Shape;602;p17"/>
          <p:cNvSpPr txBox="1"/>
          <p:nvPr/>
        </p:nvSpPr>
        <p:spPr>
          <a:xfrm>
            <a:off x="2851379" y="2766051"/>
            <a:ext cx="28405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/>
          </a:p>
        </p:txBody>
      </p:sp>
      <p:sp>
        <p:nvSpPr>
          <p:cNvPr id="603" name="Google Shape;603;p17"/>
          <p:cNvSpPr txBox="1"/>
          <p:nvPr/>
        </p:nvSpPr>
        <p:spPr>
          <a:xfrm>
            <a:off x="3222429" y="3386030"/>
            <a:ext cx="28405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/>
          </a:p>
        </p:txBody>
      </p:sp>
      <p:sp>
        <p:nvSpPr>
          <p:cNvPr id="604" name="Google Shape;604;p17"/>
          <p:cNvSpPr txBox="1"/>
          <p:nvPr/>
        </p:nvSpPr>
        <p:spPr>
          <a:xfrm>
            <a:off x="190449" y="1456738"/>
            <a:ext cx="30168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8.</a:t>
            </a:r>
            <a:endParaRPr/>
          </a:p>
        </p:txBody>
      </p:sp>
      <p:sp>
        <p:nvSpPr>
          <p:cNvPr id="605" name="Google Shape;605;p17"/>
          <p:cNvSpPr txBox="1"/>
          <p:nvPr/>
        </p:nvSpPr>
        <p:spPr>
          <a:xfrm>
            <a:off x="208191" y="2573357"/>
            <a:ext cx="30168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9.</a:t>
            </a:r>
            <a:endParaRPr/>
          </a:p>
        </p:txBody>
      </p:sp>
      <p:sp>
        <p:nvSpPr>
          <p:cNvPr id="606" name="Google Shape;606;p17"/>
          <p:cNvSpPr txBox="1"/>
          <p:nvPr/>
        </p:nvSpPr>
        <p:spPr>
          <a:xfrm>
            <a:off x="182727" y="3715157"/>
            <a:ext cx="38023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10.</a:t>
            </a:r>
            <a:endParaRPr/>
          </a:p>
        </p:txBody>
      </p:sp>
      <p:sp>
        <p:nvSpPr>
          <p:cNvPr id="607" name="Google Shape;607;p17"/>
          <p:cNvSpPr txBox="1"/>
          <p:nvPr/>
        </p:nvSpPr>
        <p:spPr>
          <a:xfrm>
            <a:off x="433750" y="1483558"/>
            <a:ext cx="2796105" cy="11079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Triangle ABC is isosceles. The length of side AB is 6cm. The perimeter of the triangle is 17cm. What is the length of BC?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17"/>
          <p:cNvSpPr txBox="1"/>
          <p:nvPr/>
        </p:nvSpPr>
        <p:spPr>
          <a:xfrm>
            <a:off x="3216797" y="1455140"/>
            <a:ext cx="3063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grpSp>
        <p:nvGrpSpPr>
          <p:cNvPr id="609" name="Google Shape;609;p17"/>
          <p:cNvGrpSpPr/>
          <p:nvPr/>
        </p:nvGrpSpPr>
        <p:grpSpPr>
          <a:xfrm>
            <a:off x="2843758" y="1725334"/>
            <a:ext cx="1077085" cy="940339"/>
            <a:chOff x="3789689" y="5313820"/>
            <a:chExt cx="1077085" cy="940339"/>
          </a:xfrm>
        </p:grpSpPr>
        <p:sp>
          <p:nvSpPr>
            <p:cNvPr id="610" name="Google Shape;610;p17"/>
            <p:cNvSpPr/>
            <p:nvPr/>
          </p:nvSpPr>
          <p:spPr>
            <a:xfrm>
              <a:off x="4071326" y="5313820"/>
              <a:ext cx="494804" cy="787497"/>
            </a:xfrm>
            <a:prstGeom prst="triangle">
              <a:avLst>
                <a:gd fmla="val 50000" name="adj"/>
              </a:avLst>
            </a:prstGeom>
            <a:noFill/>
            <a:ln cap="flat" cmpd="sng" w="12700">
              <a:solidFill>
                <a:srgbClr val="264159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1" name="Google Shape;611;p17"/>
            <p:cNvSpPr txBox="1"/>
            <p:nvPr/>
          </p:nvSpPr>
          <p:spPr>
            <a:xfrm>
              <a:off x="3789689" y="5884827"/>
              <a:ext cx="30636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/>
            </a:p>
          </p:txBody>
        </p:sp>
        <p:sp>
          <p:nvSpPr>
            <p:cNvPr id="612" name="Google Shape;612;p17"/>
            <p:cNvSpPr txBox="1"/>
            <p:nvPr/>
          </p:nvSpPr>
          <p:spPr>
            <a:xfrm>
              <a:off x="4560414" y="5876945"/>
              <a:ext cx="30636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/>
            </a:p>
          </p:txBody>
        </p:sp>
      </p:grpSp>
      <p:grpSp>
        <p:nvGrpSpPr>
          <p:cNvPr id="613" name="Google Shape;613;p17"/>
          <p:cNvGrpSpPr/>
          <p:nvPr/>
        </p:nvGrpSpPr>
        <p:grpSpPr>
          <a:xfrm rot="-5400000">
            <a:off x="4872451" y="4638859"/>
            <a:ext cx="494804" cy="1261113"/>
            <a:chOff x="1538513" y="900812"/>
            <a:chExt cx="580571" cy="805542"/>
          </a:xfrm>
        </p:grpSpPr>
        <p:sp>
          <p:nvSpPr>
            <p:cNvPr id="614" name="Google Shape;614;p17"/>
            <p:cNvSpPr/>
            <p:nvPr/>
          </p:nvSpPr>
          <p:spPr>
            <a:xfrm>
              <a:off x="1538513" y="900812"/>
              <a:ext cx="580571" cy="805542"/>
            </a:xfrm>
            <a:prstGeom prst="triangle">
              <a:avLst>
                <a:gd fmla="val 50000" name="adj"/>
              </a:avLst>
            </a:prstGeom>
            <a:noFill/>
            <a:ln cap="flat" cmpd="sng" w="12700">
              <a:solidFill>
                <a:srgbClr val="264159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615" name="Google Shape;615;p17"/>
            <p:cNvCxnSpPr/>
            <p:nvPr/>
          </p:nvCxnSpPr>
          <p:spPr>
            <a:xfrm>
              <a:off x="1604654" y="1213064"/>
              <a:ext cx="192456" cy="11982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16" name="Google Shape;616;p17"/>
            <p:cNvCxnSpPr/>
            <p:nvPr/>
          </p:nvCxnSpPr>
          <p:spPr>
            <a:xfrm flipH="1" rot="10800000">
              <a:off x="1840180" y="1241803"/>
              <a:ext cx="266225" cy="10118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617" name="Google Shape;617;p17"/>
          <p:cNvGrpSpPr/>
          <p:nvPr/>
        </p:nvGrpSpPr>
        <p:grpSpPr>
          <a:xfrm rot="5400000">
            <a:off x="5842445" y="4942939"/>
            <a:ext cx="494804" cy="652953"/>
            <a:chOff x="1538513" y="900812"/>
            <a:chExt cx="580571" cy="805542"/>
          </a:xfrm>
        </p:grpSpPr>
        <p:sp>
          <p:nvSpPr>
            <p:cNvPr id="618" name="Google Shape;618;p17"/>
            <p:cNvSpPr/>
            <p:nvPr/>
          </p:nvSpPr>
          <p:spPr>
            <a:xfrm>
              <a:off x="1538513" y="900812"/>
              <a:ext cx="580571" cy="805542"/>
            </a:xfrm>
            <a:prstGeom prst="triangle">
              <a:avLst>
                <a:gd fmla="val 50000" name="adj"/>
              </a:avLst>
            </a:prstGeom>
            <a:noFill/>
            <a:ln cap="flat" cmpd="sng" w="12700">
              <a:solidFill>
                <a:srgbClr val="264159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619" name="Google Shape;619;p17"/>
            <p:cNvCxnSpPr/>
            <p:nvPr/>
          </p:nvCxnSpPr>
          <p:spPr>
            <a:xfrm>
              <a:off x="1604654" y="1213064"/>
              <a:ext cx="192456" cy="11982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20" name="Google Shape;620;p17"/>
            <p:cNvCxnSpPr/>
            <p:nvPr/>
          </p:nvCxnSpPr>
          <p:spPr>
            <a:xfrm flipH="1" rot="10800000">
              <a:off x="1840180" y="1241803"/>
              <a:ext cx="266225" cy="10118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621" name="Google Shape;621;p17"/>
          <p:cNvSpPr txBox="1"/>
          <p:nvPr/>
        </p:nvSpPr>
        <p:spPr>
          <a:xfrm>
            <a:off x="4184755" y="5043406"/>
            <a:ext cx="3063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622" name="Google Shape;622;p17"/>
          <p:cNvSpPr txBox="1"/>
          <p:nvPr/>
        </p:nvSpPr>
        <p:spPr>
          <a:xfrm>
            <a:off x="5591447" y="4733822"/>
            <a:ext cx="3063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sp>
        <p:nvSpPr>
          <p:cNvPr id="623" name="Google Shape;623;p17"/>
          <p:cNvSpPr txBox="1"/>
          <p:nvPr/>
        </p:nvSpPr>
        <p:spPr>
          <a:xfrm>
            <a:off x="6389696" y="5032819"/>
            <a:ext cx="3063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/>
          </a:p>
        </p:txBody>
      </p:sp>
      <p:sp>
        <p:nvSpPr>
          <p:cNvPr id="624" name="Google Shape;624;p17"/>
          <p:cNvSpPr txBox="1"/>
          <p:nvPr/>
        </p:nvSpPr>
        <p:spPr>
          <a:xfrm>
            <a:off x="5597230" y="5470007"/>
            <a:ext cx="3063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/>
          </a:p>
        </p:txBody>
      </p:sp>
      <p:sp>
        <p:nvSpPr>
          <p:cNvPr id="625" name="Google Shape;625;p17"/>
          <p:cNvSpPr txBox="1"/>
          <p:nvPr/>
        </p:nvSpPr>
        <p:spPr>
          <a:xfrm>
            <a:off x="208191" y="4784472"/>
            <a:ext cx="38023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11.</a:t>
            </a:r>
            <a:endParaRPr/>
          </a:p>
        </p:txBody>
      </p:sp>
      <p:sp>
        <p:nvSpPr>
          <p:cNvPr id="626" name="Google Shape;626;p17"/>
          <p:cNvSpPr txBox="1"/>
          <p:nvPr/>
        </p:nvSpPr>
        <p:spPr>
          <a:xfrm>
            <a:off x="500176" y="4795841"/>
            <a:ext cx="2849754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Triangles ABD and BCD are both isosceles.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perimeter of triangle ABD is 19cm and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perimeter of triangle BCD is 13cm. BD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5cm. What is the perimeter of the shape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ABCD?</a:t>
            </a:r>
            <a:endParaRPr/>
          </a:p>
        </p:txBody>
      </p:sp>
      <p:sp>
        <p:nvSpPr>
          <p:cNvPr id="627" name="Google Shape;627;p17"/>
          <p:cNvSpPr/>
          <p:nvPr/>
        </p:nvSpPr>
        <p:spPr>
          <a:xfrm>
            <a:off x="256998" y="1493240"/>
            <a:ext cx="6392578" cy="4537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28" name="Google Shape;628;p17"/>
          <p:cNvCxnSpPr/>
          <p:nvPr/>
        </p:nvCxnSpPr>
        <p:spPr>
          <a:xfrm>
            <a:off x="249249" y="2580719"/>
            <a:ext cx="6408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29" name="Google Shape;629;p17"/>
          <p:cNvCxnSpPr/>
          <p:nvPr/>
        </p:nvCxnSpPr>
        <p:spPr>
          <a:xfrm>
            <a:off x="271198" y="3715157"/>
            <a:ext cx="6372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30" name="Google Shape;630;p17"/>
          <p:cNvCxnSpPr/>
          <p:nvPr/>
        </p:nvCxnSpPr>
        <p:spPr>
          <a:xfrm flipH="1">
            <a:off x="3410253" y="2985328"/>
            <a:ext cx="192456" cy="11982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31" name="Google Shape;631;p17"/>
          <p:cNvCxnSpPr/>
          <p:nvPr/>
        </p:nvCxnSpPr>
        <p:spPr>
          <a:xfrm flipH="1">
            <a:off x="3454473" y="2057613"/>
            <a:ext cx="192456" cy="11982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32" name="Google Shape;632;p17"/>
          <p:cNvCxnSpPr/>
          <p:nvPr/>
        </p:nvCxnSpPr>
        <p:spPr>
          <a:xfrm>
            <a:off x="3120828" y="2064100"/>
            <a:ext cx="192456" cy="11982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33" name="Google Shape;633;p17"/>
          <p:cNvCxnSpPr/>
          <p:nvPr/>
        </p:nvCxnSpPr>
        <p:spPr>
          <a:xfrm>
            <a:off x="271198" y="4801055"/>
            <a:ext cx="6372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34" name="Google Shape;634;p17"/>
          <p:cNvSpPr/>
          <p:nvPr/>
        </p:nvSpPr>
        <p:spPr>
          <a:xfrm>
            <a:off x="244838" y="148388"/>
            <a:ext cx="6392578" cy="133779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17"/>
          <p:cNvSpPr txBox="1"/>
          <p:nvPr/>
        </p:nvSpPr>
        <p:spPr>
          <a:xfrm>
            <a:off x="244838" y="6067746"/>
            <a:ext cx="6417437" cy="338554"/>
          </a:xfrm>
          <a:prstGeom prst="rect">
            <a:avLst/>
          </a:prstGeom>
          <a:solidFill>
            <a:srgbClr val="7E2341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GB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Skills Check</a:t>
            </a:r>
            <a:endParaRPr b="1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17"/>
          <p:cNvSpPr/>
          <p:nvPr/>
        </p:nvSpPr>
        <p:spPr>
          <a:xfrm>
            <a:off x="331226" y="6772148"/>
            <a:ext cx="647700" cy="387827"/>
          </a:xfrm>
          <a:prstGeom prst="triangle">
            <a:avLst>
              <a:gd fmla="val 50000" name="adj"/>
            </a:avLst>
          </a:prstGeom>
          <a:noFill/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17"/>
          <p:cNvSpPr/>
          <p:nvPr/>
        </p:nvSpPr>
        <p:spPr>
          <a:xfrm>
            <a:off x="1217783" y="6806643"/>
            <a:ext cx="512670" cy="387827"/>
          </a:xfrm>
          <a:prstGeom prst="trapezoid">
            <a:avLst>
              <a:gd fmla="val 25000" name="adj"/>
            </a:avLst>
          </a:prstGeom>
          <a:noFill/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38" name="Google Shape;63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81219" y="6647453"/>
            <a:ext cx="605817" cy="567954"/>
          </a:xfrm>
          <a:prstGeom prst="rect">
            <a:avLst/>
          </a:prstGeom>
          <a:noFill/>
          <a:ln>
            <a:noFill/>
          </a:ln>
        </p:spPr>
      </p:pic>
      <p:pic>
        <p:nvPicPr>
          <p:cNvPr id="639" name="Google Shape;639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719139" y="6708461"/>
            <a:ext cx="789636" cy="559923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17"/>
          <p:cNvSpPr txBox="1"/>
          <p:nvPr/>
        </p:nvSpPr>
        <p:spPr>
          <a:xfrm>
            <a:off x="195725" y="6385310"/>
            <a:ext cx="217719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Which is the isosceles shape?</a:t>
            </a:r>
            <a:endParaRPr/>
          </a:p>
        </p:txBody>
      </p:sp>
      <p:sp>
        <p:nvSpPr>
          <p:cNvPr id="641" name="Google Shape;641;p17"/>
          <p:cNvSpPr txBox="1"/>
          <p:nvPr/>
        </p:nvSpPr>
        <p:spPr>
          <a:xfrm>
            <a:off x="3515376" y="6392354"/>
            <a:ext cx="270227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What is the perimeter of the triangle?</a:t>
            </a:r>
            <a:endParaRPr/>
          </a:p>
        </p:txBody>
      </p:sp>
      <p:sp>
        <p:nvSpPr>
          <p:cNvPr id="642" name="Google Shape;642;p17"/>
          <p:cNvSpPr txBox="1"/>
          <p:nvPr/>
        </p:nvSpPr>
        <p:spPr>
          <a:xfrm>
            <a:off x="201661" y="7753850"/>
            <a:ext cx="285475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What is the perimeter of the trapezium?</a:t>
            </a:r>
            <a:endParaRPr/>
          </a:p>
        </p:txBody>
      </p:sp>
      <p:grpSp>
        <p:nvGrpSpPr>
          <p:cNvPr id="643" name="Google Shape;643;p17"/>
          <p:cNvGrpSpPr/>
          <p:nvPr/>
        </p:nvGrpSpPr>
        <p:grpSpPr>
          <a:xfrm>
            <a:off x="3697570" y="6708205"/>
            <a:ext cx="580571" cy="805542"/>
            <a:chOff x="1538513" y="900812"/>
            <a:chExt cx="580571" cy="805542"/>
          </a:xfrm>
        </p:grpSpPr>
        <p:sp>
          <p:nvSpPr>
            <p:cNvPr id="644" name="Google Shape;644;p17"/>
            <p:cNvSpPr/>
            <p:nvPr/>
          </p:nvSpPr>
          <p:spPr>
            <a:xfrm>
              <a:off x="1538513" y="900812"/>
              <a:ext cx="580571" cy="805542"/>
            </a:xfrm>
            <a:prstGeom prst="triangle">
              <a:avLst>
                <a:gd fmla="val 50000" name="adj"/>
              </a:avLst>
            </a:prstGeom>
            <a:noFill/>
            <a:ln cap="flat" cmpd="sng" w="12700">
              <a:solidFill>
                <a:srgbClr val="264159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645" name="Google Shape;645;p17"/>
            <p:cNvCxnSpPr/>
            <p:nvPr/>
          </p:nvCxnSpPr>
          <p:spPr>
            <a:xfrm>
              <a:off x="1604654" y="1213064"/>
              <a:ext cx="192456" cy="11982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646" name="Google Shape;646;p17"/>
          <p:cNvSpPr txBox="1"/>
          <p:nvPr/>
        </p:nvSpPr>
        <p:spPr>
          <a:xfrm>
            <a:off x="3763711" y="7476132"/>
            <a:ext cx="56938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5.5cm</a:t>
            </a:r>
            <a:endParaRPr/>
          </a:p>
        </p:txBody>
      </p:sp>
      <p:sp>
        <p:nvSpPr>
          <p:cNvPr id="647" name="Google Shape;647;p17"/>
          <p:cNvSpPr txBox="1"/>
          <p:nvPr/>
        </p:nvSpPr>
        <p:spPr>
          <a:xfrm>
            <a:off x="4156354" y="6832222"/>
            <a:ext cx="56938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8.5cm</a:t>
            </a:r>
            <a:endParaRPr/>
          </a:p>
        </p:txBody>
      </p:sp>
      <p:sp>
        <p:nvSpPr>
          <p:cNvPr id="648" name="Google Shape;648;p17"/>
          <p:cNvSpPr txBox="1"/>
          <p:nvPr/>
        </p:nvSpPr>
        <p:spPr>
          <a:xfrm>
            <a:off x="438669" y="7228895"/>
            <a:ext cx="31771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649" name="Google Shape;649;p17"/>
          <p:cNvSpPr txBox="1"/>
          <p:nvPr/>
        </p:nvSpPr>
        <p:spPr>
          <a:xfrm>
            <a:off x="2930780" y="7240741"/>
            <a:ext cx="32733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/>
          </a:p>
        </p:txBody>
      </p:sp>
      <p:sp>
        <p:nvSpPr>
          <p:cNvPr id="650" name="Google Shape;650;p17"/>
          <p:cNvSpPr txBox="1"/>
          <p:nvPr/>
        </p:nvSpPr>
        <p:spPr>
          <a:xfrm>
            <a:off x="2205901" y="7247565"/>
            <a:ext cx="30809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/>
          </a:p>
        </p:txBody>
      </p:sp>
      <p:sp>
        <p:nvSpPr>
          <p:cNvPr id="651" name="Google Shape;651;p17"/>
          <p:cNvSpPr txBox="1"/>
          <p:nvPr/>
        </p:nvSpPr>
        <p:spPr>
          <a:xfrm>
            <a:off x="1345502" y="7241871"/>
            <a:ext cx="23594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sp>
        <p:nvSpPr>
          <p:cNvPr id="652" name="Google Shape;652;p17"/>
          <p:cNvSpPr txBox="1"/>
          <p:nvPr/>
        </p:nvSpPr>
        <p:spPr>
          <a:xfrm>
            <a:off x="4960167" y="7062899"/>
            <a:ext cx="82426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 </a:t>
            </a: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22.5cm</a:t>
            </a:r>
            <a:endParaRPr/>
          </a:p>
        </p:txBody>
      </p:sp>
      <p:sp>
        <p:nvSpPr>
          <p:cNvPr id="653" name="Google Shape;653;p17"/>
          <p:cNvSpPr txBox="1"/>
          <p:nvPr/>
        </p:nvSpPr>
        <p:spPr>
          <a:xfrm>
            <a:off x="4966757" y="6662309"/>
            <a:ext cx="71686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14cm</a:t>
            </a:r>
            <a:endParaRPr/>
          </a:p>
        </p:txBody>
      </p:sp>
      <p:sp>
        <p:nvSpPr>
          <p:cNvPr id="654" name="Google Shape;654;p17"/>
          <p:cNvSpPr txBox="1"/>
          <p:nvPr/>
        </p:nvSpPr>
        <p:spPr>
          <a:xfrm>
            <a:off x="5790359" y="6661844"/>
            <a:ext cx="7088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 </a:t>
            </a: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17cm</a:t>
            </a:r>
            <a:endParaRPr/>
          </a:p>
        </p:txBody>
      </p:sp>
      <p:sp>
        <p:nvSpPr>
          <p:cNvPr id="655" name="Google Shape;655;p17"/>
          <p:cNvSpPr txBox="1"/>
          <p:nvPr/>
        </p:nvSpPr>
        <p:spPr>
          <a:xfrm>
            <a:off x="5790359" y="7075142"/>
            <a:ext cx="72231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 </a:t>
            </a: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28cm</a:t>
            </a:r>
            <a:endParaRPr/>
          </a:p>
        </p:txBody>
      </p:sp>
      <p:grpSp>
        <p:nvGrpSpPr>
          <p:cNvPr id="656" name="Google Shape;656;p17"/>
          <p:cNvGrpSpPr/>
          <p:nvPr/>
        </p:nvGrpSpPr>
        <p:grpSpPr>
          <a:xfrm>
            <a:off x="1319699" y="8177022"/>
            <a:ext cx="1105432" cy="691938"/>
            <a:chOff x="1354069" y="2245230"/>
            <a:chExt cx="925828" cy="543414"/>
          </a:xfrm>
        </p:grpSpPr>
        <p:sp>
          <p:nvSpPr>
            <p:cNvPr id="657" name="Google Shape;657;p17"/>
            <p:cNvSpPr/>
            <p:nvPr/>
          </p:nvSpPr>
          <p:spPr>
            <a:xfrm>
              <a:off x="1377701" y="2245230"/>
              <a:ext cx="902196" cy="543414"/>
            </a:xfrm>
            <a:prstGeom prst="trapezoid">
              <a:avLst>
                <a:gd fmla="val 25000" name="adj"/>
              </a:avLst>
            </a:prstGeom>
            <a:noFill/>
            <a:ln cap="flat" cmpd="sng" w="12700">
              <a:solidFill>
                <a:srgbClr val="264159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658" name="Google Shape;658;p17"/>
            <p:cNvCxnSpPr/>
            <p:nvPr/>
          </p:nvCxnSpPr>
          <p:spPr>
            <a:xfrm>
              <a:off x="1354069" y="2442657"/>
              <a:ext cx="192456" cy="11982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659" name="Google Shape;659;p17"/>
          <p:cNvSpPr txBox="1"/>
          <p:nvPr/>
        </p:nvSpPr>
        <p:spPr>
          <a:xfrm>
            <a:off x="1604461" y="7942107"/>
            <a:ext cx="51007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9mm</a:t>
            </a:r>
            <a:endParaRPr/>
          </a:p>
        </p:txBody>
      </p:sp>
      <p:sp>
        <p:nvSpPr>
          <p:cNvPr id="660" name="Google Shape;660;p17"/>
          <p:cNvSpPr txBox="1"/>
          <p:nvPr/>
        </p:nvSpPr>
        <p:spPr>
          <a:xfrm>
            <a:off x="738257" y="8308443"/>
            <a:ext cx="58862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10mm</a:t>
            </a:r>
            <a:endParaRPr/>
          </a:p>
        </p:txBody>
      </p:sp>
      <p:sp>
        <p:nvSpPr>
          <p:cNvPr id="661" name="Google Shape;661;p17"/>
          <p:cNvSpPr txBox="1"/>
          <p:nvPr/>
        </p:nvSpPr>
        <p:spPr>
          <a:xfrm>
            <a:off x="1608014" y="8866840"/>
            <a:ext cx="58862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15mm</a:t>
            </a:r>
            <a:endParaRPr/>
          </a:p>
        </p:txBody>
      </p:sp>
      <p:sp>
        <p:nvSpPr>
          <p:cNvPr id="662" name="Google Shape;662;p17"/>
          <p:cNvSpPr txBox="1"/>
          <p:nvPr/>
        </p:nvSpPr>
        <p:spPr>
          <a:xfrm>
            <a:off x="268894" y="9094343"/>
            <a:ext cx="77457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44mm</a:t>
            </a:r>
            <a:endParaRPr/>
          </a:p>
        </p:txBody>
      </p:sp>
      <p:sp>
        <p:nvSpPr>
          <p:cNvPr id="663" name="Google Shape;663;p17"/>
          <p:cNvSpPr txBox="1"/>
          <p:nvPr/>
        </p:nvSpPr>
        <p:spPr>
          <a:xfrm>
            <a:off x="1006579" y="9112511"/>
            <a:ext cx="88357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 </a:t>
            </a: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35.9mm</a:t>
            </a:r>
            <a:endParaRPr/>
          </a:p>
        </p:txBody>
      </p:sp>
      <p:sp>
        <p:nvSpPr>
          <p:cNvPr id="664" name="Google Shape;664;p17"/>
          <p:cNvSpPr txBox="1"/>
          <p:nvPr/>
        </p:nvSpPr>
        <p:spPr>
          <a:xfrm>
            <a:off x="1901305" y="9108968"/>
            <a:ext cx="76495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 </a:t>
            </a: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34mm</a:t>
            </a:r>
            <a:endParaRPr/>
          </a:p>
        </p:txBody>
      </p:sp>
      <p:sp>
        <p:nvSpPr>
          <p:cNvPr id="665" name="Google Shape;665;p17"/>
          <p:cNvSpPr txBox="1"/>
          <p:nvPr/>
        </p:nvSpPr>
        <p:spPr>
          <a:xfrm>
            <a:off x="2707952" y="9114906"/>
            <a:ext cx="90120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 </a:t>
            </a: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25.9mm</a:t>
            </a:r>
            <a:endParaRPr/>
          </a:p>
        </p:txBody>
      </p:sp>
      <p:sp>
        <p:nvSpPr>
          <p:cNvPr id="666" name="Google Shape;666;p17"/>
          <p:cNvSpPr/>
          <p:nvPr/>
        </p:nvSpPr>
        <p:spPr>
          <a:xfrm>
            <a:off x="240760" y="6406644"/>
            <a:ext cx="6417437" cy="3219110"/>
          </a:xfrm>
          <a:prstGeom prst="rect">
            <a:avLst/>
          </a:prstGeom>
          <a:noFill/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67" name="Google Shape;667;p17"/>
          <p:cNvCxnSpPr/>
          <p:nvPr/>
        </p:nvCxnSpPr>
        <p:spPr>
          <a:xfrm rot="10800000">
            <a:off x="256998" y="7741707"/>
            <a:ext cx="6426898" cy="11424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68" name="Google Shape;668;p17"/>
          <p:cNvCxnSpPr/>
          <p:nvPr/>
        </p:nvCxnSpPr>
        <p:spPr>
          <a:xfrm>
            <a:off x="3508124" y="6393860"/>
            <a:ext cx="15033" cy="3231894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69" name="Google Shape;669;p17"/>
          <p:cNvCxnSpPr/>
          <p:nvPr/>
        </p:nvCxnSpPr>
        <p:spPr>
          <a:xfrm flipH="1">
            <a:off x="4040806" y="7020453"/>
            <a:ext cx="192456" cy="11982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70" name="Google Shape;670;p17"/>
          <p:cNvCxnSpPr/>
          <p:nvPr/>
        </p:nvCxnSpPr>
        <p:spPr>
          <a:xfrm flipH="1">
            <a:off x="2221103" y="8412896"/>
            <a:ext cx="229791" cy="15257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71" name="Google Shape;671;p17"/>
          <p:cNvCxnSpPr/>
          <p:nvPr/>
        </p:nvCxnSpPr>
        <p:spPr>
          <a:xfrm flipH="1">
            <a:off x="729247" y="6905944"/>
            <a:ext cx="192456" cy="11982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72" name="Google Shape;672;p17"/>
          <p:cNvCxnSpPr/>
          <p:nvPr/>
        </p:nvCxnSpPr>
        <p:spPr>
          <a:xfrm>
            <a:off x="395602" y="6912431"/>
            <a:ext cx="192456" cy="11982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73" name="Google Shape;673;p17"/>
          <p:cNvCxnSpPr/>
          <p:nvPr/>
        </p:nvCxnSpPr>
        <p:spPr>
          <a:xfrm flipH="1">
            <a:off x="1532811" y="6919794"/>
            <a:ext cx="192456" cy="11982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74" name="Google Shape;674;p17"/>
          <p:cNvCxnSpPr/>
          <p:nvPr/>
        </p:nvCxnSpPr>
        <p:spPr>
          <a:xfrm>
            <a:off x="1199166" y="6926281"/>
            <a:ext cx="192456" cy="11982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75" name="Google Shape;675;p17"/>
          <p:cNvCxnSpPr/>
          <p:nvPr/>
        </p:nvCxnSpPr>
        <p:spPr>
          <a:xfrm flipH="1">
            <a:off x="656761" y="7033974"/>
            <a:ext cx="7325" cy="22661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76" name="Google Shape;676;p17"/>
          <p:cNvSpPr/>
          <p:nvPr/>
        </p:nvSpPr>
        <p:spPr>
          <a:xfrm>
            <a:off x="4774929" y="8221554"/>
            <a:ext cx="580571" cy="805542"/>
          </a:xfrm>
          <a:prstGeom prst="triangle">
            <a:avLst>
              <a:gd fmla="val 50000" name="adj"/>
            </a:avLst>
          </a:prstGeom>
          <a:noFill/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17"/>
          <p:cNvSpPr txBox="1"/>
          <p:nvPr/>
        </p:nvSpPr>
        <p:spPr>
          <a:xfrm>
            <a:off x="4814122" y="9018390"/>
            <a:ext cx="45236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8cm</a:t>
            </a:r>
            <a:endParaRPr/>
          </a:p>
        </p:txBody>
      </p:sp>
      <p:sp>
        <p:nvSpPr>
          <p:cNvPr id="678" name="Google Shape;678;p17"/>
          <p:cNvSpPr txBox="1"/>
          <p:nvPr/>
        </p:nvSpPr>
        <p:spPr>
          <a:xfrm>
            <a:off x="5308811" y="8412267"/>
            <a:ext cx="25199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/>
          </a:p>
        </p:txBody>
      </p:sp>
      <p:sp>
        <p:nvSpPr>
          <p:cNvPr id="679" name="Google Shape;679;p17"/>
          <p:cNvSpPr txBox="1"/>
          <p:nvPr/>
        </p:nvSpPr>
        <p:spPr>
          <a:xfrm>
            <a:off x="5949609" y="9161877"/>
            <a:ext cx="72648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 </a:t>
            </a: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68cm</a:t>
            </a:r>
            <a:endParaRPr/>
          </a:p>
        </p:txBody>
      </p:sp>
      <p:sp>
        <p:nvSpPr>
          <p:cNvPr id="680" name="Google Shape;680;p17"/>
          <p:cNvSpPr txBox="1"/>
          <p:nvPr/>
        </p:nvSpPr>
        <p:spPr>
          <a:xfrm>
            <a:off x="5180688" y="9160156"/>
            <a:ext cx="70724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 </a:t>
            </a: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38cm</a:t>
            </a:r>
            <a:endParaRPr/>
          </a:p>
        </p:txBody>
      </p:sp>
      <p:sp>
        <p:nvSpPr>
          <p:cNvPr id="681" name="Google Shape;681;p17"/>
          <p:cNvSpPr txBox="1"/>
          <p:nvPr/>
        </p:nvSpPr>
        <p:spPr>
          <a:xfrm>
            <a:off x="4363483" y="9142201"/>
            <a:ext cx="7088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 </a:t>
            </a: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11cm</a:t>
            </a:r>
            <a:endParaRPr/>
          </a:p>
        </p:txBody>
      </p:sp>
      <p:sp>
        <p:nvSpPr>
          <p:cNvPr id="682" name="Google Shape;682;p17"/>
          <p:cNvSpPr txBox="1"/>
          <p:nvPr/>
        </p:nvSpPr>
        <p:spPr>
          <a:xfrm>
            <a:off x="3516399" y="9136240"/>
            <a:ext cx="71686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22cm</a:t>
            </a:r>
            <a:endParaRPr/>
          </a:p>
        </p:txBody>
      </p:sp>
      <p:cxnSp>
        <p:nvCxnSpPr>
          <p:cNvPr id="683" name="Google Shape;683;p17"/>
          <p:cNvCxnSpPr/>
          <p:nvPr/>
        </p:nvCxnSpPr>
        <p:spPr>
          <a:xfrm flipH="1">
            <a:off x="5146966" y="8559382"/>
            <a:ext cx="192456" cy="11982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84" name="Google Shape;684;p17"/>
          <p:cNvCxnSpPr/>
          <p:nvPr/>
        </p:nvCxnSpPr>
        <p:spPr>
          <a:xfrm>
            <a:off x="4813321" y="8565869"/>
            <a:ext cx="192456" cy="11982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85" name="Google Shape;685;p17"/>
          <p:cNvSpPr txBox="1"/>
          <p:nvPr/>
        </p:nvSpPr>
        <p:spPr>
          <a:xfrm>
            <a:off x="3506481" y="7734481"/>
            <a:ext cx="270048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 The perimeter of the triangle is 30cm.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is the missing length x?</a:t>
            </a:r>
            <a:endParaRPr/>
          </a:p>
        </p:txBody>
      </p:sp>
      <p:sp>
        <p:nvSpPr>
          <p:cNvPr id="686" name="Google Shape;686;p17"/>
          <p:cNvSpPr txBox="1"/>
          <p:nvPr/>
        </p:nvSpPr>
        <p:spPr>
          <a:xfrm>
            <a:off x="4178627" y="1141050"/>
            <a:ext cx="256915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28 + 28 + 17 + 17 = 90cm</a:t>
            </a:r>
            <a:endParaRPr/>
          </a:p>
        </p:txBody>
      </p:sp>
      <p:sp>
        <p:nvSpPr>
          <p:cNvPr id="687" name="Google Shape;687;p17"/>
          <p:cNvSpPr txBox="1"/>
          <p:nvPr/>
        </p:nvSpPr>
        <p:spPr>
          <a:xfrm>
            <a:off x="5172309" y="1904695"/>
            <a:ext cx="76338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5cm</a:t>
            </a:r>
            <a:endParaRPr/>
          </a:p>
        </p:txBody>
      </p:sp>
      <p:sp>
        <p:nvSpPr>
          <p:cNvPr id="688" name="Google Shape;688;p17"/>
          <p:cNvSpPr txBox="1"/>
          <p:nvPr/>
        </p:nvSpPr>
        <p:spPr>
          <a:xfrm>
            <a:off x="5172309" y="5678652"/>
            <a:ext cx="76338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22cm</a:t>
            </a:r>
            <a:endParaRPr/>
          </a:p>
        </p:txBody>
      </p:sp>
      <p:sp>
        <p:nvSpPr>
          <p:cNvPr id="689" name="Google Shape;689;p17"/>
          <p:cNvSpPr txBox="1"/>
          <p:nvPr/>
        </p:nvSpPr>
        <p:spPr>
          <a:xfrm>
            <a:off x="5290617" y="4383444"/>
            <a:ext cx="76338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7cm</a:t>
            </a:r>
            <a:endParaRPr/>
          </a:p>
        </p:txBody>
      </p:sp>
      <p:sp>
        <p:nvSpPr>
          <p:cNvPr id="690" name="Google Shape;690;p17"/>
          <p:cNvSpPr txBox="1"/>
          <p:nvPr/>
        </p:nvSpPr>
        <p:spPr>
          <a:xfrm>
            <a:off x="4305092" y="2651783"/>
            <a:ext cx="1899935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x = 5cm, y = 4cm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x = 3.5cm, y = 7cm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2x + y = 14</a:t>
            </a:r>
            <a:endParaRPr/>
          </a:p>
        </p:txBody>
      </p:sp>
      <p:sp>
        <p:nvSpPr>
          <p:cNvPr id="691" name="Google Shape;691;p17"/>
          <p:cNvSpPr/>
          <p:nvPr/>
        </p:nvSpPr>
        <p:spPr>
          <a:xfrm>
            <a:off x="1264542" y="7243639"/>
            <a:ext cx="430699" cy="369332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17"/>
          <p:cNvSpPr/>
          <p:nvPr/>
        </p:nvSpPr>
        <p:spPr>
          <a:xfrm>
            <a:off x="236315" y="9112821"/>
            <a:ext cx="666827" cy="345224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17"/>
          <p:cNvSpPr/>
          <p:nvPr/>
        </p:nvSpPr>
        <p:spPr>
          <a:xfrm>
            <a:off x="4433943" y="9155461"/>
            <a:ext cx="568805" cy="394077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17"/>
          <p:cNvSpPr/>
          <p:nvPr/>
        </p:nvSpPr>
        <p:spPr>
          <a:xfrm>
            <a:off x="4975808" y="7116937"/>
            <a:ext cx="666827" cy="345224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