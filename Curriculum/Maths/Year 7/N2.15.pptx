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01E93B-9AB9-4873-88AB-CCC41B1FCB21}">
  <a:tblStyle styleId="{6801E93B-9AB9-4873-88AB-CCC41B1FCB2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8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9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1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9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1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9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1961835" y="481945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754118" y="730412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5314950" y="947715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86108" y="328228"/>
            <a:ext cx="6679742" cy="105238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N2.15 – Solve Problems with Frequency Trees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94125" y="590721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04971" y="769393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Populate partially completed tree diagrams.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tree diagrams from given information.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 frequency tree to answer questions.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468870" y="357586"/>
            <a:ext cx="4094454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understand and use frequency trees.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5670209" y="356530"/>
            <a:ext cx="1008161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Difference</a:t>
            </a:r>
            <a:endParaRPr/>
          </a:p>
        </p:txBody>
      </p:sp>
      <p:cxnSp>
        <p:nvCxnSpPr>
          <p:cNvPr id="98" name="Google Shape;98;p13"/>
          <p:cNvCxnSpPr/>
          <p:nvPr/>
        </p:nvCxnSpPr>
        <p:spPr>
          <a:xfrm flipH="1" rot="10800000">
            <a:off x="937919" y="4404336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13"/>
          <p:cNvSpPr/>
          <p:nvPr/>
        </p:nvSpPr>
        <p:spPr>
          <a:xfrm>
            <a:off x="83239" y="2473741"/>
            <a:ext cx="6679742" cy="21123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3"/>
          <p:cNvCxnSpPr/>
          <p:nvPr/>
        </p:nvCxnSpPr>
        <p:spPr>
          <a:xfrm>
            <a:off x="73499" y="3368103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" name="Google Shape;101;p13"/>
          <p:cNvCxnSpPr>
            <a:stCxn id="99" idx="2"/>
            <a:endCxn id="99" idx="0"/>
          </p:cNvCxnSpPr>
          <p:nvPr/>
        </p:nvCxnSpPr>
        <p:spPr>
          <a:xfrm rot="10800000">
            <a:off x="3423110" y="2473744"/>
            <a:ext cx="0" cy="211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13"/>
          <p:cNvSpPr txBox="1"/>
          <p:nvPr/>
        </p:nvSpPr>
        <p:spPr>
          <a:xfrm>
            <a:off x="80466" y="2467790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5708255" y="2461198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63760" y="3349390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5614784" y="3331594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80466" y="2652344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diagram which shows the number of times something occurs in given categories.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3462751" y="2616090"/>
            <a:ext cx="32303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Contains branches and circles, where all of the subcategories emanating from a particular circle must sum to the shown value. 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2650413" y="3259694"/>
            <a:ext cx="162467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 Tree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4721072" y="482959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80466" y="4635902"/>
            <a:ext cx="30952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Populating missing values in frequency trees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1" name="Google Shape;111;p13"/>
          <p:cNvGraphicFramePr/>
          <p:nvPr/>
        </p:nvGraphicFramePr>
        <p:xfrm>
          <a:off x="94124" y="50557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{6801E93B-9AB9-4873-88AB-CCC41B1FCB21}</a:tableStyleId>
              </a:tblPr>
              <a:tblGrid>
                <a:gridCol w="1173425"/>
                <a:gridCol w="2747700"/>
                <a:gridCol w="2747700"/>
              </a:tblGrid>
              <a:tr h="25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Complete the following frequency tree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Complete the following frequency tree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9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Use the rules of addition and subtraction to calculate the missing values.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" name="Google Shape;112;p13"/>
          <p:cNvGraphicFramePr/>
          <p:nvPr/>
        </p:nvGraphicFramePr>
        <p:xfrm>
          <a:off x="94124" y="7549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{6801E93B-9AB9-4873-88AB-CCC41B1FCB21}</a:tableStyleId>
              </a:tblPr>
              <a:tblGrid>
                <a:gridCol w="1143175"/>
                <a:gridCol w="2772000"/>
              </a:tblGrid>
              <a:tr h="25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Complete the following frequency tree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9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Use the rules of addition and subtraction to calculate the missing values.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13" name="Google Shape;11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9407" y="5384500"/>
            <a:ext cx="2409722" cy="1856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372" y="5382110"/>
            <a:ext cx="2409722" cy="1856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3971" y="7902342"/>
            <a:ext cx="2409722" cy="1856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equency Trees - GCSE Maths - Steps, Examples &amp; Worksheet" id="116" name="Google Shape;11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047" y="3452458"/>
            <a:ext cx="1489022" cy="1073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w to Create a Two Way Table in R (With Examples)" id="117" name="Google Shape;11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6037" y="3693873"/>
            <a:ext cx="1541615" cy="534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bability Tree Diagrams" id="118" name="Google Shape;118;p13"/>
          <p:cNvPicPr preferRelativeResize="0"/>
          <p:nvPr/>
        </p:nvPicPr>
        <p:blipFill rotWithShape="1">
          <a:blip r:embed="rId6">
            <a:alphaModFix/>
          </a:blip>
          <a:srcRect b="0" l="0" r="25205" t="0"/>
          <a:stretch/>
        </p:blipFill>
        <p:spPr>
          <a:xfrm>
            <a:off x="5305969" y="3549551"/>
            <a:ext cx="1324976" cy="90829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/>
          <p:nvPr/>
        </p:nvSpPr>
        <p:spPr>
          <a:xfrm>
            <a:off x="1748657" y="5762831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Y7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1741063" y="6627640"/>
            <a:ext cx="4196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Y8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2606247" y="5320804"/>
            <a:ext cx="9735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glasses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2512696" y="5939838"/>
            <a:ext cx="1067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glasses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2645258" y="6406919"/>
            <a:ext cx="9735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glasses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2551707" y="7025953"/>
            <a:ext cx="1067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glasses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1263830" y="617000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2079204" y="564201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3272145" y="591719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3264500" y="642956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4369747" y="5762339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Blue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4271392" y="6619773"/>
            <a:ext cx="5830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Green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5300004" y="5312937"/>
            <a:ext cx="9735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Circle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5206453" y="5931971"/>
            <a:ext cx="1067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Triangle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5339015" y="6399052"/>
            <a:ext cx="9735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Circle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5245464" y="7018086"/>
            <a:ext cx="1067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Triangle</a:t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4743576" y="6708302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210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4772961" y="563414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5943711" y="535854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5958257" y="644368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115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1568368" y="8268197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Y10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1560774" y="9133006"/>
            <a:ext cx="4196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Y11</a:t>
            </a:r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2425958" y="7826170"/>
            <a:ext cx="9735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</p:txBody>
      </p:sp>
      <p:sp>
        <p:nvSpPr>
          <p:cNvPr id="142" name="Google Shape;142;p13"/>
          <p:cNvSpPr txBox="1"/>
          <p:nvPr/>
        </p:nvSpPr>
        <p:spPr>
          <a:xfrm>
            <a:off x="2332407" y="8445204"/>
            <a:ext cx="1067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Geography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2464969" y="8912285"/>
            <a:ext cx="9735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2371418" y="9531319"/>
            <a:ext cx="1067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Geography</a:t>
            </a:r>
            <a:endParaRPr/>
          </a:p>
        </p:txBody>
      </p:sp>
      <p:sp>
        <p:nvSpPr>
          <p:cNvPr id="145" name="Google Shape;145;p13"/>
          <p:cNvSpPr txBox="1"/>
          <p:nvPr/>
        </p:nvSpPr>
        <p:spPr>
          <a:xfrm>
            <a:off x="1123477" y="867536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320</a:t>
            </a:r>
            <a:endParaRPr/>
          </a:p>
        </p:txBody>
      </p:sp>
      <p:sp>
        <p:nvSpPr>
          <p:cNvPr id="146" name="Google Shape;146;p13"/>
          <p:cNvSpPr txBox="1"/>
          <p:nvPr/>
        </p:nvSpPr>
        <p:spPr>
          <a:xfrm>
            <a:off x="1898915" y="814737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165</a:t>
            </a:r>
            <a:endParaRPr/>
          </a:p>
        </p:txBody>
      </p:sp>
      <p:sp>
        <p:nvSpPr>
          <p:cNvPr id="147" name="Google Shape;147;p13"/>
          <p:cNvSpPr txBox="1"/>
          <p:nvPr/>
        </p:nvSpPr>
        <p:spPr>
          <a:xfrm>
            <a:off x="3091856" y="8422562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/>
          </a:p>
        </p:txBody>
      </p:sp>
      <p:sp>
        <p:nvSpPr>
          <p:cNvPr id="148" name="Google Shape;148;p13"/>
          <p:cNvSpPr txBox="1"/>
          <p:nvPr/>
        </p:nvSpPr>
        <p:spPr>
          <a:xfrm>
            <a:off x="3112206" y="949273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/>
          </a:p>
        </p:txBody>
      </p:sp>
      <p:sp>
        <p:nvSpPr>
          <p:cNvPr id="149" name="Google Shape;149;p13"/>
          <p:cNvSpPr txBox="1"/>
          <p:nvPr/>
        </p:nvSpPr>
        <p:spPr>
          <a:xfrm>
            <a:off x="2079203" y="669782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/>
          </a:p>
        </p:txBody>
      </p:sp>
      <p:sp>
        <p:nvSpPr>
          <p:cNvPr id="150" name="Google Shape;150;p13"/>
          <p:cNvSpPr txBox="1"/>
          <p:nvPr/>
        </p:nvSpPr>
        <p:spPr>
          <a:xfrm>
            <a:off x="3272145" y="538211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151" name="Google Shape;151;p13"/>
          <p:cNvSpPr txBox="1"/>
          <p:nvPr/>
        </p:nvSpPr>
        <p:spPr>
          <a:xfrm>
            <a:off x="3272145" y="696800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152" name="Google Shape;152;p13"/>
          <p:cNvSpPr txBox="1"/>
          <p:nvPr/>
        </p:nvSpPr>
        <p:spPr>
          <a:xfrm>
            <a:off x="3938490" y="6171692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266</a:t>
            </a:r>
            <a:endParaRPr/>
          </a:p>
        </p:txBody>
      </p:sp>
      <p:sp>
        <p:nvSpPr>
          <p:cNvPr id="153" name="Google Shape;153;p13"/>
          <p:cNvSpPr txBox="1"/>
          <p:nvPr/>
        </p:nvSpPr>
        <p:spPr>
          <a:xfrm>
            <a:off x="5958257" y="591356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5958257" y="697645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95</a:t>
            </a:r>
            <a:endParaRPr/>
          </a:p>
        </p:txBody>
      </p:sp>
      <p:sp>
        <p:nvSpPr>
          <p:cNvPr id="155" name="Google Shape;155;p13"/>
          <p:cNvSpPr txBox="1"/>
          <p:nvPr/>
        </p:nvSpPr>
        <p:spPr>
          <a:xfrm>
            <a:off x="1904758" y="922014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155</a:t>
            </a:r>
            <a:endParaRPr/>
          </a:p>
        </p:txBody>
      </p:sp>
      <p:sp>
        <p:nvSpPr>
          <p:cNvPr id="156" name="Google Shape;156;p13"/>
          <p:cNvSpPr txBox="1"/>
          <p:nvPr/>
        </p:nvSpPr>
        <p:spPr>
          <a:xfrm>
            <a:off x="3103854" y="8957352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157" name="Google Shape;157;p13"/>
          <p:cNvSpPr txBox="1"/>
          <p:nvPr/>
        </p:nvSpPr>
        <p:spPr>
          <a:xfrm>
            <a:off x="3091941" y="789111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77</a:t>
            </a: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83238" y="1434854"/>
            <a:ext cx="6679742" cy="99626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this topic, you will work with frequency tables, which are a way of organising information to show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often something happens. Reading and interpreting these tables is an application of basic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addition and subtraction, as you will often need to total frequencies, compare amounts, or find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differences. This helps you make sense of data in a clear and structured way.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>
            <p:ph idx="12" type="sldNum"/>
          </p:nvPr>
        </p:nvSpPr>
        <p:spPr>
          <a:xfrm>
            <a:off x="5223636" y="941234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4" name="Google Shape;164;p14"/>
          <p:cNvSpPr/>
          <p:nvPr/>
        </p:nvSpPr>
        <p:spPr>
          <a:xfrm>
            <a:off x="158509" y="118187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1296463" y="238776"/>
            <a:ext cx="32303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Complete the following frequency trees.</a:t>
            </a:r>
            <a:endParaRPr/>
          </a:p>
        </p:txBody>
      </p:sp>
      <p:pic>
        <p:nvPicPr>
          <p:cNvPr descr="Frequency Trees Worksheets | Questions and Revision | MME" id="166" name="Google Shape;1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819" y="829062"/>
            <a:ext cx="2981767" cy="229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/>
          <p:nvPr/>
        </p:nvSpPr>
        <p:spPr>
          <a:xfrm>
            <a:off x="158509" y="614000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/>
          </a:p>
        </p:txBody>
      </p:sp>
      <p:sp>
        <p:nvSpPr>
          <p:cNvPr id="168" name="Google Shape;168;p14"/>
          <p:cNvSpPr txBox="1"/>
          <p:nvPr/>
        </p:nvSpPr>
        <p:spPr>
          <a:xfrm>
            <a:off x="623175" y="1362450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ham</a:t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502766" y="235305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cheese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176856" y="182099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1733225" y="787387"/>
            <a:ext cx="9735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white bread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1733225" y="2107616"/>
            <a:ext cx="9735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white bread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1686449" y="1584587"/>
            <a:ext cx="1067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brown bread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1682058" y="2892885"/>
            <a:ext cx="1067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brown bread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1171825" y="116185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2658953" y="860202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2650895" y="216850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pic>
        <p:nvPicPr>
          <p:cNvPr descr="Frequency Trees Worksheets | Questions and Revision | MME" id="178" name="Google Shape;17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8851" y="829062"/>
            <a:ext cx="2984814" cy="229914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4"/>
          <p:cNvSpPr txBox="1"/>
          <p:nvPr/>
        </p:nvSpPr>
        <p:spPr>
          <a:xfrm>
            <a:off x="3536542" y="614000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4001208" y="1362450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tuna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3825451" y="2353050"/>
            <a:ext cx="6859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chicken</a:t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3554889" y="182099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250</a:t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5111258" y="787387"/>
            <a:ext cx="9735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white bread</a:t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5111258" y="2107616"/>
            <a:ext cx="9735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white bread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5064482" y="1584587"/>
            <a:ext cx="1067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brown bread</a:t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5060091" y="2892885"/>
            <a:ext cx="1067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brown bread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4549858" y="116185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6036986" y="860202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6028928" y="216850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/>
          </a:p>
        </p:txBody>
      </p:sp>
      <p:pic>
        <p:nvPicPr>
          <p:cNvPr descr="Frequency Trees Worksheets | Questions and Revision | MME" id="190" name="Google Shape;1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818" y="3774117"/>
            <a:ext cx="2984814" cy="229914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4"/>
          <p:cNvSpPr txBox="1"/>
          <p:nvPr/>
        </p:nvSpPr>
        <p:spPr>
          <a:xfrm>
            <a:off x="158509" y="3559055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380145" y="4307505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Saturday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476218" y="528115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Sunday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1165876" y="544211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134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1874657" y="3763582"/>
            <a:ext cx="5685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Gym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1763024" y="4529642"/>
            <a:ext cx="8672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Swimming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1171825" y="410691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2658953" y="380525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61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2650895" y="511355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pic>
        <p:nvPicPr>
          <p:cNvPr descr="Frequency Trees Worksheets | Questions and Revision | MME" id="200" name="Google Shape;2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8851" y="3774117"/>
            <a:ext cx="2984814" cy="229914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4"/>
          <p:cNvSpPr txBox="1"/>
          <p:nvPr/>
        </p:nvSpPr>
        <p:spPr>
          <a:xfrm>
            <a:off x="3536542" y="3559055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/>
          </a:p>
        </p:txBody>
      </p:sp>
      <p:sp>
        <p:nvSpPr>
          <p:cNvPr id="202" name="Google Shape;202;p14"/>
          <p:cNvSpPr txBox="1"/>
          <p:nvPr/>
        </p:nvSpPr>
        <p:spPr>
          <a:xfrm>
            <a:off x="3899194" y="4307505"/>
            <a:ext cx="5762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Snow</a:t>
            </a:r>
            <a:endParaRPr/>
          </a:p>
        </p:txBody>
      </p:sp>
      <p:sp>
        <p:nvSpPr>
          <p:cNvPr id="203" name="Google Shape;203;p14"/>
          <p:cNvSpPr txBox="1"/>
          <p:nvPr/>
        </p:nvSpPr>
        <p:spPr>
          <a:xfrm>
            <a:off x="3727367" y="5298105"/>
            <a:ext cx="7840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Snow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4549858" y="544211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180</a:t>
            </a:r>
            <a:endParaRPr/>
          </a:p>
        </p:txBody>
      </p:sp>
      <p:sp>
        <p:nvSpPr>
          <p:cNvPr id="205" name="Google Shape;205;p14"/>
          <p:cNvSpPr txBox="1"/>
          <p:nvPr/>
        </p:nvSpPr>
        <p:spPr>
          <a:xfrm>
            <a:off x="5315846" y="3732442"/>
            <a:ext cx="7689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</a:t>
            </a:r>
            <a:endParaRPr/>
          </a:p>
        </p:txBody>
      </p:sp>
      <p:sp>
        <p:nvSpPr>
          <p:cNvPr id="206" name="Google Shape;206;p14"/>
          <p:cNvSpPr txBox="1"/>
          <p:nvPr/>
        </p:nvSpPr>
        <p:spPr>
          <a:xfrm>
            <a:off x="5197209" y="4537641"/>
            <a:ext cx="81576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Time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4549858" y="410691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208" name="Google Shape;208;p14"/>
          <p:cNvSpPr txBox="1"/>
          <p:nvPr/>
        </p:nvSpPr>
        <p:spPr>
          <a:xfrm>
            <a:off x="6036986" y="380525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6028928" y="511355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1881866" y="5066294"/>
            <a:ext cx="5685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Gym</a:t>
            </a:r>
            <a:endParaRPr/>
          </a:p>
        </p:txBody>
      </p:sp>
      <p:sp>
        <p:nvSpPr>
          <p:cNvPr id="211" name="Google Shape;211;p14"/>
          <p:cNvSpPr txBox="1"/>
          <p:nvPr/>
        </p:nvSpPr>
        <p:spPr>
          <a:xfrm>
            <a:off x="1770233" y="5832354"/>
            <a:ext cx="8672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Swimming</a:t>
            </a:r>
            <a:endParaRPr/>
          </a:p>
        </p:txBody>
      </p:sp>
      <p:sp>
        <p:nvSpPr>
          <p:cNvPr id="212" name="Google Shape;212;p14"/>
          <p:cNvSpPr txBox="1"/>
          <p:nvPr/>
        </p:nvSpPr>
        <p:spPr>
          <a:xfrm>
            <a:off x="5342273" y="5050944"/>
            <a:ext cx="7689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</a:t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5223636" y="5856143"/>
            <a:ext cx="81576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Time</a:t>
            </a:r>
            <a:endParaRPr/>
          </a:p>
        </p:txBody>
      </p:sp>
      <p:pic>
        <p:nvPicPr>
          <p:cNvPr descr="Frequency Trees Worksheets | Questions and Revision | MME" id="214" name="Google Shape;2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818" y="6739449"/>
            <a:ext cx="2984814" cy="229914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4"/>
          <p:cNvSpPr txBox="1"/>
          <p:nvPr/>
        </p:nvSpPr>
        <p:spPr>
          <a:xfrm>
            <a:off x="158509" y="6524387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380145" y="7272837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Y10</a:t>
            </a:r>
            <a:endParaRPr/>
          </a:p>
        </p:txBody>
      </p:sp>
      <p:sp>
        <p:nvSpPr>
          <p:cNvPr id="217" name="Google Shape;217;p14"/>
          <p:cNvSpPr txBox="1"/>
          <p:nvPr/>
        </p:nvSpPr>
        <p:spPr>
          <a:xfrm>
            <a:off x="476218" y="824648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Y11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1590030" y="6688712"/>
            <a:ext cx="11762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Did homework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1639233" y="7521038"/>
            <a:ext cx="11396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homework</a:t>
            </a:r>
            <a:endParaRPr/>
          </a:p>
        </p:txBody>
      </p:sp>
      <p:sp>
        <p:nvSpPr>
          <p:cNvPr id="220" name="Google Shape;220;p14"/>
          <p:cNvSpPr txBox="1"/>
          <p:nvPr/>
        </p:nvSpPr>
        <p:spPr>
          <a:xfrm>
            <a:off x="2658953" y="677058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2650895" y="807888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pic>
        <p:nvPicPr>
          <p:cNvPr descr="Frequency Trees Worksheets | Questions and Revision | MME" id="222" name="Google Shape;2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8851" y="6739449"/>
            <a:ext cx="2984814" cy="229914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4"/>
          <p:cNvSpPr txBox="1"/>
          <p:nvPr/>
        </p:nvSpPr>
        <p:spPr>
          <a:xfrm>
            <a:off x="3536542" y="6524387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3702235" y="7082066"/>
            <a:ext cx="9701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than 10 lessons</a:t>
            </a:r>
            <a:endParaRPr/>
          </a:p>
        </p:txBody>
      </p:sp>
      <p:sp>
        <p:nvSpPr>
          <p:cNvPr id="225" name="Google Shape;225;p14"/>
          <p:cNvSpPr txBox="1"/>
          <p:nvPr/>
        </p:nvSpPr>
        <p:spPr>
          <a:xfrm>
            <a:off x="3706309" y="8246489"/>
            <a:ext cx="8490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than 10 lessons</a:t>
            </a:r>
            <a:endParaRPr/>
          </a:p>
        </p:txBody>
      </p:sp>
      <p:sp>
        <p:nvSpPr>
          <p:cNvPr id="226" name="Google Shape;226;p14"/>
          <p:cNvSpPr txBox="1"/>
          <p:nvPr/>
        </p:nvSpPr>
        <p:spPr>
          <a:xfrm>
            <a:off x="4549858" y="8407442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79</a:t>
            </a:r>
            <a:endParaRPr/>
          </a:p>
        </p:txBody>
      </p:sp>
      <p:sp>
        <p:nvSpPr>
          <p:cNvPr id="227" name="Google Shape;227;p14"/>
          <p:cNvSpPr txBox="1"/>
          <p:nvPr/>
        </p:nvSpPr>
        <p:spPr>
          <a:xfrm>
            <a:off x="5342272" y="6710711"/>
            <a:ext cx="7689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228" name="Google Shape;228;p14"/>
          <p:cNvSpPr txBox="1"/>
          <p:nvPr/>
        </p:nvSpPr>
        <p:spPr>
          <a:xfrm>
            <a:off x="5197209" y="7502973"/>
            <a:ext cx="81576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</a:t>
            </a:r>
            <a:endParaRPr/>
          </a:p>
        </p:txBody>
      </p:sp>
      <p:sp>
        <p:nvSpPr>
          <p:cNvPr id="229" name="Google Shape;229;p14"/>
          <p:cNvSpPr txBox="1"/>
          <p:nvPr/>
        </p:nvSpPr>
        <p:spPr>
          <a:xfrm>
            <a:off x="4549858" y="707224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/>
          </a:p>
        </p:txBody>
      </p:sp>
      <p:sp>
        <p:nvSpPr>
          <p:cNvPr id="230" name="Google Shape;230;p14"/>
          <p:cNvSpPr txBox="1"/>
          <p:nvPr/>
        </p:nvSpPr>
        <p:spPr>
          <a:xfrm>
            <a:off x="6036986" y="677058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231" name="Google Shape;231;p14"/>
          <p:cNvSpPr txBox="1"/>
          <p:nvPr/>
        </p:nvSpPr>
        <p:spPr>
          <a:xfrm>
            <a:off x="6028928" y="807888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232" name="Google Shape;232;p14"/>
          <p:cNvSpPr txBox="1"/>
          <p:nvPr/>
        </p:nvSpPr>
        <p:spPr>
          <a:xfrm>
            <a:off x="5368360" y="8006072"/>
            <a:ext cx="7689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233" name="Google Shape;233;p14"/>
          <p:cNvSpPr txBox="1"/>
          <p:nvPr/>
        </p:nvSpPr>
        <p:spPr>
          <a:xfrm>
            <a:off x="5223636" y="8821475"/>
            <a:ext cx="81576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</a:t>
            </a:r>
            <a:endParaRPr/>
          </a:p>
        </p:txBody>
      </p:sp>
      <p:sp>
        <p:nvSpPr>
          <p:cNvPr id="234" name="Google Shape;234;p14"/>
          <p:cNvSpPr txBox="1"/>
          <p:nvPr/>
        </p:nvSpPr>
        <p:spPr>
          <a:xfrm>
            <a:off x="1638010" y="7988787"/>
            <a:ext cx="11762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Did homework</a:t>
            </a:r>
            <a:endParaRPr/>
          </a:p>
        </p:txBody>
      </p:sp>
      <p:sp>
        <p:nvSpPr>
          <p:cNvPr id="235" name="Google Shape;235;p14"/>
          <p:cNvSpPr txBox="1"/>
          <p:nvPr/>
        </p:nvSpPr>
        <p:spPr>
          <a:xfrm>
            <a:off x="1687213" y="8821113"/>
            <a:ext cx="11396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homework</a:t>
            </a:r>
            <a:endParaRPr/>
          </a:p>
        </p:txBody>
      </p:sp>
      <p:sp>
        <p:nvSpPr>
          <p:cNvPr id="236" name="Google Shape;236;p14"/>
          <p:cNvSpPr txBox="1"/>
          <p:nvPr/>
        </p:nvSpPr>
        <p:spPr>
          <a:xfrm>
            <a:off x="182847" y="774789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/>
          </a:p>
        </p:txBody>
      </p:sp>
      <p:sp>
        <p:nvSpPr>
          <p:cNvPr id="237" name="Google Shape;237;p14"/>
          <p:cNvSpPr txBox="1"/>
          <p:nvPr/>
        </p:nvSpPr>
        <p:spPr>
          <a:xfrm>
            <a:off x="2663438" y="740895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238" name="Google Shape;238;p14"/>
          <p:cNvSpPr txBox="1"/>
          <p:nvPr/>
        </p:nvSpPr>
        <p:spPr>
          <a:xfrm>
            <a:off x="1152847" y="249670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239" name="Google Shape;239;p14"/>
          <p:cNvSpPr txBox="1"/>
          <p:nvPr/>
        </p:nvSpPr>
        <p:spPr>
          <a:xfrm>
            <a:off x="2645785" y="151827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240" name="Google Shape;240;p14"/>
          <p:cNvSpPr txBox="1"/>
          <p:nvPr/>
        </p:nvSpPr>
        <p:spPr>
          <a:xfrm>
            <a:off x="2646963" y="282021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241" name="Google Shape;241;p14"/>
          <p:cNvSpPr txBox="1"/>
          <p:nvPr/>
        </p:nvSpPr>
        <p:spPr>
          <a:xfrm>
            <a:off x="4549857" y="249670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162</a:t>
            </a:r>
            <a:endParaRPr/>
          </a:p>
        </p:txBody>
      </p:sp>
      <p:sp>
        <p:nvSpPr>
          <p:cNvPr id="242" name="Google Shape;242;p14"/>
          <p:cNvSpPr txBox="1"/>
          <p:nvPr/>
        </p:nvSpPr>
        <p:spPr>
          <a:xfrm>
            <a:off x="6027322" y="151827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75</a:t>
            </a:r>
            <a:endParaRPr/>
          </a:p>
        </p:txBody>
      </p:sp>
      <p:sp>
        <p:nvSpPr>
          <p:cNvPr id="243" name="Google Shape;243;p14"/>
          <p:cNvSpPr txBox="1"/>
          <p:nvPr/>
        </p:nvSpPr>
        <p:spPr>
          <a:xfrm>
            <a:off x="6036985" y="282792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116</a:t>
            </a:r>
            <a:endParaRPr/>
          </a:p>
        </p:txBody>
      </p:sp>
      <p:sp>
        <p:nvSpPr>
          <p:cNvPr id="244" name="Google Shape;244;p14"/>
          <p:cNvSpPr txBox="1"/>
          <p:nvPr/>
        </p:nvSpPr>
        <p:spPr>
          <a:xfrm>
            <a:off x="167113" y="477674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255</a:t>
            </a:r>
            <a:endParaRPr/>
          </a:p>
        </p:txBody>
      </p:sp>
      <p:sp>
        <p:nvSpPr>
          <p:cNvPr id="245" name="Google Shape;245;p14"/>
          <p:cNvSpPr txBox="1"/>
          <p:nvPr/>
        </p:nvSpPr>
        <p:spPr>
          <a:xfrm>
            <a:off x="2646963" y="445529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/>
          </a:p>
        </p:txBody>
      </p:sp>
      <p:sp>
        <p:nvSpPr>
          <p:cNvPr id="246" name="Google Shape;246;p14"/>
          <p:cNvSpPr txBox="1"/>
          <p:nvPr/>
        </p:nvSpPr>
        <p:spPr>
          <a:xfrm>
            <a:off x="2656981" y="577588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/>
          </a:p>
        </p:txBody>
      </p:sp>
      <p:sp>
        <p:nvSpPr>
          <p:cNvPr id="247" name="Google Shape;247;p14"/>
          <p:cNvSpPr txBox="1"/>
          <p:nvPr/>
        </p:nvSpPr>
        <p:spPr>
          <a:xfrm>
            <a:off x="3559926" y="477724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210</a:t>
            </a:r>
            <a:endParaRPr/>
          </a:p>
        </p:txBody>
      </p:sp>
      <p:sp>
        <p:nvSpPr>
          <p:cNvPr id="248" name="Google Shape;248;p14"/>
          <p:cNvSpPr txBox="1"/>
          <p:nvPr/>
        </p:nvSpPr>
        <p:spPr>
          <a:xfrm>
            <a:off x="6027321" y="445447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49" name="Google Shape;249;p14"/>
          <p:cNvSpPr txBox="1"/>
          <p:nvPr/>
        </p:nvSpPr>
        <p:spPr>
          <a:xfrm>
            <a:off x="6036984" y="577588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149</a:t>
            </a:r>
            <a:endParaRPr/>
          </a:p>
        </p:txBody>
      </p:sp>
      <p:sp>
        <p:nvSpPr>
          <p:cNvPr id="250" name="Google Shape;250;p14"/>
          <p:cNvSpPr txBox="1"/>
          <p:nvPr/>
        </p:nvSpPr>
        <p:spPr>
          <a:xfrm>
            <a:off x="1157459" y="7076252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/>
          </a:p>
        </p:txBody>
      </p:sp>
      <p:sp>
        <p:nvSpPr>
          <p:cNvPr id="251" name="Google Shape;251;p14"/>
          <p:cNvSpPr txBox="1"/>
          <p:nvPr/>
        </p:nvSpPr>
        <p:spPr>
          <a:xfrm>
            <a:off x="1151662" y="8398382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230</a:t>
            </a:r>
            <a:endParaRPr/>
          </a:p>
        </p:txBody>
      </p:sp>
      <p:sp>
        <p:nvSpPr>
          <p:cNvPr id="252" name="Google Shape;252;p14"/>
          <p:cNvSpPr txBox="1"/>
          <p:nvPr/>
        </p:nvSpPr>
        <p:spPr>
          <a:xfrm>
            <a:off x="2656981" y="8750362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130</a:t>
            </a:r>
            <a:endParaRPr/>
          </a:p>
        </p:txBody>
      </p:sp>
      <p:sp>
        <p:nvSpPr>
          <p:cNvPr id="253" name="Google Shape;253;p14"/>
          <p:cNvSpPr txBox="1"/>
          <p:nvPr/>
        </p:nvSpPr>
        <p:spPr>
          <a:xfrm>
            <a:off x="3562947" y="775079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130</a:t>
            </a:r>
            <a:endParaRPr/>
          </a:p>
        </p:txBody>
      </p:sp>
      <p:sp>
        <p:nvSpPr>
          <p:cNvPr id="254" name="Google Shape;254;p14"/>
          <p:cNvSpPr txBox="1"/>
          <p:nvPr/>
        </p:nvSpPr>
        <p:spPr>
          <a:xfrm>
            <a:off x="6036983" y="741963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55" name="Google Shape;255;p14"/>
          <p:cNvSpPr txBox="1"/>
          <p:nvPr/>
        </p:nvSpPr>
        <p:spPr>
          <a:xfrm>
            <a:off x="6036982" y="873813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67</a:t>
            </a:r>
            <a:endParaRPr/>
          </a:p>
        </p:txBody>
      </p:sp>
      <p:graphicFrame>
        <p:nvGraphicFramePr>
          <p:cNvPr id="256" name="Google Shape;256;p14"/>
          <p:cNvGraphicFramePr/>
          <p:nvPr/>
        </p:nvGraphicFramePr>
        <p:xfrm>
          <a:off x="164427" y="5236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{6801E93B-9AB9-4873-88AB-CCC41B1FCB21}</a:tableStyleId>
              </a:tblPr>
              <a:tblGrid>
                <a:gridCol w="3267525"/>
                <a:gridCol w="3267525"/>
              </a:tblGrid>
              <a:tr h="301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"/>
          <p:cNvSpPr txBox="1"/>
          <p:nvPr>
            <p:ph idx="12" type="sldNum"/>
          </p:nvPr>
        </p:nvSpPr>
        <p:spPr>
          <a:xfrm>
            <a:off x="5252659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Frequency Trees Worksheets | Questions and Revision | MME" id="262" name="Google Shape;2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859" y="645483"/>
            <a:ext cx="2984814" cy="229914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5"/>
          <p:cNvSpPr txBox="1"/>
          <p:nvPr/>
        </p:nvSpPr>
        <p:spPr>
          <a:xfrm>
            <a:off x="155550" y="430421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</a:t>
            </a:r>
            <a:endParaRPr/>
          </a:p>
        </p:txBody>
      </p:sp>
      <p:sp>
        <p:nvSpPr>
          <p:cNvPr id="264" name="Google Shape;264;p15"/>
          <p:cNvSpPr txBox="1"/>
          <p:nvPr/>
        </p:nvSpPr>
        <p:spPr>
          <a:xfrm>
            <a:off x="499807" y="1165965"/>
            <a:ext cx="77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Salmon</a:t>
            </a:r>
            <a:endParaRPr/>
          </a:p>
        </p:txBody>
      </p:sp>
      <p:sp>
        <p:nvSpPr>
          <p:cNvPr id="265" name="Google Shape;265;p15"/>
          <p:cNvSpPr txBox="1"/>
          <p:nvPr/>
        </p:nvSpPr>
        <p:spPr>
          <a:xfrm>
            <a:off x="462293" y="2148158"/>
            <a:ext cx="7734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Beef dripping</a:t>
            </a:r>
            <a:endParaRPr/>
          </a:p>
        </p:txBody>
      </p:sp>
      <p:sp>
        <p:nvSpPr>
          <p:cNvPr id="266" name="Google Shape;266;p15"/>
          <p:cNvSpPr txBox="1"/>
          <p:nvPr/>
        </p:nvSpPr>
        <p:spPr>
          <a:xfrm>
            <a:off x="173897" y="163741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/>
          </a:p>
        </p:txBody>
      </p:sp>
      <p:sp>
        <p:nvSpPr>
          <p:cNvPr id="267" name="Google Shape;267;p15"/>
          <p:cNvSpPr txBox="1"/>
          <p:nvPr/>
        </p:nvSpPr>
        <p:spPr>
          <a:xfrm>
            <a:off x="1730266" y="603808"/>
            <a:ext cx="9735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white bread</a:t>
            </a:r>
            <a:endParaRPr/>
          </a:p>
        </p:txBody>
      </p:sp>
      <p:sp>
        <p:nvSpPr>
          <p:cNvPr id="268" name="Google Shape;268;p15"/>
          <p:cNvSpPr txBox="1"/>
          <p:nvPr/>
        </p:nvSpPr>
        <p:spPr>
          <a:xfrm>
            <a:off x="1730266" y="1924037"/>
            <a:ext cx="9735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white bread</a:t>
            </a:r>
            <a:endParaRPr/>
          </a:p>
        </p:txBody>
      </p:sp>
      <p:sp>
        <p:nvSpPr>
          <p:cNvPr id="269" name="Google Shape;269;p15"/>
          <p:cNvSpPr txBox="1"/>
          <p:nvPr/>
        </p:nvSpPr>
        <p:spPr>
          <a:xfrm>
            <a:off x="1683490" y="1401008"/>
            <a:ext cx="1067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brown bread</a:t>
            </a:r>
            <a:endParaRPr/>
          </a:p>
        </p:txBody>
      </p:sp>
      <p:sp>
        <p:nvSpPr>
          <p:cNvPr id="270" name="Google Shape;270;p15"/>
          <p:cNvSpPr txBox="1"/>
          <p:nvPr/>
        </p:nvSpPr>
        <p:spPr>
          <a:xfrm>
            <a:off x="1679099" y="2709306"/>
            <a:ext cx="1067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brown bread</a:t>
            </a:r>
            <a:endParaRPr/>
          </a:p>
        </p:txBody>
      </p:sp>
      <p:sp>
        <p:nvSpPr>
          <p:cNvPr id="271" name="Google Shape;271;p15"/>
          <p:cNvSpPr txBox="1"/>
          <p:nvPr/>
        </p:nvSpPr>
        <p:spPr>
          <a:xfrm>
            <a:off x="1167661" y="231452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/>
          </a:p>
        </p:txBody>
      </p:sp>
      <p:sp>
        <p:nvSpPr>
          <p:cNvPr id="272" name="Google Shape;272;p15"/>
          <p:cNvSpPr txBox="1"/>
          <p:nvPr/>
        </p:nvSpPr>
        <p:spPr>
          <a:xfrm>
            <a:off x="2655994" y="67662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2647936" y="198492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endParaRPr/>
          </a:p>
        </p:txBody>
      </p:sp>
      <p:pic>
        <p:nvPicPr>
          <p:cNvPr descr="Frequency Trees Worksheets | Questions and Revision | MME" id="274" name="Google Shape;2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5892" y="645483"/>
            <a:ext cx="2984814" cy="229914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5"/>
          <p:cNvSpPr txBox="1"/>
          <p:nvPr/>
        </p:nvSpPr>
        <p:spPr>
          <a:xfrm>
            <a:off x="3533583" y="430421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</a:t>
            </a:r>
            <a:endParaRPr/>
          </a:p>
        </p:txBody>
      </p:sp>
      <p:sp>
        <p:nvSpPr>
          <p:cNvPr id="276" name="Google Shape;276;p15"/>
          <p:cNvSpPr txBox="1"/>
          <p:nvPr/>
        </p:nvSpPr>
        <p:spPr>
          <a:xfrm>
            <a:off x="3998249" y="1178871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Y10</a:t>
            </a:r>
            <a:endParaRPr/>
          </a:p>
        </p:txBody>
      </p:sp>
      <p:sp>
        <p:nvSpPr>
          <p:cNvPr id="277" name="Google Shape;277;p15"/>
          <p:cNvSpPr txBox="1"/>
          <p:nvPr/>
        </p:nvSpPr>
        <p:spPr>
          <a:xfrm>
            <a:off x="4007774" y="2201036"/>
            <a:ext cx="6859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Y11</a:t>
            </a:r>
            <a:endParaRPr/>
          </a:p>
        </p:txBody>
      </p:sp>
      <p:sp>
        <p:nvSpPr>
          <p:cNvPr id="278" name="Google Shape;278;p15"/>
          <p:cNvSpPr txBox="1"/>
          <p:nvPr/>
        </p:nvSpPr>
        <p:spPr>
          <a:xfrm>
            <a:off x="3551930" y="163741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520</a:t>
            </a:r>
            <a:endParaRPr/>
          </a:p>
        </p:txBody>
      </p:sp>
      <p:sp>
        <p:nvSpPr>
          <p:cNvPr id="279" name="Google Shape;279;p15"/>
          <p:cNvSpPr txBox="1"/>
          <p:nvPr/>
        </p:nvSpPr>
        <p:spPr>
          <a:xfrm>
            <a:off x="5108299" y="603808"/>
            <a:ext cx="9735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Spanish</a:t>
            </a:r>
            <a:endParaRPr/>
          </a:p>
        </p:txBody>
      </p:sp>
      <p:sp>
        <p:nvSpPr>
          <p:cNvPr id="280" name="Google Shape;280;p15"/>
          <p:cNvSpPr txBox="1"/>
          <p:nvPr/>
        </p:nvSpPr>
        <p:spPr>
          <a:xfrm>
            <a:off x="5108299" y="1924037"/>
            <a:ext cx="9735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Spanish</a:t>
            </a:r>
            <a:endParaRPr/>
          </a:p>
        </p:txBody>
      </p:sp>
      <p:sp>
        <p:nvSpPr>
          <p:cNvPr id="281" name="Google Shape;281;p15"/>
          <p:cNvSpPr txBox="1"/>
          <p:nvPr/>
        </p:nvSpPr>
        <p:spPr>
          <a:xfrm>
            <a:off x="5061523" y="1401008"/>
            <a:ext cx="1067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French</a:t>
            </a:r>
            <a:endParaRPr/>
          </a:p>
        </p:txBody>
      </p:sp>
      <p:sp>
        <p:nvSpPr>
          <p:cNvPr id="282" name="Google Shape;282;p15"/>
          <p:cNvSpPr txBox="1"/>
          <p:nvPr/>
        </p:nvSpPr>
        <p:spPr>
          <a:xfrm>
            <a:off x="5057132" y="2709306"/>
            <a:ext cx="10671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French</a:t>
            </a:r>
            <a:endParaRPr/>
          </a:p>
        </p:txBody>
      </p:sp>
      <p:sp>
        <p:nvSpPr>
          <p:cNvPr id="283" name="Google Shape;283;p15"/>
          <p:cNvSpPr txBox="1"/>
          <p:nvPr/>
        </p:nvSpPr>
        <p:spPr>
          <a:xfrm>
            <a:off x="4546899" y="97827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260</a:t>
            </a:r>
            <a:endParaRPr/>
          </a:p>
        </p:txBody>
      </p:sp>
      <p:sp>
        <p:nvSpPr>
          <p:cNvPr id="284" name="Google Shape;284;p15"/>
          <p:cNvSpPr txBox="1"/>
          <p:nvPr/>
        </p:nvSpPr>
        <p:spPr>
          <a:xfrm>
            <a:off x="6034027" y="132224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endParaRPr/>
          </a:p>
        </p:txBody>
      </p:sp>
      <p:sp>
        <p:nvSpPr>
          <p:cNvPr id="285" name="Google Shape;285;p15"/>
          <p:cNvSpPr txBox="1"/>
          <p:nvPr/>
        </p:nvSpPr>
        <p:spPr>
          <a:xfrm>
            <a:off x="6025969" y="198492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89</a:t>
            </a:r>
            <a:endParaRPr/>
          </a:p>
        </p:txBody>
      </p:sp>
      <p:pic>
        <p:nvPicPr>
          <p:cNvPr descr="Frequency Trees Worksheets | Questions and Revision | MME" id="286" name="Google Shape;2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859" y="3618237"/>
            <a:ext cx="2984814" cy="2299147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5"/>
          <p:cNvSpPr txBox="1"/>
          <p:nvPr/>
        </p:nvSpPr>
        <p:spPr>
          <a:xfrm>
            <a:off x="155550" y="3403175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</a:t>
            </a:r>
            <a:endParaRPr/>
          </a:p>
        </p:txBody>
      </p:sp>
      <p:sp>
        <p:nvSpPr>
          <p:cNvPr id="288" name="Google Shape;288;p15"/>
          <p:cNvSpPr txBox="1"/>
          <p:nvPr/>
        </p:nvSpPr>
        <p:spPr>
          <a:xfrm>
            <a:off x="377186" y="4151625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Saturday</a:t>
            </a:r>
            <a:endParaRPr/>
          </a:p>
        </p:txBody>
      </p:sp>
      <p:sp>
        <p:nvSpPr>
          <p:cNvPr id="289" name="Google Shape;289;p15"/>
          <p:cNvSpPr txBox="1"/>
          <p:nvPr/>
        </p:nvSpPr>
        <p:spPr>
          <a:xfrm>
            <a:off x="473259" y="512527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Sunday</a:t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1162917" y="528623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265</a:t>
            </a:r>
            <a:endParaRPr/>
          </a:p>
        </p:txBody>
      </p:sp>
      <p:sp>
        <p:nvSpPr>
          <p:cNvPr id="291" name="Google Shape;291;p15"/>
          <p:cNvSpPr txBox="1"/>
          <p:nvPr/>
        </p:nvSpPr>
        <p:spPr>
          <a:xfrm>
            <a:off x="1760065" y="3607702"/>
            <a:ext cx="6801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Bowling</a:t>
            </a:r>
            <a:endParaRPr/>
          </a:p>
        </p:txBody>
      </p:sp>
      <p:sp>
        <p:nvSpPr>
          <p:cNvPr id="292" name="Google Shape;292;p15"/>
          <p:cNvSpPr txBox="1"/>
          <p:nvPr/>
        </p:nvSpPr>
        <p:spPr>
          <a:xfrm>
            <a:off x="1812189" y="4364961"/>
            <a:ext cx="8672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Golf</a:t>
            </a:r>
            <a:endParaRPr/>
          </a:p>
        </p:txBody>
      </p:sp>
      <p:sp>
        <p:nvSpPr>
          <p:cNvPr id="293" name="Google Shape;293;p15"/>
          <p:cNvSpPr txBox="1"/>
          <p:nvPr/>
        </p:nvSpPr>
        <p:spPr>
          <a:xfrm>
            <a:off x="1168866" y="395103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101</a:t>
            </a:r>
            <a:endParaRPr/>
          </a:p>
        </p:txBody>
      </p:sp>
      <p:sp>
        <p:nvSpPr>
          <p:cNvPr id="294" name="Google Shape;294;p15"/>
          <p:cNvSpPr txBox="1"/>
          <p:nvPr/>
        </p:nvSpPr>
        <p:spPr>
          <a:xfrm>
            <a:off x="2655994" y="364937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/>
          </a:p>
        </p:txBody>
      </p:sp>
      <p:sp>
        <p:nvSpPr>
          <p:cNvPr id="295" name="Google Shape;295;p15"/>
          <p:cNvSpPr txBox="1"/>
          <p:nvPr/>
        </p:nvSpPr>
        <p:spPr>
          <a:xfrm>
            <a:off x="2648991" y="562171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123</a:t>
            </a:r>
            <a:endParaRPr/>
          </a:p>
        </p:txBody>
      </p:sp>
      <p:pic>
        <p:nvPicPr>
          <p:cNvPr descr="Frequency Trees Worksheets | Questions and Revision | MME" id="296" name="Google Shape;2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5892" y="3618237"/>
            <a:ext cx="2984814" cy="2299147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5"/>
          <p:cNvSpPr txBox="1"/>
          <p:nvPr/>
        </p:nvSpPr>
        <p:spPr>
          <a:xfrm>
            <a:off x="3533583" y="3403175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</a:t>
            </a:r>
            <a:endParaRPr/>
          </a:p>
        </p:txBody>
      </p:sp>
      <p:sp>
        <p:nvSpPr>
          <p:cNvPr id="298" name="Google Shape;298;p15"/>
          <p:cNvSpPr txBox="1"/>
          <p:nvPr/>
        </p:nvSpPr>
        <p:spPr>
          <a:xfrm>
            <a:off x="3896235" y="4151625"/>
            <a:ext cx="5762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Rain</a:t>
            </a:r>
            <a:endParaRPr/>
          </a:p>
        </p:txBody>
      </p:sp>
      <p:sp>
        <p:nvSpPr>
          <p:cNvPr id="299" name="Google Shape;299;p15"/>
          <p:cNvSpPr txBox="1"/>
          <p:nvPr/>
        </p:nvSpPr>
        <p:spPr>
          <a:xfrm>
            <a:off x="3724408" y="5142225"/>
            <a:ext cx="7840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Rain</a:t>
            </a:r>
            <a:endParaRPr/>
          </a:p>
        </p:txBody>
      </p:sp>
      <p:sp>
        <p:nvSpPr>
          <p:cNvPr id="300" name="Google Shape;300;p15"/>
          <p:cNvSpPr txBox="1"/>
          <p:nvPr/>
        </p:nvSpPr>
        <p:spPr>
          <a:xfrm>
            <a:off x="4546899" y="528623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91</a:t>
            </a:r>
            <a:endParaRPr/>
          </a:p>
        </p:txBody>
      </p:sp>
      <p:sp>
        <p:nvSpPr>
          <p:cNvPr id="301" name="Google Shape;301;p15"/>
          <p:cNvSpPr txBox="1"/>
          <p:nvPr/>
        </p:nvSpPr>
        <p:spPr>
          <a:xfrm>
            <a:off x="5312887" y="3576562"/>
            <a:ext cx="7689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</a:t>
            </a:r>
            <a:endParaRPr/>
          </a:p>
        </p:txBody>
      </p:sp>
      <p:sp>
        <p:nvSpPr>
          <p:cNvPr id="302" name="Google Shape;302;p15"/>
          <p:cNvSpPr txBox="1"/>
          <p:nvPr/>
        </p:nvSpPr>
        <p:spPr>
          <a:xfrm>
            <a:off x="5194250" y="4381761"/>
            <a:ext cx="81576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Time</a:t>
            </a:r>
            <a:endParaRPr/>
          </a:p>
        </p:txBody>
      </p:sp>
      <p:sp>
        <p:nvSpPr>
          <p:cNvPr id="303" name="Google Shape;303;p15"/>
          <p:cNvSpPr txBox="1"/>
          <p:nvPr/>
        </p:nvSpPr>
        <p:spPr>
          <a:xfrm>
            <a:off x="4546899" y="395103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/>
          </a:p>
        </p:txBody>
      </p:sp>
      <p:sp>
        <p:nvSpPr>
          <p:cNvPr id="304" name="Google Shape;304;p15"/>
          <p:cNvSpPr txBox="1"/>
          <p:nvPr/>
        </p:nvSpPr>
        <p:spPr>
          <a:xfrm>
            <a:off x="6034027" y="364937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305" name="Google Shape;305;p15"/>
          <p:cNvSpPr txBox="1"/>
          <p:nvPr/>
        </p:nvSpPr>
        <p:spPr>
          <a:xfrm>
            <a:off x="6025969" y="495767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306" name="Google Shape;306;p15"/>
          <p:cNvSpPr txBox="1"/>
          <p:nvPr/>
        </p:nvSpPr>
        <p:spPr>
          <a:xfrm>
            <a:off x="5339314" y="4895064"/>
            <a:ext cx="7689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</a:t>
            </a:r>
            <a:endParaRPr/>
          </a:p>
        </p:txBody>
      </p:sp>
      <p:sp>
        <p:nvSpPr>
          <p:cNvPr id="307" name="Google Shape;307;p15"/>
          <p:cNvSpPr txBox="1"/>
          <p:nvPr/>
        </p:nvSpPr>
        <p:spPr>
          <a:xfrm>
            <a:off x="5220677" y="5700263"/>
            <a:ext cx="81576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Time</a:t>
            </a:r>
            <a:endParaRPr/>
          </a:p>
        </p:txBody>
      </p:sp>
      <p:sp>
        <p:nvSpPr>
          <p:cNvPr id="308" name="Google Shape;308;p15"/>
          <p:cNvSpPr txBox="1"/>
          <p:nvPr/>
        </p:nvSpPr>
        <p:spPr>
          <a:xfrm>
            <a:off x="155550" y="6359602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</a:t>
            </a:r>
            <a:endParaRPr/>
          </a:p>
        </p:txBody>
      </p:sp>
      <p:sp>
        <p:nvSpPr>
          <p:cNvPr id="309" name="Google Shape;309;p15"/>
          <p:cNvSpPr txBox="1"/>
          <p:nvPr/>
        </p:nvSpPr>
        <p:spPr>
          <a:xfrm>
            <a:off x="3533583" y="6359602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</a:t>
            </a:r>
            <a:endParaRPr/>
          </a:p>
        </p:txBody>
      </p:sp>
      <p:pic>
        <p:nvPicPr>
          <p:cNvPr descr="Frequency Trees Worksheets | Questions and Revision | MME" id="310" name="Google Shape;3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073" y="6627254"/>
            <a:ext cx="2844402" cy="2305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equency Trees Worksheets | Questions and Revision | MME" id="311" name="Google Shape;3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6098" y="6578509"/>
            <a:ext cx="2844402" cy="230574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5"/>
          <p:cNvSpPr txBox="1"/>
          <p:nvPr/>
        </p:nvSpPr>
        <p:spPr>
          <a:xfrm>
            <a:off x="1749096" y="4917346"/>
            <a:ext cx="6801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Bowling</a:t>
            </a:r>
            <a:endParaRPr/>
          </a:p>
        </p:txBody>
      </p:sp>
      <p:sp>
        <p:nvSpPr>
          <p:cNvPr id="313" name="Google Shape;313;p15"/>
          <p:cNvSpPr txBox="1"/>
          <p:nvPr/>
        </p:nvSpPr>
        <p:spPr>
          <a:xfrm>
            <a:off x="1801220" y="5674605"/>
            <a:ext cx="8672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Golf</a:t>
            </a:r>
            <a:endParaRPr/>
          </a:p>
        </p:txBody>
      </p:sp>
      <p:sp>
        <p:nvSpPr>
          <p:cNvPr id="314" name="Google Shape;314;p15"/>
          <p:cNvSpPr txBox="1"/>
          <p:nvPr/>
        </p:nvSpPr>
        <p:spPr>
          <a:xfrm>
            <a:off x="563655" y="7141963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A</a:t>
            </a:r>
            <a:endParaRPr/>
          </a:p>
        </p:txBody>
      </p:sp>
      <p:sp>
        <p:nvSpPr>
          <p:cNvPr id="315" name="Google Shape;315;p15"/>
          <p:cNvSpPr txBox="1"/>
          <p:nvPr/>
        </p:nvSpPr>
        <p:spPr>
          <a:xfrm>
            <a:off x="848995" y="7522264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B</a:t>
            </a:r>
            <a:endParaRPr/>
          </a:p>
        </p:txBody>
      </p:sp>
      <p:sp>
        <p:nvSpPr>
          <p:cNvPr id="316" name="Google Shape;316;p15"/>
          <p:cNvSpPr txBox="1"/>
          <p:nvPr/>
        </p:nvSpPr>
        <p:spPr>
          <a:xfrm>
            <a:off x="563654" y="8095878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C</a:t>
            </a:r>
            <a:endParaRPr/>
          </a:p>
        </p:txBody>
      </p:sp>
      <p:sp>
        <p:nvSpPr>
          <p:cNvPr id="317" name="Google Shape;317;p15"/>
          <p:cNvSpPr txBox="1"/>
          <p:nvPr/>
        </p:nvSpPr>
        <p:spPr>
          <a:xfrm>
            <a:off x="1868792" y="6626552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</a:t>
            </a:r>
            <a:endParaRPr/>
          </a:p>
        </p:txBody>
      </p:sp>
      <p:sp>
        <p:nvSpPr>
          <p:cNvPr id="318" name="Google Shape;318;p15"/>
          <p:cNvSpPr txBox="1"/>
          <p:nvPr/>
        </p:nvSpPr>
        <p:spPr>
          <a:xfrm>
            <a:off x="1899347" y="7141962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Absent</a:t>
            </a:r>
            <a:endParaRPr/>
          </a:p>
        </p:txBody>
      </p:sp>
      <p:sp>
        <p:nvSpPr>
          <p:cNvPr id="319" name="Google Shape;319;p15"/>
          <p:cNvSpPr txBox="1"/>
          <p:nvPr/>
        </p:nvSpPr>
        <p:spPr>
          <a:xfrm>
            <a:off x="1892329" y="7377544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</a:t>
            </a:r>
            <a:endParaRPr/>
          </a:p>
        </p:txBody>
      </p:sp>
      <p:sp>
        <p:nvSpPr>
          <p:cNvPr id="320" name="Google Shape;320;p15"/>
          <p:cNvSpPr txBox="1"/>
          <p:nvPr/>
        </p:nvSpPr>
        <p:spPr>
          <a:xfrm>
            <a:off x="1922884" y="7875024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Absent</a:t>
            </a:r>
            <a:endParaRPr/>
          </a:p>
        </p:txBody>
      </p:sp>
      <p:sp>
        <p:nvSpPr>
          <p:cNvPr id="321" name="Google Shape;321;p15"/>
          <p:cNvSpPr txBox="1"/>
          <p:nvPr/>
        </p:nvSpPr>
        <p:spPr>
          <a:xfrm>
            <a:off x="1892329" y="8137834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</a:t>
            </a:r>
            <a:endParaRPr/>
          </a:p>
        </p:txBody>
      </p:sp>
      <p:sp>
        <p:nvSpPr>
          <p:cNvPr id="322" name="Google Shape;322;p15"/>
          <p:cNvSpPr txBox="1"/>
          <p:nvPr/>
        </p:nvSpPr>
        <p:spPr>
          <a:xfrm>
            <a:off x="1922884" y="8635314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Absent</a:t>
            </a:r>
            <a:endParaRPr/>
          </a:p>
        </p:txBody>
      </p:sp>
      <p:sp>
        <p:nvSpPr>
          <p:cNvPr id="323" name="Google Shape;323;p15"/>
          <p:cNvSpPr txBox="1"/>
          <p:nvPr/>
        </p:nvSpPr>
        <p:spPr>
          <a:xfrm>
            <a:off x="279394" y="762442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85</a:t>
            </a:r>
            <a:endParaRPr/>
          </a:p>
        </p:txBody>
      </p:sp>
      <p:sp>
        <p:nvSpPr>
          <p:cNvPr id="324" name="Google Shape;324;p15"/>
          <p:cNvSpPr txBox="1"/>
          <p:nvPr/>
        </p:nvSpPr>
        <p:spPr>
          <a:xfrm>
            <a:off x="1205342" y="696214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325" name="Google Shape;325;p15"/>
          <p:cNvSpPr txBox="1"/>
          <p:nvPr/>
        </p:nvSpPr>
        <p:spPr>
          <a:xfrm>
            <a:off x="2621368" y="664101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326" name="Google Shape;326;p15"/>
          <p:cNvSpPr txBox="1"/>
          <p:nvPr/>
        </p:nvSpPr>
        <p:spPr>
          <a:xfrm>
            <a:off x="2620342" y="743342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327" name="Google Shape;327;p15"/>
          <p:cNvSpPr txBox="1"/>
          <p:nvPr/>
        </p:nvSpPr>
        <p:spPr>
          <a:xfrm>
            <a:off x="2637444" y="779926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28" name="Google Shape;328;p15"/>
          <p:cNvSpPr txBox="1"/>
          <p:nvPr/>
        </p:nvSpPr>
        <p:spPr>
          <a:xfrm>
            <a:off x="2627790" y="864565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29" name="Google Shape;329;p15"/>
          <p:cNvSpPr txBox="1"/>
          <p:nvPr/>
        </p:nvSpPr>
        <p:spPr>
          <a:xfrm>
            <a:off x="3899079" y="7105677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D</a:t>
            </a:r>
            <a:endParaRPr/>
          </a:p>
        </p:txBody>
      </p:sp>
      <p:sp>
        <p:nvSpPr>
          <p:cNvPr id="330" name="Google Shape;330;p15"/>
          <p:cNvSpPr txBox="1"/>
          <p:nvPr/>
        </p:nvSpPr>
        <p:spPr>
          <a:xfrm>
            <a:off x="4184419" y="7485978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E</a:t>
            </a:r>
            <a:endParaRPr/>
          </a:p>
        </p:txBody>
      </p:sp>
      <p:sp>
        <p:nvSpPr>
          <p:cNvPr id="331" name="Google Shape;331;p15"/>
          <p:cNvSpPr txBox="1"/>
          <p:nvPr/>
        </p:nvSpPr>
        <p:spPr>
          <a:xfrm>
            <a:off x="3899078" y="8059592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F</a:t>
            </a:r>
            <a:endParaRPr/>
          </a:p>
        </p:txBody>
      </p:sp>
      <p:sp>
        <p:nvSpPr>
          <p:cNvPr id="332" name="Google Shape;332;p15"/>
          <p:cNvSpPr txBox="1"/>
          <p:nvPr/>
        </p:nvSpPr>
        <p:spPr>
          <a:xfrm>
            <a:off x="5204216" y="6590266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</a:t>
            </a:r>
            <a:endParaRPr/>
          </a:p>
        </p:txBody>
      </p:sp>
      <p:sp>
        <p:nvSpPr>
          <p:cNvPr id="333" name="Google Shape;333;p15"/>
          <p:cNvSpPr txBox="1"/>
          <p:nvPr/>
        </p:nvSpPr>
        <p:spPr>
          <a:xfrm>
            <a:off x="5234771" y="7105676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Absent</a:t>
            </a:r>
            <a:endParaRPr/>
          </a:p>
        </p:txBody>
      </p:sp>
      <p:sp>
        <p:nvSpPr>
          <p:cNvPr id="334" name="Google Shape;334;p15"/>
          <p:cNvSpPr txBox="1"/>
          <p:nvPr/>
        </p:nvSpPr>
        <p:spPr>
          <a:xfrm>
            <a:off x="5227753" y="7341258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</a:t>
            </a:r>
            <a:endParaRPr/>
          </a:p>
        </p:txBody>
      </p:sp>
      <p:sp>
        <p:nvSpPr>
          <p:cNvPr id="335" name="Google Shape;335;p15"/>
          <p:cNvSpPr txBox="1"/>
          <p:nvPr/>
        </p:nvSpPr>
        <p:spPr>
          <a:xfrm>
            <a:off x="5258308" y="7838738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Absent</a:t>
            </a:r>
            <a:endParaRPr/>
          </a:p>
        </p:txBody>
      </p:sp>
      <p:sp>
        <p:nvSpPr>
          <p:cNvPr id="336" name="Google Shape;336;p15"/>
          <p:cNvSpPr txBox="1"/>
          <p:nvPr/>
        </p:nvSpPr>
        <p:spPr>
          <a:xfrm>
            <a:off x="5227753" y="8101548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</a:t>
            </a:r>
            <a:endParaRPr/>
          </a:p>
        </p:txBody>
      </p:sp>
      <p:sp>
        <p:nvSpPr>
          <p:cNvPr id="337" name="Google Shape;337;p15"/>
          <p:cNvSpPr txBox="1"/>
          <p:nvPr/>
        </p:nvSpPr>
        <p:spPr>
          <a:xfrm>
            <a:off x="5258308" y="8599028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Absent</a:t>
            </a:r>
            <a:endParaRPr/>
          </a:p>
        </p:txBody>
      </p:sp>
      <p:sp>
        <p:nvSpPr>
          <p:cNvPr id="338" name="Google Shape;338;p15"/>
          <p:cNvSpPr txBox="1"/>
          <p:nvPr/>
        </p:nvSpPr>
        <p:spPr>
          <a:xfrm>
            <a:off x="3614818" y="758814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92</a:t>
            </a:r>
            <a:endParaRPr/>
          </a:p>
        </p:txBody>
      </p:sp>
      <p:sp>
        <p:nvSpPr>
          <p:cNvPr id="339" name="Google Shape;339;p15"/>
          <p:cNvSpPr txBox="1"/>
          <p:nvPr/>
        </p:nvSpPr>
        <p:spPr>
          <a:xfrm>
            <a:off x="4561472" y="823833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340" name="Google Shape;340;p15"/>
          <p:cNvSpPr txBox="1"/>
          <p:nvPr/>
        </p:nvSpPr>
        <p:spPr>
          <a:xfrm>
            <a:off x="5969562" y="697128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1" name="Google Shape;341;p15"/>
          <p:cNvSpPr txBox="1"/>
          <p:nvPr/>
        </p:nvSpPr>
        <p:spPr>
          <a:xfrm>
            <a:off x="5955766" y="739714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342" name="Google Shape;342;p15"/>
          <p:cNvSpPr txBox="1"/>
          <p:nvPr/>
        </p:nvSpPr>
        <p:spPr>
          <a:xfrm>
            <a:off x="5972868" y="776297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43" name="Google Shape;343;p15"/>
          <p:cNvSpPr txBox="1"/>
          <p:nvPr/>
        </p:nvSpPr>
        <p:spPr>
          <a:xfrm>
            <a:off x="5971774" y="820457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44" name="Google Shape;344;p15"/>
          <p:cNvSpPr txBox="1"/>
          <p:nvPr/>
        </p:nvSpPr>
        <p:spPr>
          <a:xfrm>
            <a:off x="1161720" y="99221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/>
          </a:p>
        </p:txBody>
      </p:sp>
      <p:sp>
        <p:nvSpPr>
          <p:cNvPr id="345" name="Google Shape;345;p15"/>
          <p:cNvSpPr txBox="1"/>
          <p:nvPr/>
        </p:nvSpPr>
        <p:spPr>
          <a:xfrm>
            <a:off x="2650704" y="132408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/>
          </a:p>
        </p:txBody>
      </p:sp>
      <p:sp>
        <p:nvSpPr>
          <p:cNvPr id="346" name="Google Shape;346;p15"/>
          <p:cNvSpPr txBox="1"/>
          <p:nvPr/>
        </p:nvSpPr>
        <p:spPr>
          <a:xfrm>
            <a:off x="2655993" y="2645762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7" name="Google Shape;347;p15"/>
          <p:cNvSpPr txBox="1"/>
          <p:nvPr/>
        </p:nvSpPr>
        <p:spPr>
          <a:xfrm>
            <a:off x="4546898" y="230433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260</a:t>
            </a:r>
            <a:endParaRPr/>
          </a:p>
        </p:txBody>
      </p:sp>
      <p:sp>
        <p:nvSpPr>
          <p:cNvPr id="348" name="Google Shape;348;p15"/>
          <p:cNvSpPr txBox="1"/>
          <p:nvPr/>
        </p:nvSpPr>
        <p:spPr>
          <a:xfrm>
            <a:off x="6034026" y="66905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139</a:t>
            </a:r>
            <a:endParaRPr/>
          </a:p>
        </p:txBody>
      </p:sp>
      <p:sp>
        <p:nvSpPr>
          <p:cNvPr id="349" name="Google Shape;349;p15"/>
          <p:cNvSpPr txBox="1"/>
          <p:nvPr/>
        </p:nvSpPr>
        <p:spPr>
          <a:xfrm>
            <a:off x="6024670" y="264576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171</a:t>
            </a:r>
            <a:endParaRPr/>
          </a:p>
        </p:txBody>
      </p:sp>
      <p:sp>
        <p:nvSpPr>
          <p:cNvPr id="350" name="Google Shape;350;p15"/>
          <p:cNvSpPr txBox="1"/>
          <p:nvPr/>
        </p:nvSpPr>
        <p:spPr>
          <a:xfrm>
            <a:off x="168051" y="463295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366</a:t>
            </a:r>
            <a:endParaRPr/>
          </a:p>
        </p:txBody>
      </p:sp>
      <p:sp>
        <p:nvSpPr>
          <p:cNvPr id="351" name="Google Shape;351;p15"/>
          <p:cNvSpPr txBox="1"/>
          <p:nvPr/>
        </p:nvSpPr>
        <p:spPr>
          <a:xfrm>
            <a:off x="2644457" y="428920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/>
          </a:p>
        </p:txBody>
      </p:sp>
      <p:sp>
        <p:nvSpPr>
          <p:cNvPr id="352" name="Google Shape;352;p15"/>
          <p:cNvSpPr txBox="1"/>
          <p:nvPr/>
        </p:nvSpPr>
        <p:spPr>
          <a:xfrm>
            <a:off x="2644456" y="495545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142</a:t>
            </a:r>
            <a:endParaRPr/>
          </a:p>
        </p:txBody>
      </p:sp>
      <p:sp>
        <p:nvSpPr>
          <p:cNvPr id="353" name="Google Shape;353;p15"/>
          <p:cNvSpPr txBox="1"/>
          <p:nvPr/>
        </p:nvSpPr>
        <p:spPr>
          <a:xfrm>
            <a:off x="3559988" y="462156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147</a:t>
            </a:r>
            <a:endParaRPr/>
          </a:p>
        </p:txBody>
      </p:sp>
      <p:sp>
        <p:nvSpPr>
          <p:cNvPr id="354" name="Google Shape;354;p15"/>
          <p:cNvSpPr txBox="1"/>
          <p:nvPr/>
        </p:nvSpPr>
        <p:spPr>
          <a:xfrm>
            <a:off x="6024669" y="428919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5" name="Google Shape;355;p15"/>
          <p:cNvSpPr txBox="1"/>
          <p:nvPr/>
        </p:nvSpPr>
        <p:spPr>
          <a:xfrm>
            <a:off x="6024668" y="560956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356" name="Google Shape;356;p15"/>
          <p:cNvSpPr txBox="1"/>
          <p:nvPr/>
        </p:nvSpPr>
        <p:spPr>
          <a:xfrm>
            <a:off x="2623658" y="702344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7" name="Google Shape;357;p15"/>
          <p:cNvSpPr txBox="1"/>
          <p:nvPr/>
        </p:nvSpPr>
        <p:spPr>
          <a:xfrm>
            <a:off x="1332277" y="766100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358" name="Google Shape;358;p15"/>
          <p:cNvSpPr txBox="1"/>
          <p:nvPr/>
        </p:nvSpPr>
        <p:spPr>
          <a:xfrm>
            <a:off x="1203801" y="829817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359" name="Google Shape;359;p15"/>
          <p:cNvSpPr txBox="1"/>
          <p:nvPr/>
        </p:nvSpPr>
        <p:spPr>
          <a:xfrm>
            <a:off x="2624369" y="826034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360" name="Google Shape;360;p15"/>
          <p:cNvSpPr txBox="1"/>
          <p:nvPr/>
        </p:nvSpPr>
        <p:spPr>
          <a:xfrm>
            <a:off x="5981330" y="858436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361" name="Google Shape;361;p15"/>
          <p:cNvSpPr txBox="1"/>
          <p:nvPr/>
        </p:nvSpPr>
        <p:spPr>
          <a:xfrm>
            <a:off x="4693764" y="760333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362" name="Google Shape;362;p15"/>
          <p:cNvSpPr txBox="1"/>
          <p:nvPr/>
        </p:nvSpPr>
        <p:spPr>
          <a:xfrm>
            <a:off x="4546898" y="692641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363" name="Google Shape;363;p15"/>
          <p:cNvSpPr txBox="1"/>
          <p:nvPr/>
        </p:nvSpPr>
        <p:spPr>
          <a:xfrm>
            <a:off x="5952669" y="660625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graphicFrame>
        <p:nvGraphicFramePr>
          <p:cNvPr id="364" name="Google Shape;364;p15"/>
          <p:cNvGraphicFramePr/>
          <p:nvPr/>
        </p:nvGraphicFramePr>
        <p:xfrm>
          <a:off x="161468" y="3400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{6801E93B-9AB9-4873-88AB-CCC41B1FCB21}</a:tableStyleId>
              </a:tblPr>
              <a:tblGrid>
                <a:gridCol w="3267525"/>
                <a:gridCol w="3267525"/>
              </a:tblGrid>
              <a:tr h="301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"/>
          <p:cNvSpPr txBox="1"/>
          <p:nvPr>
            <p:ph idx="12" type="sldNum"/>
          </p:nvPr>
        </p:nvSpPr>
        <p:spPr>
          <a:xfrm>
            <a:off x="5268962" y="921103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71" name="Google Shape;371;p16"/>
          <p:cNvGraphicFramePr/>
          <p:nvPr/>
        </p:nvGraphicFramePr>
        <p:xfrm>
          <a:off x="164101" y="7501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{6801E93B-9AB9-4873-88AB-CCC41B1FCB21}</a:tableStyleId>
              </a:tblPr>
              <a:tblGrid>
                <a:gridCol w="1090950"/>
                <a:gridCol w="5481525"/>
              </a:tblGrid>
              <a:tr h="25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Create a frequency tree for the following information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6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Draw a frequency tree.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6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2) Fill in the known information.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  <a:tr h="76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3) Use addition and subtraction to calculate the missing values.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</a:tbl>
          </a:graphicData>
        </a:graphic>
      </p:graphicFrame>
      <p:sp>
        <p:nvSpPr>
          <p:cNvPr id="372" name="Google Shape;372;p16"/>
          <p:cNvSpPr txBox="1"/>
          <p:nvPr/>
        </p:nvSpPr>
        <p:spPr>
          <a:xfrm>
            <a:off x="1231560" y="46091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86107" y="115470"/>
            <a:ext cx="3584261" cy="2724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Generating frequency trees from given information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4" name="Google Shape;374;p16"/>
          <p:cNvGraphicFramePr/>
          <p:nvPr/>
        </p:nvGraphicFramePr>
        <p:xfrm>
          <a:off x="164101" y="37068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{6801E93B-9AB9-4873-88AB-CCC41B1FCB21}</a:tableStyleId>
              </a:tblPr>
              <a:tblGrid>
                <a:gridCol w="1090950"/>
                <a:gridCol w="5481525"/>
              </a:tblGrid>
              <a:tr h="25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Create a frequency tree for the following information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6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Draw a frequency tree.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6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2) Fill in the known information.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  <a:tr h="76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3) Use addition and subtraction to calculate the missing values.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</a:tbl>
          </a:graphicData>
        </a:graphic>
      </p:graphicFrame>
      <p:sp>
        <p:nvSpPr>
          <p:cNvPr id="375" name="Google Shape;375;p16"/>
          <p:cNvSpPr txBox="1"/>
          <p:nvPr/>
        </p:nvSpPr>
        <p:spPr>
          <a:xfrm>
            <a:off x="1231560" y="342033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graphicFrame>
        <p:nvGraphicFramePr>
          <p:cNvPr id="376" name="Google Shape;376;p16"/>
          <p:cNvGraphicFramePr/>
          <p:nvPr/>
        </p:nvGraphicFramePr>
        <p:xfrm>
          <a:off x="164101" y="6676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{6801E93B-9AB9-4873-88AB-CCC41B1FCB21}</a:tableStyleId>
              </a:tblPr>
              <a:tblGrid>
                <a:gridCol w="1090950"/>
                <a:gridCol w="5481525"/>
              </a:tblGrid>
              <a:tr h="259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Create a frequency tree for the following information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6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Draw a frequency tree.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6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2) Fill in the known information.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  <a:tr h="763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3) Use addition and subtraction to calculate the missing values.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</a:tr>
            </a:tbl>
          </a:graphicData>
        </a:graphic>
      </p:graphicFrame>
      <p:sp>
        <p:nvSpPr>
          <p:cNvPr id="377" name="Google Shape;377;p16"/>
          <p:cNvSpPr txBox="1"/>
          <p:nvPr/>
        </p:nvSpPr>
        <p:spPr>
          <a:xfrm>
            <a:off x="1231559" y="638657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378" name="Google Shape;378;p16"/>
          <p:cNvSpPr txBox="1"/>
          <p:nvPr/>
        </p:nvSpPr>
        <p:spPr>
          <a:xfrm>
            <a:off x="1264004" y="1031749"/>
            <a:ext cx="27565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 children audition for the school play.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 of the children are boys.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 children were given a role in the play.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girls were given a role in the play.</a:t>
            </a:r>
            <a:endParaRPr/>
          </a:p>
        </p:txBody>
      </p:sp>
      <p:pic>
        <p:nvPicPr>
          <p:cNvPr id="379" name="Google Shape;3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0523" y="1157502"/>
            <a:ext cx="2622888" cy="2020362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6"/>
          <p:cNvSpPr txBox="1"/>
          <p:nvPr/>
        </p:nvSpPr>
        <p:spPr>
          <a:xfrm>
            <a:off x="1264004" y="6940376"/>
            <a:ext cx="2756519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83 people are offered a choice of soup and roll.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of the 37 people who had tomato soup had a brown roll.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 people had chicken soup and a white roll.</a:t>
            </a:r>
            <a:endParaRPr/>
          </a:p>
        </p:txBody>
      </p:sp>
      <p:sp>
        <p:nvSpPr>
          <p:cNvPr id="381" name="Google Shape;381;p16"/>
          <p:cNvSpPr txBox="1"/>
          <p:nvPr/>
        </p:nvSpPr>
        <p:spPr>
          <a:xfrm>
            <a:off x="1244858" y="3946628"/>
            <a:ext cx="275651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 students were given some homework.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102 of these students are in Year 11.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182 of the 200 students did their homework.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 of the Year 10 students did not do their homework.</a:t>
            </a:r>
            <a:endParaRPr/>
          </a:p>
        </p:txBody>
      </p:sp>
      <p:pic>
        <p:nvPicPr>
          <p:cNvPr id="382" name="Google Shape;3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5154" y="4080811"/>
            <a:ext cx="2622888" cy="202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1377" y="7045684"/>
            <a:ext cx="2622888" cy="202036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6"/>
          <p:cNvSpPr txBox="1"/>
          <p:nvPr/>
        </p:nvSpPr>
        <p:spPr>
          <a:xfrm>
            <a:off x="3927355" y="202918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385" name="Google Shape;385;p16"/>
          <p:cNvSpPr txBox="1"/>
          <p:nvPr/>
        </p:nvSpPr>
        <p:spPr>
          <a:xfrm>
            <a:off x="4320900" y="1616182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Boys</a:t>
            </a:r>
            <a:endParaRPr/>
          </a:p>
        </p:txBody>
      </p:sp>
      <p:sp>
        <p:nvSpPr>
          <p:cNvPr id="386" name="Google Shape;386;p16"/>
          <p:cNvSpPr txBox="1"/>
          <p:nvPr/>
        </p:nvSpPr>
        <p:spPr>
          <a:xfrm>
            <a:off x="4320900" y="2484802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Girls</a:t>
            </a:r>
            <a:endParaRPr/>
          </a:p>
        </p:txBody>
      </p:sp>
      <p:sp>
        <p:nvSpPr>
          <p:cNvPr id="387" name="Google Shape;387;p16"/>
          <p:cNvSpPr txBox="1"/>
          <p:nvPr/>
        </p:nvSpPr>
        <p:spPr>
          <a:xfrm>
            <a:off x="4805105" y="144997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388" name="Google Shape;388;p16"/>
          <p:cNvSpPr txBox="1"/>
          <p:nvPr/>
        </p:nvSpPr>
        <p:spPr>
          <a:xfrm>
            <a:off x="4791100" y="259011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389" name="Google Shape;389;p16"/>
          <p:cNvSpPr txBox="1"/>
          <p:nvPr/>
        </p:nvSpPr>
        <p:spPr>
          <a:xfrm>
            <a:off x="5276598" y="1105883"/>
            <a:ext cx="9850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Given a role</a:t>
            </a:r>
            <a:endParaRPr/>
          </a:p>
        </p:txBody>
      </p:sp>
      <p:sp>
        <p:nvSpPr>
          <p:cNvPr id="390" name="Google Shape;390;p16"/>
          <p:cNvSpPr txBox="1"/>
          <p:nvPr/>
        </p:nvSpPr>
        <p:spPr>
          <a:xfrm>
            <a:off x="5308810" y="1784354"/>
            <a:ext cx="78167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given a role</a:t>
            </a:r>
            <a:endParaRPr/>
          </a:p>
        </p:txBody>
      </p:sp>
      <p:sp>
        <p:nvSpPr>
          <p:cNvPr id="391" name="Google Shape;391;p16"/>
          <p:cNvSpPr txBox="1"/>
          <p:nvPr/>
        </p:nvSpPr>
        <p:spPr>
          <a:xfrm>
            <a:off x="5276598" y="2265662"/>
            <a:ext cx="9850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Given a role</a:t>
            </a:r>
            <a:endParaRPr/>
          </a:p>
        </p:txBody>
      </p:sp>
      <p:sp>
        <p:nvSpPr>
          <p:cNvPr id="392" name="Google Shape;392;p16"/>
          <p:cNvSpPr txBox="1"/>
          <p:nvPr/>
        </p:nvSpPr>
        <p:spPr>
          <a:xfrm>
            <a:off x="5337739" y="2906121"/>
            <a:ext cx="78167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given a role</a:t>
            </a:r>
            <a:endParaRPr/>
          </a:p>
        </p:txBody>
      </p:sp>
      <p:sp>
        <p:nvSpPr>
          <p:cNvPr id="393" name="Google Shape;393;p16"/>
          <p:cNvSpPr txBox="1"/>
          <p:nvPr/>
        </p:nvSpPr>
        <p:spPr>
          <a:xfrm>
            <a:off x="6102576" y="232365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94" name="Google Shape;394;p16"/>
          <p:cNvSpPr txBox="1"/>
          <p:nvPr/>
        </p:nvSpPr>
        <p:spPr>
          <a:xfrm>
            <a:off x="6094062" y="116732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95" name="Google Shape;395;p16"/>
          <p:cNvSpPr txBox="1"/>
          <p:nvPr/>
        </p:nvSpPr>
        <p:spPr>
          <a:xfrm>
            <a:off x="6102576" y="173119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396" name="Google Shape;396;p16"/>
          <p:cNvSpPr txBox="1"/>
          <p:nvPr/>
        </p:nvSpPr>
        <p:spPr>
          <a:xfrm>
            <a:off x="6112678" y="290481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397" name="Google Shape;397;p16"/>
          <p:cNvSpPr txBox="1"/>
          <p:nvPr/>
        </p:nvSpPr>
        <p:spPr>
          <a:xfrm>
            <a:off x="3877353" y="495656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/>
          </a:p>
        </p:txBody>
      </p:sp>
      <p:sp>
        <p:nvSpPr>
          <p:cNvPr id="398" name="Google Shape;398;p16"/>
          <p:cNvSpPr txBox="1"/>
          <p:nvPr/>
        </p:nvSpPr>
        <p:spPr>
          <a:xfrm>
            <a:off x="4270898" y="4543565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Y10</a:t>
            </a:r>
            <a:endParaRPr/>
          </a:p>
        </p:txBody>
      </p:sp>
      <p:sp>
        <p:nvSpPr>
          <p:cNvPr id="399" name="Google Shape;399;p16"/>
          <p:cNvSpPr txBox="1"/>
          <p:nvPr/>
        </p:nvSpPr>
        <p:spPr>
          <a:xfrm>
            <a:off x="4270898" y="5412185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Y11</a:t>
            </a:r>
            <a:endParaRPr/>
          </a:p>
        </p:txBody>
      </p:sp>
      <p:sp>
        <p:nvSpPr>
          <p:cNvPr id="400" name="Google Shape;400;p16"/>
          <p:cNvSpPr txBox="1"/>
          <p:nvPr/>
        </p:nvSpPr>
        <p:spPr>
          <a:xfrm>
            <a:off x="4755103" y="437735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98</a:t>
            </a:r>
            <a:endParaRPr/>
          </a:p>
        </p:txBody>
      </p:sp>
      <p:sp>
        <p:nvSpPr>
          <p:cNvPr id="401" name="Google Shape;401;p16"/>
          <p:cNvSpPr txBox="1"/>
          <p:nvPr/>
        </p:nvSpPr>
        <p:spPr>
          <a:xfrm>
            <a:off x="4741098" y="551749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102</a:t>
            </a:r>
            <a:endParaRPr/>
          </a:p>
        </p:txBody>
      </p:sp>
      <p:sp>
        <p:nvSpPr>
          <p:cNvPr id="402" name="Google Shape;402;p16"/>
          <p:cNvSpPr txBox="1"/>
          <p:nvPr/>
        </p:nvSpPr>
        <p:spPr>
          <a:xfrm>
            <a:off x="5082134" y="4033266"/>
            <a:ext cx="11295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Did homework</a:t>
            </a:r>
            <a:endParaRPr/>
          </a:p>
        </p:txBody>
      </p:sp>
      <p:sp>
        <p:nvSpPr>
          <p:cNvPr id="403" name="Google Shape;403;p16"/>
          <p:cNvSpPr txBox="1"/>
          <p:nvPr/>
        </p:nvSpPr>
        <p:spPr>
          <a:xfrm>
            <a:off x="5174824" y="4711737"/>
            <a:ext cx="8656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Did not do homework</a:t>
            </a:r>
            <a:endParaRPr/>
          </a:p>
        </p:txBody>
      </p:sp>
      <p:sp>
        <p:nvSpPr>
          <p:cNvPr id="404" name="Google Shape;404;p16"/>
          <p:cNvSpPr txBox="1"/>
          <p:nvPr/>
        </p:nvSpPr>
        <p:spPr>
          <a:xfrm>
            <a:off x="6052574" y="5251042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98</a:t>
            </a:r>
            <a:endParaRPr/>
          </a:p>
        </p:txBody>
      </p:sp>
      <p:sp>
        <p:nvSpPr>
          <p:cNvPr id="405" name="Google Shape;405;p16"/>
          <p:cNvSpPr txBox="1"/>
          <p:nvPr/>
        </p:nvSpPr>
        <p:spPr>
          <a:xfrm>
            <a:off x="6044060" y="409470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/>
          </a:p>
        </p:txBody>
      </p:sp>
      <p:sp>
        <p:nvSpPr>
          <p:cNvPr id="406" name="Google Shape;406;p16"/>
          <p:cNvSpPr txBox="1"/>
          <p:nvPr/>
        </p:nvSpPr>
        <p:spPr>
          <a:xfrm>
            <a:off x="6052574" y="465857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07" name="Google Shape;407;p16"/>
          <p:cNvSpPr txBox="1"/>
          <p:nvPr/>
        </p:nvSpPr>
        <p:spPr>
          <a:xfrm>
            <a:off x="6062676" y="583219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08" name="Google Shape;408;p16"/>
          <p:cNvSpPr txBox="1"/>
          <p:nvPr/>
        </p:nvSpPr>
        <p:spPr>
          <a:xfrm>
            <a:off x="5116423" y="5185975"/>
            <a:ext cx="11295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Did homework</a:t>
            </a:r>
            <a:endParaRPr/>
          </a:p>
        </p:txBody>
      </p:sp>
      <p:sp>
        <p:nvSpPr>
          <p:cNvPr id="409" name="Google Shape;409;p16"/>
          <p:cNvSpPr txBox="1"/>
          <p:nvPr/>
        </p:nvSpPr>
        <p:spPr>
          <a:xfrm>
            <a:off x="5209113" y="5864446"/>
            <a:ext cx="8656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Did not do homework</a:t>
            </a:r>
            <a:endParaRPr/>
          </a:p>
        </p:txBody>
      </p:sp>
      <p:sp>
        <p:nvSpPr>
          <p:cNvPr id="410" name="Google Shape;410;p16"/>
          <p:cNvSpPr txBox="1"/>
          <p:nvPr/>
        </p:nvSpPr>
        <p:spPr>
          <a:xfrm>
            <a:off x="3907535" y="791736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83</a:t>
            </a:r>
            <a:endParaRPr/>
          </a:p>
        </p:txBody>
      </p:sp>
      <p:sp>
        <p:nvSpPr>
          <p:cNvPr id="411" name="Google Shape;411;p16"/>
          <p:cNvSpPr txBox="1"/>
          <p:nvPr/>
        </p:nvSpPr>
        <p:spPr>
          <a:xfrm>
            <a:off x="4132836" y="7512551"/>
            <a:ext cx="7362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Tomato</a:t>
            </a:r>
            <a:endParaRPr/>
          </a:p>
        </p:txBody>
      </p:sp>
      <p:sp>
        <p:nvSpPr>
          <p:cNvPr id="412" name="Google Shape;412;p16"/>
          <p:cNvSpPr txBox="1"/>
          <p:nvPr/>
        </p:nvSpPr>
        <p:spPr>
          <a:xfrm>
            <a:off x="4132836" y="8381171"/>
            <a:ext cx="7362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Chicken</a:t>
            </a:r>
            <a:endParaRPr/>
          </a:p>
        </p:txBody>
      </p:sp>
      <p:sp>
        <p:nvSpPr>
          <p:cNvPr id="413" name="Google Shape;413;p16"/>
          <p:cNvSpPr txBox="1"/>
          <p:nvPr/>
        </p:nvSpPr>
        <p:spPr>
          <a:xfrm>
            <a:off x="4767461" y="733458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414" name="Google Shape;414;p16"/>
          <p:cNvSpPr txBox="1"/>
          <p:nvPr/>
        </p:nvSpPr>
        <p:spPr>
          <a:xfrm>
            <a:off x="4782511" y="849551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/>
          </a:p>
        </p:txBody>
      </p:sp>
      <p:sp>
        <p:nvSpPr>
          <p:cNvPr id="415" name="Google Shape;415;p16"/>
          <p:cNvSpPr txBox="1"/>
          <p:nvPr/>
        </p:nvSpPr>
        <p:spPr>
          <a:xfrm>
            <a:off x="5238341" y="7004931"/>
            <a:ext cx="11295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Brown roll</a:t>
            </a:r>
            <a:endParaRPr/>
          </a:p>
        </p:txBody>
      </p:sp>
      <p:sp>
        <p:nvSpPr>
          <p:cNvPr id="416" name="Google Shape;416;p16"/>
          <p:cNvSpPr txBox="1"/>
          <p:nvPr/>
        </p:nvSpPr>
        <p:spPr>
          <a:xfrm>
            <a:off x="5240991" y="7696157"/>
            <a:ext cx="11295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White roll</a:t>
            </a:r>
            <a:endParaRPr/>
          </a:p>
        </p:txBody>
      </p:sp>
      <p:sp>
        <p:nvSpPr>
          <p:cNvPr id="417" name="Google Shape;417;p16"/>
          <p:cNvSpPr txBox="1"/>
          <p:nvPr/>
        </p:nvSpPr>
        <p:spPr>
          <a:xfrm>
            <a:off x="5273948" y="8146351"/>
            <a:ext cx="11295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Brown roll</a:t>
            </a:r>
            <a:endParaRPr/>
          </a:p>
        </p:txBody>
      </p:sp>
      <p:sp>
        <p:nvSpPr>
          <p:cNvPr id="418" name="Google Shape;418;p16"/>
          <p:cNvSpPr txBox="1"/>
          <p:nvPr/>
        </p:nvSpPr>
        <p:spPr>
          <a:xfrm>
            <a:off x="5276598" y="8837577"/>
            <a:ext cx="11295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White roll</a:t>
            </a:r>
            <a:endParaRPr/>
          </a:p>
        </p:txBody>
      </p:sp>
      <p:sp>
        <p:nvSpPr>
          <p:cNvPr id="419" name="Google Shape;419;p16"/>
          <p:cNvSpPr txBox="1"/>
          <p:nvPr/>
        </p:nvSpPr>
        <p:spPr>
          <a:xfrm>
            <a:off x="6094062" y="705288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20" name="Google Shape;420;p16"/>
          <p:cNvSpPr txBox="1"/>
          <p:nvPr/>
        </p:nvSpPr>
        <p:spPr>
          <a:xfrm>
            <a:off x="6084734" y="763448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421" name="Google Shape;421;p16"/>
          <p:cNvSpPr txBox="1"/>
          <p:nvPr/>
        </p:nvSpPr>
        <p:spPr>
          <a:xfrm>
            <a:off x="6084733" y="878904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/>
          </a:p>
        </p:txBody>
      </p:sp>
      <p:sp>
        <p:nvSpPr>
          <p:cNvPr id="422" name="Google Shape;422;p16"/>
          <p:cNvSpPr txBox="1"/>
          <p:nvPr/>
        </p:nvSpPr>
        <p:spPr>
          <a:xfrm>
            <a:off x="6084392" y="821608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8" name="Google Shape;428;p17"/>
          <p:cNvGraphicFramePr/>
          <p:nvPr/>
        </p:nvGraphicFramePr>
        <p:xfrm>
          <a:off x="142685" y="4217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{6801E93B-9AB9-4873-88AB-CCC41B1FCB21}</a:tableStyleId>
              </a:tblPr>
              <a:tblGrid>
                <a:gridCol w="6543475"/>
              </a:tblGrid>
              <a:tr h="228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9" name="Google Shape;429;p17"/>
          <p:cNvSpPr txBox="1"/>
          <p:nvPr>
            <p:ph idx="12" type="sldNum"/>
          </p:nvPr>
        </p:nvSpPr>
        <p:spPr>
          <a:xfrm>
            <a:off x="5204872" y="937750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0" name="Google Shape;430;p17"/>
          <p:cNvSpPr/>
          <p:nvPr/>
        </p:nvSpPr>
        <p:spPr>
          <a:xfrm>
            <a:off x="142685" y="33074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431" name="Google Shape;431;p17"/>
          <p:cNvSpPr txBox="1"/>
          <p:nvPr/>
        </p:nvSpPr>
        <p:spPr>
          <a:xfrm>
            <a:off x="1233428" y="125789"/>
            <a:ext cx="43911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Create a frequency tree for each of the following questions.</a:t>
            </a:r>
            <a:endParaRPr/>
          </a:p>
        </p:txBody>
      </p:sp>
      <p:sp>
        <p:nvSpPr>
          <p:cNvPr id="432" name="Google Shape;432;p17"/>
          <p:cNvSpPr txBox="1"/>
          <p:nvPr/>
        </p:nvSpPr>
        <p:spPr>
          <a:xfrm>
            <a:off x="171841" y="404346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/>
          </a:p>
        </p:txBody>
      </p:sp>
      <p:sp>
        <p:nvSpPr>
          <p:cNvPr id="433" name="Google Shape;433;p17"/>
          <p:cNvSpPr txBox="1"/>
          <p:nvPr/>
        </p:nvSpPr>
        <p:spPr>
          <a:xfrm>
            <a:off x="152775" y="2789164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/>
          </a:p>
        </p:txBody>
      </p:sp>
      <p:sp>
        <p:nvSpPr>
          <p:cNvPr id="434" name="Google Shape;434;p17"/>
          <p:cNvSpPr txBox="1"/>
          <p:nvPr/>
        </p:nvSpPr>
        <p:spPr>
          <a:xfrm>
            <a:off x="142685" y="5006932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/>
          </a:p>
        </p:txBody>
      </p:sp>
      <p:sp>
        <p:nvSpPr>
          <p:cNvPr id="435" name="Google Shape;435;p17"/>
          <p:cNvSpPr txBox="1"/>
          <p:nvPr/>
        </p:nvSpPr>
        <p:spPr>
          <a:xfrm>
            <a:off x="111464" y="7277370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/>
          </a:p>
        </p:txBody>
      </p:sp>
      <p:sp>
        <p:nvSpPr>
          <p:cNvPr id="436" name="Google Shape;436;p17"/>
          <p:cNvSpPr txBox="1"/>
          <p:nvPr/>
        </p:nvSpPr>
        <p:spPr>
          <a:xfrm>
            <a:off x="389870" y="422276"/>
            <a:ext cx="275651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students had some homework.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 of these students are boys.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of the 100 students did not do their homework.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 of the girls did do their homework.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 txBox="1"/>
          <p:nvPr/>
        </p:nvSpPr>
        <p:spPr>
          <a:xfrm>
            <a:off x="389870" y="2792291"/>
            <a:ext cx="275651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 people took a test.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the test, they predicted whether they would pass or fail.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people predicted they would pass.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 of the people who predicted they would pass did pass.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 people passed altogether.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 txBox="1"/>
          <p:nvPr/>
        </p:nvSpPr>
        <p:spPr>
          <a:xfrm>
            <a:off x="379779" y="5032777"/>
            <a:ext cx="265699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class has 30 children.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16 boys.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girls and 5 boys walk to school, the rest used a car.</a:t>
            </a:r>
            <a:endParaRPr/>
          </a:p>
        </p:txBody>
      </p:sp>
      <p:sp>
        <p:nvSpPr>
          <p:cNvPr id="439" name="Google Shape;439;p17"/>
          <p:cNvSpPr txBox="1"/>
          <p:nvPr/>
        </p:nvSpPr>
        <p:spPr>
          <a:xfrm>
            <a:off x="329495" y="7277369"/>
            <a:ext cx="2756519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150 pupils in Year 10.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Pupils either have school lunches or packed lunches.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79 of the pupils are boys.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 girls have school lunches and 39 boys have school lunches.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" name="Google Shape;4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5242" y="536697"/>
            <a:ext cx="2622888" cy="202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4787" y="2904359"/>
            <a:ext cx="2622888" cy="202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3094" y="5155753"/>
            <a:ext cx="2622888" cy="202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4787" y="7439752"/>
            <a:ext cx="2622888" cy="2020362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7"/>
          <p:cNvSpPr txBox="1"/>
          <p:nvPr/>
        </p:nvSpPr>
        <p:spPr>
          <a:xfrm>
            <a:off x="3748557" y="140837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445" name="Google Shape;445;p17"/>
          <p:cNvSpPr txBox="1"/>
          <p:nvPr/>
        </p:nvSpPr>
        <p:spPr>
          <a:xfrm>
            <a:off x="4200505" y="992872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Boys</a:t>
            </a:r>
            <a:endParaRPr/>
          </a:p>
        </p:txBody>
      </p:sp>
      <p:sp>
        <p:nvSpPr>
          <p:cNvPr id="446" name="Google Shape;446;p17"/>
          <p:cNvSpPr txBox="1"/>
          <p:nvPr/>
        </p:nvSpPr>
        <p:spPr>
          <a:xfrm>
            <a:off x="4200505" y="1861492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Girls</a:t>
            </a:r>
            <a:endParaRPr/>
          </a:p>
        </p:txBody>
      </p:sp>
      <p:sp>
        <p:nvSpPr>
          <p:cNvPr id="447" name="Google Shape;447;p17"/>
          <p:cNvSpPr txBox="1"/>
          <p:nvPr/>
        </p:nvSpPr>
        <p:spPr>
          <a:xfrm>
            <a:off x="4957482" y="480593"/>
            <a:ext cx="11295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Did homework</a:t>
            </a:r>
            <a:endParaRPr/>
          </a:p>
        </p:txBody>
      </p:sp>
      <p:sp>
        <p:nvSpPr>
          <p:cNvPr id="448" name="Google Shape;448;p17"/>
          <p:cNvSpPr txBox="1"/>
          <p:nvPr/>
        </p:nvSpPr>
        <p:spPr>
          <a:xfrm>
            <a:off x="5050172" y="1113211"/>
            <a:ext cx="8656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Did not do homework</a:t>
            </a:r>
            <a:endParaRPr/>
          </a:p>
        </p:txBody>
      </p:sp>
      <p:sp>
        <p:nvSpPr>
          <p:cNvPr id="449" name="Google Shape;449;p17"/>
          <p:cNvSpPr txBox="1"/>
          <p:nvPr/>
        </p:nvSpPr>
        <p:spPr>
          <a:xfrm>
            <a:off x="4952515" y="1630980"/>
            <a:ext cx="11295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Did homework</a:t>
            </a:r>
            <a:endParaRPr/>
          </a:p>
        </p:txBody>
      </p:sp>
      <p:sp>
        <p:nvSpPr>
          <p:cNvPr id="450" name="Google Shape;450;p17"/>
          <p:cNvSpPr txBox="1"/>
          <p:nvPr/>
        </p:nvSpPr>
        <p:spPr>
          <a:xfrm>
            <a:off x="5038817" y="2271468"/>
            <a:ext cx="8656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Did not do homework</a:t>
            </a:r>
            <a:endParaRPr/>
          </a:p>
        </p:txBody>
      </p:sp>
      <p:sp>
        <p:nvSpPr>
          <p:cNvPr id="451" name="Google Shape;451;p17"/>
          <p:cNvSpPr txBox="1"/>
          <p:nvPr/>
        </p:nvSpPr>
        <p:spPr>
          <a:xfrm>
            <a:off x="4625328" y="82837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/>
          </a:p>
        </p:txBody>
      </p:sp>
      <p:sp>
        <p:nvSpPr>
          <p:cNvPr id="452" name="Google Shape;452;p17"/>
          <p:cNvSpPr txBox="1"/>
          <p:nvPr/>
        </p:nvSpPr>
        <p:spPr>
          <a:xfrm>
            <a:off x="4616298" y="198830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/>
          </a:p>
        </p:txBody>
      </p:sp>
      <p:sp>
        <p:nvSpPr>
          <p:cNvPr id="453" name="Google Shape;453;p17"/>
          <p:cNvSpPr txBox="1"/>
          <p:nvPr/>
        </p:nvSpPr>
        <p:spPr>
          <a:xfrm>
            <a:off x="5934174" y="169808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endParaRPr/>
          </a:p>
        </p:txBody>
      </p:sp>
      <p:sp>
        <p:nvSpPr>
          <p:cNvPr id="454" name="Google Shape;454;p17"/>
          <p:cNvSpPr txBox="1"/>
          <p:nvPr/>
        </p:nvSpPr>
        <p:spPr>
          <a:xfrm>
            <a:off x="5914129" y="229508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55" name="Google Shape;455;p17"/>
          <p:cNvSpPr txBox="1"/>
          <p:nvPr/>
        </p:nvSpPr>
        <p:spPr>
          <a:xfrm>
            <a:off x="5921616" y="113919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5934173" y="53780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  <p:sp>
        <p:nvSpPr>
          <p:cNvPr id="457" name="Google Shape;457;p17"/>
          <p:cNvSpPr txBox="1"/>
          <p:nvPr/>
        </p:nvSpPr>
        <p:spPr>
          <a:xfrm>
            <a:off x="3711613" y="377604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458" name="Google Shape;458;p17"/>
          <p:cNvSpPr txBox="1"/>
          <p:nvPr/>
        </p:nvSpPr>
        <p:spPr>
          <a:xfrm>
            <a:off x="3715472" y="602743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459" name="Google Shape;459;p17"/>
          <p:cNvSpPr txBox="1"/>
          <p:nvPr/>
        </p:nvSpPr>
        <p:spPr>
          <a:xfrm>
            <a:off x="3710357" y="831143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  <p:sp>
        <p:nvSpPr>
          <p:cNvPr id="460" name="Google Shape;460;p17"/>
          <p:cNvSpPr txBox="1"/>
          <p:nvPr/>
        </p:nvSpPr>
        <p:spPr>
          <a:xfrm>
            <a:off x="3857648" y="3287763"/>
            <a:ext cx="8182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Predicted Pass</a:t>
            </a:r>
            <a:endParaRPr/>
          </a:p>
        </p:txBody>
      </p:sp>
      <p:sp>
        <p:nvSpPr>
          <p:cNvPr id="461" name="Google Shape;461;p17"/>
          <p:cNvSpPr txBox="1"/>
          <p:nvPr/>
        </p:nvSpPr>
        <p:spPr>
          <a:xfrm>
            <a:off x="3856487" y="4259409"/>
            <a:ext cx="8182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Predicted Fail</a:t>
            </a:r>
            <a:endParaRPr/>
          </a:p>
        </p:txBody>
      </p:sp>
      <p:sp>
        <p:nvSpPr>
          <p:cNvPr id="462" name="Google Shape;462;p17"/>
          <p:cNvSpPr txBox="1"/>
          <p:nvPr/>
        </p:nvSpPr>
        <p:spPr>
          <a:xfrm>
            <a:off x="5038817" y="2847554"/>
            <a:ext cx="939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Actual Pass</a:t>
            </a:r>
            <a:endParaRPr/>
          </a:p>
        </p:txBody>
      </p:sp>
      <p:sp>
        <p:nvSpPr>
          <p:cNvPr id="463" name="Google Shape;463;p17"/>
          <p:cNvSpPr txBox="1"/>
          <p:nvPr/>
        </p:nvSpPr>
        <p:spPr>
          <a:xfrm>
            <a:off x="5050172" y="3544562"/>
            <a:ext cx="939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Actual Fail</a:t>
            </a:r>
            <a:endParaRPr/>
          </a:p>
        </p:txBody>
      </p:sp>
      <p:sp>
        <p:nvSpPr>
          <p:cNvPr id="464" name="Google Shape;464;p17"/>
          <p:cNvSpPr txBox="1"/>
          <p:nvPr/>
        </p:nvSpPr>
        <p:spPr>
          <a:xfrm>
            <a:off x="5064357" y="4005913"/>
            <a:ext cx="939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Actual Pass</a:t>
            </a:r>
            <a:endParaRPr/>
          </a:p>
        </p:txBody>
      </p:sp>
      <p:sp>
        <p:nvSpPr>
          <p:cNvPr id="465" name="Google Shape;465;p17"/>
          <p:cNvSpPr txBox="1"/>
          <p:nvPr/>
        </p:nvSpPr>
        <p:spPr>
          <a:xfrm>
            <a:off x="5075712" y="4702921"/>
            <a:ext cx="9395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Actual Fail</a:t>
            </a:r>
            <a:endParaRPr/>
          </a:p>
        </p:txBody>
      </p:sp>
      <p:sp>
        <p:nvSpPr>
          <p:cNvPr id="466" name="Google Shape;466;p17"/>
          <p:cNvSpPr txBox="1"/>
          <p:nvPr/>
        </p:nvSpPr>
        <p:spPr>
          <a:xfrm>
            <a:off x="4596471" y="318954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467" name="Google Shape;467;p17"/>
          <p:cNvSpPr txBox="1"/>
          <p:nvPr/>
        </p:nvSpPr>
        <p:spPr>
          <a:xfrm>
            <a:off x="4596470" y="435441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468" name="Google Shape;468;p17"/>
          <p:cNvSpPr txBox="1"/>
          <p:nvPr/>
        </p:nvSpPr>
        <p:spPr>
          <a:xfrm>
            <a:off x="5887722" y="290435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469" name="Google Shape;469;p17"/>
          <p:cNvSpPr txBox="1"/>
          <p:nvPr/>
        </p:nvSpPr>
        <p:spPr>
          <a:xfrm>
            <a:off x="5887722" y="350204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70" name="Google Shape;470;p17"/>
          <p:cNvSpPr txBox="1"/>
          <p:nvPr/>
        </p:nvSpPr>
        <p:spPr>
          <a:xfrm>
            <a:off x="5900492" y="405728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471" name="Google Shape;471;p17"/>
          <p:cNvSpPr txBox="1"/>
          <p:nvPr/>
        </p:nvSpPr>
        <p:spPr>
          <a:xfrm>
            <a:off x="5900491" y="464899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72" name="Google Shape;472;p17"/>
          <p:cNvSpPr txBox="1"/>
          <p:nvPr/>
        </p:nvSpPr>
        <p:spPr>
          <a:xfrm>
            <a:off x="4129677" y="5597126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Boys</a:t>
            </a:r>
            <a:endParaRPr/>
          </a:p>
        </p:txBody>
      </p:sp>
      <p:sp>
        <p:nvSpPr>
          <p:cNvPr id="473" name="Google Shape;473;p17"/>
          <p:cNvSpPr txBox="1"/>
          <p:nvPr/>
        </p:nvSpPr>
        <p:spPr>
          <a:xfrm>
            <a:off x="4129677" y="6465746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Girls</a:t>
            </a:r>
            <a:endParaRPr/>
          </a:p>
        </p:txBody>
      </p:sp>
      <p:sp>
        <p:nvSpPr>
          <p:cNvPr id="474" name="Google Shape;474;p17"/>
          <p:cNvSpPr txBox="1"/>
          <p:nvPr/>
        </p:nvSpPr>
        <p:spPr>
          <a:xfrm>
            <a:off x="5194028" y="5128779"/>
            <a:ext cx="5855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Walk</a:t>
            </a:r>
            <a:endParaRPr/>
          </a:p>
        </p:txBody>
      </p:sp>
      <p:sp>
        <p:nvSpPr>
          <p:cNvPr id="475" name="Google Shape;475;p17"/>
          <p:cNvSpPr txBox="1"/>
          <p:nvPr/>
        </p:nvSpPr>
        <p:spPr>
          <a:xfrm>
            <a:off x="5238433" y="5750435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Car</a:t>
            </a:r>
            <a:endParaRPr/>
          </a:p>
        </p:txBody>
      </p:sp>
      <p:sp>
        <p:nvSpPr>
          <p:cNvPr id="476" name="Google Shape;476;p17"/>
          <p:cNvSpPr txBox="1"/>
          <p:nvPr/>
        </p:nvSpPr>
        <p:spPr>
          <a:xfrm>
            <a:off x="5207674" y="6277460"/>
            <a:ext cx="5855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Walk</a:t>
            </a:r>
            <a:endParaRPr/>
          </a:p>
        </p:txBody>
      </p:sp>
      <p:sp>
        <p:nvSpPr>
          <p:cNvPr id="477" name="Google Shape;477;p17"/>
          <p:cNvSpPr txBox="1"/>
          <p:nvPr/>
        </p:nvSpPr>
        <p:spPr>
          <a:xfrm>
            <a:off x="5252079" y="6899116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Car</a:t>
            </a:r>
            <a:endParaRPr/>
          </a:p>
        </p:txBody>
      </p:sp>
      <p:sp>
        <p:nvSpPr>
          <p:cNvPr id="478" name="Google Shape;478;p17"/>
          <p:cNvSpPr txBox="1"/>
          <p:nvPr/>
        </p:nvSpPr>
        <p:spPr>
          <a:xfrm>
            <a:off x="4574231" y="544195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479" name="Google Shape;479;p17"/>
          <p:cNvSpPr txBox="1"/>
          <p:nvPr/>
        </p:nvSpPr>
        <p:spPr>
          <a:xfrm>
            <a:off x="4577578" y="660424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80" name="Google Shape;480;p17"/>
          <p:cNvSpPr txBox="1"/>
          <p:nvPr/>
        </p:nvSpPr>
        <p:spPr>
          <a:xfrm>
            <a:off x="5888532" y="631468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81" name="Google Shape;481;p17"/>
          <p:cNvSpPr txBox="1"/>
          <p:nvPr/>
        </p:nvSpPr>
        <p:spPr>
          <a:xfrm>
            <a:off x="5873841" y="689911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82" name="Google Shape;482;p17"/>
          <p:cNvSpPr txBox="1"/>
          <p:nvPr/>
        </p:nvSpPr>
        <p:spPr>
          <a:xfrm>
            <a:off x="5872972" y="516495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83" name="Google Shape;483;p17"/>
          <p:cNvSpPr txBox="1"/>
          <p:nvPr/>
        </p:nvSpPr>
        <p:spPr>
          <a:xfrm>
            <a:off x="5881045" y="572920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484" name="Google Shape;484;p17"/>
          <p:cNvSpPr txBox="1"/>
          <p:nvPr/>
        </p:nvSpPr>
        <p:spPr>
          <a:xfrm>
            <a:off x="4122297" y="7890185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Boys</a:t>
            </a:r>
            <a:endParaRPr/>
          </a:p>
        </p:txBody>
      </p:sp>
      <p:sp>
        <p:nvSpPr>
          <p:cNvPr id="485" name="Google Shape;485;p17"/>
          <p:cNvSpPr txBox="1"/>
          <p:nvPr/>
        </p:nvSpPr>
        <p:spPr>
          <a:xfrm>
            <a:off x="4122297" y="8758805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Girls</a:t>
            </a:r>
            <a:endParaRPr/>
          </a:p>
        </p:txBody>
      </p:sp>
      <p:sp>
        <p:nvSpPr>
          <p:cNvPr id="486" name="Google Shape;486;p17"/>
          <p:cNvSpPr txBox="1"/>
          <p:nvPr/>
        </p:nvSpPr>
        <p:spPr>
          <a:xfrm>
            <a:off x="4596488" y="773431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79</a:t>
            </a:r>
            <a:endParaRPr/>
          </a:p>
        </p:txBody>
      </p:sp>
      <p:sp>
        <p:nvSpPr>
          <p:cNvPr id="487" name="Google Shape;487;p17"/>
          <p:cNvSpPr txBox="1"/>
          <p:nvPr/>
        </p:nvSpPr>
        <p:spPr>
          <a:xfrm>
            <a:off x="4584872" y="889052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71</a:t>
            </a:r>
            <a:endParaRPr/>
          </a:p>
        </p:txBody>
      </p:sp>
      <p:sp>
        <p:nvSpPr>
          <p:cNvPr id="488" name="Google Shape;488;p17"/>
          <p:cNvSpPr txBox="1"/>
          <p:nvPr/>
        </p:nvSpPr>
        <p:spPr>
          <a:xfrm>
            <a:off x="4912060" y="7400938"/>
            <a:ext cx="10038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School lunch</a:t>
            </a:r>
            <a:endParaRPr/>
          </a:p>
        </p:txBody>
      </p:sp>
      <p:sp>
        <p:nvSpPr>
          <p:cNvPr id="489" name="Google Shape;489;p17"/>
          <p:cNvSpPr txBox="1"/>
          <p:nvPr/>
        </p:nvSpPr>
        <p:spPr>
          <a:xfrm>
            <a:off x="4916352" y="8108053"/>
            <a:ext cx="10038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Packed lunch</a:t>
            </a:r>
            <a:endParaRPr/>
          </a:p>
        </p:txBody>
      </p:sp>
      <p:sp>
        <p:nvSpPr>
          <p:cNvPr id="490" name="Google Shape;490;p17"/>
          <p:cNvSpPr txBox="1"/>
          <p:nvPr/>
        </p:nvSpPr>
        <p:spPr>
          <a:xfrm>
            <a:off x="4945421" y="8541424"/>
            <a:ext cx="10038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School lunch</a:t>
            </a:r>
            <a:endParaRPr/>
          </a:p>
        </p:txBody>
      </p:sp>
      <p:sp>
        <p:nvSpPr>
          <p:cNvPr id="491" name="Google Shape;491;p17"/>
          <p:cNvSpPr txBox="1"/>
          <p:nvPr/>
        </p:nvSpPr>
        <p:spPr>
          <a:xfrm>
            <a:off x="4949713" y="9248539"/>
            <a:ext cx="10038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Packed lunch</a:t>
            </a:r>
            <a:endParaRPr/>
          </a:p>
        </p:txBody>
      </p:sp>
      <p:sp>
        <p:nvSpPr>
          <p:cNvPr id="492" name="Google Shape;492;p17"/>
          <p:cNvSpPr txBox="1"/>
          <p:nvPr/>
        </p:nvSpPr>
        <p:spPr>
          <a:xfrm>
            <a:off x="5894195" y="860935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493" name="Google Shape;493;p17"/>
          <p:cNvSpPr txBox="1"/>
          <p:nvPr/>
        </p:nvSpPr>
        <p:spPr>
          <a:xfrm>
            <a:off x="5893718" y="7444822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  <p:sp>
        <p:nvSpPr>
          <p:cNvPr id="494" name="Google Shape;494;p17"/>
          <p:cNvSpPr txBox="1"/>
          <p:nvPr/>
        </p:nvSpPr>
        <p:spPr>
          <a:xfrm>
            <a:off x="5893718" y="802387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495" name="Google Shape;495;p17"/>
          <p:cNvSpPr txBox="1"/>
          <p:nvPr/>
        </p:nvSpPr>
        <p:spPr>
          <a:xfrm>
            <a:off x="5881161" y="918060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8"/>
          <p:cNvSpPr txBox="1"/>
          <p:nvPr>
            <p:ph idx="12" type="sldNum"/>
          </p:nvPr>
        </p:nvSpPr>
        <p:spPr>
          <a:xfrm>
            <a:off x="5238727" y="933517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2" name="Google Shape;502;p18"/>
          <p:cNvSpPr txBox="1"/>
          <p:nvPr/>
        </p:nvSpPr>
        <p:spPr>
          <a:xfrm>
            <a:off x="171841" y="225050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/>
          </a:p>
        </p:txBody>
      </p:sp>
      <p:sp>
        <p:nvSpPr>
          <p:cNvPr id="503" name="Google Shape;503;p18"/>
          <p:cNvSpPr txBox="1"/>
          <p:nvPr/>
        </p:nvSpPr>
        <p:spPr>
          <a:xfrm>
            <a:off x="155871" y="2541868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/>
          </a:p>
        </p:txBody>
      </p:sp>
      <p:sp>
        <p:nvSpPr>
          <p:cNvPr id="504" name="Google Shape;504;p18"/>
          <p:cNvSpPr txBox="1"/>
          <p:nvPr/>
        </p:nvSpPr>
        <p:spPr>
          <a:xfrm>
            <a:off x="141202" y="4810110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</a:t>
            </a:r>
            <a:endParaRPr/>
          </a:p>
        </p:txBody>
      </p:sp>
      <p:sp>
        <p:nvSpPr>
          <p:cNvPr id="505" name="Google Shape;505;p18"/>
          <p:cNvSpPr txBox="1"/>
          <p:nvPr/>
        </p:nvSpPr>
        <p:spPr>
          <a:xfrm>
            <a:off x="115396" y="7125218"/>
            <a:ext cx="4741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</a:t>
            </a:r>
            <a:endParaRPr/>
          </a:p>
        </p:txBody>
      </p:sp>
      <p:sp>
        <p:nvSpPr>
          <p:cNvPr id="506" name="Google Shape;506;p18"/>
          <p:cNvSpPr txBox="1"/>
          <p:nvPr/>
        </p:nvSpPr>
        <p:spPr>
          <a:xfrm>
            <a:off x="325806" y="2554925"/>
            <a:ext cx="2756519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500 people were surveyed.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of the people were either left handed or right handed.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 of the people are left handed.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 males are left handed.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231 of the people are male. </a:t>
            </a:r>
            <a:endParaRPr/>
          </a:p>
        </p:txBody>
      </p:sp>
      <p:sp>
        <p:nvSpPr>
          <p:cNvPr id="507" name="Google Shape;507;p18"/>
          <p:cNvSpPr txBox="1"/>
          <p:nvPr/>
        </p:nvSpPr>
        <p:spPr>
          <a:xfrm>
            <a:off x="359232" y="4823561"/>
            <a:ext cx="275651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Caleb makes a cola drink.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is doing a taste test.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asks 80 people if they prefer cola A or cola B.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 of the people asked were male.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 of the 50 people that prefer cola A are female. </a:t>
            </a:r>
            <a:endParaRPr/>
          </a:p>
        </p:txBody>
      </p:sp>
      <p:sp>
        <p:nvSpPr>
          <p:cNvPr id="508" name="Google Shape;508;p18"/>
          <p:cNvSpPr txBox="1"/>
          <p:nvPr/>
        </p:nvSpPr>
        <p:spPr>
          <a:xfrm>
            <a:off x="333427" y="7125218"/>
            <a:ext cx="282845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 people were asked if they like football.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 of these people were men, the rest are women.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of the men do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football.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65 of the 80 people like football. </a:t>
            </a:r>
            <a:endParaRPr/>
          </a:p>
        </p:txBody>
      </p:sp>
      <p:sp>
        <p:nvSpPr>
          <p:cNvPr id="509" name="Google Shape;509;p18"/>
          <p:cNvSpPr txBox="1"/>
          <p:nvPr/>
        </p:nvSpPr>
        <p:spPr>
          <a:xfrm>
            <a:off x="408934" y="250621"/>
            <a:ext cx="302006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95 cars in a car park.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 of the cars are white.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 of the non-white cars are convertibles and 21 of the white cars are not convertibles.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0" name="Google Shape;5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6178" y="363549"/>
            <a:ext cx="2622888" cy="202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6178" y="2699778"/>
            <a:ext cx="2622888" cy="202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9871" y="4936551"/>
            <a:ext cx="2622888" cy="202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7024" y="7194909"/>
            <a:ext cx="2622888" cy="2020362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8"/>
          <p:cNvSpPr txBox="1"/>
          <p:nvPr/>
        </p:nvSpPr>
        <p:spPr>
          <a:xfrm>
            <a:off x="3739321" y="1229082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95</a:t>
            </a:r>
            <a:endParaRPr/>
          </a:p>
        </p:txBody>
      </p:sp>
      <p:sp>
        <p:nvSpPr>
          <p:cNvPr id="515" name="Google Shape;515;p18"/>
          <p:cNvSpPr txBox="1"/>
          <p:nvPr/>
        </p:nvSpPr>
        <p:spPr>
          <a:xfrm>
            <a:off x="3976418" y="843809"/>
            <a:ext cx="6306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White</a:t>
            </a:r>
            <a:endParaRPr/>
          </a:p>
        </p:txBody>
      </p:sp>
      <p:sp>
        <p:nvSpPr>
          <p:cNvPr id="516" name="Google Shape;516;p18"/>
          <p:cNvSpPr txBox="1"/>
          <p:nvPr/>
        </p:nvSpPr>
        <p:spPr>
          <a:xfrm>
            <a:off x="3826178" y="1709342"/>
            <a:ext cx="8658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white</a:t>
            </a:r>
            <a:endParaRPr/>
          </a:p>
        </p:txBody>
      </p:sp>
      <p:sp>
        <p:nvSpPr>
          <p:cNvPr id="517" name="Google Shape;517;p18"/>
          <p:cNvSpPr txBox="1"/>
          <p:nvPr/>
        </p:nvSpPr>
        <p:spPr>
          <a:xfrm>
            <a:off x="4616023" y="65972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518" name="Google Shape;518;p18"/>
          <p:cNvSpPr txBox="1"/>
          <p:nvPr/>
        </p:nvSpPr>
        <p:spPr>
          <a:xfrm>
            <a:off x="4607058" y="180793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/>
          </a:p>
        </p:txBody>
      </p:sp>
      <p:sp>
        <p:nvSpPr>
          <p:cNvPr id="519" name="Google Shape;519;p18"/>
          <p:cNvSpPr txBox="1"/>
          <p:nvPr/>
        </p:nvSpPr>
        <p:spPr>
          <a:xfrm>
            <a:off x="5001764" y="300225"/>
            <a:ext cx="9961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Convertible</a:t>
            </a:r>
            <a:endParaRPr/>
          </a:p>
        </p:txBody>
      </p:sp>
      <p:sp>
        <p:nvSpPr>
          <p:cNvPr id="520" name="Google Shape;520;p18"/>
          <p:cNvSpPr txBox="1"/>
          <p:nvPr/>
        </p:nvSpPr>
        <p:spPr>
          <a:xfrm>
            <a:off x="5068946" y="912065"/>
            <a:ext cx="9961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convertible</a:t>
            </a:r>
            <a:endParaRPr/>
          </a:p>
        </p:txBody>
      </p:sp>
      <p:sp>
        <p:nvSpPr>
          <p:cNvPr id="521" name="Google Shape;521;p18"/>
          <p:cNvSpPr txBox="1"/>
          <p:nvPr/>
        </p:nvSpPr>
        <p:spPr>
          <a:xfrm>
            <a:off x="5069633" y="1465758"/>
            <a:ext cx="9961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Convertible</a:t>
            </a:r>
            <a:endParaRPr/>
          </a:p>
        </p:txBody>
      </p:sp>
      <p:sp>
        <p:nvSpPr>
          <p:cNvPr id="522" name="Google Shape;522;p18"/>
          <p:cNvSpPr txBox="1"/>
          <p:nvPr/>
        </p:nvSpPr>
        <p:spPr>
          <a:xfrm>
            <a:off x="5136815" y="2077598"/>
            <a:ext cx="9961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convertible</a:t>
            </a:r>
            <a:endParaRPr/>
          </a:p>
        </p:txBody>
      </p:sp>
      <p:sp>
        <p:nvSpPr>
          <p:cNvPr id="523" name="Google Shape;523;p18"/>
          <p:cNvSpPr txBox="1"/>
          <p:nvPr/>
        </p:nvSpPr>
        <p:spPr>
          <a:xfrm>
            <a:off x="5905282" y="152139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524" name="Google Shape;524;p18"/>
          <p:cNvSpPr txBox="1"/>
          <p:nvPr/>
        </p:nvSpPr>
        <p:spPr>
          <a:xfrm>
            <a:off x="5905281" y="95208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525" name="Google Shape;525;p18"/>
          <p:cNvSpPr txBox="1"/>
          <p:nvPr/>
        </p:nvSpPr>
        <p:spPr>
          <a:xfrm>
            <a:off x="5905281" y="37039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26" name="Google Shape;526;p18"/>
          <p:cNvSpPr txBox="1"/>
          <p:nvPr/>
        </p:nvSpPr>
        <p:spPr>
          <a:xfrm>
            <a:off x="5904710" y="2106633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57</a:t>
            </a:r>
            <a:endParaRPr/>
          </a:p>
        </p:txBody>
      </p:sp>
      <p:sp>
        <p:nvSpPr>
          <p:cNvPr id="527" name="Google Shape;527;p18"/>
          <p:cNvSpPr txBox="1"/>
          <p:nvPr/>
        </p:nvSpPr>
        <p:spPr>
          <a:xfrm>
            <a:off x="3739321" y="357145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/>
          </a:p>
        </p:txBody>
      </p:sp>
      <p:sp>
        <p:nvSpPr>
          <p:cNvPr id="528" name="Google Shape;528;p18"/>
          <p:cNvSpPr txBox="1"/>
          <p:nvPr/>
        </p:nvSpPr>
        <p:spPr>
          <a:xfrm>
            <a:off x="4054641" y="3189284"/>
            <a:ext cx="6306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Male</a:t>
            </a:r>
            <a:endParaRPr/>
          </a:p>
        </p:txBody>
      </p:sp>
      <p:sp>
        <p:nvSpPr>
          <p:cNvPr id="529" name="Google Shape;529;p18"/>
          <p:cNvSpPr txBox="1"/>
          <p:nvPr/>
        </p:nvSpPr>
        <p:spPr>
          <a:xfrm>
            <a:off x="3976418" y="3995454"/>
            <a:ext cx="7157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Female</a:t>
            </a:r>
            <a:endParaRPr/>
          </a:p>
        </p:txBody>
      </p:sp>
      <p:sp>
        <p:nvSpPr>
          <p:cNvPr id="530" name="Google Shape;530;p18"/>
          <p:cNvSpPr txBox="1"/>
          <p:nvPr/>
        </p:nvSpPr>
        <p:spPr>
          <a:xfrm>
            <a:off x="4607057" y="298556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231</a:t>
            </a:r>
            <a:endParaRPr/>
          </a:p>
        </p:txBody>
      </p:sp>
      <p:sp>
        <p:nvSpPr>
          <p:cNvPr id="531" name="Google Shape;531;p18"/>
          <p:cNvSpPr txBox="1"/>
          <p:nvPr/>
        </p:nvSpPr>
        <p:spPr>
          <a:xfrm>
            <a:off x="4607056" y="416561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269</a:t>
            </a:r>
            <a:endParaRPr/>
          </a:p>
        </p:txBody>
      </p:sp>
      <p:sp>
        <p:nvSpPr>
          <p:cNvPr id="532" name="Google Shape;532;p18"/>
          <p:cNvSpPr txBox="1"/>
          <p:nvPr/>
        </p:nvSpPr>
        <p:spPr>
          <a:xfrm>
            <a:off x="5001764" y="2642069"/>
            <a:ext cx="100048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Left handed</a:t>
            </a:r>
            <a:endParaRPr/>
          </a:p>
        </p:txBody>
      </p:sp>
      <p:sp>
        <p:nvSpPr>
          <p:cNvPr id="533" name="Google Shape;533;p18"/>
          <p:cNvSpPr txBox="1"/>
          <p:nvPr/>
        </p:nvSpPr>
        <p:spPr>
          <a:xfrm>
            <a:off x="4997406" y="3352468"/>
            <a:ext cx="10676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Right handed</a:t>
            </a:r>
            <a:endParaRPr/>
          </a:p>
        </p:txBody>
      </p:sp>
      <p:sp>
        <p:nvSpPr>
          <p:cNvPr id="534" name="Google Shape;534;p18"/>
          <p:cNvSpPr txBox="1"/>
          <p:nvPr/>
        </p:nvSpPr>
        <p:spPr>
          <a:xfrm>
            <a:off x="5034412" y="3810400"/>
            <a:ext cx="100048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Left handed</a:t>
            </a:r>
            <a:endParaRPr/>
          </a:p>
        </p:txBody>
      </p:sp>
      <p:sp>
        <p:nvSpPr>
          <p:cNvPr id="535" name="Google Shape;535;p18"/>
          <p:cNvSpPr txBox="1"/>
          <p:nvPr/>
        </p:nvSpPr>
        <p:spPr>
          <a:xfrm>
            <a:off x="5030054" y="4520799"/>
            <a:ext cx="10676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Right handed</a:t>
            </a:r>
            <a:endParaRPr/>
          </a:p>
        </p:txBody>
      </p:sp>
      <p:sp>
        <p:nvSpPr>
          <p:cNvPr id="536" name="Google Shape;536;p18"/>
          <p:cNvSpPr txBox="1"/>
          <p:nvPr/>
        </p:nvSpPr>
        <p:spPr>
          <a:xfrm>
            <a:off x="5904710" y="271601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537" name="Google Shape;537;p18"/>
          <p:cNvSpPr txBox="1"/>
          <p:nvPr/>
        </p:nvSpPr>
        <p:spPr>
          <a:xfrm>
            <a:off x="5909830" y="3284532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205</a:t>
            </a:r>
            <a:endParaRPr/>
          </a:p>
        </p:txBody>
      </p:sp>
      <p:sp>
        <p:nvSpPr>
          <p:cNvPr id="538" name="Google Shape;538;p18"/>
          <p:cNvSpPr txBox="1"/>
          <p:nvPr/>
        </p:nvSpPr>
        <p:spPr>
          <a:xfrm>
            <a:off x="5909382" y="386571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539" name="Google Shape;539;p18"/>
          <p:cNvSpPr txBox="1"/>
          <p:nvPr/>
        </p:nvSpPr>
        <p:spPr>
          <a:xfrm>
            <a:off x="5904710" y="445055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242</a:t>
            </a:r>
            <a:endParaRPr/>
          </a:p>
        </p:txBody>
      </p:sp>
      <p:sp>
        <p:nvSpPr>
          <p:cNvPr id="540" name="Google Shape;540;p18"/>
          <p:cNvSpPr txBox="1"/>
          <p:nvPr/>
        </p:nvSpPr>
        <p:spPr>
          <a:xfrm>
            <a:off x="4104009" y="5446330"/>
            <a:ext cx="6306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Male</a:t>
            </a:r>
            <a:endParaRPr/>
          </a:p>
        </p:txBody>
      </p:sp>
      <p:sp>
        <p:nvSpPr>
          <p:cNvPr id="541" name="Google Shape;541;p18"/>
          <p:cNvSpPr txBox="1"/>
          <p:nvPr/>
        </p:nvSpPr>
        <p:spPr>
          <a:xfrm>
            <a:off x="4025786" y="6252500"/>
            <a:ext cx="7157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Female</a:t>
            </a:r>
            <a:endParaRPr/>
          </a:p>
        </p:txBody>
      </p:sp>
      <p:sp>
        <p:nvSpPr>
          <p:cNvPr id="542" name="Google Shape;542;p18"/>
          <p:cNvSpPr txBox="1"/>
          <p:nvPr/>
        </p:nvSpPr>
        <p:spPr>
          <a:xfrm>
            <a:off x="3753013" y="580598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543" name="Google Shape;543;p18"/>
          <p:cNvSpPr txBox="1"/>
          <p:nvPr/>
        </p:nvSpPr>
        <p:spPr>
          <a:xfrm>
            <a:off x="4629715" y="521936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/>
          </a:p>
        </p:txBody>
      </p:sp>
      <p:sp>
        <p:nvSpPr>
          <p:cNvPr id="544" name="Google Shape;544;p18"/>
          <p:cNvSpPr txBox="1"/>
          <p:nvPr/>
        </p:nvSpPr>
        <p:spPr>
          <a:xfrm>
            <a:off x="4605890" y="639099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  <p:sp>
        <p:nvSpPr>
          <p:cNvPr id="545" name="Google Shape;545;p18"/>
          <p:cNvSpPr txBox="1"/>
          <p:nvPr/>
        </p:nvSpPr>
        <p:spPr>
          <a:xfrm>
            <a:off x="5233242" y="4912804"/>
            <a:ext cx="100048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Cola A</a:t>
            </a:r>
            <a:endParaRPr/>
          </a:p>
        </p:txBody>
      </p:sp>
      <p:sp>
        <p:nvSpPr>
          <p:cNvPr id="546" name="Google Shape;546;p18"/>
          <p:cNvSpPr txBox="1"/>
          <p:nvPr/>
        </p:nvSpPr>
        <p:spPr>
          <a:xfrm>
            <a:off x="5233936" y="5597092"/>
            <a:ext cx="100048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Cola B</a:t>
            </a:r>
            <a:endParaRPr/>
          </a:p>
        </p:txBody>
      </p:sp>
      <p:sp>
        <p:nvSpPr>
          <p:cNvPr id="547" name="Google Shape;547;p18"/>
          <p:cNvSpPr txBox="1"/>
          <p:nvPr/>
        </p:nvSpPr>
        <p:spPr>
          <a:xfrm>
            <a:off x="5232548" y="6090790"/>
            <a:ext cx="100048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Cola A</a:t>
            </a:r>
            <a:endParaRPr/>
          </a:p>
        </p:txBody>
      </p:sp>
      <p:sp>
        <p:nvSpPr>
          <p:cNvPr id="548" name="Google Shape;548;p18"/>
          <p:cNvSpPr txBox="1"/>
          <p:nvPr/>
        </p:nvSpPr>
        <p:spPr>
          <a:xfrm>
            <a:off x="5233242" y="6775078"/>
            <a:ext cx="100048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Cola B</a:t>
            </a:r>
            <a:endParaRPr/>
          </a:p>
        </p:txBody>
      </p:sp>
      <p:sp>
        <p:nvSpPr>
          <p:cNvPr id="549" name="Google Shape;549;p18"/>
          <p:cNvSpPr txBox="1"/>
          <p:nvPr/>
        </p:nvSpPr>
        <p:spPr>
          <a:xfrm>
            <a:off x="5926674" y="611048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550" name="Google Shape;550;p18"/>
          <p:cNvSpPr txBox="1"/>
          <p:nvPr/>
        </p:nvSpPr>
        <p:spPr>
          <a:xfrm>
            <a:off x="5917708" y="4941719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551" name="Google Shape;551;p18"/>
          <p:cNvSpPr txBox="1"/>
          <p:nvPr/>
        </p:nvSpPr>
        <p:spPr>
          <a:xfrm>
            <a:off x="5917708" y="6689761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552" name="Google Shape;552;p18"/>
          <p:cNvSpPr txBox="1"/>
          <p:nvPr/>
        </p:nvSpPr>
        <p:spPr>
          <a:xfrm>
            <a:off x="5921714" y="5531998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553" name="Google Shape;553;p18"/>
          <p:cNvSpPr txBox="1"/>
          <p:nvPr/>
        </p:nvSpPr>
        <p:spPr>
          <a:xfrm>
            <a:off x="3770165" y="806659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554" name="Google Shape;554;p18"/>
          <p:cNvSpPr txBox="1"/>
          <p:nvPr/>
        </p:nvSpPr>
        <p:spPr>
          <a:xfrm>
            <a:off x="4128036" y="7638727"/>
            <a:ext cx="6306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Men</a:t>
            </a:r>
            <a:endParaRPr/>
          </a:p>
        </p:txBody>
      </p:sp>
      <p:sp>
        <p:nvSpPr>
          <p:cNvPr id="555" name="Google Shape;555;p18"/>
          <p:cNvSpPr txBox="1"/>
          <p:nvPr/>
        </p:nvSpPr>
        <p:spPr>
          <a:xfrm>
            <a:off x="4007264" y="8510408"/>
            <a:ext cx="7514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Women</a:t>
            </a:r>
            <a:endParaRPr/>
          </a:p>
        </p:txBody>
      </p:sp>
      <p:sp>
        <p:nvSpPr>
          <p:cNvPr id="556" name="Google Shape;556;p18"/>
          <p:cNvSpPr txBox="1"/>
          <p:nvPr/>
        </p:nvSpPr>
        <p:spPr>
          <a:xfrm>
            <a:off x="5041143" y="7156808"/>
            <a:ext cx="100048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Like football</a:t>
            </a:r>
            <a:endParaRPr/>
          </a:p>
        </p:txBody>
      </p:sp>
      <p:sp>
        <p:nvSpPr>
          <p:cNvPr id="557" name="Google Shape;557;p18"/>
          <p:cNvSpPr txBox="1"/>
          <p:nvPr/>
        </p:nvSpPr>
        <p:spPr>
          <a:xfrm>
            <a:off x="5091278" y="7818094"/>
            <a:ext cx="9374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 not like football</a:t>
            </a:r>
            <a:endParaRPr/>
          </a:p>
        </p:txBody>
      </p:sp>
      <p:sp>
        <p:nvSpPr>
          <p:cNvPr id="558" name="Google Shape;558;p18"/>
          <p:cNvSpPr txBox="1"/>
          <p:nvPr/>
        </p:nvSpPr>
        <p:spPr>
          <a:xfrm>
            <a:off x="5055009" y="8316236"/>
            <a:ext cx="100048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Like football</a:t>
            </a:r>
            <a:endParaRPr/>
          </a:p>
        </p:txBody>
      </p:sp>
      <p:sp>
        <p:nvSpPr>
          <p:cNvPr id="559" name="Google Shape;559;p18"/>
          <p:cNvSpPr txBox="1"/>
          <p:nvPr/>
        </p:nvSpPr>
        <p:spPr>
          <a:xfrm>
            <a:off x="4997406" y="8931355"/>
            <a:ext cx="9374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 not like football</a:t>
            </a:r>
            <a:endParaRPr/>
          </a:p>
        </p:txBody>
      </p:sp>
      <p:sp>
        <p:nvSpPr>
          <p:cNvPr id="560" name="Google Shape;560;p18"/>
          <p:cNvSpPr txBox="1"/>
          <p:nvPr/>
        </p:nvSpPr>
        <p:spPr>
          <a:xfrm>
            <a:off x="4633447" y="748996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/>
          </a:p>
        </p:txBody>
      </p:sp>
      <p:sp>
        <p:nvSpPr>
          <p:cNvPr id="561" name="Google Shape;561;p18"/>
          <p:cNvSpPr txBox="1"/>
          <p:nvPr/>
        </p:nvSpPr>
        <p:spPr>
          <a:xfrm>
            <a:off x="4633757" y="864890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562" name="Google Shape;562;p18"/>
          <p:cNvSpPr txBox="1"/>
          <p:nvPr/>
        </p:nvSpPr>
        <p:spPr>
          <a:xfrm>
            <a:off x="5928380" y="7771927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63" name="Google Shape;563;p18"/>
          <p:cNvSpPr txBox="1"/>
          <p:nvPr/>
        </p:nvSpPr>
        <p:spPr>
          <a:xfrm>
            <a:off x="5943826" y="720967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564" name="Google Shape;564;p18"/>
          <p:cNvSpPr txBox="1"/>
          <p:nvPr/>
        </p:nvSpPr>
        <p:spPr>
          <a:xfrm>
            <a:off x="5942950" y="8353636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565" name="Google Shape;565;p18"/>
          <p:cNvSpPr txBox="1"/>
          <p:nvPr/>
        </p:nvSpPr>
        <p:spPr>
          <a:xfrm>
            <a:off x="5942949" y="8940945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graphicFrame>
        <p:nvGraphicFramePr>
          <p:cNvPr id="566" name="Google Shape;566;p18"/>
          <p:cNvGraphicFramePr/>
          <p:nvPr/>
        </p:nvGraphicFramePr>
        <p:xfrm>
          <a:off x="142685" y="2479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{6801E93B-9AB9-4873-88AB-CCC41B1FCB21}</a:tableStyleId>
              </a:tblPr>
              <a:tblGrid>
                <a:gridCol w="6543475"/>
              </a:tblGrid>
              <a:tr h="228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9"/>
          <p:cNvSpPr txBox="1"/>
          <p:nvPr/>
        </p:nvSpPr>
        <p:spPr>
          <a:xfrm>
            <a:off x="170526" y="436714"/>
            <a:ext cx="66132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9"/>
          <p:cNvSpPr/>
          <p:nvPr/>
        </p:nvSpPr>
        <p:spPr>
          <a:xfrm>
            <a:off x="170888" y="762351"/>
            <a:ext cx="6596013" cy="256479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9"/>
          <p:cNvSpPr txBox="1"/>
          <p:nvPr>
            <p:ph idx="12" type="sldNum"/>
          </p:nvPr>
        </p:nvSpPr>
        <p:spPr>
          <a:xfrm>
            <a:off x="5210578" y="928009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4" name="Google Shape;574;p19"/>
          <p:cNvSpPr/>
          <p:nvPr/>
        </p:nvSpPr>
        <p:spPr>
          <a:xfrm>
            <a:off x="165628" y="3316363"/>
            <a:ext cx="6602400" cy="256479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9"/>
          <p:cNvSpPr/>
          <p:nvPr/>
        </p:nvSpPr>
        <p:spPr>
          <a:xfrm>
            <a:off x="165628" y="5883450"/>
            <a:ext cx="6606000" cy="256479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9"/>
          <p:cNvSpPr txBox="1"/>
          <p:nvPr/>
        </p:nvSpPr>
        <p:spPr>
          <a:xfrm>
            <a:off x="180845" y="762351"/>
            <a:ext cx="302006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30 students were asked if they liked coffee.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of the students were girls.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boys liked coffee.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girls did not like coffee.</a:t>
            </a:r>
            <a:endParaRPr/>
          </a:p>
        </p:txBody>
      </p:sp>
      <p:pic>
        <p:nvPicPr>
          <p:cNvPr descr="Frequency Trees Worksheets | Questions and Revision | MME" id="577" name="Google Shape;5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1086" y="855521"/>
            <a:ext cx="2984814" cy="2299147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19"/>
          <p:cNvSpPr txBox="1"/>
          <p:nvPr/>
        </p:nvSpPr>
        <p:spPr>
          <a:xfrm>
            <a:off x="3565634" y="1422504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Girls</a:t>
            </a:r>
            <a:endParaRPr/>
          </a:p>
        </p:txBody>
      </p:sp>
      <p:sp>
        <p:nvSpPr>
          <p:cNvPr id="579" name="Google Shape;579;p19"/>
          <p:cNvSpPr txBox="1"/>
          <p:nvPr/>
        </p:nvSpPr>
        <p:spPr>
          <a:xfrm>
            <a:off x="3537349" y="238619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Boys</a:t>
            </a:r>
            <a:endParaRPr/>
          </a:p>
        </p:txBody>
      </p:sp>
      <p:sp>
        <p:nvSpPr>
          <p:cNvPr id="580" name="Google Shape;580;p19"/>
          <p:cNvSpPr txBox="1"/>
          <p:nvPr/>
        </p:nvSpPr>
        <p:spPr>
          <a:xfrm>
            <a:off x="4723292" y="844986"/>
            <a:ext cx="8672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coffee</a:t>
            </a:r>
            <a:endParaRPr/>
          </a:p>
        </p:txBody>
      </p:sp>
      <p:sp>
        <p:nvSpPr>
          <p:cNvPr id="581" name="Google Shape;581;p19"/>
          <p:cNvSpPr txBox="1"/>
          <p:nvPr/>
        </p:nvSpPr>
        <p:spPr>
          <a:xfrm>
            <a:off x="4520647" y="1613476"/>
            <a:ext cx="12725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like coffee</a:t>
            </a:r>
            <a:endParaRPr/>
          </a:p>
        </p:txBody>
      </p:sp>
      <p:sp>
        <p:nvSpPr>
          <p:cNvPr id="582" name="Google Shape;582;p19"/>
          <p:cNvSpPr txBox="1"/>
          <p:nvPr/>
        </p:nvSpPr>
        <p:spPr>
          <a:xfrm>
            <a:off x="4723292" y="2143159"/>
            <a:ext cx="8672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coffee</a:t>
            </a:r>
            <a:endParaRPr/>
          </a:p>
        </p:txBody>
      </p:sp>
      <p:sp>
        <p:nvSpPr>
          <p:cNvPr id="583" name="Google Shape;583;p19"/>
          <p:cNvSpPr txBox="1"/>
          <p:nvPr/>
        </p:nvSpPr>
        <p:spPr>
          <a:xfrm>
            <a:off x="4520647" y="2911649"/>
            <a:ext cx="12725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like coffee</a:t>
            </a:r>
            <a:endParaRPr/>
          </a:p>
        </p:txBody>
      </p:sp>
      <p:sp>
        <p:nvSpPr>
          <p:cNvPr id="584" name="Google Shape;584;p19"/>
          <p:cNvSpPr txBox="1"/>
          <p:nvPr/>
        </p:nvSpPr>
        <p:spPr>
          <a:xfrm>
            <a:off x="3137175" y="1797550"/>
            <a:ext cx="63064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85" name="Google Shape;585;p19"/>
          <p:cNvSpPr txBox="1"/>
          <p:nvPr/>
        </p:nvSpPr>
        <p:spPr>
          <a:xfrm>
            <a:off x="177977" y="1918954"/>
            <a:ext cx="302006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number should replace the question mark?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U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U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U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68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U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586" name="Google Shape;586;p19"/>
          <p:cNvSpPr txBox="1"/>
          <p:nvPr/>
        </p:nvSpPr>
        <p:spPr>
          <a:xfrm>
            <a:off x="181670" y="3358497"/>
            <a:ext cx="327469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56 students were asked if they watched tennis.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of the students are boys.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 boys did not watch tennis.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 girls watched tennis.</a:t>
            </a:r>
            <a:endParaRPr/>
          </a:p>
        </p:txBody>
      </p:sp>
      <p:pic>
        <p:nvPicPr>
          <p:cNvPr descr="Frequency Trees Worksheets | Questions and Revision | MME" id="587" name="Google Shape;5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1912" y="3451667"/>
            <a:ext cx="2984814" cy="2299147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19"/>
          <p:cNvSpPr txBox="1"/>
          <p:nvPr/>
        </p:nvSpPr>
        <p:spPr>
          <a:xfrm>
            <a:off x="3566460" y="4018650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Girls</a:t>
            </a:r>
            <a:endParaRPr/>
          </a:p>
        </p:txBody>
      </p:sp>
      <p:sp>
        <p:nvSpPr>
          <p:cNvPr id="589" name="Google Shape;589;p19"/>
          <p:cNvSpPr txBox="1"/>
          <p:nvPr/>
        </p:nvSpPr>
        <p:spPr>
          <a:xfrm>
            <a:off x="3538175" y="4982340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Boys</a:t>
            </a:r>
            <a:endParaRPr/>
          </a:p>
        </p:txBody>
      </p:sp>
      <p:sp>
        <p:nvSpPr>
          <p:cNvPr id="590" name="Google Shape;590;p19"/>
          <p:cNvSpPr txBox="1"/>
          <p:nvPr/>
        </p:nvSpPr>
        <p:spPr>
          <a:xfrm>
            <a:off x="4495311" y="3402704"/>
            <a:ext cx="12204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Watched tennis</a:t>
            </a:r>
            <a:endParaRPr/>
          </a:p>
        </p:txBody>
      </p:sp>
      <p:sp>
        <p:nvSpPr>
          <p:cNvPr id="591" name="Google Shape;591;p19"/>
          <p:cNvSpPr txBox="1"/>
          <p:nvPr/>
        </p:nvSpPr>
        <p:spPr>
          <a:xfrm>
            <a:off x="4370953" y="4209622"/>
            <a:ext cx="14230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Didn’t watch tennis</a:t>
            </a:r>
            <a:endParaRPr/>
          </a:p>
        </p:txBody>
      </p:sp>
      <p:sp>
        <p:nvSpPr>
          <p:cNvPr id="592" name="Google Shape;592;p19"/>
          <p:cNvSpPr txBox="1"/>
          <p:nvPr/>
        </p:nvSpPr>
        <p:spPr>
          <a:xfrm>
            <a:off x="4133431" y="3726076"/>
            <a:ext cx="63064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593" name="Google Shape;593;p19"/>
          <p:cNvSpPr txBox="1"/>
          <p:nvPr/>
        </p:nvSpPr>
        <p:spPr>
          <a:xfrm>
            <a:off x="194019" y="4512207"/>
            <a:ext cx="302006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number should replace the question mark?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U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U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U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U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/>
          </a:p>
        </p:txBody>
      </p:sp>
      <p:sp>
        <p:nvSpPr>
          <p:cNvPr id="594" name="Google Shape;594;p19"/>
          <p:cNvSpPr txBox="1"/>
          <p:nvPr/>
        </p:nvSpPr>
        <p:spPr>
          <a:xfrm>
            <a:off x="4499832" y="4694725"/>
            <a:ext cx="12204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Watched tennis</a:t>
            </a:r>
            <a:endParaRPr/>
          </a:p>
        </p:txBody>
      </p:sp>
      <p:sp>
        <p:nvSpPr>
          <p:cNvPr id="595" name="Google Shape;595;p19"/>
          <p:cNvSpPr txBox="1"/>
          <p:nvPr/>
        </p:nvSpPr>
        <p:spPr>
          <a:xfrm>
            <a:off x="4375474" y="5501643"/>
            <a:ext cx="14230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Didn’t watch tennis</a:t>
            </a:r>
            <a:endParaRPr/>
          </a:p>
        </p:txBody>
      </p:sp>
      <p:sp>
        <p:nvSpPr>
          <p:cNvPr id="596" name="Google Shape;596;p19"/>
          <p:cNvSpPr txBox="1"/>
          <p:nvPr/>
        </p:nvSpPr>
        <p:spPr>
          <a:xfrm>
            <a:off x="192405" y="5882421"/>
            <a:ext cx="327469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56 students were asked if they watched tennis.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of the students are boys.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 boys did not watch tennis.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 girls watched tennis.</a:t>
            </a:r>
            <a:endParaRPr/>
          </a:p>
        </p:txBody>
      </p:sp>
      <p:pic>
        <p:nvPicPr>
          <p:cNvPr descr="Frequency Trees Worksheets | Questions and Revision | MME" id="597" name="Google Shape;5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2647" y="5975591"/>
            <a:ext cx="2984814" cy="2299147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9"/>
          <p:cNvSpPr txBox="1"/>
          <p:nvPr/>
        </p:nvSpPr>
        <p:spPr>
          <a:xfrm>
            <a:off x="3577195" y="6542574"/>
            <a:ext cx="8044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Girls</a:t>
            </a:r>
            <a:endParaRPr/>
          </a:p>
        </p:txBody>
      </p:sp>
      <p:sp>
        <p:nvSpPr>
          <p:cNvPr id="599" name="Google Shape;599;p19"/>
          <p:cNvSpPr txBox="1"/>
          <p:nvPr/>
        </p:nvSpPr>
        <p:spPr>
          <a:xfrm>
            <a:off x="3548910" y="7506264"/>
            <a:ext cx="6306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Boys</a:t>
            </a:r>
            <a:endParaRPr/>
          </a:p>
        </p:txBody>
      </p:sp>
      <p:sp>
        <p:nvSpPr>
          <p:cNvPr id="600" name="Google Shape;600;p19"/>
          <p:cNvSpPr txBox="1"/>
          <p:nvPr/>
        </p:nvSpPr>
        <p:spPr>
          <a:xfrm>
            <a:off x="4506046" y="5926628"/>
            <a:ext cx="12204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Watched tennis</a:t>
            </a:r>
            <a:endParaRPr/>
          </a:p>
        </p:txBody>
      </p:sp>
      <p:sp>
        <p:nvSpPr>
          <p:cNvPr id="601" name="Google Shape;601;p19"/>
          <p:cNvSpPr txBox="1"/>
          <p:nvPr/>
        </p:nvSpPr>
        <p:spPr>
          <a:xfrm>
            <a:off x="4381688" y="6733546"/>
            <a:ext cx="14230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Didn’t watch tennis</a:t>
            </a:r>
            <a:endParaRPr/>
          </a:p>
        </p:txBody>
      </p:sp>
      <p:sp>
        <p:nvSpPr>
          <p:cNvPr id="602" name="Google Shape;602;p19"/>
          <p:cNvSpPr txBox="1"/>
          <p:nvPr/>
        </p:nvSpPr>
        <p:spPr>
          <a:xfrm>
            <a:off x="5633317" y="7244653"/>
            <a:ext cx="63064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603" name="Google Shape;603;p19"/>
          <p:cNvSpPr txBox="1"/>
          <p:nvPr/>
        </p:nvSpPr>
        <p:spPr>
          <a:xfrm>
            <a:off x="204754" y="7036131"/>
            <a:ext cx="302006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number should replace the question mark?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U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U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U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U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604" name="Google Shape;604;p19"/>
          <p:cNvSpPr txBox="1"/>
          <p:nvPr/>
        </p:nvSpPr>
        <p:spPr>
          <a:xfrm>
            <a:off x="4510567" y="7218649"/>
            <a:ext cx="12204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Watched tennis</a:t>
            </a:r>
            <a:endParaRPr/>
          </a:p>
        </p:txBody>
      </p:sp>
      <p:sp>
        <p:nvSpPr>
          <p:cNvPr id="605" name="Google Shape;605;p19"/>
          <p:cNvSpPr txBox="1"/>
          <p:nvPr/>
        </p:nvSpPr>
        <p:spPr>
          <a:xfrm>
            <a:off x="4386209" y="8025567"/>
            <a:ext cx="14230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Didn’t watch tennis</a:t>
            </a:r>
            <a:endParaRPr/>
          </a:p>
        </p:txBody>
      </p:sp>
      <p:sp>
        <p:nvSpPr>
          <p:cNvPr id="606" name="Google Shape;606;p19"/>
          <p:cNvSpPr/>
          <p:nvPr/>
        </p:nvSpPr>
        <p:spPr>
          <a:xfrm>
            <a:off x="213708" y="2487041"/>
            <a:ext cx="511470" cy="2430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9"/>
          <p:cNvSpPr/>
          <p:nvPr/>
        </p:nvSpPr>
        <p:spPr>
          <a:xfrm>
            <a:off x="226883" y="5434051"/>
            <a:ext cx="511470" cy="2430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217927" y="7958258"/>
            <a:ext cx="511470" cy="24303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