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881756-DB08-42B0-B75F-A2D31ED75187}">
  <a:tblStyle styleId="{83881756-DB08-42B0-B75F-A2D31ED7518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6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6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6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6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7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7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7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7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7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17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17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17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17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17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18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3.png"/><Relationship Id="rId7"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idx="12" type="sldNum"/>
          </p:nvPr>
        </p:nvSpPr>
        <p:spPr>
          <a:xfrm>
            <a:off x="5281369" y="9539973"/>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89" name="Google Shape;89;p13"/>
          <p:cNvSpPr/>
          <p:nvPr/>
        </p:nvSpPr>
        <p:spPr>
          <a:xfrm>
            <a:off x="86108" y="313402"/>
            <a:ext cx="6679742" cy="1445775"/>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0" name="Google Shape;90;p13"/>
          <p:cNvSpPr txBox="1"/>
          <p:nvPr/>
        </p:nvSpPr>
        <p:spPr>
          <a:xfrm>
            <a:off x="52983" y="821189"/>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1" name="Google Shape;91;p13"/>
          <p:cNvSpPr txBox="1"/>
          <p:nvPr/>
        </p:nvSpPr>
        <p:spPr>
          <a:xfrm>
            <a:off x="175049" y="1053707"/>
            <a:ext cx="4912918" cy="64633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recognise prime numbers.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use prime numbers in problem solving.</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write a number as a product of its prime factors</a:t>
            </a:r>
            <a:endParaRPr/>
          </a:p>
        </p:txBody>
      </p:sp>
      <p:sp>
        <p:nvSpPr>
          <p:cNvPr id="92" name="Google Shape;92;p13"/>
          <p:cNvSpPr txBox="1"/>
          <p:nvPr/>
        </p:nvSpPr>
        <p:spPr>
          <a:xfrm>
            <a:off x="130314" y="363467"/>
            <a:ext cx="6599093" cy="46166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be able to describe the properties of prime numbers and write numbers as a product of prime factors.</a:t>
            </a:r>
            <a:endParaRPr/>
          </a:p>
        </p:txBody>
      </p:sp>
      <p:sp>
        <p:nvSpPr>
          <p:cNvPr id="93" name="Google Shape;93;p13"/>
          <p:cNvSpPr txBox="1"/>
          <p:nvPr/>
        </p:nvSpPr>
        <p:spPr>
          <a:xfrm>
            <a:off x="5644688" y="886484"/>
            <a:ext cx="1095684" cy="830997"/>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Prime</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Factor</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Product</a:t>
            </a:r>
            <a:endParaRPr/>
          </a:p>
        </p:txBody>
      </p:sp>
      <p:sp>
        <p:nvSpPr>
          <p:cNvPr id="94" name="Google Shape;94;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N3.24 – </a:t>
            </a:r>
            <a:r>
              <a:rPr i="0" lang="en-GB" sz="1800">
                <a:solidFill>
                  <a:schemeClr val="lt1"/>
                </a:solidFill>
                <a:latin typeface="Calibri"/>
                <a:ea typeface="Calibri"/>
                <a:cs typeface="Calibri"/>
                <a:sym typeface="Calibri"/>
              </a:rPr>
              <a:t>Introduction to Primes</a:t>
            </a:r>
            <a:endParaRPr/>
          </a:p>
        </p:txBody>
      </p:sp>
      <p:cxnSp>
        <p:nvCxnSpPr>
          <p:cNvPr id="95" name="Google Shape;95;p13"/>
          <p:cNvCxnSpPr/>
          <p:nvPr/>
        </p:nvCxnSpPr>
        <p:spPr>
          <a:xfrm flipH="1" rot="10800000">
            <a:off x="896058" y="4119413"/>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96" name="Google Shape;96;p13"/>
          <p:cNvSpPr/>
          <p:nvPr/>
        </p:nvSpPr>
        <p:spPr>
          <a:xfrm>
            <a:off x="90352" y="2916779"/>
            <a:ext cx="6675498" cy="2139279"/>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97" name="Google Shape;97;p13"/>
          <p:cNvCxnSpPr/>
          <p:nvPr/>
        </p:nvCxnSpPr>
        <p:spPr>
          <a:xfrm>
            <a:off x="77836" y="3694441"/>
            <a:ext cx="6699219" cy="0"/>
          </a:xfrm>
          <a:prstGeom prst="straightConnector1">
            <a:avLst/>
          </a:prstGeom>
          <a:noFill/>
          <a:ln cap="flat" cmpd="sng" w="9525">
            <a:solidFill>
              <a:schemeClr val="dk1"/>
            </a:solidFill>
            <a:prstDash val="solid"/>
            <a:miter lim="800000"/>
            <a:headEnd len="sm" w="sm" type="none"/>
            <a:tailEnd len="sm" w="sm" type="none"/>
          </a:ln>
        </p:spPr>
      </p:cxnSp>
      <p:cxnSp>
        <p:nvCxnSpPr>
          <p:cNvPr id="98" name="Google Shape;98;p13"/>
          <p:cNvCxnSpPr>
            <a:stCxn id="96" idx="2"/>
            <a:endCxn id="96" idx="0"/>
          </p:cNvCxnSpPr>
          <p:nvPr/>
        </p:nvCxnSpPr>
        <p:spPr>
          <a:xfrm rot="10800000">
            <a:off x="3428101" y="2916758"/>
            <a:ext cx="0" cy="2139300"/>
          </a:xfrm>
          <a:prstGeom prst="straightConnector1">
            <a:avLst/>
          </a:prstGeom>
          <a:noFill/>
          <a:ln cap="flat" cmpd="sng" w="9525">
            <a:solidFill>
              <a:schemeClr val="dk1"/>
            </a:solidFill>
            <a:prstDash val="solid"/>
            <a:miter lim="800000"/>
            <a:headEnd len="sm" w="sm" type="none"/>
            <a:tailEnd len="sm" w="sm" type="none"/>
          </a:ln>
        </p:spPr>
      </p:cxnSp>
      <p:sp>
        <p:nvSpPr>
          <p:cNvPr id="99" name="Google Shape;99;p13"/>
          <p:cNvSpPr txBox="1"/>
          <p:nvPr/>
        </p:nvSpPr>
        <p:spPr>
          <a:xfrm>
            <a:off x="66631" y="2903131"/>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0" name="Google Shape;100;p13"/>
          <p:cNvSpPr txBox="1"/>
          <p:nvPr/>
        </p:nvSpPr>
        <p:spPr>
          <a:xfrm>
            <a:off x="5703551" y="2911129"/>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1" name="Google Shape;101;p13"/>
          <p:cNvSpPr txBox="1"/>
          <p:nvPr/>
        </p:nvSpPr>
        <p:spPr>
          <a:xfrm>
            <a:off x="66631" y="3665751"/>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02" name="Google Shape;102;p13"/>
          <p:cNvSpPr txBox="1"/>
          <p:nvPr/>
        </p:nvSpPr>
        <p:spPr>
          <a:xfrm>
            <a:off x="5592965" y="3676196"/>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3" name="Google Shape;103;p13"/>
          <p:cNvSpPr txBox="1"/>
          <p:nvPr/>
        </p:nvSpPr>
        <p:spPr>
          <a:xfrm>
            <a:off x="41480" y="3153543"/>
            <a:ext cx="3230335" cy="46166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A positive integer with precisely two distinct factors.</a:t>
            </a:r>
            <a:endParaRPr sz="1200">
              <a:solidFill>
                <a:schemeClr val="dk1"/>
              </a:solidFill>
              <a:latin typeface="Calibri"/>
              <a:ea typeface="Calibri"/>
              <a:cs typeface="Calibri"/>
              <a:sym typeface="Calibri"/>
            </a:endParaRPr>
          </a:p>
        </p:txBody>
      </p:sp>
      <p:sp>
        <p:nvSpPr>
          <p:cNvPr id="104" name="Google Shape;104;p13"/>
          <p:cNvSpPr txBox="1"/>
          <p:nvPr/>
        </p:nvSpPr>
        <p:spPr>
          <a:xfrm>
            <a:off x="3400895" y="3082197"/>
            <a:ext cx="3421827" cy="461665"/>
          </a:xfrm>
          <a:prstGeom prst="rect">
            <a:avLst/>
          </a:prstGeom>
          <a:noFill/>
          <a:ln>
            <a:noFill/>
          </a:ln>
        </p:spPr>
        <p:txBody>
          <a:bodyPr anchorCtr="0" anchor="b"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The factors of the number will be 1 and the number itself.</a:t>
            </a:r>
            <a:endParaRPr/>
          </a:p>
        </p:txBody>
      </p:sp>
      <p:sp>
        <p:nvSpPr>
          <p:cNvPr id="105" name="Google Shape;105;p13"/>
          <p:cNvSpPr txBox="1"/>
          <p:nvPr/>
        </p:nvSpPr>
        <p:spPr>
          <a:xfrm>
            <a:off x="2629677" y="3509775"/>
            <a:ext cx="1561646"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Prime Number</a:t>
            </a:r>
            <a:endParaRPr sz="1800">
              <a:solidFill>
                <a:schemeClr val="dk1"/>
              </a:solidFill>
              <a:latin typeface="Calibri"/>
              <a:ea typeface="Calibri"/>
              <a:cs typeface="Calibri"/>
              <a:sym typeface="Calibri"/>
            </a:endParaRPr>
          </a:p>
        </p:txBody>
      </p:sp>
      <p:sp>
        <p:nvSpPr>
          <p:cNvPr id="106" name="Google Shape;106;p13"/>
          <p:cNvSpPr txBox="1"/>
          <p:nvPr/>
        </p:nvSpPr>
        <p:spPr>
          <a:xfrm>
            <a:off x="452214" y="3912511"/>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2                               3                           5</a:t>
            </a:r>
            <a:endParaRPr/>
          </a:p>
        </p:txBody>
      </p:sp>
      <p:sp>
        <p:nvSpPr>
          <p:cNvPr id="107" name="Google Shape;107;p13"/>
          <p:cNvSpPr txBox="1"/>
          <p:nvPr/>
        </p:nvSpPr>
        <p:spPr>
          <a:xfrm>
            <a:off x="133487" y="4167361"/>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7                    11                               13                    17</a:t>
            </a:r>
            <a:endParaRPr/>
          </a:p>
        </p:txBody>
      </p:sp>
      <p:sp>
        <p:nvSpPr>
          <p:cNvPr id="108" name="Google Shape;108;p13"/>
          <p:cNvSpPr txBox="1"/>
          <p:nvPr/>
        </p:nvSpPr>
        <p:spPr>
          <a:xfrm>
            <a:off x="436479" y="4451911"/>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19                            23                        29</a:t>
            </a:r>
            <a:endParaRPr/>
          </a:p>
        </p:txBody>
      </p:sp>
      <p:sp>
        <p:nvSpPr>
          <p:cNvPr id="109" name="Google Shape;109;p13"/>
          <p:cNvSpPr txBox="1"/>
          <p:nvPr/>
        </p:nvSpPr>
        <p:spPr>
          <a:xfrm>
            <a:off x="109747" y="4735527"/>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31                  37                               41                    43</a:t>
            </a:r>
            <a:endParaRPr/>
          </a:p>
        </p:txBody>
      </p:sp>
      <p:sp>
        <p:nvSpPr>
          <p:cNvPr id="110" name="Google Shape;110;p13"/>
          <p:cNvSpPr txBox="1"/>
          <p:nvPr/>
        </p:nvSpPr>
        <p:spPr>
          <a:xfrm>
            <a:off x="3827472" y="3955985"/>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1                               4                           6</a:t>
            </a:r>
            <a:endParaRPr/>
          </a:p>
        </p:txBody>
      </p:sp>
      <p:sp>
        <p:nvSpPr>
          <p:cNvPr id="111" name="Google Shape;111;p13"/>
          <p:cNvSpPr txBox="1"/>
          <p:nvPr/>
        </p:nvSpPr>
        <p:spPr>
          <a:xfrm>
            <a:off x="3494178" y="4195567"/>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9                    15                               25                    27</a:t>
            </a:r>
            <a:endParaRPr/>
          </a:p>
        </p:txBody>
      </p:sp>
      <p:sp>
        <p:nvSpPr>
          <p:cNvPr id="112" name="Google Shape;112;p13"/>
          <p:cNvSpPr txBox="1"/>
          <p:nvPr/>
        </p:nvSpPr>
        <p:spPr>
          <a:xfrm>
            <a:off x="3476974" y="4737356"/>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72                  63                               81                    -2</a:t>
            </a:r>
            <a:endParaRPr/>
          </a:p>
        </p:txBody>
      </p:sp>
      <p:sp>
        <p:nvSpPr>
          <p:cNvPr id="113" name="Google Shape;113;p13"/>
          <p:cNvSpPr txBox="1"/>
          <p:nvPr/>
        </p:nvSpPr>
        <p:spPr>
          <a:xfrm>
            <a:off x="3774228" y="4451911"/>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36                            39                         50</a:t>
            </a:r>
            <a:endParaRPr/>
          </a:p>
        </p:txBody>
      </p:sp>
      <p:cxnSp>
        <p:nvCxnSpPr>
          <p:cNvPr id="114" name="Google Shape;114;p13"/>
          <p:cNvCxnSpPr/>
          <p:nvPr/>
        </p:nvCxnSpPr>
        <p:spPr>
          <a:xfrm flipH="1" rot="10800000">
            <a:off x="921312" y="6466464"/>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15" name="Google Shape;115;p13"/>
          <p:cNvSpPr/>
          <p:nvPr/>
        </p:nvSpPr>
        <p:spPr>
          <a:xfrm>
            <a:off x="91885" y="5135519"/>
            <a:ext cx="6673965" cy="1949799"/>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6" name="Google Shape;116;p13"/>
          <p:cNvCxnSpPr/>
          <p:nvPr/>
        </p:nvCxnSpPr>
        <p:spPr>
          <a:xfrm>
            <a:off x="65574" y="6012802"/>
            <a:ext cx="6699219" cy="0"/>
          </a:xfrm>
          <a:prstGeom prst="straightConnector1">
            <a:avLst/>
          </a:prstGeom>
          <a:noFill/>
          <a:ln cap="flat" cmpd="sng" w="9525">
            <a:solidFill>
              <a:schemeClr val="dk1"/>
            </a:solidFill>
            <a:prstDash val="solid"/>
            <a:miter lim="800000"/>
            <a:headEnd len="sm" w="sm" type="none"/>
            <a:tailEnd len="sm" w="sm" type="none"/>
          </a:ln>
        </p:spPr>
      </p:cxnSp>
      <p:cxnSp>
        <p:nvCxnSpPr>
          <p:cNvPr id="117" name="Google Shape;117;p13"/>
          <p:cNvCxnSpPr>
            <a:stCxn id="115" idx="2"/>
            <a:endCxn id="115" idx="0"/>
          </p:cNvCxnSpPr>
          <p:nvPr/>
        </p:nvCxnSpPr>
        <p:spPr>
          <a:xfrm rot="10800000">
            <a:off x="3428868" y="5135618"/>
            <a:ext cx="0" cy="1949700"/>
          </a:xfrm>
          <a:prstGeom prst="straightConnector1">
            <a:avLst/>
          </a:prstGeom>
          <a:noFill/>
          <a:ln cap="flat" cmpd="sng" w="9525">
            <a:solidFill>
              <a:schemeClr val="dk1"/>
            </a:solidFill>
            <a:prstDash val="solid"/>
            <a:miter lim="800000"/>
            <a:headEnd len="sm" w="sm" type="none"/>
            <a:tailEnd len="sm" w="sm" type="none"/>
          </a:ln>
        </p:spPr>
      </p:cxnSp>
      <p:sp>
        <p:nvSpPr>
          <p:cNvPr id="118" name="Google Shape;118;p13"/>
          <p:cNvSpPr txBox="1"/>
          <p:nvPr/>
        </p:nvSpPr>
        <p:spPr>
          <a:xfrm>
            <a:off x="98034" y="5121871"/>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9" name="Google Shape;119;p13"/>
          <p:cNvSpPr txBox="1"/>
          <p:nvPr/>
        </p:nvSpPr>
        <p:spPr>
          <a:xfrm>
            <a:off x="5676033" y="5130009"/>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20" name="Google Shape;120;p13"/>
          <p:cNvSpPr txBox="1"/>
          <p:nvPr/>
        </p:nvSpPr>
        <p:spPr>
          <a:xfrm>
            <a:off x="91885" y="6012802"/>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21" name="Google Shape;121;p13"/>
          <p:cNvSpPr txBox="1"/>
          <p:nvPr/>
        </p:nvSpPr>
        <p:spPr>
          <a:xfrm>
            <a:off x="5618219" y="6023247"/>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22" name="Google Shape;122;p13"/>
          <p:cNvSpPr txBox="1"/>
          <p:nvPr/>
        </p:nvSpPr>
        <p:spPr>
          <a:xfrm>
            <a:off x="90352" y="5352703"/>
            <a:ext cx="3230335" cy="27699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A positive integer with three or more factors.</a:t>
            </a:r>
            <a:endParaRPr sz="1200">
              <a:solidFill>
                <a:schemeClr val="dk1"/>
              </a:solidFill>
              <a:latin typeface="Calibri"/>
              <a:ea typeface="Calibri"/>
              <a:cs typeface="Calibri"/>
              <a:sym typeface="Calibri"/>
            </a:endParaRPr>
          </a:p>
        </p:txBody>
      </p:sp>
      <p:sp>
        <p:nvSpPr>
          <p:cNvPr id="123" name="Google Shape;123;p13"/>
          <p:cNvSpPr txBox="1"/>
          <p:nvPr/>
        </p:nvSpPr>
        <p:spPr>
          <a:xfrm>
            <a:off x="3417676" y="5378168"/>
            <a:ext cx="3438626" cy="461665"/>
          </a:xfrm>
          <a:prstGeom prst="rect">
            <a:avLst/>
          </a:prstGeom>
          <a:noFill/>
          <a:ln>
            <a:noFill/>
          </a:ln>
        </p:spPr>
        <p:txBody>
          <a:bodyPr anchorCtr="0" anchor="b"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4 is the smallest composite number</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2 is the only even number that is not composite.</a:t>
            </a:r>
            <a:endParaRPr/>
          </a:p>
        </p:txBody>
      </p:sp>
      <p:sp>
        <p:nvSpPr>
          <p:cNvPr id="124" name="Google Shape;124;p13"/>
          <p:cNvSpPr txBox="1"/>
          <p:nvPr/>
        </p:nvSpPr>
        <p:spPr>
          <a:xfrm>
            <a:off x="2430365" y="5872352"/>
            <a:ext cx="2016001"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Composite Number</a:t>
            </a:r>
            <a:endParaRPr sz="1800">
              <a:solidFill>
                <a:schemeClr val="dk1"/>
              </a:solidFill>
              <a:latin typeface="Calibri"/>
              <a:ea typeface="Calibri"/>
              <a:cs typeface="Calibri"/>
              <a:sym typeface="Calibri"/>
            </a:endParaRPr>
          </a:p>
        </p:txBody>
      </p:sp>
      <p:sp>
        <p:nvSpPr>
          <p:cNvPr id="125" name="Google Shape;125;p13"/>
          <p:cNvSpPr txBox="1"/>
          <p:nvPr/>
        </p:nvSpPr>
        <p:spPr>
          <a:xfrm>
            <a:off x="477468" y="6259562"/>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4                               6                           8</a:t>
            </a:r>
            <a:endParaRPr/>
          </a:p>
        </p:txBody>
      </p:sp>
      <p:sp>
        <p:nvSpPr>
          <p:cNvPr id="126" name="Google Shape;126;p13"/>
          <p:cNvSpPr txBox="1"/>
          <p:nvPr/>
        </p:nvSpPr>
        <p:spPr>
          <a:xfrm>
            <a:off x="130314" y="6481321"/>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9                    10                               12                    14</a:t>
            </a:r>
            <a:endParaRPr/>
          </a:p>
        </p:txBody>
      </p:sp>
      <p:sp>
        <p:nvSpPr>
          <p:cNvPr id="127" name="Google Shape;127;p13"/>
          <p:cNvSpPr txBox="1"/>
          <p:nvPr/>
        </p:nvSpPr>
        <p:spPr>
          <a:xfrm>
            <a:off x="434024" y="6783320"/>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15                            16                        18</a:t>
            </a:r>
            <a:endParaRPr/>
          </a:p>
        </p:txBody>
      </p:sp>
      <p:sp>
        <p:nvSpPr>
          <p:cNvPr id="128" name="Google Shape;128;p13"/>
          <p:cNvSpPr txBox="1"/>
          <p:nvPr/>
        </p:nvSpPr>
        <p:spPr>
          <a:xfrm>
            <a:off x="3852726" y="6303036"/>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0                               1                           2</a:t>
            </a:r>
            <a:endParaRPr/>
          </a:p>
        </p:txBody>
      </p:sp>
      <p:sp>
        <p:nvSpPr>
          <p:cNvPr id="129" name="Google Shape;129;p13"/>
          <p:cNvSpPr txBox="1"/>
          <p:nvPr/>
        </p:nvSpPr>
        <p:spPr>
          <a:xfrm>
            <a:off x="3505572" y="6494796"/>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3                    5                               7                    11</a:t>
            </a:r>
            <a:endParaRPr/>
          </a:p>
        </p:txBody>
      </p:sp>
      <p:sp>
        <p:nvSpPr>
          <p:cNvPr id="130" name="Google Shape;130;p13"/>
          <p:cNvSpPr txBox="1"/>
          <p:nvPr/>
        </p:nvSpPr>
        <p:spPr>
          <a:xfrm>
            <a:off x="3827471" y="6776111"/>
            <a:ext cx="32303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13                            17                         19</a:t>
            </a:r>
            <a:endParaRPr/>
          </a:p>
        </p:txBody>
      </p:sp>
      <p:sp>
        <p:nvSpPr>
          <p:cNvPr id="131" name="Google Shape;131;p13"/>
          <p:cNvSpPr/>
          <p:nvPr/>
        </p:nvSpPr>
        <p:spPr>
          <a:xfrm>
            <a:off x="84571" y="1795182"/>
            <a:ext cx="6692484" cy="1074219"/>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132" name="Google Shape;132;p13"/>
          <p:cNvSpPr txBox="1"/>
          <p:nvPr/>
        </p:nvSpPr>
        <p:spPr>
          <a:xfrm>
            <a:off x="41480" y="1758537"/>
            <a:ext cx="277827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200" u="none" cap="none" strike="noStrike">
                <a:solidFill>
                  <a:srgbClr val="000000"/>
                </a:solidFill>
                <a:latin typeface="Calibri"/>
                <a:ea typeface="Calibri"/>
                <a:cs typeface="Calibri"/>
                <a:sym typeface="Calibri"/>
              </a:rPr>
              <a:t>Introduction: </a:t>
            </a:r>
            <a:endParaRPr/>
          </a:p>
        </p:txBody>
      </p:sp>
      <p:sp>
        <p:nvSpPr>
          <p:cNvPr id="133" name="Google Shape;133;p13"/>
          <p:cNvSpPr txBox="1"/>
          <p:nvPr/>
        </p:nvSpPr>
        <p:spPr>
          <a:xfrm>
            <a:off x="52983" y="2012717"/>
            <a:ext cx="7108710" cy="1015663"/>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Prime numbers are special numbers greater than 1 that can only be divided evenly by 1 and</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themselves. For example, 2, 3, 5, and 7 are prime numbers because they have no other factors. Every</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whole number can be broken down into a product of prime numbers, called its prime factorisation.</a:t>
            </a:r>
            <a:endParaRPr/>
          </a:p>
          <a:p>
            <a:pPr indent="-228600" lvl="0" marL="2286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This is like finding the building blocks of a number—it's a way to express any number using only primes.</a:t>
            </a:r>
            <a:endParaRPr/>
          </a:p>
          <a:p>
            <a:pPr indent="0" lvl="0" marL="0" marR="0" rtl="0" algn="l">
              <a:lnSpc>
                <a:spcPct val="100000"/>
              </a:lnSpc>
              <a:spcBef>
                <a:spcPts val="0"/>
              </a:spcBef>
              <a:spcAft>
                <a:spcPts val="0"/>
              </a:spcAft>
              <a:buNone/>
            </a:pPr>
            <a:r>
              <a:t/>
            </a:r>
            <a:endParaRPr sz="1200" u="none" cap="none" strike="noStrike">
              <a:solidFill>
                <a:srgbClr val="000000"/>
              </a:solidFill>
              <a:latin typeface="Calibri"/>
              <a:ea typeface="Calibri"/>
              <a:cs typeface="Calibri"/>
              <a:sym typeface="Calibri"/>
            </a:endParaRPr>
          </a:p>
        </p:txBody>
      </p:sp>
      <p:graphicFrame>
        <p:nvGraphicFramePr>
          <p:cNvPr id="134" name="Google Shape;134;p13"/>
          <p:cNvGraphicFramePr/>
          <p:nvPr/>
        </p:nvGraphicFramePr>
        <p:xfrm>
          <a:off x="77836" y="7611346"/>
          <a:ext cx="3000000" cy="3000000"/>
        </p:xfrm>
        <a:graphic>
          <a:graphicData uri="http://schemas.openxmlformats.org/drawingml/2006/table">
            <a:tbl>
              <a:tblPr bandRow="1" firstRow="1">
                <a:noFill/>
                <a:tableStyleId>{83881756-DB08-42B0-B75F-A2D31ED75187}</a:tableStyleId>
              </a:tblPr>
              <a:tblGrid>
                <a:gridCol w="1123000"/>
                <a:gridCol w="1852825"/>
                <a:gridCol w="1852825"/>
                <a:gridCol w="1852825"/>
              </a:tblGrid>
              <a:tr h="3450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factors of 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factors of 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factors 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728000">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1) Starting with 1, list the pairs of factors that multiply to make the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1" sz="12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1" sz="12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35" name="Google Shape;135;p13"/>
          <p:cNvSpPr txBox="1"/>
          <p:nvPr/>
        </p:nvSpPr>
        <p:spPr>
          <a:xfrm>
            <a:off x="1394844" y="7361280"/>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1 - I do…</a:t>
            </a:r>
            <a:endParaRPr/>
          </a:p>
        </p:txBody>
      </p:sp>
      <p:sp>
        <p:nvSpPr>
          <p:cNvPr id="136" name="Google Shape;136;p13"/>
          <p:cNvSpPr txBox="1"/>
          <p:nvPr/>
        </p:nvSpPr>
        <p:spPr>
          <a:xfrm>
            <a:off x="5073528" y="735233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 – You do…</a:t>
            </a:r>
            <a:endParaRPr/>
          </a:p>
        </p:txBody>
      </p:sp>
      <p:sp>
        <p:nvSpPr>
          <p:cNvPr id="137" name="Google Shape;137;p13"/>
          <p:cNvSpPr txBox="1"/>
          <p:nvPr/>
        </p:nvSpPr>
        <p:spPr>
          <a:xfrm>
            <a:off x="3101716" y="7357806"/>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 – We do…</a:t>
            </a:r>
            <a:endParaRPr/>
          </a:p>
        </p:txBody>
      </p:sp>
      <p:sp>
        <p:nvSpPr>
          <p:cNvPr id="138" name="Google Shape;138;p13"/>
          <p:cNvSpPr/>
          <p:nvPr/>
        </p:nvSpPr>
        <p:spPr>
          <a:xfrm>
            <a:off x="77836" y="7130903"/>
            <a:ext cx="3833317" cy="275657"/>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Identifying prime and composite numbers</a:t>
            </a:r>
            <a:endParaRPr/>
          </a:p>
        </p:txBody>
      </p:sp>
      <p:sp>
        <p:nvSpPr>
          <p:cNvPr id="139" name="Google Shape;139;p13"/>
          <p:cNvSpPr txBox="1"/>
          <p:nvPr/>
        </p:nvSpPr>
        <p:spPr>
          <a:xfrm>
            <a:off x="1310609" y="8160833"/>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1, 2, 3, 4, 6, 8, 24</a:t>
            </a:r>
            <a:endParaRPr/>
          </a:p>
        </p:txBody>
      </p:sp>
      <p:sp>
        <p:nvSpPr>
          <p:cNvPr id="140" name="Google Shape;140;p13"/>
          <p:cNvSpPr txBox="1"/>
          <p:nvPr/>
        </p:nvSpPr>
        <p:spPr>
          <a:xfrm>
            <a:off x="3630028" y="8160833"/>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1, 5, 25</a:t>
            </a:r>
            <a:endParaRPr/>
          </a:p>
        </p:txBody>
      </p:sp>
      <p:sp>
        <p:nvSpPr>
          <p:cNvPr id="141" name="Google Shape;141;p13"/>
          <p:cNvSpPr txBox="1"/>
          <p:nvPr/>
        </p:nvSpPr>
        <p:spPr>
          <a:xfrm>
            <a:off x="5057044" y="8160833"/>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1, 2 , 3, 6, 9, 18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4"/>
          <p:cNvSpPr txBox="1"/>
          <p:nvPr>
            <p:ph idx="12" type="sldNum"/>
          </p:nvPr>
        </p:nvSpPr>
        <p:spPr>
          <a:xfrm>
            <a:off x="5308665" y="951025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47" name="Google Shape;147;p14"/>
          <p:cNvGraphicFramePr/>
          <p:nvPr/>
        </p:nvGraphicFramePr>
        <p:xfrm>
          <a:off x="72699" y="254068"/>
          <a:ext cx="3000000" cy="3000000"/>
        </p:xfrm>
        <a:graphic>
          <a:graphicData uri="http://schemas.openxmlformats.org/drawingml/2006/table">
            <a:tbl>
              <a:tblPr bandRow="1" firstRow="1">
                <a:noFill/>
                <a:tableStyleId>{83881756-DB08-42B0-B75F-A2D31ED75187}</a:tableStyleId>
              </a:tblPr>
              <a:tblGrid>
                <a:gridCol w="1123000"/>
                <a:gridCol w="1852825"/>
                <a:gridCol w="1852825"/>
                <a:gridCol w="1852825"/>
              </a:tblGrid>
              <a:tr h="2418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factors of 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factors of 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factors 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32875">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1) Starting with 1, list the pairs of factors that multiply to make the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1" sz="12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1" sz="12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48" name="Google Shape;148;p14"/>
          <p:cNvSpPr txBox="1"/>
          <p:nvPr/>
        </p:nvSpPr>
        <p:spPr>
          <a:xfrm>
            <a:off x="1486762" y="18013"/>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4 - I do…</a:t>
            </a:r>
            <a:endParaRPr/>
          </a:p>
        </p:txBody>
      </p:sp>
      <p:sp>
        <p:nvSpPr>
          <p:cNvPr id="149" name="Google Shape;149;p14"/>
          <p:cNvSpPr txBox="1"/>
          <p:nvPr/>
        </p:nvSpPr>
        <p:spPr>
          <a:xfrm>
            <a:off x="5165446" y="907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6 – You do…</a:t>
            </a:r>
            <a:endParaRPr/>
          </a:p>
        </p:txBody>
      </p:sp>
      <p:sp>
        <p:nvSpPr>
          <p:cNvPr id="150" name="Google Shape;150;p14"/>
          <p:cNvSpPr txBox="1"/>
          <p:nvPr/>
        </p:nvSpPr>
        <p:spPr>
          <a:xfrm>
            <a:off x="3193634" y="1453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5 – We do…</a:t>
            </a:r>
            <a:endParaRPr/>
          </a:p>
        </p:txBody>
      </p:sp>
      <p:graphicFrame>
        <p:nvGraphicFramePr>
          <p:cNvPr id="151" name="Google Shape;151;p14"/>
          <p:cNvGraphicFramePr/>
          <p:nvPr/>
        </p:nvGraphicFramePr>
        <p:xfrm>
          <a:off x="83187" y="1816388"/>
          <a:ext cx="3000000" cy="3000000"/>
        </p:xfrm>
        <a:graphic>
          <a:graphicData uri="http://schemas.openxmlformats.org/drawingml/2006/table">
            <a:tbl>
              <a:tblPr bandRow="1" firstRow="1">
                <a:noFill/>
                <a:tableStyleId>{83881756-DB08-42B0-B75F-A2D31ED75187}</a:tableStyleId>
              </a:tblPr>
              <a:tblGrid>
                <a:gridCol w="6681475"/>
              </a:tblGrid>
              <a:tr h="282700">
                <a:tc>
                  <a:txBody>
                    <a:bodyPr/>
                    <a:lstStyle/>
                    <a:p>
                      <a:pPr indent="0" lvl="0" marL="0" marR="0" rtl="0" algn="l">
                        <a:lnSpc>
                          <a:spcPct val="250000"/>
                        </a:lnSpc>
                        <a:spcBef>
                          <a:spcPts val="0"/>
                        </a:spcBef>
                        <a:spcAft>
                          <a:spcPts val="0"/>
                        </a:spcAft>
                        <a:buNone/>
                      </a:pPr>
                      <a:r>
                        <a:rPr b="0" lang="en-GB" sz="1200">
                          <a:solidFill>
                            <a:schemeClr val="dk1"/>
                          </a:solidFill>
                        </a:rPr>
                        <a:t>A prime number has  exactly _________________________________________________________.</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2700">
                <a:tc>
                  <a:txBody>
                    <a:bodyPr/>
                    <a:lstStyle/>
                    <a:p>
                      <a:pPr indent="0" lvl="0" marL="0" marR="0" rtl="0" algn="l">
                        <a:lnSpc>
                          <a:spcPct val="250000"/>
                        </a:lnSpc>
                        <a:spcBef>
                          <a:spcPts val="0"/>
                        </a:spcBef>
                        <a:spcAft>
                          <a:spcPts val="0"/>
                        </a:spcAft>
                        <a:buClr>
                          <a:schemeClr val="dk1"/>
                        </a:buClr>
                        <a:buSzPts val="1200"/>
                        <a:buFont typeface="Calibri"/>
                        <a:buNone/>
                      </a:pPr>
                      <a:r>
                        <a:rPr b="0" lang="en-GB" sz="1200">
                          <a:solidFill>
                            <a:schemeClr val="dk1"/>
                          </a:solidFill>
                        </a:rPr>
                        <a:t>A composite number must have at least  ___________________________________________________.  </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2700">
                <a:tc>
                  <a:txBody>
                    <a:bodyPr/>
                    <a:lstStyle/>
                    <a:p>
                      <a:pPr indent="0" lvl="0" marL="0" marR="0" rtl="0" algn="l">
                        <a:lnSpc>
                          <a:spcPct val="250000"/>
                        </a:lnSpc>
                        <a:spcBef>
                          <a:spcPts val="0"/>
                        </a:spcBef>
                        <a:spcAft>
                          <a:spcPts val="0"/>
                        </a:spcAft>
                        <a:buNone/>
                      </a:pPr>
                      <a:r>
                        <a:rPr b="0" lang="en-GB" sz="1200">
                          <a:solidFill>
                            <a:schemeClr val="dk1"/>
                          </a:solidFill>
                        </a:rPr>
                        <a:t>24, 25 and 18 are composite numbers because they have ______________________________________.</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2700">
                <a:tc>
                  <a:txBody>
                    <a:bodyPr/>
                    <a:lstStyle/>
                    <a:p>
                      <a:pPr indent="0" lvl="0" marL="0" marR="0" rtl="0" algn="l">
                        <a:lnSpc>
                          <a:spcPct val="250000"/>
                        </a:lnSpc>
                        <a:spcBef>
                          <a:spcPts val="0"/>
                        </a:spcBef>
                        <a:spcAft>
                          <a:spcPts val="0"/>
                        </a:spcAft>
                        <a:buNone/>
                      </a:pPr>
                      <a:r>
                        <a:rPr b="0" lang="en-GB" sz="1200">
                          <a:solidFill>
                            <a:schemeClr val="dk1"/>
                          </a:solidFill>
                        </a:rPr>
                        <a:t>13, 23 and 17 are prime numbers because they have _________________________________________.</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2700">
                <a:tc>
                  <a:txBody>
                    <a:bodyPr/>
                    <a:lstStyle/>
                    <a:p>
                      <a:pPr indent="0" lvl="0" marL="0" marR="0" rtl="0" algn="l">
                        <a:lnSpc>
                          <a:spcPct val="250000"/>
                        </a:lnSpc>
                        <a:spcBef>
                          <a:spcPts val="0"/>
                        </a:spcBef>
                        <a:spcAft>
                          <a:spcPts val="0"/>
                        </a:spcAft>
                        <a:buClr>
                          <a:schemeClr val="dk1"/>
                        </a:buClr>
                        <a:buSzPts val="1200"/>
                        <a:buFont typeface="Calibri"/>
                        <a:buNone/>
                      </a:pPr>
                      <a:r>
                        <a:rPr b="0" lang="en-GB" sz="1200">
                          <a:solidFill>
                            <a:schemeClr val="dk1"/>
                          </a:solidFill>
                        </a:rPr>
                        <a:t>1 is not a composite number or a prime number because _____________________________________.</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8900">
                <a:tc>
                  <a:txBody>
                    <a:bodyPr/>
                    <a:lstStyle/>
                    <a:p>
                      <a:pPr indent="0" lvl="0" marL="0" marR="0" rtl="0" algn="l">
                        <a:lnSpc>
                          <a:spcPct val="250000"/>
                        </a:lnSpc>
                        <a:spcBef>
                          <a:spcPts val="0"/>
                        </a:spcBef>
                        <a:spcAft>
                          <a:spcPts val="0"/>
                        </a:spcAft>
                        <a:buClr>
                          <a:schemeClr val="dk1"/>
                        </a:buClr>
                        <a:buSzPts val="1200"/>
                        <a:buFont typeface="Calibri"/>
                        <a:buNone/>
                      </a:pPr>
                      <a:r>
                        <a:rPr b="0" lang="en-GB" sz="1200">
                          <a:solidFill>
                            <a:schemeClr val="dk1"/>
                          </a:solidFill>
                        </a:rPr>
                        <a:t>It is not possible for a positive whole number to have ________ factors.</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52" name="Google Shape;152;p14"/>
          <p:cNvSpPr/>
          <p:nvPr/>
        </p:nvSpPr>
        <p:spPr>
          <a:xfrm>
            <a:off x="72699" y="4720097"/>
            <a:ext cx="1137954" cy="465805"/>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53" name="Google Shape;153;p14"/>
          <p:cNvSpPr txBox="1"/>
          <p:nvPr/>
        </p:nvSpPr>
        <p:spPr>
          <a:xfrm>
            <a:off x="1224301" y="4953033"/>
            <a:ext cx="391042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 The following numbers are prime numbers. True or false?</a:t>
            </a:r>
            <a:endParaRPr sz="1200">
              <a:solidFill>
                <a:schemeClr val="dk1"/>
              </a:solidFill>
              <a:latin typeface="Calibri"/>
              <a:ea typeface="Calibri"/>
              <a:cs typeface="Calibri"/>
              <a:sym typeface="Calibri"/>
            </a:endParaRPr>
          </a:p>
        </p:txBody>
      </p:sp>
      <p:graphicFrame>
        <p:nvGraphicFramePr>
          <p:cNvPr id="154" name="Google Shape;154;p14"/>
          <p:cNvGraphicFramePr/>
          <p:nvPr/>
        </p:nvGraphicFramePr>
        <p:xfrm>
          <a:off x="83187" y="5242017"/>
          <a:ext cx="3000000" cy="3000000"/>
        </p:xfrm>
        <a:graphic>
          <a:graphicData uri="http://schemas.openxmlformats.org/drawingml/2006/table">
            <a:tbl>
              <a:tblPr bandRow="1" firstRow="1">
                <a:noFill/>
                <a:tableStyleId>{83881756-DB08-42B0-B75F-A2D31ED75187}</a:tableStyleId>
              </a:tblPr>
              <a:tblGrid>
                <a:gridCol w="2062775"/>
                <a:gridCol w="1272725"/>
                <a:gridCol w="2050775"/>
                <a:gridCol w="1284725"/>
              </a:tblGrid>
              <a:tr h="54000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a) 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 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c) 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 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e) 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 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g) 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 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i) 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j) 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k) 15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l) 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m) 19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n) 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o) 23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p) 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55" name="Google Shape;155;p14"/>
          <p:cNvSpPr txBox="1"/>
          <p:nvPr/>
        </p:nvSpPr>
        <p:spPr>
          <a:xfrm>
            <a:off x="1794040" y="634991"/>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1, 13</a:t>
            </a:r>
            <a:endParaRPr/>
          </a:p>
        </p:txBody>
      </p:sp>
      <p:sp>
        <p:nvSpPr>
          <p:cNvPr id="156" name="Google Shape;156;p14"/>
          <p:cNvSpPr txBox="1"/>
          <p:nvPr/>
        </p:nvSpPr>
        <p:spPr>
          <a:xfrm>
            <a:off x="3643305" y="634991"/>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1, 23</a:t>
            </a:r>
            <a:endParaRPr/>
          </a:p>
        </p:txBody>
      </p:sp>
      <p:sp>
        <p:nvSpPr>
          <p:cNvPr id="157" name="Google Shape;157;p14"/>
          <p:cNvSpPr txBox="1"/>
          <p:nvPr/>
        </p:nvSpPr>
        <p:spPr>
          <a:xfrm>
            <a:off x="5492570" y="634991"/>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1, 17</a:t>
            </a:r>
            <a:endParaRPr/>
          </a:p>
        </p:txBody>
      </p:sp>
      <p:sp>
        <p:nvSpPr>
          <p:cNvPr id="158" name="Google Shape;158;p14"/>
          <p:cNvSpPr txBox="1"/>
          <p:nvPr/>
        </p:nvSpPr>
        <p:spPr>
          <a:xfrm>
            <a:off x="2136242" y="1904677"/>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two factors</a:t>
            </a:r>
            <a:endParaRPr/>
          </a:p>
        </p:txBody>
      </p:sp>
      <p:sp>
        <p:nvSpPr>
          <p:cNvPr id="159" name="Google Shape;159;p14"/>
          <p:cNvSpPr txBox="1"/>
          <p:nvPr/>
        </p:nvSpPr>
        <p:spPr>
          <a:xfrm>
            <a:off x="2678277" y="2381447"/>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three factors</a:t>
            </a:r>
            <a:endParaRPr/>
          </a:p>
        </p:txBody>
      </p:sp>
      <p:sp>
        <p:nvSpPr>
          <p:cNvPr id="160" name="Google Shape;160;p14"/>
          <p:cNvSpPr txBox="1"/>
          <p:nvPr/>
        </p:nvSpPr>
        <p:spPr>
          <a:xfrm>
            <a:off x="3749265" y="2870853"/>
            <a:ext cx="26357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three or more factors</a:t>
            </a:r>
            <a:endParaRPr/>
          </a:p>
        </p:txBody>
      </p:sp>
      <p:sp>
        <p:nvSpPr>
          <p:cNvPr id="161" name="Google Shape;161;p14"/>
          <p:cNvSpPr txBox="1"/>
          <p:nvPr/>
        </p:nvSpPr>
        <p:spPr>
          <a:xfrm>
            <a:off x="3444482" y="3328474"/>
            <a:ext cx="26357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two factors</a:t>
            </a:r>
            <a:endParaRPr/>
          </a:p>
        </p:txBody>
      </p:sp>
      <p:sp>
        <p:nvSpPr>
          <p:cNvPr id="162" name="Google Shape;162;p14"/>
          <p:cNvSpPr txBox="1"/>
          <p:nvPr/>
        </p:nvSpPr>
        <p:spPr>
          <a:xfrm>
            <a:off x="3643305" y="3787980"/>
            <a:ext cx="26357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it only has one factor</a:t>
            </a:r>
            <a:endParaRPr/>
          </a:p>
        </p:txBody>
      </p:sp>
      <p:sp>
        <p:nvSpPr>
          <p:cNvPr id="163" name="Google Shape;163;p14"/>
          <p:cNvSpPr txBox="1"/>
          <p:nvPr/>
        </p:nvSpPr>
        <p:spPr>
          <a:xfrm>
            <a:off x="3600991" y="4254510"/>
            <a:ext cx="26357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a:t>
            </a:r>
            <a:endParaRPr/>
          </a:p>
        </p:txBody>
      </p:sp>
      <p:sp>
        <p:nvSpPr>
          <p:cNvPr id="164" name="Google Shape;164;p14"/>
          <p:cNvSpPr/>
          <p:nvPr/>
        </p:nvSpPr>
        <p:spPr>
          <a:xfrm>
            <a:off x="2779702" y="5308915"/>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14"/>
          <p:cNvSpPr/>
          <p:nvPr/>
        </p:nvSpPr>
        <p:spPr>
          <a:xfrm>
            <a:off x="2779702" y="5851216"/>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14"/>
          <p:cNvSpPr/>
          <p:nvPr/>
        </p:nvSpPr>
        <p:spPr>
          <a:xfrm>
            <a:off x="2779702" y="6393517"/>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14"/>
          <p:cNvSpPr/>
          <p:nvPr/>
        </p:nvSpPr>
        <p:spPr>
          <a:xfrm>
            <a:off x="2779702" y="6935818"/>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14"/>
          <p:cNvSpPr/>
          <p:nvPr/>
        </p:nvSpPr>
        <p:spPr>
          <a:xfrm>
            <a:off x="2267084" y="7478119"/>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14"/>
          <p:cNvSpPr/>
          <p:nvPr/>
        </p:nvSpPr>
        <p:spPr>
          <a:xfrm>
            <a:off x="2779702" y="8020420"/>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14"/>
          <p:cNvSpPr/>
          <p:nvPr/>
        </p:nvSpPr>
        <p:spPr>
          <a:xfrm>
            <a:off x="2267084" y="8536141"/>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14"/>
          <p:cNvSpPr/>
          <p:nvPr/>
        </p:nvSpPr>
        <p:spPr>
          <a:xfrm>
            <a:off x="2267084" y="9078442"/>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14"/>
          <p:cNvSpPr/>
          <p:nvPr/>
        </p:nvSpPr>
        <p:spPr>
          <a:xfrm>
            <a:off x="5956540" y="5308915"/>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14"/>
          <p:cNvSpPr/>
          <p:nvPr/>
        </p:nvSpPr>
        <p:spPr>
          <a:xfrm>
            <a:off x="5454996" y="5837302"/>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14"/>
          <p:cNvSpPr/>
          <p:nvPr/>
        </p:nvSpPr>
        <p:spPr>
          <a:xfrm>
            <a:off x="5471758" y="6393517"/>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14"/>
          <p:cNvSpPr/>
          <p:nvPr/>
        </p:nvSpPr>
        <p:spPr>
          <a:xfrm>
            <a:off x="5456569" y="6935818"/>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14"/>
          <p:cNvSpPr/>
          <p:nvPr/>
        </p:nvSpPr>
        <p:spPr>
          <a:xfrm>
            <a:off x="5956540" y="7478119"/>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14"/>
          <p:cNvSpPr/>
          <p:nvPr/>
        </p:nvSpPr>
        <p:spPr>
          <a:xfrm>
            <a:off x="5491150" y="8032812"/>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14"/>
          <p:cNvSpPr/>
          <p:nvPr/>
        </p:nvSpPr>
        <p:spPr>
          <a:xfrm>
            <a:off x="5992416" y="8536141"/>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14"/>
          <p:cNvSpPr/>
          <p:nvPr/>
        </p:nvSpPr>
        <p:spPr>
          <a:xfrm>
            <a:off x="5992416" y="9093780"/>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5"/>
          <p:cNvSpPr txBox="1"/>
          <p:nvPr>
            <p:ph idx="12" type="sldNum"/>
          </p:nvPr>
        </p:nvSpPr>
        <p:spPr>
          <a:xfrm>
            <a:off x="5314950" y="940663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85" name="Google Shape;185;p15"/>
          <p:cNvGraphicFramePr/>
          <p:nvPr/>
        </p:nvGraphicFramePr>
        <p:xfrm>
          <a:off x="165479" y="621425"/>
          <a:ext cx="3000000" cy="3000000"/>
        </p:xfrm>
        <a:graphic>
          <a:graphicData uri="http://schemas.openxmlformats.org/drawingml/2006/table">
            <a:tbl>
              <a:tblPr bandRow="1" firstRow="1">
                <a:noFill/>
                <a:tableStyleId>{83881756-DB08-42B0-B75F-A2D31ED75187}</a:tableStyleId>
              </a:tblPr>
              <a:tblGrid>
                <a:gridCol w="2012150"/>
                <a:gridCol w="1241500"/>
                <a:gridCol w="2000450"/>
                <a:gridCol w="1253200"/>
              </a:tblGrid>
              <a:tr h="540000">
                <a:tc>
                  <a:txBody>
                    <a:bodyPr/>
                    <a:lstStyle/>
                    <a:p>
                      <a:pPr indent="0" lvl="0" marL="0" marR="0" rtl="0" algn="l">
                        <a:spcBef>
                          <a:spcPts val="0"/>
                        </a:spcBef>
                        <a:spcAft>
                          <a:spcPts val="0"/>
                        </a:spcAft>
                        <a:buNone/>
                      </a:pPr>
                      <a:r>
                        <a:rPr b="0" lang="en-GB" sz="1200">
                          <a:solidFill>
                            <a:schemeClr val="dk1"/>
                          </a:solidFill>
                        </a:rPr>
                        <a:t>q) 29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r) 32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s) 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t) 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u) 31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v) 37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w) 39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x) 41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y) 43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z) 47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aa) 51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ab) 53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ac) 59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ad) 59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Calibri"/>
                        <a:buNone/>
                      </a:pPr>
                      <a:r>
                        <a:rPr b="0" lang="en-GB" sz="14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ae) 69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af) 77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40000">
                <a:tc>
                  <a:txBody>
                    <a:bodyPr/>
                    <a:lstStyle/>
                    <a:p>
                      <a:pPr indent="0" lvl="0" marL="0" marR="0" rtl="0" algn="l">
                        <a:spcBef>
                          <a:spcPts val="0"/>
                        </a:spcBef>
                        <a:spcAft>
                          <a:spcPts val="0"/>
                        </a:spcAft>
                        <a:buNone/>
                      </a:pPr>
                      <a:r>
                        <a:rPr b="0" lang="en-GB" sz="1200">
                          <a:solidFill>
                            <a:schemeClr val="dk1"/>
                          </a:solidFill>
                        </a:rPr>
                        <a:t>ag) 79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ah) 91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Calibri"/>
                        <a:buNone/>
                      </a:pPr>
                      <a:r>
                        <a:rPr b="0" i="0" lang="en-GB" sz="14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86" name="Google Shape;186;p15"/>
          <p:cNvSpPr txBox="1"/>
          <p:nvPr/>
        </p:nvSpPr>
        <p:spPr>
          <a:xfrm>
            <a:off x="85728" y="5797392"/>
            <a:ext cx="2342693" cy="3046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Answer the following questions:</a:t>
            </a:r>
            <a:endParaRPr sz="1200">
              <a:solidFill>
                <a:schemeClr val="dk1"/>
              </a:solidFill>
              <a:latin typeface="Calibri"/>
              <a:ea typeface="Calibri"/>
              <a:cs typeface="Calibri"/>
              <a:sym typeface="Calibri"/>
            </a:endParaRPr>
          </a:p>
        </p:txBody>
      </p:sp>
      <p:graphicFrame>
        <p:nvGraphicFramePr>
          <p:cNvPr id="187" name="Google Shape;187;p15"/>
          <p:cNvGraphicFramePr/>
          <p:nvPr/>
        </p:nvGraphicFramePr>
        <p:xfrm>
          <a:off x="155617" y="6144955"/>
          <a:ext cx="3000000" cy="3000000"/>
        </p:xfrm>
        <a:graphic>
          <a:graphicData uri="http://schemas.openxmlformats.org/drawingml/2006/table">
            <a:tbl>
              <a:tblPr bandRow="1" firstRow="1">
                <a:noFill/>
                <a:tableStyleId>{83881756-DB08-42B0-B75F-A2D31ED75187}</a:tableStyleId>
              </a:tblPr>
              <a:tblGrid>
                <a:gridCol w="6527050"/>
              </a:tblGrid>
              <a:tr h="1630850">
                <a:tc>
                  <a:txBody>
                    <a:bodyPr/>
                    <a:lstStyle/>
                    <a:p>
                      <a:pPr indent="0" lvl="0" marL="0" marR="0" rtl="0" algn="l">
                        <a:spcBef>
                          <a:spcPts val="0"/>
                        </a:spcBef>
                        <a:spcAft>
                          <a:spcPts val="0"/>
                        </a:spcAft>
                        <a:buNone/>
                      </a:pPr>
                      <a:r>
                        <a:rPr b="0" lang="en-GB" sz="1200">
                          <a:solidFill>
                            <a:schemeClr val="dk1"/>
                          </a:solidFill>
                        </a:rPr>
                        <a:t>a) Which two consecutive integers are prime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630850">
                <a:tc>
                  <a:txBody>
                    <a:bodyPr/>
                    <a:lstStyle/>
                    <a:p>
                      <a:pPr indent="0" lvl="0" marL="0" marR="0" rtl="0" algn="l">
                        <a:spcBef>
                          <a:spcPts val="0"/>
                        </a:spcBef>
                        <a:spcAft>
                          <a:spcPts val="0"/>
                        </a:spcAft>
                        <a:buNone/>
                      </a:pPr>
                      <a:r>
                        <a:rPr b="0" lang="en-GB" sz="1200">
                          <a:solidFill>
                            <a:schemeClr val="dk1"/>
                          </a:solidFill>
                        </a:rPr>
                        <a:t>b) There is a prime number with two digits. The digits add up to 4. What is the prime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8" name="Google Shape;188;p15"/>
          <p:cNvSpPr txBox="1"/>
          <p:nvPr/>
        </p:nvSpPr>
        <p:spPr>
          <a:xfrm>
            <a:off x="70986" y="322994"/>
            <a:ext cx="157004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Question 1 continued.</a:t>
            </a:r>
            <a:endParaRPr sz="1200">
              <a:solidFill>
                <a:schemeClr val="dk1"/>
              </a:solidFill>
              <a:latin typeface="Calibri"/>
              <a:ea typeface="Calibri"/>
              <a:cs typeface="Calibri"/>
              <a:sym typeface="Calibri"/>
            </a:endParaRPr>
          </a:p>
        </p:txBody>
      </p:sp>
      <p:sp>
        <p:nvSpPr>
          <p:cNvPr id="189" name="Google Shape;189;p15"/>
          <p:cNvSpPr/>
          <p:nvPr/>
        </p:nvSpPr>
        <p:spPr>
          <a:xfrm>
            <a:off x="2670031" y="1182456"/>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15"/>
          <p:cNvSpPr/>
          <p:nvPr/>
        </p:nvSpPr>
        <p:spPr>
          <a:xfrm>
            <a:off x="2157413" y="1735660"/>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15"/>
          <p:cNvSpPr/>
          <p:nvPr/>
        </p:nvSpPr>
        <p:spPr>
          <a:xfrm>
            <a:off x="2670031" y="2239231"/>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15"/>
          <p:cNvSpPr/>
          <p:nvPr/>
        </p:nvSpPr>
        <p:spPr>
          <a:xfrm>
            <a:off x="2157413" y="2819760"/>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15"/>
          <p:cNvSpPr/>
          <p:nvPr/>
        </p:nvSpPr>
        <p:spPr>
          <a:xfrm>
            <a:off x="2670031" y="3318186"/>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15"/>
          <p:cNvSpPr/>
          <p:nvPr/>
        </p:nvSpPr>
        <p:spPr>
          <a:xfrm>
            <a:off x="2157413" y="3915014"/>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15"/>
          <p:cNvSpPr/>
          <p:nvPr/>
        </p:nvSpPr>
        <p:spPr>
          <a:xfrm>
            <a:off x="2634155" y="4397141"/>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15"/>
          <p:cNvSpPr/>
          <p:nvPr/>
        </p:nvSpPr>
        <p:spPr>
          <a:xfrm>
            <a:off x="2157413" y="4973362"/>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5"/>
          <p:cNvSpPr/>
          <p:nvPr/>
        </p:nvSpPr>
        <p:spPr>
          <a:xfrm>
            <a:off x="5884598" y="1168977"/>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15"/>
          <p:cNvSpPr/>
          <p:nvPr/>
        </p:nvSpPr>
        <p:spPr>
          <a:xfrm>
            <a:off x="5334251" y="1735660"/>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15"/>
          <p:cNvSpPr/>
          <p:nvPr/>
        </p:nvSpPr>
        <p:spPr>
          <a:xfrm>
            <a:off x="5334251" y="2253986"/>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15"/>
          <p:cNvSpPr/>
          <p:nvPr/>
        </p:nvSpPr>
        <p:spPr>
          <a:xfrm>
            <a:off x="5334251" y="2819760"/>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5"/>
          <p:cNvSpPr/>
          <p:nvPr/>
        </p:nvSpPr>
        <p:spPr>
          <a:xfrm>
            <a:off x="5362087" y="3305025"/>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15"/>
          <p:cNvSpPr/>
          <p:nvPr/>
        </p:nvSpPr>
        <p:spPr>
          <a:xfrm>
            <a:off x="5334251" y="3915014"/>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15"/>
          <p:cNvSpPr/>
          <p:nvPr/>
        </p:nvSpPr>
        <p:spPr>
          <a:xfrm>
            <a:off x="5810993" y="4397141"/>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15"/>
          <p:cNvSpPr/>
          <p:nvPr/>
        </p:nvSpPr>
        <p:spPr>
          <a:xfrm>
            <a:off x="5846869" y="4946471"/>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15"/>
          <p:cNvSpPr/>
          <p:nvPr/>
        </p:nvSpPr>
        <p:spPr>
          <a:xfrm>
            <a:off x="2157413" y="683712"/>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15"/>
          <p:cNvSpPr/>
          <p:nvPr/>
        </p:nvSpPr>
        <p:spPr>
          <a:xfrm>
            <a:off x="5884598" y="670611"/>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15"/>
          <p:cNvSpPr txBox="1"/>
          <p:nvPr/>
        </p:nvSpPr>
        <p:spPr>
          <a:xfrm>
            <a:off x="641531" y="6777971"/>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 and 3</a:t>
            </a:r>
            <a:endParaRPr sz="1800">
              <a:solidFill>
                <a:schemeClr val="dk1"/>
              </a:solidFill>
              <a:latin typeface="Calibri"/>
              <a:ea typeface="Calibri"/>
              <a:cs typeface="Calibri"/>
              <a:sym typeface="Calibri"/>
            </a:endParaRPr>
          </a:p>
        </p:txBody>
      </p:sp>
      <p:sp>
        <p:nvSpPr>
          <p:cNvPr id="208" name="Google Shape;208;p15"/>
          <p:cNvSpPr txBox="1"/>
          <p:nvPr/>
        </p:nvSpPr>
        <p:spPr>
          <a:xfrm>
            <a:off x="849349" y="8398953"/>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graphicFrame>
        <p:nvGraphicFramePr>
          <p:cNvPr id="213" name="Google Shape;213;p16"/>
          <p:cNvGraphicFramePr/>
          <p:nvPr/>
        </p:nvGraphicFramePr>
        <p:xfrm>
          <a:off x="179127" y="133259"/>
          <a:ext cx="3000000" cy="3000000"/>
        </p:xfrm>
        <a:graphic>
          <a:graphicData uri="http://schemas.openxmlformats.org/drawingml/2006/table">
            <a:tbl>
              <a:tblPr bandRow="1" firstRow="1">
                <a:noFill/>
                <a:tableStyleId>{83881756-DB08-42B0-B75F-A2D31ED75187}</a:tableStyleId>
              </a:tblPr>
              <a:tblGrid>
                <a:gridCol w="6527050"/>
              </a:tblGrid>
              <a:tr h="1224000">
                <a:tc>
                  <a:txBody>
                    <a:bodyPr/>
                    <a:lstStyle/>
                    <a:p>
                      <a:pPr indent="0" lvl="0" marL="0" marR="0" rtl="0" algn="l">
                        <a:spcBef>
                          <a:spcPts val="0"/>
                        </a:spcBef>
                        <a:spcAft>
                          <a:spcPts val="0"/>
                        </a:spcAft>
                        <a:buNone/>
                      </a:pPr>
                      <a:r>
                        <a:rPr b="0" lang="en-GB" sz="1200">
                          <a:solidFill>
                            <a:schemeClr val="dk1"/>
                          </a:solidFill>
                        </a:rPr>
                        <a:t>c) There is a prime number with 2 digits. The digits add up to 5. What is the prime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52400">
                <a:tc>
                  <a:txBody>
                    <a:bodyPr/>
                    <a:lstStyle/>
                    <a:p>
                      <a:pPr indent="0" lvl="0" marL="0" marR="0" rtl="0" algn="l">
                        <a:spcBef>
                          <a:spcPts val="0"/>
                        </a:spcBef>
                        <a:spcAft>
                          <a:spcPts val="0"/>
                        </a:spcAft>
                        <a:buNone/>
                      </a:pPr>
                      <a:r>
                        <a:rPr b="0" lang="en-GB" sz="1200">
                          <a:solidFill>
                            <a:schemeClr val="dk1"/>
                          </a:solidFill>
                        </a:rPr>
                        <a:t>d) Circle the correct answer. When two prime numbers are added: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36000">
                <a:tc>
                  <a:txBody>
                    <a:bodyPr/>
                    <a:lstStyle/>
                    <a:p>
                      <a:pPr indent="0" lvl="2" marL="685800" marR="0" rtl="0" algn="l">
                        <a:spcBef>
                          <a:spcPts val="0"/>
                        </a:spcBef>
                        <a:spcAft>
                          <a:spcPts val="0"/>
                        </a:spcAft>
                        <a:buClr>
                          <a:schemeClr val="dk1"/>
                        </a:buClr>
                        <a:buSzPts val="1200"/>
                        <a:buFont typeface="Calibri"/>
                        <a:buNone/>
                      </a:pPr>
                      <a:r>
                        <a:rPr b="0" lang="en-GB" sz="1200" u="none" cap="none" strike="noStrike">
                          <a:solidFill>
                            <a:schemeClr val="dk1"/>
                          </a:solidFill>
                        </a:rPr>
                        <a:t>i) The answer is also a prime number                 ii) The answer is an even number             </a:t>
                      </a:r>
                      <a:endParaRPr/>
                    </a:p>
                    <a:p>
                      <a:pPr indent="0" lvl="2" marL="685800" marR="0" rtl="0" algn="l">
                        <a:spcBef>
                          <a:spcPts val="0"/>
                        </a:spcBef>
                        <a:spcAft>
                          <a:spcPts val="0"/>
                        </a:spcAft>
                        <a:buClr>
                          <a:schemeClr val="dk1"/>
                        </a:buClr>
                        <a:buSzPts val="1200"/>
                        <a:buFont typeface="Calibri"/>
                        <a:buNone/>
                      </a:pPr>
                      <a:r>
                        <a:t/>
                      </a:r>
                      <a:endParaRPr b="0" sz="1200" u="none" cap="none" strike="noStrike">
                        <a:solidFill>
                          <a:schemeClr val="dk1"/>
                        </a:solidFill>
                      </a:endParaRPr>
                    </a:p>
                    <a:p>
                      <a:pPr indent="0" lvl="2" marL="685800" marR="0" rtl="0" algn="l">
                        <a:spcBef>
                          <a:spcPts val="0"/>
                        </a:spcBef>
                        <a:spcAft>
                          <a:spcPts val="0"/>
                        </a:spcAft>
                        <a:buClr>
                          <a:schemeClr val="dk1"/>
                        </a:buClr>
                        <a:buSzPts val="1200"/>
                        <a:buFont typeface="Calibri"/>
                        <a:buNone/>
                      </a:pPr>
                      <a:r>
                        <a:rPr b="0" lang="en-GB" sz="1200" u="none" cap="none" strike="noStrike">
                          <a:solidFill>
                            <a:schemeClr val="dk1"/>
                          </a:solidFill>
                        </a:rPr>
                        <a:t>iii) The answer is a composite number               iv) it varies </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58825">
                <a:tc>
                  <a:txBody>
                    <a:bodyPr/>
                    <a:lstStyle/>
                    <a:p>
                      <a:pPr indent="0" lvl="0" marL="0" marR="0" rtl="0" algn="l">
                        <a:spcBef>
                          <a:spcPts val="0"/>
                        </a:spcBef>
                        <a:spcAft>
                          <a:spcPts val="0"/>
                        </a:spcAft>
                        <a:buNone/>
                      </a:pPr>
                      <a:r>
                        <a:rPr b="0" lang="en-GB" sz="1200">
                          <a:solidFill>
                            <a:schemeClr val="dk1"/>
                          </a:solidFill>
                        </a:rPr>
                        <a:t>e) Which of these numbers is both a factor of 30 and a prime number (known as a prime factor)?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52400">
                <a:tc>
                  <a:txBody>
                    <a:bodyPr/>
                    <a:lstStyle/>
                    <a:p>
                      <a:pPr indent="0" lvl="2" marL="685800" marR="0" rtl="0" algn="l">
                        <a:spcBef>
                          <a:spcPts val="0"/>
                        </a:spcBef>
                        <a:spcAft>
                          <a:spcPts val="0"/>
                        </a:spcAft>
                        <a:buClr>
                          <a:schemeClr val="dk1"/>
                        </a:buClr>
                        <a:buSzPts val="1200"/>
                        <a:buFont typeface="Calibri"/>
                        <a:buNone/>
                      </a:pPr>
                      <a:r>
                        <a:t/>
                      </a:r>
                      <a:endParaRPr b="0" sz="1200" u="none" cap="none" strike="noStrike">
                        <a:solidFill>
                          <a:schemeClr val="dk1"/>
                        </a:solidFill>
                      </a:endParaRPr>
                    </a:p>
                    <a:p>
                      <a:pPr indent="-285750" lvl="0" marL="285750" marR="0" rtl="0" algn="ctr">
                        <a:spcBef>
                          <a:spcPts val="0"/>
                        </a:spcBef>
                        <a:spcAft>
                          <a:spcPts val="0"/>
                        </a:spcAft>
                        <a:buClr>
                          <a:schemeClr val="dk1"/>
                        </a:buClr>
                        <a:buSzPts val="1200"/>
                        <a:buFont typeface="Calibri"/>
                        <a:buAutoNum type="romanLcParenR"/>
                      </a:pPr>
                      <a:r>
                        <a:rPr b="0" lang="en-GB" sz="1200">
                          <a:solidFill>
                            <a:schemeClr val="dk1"/>
                          </a:solidFill>
                        </a:rPr>
                        <a:t>1                 ii) 5              iii) 6            iv) 10          v) 30</a:t>
                      </a:r>
                      <a:endParaRPr/>
                    </a:p>
                    <a:p>
                      <a:pPr indent="0" lvl="2" marL="685800" marR="0" rtl="0" algn="ctr">
                        <a:spcBef>
                          <a:spcPts val="0"/>
                        </a:spcBef>
                        <a:spcAft>
                          <a:spcPts val="0"/>
                        </a:spcAft>
                        <a:buClr>
                          <a:schemeClr val="dk1"/>
                        </a:buClr>
                        <a:buSzPts val="1200"/>
                        <a:buFont typeface="Calibri"/>
                        <a:buNone/>
                      </a:pPr>
                      <a:r>
                        <a:t/>
                      </a:r>
                      <a:endParaRPr b="0" sz="12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122400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f) Find two prime numbers that have a sum of 100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4" name="Google Shape;214;p16"/>
          <p:cNvSpPr txBox="1"/>
          <p:nvPr>
            <p:ph idx="12" type="sldNum"/>
          </p:nvPr>
        </p:nvSpPr>
        <p:spPr>
          <a:xfrm>
            <a:off x="5204062" y="948164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15" name="Google Shape;215;p16"/>
          <p:cNvGraphicFramePr/>
          <p:nvPr/>
        </p:nvGraphicFramePr>
        <p:xfrm>
          <a:off x="179126" y="4712184"/>
          <a:ext cx="3000000" cy="3000000"/>
        </p:xfrm>
        <a:graphic>
          <a:graphicData uri="http://schemas.openxmlformats.org/drawingml/2006/table">
            <a:tbl>
              <a:tblPr bandRow="1" firstRow="1">
                <a:noFill/>
                <a:tableStyleId>{83881756-DB08-42B0-B75F-A2D31ED75187}</a:tableStyleId>
              </a:tblPr>
              <a:tblGrid>
                <a:gridCol w="6527050"/>
              </a:tblGrid>
              <a:tr h="123845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g) Find three different prime numbers that have a sum of 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845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h) Find three different prime numbers that have a product of 165.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845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i) Write down three different factors of 18 that add together to give a prime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3845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j) Nidah writes down two different prime numbers. She adds together her two numbers. Her answer is a square number less than 30. Find two prime numbers that Nidah could have written down.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6" name="Google Shape;216;p16"/>
          <p:cNvSpPr txBox="1"/>
          <p:nvPr/>
        </p:nvSpPr>
        <p:spPr>
          <a:xfrm>
            <a:off x="482273" y="566805"/>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23</a:t>
            </a:r>
            <a:endParaRPr/>
          </a:p>
        </p:txBody>
      </p:sp>
      <p:sp>
        <p:nvSpPr>
          <p:cNvPr id="217" name="Google Shape;217;p16"/>
          <p:cNvSpPr/>
          <p:nvPr/>
        </p:nvSpPr>
        <p:spPr>
          <a:xfrm>
            <a:off x="3586161" y="2151997"/>
            <a:ext cx="1080655" cy="386415"/>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16"/>
          <p:cNvSpPr/>
          <p:nvPr/>
        </p:nvSpPr>
        <p:spPr>
          <a:xfrm>
            <a:off x="2494524" y="2947768"/>
            <a:ext cx="630382" cy="41983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16"/>
          <p:cNvSpPr txBox="1"/>
          <p:nvPr/>
        </p:nvSpPr>
        <p:spPr>
          <a:xfrm>
            <a:off x="304950" y="3873699"/>
            <a:ext cx="62480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47 and 53,     41 and 59,      29 and 71,     17 and 83,    11 and 89</a:t>
            </a:r>
            <a:endParaRPr/>
          </a:p>
        </p:txBody>
      </p:sp>
      <p:sp>
        <p:nvSpPr>
          <p:cNvPr id="220" name="Google Shape;220;p16"/>
          <p:cNvSpPr txBox="1"/>
          <p:nvPr/>
        </p:nvSpPr>
        <p:spPr>
          <a:xfrm>
            <a:off x="2953356" y="4336647"/>
            <a:ext cx="17582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and 97</a:t>
            </a:r>
            <a:endParaRPr/>
          </a:p>
        </p:txBody>
      </p:sp>
      <p:sp>
        <p:nvSpPr>
          <p:cNvPr id="221" name="Google Shape;221;p16"/>
          <p:cNvSpPr txBox="1"/>
          <p:nvPr/>
        </p:nvSpPr>
        <p:spPr>
          <a:xfrm>
            <a:off x="2702722" y="5076026"/>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 7 and 31</a:t>
            </a:r>
            <a:endParaRPr/>
          </a:p>
        </p:txBody>
      </p:sp>
      <p:sp>
        <p:nvSpPr>
          <p:cNvPr id="222" name="Google Shape;222;p16"/>
          <p:cNvSpPr txBox="1"/>
          <p:nvPr/>
        </p:nvSpPr>
        <p:spPr>
          <a:xfrm>
            <a:off x="2693758" y="6376823"/>
            <a:ext cx="178480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5 and 11</a:t>
            </a:r>
            <a:endParaRPr/>
          </a:p>
        </p:txBody>
      </p:sp>
      <p:sp>
        <p:nvSpPr>
          <p:cNvPr id="223" name="Google Shape;223;p16"/>
          <p:cNvSpPr txBox="1"/>
          <p:nvPr/>
        </p:nvSpPr>
        <p:spPr>
          <a:xfrm>
            <a:off x="2072547" y="7490730"/>
            <a:ext cx="62630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 3 and 6              1, 3 and 9</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2, 6 and 9              2, 3 and 18           </a:t>
            </a:r>
            <a:endParaRPr/>
          </a:p>
        </p:txBody>
      </p:sp>
      <p:sp>
        <p:nvSpPr>
          <p:cNvPr id="224" name="Google Shape;224;p16"/>
          <p:cNvSpPr txBox="1"/>
          <p:nvPr/>
        </p:nvSpPr>
        <p:spPr>
          <a:xfrm>
            <a:off x="304950" y="9034077"/>
            <a:ext cx="57905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 and 7          5 and 11            3 and 13         2 and 23</a:t>
            </a:r>
            <a:endParaRPr/>
          </a:p>
          <a:p>
            <a:pPr indent="0" lvl="0" marL="0" marR="0" rtl="0" algn="l">
              <a:spcBef>
                <a:spcPts val="0"/>
              </a:spcBef>
              <a:spcAft>
                <a:spcPts val="0"/>
              </a:spcAft>
              <a:buNone/>
            </a:pPr>
            <a:r>
              <a:t/>
            </a:r>
            <a:endParaRPr b="1" sz="1800">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7"/>
          <p:cNvSpPr txBox="1"/>
          <p:nvPr>
            <p:ph idx="12" type="sldNum"/>
          </p:nvPr>
        </p:nvSpPr>
        <p:spPr>
          <a:xfrm>
            <a:off x="5173715" y="943725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30" name="Google Shape;230;p17"/>
          <p:cNvGraphicFramePr/>
          <p:nvPr/>
        </p:nvGraphicFramePr>
        <p:xfrm>
          <a:off x="192969" y="416355"/>
          <a:ext cx="3000000" cy="3000000"/>
        </p:xfrm>
        <a:graphic>
          <a:graphicData uri="http://schemas.openxmlformats.org/drawingml/2006/table">
            <a:tbl>
              <a:tblPr bandRow="1" firstRow="1">
                <a:noFill/>
                <a:tableStyleId>{83881756-DB08-42B0-B75F-A2D31ED75187}</a:tableStyleId>
              </a:tblPr>
              <a:tblGrid>
                <a:gridCol w="3261075"/>
                <a:gridCol w="3261075"/>
              </a:tblGrid>
              <a:tr h="4561800">
                <a:tc>
                  <a:txBody>
                    <a:bodyPr/>
                    <a:lstStyle/>
                    <a:p>
                      <a:pPr indent="0" lvl="0" marL="0" marR="0" rtl="0" algn="ctr">
                        <a:spcBef>
                          <a:spcPts val="0"/>
                        </a:spcBef>
                        <a:spcAft>
                          <a:spcPts val="0"/>
                        </a:spcAft>
                        <a:buNone/>
                      </a:pPr>
                      <a:r>
                        <a:t/>
                      </a:r>
                      <a:endParaRPr b="0" sz="1350">
                        <a:solidFill>
                          <a:schemeClr val="dk1"/>
                        </a:solidFill>
                      </a:endParaRPr>
                    </a:p>
                    <a:p>
                      <a:pPr indent="0" lvl="0" marL="0" marR="0" rtl="0" algn="ctr">
                        <a:spcBef>
                          <a:spcPts val="0"/>
                        </a:spcBef>
                        <a:spcAft>
                          <a:spcPts val="0"/>
                        </a:spcAft>
                        <a:buNone/>
                      </a:pPr>
                      <a:r>
                        <a:rPr b="1" lang="en-GB" sz="1350">
                          <a:solidFill>
                            <a:schemeClr val="dk1"/>
                          </a:solidFill>
                        </a:rPr>
                        <a:t>2            8           4           32           6          16</a:t>
                      </a:r>
                      <a:endParaRPr/>
                    </a:p>
                    <a:p>
                      <a:pPr indent="0" lvl="0" marL="0" marR="0" rtl="0" algn="ctr">
                        <a:spcBef>
                          <a:spcPts val="0"/>
                        </a:spcBef>
                        <a:spcAft>
                          <a:spcPts val="0"/>
                        </a:spcAft>
                        <a:buNone/>
                      </a:pPr>
                      <a:r>
                        <a:t/>
                      </a:r>
                      <a:endParaRPr b="1" sz="1350">
                        <a:solidFill>
                          <a:schemeClr val="dk1"/>
                        </a:solidFill>
                      </a:endParaRPr>
                    </a:p>
                    <a:p>
                      <a:pPr indent="0" lvl="0" marL="0" marR="0" rtl="0" algn="ctr">
                        <a:spcBef>
                          <a:spcPts val="0"/>
                        </a:spcBef>
                        <a:spcAft>
                          <a:spcPts val="0"/>
                        </a:spcAft>
                        <a:buNone/>
                      </a:pPr>
                      <a:r>
                        <a:t/>
                      </a:r>
                      <a:endParaRPr b="1" sz="1350">
                        <a:solidFill>
                          <a:schemeClr val="dk1"/>
                        </a:solidFill>
                      </a:endParaRPr>
                    </a:p>
                    <a:p>
                      <a:pPr indent="0" lvl="0" marL="0" marR="0" rtl="0" algn="l">
                        <a:spcBef>
                          <a:spcPts val="0"/>
                        </a:spcBef>
                        <a:spcAft>
                          <a:spcPts val="0"/>
                        </a:spcAft>
                        <a:buNone/>
                      </a:pPr>
                      <a:r>
                        <a:rPr b="0" lang="en-GB" sz="1200">
                          <a:solidFill>
                            <a:schemeClr val="dk1"/>
                          </a:solidFill>
                        </a:rPr>
                        <a:t>From the numbers above, write down</a:t>
                      </a:r>
                      <a:endParaRPr/>
                    </a:p>
                    <a:p>
                      <a:pPr indent="0" lvl="0" marL="0" marR="0" rtl="0" algn="l">
                        <a:spcBef>
                          <a:spcPts val="0"/>
                        </a:spcBef>
                        <a:spcAft>
                          <a:spcPts val="0"/>
                        </a:spcAft>
                        <a:buNone/>
                      </a:pPr>
                      <a:r>
                        <a:t/>
                      </a:r>
                      <a:endParaRPr b="0" sz="135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A square</a:t>
                      </a:r>
                      <a:endParaRPr/>
                    </a:p>
                    <a:p>
                      <a:pPr indent="-241300" lvl="0" marL="342900" marR="0" rtl="0" algn="l">
                        <a:lnSpc>
                          <a:spcPct val="200000"/>
                        </a:lnSpc>
                        <a:spcBef>
                          <a:spcPts val="0"/>
                        </a:spcBef>
                        <a:spcAft>
                          <a:spcPts val="0"/>
                        </a:spcAft>
                        <a:buClr>
                          <a:schemeClr val="dk1"/>
                        </a:buClr>
                        <a:buSzPts val="1600"/>
                        <a:buFont typeface="Calibri"/>
                        <a:buNone/>
                      </a:pPr>
                      <a:r>
                        <a:t/>
                      </a:r>
                      <a:endParaRPr b="0" sz="160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The square root of 16</a:t>
                      </a:r>
                      <a:endParaRPr/>
                    </a:p>
                    <a:p>
                      <a:pPr indent="0" lvl="0" marL="0" marR="0" rtl="0" algn="l">
                        <a:lnSpc>
                          <a:spcPct val="200000"/>
                        </a:lnSpc>
                        <a:spcBef>
                          <a:spcPts val="0"/>
                        </a:spcBef>
                        <a:spcAft>
                          <a:spcPts val="0"/>
                        </a:spcAft>
                        <a:buClr>
                          <a:schemeClr val="dk1"/>
                        </a:buClr>
                        <a:buSzPts val="1600"/>
                        <a:buFont typeface="Calibri"/>
                        <a:buNone/>
                      </a:pPr>
                      <a:r>
                        <a:t/>
                      </a:r>
                      <a:endParaRPr b="0" sz="160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The cube of 2</a:t>
                      </a:r>
                      <a:endParaRPr/>
                    </a:p>
                    <a:p>
                      <a:pPr indent="0" lvl="0" marL="0" marR="0" rtl="0" algn="l">
                        <a:lnSpc>
                          <a:spcPct val="200000"/>
                        </a:lnSpc>
                        <a:spcBef>
                          <a:spcPts val="0"/>
                        </a:spcBef>
                        <a:spcAft>
                          <a:spcPts val="0"/>
                        </a:spcAft>
                        <a:buClr>
                          <a:schemeClr val="dk1"/>
                        </a:buClr>
                        <a:buSzPts val="1600"/>
                        <a:buFont typeface="Calibri"/>
                        <a:buNone/>
                      </a:pPr>
                      <a:r>
                        <a:t/>
                      </a:r>
                      <a:endParaRPr b="0" sz="160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The prime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350"/>
                        <a:buFont typeface="Calibri"/>
                        <a:buNone/>
                      </a:pPr>
                      <a:r>
                        <a:t/>
                      </a:r>
                      <a:endParaRPr b="1" sz="1350">
                        <a:solidFill>
                          <a:schemeClr val="dk1"/>
                        </a:solidFill>
                      </a:endParaRPr>
                    </a:p>
                    <a:p>
                      <a:pPr indent="0" lvl="0" marL="0" marR="0" rtl="0" algn="l">
                        <a:lnSpc>
                          <a:spcPct val="100000"/>
                        </a:lnSpc>
                        <a:spcBef>
                          <a:spcPts val="0"/>
                        </a:spcBef>
                        <a:spcAft>
                          <a:spcPts val="0"/>
                        </a:spcAft>
                        <a:buClr>
                          <a:schemeClr val="dk1"/>
                        </a:buClr>
                        <a:buSzPts val="1350"/>
                        <a:buFont typeface="Calibri"/>
                        <a:buNone/>
                      </a:pPr>
                      <a:r>
                        <a:rPr b="1" lang="en-GB" sz="1350">
                          <a:solidFill>
                            <a:schemeClr val="dk1"/>
                          </a:solidFill>
                        </a:rPr>
                        <a:t>3            2           13           11           9          7</a:t>
                      </a:r>
                      <a:endParaRPr/>
                    </a:p>
                    <a:p>
                      <a:pPr indent="0" lvl="0" marL="0" marR="0" rtl="0" algn="l">
                        <a:spcBef>
                          <a:spcPts val="0"/>
                        </a:spcBef>
                        <a:spcAft>
                          <a:spcPts val="0"/>
                        </a:spcAft>
                        <a:buNone/>
                      </a:pPr>
                      <a:r>
                        <a:t/>
                      </a:r>
                      <a:endParaRPr b="0" sz="1350">
                        <a:solidFill>
                          <a:schemeClr val="dk1"/>
                        </a:solidFill>
                      </a:endParaRPr>
                    </a:p>
                    <a:p>
                      <a:pPr indent="0" lvl="0" marL="0" marR="0" rtl="0" algn="l">
                        <a:spcBef>
                          <a:spcPts val="0"/>
                        </a:spcBef>
                        <a:spcAft>
                          <a:spcPts val="0"/>
                        </a:spcAft>
                        <a:buNone/>
                      </a:pPr>
                      <a:r>
                        <a:t/>
                      </a:r>
                      <a:endParaRPr b="0" sz="1350">
                        <a:solidFill>
                          <a:schemeClr val="dk1"/>
                        </a:solidFill>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From the numbers above, write a number that is:</a:t>
                      </a:r>
                      <a:endParaRPr/>
                    </a:p>
                    <a:p>
                      <a:pPr indent="0" lvl="0" marL="0" marR="0" rtl="0" algn="l">
                        <a:lnSpc>
                          <a:spcPct val="100000"/>
                        </a:lnSpc>
                        <a:spcBef>
                          <a:spcPts val="0"/>
                        </a:spcBef>
                        <a:spcAft>
                          <a:spcPts val="0"/>
                        </a:spcAft>
                        <a:buClr>
                          <a:schemeClr val="dk1"/>
                        </a:buClr>
                        <a:buSzPts val="1350"/>
                        <a:buFont typeface="Calibri"/>
                        <a:buNone/>
                      </a:pPr>
                      <a:r>
                        <a:t/>
                      </a:r>
                      <a:endParaRPr b="0" i="0" sz="1350" u="none" cap="none" strike="noStrike">
                        <a:solidFill>
                          <a:srgbClr val="00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A factor of 35</a:t>
                      </a:r>
                      <a:endParaRPr/>
                    </a:p>
                    <a:p>
                      <a:pPr indent="-241300" lvl="0" marL="342900" marR="0" rtl="0" algn="l">
                        <a:lnSpc>
                          <a:spcPct val="2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Not prime</a:t>
                      </a:r>
                      <a:endParaRPr/>
                    </a:p>
                    <a:p>
                      <a:pPr indent="0" lvl="0" marL="0" marR="0" rtl="0" algn="l">
                        <a:lnSpc>
                          <a:spcPct val="2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An even prime</a:t>
                      </a:r>
                      <a:endParaRPr/>
                    </a:p>
                    <a:p>
                      <a:pPr indent="0" lvl="0" marL="0" marR="0" rtl="0" algn="l">
                        <a:lnSpc>
                          <a:spcPct val="2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A multiple of 3</a:t>
                      </a:r>
                      <a:endParaRPr/>
                    </a:p>
                    <a:p>
                      <a:pPr indent="0" lvl="0" marL="0" marR="0" rtl="0" algn="l">
                        <a:spcBef>
                          <a:spcPts val="0"/>
                        </a:spcBef>
                        <a:spcAft>
                          <a:spcPts val="0"/>
                        </a:spcAft>
                        <a:buNone/>
                      </a:pPr>
                      <a:r>
                        <a:t/>
                      </a:r>
                      <a:endParaRPr b="0" sz="135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61800">
                <a:tc>
                  <a:txBody>
                    <a:bodyPr/>
                    <a:lstStyle/>
                    <a:p>
                      <a:pPr indent="0" lvl="0" marL="0" marR="0" rtl="0" algn="ctr">
                        <a:spcBef>
                          <a:spcPts val="0"/>
                        </a:spcBef>
                        <a:spcAft>
                          <a:spcPts val="0"/>
                        </a:spcAft>
                        <a:buNone/>
                      </a:pPr>
                      <a:r>
                        <a:t/>
                      </a:r>
                      <a:endParaRPr b="0" sz="1350">
                        <a:solidFill>
                          <a:schemeClr val="dk1"/>
                        </a:solidFill>
                      </a:endParaRPr>
                    </a:p>
                    <a:p>
                      <a:pPr indent="0" lvl="0" marL="0" marR="0" rtl="0" algn="ctr">
                        <a:spcBef>
                          <a:spcPts val="0"/>
                        </a:spcBef>
                        <a:spcAft>
                          <a:spcPts val="0"/>
                        </a:spcAft>
                        <a:buNone/>
                      </a:pPr>
                      <a:r>
                        <a:rPr b="1" lang="en-GB" sz="1350">
                          <a:solidFill>
                            <a:schemeClr val="dk1"/>
                          </a:solidFill>
                        </a:rPr>
                        <a:t>15       16       17       18       20      22       24</a:t>
                      </a:r>
                      <a:endParaRPr/>
                    </a:p>
                    <a:p>
                      <a:pPr indent="0" lvl="0" marL="0" marR="0" rtl="0" algn="ctr">
                        <a:spcBef>
                          <a:spcPts val="0"/>
                        </a:spcBef>
                        <a:spcAft>
                          <a:spcPts val="0"/>
                        </a:spcAft>
                        <a:buNone/>
                      </a:pPr>
                      <a:r>
                        <a:t/>
                      </a:r>
                      <a:endParaRPr b="1" sz="1350">
                        <a:solidFill>
                          <a:schemeClr val="dk1"/>
                        </a:solidFill>
                      </a:endParaRPr>
                    </a:p>
                    <a:p>
                      <a:pPr indent="0" lvl="0" marL="0" marR="0" rtl="0" algn="ctr">
                        <a:spcBef>
                          <a:spcPts val="0"/>
                        </a:spcBef>
                        <a:spcAft>
                          <a:spcPts val="0"/>
                        </a:spcAft>
                        <a:buNone/>
                      </a:pPr>
                      <a:r>
                        <a:t/>
                      </a:r>
                      <a:endParaRPr b="1" sz="1350">
                        <a:solidFill>
                          <a:schemeClr val="dk1"/>
                        </a:solidFill>
                      </a:endParaRPr>
                    </a:p>
                    <a:p>
                      <a:pPr indent="0" lvl="0" marL="0" marR="0" rtl="0" algn="l">
                        <a:spcBef>
                          <a:spcPts val="0"/>
                        </a:spcBef>
                        <a:spcAft>
                          <a:spcPts val="0"/>
                        </a:spcAft>
                        <a:buNone/>
                      </a:pPr>
                      <a:r>
                        <a:rPr b="0" lang="en-GB" sz="1200">
                          <a:solidFill>
                            <a:schemeClr val="dk1"/>
                          </a:solidFill>
                        </a:rPr>
                        <a:t>From the numbers above, write down</a:t>
                      </a:r>
                      <a:endParaRPr/>
                    </a:p>
                    <a:p>
                      <a:pPr indent="0" lvl="0" marL="0" marR="0" rtl="0" algn="l">
                        <a:spcBef>
                          <a:spcPts val="0"/>
                        </a:spcBef>
                        <a:spcAft>
                          <a:spcPts val="0"/>
                        </a:spcAft>
                        <a:buNone/>
                      </a:pPr>
                      <a:r>
                        <a:t/>
                      </a:r>
                      <a:endParaRPr b="0" sz="135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A prime</a:t>
                      </a:r>
                      <a:endParaRPr/>
                    </a:p>
                    <a:p>
                      <a:pPr indent="-241300" lvl="0" marL="342900" marR="0" rtl="0" algn="l">
                        <a:lnSpc>
                          <a:spcPct val="200000"/>
                        </a:lnSpc>
                        <a:spcBef>
                          <a:spcPts val="0"/>
                        </a:spcBef>
                        <a:spcAft>
                          <a:spcPts val="0"/>
                        </a:spcAft>
                        <a:buClr>
                          <a:schemeClr val="dk1"/>
                        </a:buClr>
                        <a:buSzPts val="1600"/>
                        <a:buFont typeface="Calibri"/>
                        <a:buNone/>
                      </a:pPr>
                      <a:r>
                        <a:t/>
                      </a:r>
                      <a:endParaRPr b="0" sz="160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A factor of 30</a:t>
                      </a:r>
                      <a:endParaRPr/>
                    </a:p>
                    <a:p>
                      <a:pPr indent="0" lvl="0" marL="0" marR="0" rtl="0" algn="l">
                        <a:lnSpc>
                          <a:spcPct val="200000"/>
                        </a:lnSpc>
                        <a:spcBef>
                          <a:spcPts val="0"/>
                        </a:spcBef>
                        <a:spcAft>
                          <a:spcPts val="0"/>
                        </a:spcAft>
                        <a:buClr>
                          <a:schemeClr val="dk1"/>
                        </a:buClr>
                        <a:buSzPts val="1600"/>
                        <a:buFont typeface="Calibri"/>
                        <a:buNone/>
                      </a:pPr>
                      <a:r>
                        <a:t/>
                      </a:r>
                      <a:endParaRPr b="0" sz="160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An even multiple of 3</a:t>
                      </a:r>
                      <a:endParaRPr/>
                    </a:p>
                    <a:p>
                      <a:pPr indent="0" lvl="0" marL="0" marR="0" rtl="0" algn="l">
                        <a:lnSpc>
                          <a:spcPct val="200000"/>
                        </a:lnSpc>
                        <a:spcBef>
                          <a:spcPts val="0"/>
                        </a:spcBef>
                        <a:spcAft>
                          <a:spcPts val="0"/>
                        </a:spcAft>
                        <a:buClr>
                          <a:schemeClr val="dk1"/>
                        </a:buClr>
                        <a:buSzPts val="1600"/>
                        <a:buFont typeface="Calibri"/>
                        <a:buNone/>
                      </a:pPr>
                      <a:r>
                        <a:t/>
                      </a:r>
                      <a:endParaRPr b="0" sz="1600">
                        <a:solidFill>
                          <a:schemeClr val="dk1"/>
                        </a:solidFill>
                      </a:endParaRPr>
                    </a:p>
                    <a:p>
                      <a:pPr indent="-342900" lvl="0" marL="342900" marR="0" rtl="0" algn="l">
                        <a:lnSpc>
                          <a:spcPct val="200000"/>
                        </a:lnSpc>
                        <a:spcBef>
                          <a:spcPts val="0"/>
                        </a:spcBef>
                        <a:spcAft>
                          <a:spcPts val="0"/>
                        </a:spcAft>
                        <a:buClr>
                          <a:schemeClr val="dk1"/>
                        </a:buClr>
                        <a:buSzPts val="1200"/>
                        <a:buFont typeface="Calibri"/>
                        <a:buAutoNum type="alphaLcParenR"/>
                      </a:pPr>
                      <a:r>
                        <a:rPr b="0" lang="en-GB" sz="1200">
                          <a:solidFill>
                            <a:schemeClr val="dk1"/>
                          </a:solidFill>
                        </a:rPr>
                        <a:t>The square root of 225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350"/>
                        <a:buFont typeface="Calibri"/>
                        <a:buNone/>
                      </a:pPr>
                      <a:r>
                        <a:t/>
                      </a:r>
                      <a:endParaRPr b="1" sz="1350">
                        <a:solidFill>
                          <a:schemeClr val="dk1"/>
                        </a:solidFill>
                      </a:endParaRPr>
                    </a:p>
                    <a:p>
                      <a:pPr indent="-342900" lvl="0" marL="342900" marR="0" rtl="0" algn="l">
                        <a:lnSpc>
                          <a:spcPct val="100000"/>
                        </a:lnSpc>
                        <a:spcBef>
                          <a:spcPts val="0"/>
                        </a:spcBef>
                        <a:spcAft>
                          <a:spcPts val="0"/>
                        </a:spcAft>
                        <a:buClr>
                          <a:schemeClr val="dk1"/>
                        </a:buClr>
                        <a:buSzPts val="1350"/>
                        <a:buFont typeface="Calibri"/>
                        <a:buAutoNum type="arabicPlain" startAt="9"/>
                      </a:pPr>
                      <a:r>
                        <a:rPr b="1" lang="en-GB" sz="1350">
                          <a:solidFill>
                            <a:schemeClr val="dk1"/>
                          </a:solidFill>
                        </a:rPr>
                        <a:t>7        17        1        81       2        99      55    </a:t>
                      </a:r>
                      <a:br>
                        <a:rPr b="1" lang="en-GB" sz="1350">
                          <a:solidFill>
                            <a:schemeClr val="dk1"/>
                          </a:solidFill>
                        </a:rPr>
                      </a:br>
                      <a:br>
                        <a:rPr b="1" lang="en-GB" sz="600">
                          <a:solidFill>
                            <a:schemeClr val="dk1"/>
                          </a:solidFill>
                        </a:rPr>
                      </a:br>
                      <a:r>
                        <a:rPr b="1" lang="en-GB" sz="1350">
                          <a:solidFill>
                            <a:schemeClr val="dk1"/>
                          </a:solidFill>
                        </a:rPr>
                        <a:t>                 100       101      27      19</a:t>
                      </a:r>
                      <a:endParaRPr/>
                    </a:p>
                    <a:p>
                      <a:pPr indent="0" lvl="0" marL="0" marR="0" rtl="0" algn="l">
                        <a:lnSpc>
                          <a:spcPct val="100000"/>
                        </a:lnSpc>
                        <a:spcBef>
                          <a:spcPts val="0"/>
                        </a:spcBef>
                        <a:spcAft>
                          <a:spcPts val="0"/>
                        </a:spcAft>
                        <a:buClr>
                          <a:schemeClr val="dk1"/>
                        </a:buClr>
                        <a:buSzPts val="900"/>
                        <a:buFont typeface="Calibri"/>
                        <a:buNone/>
                      </a:pPr>
                      <a:r>
                        <a:t/>
                      </a:r>
                      <a:endParaRPr b="0" sz="900">
                        <a:solidFill>
                          <a:schemeClr val="dk1"/>
                        </a:solidFill>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From the numbers above, write a number that is:</a:t>
                      </a:r>
                      <a:endParaRPr/>
                    </a:p>
                    <a:p>
                      <a:pPr indent="0" lvl="0" marL="0" marR="0" rtl="0" algn="l">
                        <a:lnSpc>
                          <a:spcPct val="100000"/>
                        </a:lnSpc>
                        <a:spcBef>
                          <a:spcPts val="0"/>
                        </a:spcBef>
                        <a:spcAft>
                          <a:spcPts val="0"/>
                        </a:spcAft>
                        <a:buClr>
                          <a:schemeClr val="dk1"/>
                        </a:buClr>
                        <a:buSzPts val="1350"/>
                        <a:buFont typeface="Calibri"/>
                        <a:buNone/>
                      </a:pPr>
                      <a:r>
                        <a:t/>
                      </a:r>
                      <a:endParaRPr b="0" i="0" sz="1350" u="none" cap="none" strike="noStrike">
                        <a:solidFill>
                          <a:srgbClr val="00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The smallest prime </a:t>
                      </a:r>
                      <a:endParaRPr/>
                    </a:p>
                    <a:p>
                      <a:pPr indent="-241300" lvl="0" marL="342900" marR="0" rtl="0" algn="l">
                        <a:lnSpc>
                          <a:spcPct val="2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The cube root of 8</a:t>
                      </a:r>
                      <a:endParaRPr/>
                    </a:p>
                    <a:p>
                      <a:pPr indent="0" lvl="0" marL="0" marR="0" rtl="0" algn="l">
                        <a:lnSpc>
                          <a:spcPct val="2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342900" lvl="0" marL="342900" marR="0" rtl="0" algn="l">
                        <a:lnSpc>
                          <a:spcPct val="2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A prime greater than 10</a:t>
                      </a:r>
                      <a:endParaRPr/>
                    </a:p>
                    <a:p>
                      <a:pPr indent="0" lvl="0" marL="0" marR="0" rtl="0" algn="l">
                        <a:lnSpc>
                          <a:spcPct val="2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1200"/>
                        <a:buFont typeface="Calibri"/>
                        <a:buAutoNum type="alphaLcParenR"/>
                      </a:pPr>
                      <a:r>
                        <a:rPr b="0" i="0" lang="en-GB" sz="1200" u="none" cap="none" strike="noStrike">
                          <a:solidFill>
                            <a:srgbClr val="000000"/>
                          </a:solidFill>
                          <a:latin typeface="Calibri"/>
                          <a:ea typeface="Calibri"/>
                          <a:cs typeface="Calibri"/>
                          <a:sym typeface="Calibri"/>
                        </a:rPr>
                        <a:t>Three numbers that </a:t>
                      </a:r>
                      <a:br>
                        <a:rPr b="0" i="0" lang="en-GB" sz="1200" u="none" cap="none" strike="noStrike">
                          <a:solidFill>
                            <a:srgbClr val="000000"/>
                          </a:solidFill>
                          <a:latin typeface="Calibri"/>
                          <a:ea typeface="Calibri"/>
                          <a:cs typeface="Calibri"/>
                          <a:sym typeface="Calibri"/>
                        </a:rPr>
                      </a:br>
                      <a:r>
                        <a:rPr b="0" i="0" lang="en-GB" sz="1200" u="none" cap="none" strike="noStrike">
                          <a:solidFill>
                            <a:srgbClr val="000000"/>
                          </a:solidFill>
                          <a:latin typeface="Calibri"/>
                          <a:ea typeface="Calibri"/>
                          <a:cs typeface="Calibri"/>
                          <a:sym typeface="Calibri"/>
                        </a:rPr>
                        <a:t>are composite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31" name="Google Shape;231;p17"/>
          <p:cNvSpPr txBox="1"/>
          <p:nvPr/>
        </p:nvSpPr>
        <p:spPr>
          <a:xfrm>
            <a:off x="121531" y="82204"/>
            <a:ext cx="234269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 Answer the following questions:</a:t>
            </a:r>
            <a:endParaRPr sz="1200">
              <a:solidFill>
                <a:schemeClr val="dk1"/>
              </a:solidFill>
              <a:latin typeface="Calibri"/>
              <a:ea typeface="Calibri"/>
              <a:cs typeface="Calibri"/>
              <a:sym typeface="Calibri"/>
            </a:endParaRPr>
          </a:p>
        </p:txBody>
      </p:sp>
      <p:sp>
        <p:nvSpPr>
          <p:cNvPr id="232" name="Google Shape;232;p17"/>
          <p:cNvSpPr/>
          <p:nvPr/>
        </p:nvSpPr>
        <p:spPr>
          <a:xfrm>
            <a:off x="2159073" y="1563915"/>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7"/>
          <p:cNvSpPr/>
          <p:nvPr/>
        </p:nvSpPr>
        <p:spPr>
          <a:xfrm>
            <a:off x="2159073" y="2464913"/>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7"/>
          <p:cNvSpPr/>
          <p:nvPr/>
        </p:nvSpPr>
        <p:spPr>
          <a:xfrm>
            <a:off x="2159073" y="3316476"/>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7"/>
          <p:cNvSpPr/>
          <p:nvPr/>
        </p:nvSpPr>
        <p:spPr>
          <a:xfrm>
            <a:off x="2159073" y="4186192"/>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7"/>
          <p:cNvSpPr/>
          <p:nvPr/>
        </p:nvSpPr>
        <p:spPr>
          <a:xfrm>
            <a:off x="5393512" y="1580060"/>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7"/>
          <p:cNvSpPr/>
          <p:nvPr/>
        </p:nvSpPr>
        <p:spPr>
          <a:xfrm>
            <a:off x="5393512" y="2481058"/>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7"/>
          <p:cNvSpPr/>
          <p:nvPr/>
        </p:nvSpPr>
        <p:spPr>
          <a:xfrm>
            <a:off x="5393512" y="3332621"/>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17"/>
          <p:cNvSpPr/>
          <p:nvPr/>
        </p:nvSpPr>
        <p:spPr>
          <a:xfrm>
            <a:off x="5393512" y="4202337"/>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17"/>
          <p:cNvSpPr/>
          <p:nvPr/>
        </p:nvSpPr>
        <p:spPr>
          <a:xfrm>
            <a:off x="5393512" y="6107534"/>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 name="Google Shape;241;p17"/>
          <p:cNvSpPr/>
          <p:nvPr/>
        </p:nvSpPr>
        <p:spPr>
          <a:xfrm>
            <a:off x="5393512" y="7008532"/>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17"/>
          <p:cNvSpPr/>
          <p:nvPr/>
        </p:nvSpPr>
        <p:spPr>
          <a:xfrm>
            <a:off x="5393512" y="7860095"/>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17"/>
          <p:cNvSpPr/>
          <p:nvPr/>
        </p:nvSpPr>
        <p:spPr>
          <a:xfrm>
            <a:off x="5393512" y="8729811"/>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17"/>
          <p:cNvSpPr/>
          <p:nvPr/>
        </p:nvSpPr>
        <p:spPr>
          <a:xfrm>
            <a:off x="2159073" y="6107534"/>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 name="Google Shape;245;p17"/>
          <p:cNvSpPr/>
          <p:nvPr/>
        </p:nvSpPr>
        <p:spPr>
          <a:xfrm>
            <a:off x="2159073" y="7008532"/>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17"/>
          <p:cNvSpPr/>
          <p:nvPr/>
        </p:nvSpPr>
        <p:spPr>
          <a:xfrm>
            <a:off x="2159073" y="7860095"/>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17"/>
          <p:cNvSpPr/>
          <p:nvPr/>
        </p:nvSpPr>
        <p:spPr>
          <a:xfrm>
            <a:off x="2159073" y="8729811"/>
            <a:ext cx="1103457" cy="580257"/>
          </a:xfrm>
          <a:prstGeom prst="rect">
            <a:avLst/>
          </a:pr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17"/>
          <p:cNvSpPr txBox="1"/>
          <p:nvPr/>
        </p:nvSpPr>
        <p:spPr>
          <a:xfrm>
            <a:off x="2311617" y="1669376"/>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 or 16</a:t>
            </a:r>
            <a:endParaRPr/>
          </a:p>
        </p:txBody>
      </p:sp>
      <p:sp>
        <p:nvSpPr>
          <p:cNvPr id="249" name="Google Shape;249;p17"/>
          <p:cNvSpPr txBox="1"/>
          <p:nvPr/>
        </p:nvSpPr>
        <p:spPr>
          <a:xfrm>
            <a:off x="2575284" y="2586520"/>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250" name="Google Shape;250;p17"/>
          <p:cNvSpPr txBox="1"/>
          <p:nvPr/>
        </p:nvSpPr>
        <p:spPr>
          <a:xfrm>
            <a:off x="2575283" y="3429883"/>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a:t>
            </a:r>
            <a:endParaRPr/>
          </a:p>
        </p:txBody>
      </p:sp>
      <p:sp>
        <p:nvSpPr>
          <p:cNvPr id="251" name="Google Shape;251;p17"/>
          <p:cNvSpPr txBox="1"/>
          <p:nvPr/>
        </p:nvSpPr>
        <p:spPr>
          <a:xfrm>
            <a:off x="2575282" y="4327404"/>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252" name="Google Shape;252;p17"/>
          <p:cNvSpPr txBox="1"/>
          <p:nvPr/>
        </p:nvSpPr>
        <p:spPr>
          <a:xfrm>
            <a:off x="5764208" y="1697804"/>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a:t>
            </a:r>
            <a:endParaRPr/>
          </a:p>
        </p:txBody>
      </p:sp>
      <p:sp>
        <p:nvSpPr>
          <p:cNvPr id="253" name="Google Shape;253;p17"/>
          <p:cNvSpPr txBox="1"/>
          <p:nvPr/>
        </p:nvSpPr>
        <p:spPr>
          <a:xfrm>
            <a:off x="5764210" y="2614130"/>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a:t>
            </a:r>
            <a:endParaRPr/>
          </a:p>
        </p:txBody>
      </p:sp>
      <p:sp>
        <p:nvSpPr>
          <p:cNvPr id="254" name="Google Shape;254;p17"/>
          <p:cNvSpPr txBox="1"/>
          <p:nvPr/>
        </p:nvSpPr>
        <p:spPr>
          <a:xfrm>
            <a:off x="5764209" y="3457493"/>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255" name="Google Shape;255;p17"/>
          <p:cNvSpPr txBox="1"/>
          <p:nvPr/>
        </p:nvSpPr>
        <p:spPr>
          <a:xfrm>
            <a:off x="5600704" y="4314592"/>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or 9</a:t>
            </a:r>
            <a:endParaRPr/>
          </a:p>
        </p:txBody>
      </p:sp>
      <p:sp>
        <p:nvSpPr>
          <p:cNvPr id="256" name="Google Shape;256;p17"/>
          <p:cNvSpPr txBox="1"/>
          <p:nvPr/>
        </p:nvSpPr>
        <p:spPr>
          <a:xfrm>
            <a:off x="2503133" y="6205197"/>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17</a:t>
            </a:r>
            <a:endParaRPr/>
          </a:p>
        </p:txBody>
      </p:sp>
      <p:sp>
        <p:nvSpPr>
          <p:cNvPr id="257" name="Google Shape;257;p17"/>
          <p:cNvSpPr txBox="1"/>
          <p:nvPr/>
        </p:nvSpPr>
        <p:spPr>
          <a:xfrm>
            <a:off x="2503133" y="7120838"/>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a:t>
            </a:r>
            <a:endParaRPr/>
          </a:p>
        </p:txBody>
      </p:sp>
      <p:sp>
        <p:nvSpPr>
          <p:cNvPr id="258" name="Google Shape;258;p17"/>
          <p:cNvSpPr txBox="1"/>
          <p:nvPr/>
        </p:nvSpPr>
        <p:spPr>
          <a:xfrm>
            <a:off x="2234987" y="7994476"/>
            <a:ext cx="12145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18 or 24</a:t>
            </a:r>
            <a:endParaRPr/>
          </a:p>
        </p:txBody>
      </p:sp>
      <p:sp>
        <p:nvSpPr>
          <p:cNvPr id="259" name="Google Shape;259;p17"/>
          <p:cNvSpPr txBox="1"/>
          <p:nvPr/>
        </p:nvSpPr>
        <p:spPr>
          <a:xfrm>
            <a:off x="2478087" y="8868114"/>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a:t>
            </a:r>
            <a:endParaRPr/>
          </a:p>
        </p:txBody>
      </p:sp>
      <p:sp>
        <p:nvSpPr>
          <p:cNvPr id="260" name="Google Shape;260;p17"/>
          <p:cNvSpPr txBox="1"/>
          <p:nvPr/>
        </p:nvSpPr>
        <p:spPr>
          <a:xfrm>
            <a:off x="5764208" y="6249338"/>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261" name="Google Shape;261;p17"/>
          <p:cNvSpPr txBox="1"/>
          <p:nvPr/>
        </p:nvSpPr>
        <p:spPr>
          <a:xfrm>
            <a:off x="5764207" y="7122976"/>
            <a:ext cx="9509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262" name="Google Shape;262;p17"/>
          <p:cNvSpPr txBox="1"/>
          <p:nvPr/>
        </p:nvSpPr>
        <p:spPr>
          <a:xfrm>
            <a:off x="5339702" y="7982308"/>
            <a:ext cx="14263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17, 19 or 101</a:t>
            </a:r>
            <a:endParaRPr/>
          </a:p>
        </p:txBody>
      </p:sp>
      <p:sp>
        <p:nvSpPr>
          <p:cNvPr id="263" name="Google Shape;263;p17"/>
          <p:cNvSpPr txBox="1"/>
          <p:nvPr/>
        </p:nvSpPr>
        <p:spPr>
          <a:xfrm>
            <a:off x="5074135" y="8591115"/>
            <a:ext cx="1748829"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Any three from 9, 81, 99, 55, 100 and 27</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pSp>
        <p:nvGrpSpPr>
          <p:cNvPr id="269" name="Google Shape;269;p18"/>
          <p:cNvGrpSpPr/>
          <p:nvPr/>
        </p:nvGrpSpPr>
        <p:grpSpPr>
          <a:xfrm>
            <a:off x="0" y="0"/>
            <a:ext cx="6858000" cy="9591040"/>
            <a:chOff x="0" y="0"/>
            <a:chExt cx="6858000" cy="9591040"/>
          </a:xfrm>
        </p:grpSpPr>
        <p:grpSp>
          <p:nvGrpSpPr>
            <p:cNvPr id="270" name="Google Shape;270;p18"/>
            <p:cNvGrpSpPr/>
            <p:nvPr/>
          </p:nvGrpSpPr>
          <p:grpSpPr>
            <a:xfrm>
              <a:off x="0" y="0"/>
              <a:ext cx="6779619" cy="9591040"/>
              <a:chOff x="0" y="0"/>
              <a:chExt cx="6779619" cy="9591040"/>
            </a:xfrm>
          </p:grpSpPr>
          <p:grpSp>
            <p:nvGrpSpPr>
              <p:cNvPr id="271" name="Google Shape;271;p18"/>
              <p:cNvGrpSpPr/>
              <p:nvPr/>
            </p:nvGrpSpPr>
            <p:grpSpPr>
              <a:xfrm>
                <a:off x="0" y="0"/>
                <a:ext cx="6779619" cy="9591040"/>
                <a:chOff x="0" y="0"/>
                <a:chExt cx="6779619" cy="9591040"/>
              </a:xfrm>
            </p:grpSpPr>
            <p:pic>
              <p:nvPicPr>
                <p:cNvPr id="272" name="Google Shape;272;p18"/>
                <p:cNvPicPr preferRelativeResize="0"/>
                <p:nvPr/>
              </p:nvPicPr>
              <p:blipFill rotWithShape="1">
                <a:blip r:embed="rId3">
                  <a:alphaModFix/>
                </a:blip>
                <a:srcRect b="3452" l="3025" r="4130" t="4979"/>
                <a:stretch/>
              </p:blipFill>
              <p:spPr>
                <a:xfrm>
                  <a:off x="0" y="0"/>
                  <a:ext cx="4984291" cy="6353298"/>
                </a:xfrm>
                <a:prstGeom prst="rect">
                  <a:avLst/>
                </a:prstGeom>
                <a:noFill/>
                <a:ln>
                  <a:noFill/>
                </a:ln>
              </p:spPr>
            </p:pic>
            <p:pic>
              <p:nvPicPr>
                <p:cNvPr id="273" name="Google Shape;273;p18"/>
                <p:cNvPicPr preferRelativeResize="0"/>
                <p:nvPr/>
              </p:nvPicPr>
              <p:blipFill rotWithShape="1">
                <a:blip r:embed="rId3">
                  <a:alphaModFix/>
                </a:blip>
                <a:srcRect b="47240" l="3025" r="4130" t="5293"/>
                <a:stretch/>
              </p:blipFill>
              <p:spPr>
                <a:xfrm>
                  <a:off x="0" y="6297642"/>
                  <a:ext cx="4984291" cy="3293398"/>
                </a:xfrm>
                <a:prstGeom prst="rect">
                  <a:avLst/>
                </a:prstGeom>
                <a:noFill/>
                <a:ln>
                  <a:noFill/>
                </a:ln>
              </p:spPr>
            </p:pic>
            <p:pic>
              <p:nvPicPr>
                <p:cNvPr id="274" name="Google Shape;274;p18"/>
                <p:cNvPicPr preferRelativeResize="0"/>
                <p:nvPr/>
              </p:nvPicPr>
              <p:blipFill rotWithShape="1">
                <a:blip r:embed="rId3">
                  <a:alphaModFix/>
                </a:blip>
                <a:srcRect b="43762" l="7910" r="58113" t="4980"/>
                <a:stretch/>
              </p:blipFill>
              <p:spPr>
                <a:xfrm>
                  <a:off x="4955623" y="6024363"/>
                  <a:ext cx="1823994" cy="3556517"/>
                </a:xfrm>
                <a:prstGeom prst="rect">
                  <a:avLst/>
                </a:prstGeom>
                <a:noFill/>
                <a:ln>
                  <a:noFill/>
                </a:ln>
              </p:spPr>
            </p:pic>
            <p:pic>
              <p:nvPicPr>
                <p:cNvPr id="275" name="Google Shape;275;p18"/>
                <p:cNvPicPr preferRelativeResize="0"/>
                <p:nvPr/>
              </p:nvPicPr>
              <p:blipFill rotWithShape="1">
                <a:blip r:embed="rId3">
                  <a:alphaModFix/>
                </a:blip>
                <a:srcRect b="5410" l="7910" r="58113" t="5294"/>
                <a:stretch/>
              </p:blipFill>
              <p:spPr>
                <a:xfrm>
                  <a:off x="4955623" y="21772"/>
                  <a:ext cx="1823996" cy="6195686"/>
                </a:xfrm>
                <a:prstGeom prst="rect">
                  <a:avLst/>
                </a:prstGeom>
                <a:noFill/>
                <a:ln>
                  <a:noFill/>
                </a:ln>
              </p:spPr>
            </p:pic>
          </p:grpSp>
          <p:cxnSp>
            <p:nvCxnSpPr>
              <p:cNvPr id="276" name="Google Shape;276;p18"/>
              <p:cNvCxnSpPr/>
              <p:nvPr/>
            </p:nvCxnSpPr>
            <p:spPr>
              <a:xfrm flipH="1">
                <a:off x="3749040" y="16476"/>
                <a:ext cx="3175" cy="9564404"/>
              </a:xfrm>
              <a:prstGeom prst="straightConnector1">
                <a:avLst/>
              </a:prstGeom>
              <a:noFill/>
              <a:ln cap="flat" cmpd="sng" w="28575">
                <a:solidFill>
                  <a:schemeClr val="accent1"/>
                </a:solidFill>
                <a:prstDash val="solid"/>
                <a:miter lim="800000"/>
                <a:headEnd len="sm" w="sm" type="none"/>
                <a:tailEnd len="sm" w="sm" type="none"/>
              </a:ln>
            </p:spPr>
          </p:cxnSp>
          <p:cxnSp>
            <p:nvCxnSpPr>
              <p:cNvPr id="277" name="Google Shape;277;p18"/>
              <p:cNvCxnSpPr/>
              <p:nvPr/>
            </p:nvCxnSpPr>
            <p:spPr>
              <a:xfrm flipH="1">
                <a:off x="3474720" y="16476"/>
                <a:ext cx="17897" cy="9574564"/>
              </a:xfrm>
              <a:prstGeom prst="straightConnector1">
                <a:avLst/>
              </a:prstGeom>
              <a:noFill/>
              <a:ln cap="flat" cmpd="sng" w="28575">
                <a:solidFill>
                  <a:schemeClr val="accent1"/>
                </a:solidFill>
                <a:prstDash val="solid"/>
                <a:miter lim="800000"/>
                <a:headEnd len="sm" w="sm" type="none"/>
                <a:tailEnd len="sm" w="sm" type="none"/>
              </a:ln>
            </p:spPr>
          </p:cxnSp>
          <p:cxnSp>
            <p:nvCxnSpPr>
              <p:cNvPr id="278" name="Google Shape;278;p18"/>
              <p:cNvCxnSpPr/>
              <p:nvPr/>
            </p:nvCxnSpPr>
            <p:spPr>
              <a:xfrm>
                <a:off x="289103" y="24219"/>
                <a:ext cx="5537" cy="9566821"/>
              </a:xfrm>
              <a:prstGeom prst="straightConnector1">
                <a:avLst/>
              </a:prstGeom>
              <a:noFill/>
              <a:ln cap="flat" cmpd="sng" w="28575">
                <a:solidFill>
                  <a:schemeClr val="accent1"/>
                </a:solidFill>
                <a:prstDash val="solid"/>
                <a:miter lim="800000"/>
                <a:headEnd len="sm" w="sm" type="none"/>
                <a:tailEnd len="sm" w="sm" type="none"/>
              </a:ln>
            </p:spPr>
          </p:cxnSp>
        </p:grpSp>
        <p:sp>
          <p:nvSpPr>
            <p:cNvPr id="279" name="Google Shape;279;p18"/>
            <p:cNvSpPr/>
            <p:nvPr/>
          </p:nvSpPr>
          <p:spPr>
            <a:xfrm>
              <a:off x="0" y="0"/>
              <a:ext cx="6858000" cy="427736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80" name="Google Shape;280;p18"/>
          <p:cNvSpPr txBox="1"/>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sp>
        <p:nvSpPr>
          <p:cNvPr id="281" name="Google Shape;281;p18"/>
          <p:cNvSpPr txBox="1"/>
          <p:nvPr/>
        </p:nvSpPr>
        <p:spPr>
          <a:xfrm>
            <a:off x="130812" y="149707"/>
            <a:ext cx="6585130" cy="338554"/>
          </a:xfrm>
          <a:prstGeom prst="rect">
            <a:avLst/>
          </a:prstGeom>
          <a:solidFill>
            <a:srgbClr val="7E2341"/>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Skills Check</a:t>
            </a:r>
            <a:endParaRPr b="1" i="0" sz="1600" u="none" cap="none" strike="noStrike">
              <a:solidFill>
                <a:srgbClr val="FFFFFF"/>
              </a:solidFill>
              <a:latin typeface="Calibri"/>
              <a:ea typeface="Calibri"/>
              <a:cs typeface="Calibri"/>
              <a:sym typeface="Calibri"/>
            </a:endParaRPr>
          </a:p>
        </p:txBody>
      </p:sp>
      <p:sp>
        <p:nvSpPr>
          <p:cNvPr id="282" name="Google Shape;282;p18"/>
          <p:cNvSpPr/>
          <p:nvPr/>
        </p:nvSpPr>
        <p:spPr>
          <a:xfrm>
            <a:off x="129798" y="489216"/>
            <a:ext cx="6586144" cy="365329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Which of these is a prime number?</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228600" lvl="0" marL="228600" marR="0" rtl="0" algn="ctr">
              <a:spcBef>
                <a:spcPts val="0"/>
              </a:spcBef>
              <a:spcAft>
                <a:spcPts val="0"/>
              </a:spcAft>
              <a:buClr>
                <a:schemeClr val="dk1"/>
              </a:buClr>
              <a:buSzPts val="1200"/>
              <a:buFont typeface="Calibri"/>
              <a:buAutoNum type="alphaUcPeriod"/>
            </a:pPr>
            <a:r>
              <a:rPr lang="en-GB" sz="1200">
                <a:solidFill>
                  <a:schemeClr val="dk1"/>
                </a:solidFill>
                <a:latin typeface="Calibri"/>
                <a:ea typeface="Calibri"/>
                <a:cs typeface="Calibri"/>
                <a:sym typeface="Calibri"/>
              </a:rPr>
              <a:t>1    		   B. 2      	  C. 4    	          D. 9</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152400" lvl="0" marL="228600" marR="0" rtl="0" algn="ct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152400" lvl="0" marL="228600" marR="0" rtl="0" algn="ct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152400" lvl="0" marL="228600" marR="0" rtl="0" algn="ct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Tom says there are an even number of prime numbers less than 20.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Katie says there are an odd number of prime numbers less than 20.</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Who do you agree with?</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A. Only Tom  		   B. Only Katie      	  C. Neither is correct           D. Both are correct</a:t>
            </a:r>
            <a:endParaRPr/>
          </a:p>
        </p:txBody>
      </p:sp>
      <p:cxnSp>
        <p:nvCxnSpPr>
          <p:cNvPr id="283" name="Google Shape;283;p18"/>
          <p:cNvCxnSpPr/>
          <p:nvPr/>
        </p:nvCxnSpPr>
        <p:spPr>
          <a:xfrm>
            <a:off x="124175" y="1813424"/>
            <a:ext cx="6597390" cy="0"/>
          </a:xfrm>
          <a:prstGeom prst="straightConnector1">
            <a:avLst/>
          </a:prstGeom>
          <a:noFill/>
          <a:ln cap="flat" cmpd="sng" w="9525">
            <a:solidFill>
              <a:schemeClr val="dk1"/>
            </a:solidFill>
            <a:prstDash val="solid"/>
            <a:miter lim="800000"/>
            <a:headEnd len="sm" w="sm" type="none"/>
            <a:tailEnd len="sm" w="sm" type="none"/>
          </a:ln>
        </p:spPr>
      </p:cxnSp>
      <p:sp>
        <p:nvSpPr>
          <p:cNvPr id="284" name="Google Shape;284;p18"/>
          <p:cNvSpPr/>
          <p:nvPr/>
        </p:nvSpPr>
        <p:spPr>
          <a:xfrm>
            <a:off x="2618509" y="1177491"/>
            <a:ext cx="810491" cy="391295"/>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18"/>
          <p:cNvSpPr/>
          <p:nvPr/>
        </p:nvSpPr>
        <p:spPr>
          <a:xfrm>
            <a:off x="457248" y="3560697"/>
            <a:ext cx="1094461" cy="391294"/>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idx="12" type="sldNum"/>
          </p:nvPr>
        </p:nvSpPr>
        <p:spPr>
          <a:xfrm>
            <a:off x="5314950" y="9529305"/>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92" name="Google Shape;292;p19"/>
          <p:cNvGraphicFramePr/>
          <p:nvPr/>
        </p:nvGraphicFramePr>
        <p:xfrm>
          <a:off x="259930" y="609695"/>
          <a:ext cx="3000000" cy="3000000"/>
        </p:xfrm>
        <a:graphic>
          <a:graphicData uri="http://schemas.openxmlformats.org/drawingml/2006/table">
            <a:tbl>
              <a:tblPr bandRow="1" firstRow="1">
                <a:noFill/>
                <a:tableStyleId>{83881756-DB08-42B0-B75F-A2D31ED75187}</a:tableStyleId>
              </a:tblPr>
              <a:tblGrid>
                <a:gridCol w="2136000"/>
                <a:gridCol w="527750"/>
                <a:gridCol w="3744250"/>
              </a:tblGrid>
              <a:tr h="292525">
                <a:tc gridSpan="3">
                  <a:txBody>
                    <a:bodyPr/>
                    <a:lstStyle/>
                    <a:p>
                      <a:pPr indent="0" lvl="0" marL="0" marR="0" rtl="0" algn="l">
                        <a:spcBef>
                          <a:spcPts val="0"/>
                        </a:spcBef>
                        <a:spcAft>
                          <a:spcPts val="0"/>
                        </a:spcAft>
                        <a:buNone/>
                      </a:pPr>
                      <a:r>
                        <a:rPr b="1" lang="en-GB" sz="1350">
                          <a:solidFill>
                            <a:schemeClr val="dk1"/>
                          </a:solidFill>
                        </a:rPr>
                        <a:t>Mixed Fluency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r>
              <a:tr h="2103625">
                <a:tc gridSpan="2">
                  <a:txBody>
                    <a:bodyPr/>
                    <a:lstStyle/>
                    <a:p>
                      <a:pPr indent="0" lvl="0" marL="0" marR="0" rtl="0" algn="l">
                        <a:lnSpc>
                          <a:spcPct val="107000"/>
                        </a:lnSpc>
                        <a:spcBef>
                          <a:spcPts val="0"/>
                        </a:spcBef>
                        <a:spcAft>
                          <a:spcPts val="0"/>
                        </a:spcAft>
                        <a:buNone/>
                      </a:pPr>
                      <a:r>
                        <a:rPr lang="en-GB" sz="1200">
                          <a:solidFill>
                            <a:schemeClr val="dk1"/>
                          </a:solidFill>
                          <a:latin typeface="Calibri"/>
                          <a:ea typeface="Calibri"/>
                          <a:cs typeface="Calibri"/>
                          <a:sym typeface="Calibri"/>
                        </a:rPr>
                        <a:t>1. Complete the multiplication grid:</a:t>
                      </a:r>
                      <a:endParaRPr/>
                    </a:p>
                    <a:p>
                      <a:pPr indent="0" lvl="0" marL="0" marR="0" rtl="0" algn="l">
                        <a:lnSpc>
                          <a:spcPct val="107000"/>
                        </a:lnSpc>
                        <a:spcBef>
                          <a:spcPts val="80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t/>
                      </a:r>
                      <a:endParaRPr sz="1200">
                        <a:solidFill>
                          <a:schemeClr val="dk1"/>
                        </a:solidFill>
                        <a:latin typeface="Calibri"/>
                        <a:ea typeface="Calibri"/>
                        <a:cs typeface="Calibri"/>
                        <a:sym typeface="Calibri"/>
                      </a:endParaRPr>
                    </a:p>
                  </a:txBody>
                  <a:tcPr marT="0" marB="0" marR="114300" marL="1143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lnSpc>
                          <a:spcPct val="107000"/>
                        </a:lnSpc>
                        <a:spcBef>
                          <a:spcPts val="0"/>
                        </a:spcBef>
                        <a:spcAft>
                          <a:spcPts val="0"/>
                        </a:spcAft>
                        <a:buNone/>
                      </a:pPr>
                      <a:r>
                        <a:rPr lang="en-GB" sz="1200">
                          <a:solidFill>
                            <a:schemeClr val="dk1"/>
                          </a:solidFill>
                          <a:latin typeface="Calibri"/>
                          <a:ea typeface="Calibri"/>
                          <a:cs typeface="Calibri"/>
                          <a:sym typeface="Calibri"/>
                        </a:rPr>
                        <a:t>2. Work out the missing numbers:</a:t>
                      </a:r>
                      <a:endParaRPr/>
                    </a:p>
                  </a:txBody>
                  <a:tcPr marT="0" marB="0" marR="114300" marL="1143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980150">
                <a:tc gridSpan="3">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3. Answer the following division questions:</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r>
              <a:tr h="1800150">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4. Answer the following:</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5. Answer the following:</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367400">
                <a:tc gridSpan="3">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6. Fill in the blanks using the word ‘factor’ or ‘multiple’.</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r>
              <a:tr h="1339350">
                <a:tc gridSpan="3">
                  <a:txBody>
                    <a:bodyPr/>
                    <a:lstStyle/>
                    <a:p>
                      <a:pPr indent="0" lvl="0" marL="0" marR="0" rtl="0" algn="l">
                        <a:lnSpc>
                          <a:spcPct val="107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7. Convert the following measurements:</a:t>
                      </a:r>
                      <a:endParaRPr/>
                    </a:p>
                    <a:p>
                      <a:pPr indent="0" lvl="0" marL="0" marR="0" rtl="0" algn="ctr">
                        <a:lnSpc>
                          <a:spcPct val="107000"/>
                        </a:lnSpc>
                        <a:spcBef>
                          <a:spcPts val="80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ctr">
                        <a:lnSpc>
                          <a:spcPct val="107000"/>
                        </a:lnSpc>
                        <a:spcBef>
                          <a:spcPts val="80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ctr">
                        <a:lnSpc>
                          <a:spcPct val="107000"/>
                        </a:lnSpc>
                        <a:spcBef>
                          <a:spcPts val="80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ctr">
                        <a:lnSpc>
                          <a:spcPct val="107000"/>
                        </a:lnSpc>
                        <a:spcBef>
                          <a:spcPts val="80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r>
            </a:tbl>
          </a:graphicData>
        </a:graphic>
      </p:graphicFrame>
      <p:sp>
        <p:nvSpPr>
          <p:cNvPr id="293" name="Google Shape;293;p19"/>
          <p:cNvSpPr txBox="1"/>
          <p:nvPr/>
        </p:nvSpPr>
        <p:spPr>
          <a:xfrm>
            <a:off x="0" y="197200"/>
            <a:ext cx="6858000" cy="338554"/>
          </a:xfrm>
          <a:prstGeom prst="rect">
            <a:avLst/>
          </a:prstGeom>
          <a:solidFill>
            <a:srgbClr val="7E234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Method Selection</a:t>
            </a:r>
            <a:endParaRPr b="1" i="0" sz="1600" u="none" cap="none" strike="noStrike">
              <a:solidFill>
                <a:srgbClr val="FFFFFF"/>
              </a:solidFill>
              <a:latin typeface="Calibri"/>
              <a:ea typeface="Calibri"/>
              <a:cs typeface="Calibri"/>
              <a:sym typeface="Calibri"/>
            </a:endParaRPr>
          </a:p>
        </p:txBody>
      </p:sp>
      <p:pic>
        <p:nvPicPr>
          <p:cNvPr id="294" name="Google Shape;294;p19"/>
          <p:cNvPicPr preferRelativeResize="0"/>
          <p:nvPr/>
        </p:nvPicPr>
        <p:blipFill rotWithShape="1">
          <a:blip r:embed="rId3">
            <a:alphaModFix/>
          </a:blip>
          <a:srcRect b="0" l="0" r="0" t="0"/>
          <a:stretch/>
        </p:blipFill>
        <p:spPr>
          <a:xfrm>
            <a:off x="271962" y="1094530"/>
            <a:ext cx="2627649" cy="1795600"/>
          </a:xfrm>
          <a:prstGeom prst="rect">
            <a:avLst/>
          </a:prstGeom>
          <a:noFill/>
          <a:ln>
            <a:noFill/>
          </a:ln>
        </p:spPr>
      </p:pic>
      <p:pic>
        <p:nvPicPr>
          <p:cNvPr id="295" name="Google Shape;295;p19"/>
          <p:cNvPicPr preferRelativeResize="0"/>
          <p:nvPr/>
        </p:nvPicPr>
        <p:blipFill rotWithShape="1">
          <a:blip r:embed="rId4">
            <a:alphaModFix/>
          </a:blip>
          <a:srcRect b="0" l="0" r="0" t="0"/>
          <a:stretch/>
        </p:blipFill>
        <p:spPr>
          <a:xfrm>
            <a:off x="333280" y="3267735"/>
            <a:ext cx="6270122" cy="1662089"/>
          </a:xfrm>
          <a:prstGeom prst="rect">
            <a:avLst/>
          </a:prstGeom>
          <a:noFill/>
          <a:ln>
            <a:noFill/>
          </a:ln>
        </p:spPr>
      </p:pic>
      <p:pic>
        <p:nvPicPr>
          <p:cNvPr id="296" name="Google Shape;296;p19"/>
          <p:cNvPicPr preferRelativeResize="0"/>
          <p:nvPr/>
        </p:nvPicPr>
        <p:blipFill rotWithShape="1">
          <a:blip r:embed="rId5">
            <a:alphaModFix/>
          </a:blip>
          <a:srcRect b="0" l="4894" r="61685" t="22843"/>
          <a:stretch/>
        </p:blipFill>
        <p:spPr>
          <a:xfrm>
            <a:off x="3198638" y="1112104"/>
            <a:ext cx="1717484" cy="934996"/>
          </a:xfrm>
          <a:prstGeom prst="rect">
            <a:avLst/>
          </a:prstGeom>
          <a:noFill/>
          <a:ln>
            <a:noFill/>
          </a:ln>
        </p:spPr>
      </p:pic>
      <p:pic>
        <p:nvPicPr>
          <p:cNvPr id="297" name="Google Shape;297;p19"/>
          <p:cNvPicPr preferRelativeResize="0"/>
          <p:nvPr/>
        </p:nvPicPr>
        <p:blipFill rotWithShape="1">
          <a:blip r:embed="rId5">
            <a:alphaModFix/>
          </a:blip>
          <a:srcRect b="6728" l="64251" r="0" t="19512"/>
          <a:stretch/>
        </p:blipFill>
        <p:spPr>
          <a:xfrm>
            <a:off x="3198638" y="2069336"/>
            <a:ext cx="1917522" cy="932947"/>
          </a:xfrm>
          <a:prstGeom prst="rect">
            <a:avLst/>
          </a:prstGeom>
          <a:noFill/>
          <a:ln>
            <a:noFill/>
          </a:ln>
        </p:spPr>
      </p:pic>
      <p:sp>
        <p:nvSpPr>
          <p:cNvPr id="298" name="Google Shape;298;p19"/>
          <p:cNvSpPr txBox="1"/>
          <p:nvPr/>
        </p:nvSpPr>
        <p:spPr>
          <a:xfrm>
            <a:off x="2882252" y="1068147"/>
            <a:ext cx="311304" cy="20159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a)</a:t>
            </a:r>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b)</a:t>
            </a:r>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c)</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d)</a:t>
            </a:r>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e)</a:t>
            </a:r>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f)</a:t>
            </a:r>
            <a:endParaRPr/>
          </a:p>
        </p:txBody>
      </p:sp>
      <p:pic>
        <p:nvPicPr>
          <p:cNvPr id="299" name="Google Shape;299;p19"/>
          <p:cNvPicPr preferRelativeResize="0"/>
          <p:nvPr/>
        </p:nvPicPr>
        <p:blipFill rotWithShape="1">
          <a:blip r:embed="rId6">
            <a:alphaModFix/>
          </a:blip>
          <a:srcRect b="0" l="0" r="0" t="0"/>
          <a:stretch/>
        </p:blipFill>
        <p:spPr>
          <a:xfrm>
            <a:off x="259930" y="5238925"/>
            <a:ext cx="1257214" cy="1600091"/>
          </a:xfrm>
          <a:prstGeom prst="rect">
            <a:avLst/>
          </a:prstGeom>
          <a:noFill/>
          <a:ln>
            <a:noFill/>
          </a:ln>
        </p:spPr>
      </p:pic>
      <p:sp>
        <p:nvSpPr>
          <p:cNvPr id="300" name="Google Shape;300;p19"/>
          <p:cNvSpPr/>
          <p:nvPr/>
        </p:nvSpPr>
        <p:spPr>
          <a:xfrm>
            <a:off x="1517144" y="5262989"/>
            <a:ext cx="804951" cy="295790"/>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19"/>
          <p:cNvSpPr/>
          <p:nvPr/>
        </p:nvSpPr>
        <p:spPr>
          <a:xfrm>
            <a:off x="1517144" y="5655382"/>
            <a:ext cx="804951" cy="295790"/>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19"/>
          <p:cNvSpPr/>
          <p:nvPr/>
        </p:nvSpPr>
        <p:spPr>
          <a:xfrm>
            <a:off x="1517144" y="6073108"/>
            <a:ext cx="804951" cy="295790"/>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19"/>
          <p:cNvSpPr/>
          <p:nvPr/>
        </p:nvSpPr>
        <p:spPr>
          <a:xfrm>
            <a:off x="1517144" y="6477533"/>
            <a:ext cx="804951" cy="295790"/>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04" name="Google Shape;304;p19"/>
          <p:cNvPicPr preferRelativeResize="0"/>
          <p:nvPr/>
        </p:nvPicPr>
        <p:blipFill rotWithShape="1">
          <a:blip r:embed="rId7">
            <a:alphaModFix/>
          </a:blip>
          <a:srcRect b="0" l="0" r="0" t="0"/>
          <a:stretch/>
        </p:blipFill>
        <p:spPr>
          <a:xfrm>
            <a:off x="946880" y="7062723"/>
            <a:ext cx="5022667" cy="1227305"/>
          </a:xfrm>
          <a:prstGeom prst="rect">
            <a:avLst/>
          </a:prstGeom>
          <a:noFill/>
          <a:ln>
            <a:noFill/>
          </a:ln>
        </p:spPr>
      </p:pic>
      <p:graphicFrame>
        <p:nvGraphicFramePr>
          <p:cNvPr id="305" name="Google Shape;305;p19"/>
          <p:cNvGraphicFramePr/>
          <p:nvPr/>
        </p:nvGraphicFramePr>
        <p:xfrm>
          <a:off x="2498406" y="5297673"/>
          <a:ext cx="3000000" cy="3000000"/>
        </p:xfrm>
        <a:graphic>
          <a:graphicData uri="http://schemas.openxmlformats.org/drawingml/2006/table">
            <a:tbl>
              <a:tblPr bandRow="1" firstRow="1">
                <a:noFill/>
                <a:tableStyleId>{83881756-DB08-42B0-B75F-A2D31ED75187}</a:tableStyleId>
              </a:tblPr>
              <a:tblGrid>
                <a:gridCol w="1245700"/>
                <a:gridCol w="2853975"/>
              </a:tblGrid>
              <a:tr h="370850">
                <a:tc>
                  <a:txBody>
                    <a:bodyPr/>
                    <a:lstStyle/>
                    <a:p>
                      <a:pPr indent="0" lvl="0" marL="0" marR="0" rtl="0" algn="ctr">
                        <a:spcBef>
                          <a:spcPts val="0"/>
                        </a:spcBef>
                        <a:spcAft>
                          <a:spcPts val="0"/>
                        </a:spcAft>
                        <a:buNone/>
                      </a:pPr>
                      <a:r>
                        <a:rPr b="0" lang="en-GB" sz="1200">
                          <a:solidFill>
                            <a:schemeClr val="dk1"/>
                          </a:solidFill>
                        </a:rPr>
                        <a:t>4 x 2 + 3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0" lang="en-GB" sz="1200">
                          <a:solidFill>
                            <a:schemeClr val="dk1"/>
                          </a:solidFill>
                        </a:rPr>
                        <a:t>5 x (3 + 4) – 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0" lang="en-GB" sz="1200">
                          <a:solidFill>
                            <a:schemeClr val="dk1"/>
                          </a:solidFill>
                        </a:rPr>
                        <a:t>3 + 2</a:t>
                      </a:r>
                      <a:r>
                        <a:rPr b="0" baseline="30000" lang="en-GB" sz="1200">
                          <a:solidFill>
                            <a:schemeClr val="dk1"/>
                          </a:solidFil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ctr">
                        <a:spcBef>
                          <a:spcPts val="0"/>
                        </a:spcBef>
                        <a:spcAft>
                          <a:spcPts val="0"/>
                        </a:spcAft>
                        <a:buNone/>
                      </a:pPr>
                      <a:r>
                        <a:rPr b="0" lang="en-GB" sz="1200">
                          <a:solidFill>
                            <a:schemeClr val="dk1"/>
                          </a:solidFill>
                        </a:rPr>
                        <a:t>(3 + 1)</a:t>
                      </a:r>
                      <a:r>
                        <a:rPr b="0" baseline="30000" lang="en-GB" sz="1200">
                          <a:solidFill>
                            <a:schemeClr val="dk1"/>
                          </a:solidFill>
                        </a:rPr>
                        <a:t>2</a:t>
                      </a:r>
                      <a:r>
                        <a:rPr b="0" lang="en-GB" sz="1200">
                          <a:solidFill>
                            <a:schemeClr val="dk1"/>
                          </a:solidFill>
                        </a:rPr>
                        <a:t> + 10 ÷ 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pic>
        <p:nvPicPr>
          <p:cNvPr id="306" name="Google Shape;306;p19"/>
          <p:cNvPicPr preferRelativeResize="0"/>
          <p:nvPr/>
        </p:nvPicPr>
        <p:blipFill rotWithShape="1">
          <a:blip r:embed="rId8">
            <a:alphaModFix/>
          </a:blip>
          <a:srcRect b="6492" l="0" r="59290" t="0"/>
          <a:stretch/>
        </p:blipFill>
        <p:spPr>
          <a:xfrm>
            <a:off x="327948" y="8542607"/>
            <a:ext cx="1825706" cy="1122834"/>
          </a:xfrm>
          <a:prstGeom prst="rect">
            <a:avLst/>
          </a:prstGeom>
          <a:noFill/>
          <a:ln>
            <a:noFill/>
          </a:ln>
        </p:spPr>
      </p:pic>
      <p:pic>
        <p:nvPicPr>
          <p:cNvPr id="307" name="Google Shape;307;p19"/>
          <p:cNvPicPr preferRelativeResize="0"/>
          <p:nvPr/>
        </p:nvPicPr>
        <p:blipFill rotWithShape="1">
          <a:blip r:embed="rId8">
            <a:alphaModFix/>
          </a:blip>
          <a:srcRect b="6492" l="51262" r="0" t="0"/>
          <a:stretch/>
        </p:blipFill>
        <p:spPr>
          <a:xfrm>
            <a:off x="3455369" y="8557759"/>
            <a:ext cx="2185737" cy="1122834"/>
          </a:xfrm>
          <a:prstGeom prst="rect">
            <a:avLst/>
          </a:prstGeom>
          <a:noFill/>
          <a:ln>
            <a:noFill/>
          </a:ln>
        </p:spPr>
      </p:pic>
      <p:sp>
        <p:nvSpPr>
          <p:cNvPr id="308" name="Google Shape;308;p19"/>
          <p:cNvSpPr txBox="1"/>
          <p:nvPr/>
        </p:nvSpPr>
        <p:spPr>
          <a:xfrm>
            <a:off x="1097378" y="1599008"/>
            <a:ext cx="16802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18       24       30</a:t>
            </a:r>
            <a:endParaRPr/>
          </a:p>
        </p:txBody>
      </p:sp>
      <p:sp>
        <p:nvSpPr>
          <p:cNvPr id="309" name="Google Shape;309;p19"/>
          <p:cNvSpPr txBox="1"/>
          <p:nvPr/>
        </p:nvSpPr>
        <p:spPr>
          <a:xfrm>
            <a:off x="1099058" y="2018288"/>
            <a:ext cx="16273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24       32       40</a:t>
            </a:r>
            <a:endParaRPr/>
          </a:p>
        </p:txBody>
      </p:sp>
      <p:sp>
        <p:nvSpPr>
          <p:cNvPr id="310" name="Google Shape;310;p19"/>
          <p:cNvSpPr txBox="1"/>
          <p:nvPr/>
        </p:nvSpPr>
        <p:spPr>
          <a:xfrm>
            <a:off x="1022075" y="2395893"/>
            <a:ext cx="17668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120     160     200</a:t>
            </a:r>
            <a:endParaRPr/>
          </a:p>
        </p:txBody>
      </p:sp>
      <p:sp>
        <p:nvSpPr>
          <p:cNvPr id="311" name="Google Shape;311;p19"/>
          <p:cNvSpPr txBox="1"/>
          <p:nvPr/>
        </p:nvSpPr>
        <p:spPr>
          <a:xfrm>
            <a:off x="3743088" y="1017151"/>
            <a:ext cx="6527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1000</a:t>
            </a:r>
            <a:endParaRPr/>
          </a:p>
        </p:txBody>
      </p:sp>
      <p:sp>
        <p:nvSpPr>
          <p:cNvPr id="312" name="Google Shape;312;p19"/>
          <p:cNvSpPr txBox="1"/>
          <p:nvPr/>
        </p:nvSpPr>
        <p:spPr>
          <a:xfrm>
            <a:off x="3193556" y="1328107"/>
            <a:ext cx="6527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8320</a:t>
            </a:r>
            <a:endParaRPr/>
          </a:p>
        </p:txBody>
      </p:sp>
      <p:sp>
        <p:nvSpPr>
          <p:cNvPr id="313" name="Google Shape;313;p19"/>
          <p:cNvSpPr txBox="1"/>
          <p:nvPr/>
        </p:nvSpPr>
        <p:spPr>
          <a:xfrm>
            <a:off x="3161129" y="1612979"/>
            <a:ext cx="6527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2300</a:t>
            </a:r>
            <a:endParaRPr/>
          </a:p>
        </p:txBody>
      </p:sp>
      <p:sp>
        <p:nvSpPr>
          <p:cNvPr id="314" name="Google Shape;314;p19"/>
          <p:cNvSpPr txBox="1"/>
          <p:nvPr/>
        </p:nvSpPr>
        <p:spPr>
          <a:xfrm>
            <a:off x="3898036" y="2022120"/>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10</a:t>
            </a:r>
            <a:endParaRPr/>
          </a:p>
        </p:txBody>
      </p:sp>
      <p:sp>
        <p:nvSpPr>
          <p:cNvPr id="315" name="Google Shape;315;p19"/>
          <p:cNvSpPr txBox="1"/>
          <p:nvPr/>
        </p:nvSpPr>
        <p:spPr>
          <a:xfrm>
            <a:off x="3315185" y="2336500"/>
            <a:ext cx="593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0.52</a:t>
            </a:r>
            <a:endParaRPr/>
          </a:p>
        </p:txBody>
      </p:sp>
      <p:sp>
        <p:nvSpPr>
          <p:cNvPr id="316" name="Google Shape;316;p19"/>
          <p:cNvSpPr txBox="1"/>
          <p:nvPr/>
        </p:nvSpPr>
        <p:spPr>
          <a:xfrm>
            <a:off x="3848028" y="2655187"/>
            <a:ext cx="476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0.4</a:t>
            </a:r>
            <a:endParaRPr/>
          </a:p>
        </p:txBody>
      </p:sp>
      <p:sp>
        <p:nvSpPr>
          <p:cNvPr id="317" name="Google Shape;317;p19"/>
          <p:cNvSpPr txBox="1"/>
          <p:nvPr/>
        </p:nvSpPr>
        <p:spPr>
          <a:xfrm>
            <a:off x="1693455" y="5238599"/>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16</a:t>
            </a:r>
            <a:endParaRPr/>
          </a:p>
        </p:txBody>
      </p:sp>
      <p:sp>
        <p:nvSpPr>
          <p:cNvPr id="318" name="Google Shape;318;p19"/>
          <p:cNvSpPr txBox="1"/>
          <p:nvPr/>
        </p:nvSpPr>
        <p:spPr>
          <a:xfrm>
            <a:off x="1651757" y="5622679"/>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120</a:t>
            </a:r>
            <a:endParaRPr/>
          </a:p>
        </p:txBody>
      </p:sp>
      <p:sp>
        <p:nvSpPr>
          <p:cNvPr id="319" name="Google Shape;319;p19"/>
          <p:cNvSpPr txBox="1"/>
          <p:nvPr/>
        </p:nvSpPr>
        <p:spPr>
          <a:xfrm>
            <a:off x="1669650" y="6053884"/>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400</a:t>
            </a:r>
            <a:endParaRPr/>
          </a:p>
        </p:txBody>
      </p:sp>
      <p:sp>
        <p:nvSpPr>
          <p:cNvPr id="320" name="Google Shape;320;p19"/>
          <p:cNvSpPr txBox="1"/>
          <p:nvPr/>
        </p:nvSpPr>
        <p:spPr>
          <a:xfrm>
            <a:off x="1688108" y="6434538"/>
            <a:ext cx="476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2.3</a:t>
            </a:r>
            <a:endParaRPr/>
          </a:p>
        </p:txBody>
      </p:sp>
      <p:sp>
        <p:nvSpPr>
          <p:cNvPr id="321" name="Google Shape;321;p19"/>
          <p:cNvSpPr txBox="1"/>
          <p:nvPr/>
        </p:nvSpPr>
        <p:spPr>
          <a:xfrm>
            <a:off x="3852107" y="5273745"/>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11</a:t>
            </a:r>
            <a:endParaRPr/>
          </a:p>
        </p:txBody>
      </p:sp>
      <p:sp>
        <p:nvSpPr>
          <p:cNvPr id="322" name="Google Shape;322;p19"/>
          <p:cNvSpPr txBox="1"/>
          <p:nvPr/>
        </p:nvSpPr>
        <p:spPr>
          <a:xfrm>
            <a:off x="3846299" y="5657955"/>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26</a:t>
            </a:r>
            <a:endParaRPr/>
          </a:p>
        </p:txBody>
      </p:sp>
      <p:sp>
        <p:nvSpPr>
          <p:cNvPr id="323" name="Google Shape;323;p19"/>
          <p:cNvSpPr txBox="1"/>
          <p:nvPr/>
        </p:nvSpPr>
        <p:spPr>
          <a:xfrm>
            <a:off x="3918616" y="6038970"/>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7</a:t>
            </a:r>
            <a:endParaRPr/>
          </a:p>
        </p:txBody>
      </p:sp>
      <p:sp>
        <p:nvSpPr>
          <p:cNvPr id="324" name="Google Shape;324;p19"/>
          <p:cNvSpPr txBox="1"/>
          <p:nvPr/>
        </p:nvSpPr>
        <p:spPr>
          <a:xfrm>
            <a:off x="3876882" y="6409538"/>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21</a:t>
            </a:r>
            <a:endParaRPr/>
          </a:p>
        </p:txBody>
      </p:sp>
      <p:sp>
        <p:nvSpPr>
          <p:cNvPr id="325" name="Google Shape;325;p19"/>
          <p:cNvSpPr txBox="1"/>
          <p:nvPr/>
        </p:nvSpPr>
        <p:spPr>
          <a:xfrm>
            <a:off x="1889125" y="7056559"/>
            <a:ext cx="7357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factor</a:t>
            </a:r>
            <a:endParaRPr/>
          </a:p>
        </p:txBody>
      </p:sp>
      <p:sp>
        <p:nvSpPr>
          <p:cNvPr id="326" name="Google Shape;326;p19"/>
          <p:cNvSpPr txBox="1"/>
          <p:nvPr/>
        </p:nvSpPr>
        <p:spPr>
          <a:xfrm>
            <a:off x="1878963" y="7450311"/>
            <a:ext cx="9637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multiple</a:t>
            </a:r>
            <a:endParaRPr/>
          </a:p>
        </p:txBody>
      </p:sp>
      <p:sp>
        <p:nvSpPr>
          <p:cNvPr id="327" name="Google Shape;327;p19"/>
          <p:cNvSpPr txBox="1"/>
          <p:nvPr/>
        </p:nvSpPr>
        <p:spPr>
          <a:xfrm>
            <a:off x="1825180" y="7864036"/>
            <a:ext cx="9637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multiple</a:t>
            </a:r>
            <a:endParaRPr/>
          </a:p>
        </p:txBody>
      </p:sp>
      <p:sp>
        <p:nvSpPr>
          <p:cNvPr id="328" name="Google Shape;328;p19"/>
          <p:cNvSpPr txBox="1"/>
          <p:nvPr/>
        </p:nvSpPr>
        <p:spPr>
          <a:xfrm>
            <a:off x="4351225" y="7060972"/>
            <a:ext cx="9637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multiple</a:t>
            </a:r>
            <a:endParaRPr/>
          </a:p>
        </p:txBody>
      </p:sp>
      <p:sp>
        <p:nvSpPr>
          <p:cNvPr id="329" name="Google Shape;329;p19"/>
          <p:cNvSpPr txBox="1"/>
          <p:nvPr/>
        </p:nvSpPr>
        <p:spPr>
          <a:xfrm>
            <a:off x="4413384" y="7429523"/>
            <a:ext cx="7357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factor</a:t>
            </a:r>
            <a:endParaRPr/>
          </a:p>
        </p:txBody>
      </p:sp>
      <p:sp>
        <p:nvSpPr>
          <p:cNvPr id="330" name="Google Shape;330;p19"/>
          <p:cNvSpPr txBox="1"/>
          <p:nvPr/>
        </p:nvSpPr>
        <p:spPr>
          <a:xfrm>
            <a:off x="4413383" y="7836664"/>
            <a:ext cx="7357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factor</a:t>
            </a:r>
            <a:endParaRPr/>
          </a:p>
        </p:txBody>
      </p:sp>
      <p:sp>
        <p:nvSpPr>
          <p:cNvPr id="331" name="Google Shape;331;p19"/>
          <p:cNvSpPr txBox="1"/>
          <p:nvPr/>
        </p:nvSpPr>
        <p:spPr>
          <a:xfrm>
            <a:off x="1097378" y="8437284"/>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450</a:t>
            </a:r>
            <a:endParaRPr/>
          </a:p>
        </p:txBody>
      </p:sp>
      <p:sp>
        <p:nvSpPr>
          <p:cNvPr id="332" name="Google Shape;332;p19"/>
          <p:cNvSpPr txBox="1"/>
          <p:nvPr/>
        </p:nvSpPr>
        <p:spPr>
          <a:xfrm>
            <a:off x="980358" y="8880557"/>
            <a:ext cx="7104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0.028</a:t>
            </a:r>
            <a:endParaRPr/>
          </a:p>
        </p:txBody>
      </p:sp>
      <p:sp>
        <p:nvSpPr>
          <p:cNvPr id="333" name="Google Shape;333;p19"/>
          <p:cNvSpPr txBox="1"/>
          <p:nvPr/>
        </p:nvSpPr>
        <p:spPr>
          <a:xfrm>
            <a:off x="1056013" y="9294476"/>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250</a:t>
            </a:r>
            <a:endParaRPr/>
          </a:p>
        </p:txBody>
      </p:sp>
      <p:sp>
        <p:nvSpPr>
          <p:cNvPr id="334" name="Google Shape;334;p19"/>
          <p:cNvSpPr txBox="1"/>
          <p:nvPr/>
        </p:nvSpPr>
        <p:spPr>
          <a:xfrm>
            <a:off x="4613438" y="8464469"/>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450</a:t>
            </a:r>
            <a:endParaRPr/>
          </a:p>
        </p:txBody>
      </p:sp>
      <p:sp>
        <p:nvSpPr>
          <p:cNvPr id="335" name="Google Shape;335;p19"/>
          <p:cNvSpPr txBox="1"/>
          <p:nvPr/>
        </p:nvSpPr>
        <p:spPr>
          <a:xfrm>
            <a:off x="4543458" y="8880557"/>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30</a:t>
            </a:r>
            <a:endParaRPr/>
          </a:p>
        </p:txBody>
      </p:sp>
      <p:sp>
        <p:nvSpPr>
          <p:cNvPr id="336" name="Google Shape;336;p19"/>
          <p:cNvSpPr txBox="1"/>
          <p:nvPr/>
        </p:nvSpPr>
        <p:spPr>
          <a:xfrm>
            <a:off x="4265003" y="9314572"/>
            <a:ext cx="6527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4200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grpSp>
        <p:nvGrpSpPr>
          <p:cNvPr id="341" name="Google Shape;341;p20"/>
          <p:cNvGrpSpPr/>
          <p:nvPr/>
        </p:nvGrpSpPr>
        <p:grpSpPr>
          <a:xfrm>
            <a:off x="0" y="0"/>
            <a:ext cx="6779619" cy="9591040"/>
            <a:chOff x="0" y="0"/>
            <a:chExt cx="6779619" cy="9591040"/>
          </a:xfrm>
        </p:grpSpPr>
        <p:grpSp>
          <p:nvGrpSpPr>
            <p:cNvPr id="342" name="Google Shape;342;p20"/>
            <p:cNvGrpSpPr/>
            <p:nvPr/>
          </p:nvGrpSpPr>
          <p:grpSpPr>
            <a:xfrm>
              <a:off x="0" y="0"/>
              <a:ext cx="6779619" cy="9591040"/>
              <a:chOff x="0" y="0"/>
              <a:chExt cx="6779619" cy="9591040"/>
            </a:xfrm>
          </p:grpSpPr>
          <p:pic>
            <p:nvPicPr>
              <p:cNvPr id="343" name="Google Shape;343;p20"/>
              <p:cNvPicPr preferRelativeResize="0"/>
              <p:nvPr/>
            </p:nvPicPr>
            <p:blipFill rotWithShape="1">
              <a:blip r:embed="rId3">
                <a:alphaModFix/>
              </a:blip>
              <a:srcRect b="3452" l="3025" r="4130" t="4979"/>
              <a:stretch/>
            </p:blipFill>
            <p:spPr>
              <a:xfrm>
                <a:off x="0" y="0"/>
                <a:ext cx="4984291" cy="6353298"/>
              </a:xfrm>
              <a:prstGeom prst="rect">
                <a:avLst/>
              </a:prstGeom>
              <a:noFill/>
              <a:ln>
                <a:noFill/>
              </a:ln>
            </p:spPr>
          </p:pic>
          <p:pic>
            <p:nvPicPr>
              <p:cNvPr id="344" name="Google Shape;344;p20"/>
              <p:cNvPicPr preferRelativeResize="0"/>
              <p:nvPr/>
            </p:nvPicPr>
            <p:blipFill rotWithShape="1">
              <a:blip r:embed="rId3">
                <a:alphaModFix/>
              </a:blip>
              <a:srcRect b="47240" l="3025" r="4130" t="5293"/>
              <a:stretch/>
            </p:blipFill>
            <p:spPr>
              <a:xfrm>
                <a:off x="0" y="6297642"/>
                <a:ext cx="4984291" cy="3293398"/>
              </a:xfrm>
              <a:prstGeom prst="rect">
                <a:avLst/>
              </a:prstGeom>
              <a:noFill/>
              <a:ln>
                <a:noFill/>
              </a:ln>
            </p:spPr>
          </p:pic>
          <p:pic>
            <p:nvPicPr>
              <p:cNvPr id="345" name="Google Shape;345;p20"/>
              <p:cNvPicPr preferRelativeResize="0"/>
              <p:nvPr/>
            </p:nvPicPr>
            <p:blipFill rotWithShape="1">
              <a:blip r:embed="rId3">
                <a:alphaModFix/>
              </a:blip>
              <a:srcRect b="43762" l="7910" r="58113" t="4980"/>
              <a:stretch/>
            </p:blipFill>
            <p:spPr>
              <a:xfrm>
                <a:off x="4955623" y="6024363"/>
                <a:ext cx="1823994" cy="3556517"/>
              </a:xfrm>
              <a:prstGeom prst="rect">
                <a:avLst/>
              </a:prstGeom>
              <a:noFill/>
              <a:ln>
                <a:noFill/>
              </a:ln>
            </p:spPr>
          </p:pic>
          <p:pic>
            <p:nvPicPr>
              <p:cNvPr id="346" name="Google Shape;346;p20"/>
              <p:cNvPicPr preferRelativeResize="0"/>
              <p:nvPr/>
            </p:nvPicPr>
            <p:blipFill rotWithShape="1">
              <a:blip r:embed="rId3">
                <a:alphaModFix/>
              </a:blip>
              <a:srcRect b="5410" l="7910" r="58113" t="5294"/>
              <a:stretch/>
            </p:blipFill>
            <p:spPr>
              <a:xfrm>
                <a:off x="4955623" y="21772"/>
                <a:ext cx="1823996" cy="6195686"/>
              </a:xfrm>
              <a:prstGeom prst="rect">
                <a:avLst/>
              </a:prstGeom>
              <a:noFill/>
              <a:ln>
                <a:noFill/>
              </a:ln>
            </p:spPr>
          </p:pic>
        </p:grpSp>
        <p:cxnSp>
          <p:nvCxnSpPr>
            <p:cNvPr id="347" name="Google Shape;347;p20"/>
            <p:cNvCxnSpPr/>
            <p:nvPr/>
          </p:nvCxnSpPr>
          <p:spPr>
            <a:xfrm flipH="1">
              <a:off x="3749040" y="16476"/>
              <a:ext cx="3175" cy="9564404"/>
            </a:xfrm>
            <a:prstGeom prst="straightConnector1">
              <a:avLst/>
            </a:prstGeom>
            <a:noFill/>
            <a:ln cap="flat" cmpd="sng" w="28575">
              <a:solidFill>
                <a:schemeClr val="accent1"/>
              </a:solidFill>
              <a:prstDash val="solid"/>
              <a:miter lim="800000"/>
              <a:headEnd len="sm" w="sm" type="none"/>
              <a:tailEnd len="sm" w="sm" type="none"/>
            </a:ln>
          </p:spPr>
        </p:cxnSp>
        <p:cxnSp>
          <p:nvCxnSpPr>
            <p:cNvPr id="348" name="Google Shape;348;p20"/>
            <p:cNvCxnSpPr/>
            <p:nvPr/>
          </p:nvCxnSpPr>
          <p:spPr>
            <a:xfrm flipH="1">
              <a:off x="3474720" y="16476"/>
              <a:ext cx="17897" cy="9574564"/>
            </a:xfrm>
            <a:prstGeom prst="straightConnector1">
              <a:avLst/>
            </a:prstGeom>
            <a:noFill/>
            <a:ln cap="flat" cmpd="sng" w="28575">
              <a:solidFill>
                <a:schemeClr val="accent1"/>
              </a:solidFill>
              <a:prstDash val="solid"/>
              <a:miter lim="800000"/>
              <a:headEnd len="sm" w="sm" type="none"/>
              <a:tailEnd len="sm" w="sm" type="none"/>
            </a:ln>
          </p:spPr>
        </p:cxnSp>
        <p:cxnSp>
          <p:nvCxnSpPr>
            <p:cNvPr id="349" name="Google Shape;349;p20"/>
            <p:cNvCxnSpPr/>
            <p:nvPr/>
          </p:nvCxnSpPr>
          <p:spPr>
            <a:xfrm>
              <a:off x="289103" y="24219"/>
              <a:ext cx="5537" cy="9566821"/>
            </a:xfrm>
            <a:prstGeom prst="straightConnector1">
              <a:avLst/>
            </a:prstGeom>
            <a:noFill/>
            <a:ln cap="flat" cmpd="sng" w="28575">
              <a:solidFill>
                <a:schemeClr val="accent1"/>
              </a:solidFill>
              <a:prstDash val="solid"/>
              <a:miter lim="800000"/>
              <a:headEnd len="sm" w="sm" type="none"/>
              <a:tailEnd len="sm" w="sm" type="none"/>
            </a:ln>
          </p:spPr>
        </p:cxnSp>
      </p:grpSp>
      <p:sp>
        <p:nvSpPr>
          <p:cNvPr id="350" name="Google Shape;350;p20"/>
          <p:cNvSpPr txBox="1"/>
          <p:nvPr>
            <p:ph idx="12" type="sldNum"/>
          </p:nvPr>
        </p:nvSpPr>
        <p:spPr>
          <a:xfrm>
            <a:off x="5357813" y="958012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pSp>
        <p:nvGrpSpPr>
          <p:cNvPr id="355" name="Google Shape;355;p21"/>
          <p:cNvGrpSpPr/>
          <p:nvPr/>
        </p:nvGrpSpPr>
        <p:grpSpPr>
          <a:xfrm>
            <a:off x="225092" y="5322675"/>
            <a:ext cx="6429311" cy="1608739"/>
            <a:chOff x="210557" y="3596489"/>
            <a:chExt cx="6429311" cy="1608739"/>
          </a:xfrm>
        </p:grpSpPr>
        <p:pic>
          <p:nvPicPr>
            <p:cNvPr id="356" name="Google Shape;356;p21"/>
            <p:cNvPicPr preferRelativeResize="0"/>
            <p:nvPr/>
          </p:nvPicPr>
          <p:blipFill rotWithShape="1">
            <a:blip r:embed="rId3">
              <a:alphaModFix/>
            </a:blip>
            <a:srcRect b="46004" l="69847" r="4946" t="21618"/>
            <a:stretch/>
          </p:blipFill>
          <p:spPr>
            <a:xfrm>
              <a:off x="210557" y="3725721"/>
              <a:ext cx="1549062" cy="1432897"/>
            </a:xfrm>
            <a:prstGeom prst="rect">
              <a:avLst/>
            </a:prstGeom>
            <a:noFill/>
            <a:ln>
              <a:noFill/>
            </a:ln>
          </p:spPr>
        </p:pic>
        <p:pic>
          <p:nvPicPr>
            <p:cNvPr id="357" name="Google Shape;357;p21"/>
            <p:cNvPicPr preferRelativeResize="0"/>
            <p:nvPr/>
          </p:nvPicPr>
          <p:blipFill rotWithShape="1">
            <a:blip r:embed="rId3">
              <a:alphaModFix/>
            </a:blip>
            <a:srcRect b="1" l="5797" r="67441" t="65405"/>
            <a:stretch/>
          </p:blipFill>
          <p:spPr>
            <a:xfrm>
              <a:off x="1782673" y="3665561"/>
              <a:ext cx="1653984" cy="1539667"/>
            </a:xfrm>
            <a:prstGeom prst="rect">
              <a:avLst/>
            </a:prstGeom>
            <a:noFill/>
            <a:ln>
              <a:noFill/>
            </a:ln>
          </p:spPr>
        </p:pic>
        <p:pic>
          <p:nvPicPr>
            <p:cNvPr id="358" name="Google Shape;358;p21"/>
            <p:cNvPicPr preferRelativeResize="0"/>
            <p:nvPr/>
          </p:nvPicPr>
          <p:blipFill rotWithShape="1">
            <a:blip r:embed="rId3">
              <a:alphaModFix/>
            </a:blip>
            <a:srcRect b="1" l="69286" r="4121" t="65405"/>
            <a:stretch/>
          </p:blipFill>
          <p:spPr>
            <a:xfrm>
              <a:off x="5046088" y="3665562"/>
              <a:ext cx="1593780" cy="1493056"/>
            </a:xfrm>
            <a:prstGeom prst="rect">
              <a:avLst/>
            </a:prstGeom>
            <a:noFill/>
            <a:ln>
              <a:noFill/>
            </a:ln>
          </p:spPr>
        </p:pic>
        <p:pic>
          <p:nvPicPr>
            <p:cNvPr id="359" name="Google Shape;359;p21"/>
            <p:cNvPicPr preferRelativeResize="0"/>
            <p:nvPr/>
          </p:nvPicPr>
          <p:blipFill rotWithShape="1">
            <a:blip r:embed="rId3">
              <a:alphaModFix/>
            </a:blip>
            <a:srcRect b="1" l="38404" r="34588" t="65405"/>
            <a:stretch/>
          </p:blipFill>
          <p:spPr>
            <a:xfrm>
              <a:off x="3496891" y="3708408"/>
              <a:ext cx="1593780" cy="1470140"/>
            </a:xfrm>
            <a:prstGeom prst="rect">
              <a:avLst/>
            </a:prstGeom>
            <a:noFill/>
            <a:ln>
              <a:noFill/>
            </a:ln>
          </p:spPr>
        </p:pic>
        <p:sp>
          <p:nvSpPr>
            <p:cNvPr id="360" name="Google Shape;360;p21"/>
            <p:cNvSpPr/>
            <p:nvPr/>
          </p:nvSpPr>
          <p:spPr>
            <a:xfrm>
              <a:off x="1759619" y="3596489"/>
              <a:ext cx="357939" cy="21752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 name="Google Shape;361;p21"/>
            <p:cNvSpPr/>
            <p:nvPr/>
          </p:nvSpPr>
          <p:spPr>
            <a:xfrm>
              <a:off x="3507914" y="3658976"/>
              <a:ext cx="357939" cy="21752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 name="Google Shape;362;p21"/>
            <p:cNvSpPr/>
            <p:nvPr/>
          </p:nvSpPr>
          <p:spPr>
            <a:xfrm>
              <a:off x="5020558" y="3627401"/>
              <a:ext cx="357939" cy="21752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63" name="Google Shape;363;p21"/>
          <p:cNvSpPr txBox="1"/>
          <p:nvPr>
            <p:ph idx="12" type="sldNum"/>
          </p:nvPr>
        </p:nvSpPr>
        <p:spPr>
          <a:xfrm>
            <a:off x="5345414" y="9515862"/>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64" name="Google Shape;364;p21"/>
          <p:cNvGraphicFramePr/>
          <p:nvPr/>
        </p:nvGraphicFramePr>
        <p:xfrm>
          <a:off x="198771" y="543572"/>
          <a:ext cx="3000000" cy="3000000"/>
        </p:xfrm>
        <a:graphic>
          <a:graphicData uri="http://schemas.openxmlformats.org/drawingml/2006/table">
            <a:tbl>
              <a:tblPr bandRow="1" firstRow="1">
                <a:noFill/>
                <a:tableStyleId>{83881756-DB08-42B0-B75F-A2D31ED75187}</a:tableStyleId>
              </a:tblPr>
              <a:tblGrid>
                <a:gridCol w="2699750"/>
                <a:gridCol w="3875250"/>
              </a:tblGrid>
              <a:tr h="300950">
                <a:tc gridSpan="2">
                  <a:txBody>
                    <a:bodyPr/>
                    <a:lstStyle/>
                    <a:p>
                      <a:pPr indent="0" lvl="0" marL="0" marR="0" rtl="0" algn="l">
                        <a:lnSpc>
                          <a:spcPct val="100000"/>
                        </a:lnSpc>
                        <a:spcBef>
                          <a:spcPts val="0"/>
                        </a:spcBef>
                        <a:spcAft>
                          <a:spcPts val="0"/>
                        </a:spcAft>
                        <a:buClr>
                          <a:schemeClr val="dk1"/>
                        </a:buClr>
                        <a:buSzPts val="1350"/>
                        <a:buFont typeface="Calibri"/>
                        <a:buNone/>
                      </a:pPr>
                      <a:r>
                        <a:rPr b="1" lang="en-GB" sz="1350">
                          <a:solidFill>
                            <a:schemeClr val="dk1"/>
                          </a:solidFill>
                          <a:latin typeface="Calibri"/>
                          <a:ea typeface="Calibri"/>
                          <a:cs typeface="Calibri"/>
                          <a:sym typeface="Calibri"/>
                        </a:rPr>
                        <a:t>Mixed Fluency (continued)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458250">
                <a:tc gridSpan="2">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8. Calculate the area of the following shapes:</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458250">
                <a:tc gridSpan="2">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9. a) Write down a multiple of 8 that is between 45 and 50.</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    b) Find the lowest common multiple of 8 and 14.</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    c) Write down the lowest common multiple of 8, 14 and 4. </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281500">
                <a:tc gridSpan="2">
                  <a:txBody>
                    <a:bodyPr/>
                    <a:lstStyle/>
                    <a:p>
                      <a:pPr indent="0" lvl="0" marL="0" marR="0" rtl="0" algn="l">
                        <a:lnSpc>
                          <a:spcPct val="100000"/>
                        </a:lnSpc>
                        <a:spcBef>
                          <a:spcPts val="0"/>
                        </a:spcBef>
                        <a:spcAft>
                          <a:spcPts val="0"/>
                        </a:spcAft>
                        <a:buClr>
                          <a:srgbClr val="000000"/>
                        </a:buClr>
                        <a:buSzPts val="1350"/>
                        <a:buFont typeface="Calibri"/>
                        <a:buNone/>
                      </a:pPr>
                      <a:r>
                        <a:rPr b="1" i="0" lang="en-GB" sz="1350" u="none" cap="none" strike="noStrike">
                          <a:solidFill>
                            <a:srgbClr val="000000"/>
                          </a:solidFill>
                          <a:latin typeface="Calibri"/>
                          <a:ea typeface="Calibri"/>
                          <a:cs typeface="Calibri"/>
                          <a:sym typeface="Calibri"/>
                        </a:rPr>
                        <a:t>Unfamiliar Contexts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969525">
                <a:tc gridSpan="2">
                  <a:txBody>
                    <a:bodyPr/>
                    <a:lstStyle/>
                    <a:p>
                      <a:pPr indent="0" lvl="0" marL="0" marR="0" rtl="0" algn="l">
                        <a:spcBef>
                          <a:spcPts val="0"/>
                        </a:spcBef>
                        <a:spcAft>
                          <a:spcPts val="0"/>
                        </a:spcAft>
                        <a:buNone/>
                      </a:pPr>
                      <a:r>
                        <a:rPr lang="en-GB" sz="1200"/>
                        <a:t>10. Complete the arithmagons so that the numbers in the circles multiple together to make the numbers in the blue rectangles between them.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867400">
                <a:tc>
                  <a:txBody>
                    <a:bodyPr/>
                    <a:lstStyle/>
                    <a:p>
                      <a:pPr indent="0" lvl="0" marL="0" marR="0" rtl="0" algn="l">
                        <a:lnSpc>
                          <a:spcPct val="107000"/>
                        </a:lnSpc>
                        <a:spcBef>
                          <a:spcPts val="0"/>
                        </a:spcBef>
                        <a:spcAft>
                          <a:spcPts val="0"/>
                        </a:spcAft>
                        <a:buClr>
                          <a:schemeClr val="dk1"/>
                        </a:buClr>
                        <a:buSzPts val="1200"/>
                        <a:buFont typeface="Calibri"/>
                        <a:buNone/>
                      </a:pPr>
                      <a:r>
                        <a:rPr b="0" i="0" lang="en-GB" sz="1200" u="none" cap="none" strike="noStrike">
                          <a:solidFill>
                            <a:schemeClr val="dk1"/>
                          </a:solidFill>
                          <a:latin typeface="Calibri"/>
                          <a:ea typeface="Calibri"/>
                          <a:cs typeface="Calibri"/>
                          <a:sym typeface="Calibri"/>
                        </a:rPr>
                        <a:t>11. Find the number half way between:</a:t>
                      </a:r>
                      <a:endParaRPr/>
                    </a:p>
                    <a:p>
                      <a:pPr indent="-228600" lvl="0" marL="228600" marR="0" rtl="0" algn="l">
                        <a:lnSpc>
                          <a:spcPct val="100000"/>
                        </a:lnSpc>
                        <a:spcBef>
                          <a:spcPts val="800"/>
                        </a:spcBef>
                        <a:spcAft>
                          <a:spcPts val="0"/>
                        </a:spcAft>
                        <a:buClr>
                          <a:schemeClr val="dk1"/>
                        </a:buClr>
                        <a:buSzPts val="1200"/>
                        <a:buFont typeface="Calibri"/>
                        <a:buAutoNum type="alphaLcParenR"/>
                      </a:pPr>
                      <a:r>
                        <a:rPr b="0" i="0" lang="en-GB" sz="1200" u="none" cap="none" strike="noStrike">
                          <a:solidFill>
                            <a:schemeClr val="dk1"/>
                          </a:solidFill>
                          <a:latin typeface="Calibri"/>
                          <a:ea typeface="Calibri"/>
                          <a:cs typeface="Calibri"/>
                          <a:sym typeface="Calibri"/>
                        </a:rPr>
                        <a:t>17 and 35</a:t>
                      </a:r>
                      <a:endParaRPr/>
                    </a:p>
                    <a:p>
                      <a:pPr indent="-222250" lvl="0" marL="228600" marR="0" rtl="0" algn="l">
                        <a:lnSpc>
                          <a:spcPct val="100000"/>
                        </a:lnSpc>
                        <a:spcBef>
                          <a:spcPts val="800"/>
                        </a:spcBef>
                        <a:spcAft>
                          <a:spcPts val="0"/>
                        </a:spcAft>
                        <a:buClr>
                          <a:schemeClr val="dk1"/>
                        </a:buClr>
                        <a:buSzPts val="100"/>
                        <a:buFont typeface="Calibri"/>
                        <a:buNone/>
                      </a:pPr>
                      <a:r>
                        <a:t/>
                      </a:r>
                      <a:endParaRPr b="0" i="0" sz="100" u="none" cap="none" strike="noStrike">
                        <a:solidFill>
                          <a:schemeClr val="dk1"/>
                        </a:solidFill>
                        <a:latin typeface="Calibri"/>
                        <a:ea typeface="Calibri"/>
                        <a:cs typeface="Calibri"/>
                        <a:sym typeface="Calibri"/>
                      </a:endParaRPr>
                    </a:p>
                    <a:p>
                      <a:pPr indent="-158750" lvl="0" marL="228600" marR="0" rtl="0" algn="l">
                        <a:lnSpc>
                          <a:spcPct val="100000"/>
                        </a:lnSpc>
                        <a:spcBef>
                          <a:spcPts val="8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228600" lvl="0" marL="228600" marR="0" rtl="0" algn="l">
                        <a:lnSpc>
                          <a:spcPct val="100000"/>
                        </a:lnSpc>
                        <a:spcBef>
                          <a:spcPts val="800"/>
                        </a:spcBef>
                        <a:spcAft>
                          <a:spcPts val="0"/>
                        </a:spcAft>
                        <a:buClr>
                          <a:schemeClr val="dk1"/>
                        </a:buClr>
                        <a:buSzPts val="1200"/>
                        <a:buFont typeface="Calibri"/>
                        <a:buAutoNum type="alphaLcParenR"/>
                      </a:pPr>
                      <a:r>
                        <a:rPr b="0" i="0" lang="en-GB" sz="1200" u="none" cap="none" strike="noStrike">
                          <a:solidFill>
                            <a:schemeClr val="dk1"/>
                          </a:solidFill>
                          <a:latin typeface="Calibri"/>
                          <a:ea typeface="Calibri"/>
                          <a:cs typeface="Calibri"/>
                          <a:sym typeface="Calibri"/>
                        </a:rPr>
                        <a:t>143 and 641</a:t>
                      </a:r>
                      <a:endParaRPr/>
                    </a:p>
                    <a:p>
                      <a:pPr indent="-127000" lvl="0" marL="228600" marR="0" rtl="0" algn="l">
                        <a:lnSpc>
                          <a:spcPct val="100000"/>
                        </a:lnSpc>
                        <a:spcBef>
                          <a:spcPts val="80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228600" lvl="0" marL="228600" marR="0" rtl="0" algn="l">
                        <a:lnSpc>
                          <a:spcPct val="100000"/>
                        </a:lnSpc>
                        <a:spcBef>
                          <a:spcPts val="800"/>
                        </a:spcBef>
                        <a:spcAft>
                          <a:spcPts val="0"/>
                        </a:spcAft>
                        <a:buClr>
                          <a:schemeClr val="dk1"/>
                        </a:buClr>
                        <a:buSzPts val="1200"/>
                        <a:buFont typeface="Calibri"/>
                        <a:buAutoNum type="alphaLcParenR"/>
                      </a:pPr>
                      <a:r>
                        <a:rPr b="0" i="0" lang="en-GB" sz="1200" u="none" cap="none" strike="noStrike">
                          <a:solidFill>
                            <a:schemeClr val="dk1"/>
                          </a:solidFill>
                          <a:latin typeface="Calibri"/>
                          <a:ea typeface="Calibri"/>
                          <a:cs typeface="Calibri"/>
                          <a:sym typeface="Calibri"/>
                        </a:rPr>
                        <a:t>82.5 and 91</a:t>
                      </a:r>
                      <a:endParaRPr/>
                    </a:p>
                    <a:p>
                      <a:pPr indent="-127000" lvl="0" marL="228600" marR="0" rtl="0" algn="l">
                        <a:lnSpc>
                          <a:spcPct val="100000"/>
                        </a:lnSpc>
                        <a:spcBef>
                          <a:spcPts val="80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228600" lvl="0" marL="228600" marR="0" rtl="0" algn="l">
                        <a:lnSpc>
                          <a:spcPct val="100000"/>
                        </a:lnSpc>
                        <a:spcBef>
                          <a:spcPts val="800"/>
                        </a:spcBef>
                        <a:spcAft>
                          <a:spcPts val="0"/>
                        </a:spcAft>
                        <a:buClr>
                          <a:schemeClr val="dk1"/>
                        </a:buClr>
                        <a:buSzPts val="1200"/>
                        <a:buFont typeface="Calibri"/>
                        <a:buAutoNum type="alphaLcParenR"/>
                      </a:pPr>
                      <a:r>
                        <a:rPr b="0" i="0" lang="en-GB" sz="1200" u="none" cap="none" strike="noStrike">
                          <a:solidFill>
                            <a:schemeClr val="dk1"/>
                          </a:solidFill>
                          <a:latin typeface="Calibri"/>
                          <a:ea typeface="Calibri"/>
                          <a:cs typeface="Calibri"/>
                          <a:sym typeface="Calibri"/>
                        </a:rPr>
                        <a:t>1.801 and 1.84</a:t>
                      </a:r>
                      <a:endParaRPr/>
                    </a:p>
                    <a:p>
                      <a:pPr indent="0" lvl="0" marL="0" marR="0" rtl="0" algn="l">
                        <a:lnSpc>
                          <a:spcPct val="150000"/>
                        </a:lnSpc>
                        <a:spcBef>
                          <a:spcPts val="80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chemeClr val="dk1"/>
                        </a:buClr>
                        <a:buSzPts val="1200"/>
                        <a:buFont typeface="Calibri"/>
                        <a:buNone/>
                      </a:pPr>
                      <a:r>
                        <a:rPr lang="en-GB" sz="1200">
                          <a:solidFill>
                            <a:schemeClr val="dk1"/>
                          </a:solidFill>
                          <a:latin typeface="Calibri"/>
                          <a:ea typeface="Calibri"/>
                          <a:cs typeface="Calibri"/>
                          <a:sym typeface="Calibri"/>
                        </a:rPr>
                        <a:t>12. Is each of these calculations less than, or greater than 1?</a:t>
                      </a:r>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65" name="Google Shape;365;p21"/>
          <p:cNvSpPr txBox="1"/>
          <p:nvPr/>
        </p:nvSpPr>
        <p:spPr>
          <a:xfrm>
            <a:off x="0" y="160010"/>
            <a:ext cx="6858000" cy="338554"/>
          </a:xfrm>
          <a:prstGeom prst="rect">
            <a:avLst/>
          </a:prstGeom>
          <a:solidFill>
            <a:srgbClr val="7E234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Method Selection</a:t>
            </a:r>
            <a:endParaRPr b="1" i="0" sz="1600" u="none" cap="none" strike="noStrike">
              <a:solidFill>
                <a:srgbClr val="FFFFFF"/>
              </a:solidFill>
              <a:latin typeface="Calibri"/>
              <a:ea typeface="Calibri"/>
              <a:cs typeface="Calibri"/>
              <a:sym typeface="Calibri"/>
            </a:endParaRPr>
          </a:p>
        </p:txBody>
      </p:sp>
      <p:pic>
        <p:nvPicPr>
          <p:cNvPr id="366" name="Google Shape;366;p21"/>
          <p:cNvPicPr preferRelativeResize="0"/>
          <p:nvPr/>
        </p:nvPicPr>
        <p:blipFill rotWithShape="1">
          <a:blip r:embed="rId4">
            <a:alphaModFix/>
          </a:blip>
          <a:srcRect b="12303" l="0" r="69427" t="0"/>
          <a:stretch/>
        </p:blipFill>
        <p:spPr>
          <a:xfrm>
            <a:off x="1735679" y="1149517"/>
            <a:ext cx="1588170" cy="1038185"/>
          </a:xfrm>
          <a:prstGeom prst="rect">
            <a:avLst/>
          </a:prstGeom>
          <a:noFill/>
          <a:ln>
            <a:noFill/>
          </a:ln>
        </p:spPr>
      </p:pic>
      <p:pic>
        <p:nvPicPr>
          <p:cNvPr id="367" name="Google Shape;367;p21"/>
          <p:cNvPicPr preferRelativeResize="0"/>
          <p:nvPr/>
        </p:nvPicPr>
        <p:blipFill rotWithShape="1">
          <a:blip r:embed="rId5">
            <a:alphaModFix/>
          </a:blip>
          <a:srcRect b="0" l="0" r="8049" t="56441"/>
          <a:stretch/>
        </p:blipFill>
        <p:spPr>
          <a:xfrm>
            <a:off x="4920540" y="1034813"/>
            <a:ext cx="1733863" cy="1056797"/>
          </a:xfrm>
          <a:prstGeom prst="rect">
            <a:avLst/>
          </a:prstGeom>
          <a:noFill/>
          <a:ln>
            <a:noFill/>
          </a:ln>
        </p:spPr>
      </p:pic>
      <p:pic>
        <p:nvPicPr>
          <p:cNvPr id="368" name="Google Shape;368;p21"/>
          <p:cNvPicPr preferRelativeResize="0"/>
          <p:nvPr/>
        </p:nvPicPr>
        <p:blipFill rotWithShape="1">
          <a:blip r:embed="rId4">
            <a:alphaModFix/>
          </a:blip>
          <a:srcRect b="13941" l="38662" r="35896" t="0"/>
          <a:stretch/>
        </p:blipFill>
        <p:spPr>
          <a:xfrm>
            <a:off x="3429000" y="1091884"/>
            <a:ext cx="1386389" cy="1068702"/>
          </a:xfrm>
          <a:prstGeom prst="rect">
            <a:avLst/>
          </a:prstGeom>
          <a:noFill/>
          <a:ln>
            <a:noFill/>
          </a:ln>
        </p:spPr>
      </p:pic>
      <p:pic>
        <p:nvPicPr>
          <p:cNvPr id="369" name="Google Shape;369;p21"/>
          <p:cNvPicPr preferRelativeResize="0"/>
          <p:nvPr/>
        </p:nvPicPr>
        <p:blipFill rotWithShape="1">
          <a:blip r:embed="rId5">
            <a:alphaModFix/>
          </a:blip>
          <a:srcRect b="62319" l="18121" r="20161" t="0"/>
          <a:stretch/>
        </p:blipFill>
        <p:spPr>
          <a:xfrm>
            <a:off x="292392" y="1127980"/>
            <a:ext cx="1226719" cy="963630"/>
          </a:xfrm>
          <a:prstGeom prst="rect">
            <a:avLst/>
          </a:prstGeom>
          <a:noFill/>
          <a:ln>
            <a:noFill/>
          </a:ln>
        </p:spPr>
      </p:pic>
      <p:sp>
        <p:nvSpPr>
          <p:cNvPr id="370" name="Google Shape;370;p21"/>
          <p:cNvSpPr/>
          <p:nvPr/>
        </p:nvSpPr>
        <p:spPr>
          <a:xfrm>
            <a:off x="292392" y="2391496"/>
            <a:ext cx="1092240"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p21"/>
          <p:cNvSpPr/>
          <p:nvPr/>
        </p:nvSpPr>
        <p:spPr>
          <a:xfrm>
            <a:off x="1962776" y="2391495"/>
            <a:ext cx="1092240"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2" name="Google Shape;372;p21"/>
          <p:cNvSpPr/>
          <p:nvPr/>
        </p:nvSpPr>
        <p:spPr>
          <a:xfrm>
            <a:off x="3617810" y="2375529"/>
            <a:ext cx="1092240"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 name="Google Shape;373;p21"/>
          <p:cNvSpPr/>
          <p:nvPr/>
        </p:nvSpPr>
        <p:spPr>
          <a:xfrm>
            <a:off x="5272845" y="2375529"/>
            <a:ext cx="1092240"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21"/>
          <p:cNvSpPr/>
          <p:nvPr/>
        </p:nvSpPr>
        <p:spPr>
          <a:xfrm>
            <a:off x="5487939" y="3497251"/>
            <a:ext cx="1092240"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p21"/>
          <p:cNvSpPr/>
          <p:nvPr/>
        </p:nvSpPr>
        <p:spPr>
          <a:xfrm>
            <a:off x="5486967" y="4022463"/>
            <a:ext cx="1092240"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21"/>
          <p:cNvSpPr/>
          <p:nvPr/>
        </p:nvSpPr>
        <p:spPr>
          <a:xfrm>
            <a:off x="5486967" y="2953376"/>
            <a:ext cx="1092240"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7" name="Google Shape;377;p21"/>
          <p:cNvSpPr/>
          <p:nvPr/>
        </p:nvSpPr>
        <p:spPr>
          <a:xfrm>
            <a:off x="1917779" y="7180715"/>
            <a:ext cx="747461"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8" name="Google Shape;378;p21"/>
          <p:cNvSpPr/>
          <p:nvPr/>
        </p:nvSpPr>
        <p:spPr>
          <a:xfrm>
            <a:off x="1917779" y="7767952"/>
            <a:ext cx="747461"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21"/>
          <p:cNvSpPr/>
          <p:nvPr/>
        </p:nvSpPr>
        <p:spPr>
          <a:xfrm>
            <a:off x="1905747" y="8386842"/>
            <a:ext cx="747461"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21"/>
          <p:cNvSpPr/>
          <p:nvPr/>
        </p:nvSpPr>
        <p:spPr>
          <a:xfrm>
            <a:off x="1905747" y="9034239"/>
            <a:ext cx="747461" cy="414643"/>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1" name="Google Shape;381;p21"/>
          <p:cNvPicPr preferRelativeResize="0"/>
          <p:nvPr/>
        </p:nvPicPr>
        <p:blipFill rotWithShape="1">
          <a:blip r:embed="rId6">
            <a:alphaModFix/>
          </a:blip>
          <a:srcRect b="4331" l="55550" r="14269" t="35405"/>
          <a:stretch/>
        </p:blipFill>
        <p:spPr>
          <a:xfrm>
            <a:off x="4011776" y="8596059"/>
            <a:ext cx="1778580" cy="824879"/>
          </a:xfrm>
          <a:prstGeom prst="rect">
            <a:avLst/>
          </a:prstGeom>
          <a:noFill/>
          <a:ln>
            <a:noFill/>
          </a:ln>
        </p:spPr>
      </p:pic>
      <p:pic>
        <p:nvPicPr>
          <p:cNvPr id="382" name="Google Shape;382;p21"/>
          <p:cNvPicPr preferRelativeResize="0"/>
          <p:nvPr/>
        </p:nvPicPr>
        <p:blipFill rotWithShape="1">
          <a:blip r:embed="rId6">
            <a:alphaModFix/>
          </a:blip>
          <a:srcRect b="64711" l="81228" r="4902" t="7846"/>
          <a:stretch/>
        </p:blipFill>
        <p:spPr>
          <a:xfrm>
            <a:off x="4497626" y="7180715"/>
            <a:ext cx="747461" cy="343519"/>
          </a:xfrm>
          <a:prstGeom prst="rect">
            <a:avLst/>
          </a:prstGeom>
          <a:noFill/>
          <a:ln>
            <a:noFill/>
          </a:ln>
        </p:spPr>
      </p:pic>
      <p:pic>
        <p:nvPicPr>
          <p:cNvPr id="383" name="Google Shape;383;p21"/>
          <p:cNvPicPr preferRelativeResize="0"/>
          <p:nvPr/>
        </p:nvPicPr>
        <p:blipFill rotWithShape="1">
          <a:blip r:embed="rId6">
            <a:alphaModFix/>
          </a:blip>
          <a:srcRect b="2969" l="4220" r="66491" t="35268"/>
          <a:stretch/>
        </p:blipFill>
        <p:spPr>
          <a:xfrm>
            <a:off x="3973366" y="7652477"/>
            <a:ext cx="1684045" cy="824879"/>
          </a:xfrm>
          <a:prstGeom prst="rect">
            <a:avLst/>
          </a:prstGeom>
          <a:noFill/>
          <a:ln>
            <a:noFill/>
          </a:ln>
        </p:spPr>
      </p:pic>
      <p:sp>
        <p:nvSpPr>
          <p:cNvPr id="384" name="Google Shape;384;p21"/>
          <p:cNvSpPr txBox="1"/>
          <p:nvPr/>
        </p:nvSpPr>
        <p:spPr>
          <a:xfrm>
            <a:off x="3674094" y="7652477"/>
            <a:ext cx="311304" cy="17235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a)</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b)</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c)</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d)</a:t>
            </a:r>
            <a:endParaRPr/>
          </a:p>
        </p:txBody>
      </p:sp>
      <p:sp>
        <p:nvSpPr>
          <p:cNvPr id="385" name="Google Shape;385;p21"/>
          <p:cNvSpPr txBox="1"/>
          <p:nvPr/>
        </p:nvSpPr>
        <p:spPr>
          <a:xfrm>
            <a:off x="492915" y="2414150"/>
            <a:ext cx="7809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25cm</a:t>
            </a:r>
            <a:r>
              <a:rPr b="1" baseline="30000" lang="en-GB" sz="1800">
                <a:solidFill>
                  <a:srgbClr val="FF0000"/>
                </a:solidFill>
                <a:latin typeface="Calibri"/>
                <a:ea typeface="Calibri"/>
                <a:cs typeface="Calibri"/>
                <a:sym typeface="Calibri"/>
              </a:rPr>
              <a:t>2</a:t>
            </a:r>
            <a:endParaRPr/>
          </a:p>
        </p:txBody>
      </p:sp>
      <p:sp>
        <p:nvSpPr>
          <p:cNvPr id="386" name="Google Shape;386;p21"/>
          <p:cNvSpPr txBox="1"/>
          <p:nvPr/>
        </p:nvSpPr>
        <p:spPr>
          <a:xfrm>
            <a:off x="2167669" y="2421305"/>
            <a:ext cx="7809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24cm</a:t>
            </a:r>
            <a:r>
              <a:rPr b="1" baseline="30000" lang="en-GB" sz="1800">
                <a:solidFill>
                  <a:srgbClr val="FF0000"/>
                </a:solidFill>
                <a:latin typeface="Calibri"/>
                <a:ea typeface="Calibri"/>
                <a:cs typeface="Calibri"/>
                <a:sym typeface="Calibri"/>
              </a:rPr>
              <a:t>2</a:t>
            </a:r>
            <a:endParaRPr/>
          </a:p>
        </p:txBody>
      </p:sp>
      <p:sp>
        <p:nvSpPr>
          <p:cNvPr id="387" name="Google Shape;387;p21"/>
          <p:cNvSpPr txBox="1"/>
          <p:nvPr/>
        </p:nvSpPr>
        <p:spPr>
          <a:xfrm>
            <a:off x="3819973" y="2403324"/>
            <a:ext cx="7809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15cm</a:t>
            </a:r>
            <a:r>
              <a:rPr b="1" baseline="30000" lang="en-GB" sz="1800">
                <a:solidFill>
                  <a:srgbClr val="FF0000"/>
                </a:solidFill>
                <a:latin typeface="Calibri"/>
                <a:ea typeface="Calibri"/>
                <a:cs typeface="Calibri"/>
                <a:sym typeface="Calibri"/>
              </a:rPr>
              <a:t>2</a:t>
            </a:r>
            <a:endParaRPr/>
          </a:p>
        </p:txBody>
      </p:sp>
      <p:sp>
        <p:nvSpPr>
          <p:cNvPr id="388" name="Google Shape;388;p21"/>
          <p:cNvSpPr txBox="1"/>
          <p:nvPr/>
        </p:nvSpPr>
        <p:spPr>
          <a:xfrm>
            <a:off x="5428473" y="2391495"/>
            <a:ext cx="7809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36cm</a:t>
            </a:r>
            <a:r>
              <a:rPr b="1" baseline="30000" lang="en-GB" sz="1800">
                <a:solidFill>
                  <a:srgbClr val="FF0000"/>
                </a:solidFill>
                <a:latin typeface="Calibri"/>
                <a:ea typeface="Calibri"/>
                <a:cs typeface="Calibri"/>
                <a:sym typeface="Calibri"/>
              </a:rPr>
              <a:t>2</a:t>
            </a:r>
            <a:endParaRPr/>
          </a:p>
        </p:txBody>
      </p:sp>
      <p:sp>
        <p:nvSpPr>
          <p:cNvPr id="389" name="Google Shape;389;p21"/>
          <p:cNvSpPr txBox="1"/>
          <p:nvPr/>
        </p:nvSpPr>
        <p:spPr>
          <a:xfrm>
            <a:off x="5835893" y="2969923"/>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48</a:t>
            </a:r>
            <a:endParaRPr b="1" baseline="30000" sz="1800">
              <a:solidFill>
                <a:srgbClr val="FF0000"/>
              </a:solidFill>
              <a:latin typeface="Calibri"/>
              <a:ea typeface="Calibri"/>
              <a:cs typeface="Calibri"/>
              <a:sym typeface="Calibri"/>
            </a:endParaRPr>
          </a:p>
        </p:txBody>
      </p:sp>
      <p:sp>
        <p:nvSpPr>
          <p:cNvPr id="390" name="Google Shape;390;p21"/>
          <p:cNvSpPr txBox="1"/>
          <p:nvPr/>
        </p:nvSpPr>
        <p:spPr>
          <a:xfrm>
            <a:off x="5839258" y="3519906"/>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56</a:t>
            </a:r>
            <a:endParaRPr b="1" baseline="30000" sz="1800">
              <a:solidFill>
                <a:srgbClr val="FF0000"/>
              </a:solidFill>
              <a:latin typeface="Calibri"/>
              <a:ea typeface="Calibri"/>
              <a:cs typeface="Calibri"/>
              <a:sym typeface="Calibri"/>
            </a:endParaRPr>
          </a:p>
        </p:txBody>
      </p:sp>
      <p:sp>
        <p:nvSpPr>
          <p:cNvPr id="391" name="Google Shape;391;p21"/>
          <p:cNvSpPr txBox="1"/>
          <p:nvPr/>
        </p:nvSpPr>
        <p:spPr>
          <a:xfrm>
            <a:off x="5823735" y="4031064"/>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56</a:t>
            </a:r>
            <a:endParaRPr b="1" baseline="30000" sz="1800">
              <a:solidFill>
                <a:srgbClr val="FF0000"/>
              </a:solidFill>
              <a:latin typeface="Calibri"/>
              <a:ea typeface="Calibri"/>
              <a:cs typeface="Calibri"/>
              <a:sym typeface="Calibri"/>
            </a:endParaRPr>
          </a:p>
        </p:txBody>
      </p:sp>
      <p:sp>
        <p:nvSpPr>
          <p:cNvPr id="392" name="Google Shape;392;p21"/>
          <p:cNvSpPr txBox="1"/>
          <p:nvPr/>
        </p:nvSpPr>
        <p:spPr>
          <a:xfrm>
            <a:off x="286768" y="5921774"/>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0.05</a:t>
            </a:r>
            <a:endParaRPr b="1" baseline="30000" sz="1800">
              <a:solidFill>
                <a:srgbClr val="FF0000"/>
              </a:solidFill>
              <a:latin typeface="Calibri"/>
              <a:ea typeface="Calibri"/>
              <a:cs typeface="Calibri"/>
              <a:sym typeface="Calibri"/>
            </a:endParaRPr>
          </a:p>
        </p:txBody>
      </p:sp>
      <p:sp>
        <p:nvSpPr>
          <p:cNvPr id="393" name="Google Shape;393;p21"/>
          <p:cNvSpPr txBox="1"/>
          <p:nvPr/>
        </p:nvSpPr>
        <p:spPr>
          <a:xfrm>
            <a:off x="1139041" y="5905217"/>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0.08</a:t>
            </a:r>
            <a:endParaRPr b="1" baseline="30000" sz="1800">
              <a:solidFill>
                <a:srgbClr val="FF0000"/>
              </a:solidFill>
              <a:latin typeface="Calibri"/>
              <a:ea typeface="Calibri"/>
              <a:cs typeface="Calibri"/>
              <a:sym typeface="Calibri"/>
            </a:endParaRPr>
          </a:p>
        </p:txBody>
      </p:sp>
      <p:sp>
        <p:nvSpPr>
          <p:cNvPr id="394" name="Google Shape;394;p21"/>
          <p:cNvSpPr txBox="1"/>
          <p:nvPr/>
        </p:nvSpPr>
        <p:spPr>
          <a:xfrm>
            <a:off x="837355" y="6420338"/>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b="1" baseline="30000" sz="1800">
              <a:solidFill>
                <a:srgbClr val="FF0000"/>
              </a:solidFill>
              <a:latin typeface="Calibri"/>
              <a:ea typeface="Calibri"/>
              <a:cs typeface="Calibri"/>
              <a:sym typeface="Calibri"/>
            </a:endParaRPr>
          </a:p>
        </p:txBody>
      </p:sp>
      <p:sp>
        <p:nvSpPr>
          <p:cNvPr id="395" name="Google Shape;395;p21"/>
          <p:cNvSpPr txBox="1"/>
          <p:nvPr/>
        </p:nvSpPr>
        <p:spPr>
          <a:xfrm>
            <a:off x="1962229" y="5915839"/>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4.2</a:t>
            </a:r>
            <a:endParaRPr b="1" baseline="30000" sz="1800">
              <a:solidFill>
                <a:srgbClr val="FF0000"/>
              </a:solidFill>
              <a:latin typeface="Calibri"/>
              <a:ea typeface="Calibri"/>
              <a:cs typeface="Calibri"/>
              <a:sym typeface="Calibri"/>
            </a:endParaRPr>
          </a:p>
        </p:txBody>
      </p:sp>
      <p:sp>
        <p:nvSpPr>
          <p:cNvPr id="396" name="Google Shape;396;p21"/>
          <p:cNvSpPr txBox="1"/>
          <p:nvPr/>
        </p:nvSpPr>
        <p:spPr>
          <a:xfrm>
            <a:off x="2775953" y="5905217"/>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0.03</a:t>
            </a:r>
            <a:endParaRPr b="1" baseline="30000" sz="1800">
              <a:solidFill>
                <a:srgbClr val="FF0000"/>
              </a:solidFill>
              <a:latin typeface="Calibri"/>
              <a:ea typeface="Calibri"/>
              <a:cs typeface="Calibri"/>
              <a:sym typeface="Calibri"/>
            </a:endParaRPr>
          </a:p>
        </p:txBody>
      </p:sp>
      <p:sp>
        <p:nvSpPr>
          <p:cNvPr id="397" name="Google Shape;397;p21"/>
          <p:cNvSpPr txBox="1"/>
          <p:nvPr/>
        </p:nvSpPr>
        <p:spPr>
          <a:xfrm>
            <a:off x="2413399" y="6413004"/>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3.5</a:t>
            </a:r>
            <a:endParaRPr b="1" baseline="30000" sz="1800">
              <a:solidFill>
                <a:srgbClr val="FF0000"/>
              </a:solidFill>
              <a:latin typeface="Calibri"/>
              <a:ea typeface="Calibri"/>
              <a:cs typeface="Calibri"/>
              <a:sym typeface="Calibri"/>
            </a:endParaRPr>
          </a:p>
        </p:txBody>
      </p:sp>
      <p:sp>
        <p:nvSpPr>
          <p:cNvPr id="398" name="Google Shape;398;p21"/>
          <p:cNvSpPr txBox="1"/>
          <p:nvPr/>
        </p:nvSpPr>
        <p:spPr>
          <a:xfrm>
            <a:off x="3556579" y="5930974"/>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0.12</a:t>
            </a:r>
            <a:endParaRPr b="1" baseline="30000" sz="1800">
              <a:solidFill>
                <a:srgbClr val="FF0000"/>
              </a:solidFill>
              <a:latin typeface="Calibri"/>
              <a:ea typeface="Calibri"/>
              <a:cs typeface="Calibri"/>
              <a:sym typeface="Calibri"/>
            </a:endParaRPr>
          </a:p>
        </p:txBody>
      </p:sp>
      <p:sp>
        <p:nvSpPr>
          <p:cNvPr id="399" name="Google Shape;399;p21"/>
          <p:cNvSpPr txBox="1"/>
          <p:nvPr/>
        </p:nvSpPr>
        <p:spPr>
          <a:xfrm>
            <a:off x="4011776" y="6420338"/>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b="1" baseline="30000" sz="1800">
              <a:solidFill>
                <a:srgbClr val="FF0000"/>
              </a:solidFill>
              <a:latin typeface="Calibri"/>
              <a:ea typeface="Calibri"/>
              <a:cs typeface="Calibri"/>
              <a:sym typeface="Calibri"/>
            </a:endParaRPr>
          </a:p>
        </p:txBody>
      </p:sp>
      <p:sp>
        <p:nvSpPr>
          <p:cNvPr id="400" name="Google Shape;400;p21"/>
          <p:cNvSpPr txBox="1"/>
          <p:nvPr/>
        </p:nvSpPr>
        <p:spPr>
          <a:xfrm>
            <a:off x="4631427" y="638238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b="1" baseline="30000" sz="1800">
              <a:solidFill>
                <a:srgbClr val="FF0000"/>
              </a:solidFill>
              <a:latin typeface="Calibri"/>
              <a:ea typeface="Calibri"/>
              <a:cs typeface="Calibri"/>
              <a:sym typeface="Calibri"/>
            </a:endParaRPr>
          </a:p>
        </p:txBody>
      </p:sp>
      <p:sp>
        <p:nvSpPr>
          <p:cNvPr id="401" name="Google Shape;401;p21"/>
          <p:cNvSpPr txBox="1"/>
          <p:nvPr/>
        </p:nvSpPr>
        <p:spPr>
          <a:xfrm>
            <a:off x="5060623" y="6360701"/>
            <a:ext cx="479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0.3</a:t>
            </a:r>
            <a:endParaRPr b="1" baseline="30000" sz="1800">
              <a:solidFill>
                <a:srgbClr val="FF0000"/>
              </a:solidFill>
              <a:latin typeface="Calibri"/>
              <a:ea typeface="Calibri"/>
              <a:cs typeface="Calibri"/>
              <a:sym typeface="Calibri"/>
            </a:endParaRPr>
          </a:p>
        </p:txBody>
      </p:sp>
      <p:sp>
        <p:nvSpPr>
          <p:cNvPr id="402" name="Google Shape;402;p21"/>
          <p:cNvSpPr txBox="1"/>
          <p:nvPr/>
        </p:nvSpPr>
        <p:spPr>
          <a:xfrm>
            <a:off x="5559194" y="6370666"/>
            <a:ext cx="59663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0.15</a:t>
            </a:r>
            <a:endParaRPr b="1" baseline="30000" sz="1800">
              <a:solidFill>
                <a:srgbClr val="FF0000"/>
              </a:solidFill>
              <a:latin typeface="Calibri"/>
              <a:ea typeface="Calibri"/>
              <a:cs typeface="Calibri"/>
              <a:sym typeface="Calibri"/>
            </a:endParaRPr>
          </a:p>
        </p:txBody>
      </p:sp>
      <p:sp>
        <p:nvSpPr>
          <p:cNvPr id="403" name="Google Shape;403;p21"/>
          <p:cNvSpPr txBox="1"/>
          <p:nvPr/>
        </p:nvSpPr>
        <p:spPr>
          <a:xfrm>
            <a:off x="6116939" y="5897045"/>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b="1" baseline="30000" sz="1800">
              <a:solidFill>
                <a:srgbClr val="FF0000"/>
              </a:solidFill>
              <a:latin typeface="Calibri"/>
              <a:ea typeface="Calibri"/>
              <a:cs typeface="Calibri"/>
              <a:sym typeface="Calibri"/>
            </a:endParaRPr>
          </a:p>
        </p:txBody>
      </p:sp>
      <p:sp>
        <p:nvSpPr>
          <p:cNvPr id="404" name="Google Shape;404;p21"/>
          <p:cNvSpPr txBox="1"/>
          <p:nvPr/>
        </p:nvSpPr>
        <p:spPr>
          <a:xfrm>
            <a:off x="2111060" y="7194301"/>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26</a:t>
            </a:r>
            <a:endParaRPr b="1" baseline="30000" sz="1800">
              <a:solidFill>
                <a:srgbClr val="FF0000"/>
              </a:solidFill>
              <a:latin typeface="Calibri"/>
              <a:ea typeface="Calibri"/>
              <a:cs typeface="Calibri"/>
              <a:sym typeface="Calibri"/>
            </a:endParaRPr>
          </a:p>
        </p:txBody>
      </p:sp>
      <p:sp>
        <p:nvSpPr>
          <p:cNvPr id="405" name="Google Shape;405;p21"/>
          <p:cNvSpPr txBox="1"/>
          <p:nvPr/>
        </p:nvSpPr>
        <p:spPr>
          <a:xfrm>
            <a:off x="2052550" y="7775465"/>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784</a:t>
            </a:r>
            <a:endParaRPr b="1" baseline="30000" sz="1800">
              <a:solidFill>
                <a:srgbClr val="FF0000"/>
              </a:solidFill>
              <a:latin typeface="Calibri"/>
              <a:ea typeface="Calibri"/>
              <a:cs typeface="Calibri"/>
              <a:sym typeface="Calibri"/>
            </a:endParaRPr>
          </a:p>
        </p:txBody>
      </p:sp>
      <p:sp>
        <p:nvSpPr>
          <p:cNvPr id="406" name="Google Shape;406;p21"/>
          <p:cNvSpPr txBox="1"/>
          <p:nvPr/>
        </p:nvSpPr>
        <p:spPr>
          <a:xfrm>
            <a:off x="1959359" y="8423751"/>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173.5</a:t>
            </a:r>
            <a:endParaRPr b="1" baseline="30000" sz="1800">
              <a:solidFill>
                <a:srgbClr val="FF0000"/>
              </a:solidFill>
              <a:latin typeface="Calibri"/>
              <a:ea typeface="Calibri"/>
              <a:cs typeface="Calibri"/>
              <a:sym typeface="Calibri"/>
            </a:endParaRPr>
          </a:p>
        </p:txBody>
      </p:sp>
      <p:sp>
        <p:nvSpPr>
          <p:cNvPr id="407" name="Google Shape;407;p21"/>
          <p:cNvSpPr txBox="1"/>
          <p:nvPr/>
        </p:nvSpPr>
        <p:spPr>
          <a:xfrm>
            <a:off x="1981956" y="9017455"/>
            <a:ext cx="7136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2.921</a:t>
            </a:r>
            <a:endParaRPr b="1" baseline="30000" sz="1800">
              <a:solidFill>
                <a:srgbClr val="FF0000"/>
              </a:solidFill>
              <a:latin typeface="Calibri"/>
              <a:ea typeface="Calibri"/>
              <a:cs typeface="Calibri"/>
              <a:sym typeface="Calibri"/>
            </a:endParaRPr>
          </a:p>
        </p:txBody>
      </p:sp>
      <p:sp>
        <p:nvSpPr>
          <p:cNvPr id="408" name="Google Shape;408;p21"/>
          <p:cNvSpPr txBox="1"/>
          <p:nvPr/>
        </p:nvSpPr>
        <p:spPr>
          <a:xfrm rot="10800000">
            <a:off x="5041630" y="7692889"/>
            <a:ext cx="300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&lt;</a:t>
            </a:r>
            <a:endParaRPr b="1" baseline="30000" sz="1800">
              <a:solidFill>
                <a:srgbClr val="FF0000"/>
              </a:solidFill>
              <a:latin typeface="Calibri"/>
              <a:ea typeface="Calibri"/>
              <a:cs typeface="Calibri"/>
              <a:sym typeface="Calibri"/>
            </a:endParaRPr>
          </a:p>
        </p:txBody>
      </p:sp>
      <p:sp>
        <p:nvSpPr>
          <p:cNvPr id="409" name="Google Shape;409;p21"/>
          <p:cNvSpPr txBox="1"/>
          <p:nvPr/>
        </p:nvSpPr>
        <p:spPr>
          <a:xfrm rot="10800000">
            <a:off x="5037127" y="8096587"/>
            <a:ext cx="300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&lt;</a:t>
            </a:r>
            <a:endParaRPr b="1" baseline="30000" sz="1800">
              <a:solidFill>
                <a:srgbClr val="FF0000"/>
              </a:solidFill>
              <a:latin typeface="Calibri"/>
              <a:ea typeface="Calibri"/>
              <a:cs typeface="Calibri"/>
              <a:sym typeface="Calibri"/>
            </a:endParaRPr>
          </a:p>
        </p:txBody>
      </p:sp>
      <p:sp>
        <p:nvSpPr>
          <p:cNvPr id="410" name="Google Shape;410;p21"/>
          <p:cNvSpPr txBox="1"/>
          <p:nvPr/>
        </p:nvSpPr>
        <p:spPr>
          <a:xfrm>
            <a:off x="5146137" y="8592109"/>
            <a:ext cx="300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&lt;</a:t>
            </a:r>
            <a:endParaRPr b="1" baseline="30000" sz="1800">
              <a:solidFill>
                <a:srgbClr val="FF0000"/>
              </a:solidFill>
              <a:latin typeface="Calibri"/>
              <a:ea typeface="Calibri"/>
              <a:cs typeface="Calibri"/>
              <a:sym typeface="Calibri"/>
            </a:endParaRPr>
          </a:p>
        </p:txBody>
      </p:sp>
      <p:sp>
        <p:nvSpPr>
          <p:cNvPr id="411" name="Google Shape;411;p21"/>
          <p:cNvSpPr txBox="1"/>
          <p:nvPr/>
        </p:nvSpPr>
        <p:spPr>
          <a:xfrm rot="10800000">
            <a:off x="5163883" y="9049552"/>
            <a:ext cx="300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&lt;</a:t>
            </a:r>
            <a:endParaRPr b="1" baseline="30000" sz="1800">
              <a:solidFill>
                <a:srgbClr val="FF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grpSp>
        <p:nvGrpSpPr>
          <p:cNvPr id="416" name="Google Shape;416;p22"/>
          <p:cNvGrpSpPr/>
          <p:nvPr/>
        </p:nvGrpSpPr>
        <p:grpSpPr>
          <a:xfrm>
            <a:off x="0" y="0"/>
            <a:ext cx="6779619" cy="9591040"/>
            <a:chOff x="0" y="0"/>
            <a:chExt cx="6779619" cy="9591040"/>
          </a:xfrm>
        </p:grpSpPr>
        <p:grpSp>
          <p:nvGrpSpPr>
            <p:cNvPr id="417" name="Google Shape;417;p22"/>
            <p:cNvGrpSpPr/>
            <p:nvPr/>
          </p:nvGrpSpPr>
          <p:grpSpPr>
            <a:xfrm>
              <a:off x="0" y="0"/>
              <a:ext cx="6779619" cy="9591040"/>
              <a:chOff x="0" y="0"/>
              <a:chExt cx="6779619" cy="9591040"/>
            </a:xfrm>
          </p:grpSpPr>
          <p:pic>
            <p:nvPicPr>
              <p:cNvPr id="418" name="Google Shape;418;p22"/>
              <p:cNvPicPr preferRelativeResize="0"/>
              <p:nvPr/>
            </p:nvPicPr>
            <p:blipFill rotWithShape="1">
              <a:blip r:embed="rId3">
                <a:alphaModFix/>
              </a:blip>
              <a:srcRect b="3452" l="3025" r="4130" t="4979"/>
              <a:stretch/>
            </p:blipFill>
            <p:spPr>
              <a:xfrm>
                <a:off x="0" y="0"/>
                <a:ext cx="4984291" cy="6353298"/>
              </a:xfrm>
              <a:prstGeom prst="rect">
                <a:avLst/>
              </a:prstGeom>
              <a:noFill/>
              <a:ln>
                <a:noFill/>
              </a:ln>
            </p:spPr>
          </p:pic>
          <p:pic>
            <p:nvPicPr>
              <p:cNvPr id="419" name="Google Shape;419;p22"/>
              <p:cNvPicPr preferRelativeResize="0"/>
              <p:nvPr/>
            </p:nvPicPr>
            <p:blipFill rotWithShape="1">
              <a:blip r:embed="rId3">
                <a:alphaModFix/>
              </a:blip>
              <a:srcRect b="47240" l="3025" r="4130" t="5293"/>
              <a:stretch/>
            </p:blipFill>
            <p:spPr>
              <a:xfrm>
                <a:off x="0" y="6297642"/>
                <a:ext cx="4984291" cy="3293398"/>
              </a:xfrm>
              <a:prstGeom prst="rect">
                <a:avLst/>
              </a:prstGeom>
              <a:noFill/>
              <a:ln>
                <a:noFill/>
              </a:ln>
            </p:spPr>
          </p:pic>
          <p:pic>
            <p:nvPicPr>
              <p:cNvPr id="420" name="Google Shape;420;p22"/>
              <p:cNvPicPr preferRelativeResize="0"/>
              <p:nvPr/>
            </p:nvPicPr>
            <p:blipFill rotWithShape="1">
              <a:blip r:embed="rId3">
                <a:alphaModFix/>
              </a:blip>
              <a:srcRect b="43762" l="7910" r="58113" t="4980"/>
              <a:stretch/>
            </p:blipFill>
            <p:spPr>
              <a:xfrm>
                <a:off x="4955623" y="6024363"/>
                <a:ext cx="1823994" cy="3556517"/>
              </a:xfrm>
              <a:prstGeom prst="rect">
                <a:avLst/>
              </a:prstGeom>
              <a:noFill/>
              <a:ln>
                <a:noFill/>
              </a:ln>
            </p:spPr>
          </p:pic>
          <p:pic>
            <p:nvPicPr>
              <p:cNvPr id="421" name="Google Shape;421;p22"/>
              <p:cNvPicPr preferRelativeResize="0"/>
              <p:nvPr/>
            </p:nvPicPr>
            <p:blipFill rotWithShape="1">
              <a:blip r:embed="rId3">
                <a:alphaModFix/>
              </a:blip>
              <a:srcRect b="5410" l="7910" r="58113" t="5294"/>
              <a:stretch/>
            </p:blipFill>
            <p:spPr>
              <a:xfrm>
                <a:off x="4955623" y="21772"/>
                <a:ext cx="1823996" cy="6195686"/>
              </a:xfrm>
              <a:prstGeom prst="rect">
                <a:avLst/>
              </a:prstGeom>
              <a:noFill/>
              <a:ln>
                <a:noFill/>
              </a:ln>
            </p:spPr>
          </p:pic>
        </p:grpSp>
        <p:cxnSp>
          <p:nvCxnSpPr>
            <p:cNvPr id="422" name="Google Shape;422;p22"/>
            <p:cNvCxnSpPr/>
            <p:nvPr/>
          </p:nvCxnSpPr>
          <p:spPr>
            <a:xfrm flipH="1">
              <a:off x="3749040" y="16476"/>
              <a:ext cx="3175" cy="9564404"/>
            </a:xfrm>
            <a:prstGeom prst="straightConnector1">
              <a:avLst/>
            </a:prstGeom>
            <a:noFill/>
            <a:ln cap="flat" cmpd="sng" w="28575">
              <a:solidFill>
                <a:schemeClr val="accent1"/>
              </a:solidFill>
              <a:prstDash val="solid"/>
              <a:miter lim="800000"/>
              <a:headEnd len="sm" w="sm" type="none"/>
              <a:tailEnd len="sm" w="sm" type="none"/>
            </a:ln>
          </p:spPr>
        </p:cxnSp>
        <p:cxnSp>
          <p:nvCxnSpPr>
            <p:cNvPr id="423" name="Google Shape;423;p22"/>
            <p:cNvCxnSpPr/>
            <p:nvPr/>
          </p:nvCxnSpPr>
          <p:spPr>
            <a:xfrm flipH="1">
              <a:off x="3474720" y="16476"/>
              <a:ext cx="17897" cy="9574564"/>
            </a:xfrm>
            <a:prstGeom prst="straightConnector1">
              <a:avLst/>
            </a:prstGeom>
            <a:noFill/>
            <a:ln cap="flat" cmpd="sng" w="28575">
              <a:solidFill>
                <a:schemeClr val="accent1"/>
              </a:solidFill>
              <a:prstDash val="solid"/>
              <a:miter lim="800000"/>
              <a:headEnd len="sm" w="sm" type="none"/>
              <a:tailEnd len="sm" w="sm" type="none"/>
            </a:ln>
          </p:spPr>
        </p:cxnSp>
        <p:cxnSp>
          <p:nvCxnSpPr>
            <p:cNvPr id="424" name="Google Shape;424;p22"/>
            <p:cNvCxnSpPr/>
            <p:nvPr/>
          </p:nvCxnSpPr>
          <p:spPr>
            <a:xfrm>
              <a:off x="289103" y="24219"/>
              <a:ext cx="5537" cy="9566821"/>
            </a:xfrm>
            <a:prstGeom prst="straightConnector1">
              <a:avLst/>
            </a:prstGeom>
            <a:noFill/>
            <a:ln cap="flat" cmpd="sng" w="28575">
              <a:solidFill>
                <a:schemeClr val="accent1"/>
              </a:solidFill>
              <a:prstDash val="solid"/>
              <a:miter lim="800000"/>
              <a:headEnd len="sm" w="sm" type="none"/>
              <a:tailEnd len="sm" w="sm" type="none"/>
            </a:ln>
          </p:spPr>
        </p:cxnSp>
      </p:grpSp>
      <p:sp>
        <p:nvSpPr>
          <p:cNvPr id="425" name="Google Shape;425;p22"/>
          <p:cNvSpPr txBox="1"/>
          <p:nvPr>
            <p:ph idx="12" type="sldNum"/>
          </p:nvPr>
        </p:nvSpPr>
        <p:spPr>
          <a:xfrm>
            <a:off x="5357813" y="958012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3"/>
          <p:cNvSpPr txBox="1"/>
          <p:nvPr>
            <p:ph idx="12" type="sldNum"/>
          </p:nvPr>
        </p:nvSpPr>
        <p:spPr>
          <a:xfrm>
            <a:off x="5345414" y="953992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31" name="Google Shape;431;p23"/>
          <p:cNvSpPr txBox="1"/>
          <p:nvPr/>
        </p:nvSpPr>
        <p:spPr>
          <a:xfrm>
            <a:off x="0" y="160010"/>
            <a:ext cx="6858000" cy="338554"/>
          </a:xfrm>
          <a:prstGeom prst="rect">
            <a:avLst/>
          </a:prstGeom>
          <a:solidFill>
            <a:srgbClr val="7E234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Method Selection</a:t>
            </a:r>
            <a:endParaRPr b="1" i="0" sz="1600" u="none" cap="none" strike="noStrike">
              <a:solidFill>
                <a:srgbClr val="FFFFFF"/>
              </a:solidFill>
              <a:latin typeface="Calibri"/>
              <a:ea typeface="Calibri"/>
              <a:cs typeface="Calibri"/>
              <a:sym typeface="Calibri"/>
            </a:endParaRPr>
          </a:p>
        </p:txBody>
      </p:sp>
      <p:pic>
        <p:nvPicPr>
          <p:cNvPr id="432" name="Google Shape;432;p23"/>
          <p:cNvPicPr preferRelativeResize="0"/>
          <p:nvPr/>
        </p:nvPicPr>
        <p:blipFill rotWithShape="1">
          <a:blip r:embed="rId3">
            <a:alphaModFix/>
          </a:blip>
          <a:srcRect b="13565" l="0" r="2217" t="0"/>
          <a:stretch/>
        </p:blipFill>
        <p:spPr>
          <a:xfrm>
            <a:off x="832422" y="901192"/>
            <a:ext cx="5096900" cy="973489"/>
          </a:xfrm>
          <a:prstGeom prst="rect">
            <a:avLst/>
          </a:prstGeom>
          <a:noFill/>
          <a:ln>
            <a:noFill/>
          </a:ln>
        </p:spPr>
      </p:pic>
      <p:pic>
        <p:nvPicPr>
          <p:cNvPr id="433" name="Google Shape;433;p23"/>
          <p:cNvPicPr preferRelativeResize="0"/>
          <p:nvPr/>
        </p:nvPicPr>
        <p:blipFill rotWithShape="1">
          <a:blip r:embed="rId4">
            <a:alphaModFix/>
          </a:blip>
          <a:srcRect b="0" l="0" r="0" t="0"/>
          <a:stretch/>
        </p:blipFill>
        <p:spPr>
          <a:xfrm>
            <a:off x="397040" y="2664749"/>
            <a:ext cx="2695074" cy="2867917"/>
          </a:xfrm>
          <a:prstGeom prst="rect">
            <a:avLst/>
          </a:prstGeom>
          <a:noFill/>
          <a:ln>
            <a:noFill/>
          </a:ln>
        </p:spPr>
      </p:pic>
      <p:pic>
        <p:nvPicPr>
          <p:cNvPr id="434" name="Google Shape;434;p23"/>
          <p:cNvPicPr preferRelativeResize="0"/>
          <p:nvPr/>
        </p:nvPicPr>
        <p:blipFill rotWithShape="1">
          <a:blip r:embed="rId5">
            <a:alphaModFix/>
          </a:blip>
          <a:srcRect b="0" l="2658" r="4485" t="0"/>
          <a:stretch/>
        </p:blipFill>
        <p:spPr>
          <a:xfrm>
            <a:off x="3529740" y="2515171"/>
            <a:ext cx="3081361" cy="2197380"/>
          </a:xfrm>
          <a:prstGeom prst="rect">
            <a:avLst/>
          </a:prstGeom>
          <a:noFill/>
          <a:ln>
            <a:noFill/>
          </a:ln>
        </p:spPr>
      </p:pic>
      <p:graphicFrame>
        <p:nvGraphicFramePr>
          <p:cNvPr id="435" name="Google Shape;435;p23"/>
          <p:cNvGraphicFramePr/>
          <p:nvPr/>
        </p:nvGraphicFramePr>
        <p:xfrm>
          <a:off x="150643" y="543572"/>
          <a:ext cx="3000000" cy="3000000"/>
        </p:xfrm>
        <a:graphic>
          <a:graphicData uri="http://schemas.openxmlformats.org/drawingml/2006/table">
            <a:tbl>
              <a:tblPr bandRow="1" firstRow="1">
                <a:noFill/>
                <a:tableStyleId>{83881756-DB08-42B0-B75F-A2D31ED75187}</a:tableStyleId>
              </a:tblPr>
              <a:tblGrid>
                <a:gridCol w="3287500"/>
                <a:gridCol w="3287500"/>
              </a:tblGrid>
              <a:tr h="300950">
                <a:tc gridSpan="2">
                  <a:txBody>
                    <a:bodyPr/>
                    <a:lstStyle/>
                    <a:p>
                      <a:pPr indent="0" lvl="0" marL="0" marR="0" rtl="0" algn="l">
                        <a:lnSpc>
                          <a:spcPct val="100000"/>
                        </a:lnSpc>
                        <a:spcBef>
                          <a:spcPts val="0"/>
                        </a:spcBef>
                        <a:spcAft>
                          <a:spcPts val="0"/>
                        </a:spcAft>
                        <a:buClr>
                          <a:schemeClr val="dk1"/>
                        </a:buClr>
                        <a:buSzPts val="1350"/>
                        <a:buFont typeface="Calibri"/>
                        <a:buNone/>
                      </a:pPr>
                      <a:r>
                        <a:rPr b="1" lang="en-GB" sz="1350">
                          <a:solidFill>
                            <a:schemeClr val="dk1"/>
                          </a:solidFill>
                          <a:latin typeface="Calibri"/>
                          <a:ea typeface="Calibri"/>
                          <a:cs typeface="Calibri"/>
                          <a:sym typeface="Calibri"/>
                        </a:rPr>
                        <a:t>Unfamiliar Contexts (continued)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092575">
                <a:tc gridSpan="2">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13. </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458250">
                <a:tc>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14. Place the numbers in the correct places in the grid. In each puzzle, one square does not have any numbers in it. Put a cross in this square.</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15. Place a number in each box to satisfy the conditions stated for each </a:t>
                      </a:r>
                      <a:r>
                        <a:rPr b="1" lang="en-GB" sz="1200">
                          <a:solidFill>
                            <a:schemeClr val="dk1"/>
                          </a:solidFill>
                          <a:latin typeface="Calibri"/>
                          <a:ea typeface="Calibri"/>
                          <a:cs typeface="Calibri"/>
                          <a:sym typeface="Calibri"/>
                        </a:rPr>
                        <a:t>3-digit number</a:t>
                      </a:r>
                      <a:r>
                        <a:rPr b="0" lang="en-GB" sz="1200">
                          <a:solidFill>
                            <a:schemeClr val="dk1"/>
                          </a:solidFill>
                          <a:latin typeface="Calibri"/>
                          <a:ea typeface="Calibri"/>
                          <a:cs typeface="Calibri"/>
                          <a:sym typeface="Calibri"/>
                        </a:rPr>
                        <a:t>.</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865275">
                <a:tc gridSpan="2">
                  <a:txBody>
                    <a:bodyPr/>
                    <a:lstStyle/>
                    <a:p>
                      <a:pPr indent="0" lvl="0" marL="0" marR="0" rtl="0" algn="l">
                        <a:spcBef>
                          <a:spcPts val="0"/>
                        </a:spcBef>
                        <a:spcAft>
                          <a:spcPts val="0"/>
                        </a:spcAft>
                        <a:buNone/>
                      </a:pPr>
                      <a:r>
                        <a:rPr lang="en-GB" sz="1200"/>
                        <a:t>16. A rectangle has a width of 3cm and a height of 2cm. Draw a second rectangle so that the two rectangles have a mean area of 13cm</a:t>
                      </a:r>
                      <a:r>
                        <a:rPr baseline="30000" lang="en-GB" sz="1200"/>
                        <a:t>2</a:t>
                      </a:r>
                      <a:r>
                        <a:rPr lang="en-GB" sz="1200"/>
                        <a:t> and a median perimeter of 14cm.</a:t>
                      </a:r>
                      <a:endParaRPr baseline="30000"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1867400">
                <a:tc gridSpan="2">
                  <a:txBody>
                    <a:bodyPr/>
                    <a:lstStyle/>
                    <a:p>
                      <a:pPr indent="0" lvl="0" marL="0" marR="0" rtl="0" algn="l">
                        <a:lnSpc>
                          <a:spcPct val="100000"/>
                        </a:lnSpc>
                        <a:spcBef>
                          <a:spcPts val="0"/>
                        </a:spcBef>
                        <a:spcAft>
                          <a:spcPts val="0"/>
                        </a:spcAft>
                        <a:buClr>
                          <a:schemeClr val="dk1"/>
                        </a:buClr>
                        <a:buSzPts val="1200"/>
                        <a:buFont typeface="Calibri"/>
                        <a:buNone/>
                      </a:pPr>
                      <a:r>
                        <a:rPr b="0" i="0" lang="en-GB" sz="1200" u="none" cap="none" strike="noStrike">
                          <a:solidFill>
                            <a:schemeClr val="dk1"/>
                          </a:solidFill>
                          <a:latin typeface="Calibri"/>
                          <a:ea typeface="Calibri"/>
                          <a:cs typeface="Calibri"/>
                          <a:sym typeface="Calibri"/>
                        </a:rPr>
                        <a:t>17. Sausages are available in packs of 8. Buns are available in packs of 12. A caterer is instructed to barbecue enough hot dogs for 60 guests. Each guest consumes one hot dog (made up of one sausage and one bun). </a:t>
                      </a:r>
                      <a:r>
                        <a:rPr lang="en-GB" sz="1200">
                          <a:solidFill>
                            <a:schemeClr val="dk1"/>
                          </a:solidFill>
                          <a:latin typeface="Calibri"/>
                          <a:ea typeface="Calibri"/>
                          <a:cs typeface="Calibri"/>
                          <a:sym typeface="Calibri"/>
                        </a:rPr>
                        <a:t>The caterer buys an equal number of sausages and buns. Assuming all 60 guests have one hot dog each, what is the smallest number of hot dogs the caterer will have left over?</a:t>
                      </a:r>
                      <a:endParaRPr/>
                    </a:p>
                    <a:p>
                      <a:pPr indent="0" lvl="0" marL="0" marR="0" rtl="0" algn="l">
                        <a:lnSpc>
                          <a:spcPct val="150000"/>
                        </a:lnSpc>
                        <a:spcBef>
                          <a:spcPts val="80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50000"/>
                        </a:lnSpc>
                        <a:spcBef>
                          <a:spcPts val="80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bl>
          </a:graphicData>
        </a:graphic>
      </p:graphicFrame>
      <p:sp>
        <p:nvSpPr>
          <p:cNvPr id="436" name="Google Shape;436;p23"/>
          <p:cNvSpPr txBox="1"/>
          <p:nvPr/>
        </p:nvSpPr>
        <p:spPr>
          <a:xfrm>
            <a:off x="1768641" y="1140062"/>
            <a:ext cx="3124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&lt;</a:t>
            </a:r>
            <a:endParaRPr/>
          </a:p>
        </p:txBody>
      </p:sp>
      <p:sp>
        <p:nvSpPr>
          <p:cNvPr id="437" name="Google Shape;437;p23"/>
          <p:cNvSpPr txBox="1"/>
          <p:nvPr/>
        </p:nvSpPr>
        <p:spPr>
          <a:xfrm rot="10800000">
            <a:off x="1432154" y="1554402"/>
            <a:ext cx="3124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&lt;</a:t>
            </a:r>
            <a:endParaRPr/>
          </a:p>
        </p:txBody>
      </p:sp>
      <p:sp>
        <p:nvSpPr>
          <p:cNvPr id="438" name="Google Shape;438;p23"/>
          <p:cNvSpPr txBox="1"/>
          <p:nvPr/>
        </p:nvSpPr>
        <p:spPr>
          <a:xfrm rot="10800000">
            <a:off x="4850050" y="1175367"/>
            <a:ext cx="3124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&lt;</a:t>
            </a:r>
            <a:endParaRPr/>
          </a:p>
        </p:txBody>
      </p:sp>
      <p:sp>
        <p:nvSpPr>
          <p:cNvPr id="439" name="Google Shape;439;p23"/>
          <p:cNvSpPr txBox="1"/>
          <p:nvPr/>
        </p:nvSpPr>
        <p:spPr>
          <a:xfrm rot="10800000">
            <a:off x="5158071" y="1544699"/>
            <a:ext cx="3124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a:t>
            </a:r>
            <a:endParaRPr/>
          </a:p>
        </p:txBody>
      </p:sp>
      <p:sp>
        <p:nvSpPr>
          <p:cNvPr id="440" name="Google Shape;440;p23"/>
          <p:cNvSpPr txBox="1"/>
          <p:nvPr/>
        </p:nvSpPr>
        <p:spPr>
          <a:xfrm>
            <a:off x="1239262" y="3145325"/>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a:t>
            </a:r>
            <a:endParaRPr/>
          </a:p>
        </p:txBody>
      </p:sp>
      <p:sp>
        <p:nvSpPr>
          <p:cNvPr id="441" name="Google Shape;441;p23"/>
          <p:cNvSpPr txBox="1"/>
          <p:nvPr/>
        </p:nvSpPr>
        <p:spPr>
          <a:xfrm>
            <a:off x="1239261" y="3582979"/>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16</a:t>
            </a:r>
            <a:endParaRPr/>
          </a:p>
        </p:txBody>
      </p:sp>
      <p:sp>
        <p:nvSpPr>
          <p:cNvPr id="442" name="Google Shape;442;p23"/>
          <p:cNvSpPr txBox="1"/>
          <p:nvPr/>
        </p:nvSpPr>
        <p:spPr>
          <a:xfrm>
            <a:off x="1263326" y="4020633"/>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20</a:t>
            </a:r>
            <a:endParaRPr/>
          </a:p>
        </p:txBody>
      </p:sp>
      <p:sp>
        <p:nvSpPr>
          <p:cNvPr id="443" name="Google Shape;443;p23"/>
          <p:cNvSpPr txBox="1"/>
          <p:nvPr/>
        </p:nvSpPr>
        <p:spPr>
          <a:xfrm>
            <a:off x="1905276" y="3146761"/>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a:t>
            </a:r>
            <a:endParaRPr/>
          </a:p>
        </p:txBody>
      </p:sp>
      <p:sp>
        <p:nvSpPr>
          <p:cNvPr id="444" name="Google Shape;444;p23"/>
          <p:cNvSpPr txBox="1"/>
          <p:nvPr/>
        </p:nvSpPr>
        <p:spPr>
          <a:xfrm>
            <a:off x="1905276" y="4035855"/>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a:t>
            </a:r>
            <a:endParaRPr/>
          </a:p>
        </p:txBody>
      </p:sp>
      <p:sp>
        <p:nvSpPr>
          <p:cNvPr id="445" name="Google Shape;445;p23"/>
          <p:cNvSpPr txBox="1"/>
          <p:nvPr/>
        </p:nvSpPr>
        <p:spPr>
          <a:xfrm>
            <a:off x="2498695" y="3145325"/>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a:t>
            </a:r>
            <a:endParaRPr/>
          </a:p>
        </p:txBody>
      </p:sp>
      <p:sp>
        <p:nvSpPr>
          <p:cNvPr id="446" name="Google Shape;446;p23"/>
          <p:cNvSpPr txBox="1"/>
          <p:nvPr/>
        </p:nvSpPr>
        <p:spPr>
          <a:xfrm>
            <a:off x="2498695" y="3582979"/>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a:t>
            </a:r>
            <a:endParaRPr/>
          </a:p>
        </p:txBody>
      </p:sp>
      <p:sp>
        <p:nvSpPr>
          <p:cNvPr id="447" name="Google Shape;447;p23"/>
          <p:cNvSpPr txBox="1"/>
          <p:nvPr/>
        </p:nvSpPr>
        <p:spPr>
          <a:xfrm>
            <a:off x="2498694" y="4035855"/>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a:t>
            </a:r>
            <a:endParaRPr/>
          </a:p>
        </p:txBody>
      </p:sp>
      <p:sp>
        <p:nvSpPr>
          <p:cNvPr id="448" name="Google Shape;448;p23"/>
          <p:cNvSpPr txBox="1"/>
          <p:nvPr/>
        </p:nvSpPr>
        <p:spPr>
          <a:xfrm>
            <a:off x="1905275" y="3578129"/>
            <a:ext cx="5053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X</a:t>
            </a:r>
            <a:endParaRPr/>
          </a:p>
        </p:txBody>
      </p:sp>
      <p:sp>
        <p:nvSpPr>
          <p:cNvPr id="449" name="Google Shape;449;p23"/>
          <p:cNvSpPr txBox="1"/>
          <p:nvPr/>
        </p:nvSpPr>
        <p:spPr>
          <a:xfrm>
            <a:off x="3653728" y="3244529"/>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 4 or 8</a:t>
            </a:r>
            <a:endParaRPr/>
          </a:p>
        </p:txBody>
      </p:sp>
      <p:sp>
        <p:nvSpPr>
          <p:cNvPr id="450" name="Google Shape;450;p23"/>
          <p:cNvSpPr txBox="1"/>
          <p:nvPr/>
        </p:nvSpPr>
        <p:spPr>
          <a:xfrm>
            <a:off x="3787400" y="4572893"/>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 or 5</a:t>
            </a:r>
            <a:endParaRPr/>
          </a:p>
        </p:txBody>
      </p:sp>
      <p:sp>
        <p:nvSpPr>
          <p:cNvPr id="451" name="Google Shape;451;p23"/>
          <p:cNvSpPr txBox="1"/>
          <p:nvPr/>
        </p:nvSpPr>
        <p:spPr>
          <a:xfrm>
            <a:off x="5444500" y="2604888"/>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a:t>
            </a:r>
            <a:endParaRPr/>
          </a:p>
        </p:txBody>
      </p:sp>
      <p:sp>
        <p:nvSpPr>
          <p:cNvPr id="452" name="Google Shape;452;p23"/>
          <p:cNvSpPr txBox="1"/>
          <p:nvPr/>
        </p:nvSpPr>
        <p:spPr>
          <a:xfrm>
            <a:off x="6246302" y="2604888"/>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a:t>
            </a:r>
            <a:endParaRPr/>
          </a:p>
        </p:txBody>
      </p:sp>
      <p:sp>
        <p:nvSpPr>
          <p:cNvPr id="453" name="Google Shape;453;p23"/>
          <p:cNvSpPr txBox="1"/>
          <p:nvPr/>
        </p:nvSpPr>
        <p:spPr>
          <a:xfrm>
            <a:off x="6238378" y="3914041"/>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0</a:t>
            </a:r>
            <a:endParaRPr/>
          </a:p>
        </p:txBody>
      </p:sp>
      <p:sp>
        <p:nvSpPr>
          <p:cNvPr id="454" name="Google Shape;454;p23"/>
          <p:cNvSpPr txBox="1"/>
          <p:nvPr/>
        </p:nvSpPr>
        <p:spPr>
          <a:xfrm>
            <a:off x="5548451" y="4666204"/>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6 or 9</a:t>
            </a:r>
            <a:endParaRPr/>
          </a:p>
        </p:txBody>
      </p:sp>
      <p:cxnSp>
        <p:nvCxnSpPr>
          <p:cNvPr id="455" name="Google Shape;455;p23"/>
          <p:cNvCxnSpPr/>
          <p:nvPr/>
        </p:nvCxnSpPr>
        <p:spPr>
          <a:xfrm rot="10800000">
            <a:off x="5548451" y="4205299"/>
            <a:ext cx="94360" cy="507252"/>
          </a:xfrm>
          <a:prstGeom prst="straightConnector1">
            <a:avLst/>
          </a:prstGeom>
          <a:noFill/>
          <a:ln cap="flat" cmpd="sng" w="9525">
            <a:solidFill>
              <a:srgbClr val="FF0000"/>
            </a:solidFill>
            <a:prstDash val="solid"/>
            <a:miter lim="800000"/>
            <a:headEnd len="sm" w="sm" type="none"/>
            <a:tailEnd len="med" w="med" type="triangle"/>
          </a:ln>
        </p:spPr>
      </p:cxnSp>
      <p:grpSp>
        <p:nvGrpSpPr>
          <p:cNvPr id="456" name="Google Shape;456;p23"/>
          <p:cNvGrpSpPr/>
          <p:nvPr/>
        </p:nvGrpSpPr>
        <p:grpSpPr>
          <a:xfrm>
            <a:off x="403522" y="6446046"/>
            <a:ext cx="2057262" cy="1038844"/>
            <a:chOff x="407175" y="6340292"/>
            <a:chExt cx="2057262" cy="1038844"/>
          </a:xfrm>
        </p:grpSpPr>
        <p:sp>
          <p:nvSpPr>
            <p:cNvPr id="457" name="Google Shape;457;p23"/>
            <p:cNvSpPr/>
            <p:nvPr/>
          </p:nvSpPr>
          <p:spPr>
            <a:xfrm>
              <a:off x="407175" y="6709624"/>
              <a:ext cx="1468352" cy="669512"/>
            </a:xfrm>
            <a:prstGeom prst="rect">
              <a:avLst/>
            </a:prstGeom>
            <a:solidFill>
              <a:schemeClr val="lt1"/>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23"/>
            <p:cNvSpPr txBox="1"/>
            <p:nvPr/>
          </p:nvSpPr>
          <p:spPr>
            <a:xfrm>
              <a:off x="849444" y="6340292"/>
              <a:ext cx="5838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5cm</a:t>
              </a:r>
              <a:endParaRPr/>
            </a:p>
          </p:txBody>
        </p:sp>
        <p:sp>
          <p:nvSpPr>
            <p:cNvPr id="459" name="Google Shape;459;p23"/>
            <p:cNvSpPr txBox="1"/>
            <p:nvPr/>
          </p:nvSpPr>
          <p:spPr>
            <a:xfrm>
              <a:off x="1880623" y="6859714"/>
              <a:ext cx="5838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4cm</a:t>
              </a:r>
              <a:endParaRPr/>
            </a:p>
          </p:txBody>
        </p:sp>
      </p:grpSp>
      <p:sp>
        <p:nvSpPr>
          <p:cNvPr id="460" name="Google Shape;460;p23"/>
          <p:cNvSpPr txBox="1"/>
          <p:nvPr/>
        </p:nvSpPr>
        <p:spPr>
          <a:xfrm>
            <a:off x="397040" y="8767602"/>
            <a:ext cx="12320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12 hotdogs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grpSp>
        <p:nvGrpSpPr>
          <p:cNvPr id="465" name="Google Shape;465;p24"/>
          <p:cNvGrpSpPr/>
          <p:nvPr/>
        </p:nvGrpSpPr>
        <p:grpSpPr>
          <a:xfrm>
            <a:off x="0" y="0"/>
            <a:ext cx="6779619" cy="9591040"/>
            <a:chOff x="0" y="0"/>
            <a:chExt cx="6779619" cy="9591040"/>
          </a:xfrm>
        </p:grpSpPr>
        <p:grpSp>
          <p:nvGrpSpPr>
            <p:cNvPr id="466" name="Google Shape;466;p24"/>
            <p:cNvGrpSpPr/>
            <p:nvPr/>
          </p:nvGrpSpPr>
          <p:grpSpPr>
            <a:xfrm>
              <a:off x="0" y="0"/>
              <a:ext cx="6779619" cy="9591040"/>
              <a:chOff x="0" y="0"/>
              <a:chExt cx="6779619" cy="9591040"/>
            </a:xfrm>
          </p:grpSpPr>
          <p:pic>
            <p:nvPicPr>
              <p:cNvPr id="467" name="Google Shape;467;p24"/>
              <p:cNvPicPr preferRelativeResize="0"/>
              <p:nvPr/>
            </p:nvPicPr>
            <p:blipFill rotWithShape="1">
              <a:blip r:embed="rId3">
                <a:alphaModFix/>
              </a:blip>
              <a:srcRect b="3452" l="3025" r="4130" t="4979"/>
              <a:stretch/>
            </p:blipFill>
            <p:spPr>
              <a:xfrm>
                <a:off x="0" y="0"/>
                <a:ext cx="4984291" cy="6353298"/>
              </a:xfrm>
              <a:prstGeom prst="rect">
                <a:avLst/>
              </a:prstGeom>
              <a:noFill/>
              <a:ln>
                <a:noFill/>
              </a:ln>
            </p:spPr>
          </p:pic>
          <p:pic>
            <p:nvPicPr>
              <p:cNvPr id="468" name="Google Shape;468;p24"/>
              <p:cNvPicPr preferRelativeResize="0"/>
              <p:nvPr/>
            </p:nvPicPr>
            <p:blipFill rotWithShape="1">
              <a:blip r:embed="rId3">
                <a:alphaModFix/>
              </a:blip>
              <a:srcRect b="47240" l="3025" r="4130" t="5293"/>
              <a:stretch/>
            </p:blipFill>
            <p:spPr>
              <a:xfrm>
                <a:off x="0" y="6297642"/>
                <a:ext cx="4984291" cy="3293398"/>
              </a:xfrm>
              <a:prstGeom prst="rect">
                <a:avLst/>
              </a:prstGeom>
              <a:noFill/>
              <a:ln>
                <a:noFill/>
              </a:ln>
            </p:spPr>
          </p:pic>
          <p:pic>
            <p:nvPicPr>
              <p:cNvPr id="469" name="Google Shape;469;p24"/>
              <p:cNvPicPr preferRelativeResize="0"/>
              <p:nvPr/>
            </p:nvPicPr>
            <p:blipFill rotWithShape="1">
              <a:blip r:embed="rId3">
                <a:alphaModFix/>
              </a:blip>
              <a:srcRect b="43762" l="7910" r="58113" t="4980"/>
              <a:stretch/>
            </p:blipFill>
            <p:spPr>
              <a:xfrm>
                <a:off x="4955623" y="6024363"/>
                <a:ext cx="1823994" cy="3556517"/>
              </a:xfrm>
              <a:prstGeom prst="rect">
                <a:avLst/>
              </a:prstGeom>
              <a:noFill/>
              <a:ln>
                <a:noFill/>
              </a:ln>
            </p:spPr>
          </p:pic>
          <p:pic>
            <p:nvPicPr>
              <p:cNvPr id="470" name="Google Shape;470;p24"/>
              <p:cNvPicPr preferRelativeResize="0"/>
              <p:nvPr/>
            </p:nvPicPr>
            <p:blipFill rotWithShape="1">
              <a:blip r:embed="rId3">
                <a:alphaModFix/>
              </a:blip>
              <a:srcRect b="5410" l="7910" r="58113" t="5294"/>
              <a:stretch/>
            </p:blipFill>
            <p:spPr>
              <a:xfrm>
                <a:off x="4955623" y="21772"/>
                <a:ext cx="1823996" cy="6195686"/>
              </a:xfrm>
              <a:prstGeom prst="rect">
                <a:avLst/>
              </a:prstGeom>
              <a:noFill/>
              <a:ln>
                <a:noFill/>
              </a:ln>
            </p:spPr>
          </p:pic>
        </p:grpSp>
        <p:cxnSp>
          <p:nvCxnSpPr>
            <p:cNvPr id="471" name="Google Shape;471;p24"/>
            <p:cNvCxnSpPr/>
            <p:nvPr/>
          </p:nvCxnSpPr>
          <p:spPr>
            <a:xfrm flipH="1">
              <a:off x="3749040" y="16476"/>
              <a:ext cx="3175" cy="9564404"/>
            </a:xfrm>
            <a:prstGeom prst="straightConnector1">
              <a:avLst/>
            </a:prstGeom>
            <a:noFill/>
            <a:ln cap="flat" cmpd="sng" w="28575">
              <a:solidFill>
                <a:schemeClr val="accent1"/>
              </a:solidFill>
              <a:prstDash val="solid"/>
              <a:miter lim="800000"/>
              <a:headEnd len="sm" w="sm" type="none"/>
              <a:tailEnd len="sm" w="sm" type="none"/>
            </a:ln>
          </p:spPr>
        </p:cxnSp>
        <p:cxnSp>
          <p:nvCxnSpPr>
            <p:cNvPr id="472" name="Google Shape;472;p24"/>
            <p:cNvCxnSpPr/>
            <p:nvPr/>
          </p:nvCxnSpPr>
          <p:spPr>
            <a:xfrm flipH="1">
              <a:off x="3474720" y="16476"/>
              <a:ext cx="17897" cy="9574564"/>
            </a:xfrm>
            <a:prstGeom prst="straightConnector1">
              <a:avLst/>
            </a:prstGeom>
            <a:noFill/>
            <a:ln cap="flat" cmpd="sng" w="28575">
              <a:solidFill>
                <a:schemeClr val="accent1"/>
              </a:solidFill>
              <a:prstDash val="solid"/>
              <a:miter lim="800000"/>
              <a:headEnd len="sm" w="sm" type="none"/>
              <a:tailEnd len="sm" w="sm" type="none"/>
            </a:ln>
          </p:spPr>
        </p:cxnSp>
        <p:cxnSp>
          <p:nvCxnSpPr>
            <p:cNvPr id="473" name="Google Shape;473;p24"/>
            <p:cNvCxnSpPr/>
            <p:nvPr/>
          </p:nvCxnSpPr>
          <p:spPr>
            <a:xfrm>
              <a:off x="289103" y="24219"/>
              <a:ext cx="5537" cy="9566821"/>
            </a:xfrm>
            <a:prstGeom prst="straightConnector1">
              <a:avLst/>
            </a:prstGeom>
            <a:noFill/>
            <a:ln cap="flat" cmpd="sng" w="28575">
              <a:solidFill>
                <a:schemeClr val="accent1"/>
              </a:solidFill>
              <a:prstDash val="solid"/>
              <a:miter lim="800000"/>
              <a:headEnd len="sm" w="sm" type="none"/>
              <a:tailEnd len="sm" w="sm" type="none"/>
            </a:ln>
          </p:spPr>
        </p:cxnSp>
      </p:grpSp>
      <p:sp>
        <p:nvSpPr>
          <p:cNvPr id="474" name="Google Shape;474;p24"/>
          <p:cNvSpPr txBox="1"/>
          <p:nvPr>
            <p:ph idx="12" type="sldNum"/>
          </p:nvPr>
        </p:nvSpPr>
        <p:spPr>
          <a:xfrm>
            <a:off x="5357813" y="958012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5"/>
          <p:cNvSpPr txBox="1"/>
          <p:nvPr>
            <p:ph idx="12" type="sldNum"/>
          </p:nvPr>
        </p:nvSpPr>
        <p:spPr>
          <a:xfrm>
            <a:off x="5345414" y="953992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480" name="Google Shape;480;p25"/>
          <p:cNvSpPr txBox="1"/>
          <p:nvPr/>
        </p:nvSpPr>
        <p:spPr>
          <a:xfrm>
            <a:off x="0" y="160010"/>
            <a:ext cx="6858000" cy="338554"/>
          </a:xfrm>
          <a:prstGeom prst="rect">
            <a:avLst/>
          </a:prstGeom>
          <a:solidFill>
            <a:srgbClr val="7E234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Method Selection</a:t>
            </a:r>
            <a:endParaRPr b="1" i="0" sz="1600" u="none" cap="none" strike="noStrike">
              <a:solidFill>
                <a:srgbClr val="FFFFFF"/>
              </a:solidFill>
              <a:latin typeface="Calibri"/>
              <a:ea typeface="Calibri"/>
              <a:cs typeface="Calibri"/>
              <a:sym typeface="Calibri"/>
            </a:endParaRPr>
          </a:p>
        </p:txBody>
      </p:sp>
      <p:graphicFrame>
        <p:nvGraphicFramePr>
          <p:cNvPr id="481" name="Google Shape;481;p25"/>
          <p:cNvGraphicFramePr/>
          <p:nvPr/>
        </p:nvGraphicFramePr>
        <p:xfrm>
          <a:off x="150643" y="543573"/>
          <a:ext cx="3000000" cy="3000000"/>
        </p:xfrm>
        <a:graphic>
          <a:graphicData uri="http://schemas.openxmlformats.org/drawingml/2006/table">
            <a:tbl>
              <a:tblPr bandRow="1" firstRow="1">
                <a:noFill/>
                <a:tableStyleId>{83881756-DB08-42B0-B75F-A2D31ED75187}</a:tableStyleId>
              </a:tblPr>
              <a:tblGrid>
                <a:gridCol w="3287500"/>
                <a:gridCol w="3287500"/>
              </a:tblGrid>
              <a:tr h="286475">
                <a:tc gridSpan="2">
                  <a:txBody>
                    <a:bodyPr/>
                    <a:lstStyle/>
                    <a:p>
                      <a:pPr indent="0" lvl="0" marL="0" marR="0" rtl="0" algn="l">
                        <a:lnSpc>
                          <a:spcPct val="100000"/>
                        </a:lnSpc>
                        <a:spcBef>
                          <a:spcPts val="0"/>
                        </a:spcBef>
                        <a:spcAft>
                          <a:spcPts val="0"/>
                        </a:spcAft>
                        <a:buClr>
                          <a:schemeClr val="dk1"/>
                        </a:buClr>
                        <a:buSzPts val="1350"/>
                        <a:buFont typeface="Calibri"/>
                        <a:buNone/>
                      </a:pPr>
                      <a:r>
                        <a:rPr b="1" lang="en-GB" sz="1350">
                          <a:solidFill>
                            <a:schemeClr val="dk1"/>
                          </a:solidFill>
                          <a:latin typeface="Calibri"/>
                          <a:ea typeface="Calibri"/>
                          <a:cs typeface="Calibri"/>
                          <a:sym typeface="Calibri"/>
                        </a:rPr>
                        <a:t>Unfamiliar Contexts (continued)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2749925">
                <a:tc>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18. This rectangle and parallelogram have the same area. Work out the length marked ‘?’.</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19. The area of the triangle is 3 times bigger than the area of the parallelogram. Work out x.</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74675">
                <a:tc gridSpan="2">
                  <a:txBody>
                    <a:bodyPr/>
                    <a:lstStyle/>
                    <a:p>
                      <a:pPr indent="0" lvl="0" marL="0" marR="0" rtl="0" algn="l">
                        <a:lnSpc>
                          <a:spcPct val="107000"/>
                        </a:lnSpc>
                        <a:spcBef>
                          <a:spcPts val="0"/>
                        </a:spcBef>
                        <a:spcAft>
                          <a:spcPts val="0"/>
                        </a:spcAft>
                        <a:buClr>
                          <a:schemeClr val="dk1"/>
                        </a:buClr>
                        <a:buSzPts val="1200"/>
                        <a:buFont typeface="Calibri"/>
                        <a:buNone/>
                      </a:pPr>
                      <a:r>
                        <a:rPr b="0" lang="en-GB" sz="1200">
                          <a:solidFill>
                            <a:schemeClr val="dk1"/>
                          </a:solidFill>
                          <a:latin typeface="Calibri"/>
                          <a:ea typeface="Calibri"/>
                          <a:cs typeface="Calibri"/>
                          <a:sym typeface="Calibri"/>
                        </a:rPr>
                        <a:t>20. These shapes all have the same area. Calculate the missing dimensions.</a:t>
                      </a:r>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200"/>
                        <a:buFont typeface="Calibri"/>
                        <a:buNone/>
                      </a:pPr>
                      <a:r>
                        <a:t/>
                      </a:r>
                      <a:endParaRPr b="0" sz="1200">
                        <a:solidFill>
                          <a:schemeClr val="dk1"/>
                        </a:solidFill>
                        <a:latin typeface="Calibri"/>
                        <a:ea typeface="Calibri"/>
                        <a:cs typeface="Calibri"/>
                        <a:sym typeface="Calibri"/>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640275">
                <a:tc gridSpan="2">
                  <a:txBody>
                    <a:bodyPr/>
                    <a:lstStyle/>
                    <a:p>
                      <a:pPr indent="0" lvl="0" marL="0" marR="0" rtl="0" algn="l">
                        <a:spcBef>
                          <a:spcPts val="0"/>
                        </a:spcBef>
                        <a:spcAft>
                          <a:spcPts val="0"/>
                        </a:spcAft>
                        <a:buNone/>
                      </a:pPr>
                      <a:r>
                        <a:t/>
                      </a:r>
                      <a:endParaRPr baseline="30000"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bl>
          </a:graphicData>
        </a:graphic>
      </p:graphicFrame>
      <p:pic>
        <p:nvPicPr>
          <p:cNvPr id="482" name="Google Shape;482;p25"/>
          <p:cNvPicPr preferRelativeResize="0"/>
          <p:nvPr/>
        </p:nvPicPr>
        <p:blipFill rotWithShape="1">
          <a:blip r:embed="rId3">
            <a:alphaModFix/>
          </a:blip>
          <a:srcRect b="0" l="50968" r="0" t="0"/>
          <a:stretch/>
        </p:blipFill>
        <p:spPr>
          <a:xfrm>
            <a:off x="360948" y="1299471"/>
            <a:ext cx="2768923" cy="1046687"/>
          </a:xfrm>
          <a:prstGeom prst="rect">
            <a:avLst/>
          </a:prstGeom>
          <a:noFill/>
          <a:ln>
            <a:noFill/>
          </a:ln>
        </p:spPr>
      </p:pic>
      <p:pic>
        <p:nvPicPr>
          <p:cNvPr id="483" name="Google Shape;483;p25"/>
          <p:cNvPicPr preferRelativeResize="0"/>
          <p:nvPr/>
        </p:nvPicPr>
        <p:blipFill rotWithShape="1">
          <a:blip r:embed="rId4">
            <a:alphaModFix/>
          </a:blip>
          <a:srcRect b="0" l="9428" r="61098" t="41872"/>
          <a:stretch/>
        </p:blipFill>
        <p:spPr>
          <a:xfrm>
            <a:off x="3450179" y="1378817"/>
            <a:ext cx="1617283" cy="887992"/>
          </a:xfrm>
          <a:prstGeom prst="rect">
            <a:avLst/>
          </a:prstGeom>
          <a:noFill/>
          <a:ln>
            <a:noFill/>
          </a:ln>
        </p:spPr>
      </p:pic>
      <p:pic>
        <p:nvPicPr>
          <p:cNvPr id="484" name="Google Shape;484;p25"/>
          <p:cNvPicPr preferRelativeResize="0"/>
          <p:nvPr/>
        </p:nvPicPr>
        <p:blipFill rotWithShape="1">
          <a:blip r:embed="rId5">
            <a:alphaModFix/>
          </a:blip>
          <a:srcRect b="0" l="0" r="0" t="22904"/>
          <a:stretch/>
        </p:blipFill>
        <p:spPr>
          <a:xfrm>
            <a:off x="668003" y="3909344"/>
            <a:ext cx="5299662" cy="1475437"/>
          </a:xfrm>
          <a:prstGeom prst="rect">
            <a:avLst/>
          </a:prstGeom>
          <a:noFill/>
          <a:ln>
            <a:noFill/>
          </a:ln>
        </p:spPr>
      </p:pic>
      <p:pic>
        <p:nvPicPr>
          <p:cNvPr id="485" name="Google Shape;485;p25"/>
          <p:cNvPicPr preferRelativeResize="0"/>
          <p:nvPr/>
        </p:nvPicPr>
        <p:blipFill rotWithShape="1">
          <a:blip r:embed="rId4">
            <a:alphaModFix/>
          </a:blip>
          <a:srcRect b="0" l="47937" r="19935" t="41872"/>
          <a:stretch/>
        </p:blipFill>
        <p:spPr>
          <a:xfrm>
            <a:off x="5087734" y="1424462"/>
            <a:ext cx="1617283" cy="814619"/>
          </a:xfrm>
          <a:prstGeom prst="rect">
            <a:avLst/>
          </a:prstGeom>
          <a:noFill/>
          <a:ln>
            <a:noFill/>
          </a:ln>
        </p:spPr>
      </p:pic>
      <p:sp>
        <p:nvSpPr>
          <p:cNvPr id="486" name="Google Shape;486;p25"/>
          <p:cNvSpPr txBox="1"/>
          <p:nvPr/>
        </p:nvSpPr>
        <p:spPr>
          <a:xfrm>
            <a:off x="1430652" y="2778854"/>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4cm</a:t>
            </a:r>
            <a:endParaRPr/>
          </a:p>
        </p:txBody>
      </p:sp>
      <p:sp>
        <p:nvSpPr>
          <p:cNvPr id="487" name="Google Shape;487;p25"/>
          <p:cNvSpPr txBox="1"/>
          <p:nvPr/>
        </p:nvSpPr>
        <p:spPr>
          <a:xfrm>
            <a:off x="4814089" y="2778854"/>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1.5cm</a:t>
            </a:r>
            <a:endParaRPr/>
          </a:p>
        </p:txBody>
      </p:sp>
      <p:sp>
        <p:nvSpPr>
          <p:cNvPr id="488" name="Google Shape;488;p25"/>
          <p:cNvSpPr/>
          <p:nvPr/>
        </p:nvSpPr>
        <p:spPr>
          <a:xfrm>
            <a:off x="543542" y="5471458"/>
            <a:ext cx="1269081" cy="405526"/>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a = </a:t>
            </a:r>
            <a:endParaRPr/>
          </a:p>
        </p:txBody>
      </p:sp>
      <p:sp>
        <p:nvSpPr>
          <p:cNvPr id="489" name="Google Shape;489;p25"/>
          <p:cNvSpPr/>
          <p:nvPr/>
        </p:nvSpPr>
        <p:spPr>
          <a:xfrm>
            <a:off x="2815638" y="5471458"/>
            <a:ext cx="1269081" cy="405526"/>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b = </a:t>
            </a:r>
            <a:endParaRPr/>
          </a:p>
        </p:txBody>
      </p:sp>
      <p:sp>
        <p:nvSpPr>
          <p:cNvPr id="490" name="Google Shape;490;p25"/>
          <p:cNvSpPr/>
          <p:nvPr/>
        </p:nvSpPr>
        <p:spPr>
          <a:xfrm>
            <a:off x="5087734" y="5459023"/>
            <a:ext cx="1269081" cy="405526"/>
          </a:xfrm>
          <a:prstGeom prst="rect">
            <a:avLst/>
          </a:prstGeom>
          <a:solidFill>
            <a:schemeClr val="lt1"/>
          </a:solid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c = </a:t>
            </a:r>
            <a:endParaRPr/>
          </a:p>
        </p:txBody>
      </p:sp>
      <p:sp>
        <p:nvSpPr>
          <p:cNvPr id="491" name="Google Shape;491;p25"/>
          <p:cNvSpPr txBox="1"/>
          <p:nvPr/>
        </p:nvSpPr>
        <p:spPr>
          <a:xfrm>
            <a:off x="934391" y="5477120"/>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4.5cm</a:t>
            </a:r>
            <a:endParaRPr/>
          </a:p>
        </p:txBody>
      </p:sp>
      <p:sp>
        <p:nvSpPr>
          <p:cNvPr id="492" name="Google Shape;492;p25"/>
          <p:cNvSpPr txBox="1"/>
          <p:nvPr/>
        </p:nvSpPr>
        <p:spPr>
          <a:xfrm>
            <a:off x="3206487" y="5488444"/>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7cm</a:t>
            </a:r>
            <a:endParaRPr/>
          </a:p>
        </p:txBody>
      </p:sp>
      <p:sp>
        <p:nvSpPr>
          <p:cNvPr id="493" name="Google Shape;493;p25"/>
          <p:cNvSpPr txBox="1"/>
          <p:nvPr/>
        </p:nvSpPr>
        <p:spPr>
          <a:xfrm>
            <a:off x="5478583" y="5471458"/>
            <a:ext cx="10626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8cm</a:t>
            </a:r>
            <a:endParaRPr/>
          </a:p>
        </p:txBody>
      </p:sp>
      <p:grpSp>
        <p:nvGrpSpPr>
          <p:cNvPr id="494" name="Google Shape;494;p25"/>
          <p:cNvGrpSpPr/>
          <p:nvPr/>
        </p:nvGrpSpPr>
        <p:grpSpPr>
          <a:xfrm>
            <a:off x="4677791" y="3939818"/>
            <a:ext cx="1335246" cy="1472274"/>
            <a:chOff x="4677791" y="3939818"/>
            <a:chExt cx="1335246" cy="1472274"/>
          </a:xfrm>
        </p:grpSpPr>
        <p:grpSp>
          <p:nvGrpSpPr>
            <p:cNvPr id="495" name="Google Shape;495;p25"/>
            <p:cNvGrpSpPr/>
            <p:nvPr/>
          </p:nvGrpSpPr>
          <p:grpSpPr>
            <a:xfrm>
              <a:off x="4677791" y="3939818"/>
              <a:ext cx="1335246" cy="1408684"/>
              <a:chOff x="4677791" y="3939818"/>
              <a:chExt cx="1335246" cy="1408684"/>
            </a:xfrm>
          </p:grpSpPr>
          <p:sp>
            <p:nvSpPr>
              <p:cNvPr id="496" name="Google Shape;496;p25"/>
              <p:cNvSpPr/>
              <p:nvPr/>
            </p:nvSpPr>
            <p:spPr>
              <a:xfrm>
                <a:off x="4677791" y="3939818"/>
                <a:ext cx="1335246" cy="1408684"/>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7" name="Google Shape;497;p25"/>
              <p:cNvSpPr/>
              <p:nvPr/>
            </p:nvSpPr>
            <p:spPr>
              <a:xfrm>
                <a:off x="5087734" y="4283242"/>
                <a:ext cx="912345" cy="936661"/>
              </a:xfrm>
              <a:prstGeom prst="corner">
                <a:avLst>
                  <a:gd fmla="val 50000" name="adj1"/>
                  <a:gd fmla="val 50000" name="adj2"/>
                </a:avLst>
              </a:prstGeom>
              <a:solidFill>
                <a:srgbClr val="E1F6FE"/>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8" name="Google Shape;498;p25"/>
              <p:cNvSpPr/>
              <p:nvPr/>
            </p:nvSpPr>
            <p:spPr>
              <a:xfrm>
                <a:off x="5087734" y="5085050"/>
                <a:ext cx="134232" cy="136271"/>
              </a:xfrm>
              <a:prstGeom prst="rect">
                <a:avLst/>
              </a:prstGeom>
              <a:solidFill>
                <a:srgbClr val="E1F6FE"/>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9" name="Google Shape;499;p25"/>
              <p:cNvSpPr/>
              <p:nvPr/>
            </p:nvSpPr>
            <p:spPr>
              <a:xfrm>
                <a:off x="5087734" y="4284351"/>
                <a:ext cx="134232" cy="136271"/>
              </a:xfrm>
              <a:prstGeom prst="rect">
                <a:avLst/>
              </a:prstGeom>
              <a:solidFill>
                <a:srgbClr val="E1F6FE"/>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0" name="Google Shape;500;p25"/>
              <p:cNvSpPr/>
              <p:nvPr/>
            </p:nvSpPr>
            <p:spPr>
              <a:xfrm>
                <a:off x="5411718" y="4284350"/>
                <a:ext cx="134232" cy="136271"/>
              </a:xfrm>
              <a:prstGeom prst="rect">
                <a:avLst/>
              </a:prstGeom>
              <a:solidFill>
                <a:srgbClr val="E1F6FE"/>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1" name="Google Shape;501;p25"/>
              <p:cNvSpPr/>
              <p:nvPr/>
            </p:nvSpPr>
            <p:spPr>
              <a:xfrm>
                <a:off x="5868819" y="5083632"/>
                <a:ext cx="134232" cy="136271"/>
              </a:xfrm>
              <a:prstGeom prst="rect">
                <a:avLst/>
              </a:prstGeom>
              <a:solidFill>
                <a:srgbClr val="E1F6FE"/>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 name="Google Shape;502;p25"/>
              <p:cNvSpPr/>
              <p:nvPr/>
            </p:nvSpPr>
            <p:spPr>
              <a:xfrm>
                <a:off x="5865847" y="4764565"/>
                <a:ext cx="134232" cy="136271"/>
              </a:xfrm>
              <a:prstGeom prst="rect">
                <a:avLst/>
              </a:prstGeom>
              <a:solidFill>
                <a:srgbClr val="E1F6FE"/>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25"/>
              <p:cNvSpPr txBox="1"/>
              <p:nvPr/>
            </p:nvSpPr>
            <p:spPr>
              <a:xfrm>
                <a:off x="4702482" y="4632431"/>
                <a:ext cx="4523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6cm</a:t>
                </a:r>
                <a:endParaRPr/>
              </a:p>
            </p:txBody>
          </p:sp>
          <p:sp>
            <p:nvSpPr>
              <p:cNvPr id="504" name="Google Shape;504;p25"/>
              <p:cNvSpPr txBox="1"/>
              <p:nvPr/>
            </p:nvSpPr>
            <p:spPr>
              <a:xfrm>
                <a:off x="5094084" y="4070500"/>
                <a:ext cx="4523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4cm</a:t>
                </a:r>
                <a:endParaRPr/>
              </a:p>
            </p:txBody>
          </p:sp>
          <p:sp>
            <p:nvSpPr>
              <p:cNvPr id="505" name="Google Shape;505;p25"/>
              <p:cNvSpPr txBox="1"/>
              <p:nvPr/>
            </p:nvSpPr>
            <p:spPr>
              <a:xfrm>
                <a:off x="5470867" y="4413324"/>
                <a:ext cx="4523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3cm</a:t>
                </a:r>
                <a:endParaRPr/>
              </a:p>
            </p:txBody>
          </p:sp>
        </p:grpSp>
        <p:sp>
          <p:nvSpPr>
            <p:cNvPr id="506" name="Google Shape;506;p25"/>
            <p:cNvSpPr txBox="1"/>
            <p:nvPr/>
          </p:nvSpPr>
          <p:spPr>
            <a:xfrm>
              <a:off x="5403610" y="5135093"/>
              <a:ext cx="25039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c</a:t>
              </a:r>
              <a:endParaRPr/>
            </a:p>
          </p:txBody>
        </p:sp>
      </p:grpSp>
      <p:grpSp>
        <p:nvGrpSpPr>
          <p:cNvPr id="507" name="Google Shape;507;p25"/>
          <p:cNvGrpSpPr/>
          <p:nvPr/>
        </p:nvGrpSpPr>
        <p:grpSpPr>
          <a:xfrm>
            <a:off x="252294" y="6099253"/>
            <a:ext cx="5218573" cy="3511618"/>
            <a:chOff x="126841" y="6102251"/>
            <a:chExt cx="5218573" cy="3511618"/>
          </a:xfrm>
        </p:grpSpPr>
        <p:pic>
          <p:nvPicPr>
            <p:cNvPr id="508" name="Google Shape;508;p25"/>
            <p:cNvPicPr preferRelativeResize="0"/>
            <p:nvPr/>
          </p:nvPicPr>
          <p:blipFill rotWithShape="1">
            <a:blip r:embed="rId6">
              <a:alphaModFix/>
            </a:blip>
            <a:srcRect b="0" l="0" r="0" t="0"/>
            <a:stretch/>
          </p:blipFill>
          <p:spPr>
            <a:xfrm>
              <a:off x="126841" y="6102251"/>
              <a:ext cx="5095125" cy="3437675"/>
            </a:xfrm>
            <a:prstGeom prst="rect">
              <a:avLst/>
            </a:prstGeom>
            <a:noFill/>
            <a:ln>
              <a:noFill/>
            </a:ln>
          </p:spPr>
        </p:pic>
        <p:pic>
          <p:nvPicPr>
            <p:cNvPr id="509" name="Google Shape;509;p25"/>
            <p:cNvPicPr preferRelativeResize="0"/>
            <p:nvPr/>
          </p:nvPicPr>
          <p:blipFill rotWithShape="1">
            <a:blip r:embed="rId7">
              <a:alphaModFix/>
            </a:blip>
            <a:srcRect b="0" l="0" r="0" t="0"/>
            <a:stretch/>
          </p:blipFill>
          <p:spPr>
            <a:xfrm>
              <a:off x="192389" y="6480144"/>
              <a:ext cx="5153025" cy="3133725"/>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grpSp>
        <p:nvGrpSpPr>
          <p:cNvPr id="514" name="Google Shape;514;p26"/>
          <p:cNvGrpSpPr/>
          <p:nvPr/>
        </p:nvGrpSpPr>
        <p:grpSpPr>
          <a:xfrm>
            <a:off x="0" y="0"/>
            <a:ext cx="6779619" cy="9591040"/>
            <a:chOff x="0" y="0"/>
            <a:chExt cx="6779619" cy="9591040"/>
          </a:xfrm>
        </p:grpSpPr>
        <p:grpSp>
          <p:nvGrpSpPr>
            <p:cNvPr id="515" name="Google Shape;515;p26"/>
            <p:cNvGrpSpPr/>
            <p:nvPr/>
          </p:nvGrpSpPr>
          <p:grpSpPr>
            <a:xfrm>
              <a:off x="0" y="0"/>
              <a:ext cx="6779619" cy="9591040"/>
              <a:chOff x="0" y="0"/>
              <a:chExt cx="6779619" cy="9591040"/>
            </a:xfrm>
          </p:grpSpPr>
          <p:pic>
            <p:nvPicPr>
              <p:cNvPr id="516" name="Google Shape;516;p26"/>
              <p:cNvPicPr preferRelativeResize="0"/>
              <p:nvPr/>
            </p:nvPicPr>
            <p:blipFill rotWithShape="1">
              <a:blip r:embed="rId3">
                <a:alphaModFix/>
              </a:blip>
              <a:srcRect b="3452" l="3025" r="4130" t="4979"/>
              <a:stretch/>
            </p:blipFill>
            <p:spPr>
              <a:xfrm>
                <a:off x="0" y="0"/>
                <a:ext cx="4984291" cy="6353298"/>
              </a:xfrm>
              <a:prstGeom prst="rect">
                <a:avLst/>
              </a:prstGeom>
              <a:noFill/>
              <a:ln>
                <a:noFill/>
              </a:ln>
            </p:spPr>
          </p:pic>
          <p:pic>
            <p:nvPicPr>
              <p:cNvPr id="517" name="Google Shape;517;p26"/>
              <p:cNvPicPr preferRelativeResize="0"/>
              <p:nvPr/>
            </p:nvPicPr>
            <p:blipFill rotWithShape="1">
              <a:blip r:embed="rId3">
                <a:alphaModFix/>
              </a:blip>
              <a:srcRect b="47240" l="3025" r="4130" t="5293"/>
              <a:stretch/>
            </p:blipFill>
            <p:spPr>
              <a:xfrm>
                <a:off x="0" y="6297642"/>
                <a:ext cx="4984291" cy="3293398"/>
              </a:xfrm>
              <a:prstGeom prst="rect">
                <a:avLst/>
              </a:prstGeom>
              <a:noFill/>
              <a:ln>
                <a:noFill/>
              </a:ln>
            </p:spPr>
          </p:pic>
          <p:pic>
            <p:nvPicPr>
              <p:cNvPr id="518" name="Google Shape;518;p26"/>
              <p:cNvPicPr preferRelativeResize="0"/>
              <p:nvPr/>
            </p:nvPicPr>
            <p:blipFill rotWithShape="1">
              <a:blip r:embed="rId3">
                <a:alphaModFix/>
              </a:blip>
              <a:srcRect b="43762" l="7910" r="58113" t="4980"/>
              <a:stretch/>
            </p:blipFill>
            <p:spPr>
              <a:xfrm>
                <a:off x="4955623" y="6024363"/>
                <a:ext cx="1823994" cy="3556517"/>
              </a:xfrm>
              <a:prstGeom prst="rect">
                <a:avLst/>
              </a:prstGeom>
              <a:noFill/>
              <a:ln>
                <a:noFill/>
              </a:ln>
            </p:spPr>
          </p:pic>
          <p:pic>
            <p:nvPicPr>
              <p:cNvPr id="519" name="Google Shape;519;p26"/>
              <p:cNvPicPr preferRelativeResize="0"/>
              <p:nvPr/>
            </p:nvPicPr>
            <p:blipFill rotWithShape="1">
              <a:blip r:embed="rId3">
                <a:alphaModFix/>
              </a:blip>
              <a:srcRect b="5410" l="7910" r="58113" t="5294"/>
              <a:stretch/>
            </p:blipFill>
            <p:spPr>
              <a:xfrm>
                <a:off x="4955623" y="21772"/>
                <a:ext cx="1823996" cy="6195686"/>
              </a:xfrm>
              <a:prstGeom prst="rect">
                <a:avLst/>
              </a:prstGeom>
              <a:noFill/>
              <a:ln>
                <a:noFill/>
              </a:ln>
            </p:spPr>
          </p:pic>
        </p:grpSp>
        <p:cxnSp>
          <p:nvCxnSpPr>
            <p:cNvPr id="520" name="Google Shape;520;p26"/>
            <p:cNvCxnSpPr/>
            <p:nvPr/>
          </p:nvCxnSpPr>
          <p:spPr>
            <a:xfrm flipH="1">
              <a:off x="3749040" y="16476"/>
              <a:ext cx="3175" cy="9564404"/>
            </a:xfrm>
            <a:prstGeom prst="straightConnector1">
              <a:avLst/>
            </a:prstGeom>
            <a:noFill/>
            <a:ln cap="flat" cmpd="sng" w="28575">
              <a:solidFill>
                <a:schemeClr val="accent1"/>
              </a:solidFill>
              <a:prstDash val="solid"/>
              <a:miter lim="800000"/>
              <a:headEnd len="sm" w="sm" type="none"/>
              <a:tailEnd len="sm" w="sm" type="none"/>
            </a:ln>
          </p:spPr>
        </p:cxnSp>
        <p:cxnSp>
          <p:nvCxnSpPr>
            <p:cNvPr id="521" name="Google Shape;521;p26"/>
            <p:cNvCxnSpPr/>
            <p:nvPr/>
          </p:nvCxnSpPr>
          <p:spPr>
            <a:xfrm flipH="1">
              <a:off x="3474720" y="16476"/>
              <a:ext cx="17897" cy="9574564"/>
            </a:xfrm>
            <a:prstGeom prst="straightConnector1">
              <a:avLst/>
            </a:prstGeom>
            <a:noFill/>
            <a:ln cap="flat" cmpd="sng" w="28575">
              <a:solidFill>
                <a:schemeClr val="accent1"/>
              </a:solidFill>
              <a:prstDash val="solid"/>
              <a:miter lim="800000"/>
              <a:headEnd len="sm" w="sm" type="none"/>
              <a:tailEnd len="sm" w="sm" type="none"/>
            </a:ln>
          </p:spPr>
        </p:cxnSp>
        <p:cxnSp>
          <p:nvCxnSpPr>
            <p:cNvPr id="522" name="Google Shape;522;p26"/>
            <p:cNvCxnSpPr/>
            <p:nvPr/>
          </p:nvCxnSpPr>
          <p:spPr>
            <a:xfrm>
              <a:off x="289103" y="24219"/>
              <a:ext cx="5537" cy="9566821"/>
            </a:xfrm>
            <a:prstGeom prst="straightConnector1">
              <a:avLst/>
            </a:prstGeom>
            <a:noFill/>
            <a:ln cap="flat" cmpd="sng" w="28575">
              <a:solidFill>
                <a:schemeClr val="accent1"/>
              </a:solidFill>
              <a:prstDash val="solid"/>
              <a:miter lim="800000"/>
              <a:headEnd len="sm" w="sm" type="none"/>
              <a:tailEnd len="sm" w="sm" type="none"/>
            </a:ln>
          </p:spPr>
        </p:cxnSp>
      </p:grpSp>
      <p:sp>
        <p:nvSpPr>
          <p:cNvPr id="523" name="Google Shape;523;p26"/>
          <p:cNvSpPr txBox="1"/>
          <p:nvPr>
            <p:ph idx="12" type="sldNum"/>
          </p:nvPr>
        </p:nvSpPr>
        <p:spPr>
          <a:xfrm>
            <a:off x="5357813" y="958012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529" name="Google Shape;529;p27"/>
          <p:cNvGraphicFramePr/>
          <p:nvPr/>
        </p:nvGraphicFramePr>
        <p:xfrm>
          <a:off x="402692" y="627796"/>
          <a:ext cx="3000000" cy="3000000"/>
        </p:xfrm>
        <a:graphic>
          <a:graphicData uri="http://schemas.openxmlformats.org/drawingml/2006/table">
            <a:tbl>
              <a:tblPr bandRow="1" firstRow="1">
                <a:noFill/>
                <a:tableStyleId>{83881756-DB08-42B0-B75F-A2D31ED75187}</a:tableStyleId>
              </a:tblPr>
              <a:tblGrid>
                <a:gridCol w="6088525"/>
              </a:tblGrid>
              <a:tr h="310150">
                <a:tc>
                  <a:txBody>
                    <a:bodyPr/>
                    <a:lstStyle/>
                    <a:p>
                      <a:pPr indent="0" lvl="0" marL="0" marR="0" rtl="0" algn="l">
                        <a:lnSpc>
                          <a:spcPct val="100000"/>
                        </a:lnSpc>
                        <a:spcBef>
                          <a:spcPts val="0"/>
                        </a:spcBef>
                        <a:spcAft>
                          <a:spcPts val="0"/>
                        </a:spcAft>
                        <a:buClr>
                          <a:schemeClr val="dk1"/>
                        </a:buClr>
                        <a:buSzPts val="1350"/>
                        <a:buFont typeface="Calibri"/>
                        <a:buNone/>
                      </a:pPr>
                      <a:r>
                        <a:rPr b="1" lang="en-GB" sz="1350">
                          <a:solidFill>
                            <a:schemeClr val="dk1"/>
                          </a:solidFill>
                          <a:latin typeface="Calibri"/>
                          <a:ea typeface="Calibri"/>
                          <a:cs typeface="Calibri"/>
                          <a:sym typeface="Calibri"/>
                        </a:rPr>
                        <a:t>SSDD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095175">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10150">
                <a:tc>
                  <a:txBody>
                    <a:bodyPr/>
                    <a:lstStyle/>
                    <a:p>
                      <a:pPr indent="0" lvl="0" marL="0" marR="0" rtl="0" algn="l">
                        <a:lnSpc>
                          <a:spcPct val="100000"/>
                        </a:lnSpc>
                        <a:spcBef>
                          <a:spcPts val="0"/>
                        </a:spcBef>
                        <a:spcAft>
                          <a:spcPts val="0"/>
                        </a:spcAft>
                        <a:buClr>
                          <a:schemeClr val="dk1"/>
                        </a:buClr>
                        <a:buSzPts val="1350"/>
                        <a:buFont typeface="Calibri"/>
                        <a:buNone/>
                      </a:pPr>
                      <a:r>
                        <a:rPr b="1" lang="en-GB" sz="1350">
                          <a:solidFill>
                            <a:schemeClr val="dk1"/>
                          </a:solidFill>
                        </a:rPr>
                        <a:t>SSDD</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0375">
                <a:tc>
                  <a:txBody>
                    <a:bodyPr/>
                    <a:lstStyle/>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30" name="Google Shape;530;p27"/>
          <p:cNvSpPr txBox="1"/>
          <p:nvPr/>
        </p:nvSpPr>
        <p:spPr>
          <a:xfrm>
            <a:off x="0" y="160010"/>
            <a:ext cx="6858000" cy="338554"/>
          </a:xfrm>
          <a:prstGeom prst="rect">
            <a:avLst/>
          </a:prstGeom>
          <a:solidFill>
            <a:srgbClr val="7E234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Method Selection</a:t>
            </a:r>
            <a:endParaRPr b="1" i="0" sz="1600" u="none" cap="none" strike="noStrike">
              <a:solidFill>
                <a:srgbClr val="FFFFFF"/>
              </a:solidFill>
              <a:latin typeface="Calibri"/>
              <a:ea typeface="Calibri"/>
              <a:cs typeface="Calibri"/>
              <a:sym typeface="Calibri"/>
            </a:endParaRPr>
          </a:p>
        </p:txBody>
      </p:sp>
      <p:pic>
        <p:nvPicPr>
          <p:cNvPr id="531" name="Google Shape;531;p27"/>
          <p:cNvPicPr preferRelativeResize="0"/>
          <p:nvPr/>
        </p:nvPicPr>
        <p:blipFill rotWithShape="1">
          <a:blip r:embed="rId3">
            <a:alphaModFix/>
          </a:blip>
          <a:srcRect b="0" l="0" r="0" t="0"/>
          <a:stretch/>
        </p:blipFill>
        <p:spPr>
          <a:xfrm>
            <a:off x="887423" y="5352944"/>
            <a:ext cx="5083154" cy="3925260"/>
          </a:xfrm>
          <a:prstGeom prst="rect">
            <a:avLst/>
          </a:prstGeom>
          <a:noFill/>
          <a:ln>
            <a:noFill/>
          </a:ln>
        </p:spPr>
      </p:pic>
      <p:sp>
        <p:nvSpPr>
          <p:cNvPr id="532" name="Google Shape;532;p27"/>
          <p:cNvSpPr txBox="1"/>
          <p:nvPr/>
        </p:nvSpPr>
        <p:spPr>
          <a:xfrm>
            <a:off x="887423" y="5614988"/>
            <a:ext cx="1998652" cy="83099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Calculate the median of the ages.</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nvGrpSpPr>
          <p:cNvPr id="533" name="Google Shape;533;p27"/>
          <p:cNvGrpSpPr/>
          <p:nvPr/>
        </p:nvGrpSpPr>
        <p:grpSpPr>
          <a:xfrm>
            <a:off x="542927" y="1077278"/>
            <a:ext cx="5614986" cy="3925260"/>
            <a:chOff x="542927" y="1077278"/>
            <a:chExt cx="5614986" cy="3954126"/>
          </a:xfrm>
        </p:grpSpPr>
        <p:pic>
          <p:nvPicPr>
            <p:cNvPr id="534" name="Google Shape;534;p27"/>
            <p:cNvPicPr preferRelativeResize="0"/>
            <p:nvPr/>
          </p:nvPicPr>
          <p:blipFill rotWithShape="1">
            <a:blip r:embed="rId4">
              <a:alphaModFix/>
            </a:blip>
            <a:srcRect b="0" l="0" r="0" t="0"/>
            <a:stretch/>
          </p:blipFill>
          <p:spPr>
            <a:xfrm>
              <a:off x="542927" y="1077278"/>
              <a:ext cx="5614986" cy="3954126"/>
            </a:xfrm>
            <a:prstGeom prst="rect">
              <a:avLst/>
            </a:prstGeom>
            <a:noFill/>
            <a:ln>
              <a:noFill/>
            </a:ln>
          </p:spPr>
        </p:pic>
        <p:sp>
          <p:nvSpPr>
            <p:cNvPr id="535" name="Google Shape;535;p27"/>
            <p:cNvSpPr txBox="1"/>
            <p:nvPr/>
          </p:nvSpPr>
          <p:spPr>
            <a:xfrm>
              <a:off x="3000376" y="2965320"/>
              <a:ext cx="700088"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lang="en-GB" sz="1800">
                  <a:solidFill>
                    <a:schemeClr val="dk1"/>
                  </a:solidFill>
                  <a:latin typeface="Calibri"/>
                  <a:ea typeface="Calibri"/>
                  <a:cs typeface="Calibri"/>
                  <a:sym typeface="Calibri"/>
                </a:rPr>
                <a:t>48</a:t>
              </a:r>
              <a:endParaRPr/>
            </a:p>
          </p:txBody>
        </p:sp>
      </p:grpSp>
      <p:sp>
        <p:nvSpPr>
          <p:cNvPr id="536" name="Google Shape;536;p27"/>
          <p:cNvSpPr txBox="1"/>
          <p:nvPr/>
        </p:nvSpPr>
        <p:spPr>
          <a:xfrm>
            <a:off x="1288059" y="6233981"/>
            <a:ext cx="12164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6 years old</a:t>
            </a:r>
            <a:endParaRPr/>
          </a:p>
        </p:txBody>
      </p:sp>
      <p:sp>
        <p:nvSpPr>
          <p:cNvPr id="537" name="Google Shape;537;p27"/>
          <p:cNvSpPr txBox="1"/>
          <p:nvPr/>
        </p:nvSpPr>
        <p:spPr>
          <a:xfrm>
            <a:off x="4779262" y="6713173"/>
            <a:ext cx="14237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7</a:t>
            </a:r>
            <a:r>
              <a:rPr b="1" baseline="30000" lang="en-GB" sz="1800">
                <a:solidFill>
                  <a:srgbClr val="FF0000"/>
                </a:solidFill>
                <a:latin typeface="Calibri"/>
                <a:ea typeface="Calibri"/>
                <a:cs typeface="Calibri"/>
                <a:sym typeface="Calibri"/>
              </a:rPr>
              <a:t>2</a:t>
            </a:r>
            <a:r>
              <a:rPr b="1" lang="en-GB" sz="1800">
                <a:solidFill>
                  <a:srgbClr val="FF0000"/>
                </a:solidFill>
                <a:latin typeface="Calibri"/>
                <a:ea typeface="Calibri"/>
                <a:cs typeface="Calibri"/>
                <a:sym typeface="Calibri"/>
              </a:rPr>
              <a:t> + 7 – 4 x 5</a:t>
            </a:r>
            <a:endParaRPr/>
          </a:p>
        </p:txBody>
      </p:sp>
      <p:sp>
        <p:nvSpPr>
          <p:cNvPr id="538" name="Google Shape;538;p27"/>
          <p:cNvSpPr txBox="1"/>
          <p:nvPr/>
        </p:nvSpPr>
        <p:spPr>
          <a:xfrm>
            <a:off x="1783953" y="8885775"/>
            <a:ext cx="5357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983</a:t>
            </a:r>
            <a:endParaRPr/>
          </a:p>
        </p:txBody>
      </p:sp>
      <p:sp>
        <p:nvSpPr>
          <p:cNvPr id="539" name="Google Shape;539;p27"/>
          <p:cNvSpPr txBox="1"/>
          <p:nvPr/>
        </p:nvSpPr>
        <p:spPr>
          <a:xfrm>
            <a:off x="5014474" y="8867499"/>
            <a:ext cx="13334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12 years old</a:t>
            </a:r>
            <a:endParaRPr/>
          </a:p>
        </p:txBody>
      </p:sp>
      <p:sp>
        <p:nvSpPr>
          <p:cNvPr id="540" name="Google Shape;540;p27"/>
          <p:cNvSpPr txBox="1"/>
          <p:nvPr/>
        </p:nvSpPr>
        <p:spPr>
          <a:xfrm>
            <a:off x="470335" y="1730007"/>
            <a:ext cx="28328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1, 2, 3, 4, 6, 8, 12, 16, 24, 48</a:t>
            </a:r>
            <a:endParaRPr/>
          </a:p>
        </p:txBody>
      </p:sp>
      <p:sp>
        <p:nvSpPr>
          <p:cNvPr id="541" name="Google Shape;541;p27"/>
          <p:cNvSpPr txBox="1"/>
          <p:nvPr/>
        </p:nvSpPr>
        <p:spPr>
          <a:xfrm>
            <a:off x="4445644" y="1674127"/>
            <a:ext cx="8771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1, 3, 12</a:t>
            </a:r>
            <a:endParaRPr/>
          </a:p>
        </p:txBody>
      </p:sp>
      <p:sp>
        <p:nvSpPr>
          <p:cNvPr id="542" name="Google Shape;542;p27"/>
          <p:cNvSpPr txBox="1"/>
          <p:nvPr/>
        </p:nvSpPr>
        <p:spPr>
          <a:xfrm>
            <a:off x="1204204" y="3951519"/>
            <a:ext cx="168187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2cm and 24cm </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3cm and 16cm</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4cm and 12cm</a:t>
            </a:r>
            <a:endParaRPr/>
          </a:p>
        </p:txBody>
      </p:sp>
      <p:sp>
        <p:nvSpPr>
          <p:cNvPr id="543" name="Google Shape;543;p27"/>
          <p:cNvSpPr txBox="1"/>
          <p:nvPr/>
        </p:nvSpPr>
        <p:spPr>
          <a:xfrm>
            <a:off x="4156982" y="4137282"/>
            <a:ext cx="15696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3cm and 16cm</a:t>
            </a:r>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6cm and 8cm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