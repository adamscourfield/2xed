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E0FDCB-F177-4EF1-BCC8-0BE272FC9135}">
  <a:tblStyle styleId="{D5E0FDCB-F177-4EF1-BCC8-0BE272FC913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B574D3B1-9571-448E-8B86-D19A2BFB36F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9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9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9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9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9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0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 name="Google Shape;22;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9" name="Google Shape;39;p6"/>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7"/>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idx="12" type="sldNum"/>
          </p:nvPr>
        </p:nvSpPr>
        <p:spPr>
          <a:xfrm>
            <a:off x="5244029" y="946373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89" name="Google Shape;89;p13"/>
          <p:cNvSpPr/>
          <p:nvPr/>
        </p:nvSpPr>
        <p:spPr>
          <a:xfrm>
            <a:off x="86108" y="364088"/>
            <a:ext cx="6679742" cy="120668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0" name="Google Shape;90;p13"/>
          <p:cNvSpPr txBox="1"/>
          <p:nvPr/>
        </p:nvSpPr>
        <p:spPr>
          <a:xfrm>
            <a:off x="57979" y="711373"/>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1" name="Google Shape;91;p13"/>
          <p:cNvSpPr txBox="1"/>
          <p:nvPr/>
        </p:nvSpPr>
        <p:spPr>
          <a:xfrm>
            <a:off x="103863" y="903119"/>
            <a:ext cx="4912918" cy="64633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understand the concept of a factor</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recognise factors</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be able to apply the concept of factors in problem solving.</a:t>
            </a:r>
            <a:endParaRPr sz="1200">
              <a:solidFill>
                <a:schemeClr val="dk1"/>
              </a:solidFill>
              <a:latin typeface="Calibri"/>
              <a:ea typeface="Calibri"/>
              <a:cs typeface="Calibri"/>
              <a:sym typeface="Calibri"/>
            </a:endParaRPr>
          </a:p>
        </p:txBody>
      </p:sp>
      <p:sp>
        <p:nvSpPr>
          <p:cNvPr id="92" name="Google Shape;92;p13"/>
          <p:cNvSpPr txBox="1"/>
          <p:nvPr/>
        </p:nvSpPr>
        <p:spPr>
          <a:xfrm>
            <a:off x="129818" y="411996"/>
            <a:ext cx="5171096"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understand and be able to list the factors of a number.</a:t>
            </a:r>
            <a:endParaRPr/>
          </a:p>
        </p:txBody>
      </p:sp>
      <p:sp>
        <p:nvSpPr>
          <p:cNvPr id="93" name="Google Shape;93;p13"/>
          <p:cNvSpPr txBox="1"/>
          <p:nvPr/>
        </p:nvSpPr>
        <p:spPr>
          <a:xfrm>
            <a:off x="5413373" y="411996"/>
            <a:ext cx="1240017" cy="830997"/>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Factor</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Multiply</a:t>
            </a:r>
            <a:endParaRPr/>
          </a:p>
          <a:p>
            <a:pPr indent="-95250" lvl="0" marL="17145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94" name="Google Shape;94;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N3.11 – Factors</a:t>
            </a:r>
            <a:endParaRPr/>
          </a:p>
        </p:txBody>
      </p:sp>
      <p:graphicFrame>
        <p:nvGraphicFramePr>
          <p:cNvPr id="95" name="Google Shape;95;p13"/>
          <p:cNvGraphicFramePr/>
          <p:nvPr/>
        </p:nvGraphicFramePr>
        <p:xfrm>
          <a:off x="124520" y="5149052"/>
          <a:ext cx="3000000" cy="3000000"/>
        </p:xfrm>
        <a:graphic>
          <a:graphicData uri="http://schemas.openxmlformats.org/drawingml/2006/table">
            <a:tbl>
              <a:tblPr bandRow="1" firstRow="1">
                <a:noFill/>
                <a:tableStyleId>{D5E0FDCB-F177-4EF1-BCC8-0BE272FC9135}</a:tableStyleId>
              </a:tblPr>
              <a:tblGrid>
                <a:gridCol w="1220950"/>
                <a:gridCol w="1800625"/>
                <a:gridCol w="1800625"/>
                <a:gridCol w="1800625"/>
              </a:tblGrid>
              <a:tr h="3658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Write down all of the </a:t>
                      </a:r>
                      <a:r>
                        <a:rPr b="1" lang="en-GB" sz="1200">
                          <a:solidFill>
                            <a:schemeClr val="dk1"/>
                          </a:solidFill>
                        </a:rPr>
                        <a:t>factors of 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Write down all of the </a:t>
                      </a:r>
                      <a:r>
                        <a:rPr b="1" lang="en-GB" sz="1200">
                          <a:solidFill>
                            <a:schemeClr val="dk1"/>
                          </a:solidFill>
                        </a:rPr>
                        <a:t>factors of 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Write down all of the </a:t>
                      </a:r>
                      <a:r>
                        <a:rPr b="1" lang="en-GB" sz="1200">
                          <a:solidFill>
                            <a:schemeClr val="dk1"/>
                          </a:solidFill>
                        </a:rPr>
                        <a:t>factors of 24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9747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Starting with 1, list the pairs of factors that multiply to make the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6" name="Google Shape;96;p13"/>
          <p:cNvSpPr txBox="1"/>
          <p:nvPr/>
        </p:nvSpPr>
        <p:spPr>
          <a:xfrm>
            <a:off x="1625820" y="4872226"/>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1 - I do…</a:t>
            </a:r>
            <a:endParaRPr/>
          </a:p>
        </p:txBody>
      </p:sp>
      <p:sp>
        <p:nvSpPr>
          <p:cNvPr id="97" name="Google Shape;97;p13"/>
          <p:cNvSpPr txBox="1"/>
          <p:nvPr/>
        </p:nvSpPr>
        <p:spPr>
          <a:xfrm>
            <a:off x="5122408" y="486399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 – You do…</a:t>
            </a:r>
            <a:endParaRPr/>
          </a:p>
        </p:txBody>
      </p:sp>
      <p:sp>
        <p:nvSpPr>
          <p:cNvPr id="98" name="Google Shape;98;p13"/>
          <p:cNvSpPr txBox="1"/>
          <p:nvPr/>
        </p:nvSpPr>
        <p:spPr>
          <a:xfrm>
            <a:off x="3346910" y="487090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 – We do…</a:t>
            </a:r>
            <a:endParaRPr/>
          </a:p>
        </p:txBody>
      </p:sp>
      <p:sp>
        <p:nvSpPr>
          <p:cNvPr id="99" name="Google Shape;99;p13"/>
          <p:cNvSpPr/>
          <p:nvPr/>
        </p:nvSpPr>
        <p:spPr>
          <a:xfrm>
            <a:off x="103699" y="4685137"/>
            <a:ext cx="2601917" cy="220505"/>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Listing factors</a:t>
            </a:r>
            <a:endParaRPr/>
          </a:p>
        </p:txBody>
      </p:sp>
      <p:graphicFrame>
        <p:nvGraphicFramePr>
          <p:cNvPr id="100" name="Google Shape;100;p13"/>
          <p:cNvGraphicFramePr/>
          <p:nvPr/>
        </p:nvGraphicFramePr>
        <p:xfrm>
          <a:off x="119105" y="7255663"/>
          <a:ext cx="3000000" cy="3000000"/>
        </p:xfrm>
        <a:graphic>
          <a:graphicData uri="http://schemas.openxmlformats.org/drawingml/2006/table">
            <a:tbl>
              <a:tblPr bandRow="1" firstRow="1">
                <a:noFill/>
                <a:tableStyleId>{D5E0FDCB-F177-4EF1-BCC8-0BE272FC9135}</a:tableStyleId>
              </a:tblPr>
              <a:tblGrid>
                <a:gridCol w="1220950"/>
                <a:gridCol w="1800625"/>
                <a:gridCol w="1800625"/>
                <a:gridCol w="1800625"/>
              </a:tblGrid>
              <a:tr h="27047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Write down all of the </a:t>
                      </a:r>
                      <a:r>
                        <a:rPr b="1" lang="en-GB" sz="1200">
                          <a:solidFill>
                            <a:schemeClr val="dk1"/>
                          </a:solidFill>
                        </a:rPr>
                        <a:t>factors of 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Write down all of the </a:t>
                      </a:r>
                      <a:r>
                        <a:rPr b="1" lang="en-GB" sz="1200">
                          <a:solidFill>
                            <a:schemeClr val="dk1"/>
                          </a:solidFill>
                        </a:rPr>
                        <a:t>factors of 100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Write down all of the </a:t>
                      </a:r>
                      <a:r>
                        <a:rPr b="1" lang="en-GB" sz="1200">
                          <a:solidFill>
                            <a:schemeClr val="dk1"/>
                          </a:solidFill>
                        </a:rPr>
                        <a:t>factors of 36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5085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Starting with 1, list the pairs of factors that multiply to make the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01" name="Google Shape;101;p13"/>
          <p:cNvSpPr txBox="1"/>
          <p:nvPr/>
        </p:nvSpPr>
        <p:spPr>
          <a:xfrm>
            <a:off x="1628301" y="6993809"/>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4 - I do…</a:t>
            </a:r>
            <a:endParaRPr/>
          </a:p>
        </p:txBody>
      </p:sp>
      <p:sp>
        <p:nvSpPr>
          <p:cNvPr id="102" name="Google Shape;102;p13"/>
          <p:cNvSpPr txBox="1"/>
          <p:nvPr/>
        </p:nvSpPr>
        <p:spPr>
          <a:xfrm>
            <a:off x="5124889" y="698557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6 – You do…</a:t>
            </a:r>
            <a:endParaRPr/>
          </a:p>
        </p:txBody>
      </p:sp>
      <p:sp>
        <p:nvSpPr>
          <p:cNvPr id="103" name="Google Shape;103;p13"/>
          <p:cNvSpPr txBox="1"/>
          <p:nvPr/>
        </p:nvSpPr>
        <p:spPr>
          <a:xfrm>
            <a:off x="3349391" y="699248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5 – We do…</a:t>
            </a:r>
            <a:endParaRPr/>
          </a:p>
        </p:txBody>
      </p:sp>
      <p:graphicFrame>
        <p:nvGraphicFramePr>
          <p:cNvPr id="104" name="Google Shape;104;p13"/>
          <p:cNvGraphicFramePr/>
          <p:nvPr/>
        </p:nvGraphicFramePr>
        <p:xfrm>
          <a:off x="116335" y="9174539"/>
          <a:ext cx="3000000" cy="3000000"/>
        </p:xfrm>
        <a:graphic>
          <a:graphicData uri="http://schemas.openxmlformats.org/drawingml/2006/table">
            <a:tbl>
              <a:tblPr bandRow="1" firstRow="1">
                <a:noFill/>
                <a:tableStyleId>{D5E0FDCB-F177-4EF1-BCC8-0BE272FC9135}</a:tableStyleId>
              </a:tblPr>
              <a:tblGrid>
                <a:gridCol w="6640175"/>
              </a:tblGrid>
              <a:tr h="468000">
                <a:tc>
                  <a:txBody>
                    <a:bodyPr/>
                    <a:lstStyle/>
                    <a:p>
                      <a:pPr indent="0" lvl="0" marL="0" marR="0" rtl="0" algn="l">
                        <a:spcBef>
                          <a:spcPts val="0"/>
                        </a:spcBef>
                        <a:spcAft>
                          <a:spcPts val="0"/>
                        </a:spcAft>
                        <a:buNone/>
                      </a:pPr>
                      <a:r>
                        <a:rPr b="0" lang="en-GB" sz="1200">
                          <a:solidFill>
                            <a:schemeClr val="dk1"/>
                          </a:solidFill>
                        </a:rPr>
                        <a:t>Fact: Square numbers have an _____________ number of factors.</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cxnSp>
        <p:nvCxnSpPr>
          <p:cNvPr id="105" name="Google Shape;105;p13"/>
          <p:cNvCxnSpPr/>
          <p:nvPr/>
        </p:nvCxnSpPr>
        <p:spPr>
          <a:xfrm flipH="1" rot="10800000">
            <a:off x="958544" y="4294441"/>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6" name="Google Shape;106;p13"/>
          <p:cNvSpPr/>
          <p:nvPr/>
        </p:nvSpPr>
        <p:spPr>
          <a:xfrm>
            <a:off x="103864" y="2459381"/>
            <a:ext cx="6650274" cy="2192147"/>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7" name="Google Shape;107;p13"/>
          <p:cNvCxnSpPr/>
          <p:nvPr/>
        </p:nvCxnSpPr>
        <p:spPr>
          <a:xfrm>
            <a:off x="119103" y="3435851"/>
            <a:ext cx="6624000" cy="0"/>
          </a:xfrm>
          <a:prstGeom prst="straightConnector1">
            <a:avLst/>
          </a:prstGeom>
          <a:noFill/>
          <a:ln cap="flat" cmpd="sng" w="9525">
            <a:solidFill>
              <a:schemeClr val="dk1"/>
            </a:solidFill>
            <a:prstDash val="solid"/>
            <a:miter lim="800000"/>
            <a:headEnd len="sm" w="sm" type="none"/>
            <a:tailEnd len="sm" w="sm" type="none"/>
          </a:ln>
        </p:spPr>
      </p:cxnSp>
      <p:cxnSp>
        <p:nvCxnSpPr>
          <p:cNvPr id="108" name="Google Shape;108;p13"/>
          <p:cNvCxnSpPr>
            <a:stCxn id="106" idx="2"/>
            <a:endCxn id="106" idx="0"/>
          </p:cNvCxnSpPr>
          <p:nvPr/>
        </p:nvCxnSpPr>
        <p:spPr>
          <a:xfrm rot="10800000">
            <a:off x="3429001" y="2459428"/>
            <a:ext cx="0" cy="2192100"/>
          </a:xfrm>
          <a:prstGeom prst="straightConnector1">
            <a:avLst/>
          </a:prstGeom>
          <a:noFill/>
          <a:ln cap="flat" cmpd="sng" w="9525">
            <a:solidFill>
              <a:schemeClr val="dk1"/>
            </a:solidFill>
            <a:prstDash val="solid"/>
            <a:miter lim="800000"/>
            <a:headEnd len="sm" w="sm" type="none"/>
            <a:tailEnd len="sm" w="sm" type="none"/>
          </a:ln>
        </p:spPr>
      </p:cxnSp>
      <p:sp>
        <p:nvSpPr>
          <p:cNvPr id="109" name="Google Shape;109;p13"/>
          <p:cNvSpPr txBox="1"/>
          <p:nvPr/>
        </p:nvSpPr>
        <p:spPr>
          <a:xfrm>
            <a:off x="121618" y="2459381"/>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0" name="Google Shape;110;p13"/>
          <p:cNvSpPr txBox="1"/>
          <p:nvPr/>
        </p:nvSpPr>
        <p:spPr>
          <a:xfrm>
            <a:off x="5699617" y="2425295"/>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11" name="Google Shape;111;p13"/>
          <p:cNvSpPr txBox="1"/>
          <p:nvPr/>
        </p:nvSpPr>
        <p:spPr>
          <a:xfrm>
            <a:off x="99726" y="3452131"/>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12" name="Google Shape;112;p13"/>
          <p:cNvSpPr txBox="1"/>
          <p:nvPr/>
        </p:nvSpPr>
        <p:spPr>
          <a:xfrm>
            <a:off x="5669288" y="3433391"/>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13" name="Google Shape;113;p13"/>
          <p:cNvSpPr txBox="1"/>
          <p:nvPr/>
        </p:nvSpPr>
        <p:spPr>
          <a:xfrm>
            <a:off x="117929" y="2645961"/>
            <a:ext cx="323033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 factor is a positive integer that will divide exactly into a given positive integer.</a:t>
            </a:r>
            <a:endParaRPr sz="1200">
              <a:solidFill>
                <a:schemeClr val="dk1"/>
              </a:solidFill>
              <a:latin typeface="Calibri"/>
              <a:ea typeface="Calibri"/>
              <a:cs typeface="Calibri"/>
              <a:sym typeface="Calibri"/>
            </a:endParaRPr>
          </a:p>
        </p:txBody>
      </p:sp>
      <p:sp>
        <p:nvSpPr>
          <p:cNvPr id="114" name="Google Shape;114;p13"/>
          <p:cNvSpPr txBox="1"/>
          <p:nvPr/>
        </p:nvSpPr>
        <p:spPr>
          <a:xfrm>
            <a:off x="3467295" y="2645048"/>
            <a:ext cx="3329739" cy="1015663"/>
          </a:xfrm>
          <a:prstGeom prst="rect">
            <a:avLst/>
          </a:prstGeom>
          <a:noFill/>
          <a:ln>
            <a:noFill/>
          </a:ln>
        </p:spPr>
        <p:txBody>
          <a:bodyPr anchorCtr="0" anchor="b"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Factors are normally identified in pairs.</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The smallest factor of any number is 1.</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The largest factor of any number is the number.</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15" name="Google Shape;115;p13"/>
          <p:cNvSpPr txBox="1"/>
          <p:nvPr/>
        </p:nvSpPr>
        <p:spPr>
          <a:xfrm>
            <a:off x="3065792" y="3267465"/>
            <a:ext cx="769313"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Factor</a:t>
            </a:r>
            <a:endParaRPr sz="1800">
              <a:solidFill>
                <a:schemeClr val="dk1"/>
              </a:solidFill>
              <a:latin typeface="Calibri"/>
              <a:ea typeface="Calibri"/>
              <a:cs typeface="Calibri"/>
              <a:sym typeface="Calibri"/>
            </a:endParaRPr>
          </a:p>
        </p:txBody>
      </p:sp>
      <p:sp>
        <p:nvSpPr>
          <p:cNvPr id="116" name="Google Shape;116;p13"/>
          <p:cNvSpPr txBox="1"/>
          <p:nvPr/>
        </p:nvSpPr>
        <p:spPr>
          <a:xfrm>
            <a:off x="142275" y="3672437"/>
            <a:ext cx="3230335" cy="27699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Factors of 8 = 1, 2, 4 and 8</a:t>
            </a:r>
            <a:endParaRPr/>
          </a:p>
        </p:txBody>
      </p:sp>
      <p:sp>
        <p:nvSpPr>
          <p:cNvPr id="117" name="Google Shape;117;p13"/>
          <p:cNvSpPr txBox="1"/>
          <p:nvPr/>
        </p:nvSpPr>
        <p:spPr>
          <a:xfrm>
            <a:off x="142275" y="4000060"/>
            <a:ext cx="3230335" cy="27699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Factors of 9 = 1, 3 and 9</a:t>
            </a:r>
            <a:endParaRPr sz="1200">
              <a:solidFill>
                <a:schemeClr val="dk1"/>
              </a:solidFill>
              <a:latin typeface="Calibri"/>
              <a:ea typeface="Calibri"/>
              <a:cs typeface="Calibri"/>
              <a:sym typeface="Calibri"/>
            </a:endParaRPr>
          </a:p>
        </p:txBody>
      </p:sp>
      <p:sp>
        <p:nvSpPr>
          <p:cNvPr id="118" name="Google Shape;118;p13"/>
          <p:cNvSpPr txBox="1"/>
          <p:nvPr/>
        </p:nvSpPr>
        <p:spPr>
          <a:xfrm>
            <a:off x="3480871" y="3669114"/>
            <a:ext cx="3230335"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4 is not a factor of 2</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2 is not a factor of 1</a:t>
            </a:r>
            <a:endParaRPr/>
          </a:p>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4 is not a factor of 18</a:t>
            </a:r>
            <a:endParaRPr sz="1200">
              <a:solidFill>
                <a:schemeClr val="dk1"/>
              </a:solidFill>
              <a:latin typeface="Calibri"/>
              <a:ea typeface="Calibri"/>
              <a:cs typeface="Calibri"/>
              <a:sym typeface="Calibri"/>
            </a:endParaRPr>
          </a:p>
        </p:txBody>
      </p:sp>
      <p:sp>
        <p:nvSpPr>
          <p:cNvPr id="119" name="Google Shape;119;p13"/>
          <p:cNvSpPr txBox="1"/>
          <p:nvPr/>
        </p:nvSpPr>
        <p:spPr>
          <a:xfrm>
            <a:off x="142275" y="4355950"/>
            <a:ext cx="3230335" cy="27699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Factors of 20 = 1, 2, 4, 5, 10 and 20</a:t>
            </a:r>
            <a:endParaRPr sz="1200">
              <a:solidFill>
                <a:schemeClr val="dk1"/>
              </a:solidFill>
              <a:latin typeface="Calibri"/>
              <a:ea typeface="Calibri"/>
              <a:cs typeface="Calibri"/>
              <a:sym typeface="Calibri"/>
            </a:endParaRPr>
          </a:p>
        </p:txBody>
      </p:sp>
      <p:sp>
        <p:nvSpPr>
          <p:cNvPr id="120" name="Google Shape;120;p13"/>
          <p:cNvSpPr/>
          <p:nvPr/>
        </p:nvSpPr>
        <p:spPr>
          <a:xfrm>
            <a:off x="90664" y="1620269"/>
            <a:ext cx="6679742" cy="7920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200" u="sng">
                <a:solidFill>
                  <a:srgbClr val="000000"/>
                </a:solidFill>
                <a:latin typeface="Calibri"/>
                <a:ea typeface="Calibri"/>
                <a:cs typeface="Calibri"/>
                <a:sym typeface="Calibri"/>
              </a:rPr>
              <a:t>Introduction – read and annotate: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In this subtopic, you’re going to learn about factors, which are the numbers that divide exactly into</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another number. For example, the factors of 12 are 1, 2, 3, 4, 6, and 12 because they all divide evenly</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into 12. This topic leads on to calculating the highest common factor (HCF) of two or more numbers.</a:t>
            </a:r>
            <a:endParaRPr sz="1200">
              <a:solidFill>
                <a:srgbClr val="000000"/>
              </a:solidFill>
              <a:latin typeface="Calibri"/>
              <a:ea typeface="Calibri"/>
              <a:cs typeface="Calibri"/>
              <a:sym typeface="Calibri"/>
            </a:endParaRPr>
          </a:p>
        </p:txBody>
      </p:sp>
      <p:sp>
        <p:nvSpPr>
          <p:cNvPr id="121" name="Google Shape;121;p13"/>
          <p:cNvSpPr txBox="1"/>
          <p:nvPr/>
        </p:nvSpPr>
        <p:spPr>
          <a:xfrm>
            <a:off x="1881188" y="5569986"/>
            <a:ext cx="74090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x 12</a:t>
            </a:r>
            <a:endParaRPr/>
          </a:p>
          <a:p>
            <a:pPr indent="0" lvl="0" marL="0" marR="0" rtl="0" algn="ctr">
              <a:spcBef>
                <a:spcPts val="0"/>
              </a:spcBef>
              <a:spcAft>
                <a:spcPts val="0"/>
              </a:spcAft>
              <a:buNone/>
            </a:pPr>
            <a:r>
              <a:rPr b="1" lang="en-GB" sz="1800">
                <a:solidFill>
                  <a:srgbClr val="FF0000"/>
                </a:solidFill>
                <a:latin typeface="Calibri"/>
                <a:ea typeface="Calibri"/>
                <a:cs typeface="Calibri"/>
                <a:sym typeface="Calibri"/>
              </a:rPr>
              <a:t>2 x 6</a:t>
            </a:r>
            <a:endParaRPr/>
          </a:p>
          <a:p>
            <a:pPr indent="0" lvl="0" marL="0" marR="0" rtl="0" algn="ctr">
              <a:spcBef>
                <a:spcPts val="0"/>
              </a:spcBef>
              <a:spcAft>
                <a:spcPts val="0"/>
              </a:spcAft>
              <a:buNone/>
            </a:pPr>
            <a:r>
              <a:rPr b="1" lang="en-GB" sz="1800">
                <a:solidFill>
                  <a:srgbClr val="FF0000"/>
                </a:solidFill>
                <a:latin typeface="Calibri"/>
                <a:ea typeface="Calibri"/>
                <a:cs typeface="Calibri"/>
                <a:sym typeface="Calibri"/>
              </a:rPr>
              <a:t>3 x 4</a:t>
            </a:r>
            <a:endParaRPr/>
          </a:p>
        </p:txBody>
      </p:sp>
      <p:sp>
        <p:nvSpPr>
          <p:cNvPr id="122" name="Google Shape;122;p13"/>
          <p:cNvSpPr txBox="1"/>
          <p:nvPr/>
        </p:nvSpPr>
        <p:spPr>
          <a:xfrm>
            <a:off x="1427368" y="6504790"/>
            <a:ext cx="156485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1, 2, 3, 4, 6, 12</a:t>
            </a:r>
            <a:endParaRPr/>
          </a:p>
        </p:txBody>
      </p:sp>
      <p:sp>
        <p:nvSpPr>
          <p:cNvPr id="123" name="Google Shape;123;p13"/>
          <p:cNvSpPr txBox="1"/>
          <p:nvPr/>
        </p:nvSpPr>
        <p:spPr>
          <a:xfrm>
            <a:off x="3779497" y="5553602"/>
            <a:ext cx="63030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x 7</a:t>
            </a:r>
            <a:endParaRPr/>
          </a:p>
        </p:txBody>
      </p:sp>
      <p:sp>
        <p:nvSpPr>
          <p:cNvPr id="124" name="Google Shape;124;p13"/>
          <p:cNvSpPr txBox="1"/>
          <p:nvPr/>
        </p:nvSpPr>
        <p:spPr>
          <a:xfrm>
            <a:off x="3787341" y="6488406"/>
            <a:ext cx="53091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1, 7</a:t>
            </a:r>
            <a:endParaRPr/>
          </a:p>
        </p:txBody>
      </p:sp>
      <p:sp>
        <p:nvSpPr>
          <p:cNvPr id="125" name="Google Shape;125;p13"/>
          <p:cNvSpPr txBox="1"/>
          <p:nvPr/>
        </p:nvSpPr>
        <p:spPr>
          <a:xfrm>
            <a:off x="5522202" y="5597848"/>
            <a:ext cx="620683"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rgbClr val="FF0000"/>
                </a:solidFill>
                <a:latin typeface="Calibri"/>
                <a:ea typeface="Calibri"/>
                <a:cs typeface="Calibri"/>
                <a:sym typeface="Calibri"/>
              </a:rPr>
              <a:t>1 x 24</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2 x 12</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3 x 8</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4 x 6</a:t>
            </a:r>
            <a:endParaRPr/>
          </a:p>
        </p:txBody>
      </p:sp>
      <p:sp>
        <p:nvSpPr>
          <p:cNvPr id="126" name="Google Shape;126;p13"/>
          <p:cNvSpPr txBox="1"/>
          <p:nvPr/>
        </p:nvSpPr>
        <p:spPr>
          <a:xfrm>
            <a:off x="4915383" y="6530939"/>
            <a:ext cx="186942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rgbClr val="FF0000"/>
                </a:solidFill>
                <a:latin typeface="Calibri"/>
                <a:ea typeface="Calibri"/>
                <a:cs typeface="Calibri"/>
                <a:sym typeface="Calibri"/>
              </a:rPr>
              <a:t>1, 2, 3, 4, 6, 8 12, 24</a:t>
            </a:r>
            <a:endParaRPr/>
          </a:p>
        </p:txBody>
      </p:sp>
      <p:sp>
        <p:nvSpPr>
          <p:cNvPr id="127" name="Google Shape;127;p13"/>
          <p:cNvSpPr txBox="1"/>
          <p:nvPr/>
        </p:nvSpPr>
        <p:spPr>
          <a:xfrm>
            <a:off x="1903517" y="7842873"/>
            <a:ext cx="63030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x 9</a:t>
            </a:r>
            <a:endParaRPr/>
          </a:p>
          <a:p>
            <a:pPr indent="0" lvl="0" marL="0" marR="0" rtl="0" algn="ctr">
              <a:spcBef>
                <a:spcPts val="0"/>
              </a:spcBef>
              <a:spcAft>
                <a:spcPts val="0"/>
              </a:spcAft>
              <a:buNone/>
            </a:pPr>
            <a:r>
              <a:rPr b="1" lang="en-GB" sz="1800">
                <a:solidFill>
                  <a:srgbClr val="FF0000"/>
                </a:solidFill>
                <a:latin typeface="Calibri"/>
                <a:ea typeface="Calibri"/>
                <a:cs typeface="Calibri"/>
                <a:sym typeface="Calibri"/>
              </a:rPr>
              <a:t>3 x 3</a:t>
            </a:r>
            <a:endParaRPr/>
          </a:p>
        </p:txBody>
      </p:sp>
      <p:sp>
        <p:nvSpPr>
          <p:cNvPr id="128" name="Google Shape;128;p13"/>
          <p:cNvSpPr txBox="1"/>
          <p:nvPr/>
        </p:nvSpPr>
        <p:spPr>
          <a:xfrm>
            <a:off x="1796750" y="8777677"/>
            <a:ext cx="760143"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800">
                <a:solidFill>
                  <a:srgbClr val="FF0000"/>
                </a:solidFill>
                <a:latin typeface="Calibri"/>
                <a:ea typeface="Calibri"/>
                <a:cs typeface="Calibri"/>
                <a:sym typeface="Calibri"/>
              </a:rPr>
              <a:t>1, 3, 9</a:t>
            </a:r>
            <a:endParaRPr/>
          </a:p>
        </p:txBody>
      </p:sp>
      <p:sp>
        <p:nvSpPr>
          <p:cNvPr id="129" name="Google Shape;129;p13"/>
          <p:cNvSpPr txBox="1"/>
          <p:nvPr/>
        </p:nvSpPr>
        <p:spPr>
          <a:xfrm>
            <a:off x="3715693" y="7717169"/>
            <a:ext cx="712054" cy="11695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rgbClr val="FF0000"/>
                </a:solidFill>
                <a:latin typeface="Calibri"/>
                <a:ea typeface="Calibri"/>
                <a:cs typeface="Calibri"/>
                <a:sym typeface="Calibri"/>
              </a:rPr>
              <a:t>1 x 100</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2 x 50</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4 x 25</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5 x 20</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10 x 10</a:t>
            </a:r>
            <a:endParaRPr/>
          </a:p>
        </p:txBody>
      </p:sp>
      <p:sp>
        <p:nvSpPr>
          <p:cNvPr id="130" name="Google Shape;130;p13"/>
          <p:cNvSpPr txBox="1"/>
          <p:nvPr/>
        </p:nvSpPr>
        <p:spPr>
          <a:xfrm>
            <a:off x="3116286" y="8858016"/>
            <a:ext cx="181171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200">
                <a:solidFill>
                  <a:srgbClr val="FF0000"/>
                </a:solidFill>
                <a:latin typeface="Calibri"/>
                <a:ea typeface="Calibri"/>
                <a:cs typeface="Calibri"/>
                <a:sym typeface="Calibri"/>
              </a:rPr>
              <a:t>1, 2, 5, 10, 20, 25, 50, 100</a:t>
            </a:r>
            <a:endParaRPr/>
          </a:p>
        </p:txBody>
      </p:sp>
      <p:sp>
        <p:nvSpPr>
          <p:cNvPr id="131" name="Google Shape;131;p13"/>
          <p:cNvSpPr txBox="1"/>
          <p:nvPr/>
        </p:nvSpPr>
        <p:spPr>
          <a:xfrm>
            <a:off x="5534230" y="7723567"/>
            <a:ext cx="620683" cy="116955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rgbClr val="FF0000"/>
                </a:solidFill>
                <a:latin typeface="Calibri"/>
                <a:ea typeface="Calibri"/>
                <a:cs typeface="Calibri"/>
                <a:sym typeface="Calibri"/>
              </a:rPr>
              <a:t>1 x 36</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2 x 18</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3 x 12</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4 x 9</a:t>
            </a:r>
            <a:endParaRPr/>
          </a:p>
          <a:p>
            <a:pPr indent="0" lvl="0" marL="0" marR="0" rtl="0" algn="ctr">
              <a:spcBef>
                <a:spcPts val="0"/>
              </a:spcBef>
              <a:spcAft>
                <a:spcPts val="0"/>
              </a:spcAft>
              <a:buNone/>
            </a:pPr>
            <a:r>
              <a:rPr b="1" lang="en-GB" sz="1400">
                <a:solidFill>
                  <a:srgbClr val="FF0000"/>
                </a:solidFill>
                <a:latin typeface="Calibri"/>
                <a:ea typeface="Calibri"/>
                <a:cs typeface="Calibri"/>
                <a:sym typeface="Calibri"/>
              </a:rPr>
              <a:t>6 x 6</a:t>
            </a:r>
            <a:endParaRPr/>
          </a:p>
        </p:txBody>
      </p:sp>
      <p:sp>
        <p:nvSpPr>
          <p:cNvPr id="132" name="Google Shape;132;p13"/>
          <p:cNvSpPr txBox="1"/>
          <p:nvPr/>
        </p:nvSpPr>
        <p:spPr>
          <a:xfrm>
            <a:off x="4857762" y="8847508"/>
            <a:ext cx="1973617"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400">
                <a:solidFill>
                  <a:srgbClr val="FF0000"/>
                </a:solidFill>
                <a:latin typeface="Calibri"/>
                <a:ea typeface="Calibri"/>
                <a:cs typeface="Calibri"/>
                <a:sym typeface="Calibri"/>
              </a:rPr>
              <a:t>1, 2, 3, 4, 6, 9, 12, 18, 36</a:t>
            </a:r>
            <a:endParaRPr/>
          </a:p>
        </p:txBody>
      </p:sp>
      <p:sp>
        <p:nvSpPr>
          <p:cNvPr id="133" name="Google Shape;133;p13"/>
          <p:cNvSpPr txBox="1"/>
          <p:nvPr/>
        </p:nvSpPr>
        <p:spPr>
          <a:xfrm>
            <a:off x="2270617" y="9287196"/>
            <a:ext cx="3429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odd</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idx="12" type="sldNum"/>
          </p:nvPr>
        </p:nvSpPr>
        <p:spPr>
          <a:xfrm>
            <a:off x="5384318" y="9562176"/>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39" name="Google Shape;139;p14"/>
          <p:cNvSpPr txBox="1"/>
          <p:nvPr/>
        </p:nvSpPr>
        <p:spPr>
          <a:xfrm>
            <a:off x="1261803" y="255272"/>
            <a:ext cx="376474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 Write down all of the factors of the following numbers:</a:t>
            </a:r>
            <a:endParaRPr sz="1200">
              <a:solidFill>
                <a:schemeClr val="dk1"/>
              </a:solidFill>
              <a:latin typeface="Calibri"/>
              <a:ea typeface="Calibri"/>
              <a:cs typeface="Calibri"/>
              <a:sym typeface="Calibri"/>
            </a:endParaRPr>
          </a:p>
        </p:txBody>
      </p:sp>
      <p:graphicFrame>
        <p:nvGraphicFramePr>
          <p:cNvPr id="140" name="Google Shape;140;p14"/>
          <p:cNvGraphicFramePr/>
          <p:nvPr/>
        </p:nvGraphicFramePr>
        <p:xfrm>
          <a:off x="123849" y="595725"/>
          <a:ext cx="3000000" cy="3000000"/>
        </p:xfrm>
        <a:graphic>
          <a:graphicData uri="http://schemas.openxmlformats.org/drawingml/2006/table">
            <a:tbl>
              <a:tblPr>
                <a:noFill/>
                <a:tableStyleId>{B574D3B1-9571-448E-8B86-D19A2BFB36F8}</a:tableStyleId>
              </a:tblPr>
              <a:tblGrid>
                <a:gridCol w="2203425"/>
                <a:gridCol w="2203425"/>
                <a:gridCol w="2203425"/>
              </a:tblGrid>
              <a:tr h="1296000">
                <a:tc>
                  <a:txBody>
                    <a:bodyPr/>
                    <a:lstStyle/>
                    <a:p>
                      <a:pPr indent="0" lvl="0" marL="0" marR="0" rtl="0" algn="l">
                        <a:spcBef>
                          <a:spcPts val="0"/>
                        </a:spcBef>
                        <a:spcAft>
                          <a:spcPts val="0"/>
                        </a:spcAft>
                        <a:buNone/>
                      </a:pPr>
                      <a:r>
                        <a:rPr lang="en-GB" sz="1200"/>
                        <a:t>a) 5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b) 3</a:t>
                      </a:r>
                      <a:endParaRPr/>
                    </a:p>
                  </a:txBody>
                  <a:tcPr marT="45725" marB="45725" marR="91450" marL="91450"/>
                </a:tc>
                <a:tc>
                  <a:txBody>
                    <a:bodyPr/>
                    <a:lstStyle/>
                    <a:p>
                      <a:pPr indent="0" lvl="0" marL="0" marR="0" rtl="0" algn="l">
                        <a:spcBef>
                          <a:spcPts val="0"/>
                        </a:spcBef>
                        <a:spcAft>
                          <a:spcPts val="0"/>
                        </a:spcAft>
                        <a:buNone/>
                      </a:pPr>
                      <a:r>
                        <a:rPr lang="en-GB" sz="1200"/>
                        <a:t>c) 10</a:t>
                      </a:r>
                      <a:endParaRPr/>
                    </a:p>
                  </a:txBody>
                  <a:tcPr marT="45725" marB="45725" marR="91450" marL="91450"/>
                </a:tc>
              </a:tr>
              <a:tr h="1296000">
                <a:tc>
                  <a:txBody>
                    <a:bodyPr/>
                    <a:lstStyle/>
                    <a:p>
                      <a:pPr indent="0" lvl="0" marL="0" marR="0" rtl="0" algn="l">
                        <a:spcBef>
                          <a:spcPts val="0"/>
                        </a:spcBef>
                        <a:spcAft>
                          <a:spcPts val="0"/>
                        </a:spcAft>
                        <a:buNone/>
                      </a:pPr>
                      <a:r>
                        <a:rPr lang="en-GB" sz="1200"/>
                        <a:t>d) 25</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e) 11</a:t>
                      </a:r>
                      <a:endParaRPr/>
                    </a:p>
                  </a:txBody>
                  <a:tcPr marT="45725" marB="45725" marR="91450" marL="91450"/>
                </a:tc>
                <a:tc>
                  <a:txBody>
                    <a:bodyPr/>
                    <a:lstStyle/>
                    <a:p>
                      <a:pPr indent="0" lvl="0" marL="0" marR="0" rtl="0" algn="l">
                        <a:spcBef>
                          <a:spcPts val="0"/>
                        </a:spcBef>
                        <a:spcAft>
                          <a:spcPts val="0"/>
                        </a:spcAft>
                        <a:buNone/>
                      </a:pPr>
                      <a:r>
                        <a:rPr lang="en-GB" sz="1200"/>
                        <a:t>f) 20</a:t>
                      </a:r>
                      <a:endParaRPr/>
                    </a:p>
                  </a:txBody>
                  <a:tcPr marT="45725" marB="45725" marR="91450" marL="91450"/>
                </a:tc>
              </a:tr>
              <a:tr h="1296000">
                <a:tc>
                  <a:txBody>
                    <a:bodyPr/>
                    <a:lstStyle/>
                    <a:p>
                      <a:pPr indent="0" lvl="0" marL="0" marR="0" rtl="0" algn="l">
                        <a:spcBef>
                          <a:spcPts val="0"/>
                        </a:spcBef>
                        <a:spcAft>
                          <a:spcPts val="0"/>
                        </a:spcAft>
                        <a:buNone/>
                      </a:pPr>
                      <a:r>
                        <a:rPr lang="en-GB" sz="1200"/>
                        <a:t>g) 8</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GB" sz="1200"/>
                        <a:t>h) 12</a:t>
                      </a:r>
                      <a:endParaRPr/>
                    </a:p>
                  </a:txBody>
                  <a:tcPr marT="45725" marB="45725" marR="91450" marL="91450"/>
                </a:tc>
                <a:tc>
                  <a:txBody>
                    <a:bodyPr/>
                    <a:lstStyle/>
                    <a:p>
                      <a:pPr indent="0" lvl="0" marL="0" marR="0" rtl="0" algn="l">
                        <a:spcBef>
                          <a:spcPts val="0"/>
                        </a:spcBef>
                        <a:spcAft>
                          <a:spcPts val="0"/>
                        </a:spcAft>
                        <a:buNone/>
                      </a:pPr>
                      <a:r>
                        <a:rPr lang="en-GB" sz="1200"/>
                        <a:t>i) 22</a:t>
                      </a:r>
                      <a:endParaRPr/>
                    </a:p>
                  </a:txBody>
                  <a:tcPr marT="45725" marB="45725" marR="91450" marL="91450"/>
                </a:tc>
              </a:tr>
              <a:tr h="1296000">
                <a:tc>
                  <a:txBody>
                    <a:bodyPr/>
                    <a:lstStyle/>
                    <a:p>
                      <a:pPr indent="0" lvl="0" marL="0" marR="0" rtl="0" algn="l">
                        <a:spcBef>
                          <a:spcPts val="0"/>
                        </a:spcBef>
                        <a:spcAft>
                          <a:spcPts val="0"/>
                        </a:spcAft>
                        <a:buNone/>
                      </a:pPr>
                      <a:r>
                        <a:rPr lang="en-GB" sz="1200"/>
                        <a:t>j) 18</a:t>
                      </a:r>
                      <a:endParaRPr/>
                    </a:p>
                  </a:txBody>
                  <a:tcPr marT="45725" marB="45725" marR="91450" marL="91450"/>
                </a:tc>
                <a:tc>
                  <a:txBody>
                    <a:bodyPr/>
                    <a:lstStyle/>
                    <a:p>
                      <a:pPr indent="0" lvl="0" marL="0" marR="0" rtl="0" algn="l">
                        <a:spcBef>
                          <a:spcPts val="0"/>
                        </a:spcBef>
                        <a:spcAft>
                          <a:spcPts val="0"/>
                        </a:spcAft>
                        <a:buNone/>
                      </a:pPr>
                      <a:r>
                        <a:rPr lang="en-GB" sz="1200"/>
                        <a:t>k) 50</a:t>
                      </a:r>
                      <a:endParaRPr/>
                    </a:p>
                  </a:txBody>
                  <a:tcPr marT="45725" marB="45725" marR="91450" marL="91450"/>
                </a:tc>
                <a:tc>
                  <a:txBody>
                    <a:bodyPr/>
                    <a:lstStyle/>
                    <a:p>
                      <a:pPr indent="0" lvl="0" marL="0" marR="0" rtl="0" algn="l">
                        <a:spcBef>
                          <a:spcPts val="0"/>
                        </a:spcBef>
                        <a:spcAft>
                          <a:spcPts val="0"/>
                        </a:spcAft>
                        <a:buNone/>
                      </a:pPr>
                      <a:r>
                        <a:rPr lang="en-GB" sz="1200"/>
                        <a:t>l) 15</a:t>
                      </a:r>
                      <a:endParaRPr/>
                    </a:p>
                  </a:txBody>
                  <a:tcPr marT="45725" marB="45725" marR="91450" marL="91450"/>
                </a:tc>
              </a:tr>
              <a:tr h="1296000">
                <a:tc>
                  <a:txBody>
                    <a:bodyPr/>
                    <a:lstStyle/>
                    <a:p>
                      <a:pPr indent="0" lvl="0" marL="0" marR="0" rtl="0" algn="l">
                        <a:spcBef>
                          <a:spcPts val="0"/>
                        </a:spcBef>
                        <a:spcAft>
                          <a:spcPts val="0"/>
                        </a:spcAft>
                        <a:buNone/>
                      </a:pPr>
                      <a:r>
                        <a:rPr lang="en-GB" sz="1200"/>
                        <a:t>m) 19</a:t>
                      </a:r>
                      <a:endParaRPr/>
                    </a:p>
                  </a:txBody>
                  <a:tcPr marT="45725" marB="45725" marR="91450" marL="91450"/>
                </a:tc>
                <a:tc>
                  <a:txBody>
                    <a:bodyPr/>
                    <a:lstStyle/>
                    <a:p>
                      <a:pPr indent="0" lvl="0" marL="0" marR="0" rtl="0" algn="l">
                        <a:spcBef>
                          <a:spcPts val="0"/>
                        </a:spcBef>
                        <a:spcAft>
                          <a:spcPts val="0"/>
                        </a:spcAft>
                        <a:buNone/>
                      </a:pPr>
                      <a:r>
                        <a:rPr lang="en-GB" sz="1200"/>
                        <a:t>n) 30</a:t>
                      </a:r>
                      <a:endParaRPr/>
                    </a:p>
                  </a:txBody>
                  <a:tcPr marT="45725" marB="45725" marR="91450" marL="91450"/>
                </a:tc>
                <a:tc>
                  <a:txBody>
                    <a:bodyPr/>
                    <a:lstStyle/>
                    <a:p>
                      <a:pPr indent="0" lvl="0" marL="0" marR="0" rtl="0" algn="l">
                        <a:spcBef>
                          <a:spcPts val="0"/>
                        </a:spcBef>
                        <a:spcAft>
                          <a:spcPts val="0"/>
                        </a:spcAft>
                        <a:buNone/>
                      </a:pPr>
                      <a:r>
                        <a:rPr lang="en-GB" sz="1200"/>
                        <a:t>o) 144</a:t>
                      </a:r>
                      <a:endParaRPr/>
                    </a:p>
                  </a:txBody>
                  <a:tcPr marT="45725" marB="45725" marR="91450" marL="91450"/>
                </a:tc>
              </a:tr>
              <a:tr h="1296000">
                <a:tc>
                  <a:txBody>
                    <a:bodyPr/>
                    <a:lstStyle/>
                    <a:p>
                      <a:pPr indent="0" lvl="0" marL="0" marR="0" rtl="0" algn="l">
                        <a:spcBef>
                          <a:spcPts val="0"/>
                        </a:spcBef>
                        <a:spcAft>
                          <a:spcPts val="0"/>
                        </a:spcAft>
                        <a:buNone/>
                      </a:pPr>
                      <a:r>
                        <a:rPr lang="en-GB" sz="1200">
                          <a:solidFill>
                            <a:schemeClr val="dk1"/>
                          </a:solidFill>
                        </a:rPr>
                        <a:t>p) 49</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q) 45</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r) 54</a:t>
                      </a:r>
                      <a:endParaRPr/>
                    </a:p>
                  </a:txBody>
                  <a:tcPr marT="45725" marB="45725" marR="91450" marL="91450"/>
                </a:tc>
              </a:tr>
              <a:tr h="1296000">
                <a:tc>
                  <a:txBody>
                    <a:bodyPr/>
                    <a:lstStyle/>
                    <a:p>
                      <a:pPr indent="0" lvl="0" marL="0" marR="0" rtl="0" algn="l">
                        <a:spcBef>
                          <a:spcPts val="0"/>
                        </a:spcBef>
                        <a:spcAft>
                          <a:spcPts val="0"/>
                        </a:spcAft>
                        <a:buNone/>
                      </a:pPr>
                      <a:r>
                        <a:rPr lang="en-GB" sz="1200">
                          <a:solidFill>
                            <a:schemeClr val="dk1"/>
                          </a:solidFill>
                        </a:rPr>
                        <a:t>s) 28</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t) 66</a:t>
                      </a:r>
                      <a:endParaRPr/>
                    </a:p>
                  </a:txBody>
                  <a:tcPr marT="45725" marB="45725" marR="91450" marL="91450"/>
                </a:tc>
                <a:tc>
                  <a:txBody>
                    <a:bodyPr/>
                    <a:lstStyle/>
                    <a:p>
                      <a:pPr indent="0" lvl="0" marL="0" marR="0" rtl="0" algn="l">
                        <a:spcBef>
                          <a:spcPts val="0"/>
                        </a:spcBef>
                        <a:spcAft>
                          <a:spcPts val="0"/>
                        </a:spcAft>
                        <a:buNone/>
                      </a:pPr>
                      <a:r>
                        <a:rPr lang="en-GB" sz="1200">
                          <a:solidFill>
                            <a:schemeClr val="dk1"/>
                          </a:solidFill>
                        </a:rPr>
                        <a:t>u) 70</a:t>
                      </a:r>
                      <a:endParaRPr/>
                    </a:p>
                  </a:txBody>
                  <a:tcPr marT="45725" marB="45725" marR="91450" marL="91450"/>
                </a:tc>
              </a:tr>
            </a:tbl>
          </a:graphicData>
        </a:graphic>
      </p:graphicFrame>
      <p:sp>
        <p:nvSpPr>
          <p:cNvPr id="141" name="Google Shape;141;p14"/>
          <p:cNvSpPr/>
          <p:nvPr/>
        </p:nvSpPr>
        <p:spPr>
          <a:xfrm>
            <a:off x="123849" y="129845"/>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42" name="Google Shape;142;p14"/>
          <p:cNvSpPr txBox="1"/>
          <p:nvPr/>
        </p:nvSpPr>
        <p:spPr>
          <a:xfrm>
            <a:off x="831272" y="1124588"/>
            <a:ext cx="530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1, 5</a:t>
            </a:r>
            <a:endParaRPr/>
          </a:p>
        </p:txBody>
      </p:sp>
      <p:sp>
        <p:nvSpPr>
          <p:cNvPr id="143" name="Google Shape;143;p14"/>
          <p:cNvSpPr txBox="1"/>
          <p:nvPr/>
        </p:nvSpPr>
        <p:spPr>
          <a:xfrm>
            <a:off x="3205792" y="1124588"/>
            <a:ext cx="530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1, 3</a:t>
            </a:r>
            <a:endParaRPr/>
          </a:p>
        </p:txBody>
      </p:sp>
      <p:sp>
        <p:nvSpPr>
          <p:cNvPr id="144" name="Google Shape;144;p14"/>
          <p:cNvSpPr txBox="1"/>
          <p:nvPr/>
        </p:nvSpPr>
        <p:spPr>
          <a:xfrm>
            <a:off x="5115327" y="1124588"/>
            <a:ext cx="11063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1, 2, 5, 10</a:t>
            </a:r>
            <a:endParaRPr/>
          </a:p>
        </p:txBody>
      </p:sp>
      <p:sp>
        <p:nvSpPr>
          <p:cNvPr id="145" name="Google Shape;145;p14"/>
          <p:cNvSpPr txBox="1"/>
          <p:nvPr/>
        </p:nvSpPr>
        <p:spPr>
          <a:xfrm>
            <a:off x="887377" y="2448693"/>
            <a:ext cx="8771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1, 5, 25</a:t>
            </a:r>
            <a:endParaRPr/>
          </a:p>
        </p:txBody>
      </p:sp>
      <p:sp>
        <p:nvSpPr>
          <p:cNvPr id="146" name="Google Shape;146;p14"/>
          <p:cNvSpPr txBox="1"/>
          <p:nvPr/>
        </p:nvSpPr>
        <p:spPr>
          <a:xfrm>
            <a:off x="3155742" y="2427968"/>
            <a:ext cx="6479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1, 11</a:t>
            </a:r>
            <a:endParaRPr/>
          </a:p>
        </p:txBody>
      </p:sp>
      <p:sp>
        <p:nvSpPr>
          <p:cNvPr id="147" name="Google Shape;147;p14"/>
          <p:cNvSpPr txBox="1"/>
          <p:nvPr/>
        </p:nvSpPr>
        <p:spPr>
          <a:xfrm>
            <a:off x="4852693" y="2427968"/>
            <a:ext cx="1681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1, 2, 4, 5, 10, 20</a:t>
            </a:r>
            <a:endParaRPr/>
          </a:p>
        </p:txBody>
      </p:sp>
      <p:sp>
        <p:nvSpPr>
          <p:cNvPr id="148" name="Google Shape;148;p14"/>
          <p:cNvSpPr txBox="1"/>
          <p:nvPr/>
        </p:nvSpPr>
        <p:spPr>
          <a:xfrm>
            <a:off x="767116" y="3731657"/>
            <a:ext cx="9893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1, 2, 4, 8</a:t>
            </a:r>
            <a:endParaRPr/>
          </a:p>
        </p:txBody>
      </p:sp>
      <p:sp>
        <p:nvSpPr>
          <p:cNvPr id="149" name="Google Shape;149;p14"/>
          <p:cNvSpPr txBox="1"/>
          <p:nvPr/>
        </p:nvSpPr>
        <p:spPr>
          <a:xfrm>
            <a:off x="2688823" y="3759410"/>
            <a:ext cx="15648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1, 2, 3, 4, 6, 12</a:t>
            </a:r>
            <a:endParaRPr/>
          </a:p>
        </p:txBody>
      </p:sp>
      <p:sp>
        <p:nvSpPr>
          <p:cNvPr id="150" name="Google Shape;150;p14"/>
          <p:cNvSpPr txBox="1"/>
          <p:nvPr/>
        </p:nvSpPr>
        <p:spPr>
          <a:xfrm>
            <a:off x="5026552" y="3759410"/>
            <a:ext cx="1223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1, 2, 11, 22</a:t>
            </a:r>
            <a:endParaRPr/>
          </a:p>
        </p:txBody>
      </p:sp>
      <p:sp>
        <p:nvSpPr>
          <p:cNvPr id="151" name="Google Shape;151;p14"/>
          <p:cNvSpPr txBox="1"/>
          <p:nvPr/>
        </p:nvSpPr>
        <p:spPr>
          <a:xfrm>
            <a:off x="937835" y="6266996"/>
            <a:ext cx="6479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1, 19</a:t>
            </a:r>
            <a:endParaRPr/>
          </a:p>
        </p:txBody>
      </p:sp>
      <p:sp>
        <p:nvSpPr>
          <p:cNvPr id="152" name="Google Shape;152;p14"/>
          <p:cNvSpPr txBox="1"/>
          <p:nvPr/>
        </p:nvSpPr>
        <p:spPr>
          <a:xfrm>
            <a:off x="2447870" y="6280850"/>
            <a:ext cx="19111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1, 2, 3, 5, 6, 15, 30</a:t>
            </a:r>
            <a:endParaRPr/>
          </a:p>
        </p:txBody>
      </p:sp>
      <p:sp>
        <p:nvSpPr>
          <p:cNvPr id="153" name="Google Shape;153;p14"/>
          <p:cNvSpPr txBox="1"/>
          <p:nvPr/>
        </p:nvSpPr>
        <p:spPr>
          <a:xfrm>
            <a:off x="4598551" y="6309942"/>
            <a:ext cx="207941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rgbClr val="FF0000"/>
                </a:solidFill>
                <a:latin typeface="Calibri"/>
                <a:ea typeface="Calibri"/>
                <a:cs typeface="Calibri"/>
                <a:sym typeface="Calibri"/>
              </a:rPr>
              <a:t>1, 2, 4, 6, 8, 12, 18, 24,</a:t>
            </a:r>
            <a:endParaRPr/>
          </a:p>
          <a:p>
            <a:pPr indent="0" lvl="0" marL="0" marR="0" rtl="0" algn="ctr">
              <a:spcBef>
                <a:spcPts val="0"/>
              </a:spcBef>
              <a:spcAft>
                <a:spcPts val="0"/>
              </a:spcAft>
              <a:buNone/>
            </a:pPr>
            <a:r>
              <a:rPr b="1" lang="en-GB" sz="1600">
                <a:solidFill>
                  <a:srgbClr val="FF0000"/>
                </a:solidFill>
                <a:latin typeface="Calibri"/>
                <a:ea typeface="Calibri"/>
                <a:cs typeface="Calibri"/>
                <a:sym typeface="Calibri"/>
              </a:rPr>
              <a:t> 36 ,72, 144  </a:t>
            </a:r>
            <a:endParaRPr/>
          </a:p>
        </p:txBody>
      </p:sp>
      <p:sp>
        <p:nvSpPr>
          <p:cNvPr id="154" name="Google Shape;154;p14"/>
          <p:cNvSpPr txBox="1"/>
          <p:nvPr/>
        </p:nvSpPr>
        <p:spPr>
          <a:xfrm>
            <a:off x="479377" y="4953000"/>
            <a:ext cx="15648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1, 2, 3, 6, 9, 18</a:t>
            </a:r>
            <a:endParaRPr/>
          </a:p>
        </p:txBody>
      </p:sp>
      <p:sp>
        <p:nvSpPr>
          <p:cNvPr id="155" name="Google Shape;155;p14"/>
          <p:cNvSpPr txBox="1"/>
          <p:nvPr/>
        </p:nvSpPr>
        <p:spPr>
          <a:xfrm>
            <a:off x="2560081" y="4978500"/>
            <a:ext cx="17988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1, 2, 5, 10, 25, 50</a:t>
            </a:r>
            <a:endParaRPr/>
          </a:p>
        </p:txBody>
      </p:sp>
      <p:sp>
        <p:nvSpPr>
          <p:cNvPr id="156" name="Google Shape;156;p14"/>
          <p:cNvSpPr txBox="1"/>
          <p:nvPr/>
        </p:nvSpPr>
        <p:spPr>
          <a:xfrm>
            <a:off x="4998308" y="4978500"/>
            <a:ext cx="11063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1, 3, 5, 15</a:t>
            </a:r>
            <a:endParaRPr/>
          </a:p>
        </p:txBody>
      </p:sp>
      <p:sp>
        <p:nvSpPr>
          <p:cNvPr id="157" name="Google Shape;157;p14"/>
          <p:cNvSpPr txBox="1"/>
          <p:nvPr/>
        </p:nvSpPr>
        <p:spPr>
          <a:xfrm>
            <a:off x="823221" y="7580992"/>
            <a:ext cx="8771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1, 7, 49</a:t>
            </a:r>
            <a:endParaRPr/>
          </a:p>
        </p:txBody>
      </p:sp>
      <p:sp>
        <p:nvSpPr>
          <p:cNvPr id="158" name="Google Shape;158;p14"/>
          <p:cNvSpPr txBox="1"/>
          <p:nvPr/>
        </p:nvSpPr>
        <p:spPr>
          <a:xfrm>
            <a:off x="2560081" y="7585278"/>
            <a:ext cx="1681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1, 3, 5, 9, 15, 45</a:t>
            </a:r>
            <a:endParaRPr/>
          </a:p>
        </p:txBody>
      </p:sp>
      <p:sp>
        <p:nvSpPr>
          <p:cNvPr id="159" name="Google Shape;159;p14"/>
          <p:cNvSpPr txBox="1"/>
          <p:nvPr/>
        </p:nvSpPr>
        <p:spPr>
          <a:xfrm>
            <a:off x="4532502" y="7580992"/>
            <a:ext cx="22573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1, 2, 3, 6, 9, 18, 27, 54</a:t>
            </a:r>
            <a:endParaRPr/>
          </a:p>
        </p:txBody>
      </p:sp>
      <p:sp>
        <p:nvSpPr>
          <p:cNvPr id="160" name="Google Shape;160;p14"/>
          <p:cNvSpPr txBox="1"/>
          <p:nvPr/>
        </p:nvSpPr>
        <p:spPr>
          <a:xfrm>
            <a:off x="521251" y="8831382"/>
            <a:ext cx="1681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1, 2, 4, 7, 14, 28</a:t>
            </a:r>
            <a:endParaRPr/>
          </a:p>
        </p:txBody>
      </p:sp>
      <p:sp>
        <p:nvSpPr>
          <p:cNvPr id="161" name="Google Shape;161;p14"/>
          <p:cNvSpPr txBox="1"/>
          <p:nvPr/>
        </p:nvSpPr>
        <p:spPr>
          <a:xfrm>
            <a:off x="2349470" y="8862160"/>
            <a:ext cx="213071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FF0000"/>
                </a:solidFill>
                <a:latin typeface="Calibri"/>
                <a:ea typeface="Calibri"/>
                <a:cs typeface="Calibri"/>
                <a:sym typeface="Calibri"/>
              </a:rPr>
              <a:t>1, 2, 3, 6, 11, 22, 33, 66</a:t>
            </a:r>
            <a:endParaRPr/>
          </a:p>
        </p:txBody>
      </p:sp>
      <p:sp>
        <p:nvSpPr>
          <p:cNvPr id="162" name="Google Shape;162;p14"/>
          <p:cNvSpPr txBox="1"/>
          <p:nvPr/>
        </p:nvSpPr>
        <p:spPr>
          <a:xfrm>
            <a:off x="4449092" y="8831382"/>
            <a:ext cx="23743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1, 2, 5, 7, 10, 14, 35, 70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5"/>
          <p:cNvSpPr txBox="1"/>
          <p:nvPr>
            <p:ph idx="12" type="sldNum"/>
          </p:nvPr>
        </p:nvSpPr>
        <p:spPr>
          <a:xfrm>
            <a:off x="5314950" y="942577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68" name="Google Shape;168;p15"/>
          <p:cNvSpPr txBox="1"/>
          <p:nvPr/>
        </p:nvSpPr>
        <p:spPr>
          <a:xfrm>
            <a:off x="203024" y="191104"/>
            <a:ext cx="117878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True or false?</a:t>
            </a:r>
            <a:endParaRPr sz="1200">
              <a:solidFill>
                <a:schemeClr val="dk1"/>
              </a:solidFill>
              <a:latin typeface="Calibri"/>
              <a:ea typeface="Calibri"/>
              <a:cs typeface="Calibri"/>
              <a:sym typeface="Calibri"/>
            </a:endParaRPr>
          </a:p>
        </p:txBody>
      </p:sp>
      <p:graphicFrame>
        <p:nvGraphicFramePr>
          <p:cNvPr id="169" name="Google Shape;169;p15"/>
          <p:cNvGraphicFramePr/>
          <p:nvPr/>
        </p:nvGraphicFramePr>
        <p:xfrm>
          <a:off x="203024" y="468103"/>
          <a:ext cx="3000000" cy="3000000"/>
        </p:xfrm>
        <a:graphic>
          <a:graphicData uri="http://schemas.openxmlformats.org/drawingml/2006/table">
            <a:tbl>
              <a:tblPr bandRow="1" firstRow="1">
                <a:noFill/>
                <a:tableStyleId>{D5E0FDCB-F177-4EF1-BCC8-0BE272FC9135}</a:tableStyleId>
              </a:tblPr>
              <a:tblGrid>
                <a:gridCol w="2012150"/>
                <a:gridCol w="1241500"/>
                <a:gridCol w="2000450"/>
                <a:gridCol w="1253200"/>
              </a:tblGrid>
              <a:tr h="648000">
                <a:tc>
                  <a:txBody>
                    <a:bodyPr/>
                    <a:lstStyle/>
                    <a:p>
                      <a:pPr indent="0" lvl="0" marL="0" marR="0" rtl="0" algn="l">
                        <a:spcBef>
                          <a:spcPts val="0"/>
                        </a:spcBef>
                        <a:spcAft>
                          <a:spcPts val="0"/>
                        </a:spcAft>
                        <a:buClr>
                          <a:schemeClr val="dk1"/>
                        </a:buClr>
                        <a:buSzPts val="1200"/>
                        <a:buFont typeface="Calibri"/>
                        <a:buNone/>
                      </a:pPr>
                      <a:r>
                        <a:rPr b="0" lang="en-GB" sz="1200">
                          <a:solidFill>
                            <a:schemeClr val="dk1"/>
                          </a:solidFill>
                        </a:rPr>
                        <a:t>a) 6 is a factor of 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 3 is a factor of 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c) 3 is a factor of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 6 is a factor of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e) 6 is a factor of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 3 is a factor of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g) 1 is a factor of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 9 is a factor of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i) 18 is a factor of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j) 9 is a factor of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k) 7 is a factor of 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l) 7 is a factor of 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m) 7 is a factor of 27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n) 7 is a factor of 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o) 6 is a factor of 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p) 12 is a factor of 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q) 24 is a factor of 36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r) 24 is a factor of 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s) 6 is a factor of 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t) 1 is a factor of 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u) 1 is a factor of 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v) 2 is a factor of 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w) 10 has an odd number of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x) 25 has an odd number of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800"/>
                        <a:buFont typeface="Calibri"/>
                        <a:buNone/>
                      </a:pPr>
                      <a:r>
                        <a:rPr b="0" lang="en-GB" sz="1800">
                          <a:solidFill>
                            <a:schemeClr val="dk1"/>
                          </a:solidFill>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y) 36 has an odd number of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z) 63 has an odd number of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aa) 230 has an odd number of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ab) 225 has an odd number of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b="0" i="0" lang="en-GB" sz="1800" u="none" cap="none" strike="noStrike">
                          <a:solidFill>
                            <a:srgbClr val="000000"/>
                          </a:solidFill>
                          <a:latin typeface="Calibri"/>
                          <a:ea typeface="Calibri"/>
                          <a:cs typeface="Calibri"/>
                          <a:sym typeface="Calibri"/>
                        </a:rPr>
                        <a:t>True/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70" name="Google Shape;170;p15"/>
          <p:cNvSpPr/>
          <p:nvPr/>
        </p:nvSpPr>
        <p:spPr>
          <a:xfrm>
            <a:off x="2653118" y="609600"/>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15"/>
          <p:cNvSpPr/>
          <p:nvPr/>
        </p:nvSpPr>
        <p:spPr>
          <a:xfrm>
            <a:off x="5314950" y="609600"/>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15"/>
          <p:cNvSpPr/>
          <p:nvPr/>
        </p:nvSpPr>
        <p:spPr>
          <a:xfrm>
            <a:off x="2098936" y="1249768"/>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15"/>
          <p:cNvSpPr/>
          <p:nvPr/>
        </p:nvSpPr>
        <p:spPr>
          <a:xfrm>
            <a:off x="5980606" y="1246817"/>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15"/>
          <p:cNvSpPr/>
          <p:nvPr/>
        </p:nvSpPr>
        <p:spPr>
          <a:xfrm>
            <a:off x="2105836" y="1917645"/>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15"/>
          <p:cNvSpPr/>
          <p:nvPr/>
        </p:nvSpPr>
        <p:spPr>
          <a:xfrm>
            <a:off x="5335732" y="1914694"/>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15"/>
          <p:cNvSpPr/>
          <p:nvPr/>
        </p:nvSpPr>
        <p:spPr>
          <a:xfrm>
            <a:off x="2098936" y="2554862"/>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15"/>
          <p:cNvSpPr/>
          <p:nvPr/>
        </p:nvSpPr>
        <p:spPr>
          <a:xfrm>
            <a:off x="5356514" y="2551911"/>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 name="Google Shape;178;p15"/>
          <p:cNvSpPr/>
          <p:nvPr/>
        </p:nvSpPr>
        <p:spPr>
          <a:xfrm>
            <a:off x="2750100" y="3222739"/>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15"/>
          <p:cNvSpPr/>
          <p:nvPr/>
        </p:nvSpPr>
        <p:spPr>
          <a:xfrm>
            <a:off x="5363441" y="3178225"/>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15"/>
          <p:cNvSpPr/>
          <p:nvPr/>
        </p:nvSpPr>
        <p:spPr>
          <a:xfrm>
            <a:off x="2098936" y="3859956"/>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 name="Google Shape;181;p15"/>
          <p:cNvSpPr/>
          <p:nvPr/>
        </p:nvSpPr>
        <p:spPr>
          <a:xfrm>
            <a:off x="5980606" y="3846102"/>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15"/>
          <p:cNvSpPr/>
          <p:nvPr/>
        </p:nvSpPr>
        <p:spPr>
          <a:xfrm>
            <a:off x="2653118" y="4527833"/>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15"/>
          <p:cNvSpPr/>
          <p:nvPr/>
        </p:nvSpPr>
        <p:spPr>
          <a:xfrm>
            <a:off x="5943691" y="4527833"/>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15"/>
          <p:cNvSpPr/>
          <p:nvPr/>
        </p:nvSpPr>
        <p:spPr>
          <a:xfrm>
            <a:off x="2050418" y="5105466"/>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15"/>
          <p:cNvSpPr/>
          <p:nvPr/>
        </p:nvSpPr>
        <p:spPr>
          <a:xfrm>
            <a:off x="5335732" y="5105466"/>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15"/>
          <p:cNvSpPr/>
          <p:nvPr/>
        </p:nvSpPr>
        <p:spPr>
          <a:xfrm>
            <a:off x="2653118" y="5773343"/>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15"/>
          <p:cNvSpPr/>
          <p:nvPr/>
        </p:nvSpPr>
        <p:spPr>
          <a:xfrm>
            <a:off x="5978619" y="5787950"/>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15"/>
          <p:cNvSpPr/>
          <p:nvPr/>
        </p:nvSpPr>
        <p:spPr>
          <a:xfrm>
            <a:off x="2076140" y="6444171"/>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15"/>
          <p:cNvSpPr/>
          <p:nvPr/>
        </p:nvSpPr>
        <p:spPr>
          <a:xfrm>
            <a:off x="5282911" y="6441972"/>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15"/>
          <p:cNvSpPr/>
          <p:nvPr/>
        </p:nvSpPr>
        <p:spPr>
          <a:xfrm>
            <a:off x="2076140" y="7078437"/>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15"/>
          <p:cNvSpPr/>
          <p:nvPr/>
        </p:nvSpPr>
        <p:spPr>
          <a:xfrm>
            <a:off x="5978619" y="7078437"/>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15"/>
          <p:cNvSpPr/>
          <p:nvPr/>
        </p:nvSpPr>
        <p:spPr>
          <a:xfrm>
            <a:off x="2687754" y="7712703"/>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5"/>
          <p:cNvSpPr/>
          <p:nvPr/>
        </p:nvSpPr>
        <p:spPr>
          <a:xfrm>
            <a:off x="5363441" y="7712703"/>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15"/>
          <p:cNvSpPr/>
          <p:nvPr/>
        </p:nvSpPr>
        <p:spPr>
          <a:xfrm>
            <a:off x="2076140" y="8346969"/>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5"/>
          <p:cNvSpPr/>
          <p:nvPr/>
        </p:nvSpPr>
        <p:spPr>
          <a:xfrm>
            <a:off x="5985546" y="8383068"/>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15"/>
          <p:cNvSpPr/>
          <p:nvPr/>
        </p:nvSpPr>
        <p:spPr>
          <a:xfrm>
            <a:off x="2653118" y="9017797"/>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5"/>
          <p:cNvSpPr/>
          <p:nvPr/>
        </p:nvSpPr>
        <p:spPr>
          <a:xfrm>
            <a:off x="5314950" y="9031411"/>
            <a:ext cx="803564" cy="36021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6"/>
          <p:cNvSpPr txBox="1"/>
          <p:nvPr>
            <p:ph idx="12" type="sldNum"/>
          </p:nvPr>
        </p:nvSpPr>
        <p:spPr>
          <a:xfrm>
            <a:off x="5260574" y="942719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03" name="Google Shape;203;p16"/>
          <p:cNvSpPr txBox="1"/>
          <p:nvPr/>
        </p:nvSpPr>
        <p:spPr>
          <a:xfrm>
            <a:off x="203024" y="191104"/>
            <a:ext cx="524797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3. Thinking about factors, which number is the odd one out in each set of values?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You must explain your answers.</a:t>
            </a:r>
            <a:endParaRPr sz="1200">
              <a:solidFill>
                <a:schemeClr val="dk1"/>
              </a:solidFill>
              <a:latin typeface="Calibri"/>
              <a:ea typeface="Calibri"/>
              <a:cs typeface="Calibri"/>
              <a:sym typeface="Calibri"/>
            </a:endParaRPr>
          </a:p>
        </p:txBody>
      </p:sp>
      <p:graphicFrame>
        <p:nvGraphicFramePr>
          <p:cNvPr id="204" name="Google Shape;204;p16"/>
          <p:cNvGraphicFramePr/>
          <p:nvPr/>
        </p:nvGraphicFramePr>
        <p:xfrm>
          <a:off x="271462" y="652769"/>
          <a:ext cx="3000000" cy="3000000"/>
        </p:xfrm>
        <a:graphic>
          <a:graphicData uri="http://schemas.openxmlformats.org/drawingml/2006/table">
            <a:tbl>
              <a:tblPr bandRow="1" firstRow="1">
                <a:noFill/>
                <a:tableStyleId>{D5E0FDCB-F177-4EF1-BCC8-0BE272FC9135}</a:tableStyleId>
              </a:tblPr>
              <a:tblGrid>
                <a:gridCol w="1814000"/>
                <a:gridCol w="4569500"/>
              </a:tblGrid>
              <a:tr h="864325">
                <a:tc>
                  <a:txBody>
                    <a:bodyPr/>
                    <a:lstStyle/>
                    <a:p>
                      <a:pPr indent="0" lvl="0" marL="0" marR="0" rtl="0" algn="l">
                        <a:spcBef>
                          <a:spcPts val="0"/>
                        </a:spcBef>
                        <a:spcAft>
                          <a:spcPts val="0"/>
                        </a:spcAft>
                        <a:buNone/>
                      </a:pPr>
                      <a:r>
                        <a:rPr b="0" lang="en-GB" sz="1200">
                          <a:solidFill>
                            <a:schemeClr val="dk1"/>
                          </a:solidFill>
                        </a:rPr>
                        <a:t>a) 21       25       30       45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GB" sz="1350">
                          <a:solidFill>
                            <a:srgbClr val="FF0000"/>
                          </a:solidFill>
                        </a:rPr>
                        <a:t> 21 because 5 isn’t a factor of 21, but 5 is a factor of the other three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b) 15       24       28       33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GB" sz="1350">
                          <a:solidFill>
                            <a:srgbClr val="FF0000"/>
                          </a:solidFill>
                        </a:rPr>
                        <a:t>28 because 3 isn’t a factor of 28, but 3 is a factor of the other three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spcBef>
                          <a:spcPts val="0"/>
                        </a:spcBef>
                        <a:spcAft>
                          <a:spcPts val="0"/>
                        </a:spcAft>
                        <a:buNone/>
                      </a:pPr>
                      <a:r>
                        <a:rPr b="0" lang="en-GB" sz="1200">
                          <a:solidFill>
                            <a:schemeClr val="dk1"/>
                          </a:solidFill>
                        </a:rPr>
                        <a:t>c) 21       14       49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GB" sz="1350">
                          <a:solidFill>
                            <a:srgbClr val="FF0000"/>
                          </a:solidFill>
                        </a:rPr>
                        <a:t>18 because 7 isn’t a factor of 18, but 7 is a factor of the other three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d) 1       72       36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GB" sz="1350">
                          <a:solidFill>
                            <a:srgbClr val="FF0000"/>
                          </a:solidFill>
                        </a:rPr>
                        <a:t>1 because 3 (or 9) isn’t a factor of 1, but 3 (or 9)  is a factor of the other three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e) 22     111     44      121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GB" sz="1350">
                          <a:solidFill>
                            <a:srgbClr val="FF0000"/>
                          </a:solidFill>
                        </a:rPr>
                        <a:t>111 because 11 isn’t a factor of 111, but 11 is a factor of the other three numbers.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05" name="Google Shape;205;p16"/>
          <p:cNvSpPr txBox="1"/>
          <p:nvPr/>
        </p:nvSpPr>
        <p:spPr>
          <a:xfrm>
            <a:off x="-2315588" y="2785552"/>
            <a:ext cx="645195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a:t>
            </a:r>
            <a:endParaRPr sz="1200">
              <a:solidFill>
                <a:schemeClr val="dk1"/>
              </a:solidFill>
              <a:latin typeface="Calibri"/>
              <a:ea typeface="Calibri"/>
              <a:cs typeface="Calibri"/>
              <a:sym typeface="Calibri"/>
            </a:endParaRPr>
          </a:p>
        </p:txBody>
      </p:sp>
      <p:graphicFrame>
        <p:nvGraphicFramePr>
          <p:cNvPr id="206" name="Google Shape;206;p16"/>
          <p:cNvGraphicFramePr/>
          <p:nvPr/>
        </p:nvGraphicFramePr>
        <p:xfrm>
          <a:off x="271462" y="5374107"/>
          <a:ext cx="3000000" cy="3000000"/>
        </p:xfrm>
        <a:graphic>
          <a:graphicData uri="http://schemas.openxmlformats.org/drawingml/2006/table">
            <a:tbl>
              <a:tblPr bandRow="1" firstRow="1">
                <a:noFill/>
                <a:tableStyleId>{D5E0FDCB-F177-4EF1-BCC8-0BE272FC9135}</a:tableStyleId>
              </a:tblPr>
              <a:tblGrid>
                <a:gridCol w="6383525"/>
              </a:tblGrid>
              <a:tr h="401050">
                <a:tc>
                  <a:txBody>
                    <a:bodyPr/>
                    <a:lstStyle/>
                    <a:p>
                      <a:pPr indent="0" lvl="0" marL="0" marR="0" rtl="0" algn="l">
                        <a:spcBef>
                          <a:spcPts val="0"/>
                        </a:spcBef>
                        <a:spcAft>
                          <a:spcPts val="0"/>
                        </a:spcAft>
                        <a:buNone/>
                      </a:pPr>
                      <a:r>
                        <a:rPr b="0" lang="en-GB" sz="1200">
                          <a:solidFill>
                            <a:schemeClr val="dk1"/>
                          </a:solidFill>
                        </a:rPr>
                        <a:t>a) Mary has 26 sweets and is able to share them evenly between her friends. Mary has more than 1 friend. Write down how many friends Mary could have.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2, 13 or 26</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8975">
                <a:tc>
                  <a:txBody>
                    <a:bodyPr/>
                    <a:lstStyle/>
                    <a:p>
                      <a:pPr indent="0" lvl="0" marL="0" marR="0" rtl="0" algn="l">
                        <a:spcBef>
                          <a:spcPts val="0"/>
                        </a:spcBef>
                        <a:spcAft>
                          <a:spcPts val="0"/>
                        </a:spcAft>
                        <a:buNone/>
                      </a:pPr>
                      <a:r>
                        <a:rPr lang="en-GB" sz="1200"/>
                        <a:t>b) Hamna is thinking of a number. She says, “My number is odd. It is a factor of 10” What could the number be?</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1 or 5</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65650">
                <a:tc>
                  <a:txBody>
                    <a:bodyPr/>
                    <a:lstStyle/>
                    <a:p>
                      <a:pPr indent="0" lvl="0" marL="0" marR="0" rtl="0" algn="l">
                        <a:spcBef>
                          <a:spcPts val="0"/>
                        </a:spcBef>
                        <a:spcAft>
                          <a:spcPts val="0"/>
                        </a:spcAft>
                        <a:buNone/>
                      </a:pPr>
                      <a:r>
                        <a:rPr b="0" lang="en-GB" sz="1200">
                          <a:solidFill>
                            <a:schemeClr val="dk1"/>
                          </a:solidFill>
                        </a:rPr>
                        <a:t>c) </a:t>
                      </a:r>
                      <a:r>
                        <a:rPr lang="en-GB" sz="1200"/>
                        <a:t>Jan writes down one multiple of 9 and two different factors of 40. Jan adds together her three numbers. Her answer is greater than 20 but less than 30. Find three numbers that Jan could have written down.</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864000">
                <a:tc>
                  <a:txBody>
                    <a:bodyPr/>
                    <a:lstStyle/>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E.g. 18, 4 and 2</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07" name="Google Shape;207;p16"/>
          <p:cNvSpPr txBox="1"/>
          <p:nvPr/>
        </p:nvSpPr>
        <p:spPr>
          <a:xfrm>
            <a:off x="235108" y="5137044"/>
            <a:ext cx="45960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4. Answer the following questions: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7"/>
          <p:cNvSpPr txBox="1"/>
          <p:nvPr>
            <p:ph idx="12" type="sldNum"/>
          </p:nvPr>
        </p:nvSpPr>
        <p:spPr>
          <a:xfrm>
            <a:off x="5208108" y="945880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13" name="Google Shape;213;p17"/>
          <p:cNvGraphicFramePr/>
          <p:nvPr/>
        </p:nvGraphicFramePr>
        <p:xfrm>
          <a:off x="237243" y="326477"/>
          <a:ext cx="3000000" cy="3000000"/>
        </p:xfrm>
        <a:graphic>
          <a:graphicData uri="http://schemas.openxmlformats.org/drawingml/2006/table">
            <a:tbl>
              <a:tblPr bandRow="1" firstRow="1">
                <a:noFill/>
                <a:tableStyleId>{D5E0FDCB-F177-4EF1-BCC8-0BE272FC9135}</a:tableStyleId>
              </a:tblPr>
              <a:tblGrid>
                <a:gridCol w="6383525"/>
              </a:tblGrid>
              <a:tr h="51335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d) </a:t>
                      </a:r>
                      <a:r>
                        <a:rPr b="0" i="0" lang="en-GB" sz="1200" u="none" cap="none" strike="noStrike">
                          <a:solidFill>
                            <a:srgbClr val="000000"/>
                          </a:solidFill>
                          <a:latin typeface="Calibri"/>
                          <a:ea typeface="Calibri"/>
                          <a:cs typeface="Calibri"/>
                          <a:sym typeface="Calibri"/>
                        </a:rPr>
                        <a:t>Marta says odd square numbers have exactly three factors. Give one example where this is correct and another where this is not correct. In each case, write down the number and its factors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92000">
                <a:tc>
                  <a:txBody>
                    <a:bodyPr/>
                    <a:lstStyle/>
                    <a:p>
                      <a:pPr indent="0" lvl="0" marL="0" marR="0" rtl="0" algn="l">
                        <a:spcBef>
                          <a:spcPts val="0"/>
                        </a:spcBef>
                        <a:spcAft>
                          <a:spcPts val="0"/>
                        </a:spcAft>
                        <a:buNone/>
                      </a:pPr>
                      <a:r>
                        <a:rPr b="0" lang="en-GB" sz="1200">
                          <a:solidFill>
                            <a:schemeClr val="dk1"/>
                          </a:solidFill>
                        </a:rPr>
                        <a:t>Correct: </a:t>
                      </a:r>
                      <a:r>
                        <a:rPr b="1" lang="en-GB" sz="1200">
                          <a:solidFill>
                            <a:srgbClr val="FF0000"/>
                          </a:solidFill>
                        </a:rPr>
                        <a:t>9 has factors 1, 3 and 9.</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Not correct: </a:t>
                      </a:r>
                      <a:r>
                        <a:rPr b="1" lang="en-GB" sz="1200">
                          <a:solidFill>
                            <a:srgbClr val="FF0000"/>
                          </a:solidFill>
                        </a:rPr>
                        <a:t>36 has factors 1, 2, 3, 4, 6, 9, 12, 18, 36</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16825">
                <a:tc>
                  <a:txBody>
                    <a:bodyPr/>
                    <a:lstStyle/>
                    <a:p>
                      <a:pPr indent="0" lvl="0" marL="0" marR="0" rtl="0" algn="l">
                        <a:spcBef>
                          <a:spcPts val="0"/>
                        </a:spcBef>
                        <a:spcAft>
                          <a:spcPts val="0"/>
                        </a:spcAft>
                        <a:buNone/>
                      </a:pPr>
                      <a:r>
                        <a:rPr b="0" lang="en-GB" sz="1200">
                          <a:solidFill>
                            <a:schemeClr val="dk1"/>
                          </a:solidFill>
                        </a:rPr>
                        <a:t>e) Write three factors of 30 that are </a:t>
                      </a:r>
                      <a:r>
                        <a:rPr b="1" lang="en-GB" sz="1200">
                          <a:solidFill>
                            <a:schemeClr val="dk1"/>
                          </a:solidFill>
                        </a:rPr>
                        <a:t>not</a:t>
                      </a:r>
                      <a:r>
                        <a:rPr b="0" lang="en-GB" sz="1200">
                          <a:solidFill>
                            <a:schemeClr val="dk1"/>
                          </a:solidFill>
                        </a:rPr>
                        <a:t> factors of 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92000">
                <a:tc>
                  <a:txBody>
                    <a:bodyPr/>
                    <a:lstStyle/>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lnSpc>
                          <a:spcPct val="100000"/>
                        </a:lnSpc>
                        <a:spcBef>
                          <a:spcPts val="0"/>
                        </a:spcBef>
                        <a:spcAft>
                          <a:spcPts val="0"/>
                        </a:spcAft>
                        <a:buClr>
                          <a:srgbClr val="FF0000"/>
                        </a:buClr>
                        <a:buSzPts val="1200"/>
                        <a:buFont typeface="Calibri"/>
                        <a:buNone/>
                      </a:pPr>
                      <a:r>
                        <a:rPr b="1" lang="en-GB" sz="1200">
                          <a:solidFill>
                            <a:srgbClr val="FF0000"/>
                          </a:solidFill>
                        </a:rPr>
                        <a:t>2, 6 and 10</a:t>
                      </a:r>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9650">
                <a:tc>
                  <a:txBody>
                    <a:bodyPr/>
                    <a:lstStyle/>
                    <a:p>
                      <a:pPr indent="0" lvl="0" marL="0" marR="0" rtl="0" algn="l">
                        <a:spcBef>
                          <a:spcPts val="0"/>
                        </a:spcBef>
                        <a:spcAft>
                          <a:spcPts val="0"/>
                        </a:spcAft>
                        <a:buNone/>
                      </a:pPr>
                      <a:r>
                        <a:rPr b="0" lang="en-GB" sz="1200">
                          <a:solidFill>
                            <a:schemeClr val="dk1"/>
                          </a:solidFill>
                        </a:rPr>
                        <a:t>f) Jamil says that cube numbers have an odd number of factors. Is this statement always, sometimes or never true? You must explain your reasoning and give examples to support this.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88000">
                <a:tc>
                  <a:txBody>
                    <a:bodyPr/>
                    <a:lstStyle/>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Sometimes true. </a:t>
                      </a:r>
                      <a:endParaRPr/>
                    </a:p>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27 has factors 1, 3, 9 and 27 (4 factors – even number)</a:t>
                      </a:r>
                      <a:endParaRPr/>
                    </a:p>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1 has factor 1 (1 factor – odd number)</a:t>
                      </a:r>
                      <a:endParaRPr/>
                    </a:p>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8 has factors 1, 2, 4 and 8 (4 factors – even number)</a:t>
                      </a:r>
                      <a:endParaRPr/>
                    </a:p>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rPr>
                        <a:t>64 has factors 1, 2, 4, 8, 16, 32, 64  (7 factors – odd number)</a:t>
                      </a:r>
                      <a:endParaRPr/>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4" name="Google Shape;214;p17"/>
          <p:cNvSpPr txBox="1"/>
          <p:nvPr/>
        </p:nvSpPr>
        <p:spPr>
          <a:xfrm>
            <a:off x="192752" y="5720754"/>
            <a:ext cx="655840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 Here is a list of numbers:  </a:t>
            </a:r>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marR="0" rtl="0" algn="ctr">
              <a:spcBef>
                <a:spcPts val="0"/>
              </a:spcBef>
              <a:spcAft>
                <a:spcPts val="0"/>
              </a:spcAft>
              <a:buNone/>
            </a:pPr>
            <a:r>
              <a:rPr b="1" lang="en-GB" sz="1600">
                <a:solidFill>
                  <a:schemeClr val="dk1"/>
                </a:solidFill>
                <a:latin typeface="Calibri"/>
                <a:ea typeface="Calibri"/>
                <a:cs typeface="Calibri"/>
                <a:sym typeface="Calibri"/>
              </a:rPr>
              <a:t>   3     5     8     11     14     19     20     21     30     35     40</a:t>
            </a:r>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    </a:t>
            </a:r>
            <a:r>
              <a:rPr lang="en-GB" sz="1200">
                <a:solidFill>
                  <a:schemeClr val="dk1"/>
                </a:solidFill>
                <a:latin typeface="Calibri"/>
                <a:ea typeface="Calibri"/>
                <a:cs typeface="Calibri"/>
                <a:sym typeface="Calibri"/>
              </a:rPr>
              <a:t>From the list write down any numbers that are factors of: </a:t>
            </a:r>
            <a:endParaRPr sz="1200">
              <a:solidFill>
                <a:schemeClr val="dk1"/>
              </a:solidFill>
              <a:latin typeface="Calibri"/>
              <a:ea typeface="Calibri"/>
              <a:cs typeface="Calibri"/>
              <a:sym typeface="Calibri"/>
            </a:endParaRPr>
          </a:p>
        </p:txBody>
      </p:sp>
      <p:graphicFrame>
        <p:nvGraphicFramePr>
          <p:cNvPr id="215" name="Google Shape;215;p17"/>
          <p:cNvGraphicFramePr/>
          <p:nvPr/>
        </p:nvGraphicFramePr>
        <p:xfrm>
          <a:off x="237242" y="6836323"/>
          <a:ext cx="3000000" cy="3000000"/>
        </p:xfrm>
        <a:graphic>
          <a:graphicData uri="http://schemas.openxmlformats.org/drawingml/2006/table">
            <a:tbl>
              <a:tblPr>
                <a:noFill/>
                <a:tableStyleId>{B574D3B1-9571-448E-8B86-D19A2BFB36F8}</a:tableStyleId>
              </a:tblPr>
              <a:tblGrid>
                <a:gridCol w="2127850"/>
                <a:gridCol w="2127850"/>
                <a:gridCol w="2127850"/>
              </a:tblGrid>
              <a:tr h="370850">
                <a:tc>
                  <a:txBody>
                    <a:bodyPr/>
                    <a:lstStyle/>
                    <a:p>
                      <a:pPr indent="0" lvl="0" marL="0" marR="0" rtl="0" algn="l">
                        <a:spcBef>
                          <a:spcPts val="0"/>
                        </a:spcBef>
                        <a:spcAft>
                          <a:spcPts val="0"/>
                        </a:spcAft>
                        <a:buNone/>
                      </a:pPr>
                      <a:r>
                        <a:rPr lang="en-GB" sz="1350"/>
                        <a:t>a)  30</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Clr>
                          <a:schemeClr val="dk1"/>
                        </a:buClr>
                        <a:buSzPts val="1350"/>
                        <a:buFont typeface="Calibri"/>
                        <a:buNone/>
                      </a:pPr>
                      <a:r>
                        <a:rPr lang="en-GB" sz="1350"/>
                        <a:t>b) 15</a:t>
                      </a:r>
                      <a:endParaRPr/>
                    </a:p>
                  </a:txBody>
                  <a:tcPr marT="45725" marB="45725" marR="91450" marL="91450"/>
                </a:tc>
                <a:tc>
                  <a:txBody>
                    <a:bodyPr/>
                    <a:lstStyle/>
                    <a:p>
                      <a:pPr indent="0" lvl="0" marL="0" marR="0" rtl="0" algn="l">
                        <a:spcBef>
                          <a:spcPts val="0"/>
                        </a:spcBef>
                        <a:spcAft>
                          <a:spcPts val="0"/>
                        </a:spcAft>
                        <a:buNone/>
                      </a:pPr>
                      <a:r>
                        <a:rPr lang="en-GB" sz="1350"/>
                        <a:t>c) 60</a:t>
                      </a:r>
                      <a:endParaRPr/>
                    </a:p>
                  </a:txBody>
                  <a:tcPr marT="45725" marB="45725" marR="91450" marL="91450"/>
                </a:tc>
              </a:tr>
              <a:tr h="370850">
                <a:tc>
                  <a:txBody>
                    <a:bodyPr/>
                    <a:lstStyle/>
                    <a:p>
                      <a:pPr indent="0" lvl="0" marL="0" marR="0" rtl="0" algn="l">
                        <a:spcBef>
                          <a:spcPts val="0"/>
                        </a:spcBef>
                        <a:spcAft>
                          <a:spcPts val="0"/>
                        </a:spcAft>
                        <a:buNone/>
                      </a:pPr>
                      <a:r>
                        <a:rPr lang="en-GB" sz="1350"/>
                        <a:t>d) 80</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Clr>
                          <a:schemeClr val="dk1"/>
                        </a:buClr>
                        <a:buSzPts val="1350"/>
                        <a:buFont typeface="Calibri"/>
                        <a:buNone/>
                      </a:pPr>
                      <a:r>
                        <a:rPr lang="en-GB" sz="1350"/>
                        <a:t>e) 100</a:t>
                      </a:r>
                      <a:endParaRPr/>
                    </a:p>
                  </a:txBody>
                  <a:tcPr marT="45725" marB="45725" marR="91450" marL="91450"/>
                </a:tc>
                <a:tc>
                  <a:txBody>
                    <a:bodyPr/>
                    <a:lstStyle/>
                    <a:p>
                      <a:pPr indent="0" lvl="0" marL="0" marR="0" rtl="0" algn="l">
                        <a:spcBef>
                          <a:spcPts val="0"/>
                        </a:spcBef>
                        <a:spcAft>
                          <a:spcPts val="0"/>
                        </a:spcAft>
                        <a:buNone/>
                      </a:pPr>
                      <a:r>
                        <a:rPr lang="en-GB" sz="1350"/>
                        <a:t>f) 120</a:t>
                      </a:r>
                      <a:endParaRPr/>
                    </a:p>
                  </a:txBody>
                  <a:tcPr marT="45725" marB="45725" marR="91450" marL="91450"/>
                </a:tc>
              </a:tr>
              <a:tr h="370850">
                <a:tc>
                  <a:txBody>
                    <a:bodyPr/>
                    <a:lstStyle/>
                    <a:p>
                      <a:pPr indent="0" lvl="0" marL="0" marR="0" rtl="0" algn="l">
                        <a:spcBef>
                          <a:spcPts val="0"/>
                        </a:spcBef>
                        <a:spcAft>
                          <a:spcPts val="0"/>
                        </a:spcAft>
                        <a:buNone/>
                      </a:pPr>
                      <a:r>
                        <a:rPr lang="en-GB" sz="1350"/>
                        <a:t>g) 196</a:t>
                      </a:r>
                      <a:endParaRPr/>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p>
                      <a:pPr indent="0" lvl="0" marL="0" marR="0" rtl="0" algn="l">
                        <a:spcBef>
                          <a:spcPts val="0"/>
                        </a:spcBef>
                        <a:spcAft>
                          <a:spcPts val="0"/>
                        </a:spcAft>
                        <a:buNone/>
                      </a:pPr>
                      <a:r>
                        <a:t/>
                      </a:r>
                      <a:endParaRPr sz="1350"/>
                    </a:p>
                  </a:txBody>
                  <a:tcPr marT="45725" marB="45725" marR="91450" marL="91450"/>
                </a:tc>
                <a:tc>
                  <a:txBody>
                    <a:bodyPr/>
                    <a:lstStyle/>
                    <a:p>
                      <a:pPr indent="0" lvl="0" marL="0" marR="0" rtl="0" algn="l">
                        <a:spcBef>
                          <a:spcPts val="0"/>
                        </a:spcBef>
                        <a:spcAft>
                          <a:spcPts val="0"/>
                        </a:spcAft>
                        <a:buClr>
                          <a:schemeClr val="dk1"/>
                        </a:buClr>
                        <a:buSzPts val="1350"/>
                        <a:buFont typeface="Calibri"/>
                        <a:buNone/>
                      </a:pPr>
                      <a:r>
                        <a:rPr lang="en-GB" sz="1350"/>
                        <a:t>h) 10</a:t>
                      </a:r>
                      <a:endParaRPr/>
                    </a:p>
                  </a:txBody>
                  <a:tcPr marT="45725" marB="45725" marR="91450" marL="91450"/>
                </a:tc>
                <a:tc>
                  <a:txBody>
                    <a:bodyPr/>
                    <a:lstStyle/>
                    <a:p>
                      <a:pPr indent="0" lvl="0" marL="0" marR="0" rtl="0" algn="l">
                        <a:spcBef>
                          <a:spcPts val="0"/>
                        </a:spcBef>
                        <a:spcAft>
                          <a:spcPts val="0"/>
                        </a:spcAft>
                        <a:buNone/>
                      </a:pPr>
                      <a:r>
                        <a:rPr lang="en-GB" sz="1350"/>
                        <a:t>i) 2</a:t>
                      </a:r>
                      <a:endParaRPr/>
                    </a:p>
                  </a:txBody>
                  <a:tcPr marT="45725" marB="45725" marR="91450" marL="91450"/>
                </a:tc>
              </a:tr>
            </a:tbl>
          </a:graphicData>
        </a:graphic>
      </p:graphicFrame>
      <p:sp>
        <p:nvSpPr>
          <p:cNvPr id="216" name="Google Shape;216;p17"/>
          <p:cNvSpPr txBox="1"/>
          <p:nvPr/>
        </p:nvSpPr>
        <p:spPr>
          <a:xfrm>
            <a:off x="775854" y="7137461"/>
            <a:ext cx="8771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3, 5, 30</a:t>
            </a:r>
            <a:endParaRPr/>
          </a:p>
        </p:txBody>
      </p:sp>
      <p:sp>
        <p:nvSpPr>
          <p:cNvPr id="217" name="Google Shape;217;p17"/>
          <p:cNvSpPr txBox="1"/>
          <p:nvPr/>
        </p:nvSpPr>
        <p:spPr>
          <a:xfrm>
            <a:off x="3150374" y="7137461"/>
            <a:ext cx="5309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3, 5</a:t>
            </a:r>
            <a:endParaRPr/>
          </a:p>
        </p:txBody>
      </p:sp>
      <p:sp>
        <p:nvSpPr>
          <p:cNvPr id="218" name="Google Shape;218;p17"/>
          <p:cNvSpPr txBox="1"/>
          <p:nvPr/>
        </p:nvSpPr>
        <p:spPr>
          <a:xfrm>
            <a:off x="5059909" y="7137461"/>
            <a:ext cx="1223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3, 5, 20, 30</a:t>
            </a:r>
            <a:endParaRPr/>
          </a:p>
        </p:txBody>
      </p:sp>
      <p:sp>
        <p:nvSpPr>
          <p:cNvPr id="219" name="Google Shape;219;p17"/>
          <p:cNvSpPr txBox="1"/>
          <p:nvPr/>
        </p:nvSpPr>
        <p:spPr>
          <a:xfrm>
            <a:off x="924053" y="8041878"/>
            <a:ext cx="12234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5, 8, 20, 40</a:t>
            </a:r>
            <a:endParaRPr/>
          </a:p>
        </p:txBody>
      </p:sp>
      <p:sp>
        <p:nvSpPr>
          <p:cNvPr id="220" name="Google Shape;220;p17"/>
          <p:cNvSpPr txBox="1"/>
          <p:nvPr/>
        </p:nvSpPr>
        <p:spPr>
          <a:xfrm>
            <a:off x="3298573" y="8041878"/>
            <a:ext cx="6479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5, 20</a:t>
            </a:r>
            <a:endParaRPr/>
          </a:p>
        </p:txBody>
      </p:sp>
      <p:sp>
        <p:nvSpPr>
          <p:cNvPr id="221" name="Google Shape;221;p17"/>
          <p:cNvSpPr txBox="1"/>
          <p:nvPr/>
        </p:nvSpPr>
        <p:spPr>
          <a:xfrm>
            <a:off x="4704847" y="8057233"/>
            <a:ext cx="19159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3, 5, 15, 20, 30, 40</a:t>
            </a:r>
            <a:endParaRPr/>
          </a:p>
        </p:txBody>
      </p:sp>
      <p:sp>
        <p:nvSpPr>
          <p:cNvPr id="222" name="Google Shape;222;p17"/>
          <p:cNvSpPr txBox="1"/>
          <p:nvPr/>
        </p:nvSpPr>
        <p:spPr>
          <a:xfrm>
            <a:off x="1065752" y="8946295"/>
            <a:ext cx="4187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14</a:t>
            </a:r>
            <a:endParaRPr/>
          </a:p>
        </p:txBody>
      </p:sp>
      <p:sp>
        <p:nvSpPr>
          <p:cNvPr id="223" name="Google Shape;223;p17"/>
          <p:cNvSpPr txBox="1"/>
          <p:nvPr/>
        </p:nvSpPr>
        <p:spPr>
          <a:xfrm>
            <a:off x="3278156" y="8963966"/>
            <a:ext cx="3016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5</a:t>
            </a:r>
            <a:endParaRPr/>
          </a:p>
        </p:txBody>
      </p:sp>
      <p:sp>
        <p:nvSpPr>
          <p:cNvPr id="224" name="Google Shape;224;p17"/>
          <p:cNvSpPr txBox="1"/>
          <p:nvPr/>
        </p:nvSpPr>
        <p:spPr>
          <a:xfrm>
            <a:off x="5031422" y="8926219"/>
            <a:ext cx="11190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No values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idx="12" type="sldNum"/>
          </p:nvPr>
        </p:nvSpPr>
        <p:spPr>
          <a:xfrm>
            <a:off x="5030448" y="9334620"/>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pic>
        <p:nvPicPr>
          <p:cNvPr id="230" name="Google Shape;230;p18"/>
          <p:cNvPicPr preferRelativeResize="0"/>
          <p:nvPr/>
        </p:nvPicPr>
        <p:blipFill rotWithShape="1">
          <a:blip r:embed="rId3">
            <a:alphaModFix/>
          </a:blip>
          <a:srcRect b="0" l="0" r="0" t="0"/>
          <a:stretch/>
        </p:blipFill>
        <p:spPr>
          <a:xfrm>
            <a:off x="1047380" y="474199"/>
            <a:ext cx="4763240" cy="1195605"/>
          </a:xfrm>
          <a:prstGeom prst="rect">
            <a:avLst/>
          </a:prstGeom>
          <a:noFill/>
          <a:ln>
            <a:noFill/>
          </a:ln>
        </p:spPr>
      </p:pic>
      <p:sp>
        <p:nvSpPr>
          <p:cNvPr id="231" name="Google Shape;231;p18"/>
          <p:cNvSpPr txBox="1"/>
          <p:nvPr/>
        </p:nvSpPr>
        <p:spPr>
          <a:xfrm>
            <a:off x="247401" y="197200"/>
            <a:ext cx="45960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 Answer the following questions:</a:t>
            </a:r>
            <a:endParaRPr/>
          </a:p>
        </p:txBody>
      </p:sp>
      <p:graphicFrame>
        <p:nvGraphicFramePr>
          <p:cNvPr id="232" name="Google Shape;232;p18"/>
          <p:cNvGraphicFramePr/>
          <p:nvPr/>
        </p:nvGraphicFramePr>
        <p:xfrm>
          <a:off x="247401" y="1753082"/>
          <a:ext cx="3000000" cy="3000000"/>
        </p:xfrm>
        <a:graphic>
          <a:graphicData uri="http://schemas.openxmlformats.org/drawingml/2006/table">
            <a:tbl>
              <a:tblPr bandRow="1" firstRow="1">
                <a:noFill/>
                <a:tableStyleId>{D5E0FDCB-F177-4EF1-BCC8-0BE272FC9135}</a:tableStyleId>
              </a:tblPr>
              <a:tblGrid>
                <a:gridCol w="2880800"/>
                <a:gridCol w="3465100"/>
              </a:tblGrid>
              <a:tr h="504000">
                <a:tc>
                  <a:txBody>
                    <a:bodyPr/>
                    <a:lstStyle/>
                    <a:p>
                      <a:pPr indent="0" lvl="0" marL="0" marR="0" rtl="0" algn="l">
                        <a:spcBef>
                          <a:spcPts val="0"/>
                        </a:spcBef>
                        <a:spcAft>
                          <a:spcPts val="0"/>
                        </a:spcAft>
                        <a:buNone/>
                      </a:pPr>
                      <a:r>
                        <a:rPr b="0" lang="en-GB" sz="1200">
                          <a:solidFill>
                            <a:schemeClr val="dk1"/>
                          </a:solidFill>
                        </a:rPr>
                        <a:t>a) In which box should you place 28?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l">
                        <a:spcBef>
                          <a:spcPts val="0"/>
                        </a:spcBef>
                        <a:spcAft>
                          <a:spcPts val="0"/>
                        </a:spcAft>
                        <a:buNone/>
                      </a:pPr>
                      <a:r>
                        <a:rPr b="0" lang="en-GB" sz="1200">
                          <a:solidFill>
                            <a:schemeClr val="dk1"/>
                          </a:solidFill>
                        </a:rPr>
                        <a:t>b) In which box should you place 30?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l">
                        <a:spcBef>
                          <a:spcPts val="0"/>
                        </a:spcBef>
                        <a:spcAft>
                          <a:spcPts val="0"/>
                        </a:spcAft>
                        <a:buNone/>
                      </a:pPr>
                      <a:r>
                        <a:rPr b="0" lang="en-GB" sz="1200">
                          <a:solidFill>
                            <a:schemeClr val="dk1"/>
                          </a:solidFill>
                        </a:rPr>
                        <a:t>c) In which box should you place 25?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l">
                        <a:spcBef>
                          <a:spcPts val="0"/>
                        </a:spcBef>
                        <a:spcAft>
                          <a:spcPts val="0"/>
                        </a:spcAft>
                        <a:buNone/>
                      </a:pPr>
                      <a:r>
                        <a:rPr b="0" lang="en-GB" sz="1200">
                          <a:solidFill>
                            <a:schemeClr val="dk1"/>
                          </a:solidFill>
                        </a:rPr>
                        <a:t>d) In which box should you place 24?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l">
                        <a:spcBef>
                          <a:spcPts val="0"/>
                        </a:spcBef>
                        <a:spcAft>
                          <a:spcPts val="0"/>
                        </a:spcAft>
                        <a:buNone/>
                      </a:pPr>
                      <a:r>
                        <a:rPr b="0" lang="en-GB" sz="1200">
                          <a:solidFill>
                            <a:schemeClr val="dk1"/>
                          </a:solidFill>
                        </a:rPr>
                        <a:t>e) In which box should you place 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l">
                        <a:spcBef>
                          <a:spcPts val="0"/>
                        </a:spcBef>
                        <a:spcAft>
                          <a:spcPts val="0"/>
                        </a:spcAft>
                        <a:buNone/>
                      </a:pPr>
                      <a:r>
                        <a:rPr b="0" lang="en-GB" sz="1200">
                          <a:solidFill>
                            <a:schemeClr val="dk1"/>
                          </a:solidFill>
                        </a:rPr>
                        <a:t>f) In which box should you place 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b="0" sz="14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33" name="Google Shape;233;p18"/>
          <p:cNvSpPr txBox="1"/>
          <p:nvPr/>
        </p:nvSpPr>
        <p:spPr>
          <a:xfrm>
            <a:off x="199275" y="4953000"/>
            <a:ext cx="45960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 Fill in the blanks with either ‘definitely’, ‘possibly’ or ‘definitely not’:</a:t>
            </a:r>
            <a:endParaRPr/>
          </a:p>
        </p:txBody>
      </p:sp>
      <p:graphicFrame>
        <p:nvGraphicFramePr>
          <p:cNvPr id="234" name="Google Shape;234;p18"/>
          <p:cNvGraphicFramePr/>
          <p:nvPr/>
        </p:nvGraphicFramePr>
        <p:xfrm>
          <a:off x="256048" y="5294167"/>
          <a:ext cx="3000000" cy="3000000"/>
        </p:xfrm>
        <a:graphic>
          <a:graphicData uri="http://schemas.openxmlformats.org/drawingml/2006/table">
            <a:tbl>
              <a:tblPr bandRow="1" firstRow="1">
                <a:noFill/>
                <a:tableStyleId>{D5E0FDCB-F177-4EF1-BCC8-0BE272FC9135}</a:tableStyleId>
              </a:tblPr>
              <a:tblGrid>
                <a:gridCol w="6345900"/>
              </a:tblGrid>
              <a:tr h="684000">
                <a:tc>
                  <a:txBody>
                    <a:bodyPr/>
                    <a:lstStyle/>
                    <a:p>
                      <a:pPr indent="0" lvl="0" marL="0" marR="0" rtl="0" algn="l">
                        <a:spcBef>
                          <a:spcPts val="0"/>
                        </a:spcBef>
                        <a:spcAft>
                          <a:spcPts val="0"/>
                        </a:spcAft>
                        <a:buNone/>
                      </a:pPr>
                      <a:r>
                        <a:rPr b="0" lang="en-GB" sz="1200">
                          <a:solidFill>
                            <a:schemeClr val="dk1"/>
                          </a:solidFill>
                        </a:rPr>
                        <a:t>a) If 35 is a factor of N, then 7 is ________________________ a factor of N.</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4000">
                <a:tc>
                  <a:txBody>
                    <a:bodyPr/>
                    <a:lstStyle/>
                    <a:p>
                      <a:pPr indent="0" lvl="0" marL="0" marR="0" rtl="0" algn="l">
                        <a:spcBef>
                          <a:spcPts val="0"/>
                        </a:spcBef>
                        <a:spcAft>
                          <a:spcPts val="0"/>
                        </a:spcAft>
                        <a:buNone/>
                      </a:pPr>
                      <a:r>
                        <a:rPr b="0" lang="en-GB" sz="1200">
                          <a:solidFill>
                            <a:schemeClr val="dk1"/>
                          </a:solidFill>
                        </a:rPr>
                        <a:t>b) If 3 and 7 are factors of N, then 21 is ________________________ a factor of N.</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4000">
                <a:tc>
                  <a:txBody>
                    <a:bodyPr/>
                    <a:lstStyle/>
                    <a:p>
                      <a:pPr indent="0" lvl="0" marL="0" marR="0" rtl="0" algn="l">
                        <a:spcBef>
                          <a:spcPts val="0"/>
                        </a:spcBef>
                        <a:spcAft>
                          <a:spcPts val="0"/>
                        </a:spcAft>
                        <a:buNone/>
                      </a:pPr>
                      <a:r>
                        <a:rPr b="0" lang="en-GB" sz="1200">
                          <a:solidFill>
                            <a:schemeClr val="dk1"/>
                          </a:solidFill>
                        </a:rPr>
                        <a:t>c) If 15 is a factor of a number, then 30 is ________________________ a factor of that number. </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4000">
                <a:tc>
                  <a:txBody>
                    <a:bodyPr/>
                    <a:lstStyle/>
                    <a:p>
                      <a:pPr indent="0" lvl="0" marL="0" marR="0" rtl="0" algn="l">
                        <a:spcBef>
                          <a:spcPts val="0"/>
                        </a:spcBef>
                        <a:spcAft>
                          <a:spcPts val="0"/>
                        </a:spcAft>
                        <a:buNone/>
                      </a:pPr>
                      <a:r>
                        <a:rPr b="0" lang="en-GB" sz="1200">
                          <a:solidFill>
                            <a:schemeClr val="dk1"/>
                          </a:solidFill>
                        </a:rPr>
                        <a:t>d) If 12 is a factor of a number, then 4 is ________________________ a factor of that number.</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4000">
                <a:tc>
                  <a:txBody>
                    <a:bodyPr/>
                    <a:lstStyle/>
                    <a:p>
                      <a:pPr indent="0" lvl="0" marL="0" marR="0" rtl="0" algn="l">
                        <a:spcBef>
                          <a:spcPts val="0"/>
                        </a:spcBef>
                        <a:spcAft>
                          <a:spcPts val="0"/>
                        </a:spcAft>
                        <a:buNone/>
                      </a:pPr>
                      <a:r>
                        <a:rPr b="0" lang="en-GB" sz="1200">
                          <a:solidFill>
                            <a:schemeClr val="dk1"/>
                          </a:solidFill>
                        </a:rPr>
                        <a:t>e) If 12 is a factor of a number, then 24 is ________________________ a factor of that number.</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84000">
                <a:tc>
                  <a:txBody>
                    <a:bodyPr/>
                    <a:lstStyle/>
                    <a:p>
                      <a:pPr indent="0" lvl="0" marL="0" marR="0" rtl="0" algn="l">
                        <a:spcBef>
                          <a:spcPts val="0"/>
                        </a:spcBef>
                        <a:spcAft>
                          <a:spcPts val="0"/>
                        </a:spcAft>
                        <a:buNone/>
                      </a:pPr>
                      <a:r>
                        <a:rPr b="0" lang="en-GB" sz="1200">
                          <a:solidFill>
                            <a:schemeClr val="dk1"/>
                          </a:solidFill>
                        </a:rPr>
                        <a:t>f) If 9  is a factor of N, then 3 is ________________________ a factor of N.</a:t>
                      </a:r>
                      <a:endParaRPr/>
                    </a:p>
                  </a:txBody>
                  <a:tcPr marT="45725" marB="45725" marR="91450" marL="9145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35" name="Google Shape;235;p18"/>
          <p:cNvSpPr txBox="1"/>
          <p:nvPr/>
        </p:nvSpPr>
        <p:spPr>
          <a:xfrm>
            <a:off x="4795337" y="1821080"/>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C</a:t>
            </a:r>
            <a:endParaRPr/>
          </a:p>
        </p:txBody>
      </p:sp>
      <p:sp>
        <p:nvSpPr>
          <p:cNvPr id="236" name="Google Shape;236;p18"/>
          <p:cNvSpPr txBox="1"/>
          <p:nvPr/>
        </p:nvSpPr>
        <p:spPr>
          <a:xfrm>
            <a:off x="4795337" y="2338165"/>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B</a:t>
            </a:r>
            <a:endParaRPr/>
          </a:p>
        </p:txBody>
      </p:sp>
      <p:sp>
        <p:nvSpPr>
          <p:cNvPr id="237" name="Google Shape;237;p18"/>
          <p:cNvSpPr txBox="1"/>
          <p:nvPr/>
        </p:nvSpPr>
        <p:spPr>
          <a:xfrm>
            <a:off x="4795337" y="2855872"/>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D</a:t>
            </a:r>
            <a:endParaRPr/>
          </a:p>
        </p:txBody>
      </p:sp>
      <p:sp>
        <p:nvSpPr>
          <p:cNvPr id="238" name="Google Shape;238;p18"/>
          <p:cNvSpPr txBox="1"/>
          <p:nvPr/>
        </p:nvSpPr>
        <p:spPr>
          <a:xfrm>
            <a:off x="4795337" y="3347314"/>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C</a:t>
            </a:r>
            <a:endParaRPr/>
          </a:p>
        </p:txBody>
      </p:sp>
      <p:sp>
        <p:nvSpPr>
          <p:cNvPr id="239" name="Google Shape;239;p18"/>
          <p:cNvSpPr txBox="1"/>
          <p:nvPr/>
        </p:nvSpPr>
        <p:spPr>
          <a:xfrm>
            <a:off x="4795337" y="3870514"/>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B</a:t>
            </a:r>
            <a:endParaRPr/>
          </a:p>
        </p:txBody>
      </p:sp>
      <p:sp>
        <p:nvSpPr>
          <p:cNvPr id="240" name="Google Shape;240;p18"/>
          <p:cNvSpPr txBox="1"/>
          <p:nvPr/>
        </p:nvSpPr>
        <p:spPr>
          <a:xfrm>
            <a:off x="4795337" y="4358159"/>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D</a:t>
            </a:r>
            <a:endParaRPr/>
          </a:p>
        </p:txBody>
      </p:sp>
      <p:sp>
        <p:nvSpPr>
          <p:cNvPr id="241" name="Google Shape;241;p18"/>
          <p:cNvSpPr txBox="1"/>
          <p:nvPr/>
        </p:nvSpPr>
        <p:spPr>
          <a:xfrm>
            <a:off x="2628562" y="5562418"/>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definitely</a:t>
            </a:r>
            <a:endParaRPr/>
          </a:p>
        </p:txBody>
      </p:sp>
      <p:sp>
        <p:nvSpPr>
          <p:cNvPr id="242" name="Google Shape;242;p18"/>
          <p:cNvSpPr txBox="1"/>
          <p:nvPr/>
        </p:nvSpPr>
        <p:spPr>
          <a:xfrm>
            <a:off x="3099617" y="6244260"/>
            <a:ext cx="30553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definitely</a:t>
            </a:r>
            <a:endParaRPr/>
          </a:p>
        </p:txBody>
      </p:sp>
      <p:sp>
        <p:nvSpPr>
          <p:cNvPr id="243" name="Google Shape;243;p18"/>
          <p:cNvSpPr txBox="1"/>
          <p:nvPr/>
        </p:nvSpPr>
        <p:spPr>
          <a:xfrm>
            <a:off x="3280064" y="6953812"/>
            <a:ext cx="3927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possibly</a:t>
            </a:r>
            <a:endParaRPr sz="1800">
              <a:solidFill>
                <a:schemeClr val="dk1"/>
              </a:solidFill>
              <a:latin typeface="Calibri"/>
              <a:ea typeface="Calibri"/>
              <a:cs typeface="Calibri"/>
              <a:sym typeface="Calibri"/>
            </a:endParaRPr>
          </a:p>
        </p:txBody>
      </p:sp>
      <p:sp>
        <p:nvSpPr>
          <p:cNvPr id="244" name="Google Shape;244;p18"/>
          <p:cNvSpPr txBox="1"/>
          <p:nvPr/>
        </p:nvSpPr>
        <p:spPr>
          <a:xfrm>
            <a:off x="3262405" y="7636547"/>
            <a:ext cx="3927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definitely</a:t>
            </a:r>
            <a:endParaRPr sz="1800">
              <a:solidFill>
                <a:schemeClr val="dk1"/>
              </a:solidFill>
              <a:latin typeface="Calibri"/>
              <a:ea typeface="Calibri"/>
              <a:cs typeface="Calibri"/>
              <a:sym typeface="Calibri"/>
            </a:endParaRPr>
          </a:p>
        </p:txBody>
      </p:sp>
      <p:sp>
        <p:nvSpPr>
          <p:cNvPr id="245" name="Google Shape;245;p18"/>
          <p:cNvSpPr txBox="1"/>
          <p:nvPr/>
        </p:nvSpPr>
        <p:spPr>
          <a:xfrm>
            <a:off x="3280064" y="8332691"/>
            <a:ext cx="3927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possibly</a:t>
            </a:r>
            <a:endParaRPr sz="1800">
              <a:solidFill>
                <a:schemeClr val="dk1"/>
              </a:solidFill>
              <a:latin typeface="Calibri"/>
              <a:ea typeface="Calibri"/>
              <a:cs typeface="Calibri"/>
              <a:sym typeface="Calibri"/>
            </a:endParaRPr>
          </a:p>
        </p:txBody>
      </p:sp>
      <p:sp>
        <p:nvSpPr>
          <p:cNvPr id="246" name="Google Shape;246;p18"/>
          <p:cNvSpPr txBox="1"/>
          <p:nvPr/>
        </p:nvSpPr>
        <p:spPr>
          <a:xfrm>
            <a:off x="2645736" y="8965288"/>
            <a:ext cx="3927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definitely</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19"/>
          <p:cNvPicPr preferRelativeResize="0"/>
          <p:nvPr/>
        </p:nvPicPr>
        <p:blipFill rotWithShape="1">
          <a:blip r:embed="rId3">
            <a:alphaModFix/>
          </a:blip>
          <a:srcRect b="0" l="0" r="0" t="0"/>
          <a:stretch/>
        </p:blipFill>
        <p:spPr>
          <a:xfrm>
            <a:off x="299789" y="4204200"/>
            <a:ext cx="6247171" cy="5395284"/>
          </a:xfrm>
          <a:prstGeom prst="rect">
            <a:avLst/>
          </a:prstGeom>
          <a:noFill/>
          <a:ln>
            <a:noFill/>
          </a:ln>
        </p:spPr>
      </p:pic>
      <p:sp>
        <p:nvSpPr>
          <p:cNvPr id="252" name="Google Shape;252;p19"/>
          <p:cNvSpPr txBox="1"/>
          <p:nvPr>
            <p:ph idx="12" type="sldNum"/>
          </p:nvPr>
        </p:nvSpPr>
        <p:spPr>
          <a:xfrm>
            <a:off x="5330992" y="94861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3" name="Google Shape;253;p19"/>
          <p:cNvSpPr txBox="1"/>
          <p:nvPr/>
        </p:nvSpPr>
        <p:spPr>
          <a:xfrm>
            <a:off x="130812" y="149707"/>
            <a:ext cx="6585130" cy="338554"/>
          </a:xfrm>
          <a:prstGeom prst="rect">
            <a:avLst/>
          </a:prstGeom>
          <a:solidFill>
            <a:srgbClr val="7E2341"/>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Skills Check</a:t>
            </a:r>
            <a:endParaRPr b="1" i="0" sz="1600" u="none" cap="none" strike="noStrike">
              <a:solidFill>
                <a:srgbClr val="FFFFFF"/>
              </a:solidFill>
              <a:latin typeface="Calibri"/>
              <a:ea typeface="Calibri"/>
              <a:cs typeface="Calibri"/>
              <a:sym typeface="Calibri"/>
            </a:endParaRPr>
          </a:p>
        </p:txBody>
      </p:sp>
      <p:sp>
        <p:nvSpPr>
          <p:cNvPr id="254" name="Google Shape;254;p19"/>
          <p:cNvSpPr/>
          <p:nvPr/>
        </p:nvSpPr>
        <p:spPr>
          <a:xfrm>
            <a:off x="129798" y="489216"/>
            <a:ext cx="6586144" cy="512350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Which of the following is a factor of 60?</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A. 0      B. 15      C. 120       D. 180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List all the factors of 12.</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228600" lvl="0" marL="228600" marR="0" rtl="0" algn="ctr">
              <a:spcBef>
                <a:spcPts val="0"/>
              </a:spcBef>
              <a:spcAft>
                <a:spcPts val="0"/>
              </a:spcAft>
              <a:buClr>
                <a:schemeClr val="dk1"/>
              </a:buClr>
              <a:buSzPts val="1200"/>
              <a:buFont typeface="Calibri"/>
              <a:buAutoNum type="alphaUcPeriod"/>
            </a:pPr>
            <a:r>
              <a:rPr lang="en-GB" sz="1200">
                <a:solidFill>
                  <a:schemeClr val="dk1"/>
                </a:solidFill>
                <a:latin typeface="Calibri"/>
                <a:ea typeface="Calibri"/>
                <a:cs typeface="Calibri"/>
                <a:sym typeface="Calibri"/>
              </a:rPr>
              <a:t>12, 24, 36, 48,…          B. 1, 2, 3, 5, 6 and 12            C. 2, 3, 4 and 6        D. 1, 2, 3, 4, 6 and 12</a:t>
            </a:r>
            <a:endParaRPr/>
          </a:p>
          <a:p>
            <a:pPr indent="-152400" lvl="0" marL="228600" marR="0" rtl="0" algn="ct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152400" lvl="0" marL="228600" marR="0" rtl="0" algn="ct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05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1, 2, 4, 8 are the only factors of:</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228600" lvl="0" marL="228600" marR="0" rtl="0" algn="ctr">
              <a:spcBef>
                <a:spcPts val="0"/>
              </a:spcBef>
              <a:spcAft>
                <a:spcPts val="0"/>
              </a:spcAft>
              <a:buClr>
                <a:schemeClr val="dk1"/>
              </a:buClr>
              <a:buSzPts val="1200"/>
              <a:buFont typeface="Calibri"/>
              <a:buAutoNum type="alphaUcPeriod"/>
            </a:pPr>
            <a:r>
              <a:rPr lang="en-GB" sz="1200">
                <a:solidFill>
                  <a:schemeClr val="dk1"/>
                </a:solidFill>
                <a:latin typeface="Calibri"/>
                <a:ea typeface="Calibri"/>
                <a:cs typeface="Calibri"/>
                <a:sym typeface="Calibri"/>
              </a:rPr>
              <a:t>1           B. 8          C. 16         D. 64</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Which of the following numbers is a factor of 60 and a multiple of 6?</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A. 3                B. 12           C. 20           D. 120</a:t>
            </a:r>
            <a:endParaRPr/>
          </a:p>
        </p:txBody>
      </p:sp>
      <p:cxnSp>
        <p:nvCxnSpPr>
          <p:cNvPr id="255" name="Google Shape;255;p19"/>
          <p:cNvCxnSpPr/>
          <p:nvPr/>
        </p:nvCxnSpPr>
        <p:spPr>
          <a:xfrm>
            <a:off x="136435" y="1680683"/>
            <a:ext cx="6597390" cy="0"/>
          </a:xfrm>
          <a:prstGeom prst="straightConnector1">
            <a:avLst/>
          </a:prstGeom>
          <a:noFill/>
          <a:ln cap="flat" cmpd="sng" w="9525">
            <a:solidFill>
              <a:schemeClr val="dk1"/>
            </a:solidFill>
            <a:prstDash val="solid"/>
            <a:miter lim="800000"/>
            <a:headEnd len="sm" w="sm" type="none"/>
            <a:tailEnd len="sm" w="sm" type="none"/>
          </a:ln>
        </p:spPr>
      </p:cxnSp>
      <p:cxnSp>
        <p:nvCxnSpPr>
          <p:cNvPr id="256" name="Google Shape;256;p19"/>
          <p:cNvCxnSpPr/>
          <p:nvPr/>
        </p:nvCxnSpPr>
        <p:spPr>
          <a:xfrm>
            <a:off x="136435" y="3004158"/>
            <a:ext cx="6597390" cy="0"/>
          </a:xfrm>
          <a:prstGeom prst="straightConnector1">
            <a:avLst/>
          </a:prstGeom>
          <a:noFill/>
          <a:ln cap="flat" cmpd="sng" w="9525">
            <a:solidFill>
              <a:schemeClr val="dk1"/>
            </a:solidFill>
            <a:prstDash val="solid"/>
            <a:miter lim="800000"/>
            <a:headEnd len="sm" w="sm" type="none"/>
            <a:tailEnd len="sm" w="sm" type="none"/>
          </a:ln>
        </p:spPr>
      </p:cxnSp>
      <p:cxnSp>
        <p:nvCxnSpPr>
          <p:cNvPr id="257" name="Google Shape;257;p19"/>
          <p:cNvCxnSpPr/>
          <p:nvPr/>
        </p:nvCxnSpPr>
        <p:spPr>
          <a:xfrm>
            <a:off x="136435" y="4407842"/>
            <a:ext cx="6597390" cy="0"/>
          </a:xfrm>
          <a:prstGeom prst="straightConnector1">
            <a:avLst/>
          </a:prstGeom>
          <a:noFill/>
          <a:ln cap="flat" cmpd="sng" w="9525">
            <a:solidFill>
              <a:schemeClr val="dk1"/>
            </a:solidFill>
            <a:prstDash val="solid"/>
            <a:miter lim="800000"/>
            <a:headEnd len="sm" w="sm" type="none"/>
            <a:tailEnd len="sm" w="sm" type="none"/>
          </a:ln>
        </p:spPr>
      </p:cxnSp>
      <p:sp>
        <p:nvSpPr>
          <p:cNvPr id="258" name="Google Shape;258;p19"/>
          <p:cNvSpPr/>
          <p:nvPr/>
        </p:nvSpPr>
        <p:spPr>
          <a:xfrm>
            <a:off x="2739172" y="1128314"/>
            <a:ext cx="544355" cy="46500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9"/>
          <p:cNvSpPr/>
          <p:nvPr/>
        </p:nvSpPr>
        <p:spPr>
          <a:xfrm>
            <a:off x="4852634" y="2407149"/>
            <a:ext cx="1617439" cy="42494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19"/>
          <p:cNvSpPr/>
          <p:nvPr/>
        </p:nvSpPr>
        <p:spPr>
          <a:xfrm>
            <a:off x="2808447" y="3858853"/>
            <a:ext cx="544355" cy="46500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19"/>
          <p:cNvSpPr/>
          <p:nvPr/>
        </p:nvSpPr>
        <p:spPr>
          <a:xfrm>
            <a:off x="2794592" y="4953000"/>
            <a:ext cx="544355" cy="46500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