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69A048F-DD2F-4D15-B865-2E25CF8D0158}">
  <a:tblStyle styleId="{469A048F-DD2F-4D15-B865-2E25CF8D015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1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2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3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4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5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6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7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8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.png"/><Relationship Id="rId10" Type="http://schemas.openxmlformats.org/officeDocument/2006/relationships/image" Target="../media/image2.png"/><Relationship Id="rId13" Type="http://schemas.openxmlformats.org/officeDocument/2006/relationships/image" Target="../media/image6.png"/><Relationship Id="rId1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3.png"/><Relationship Id="rId8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40" Type="http://schemas.openxmlformats.org/officeDocument/2006/relationships/image" Target="../media/image60.png"/><Relationship Id="rId20" Type="http://schemas.openxmlformats.org/officeDocument/2006/relationships/image" Target="../media/image27.png"/><Relationship Id="rId42" Type="http://schemas.openxmlformats.org/officeDocument/2006/relationships/image" Target="../media/image44.png"/><Relationship Id="rId41" Type="http://schemas.openxmlformats.org/officeDocument/2006/relationships/image" Target="../media/image97.png"/><Relationship Id="rId22" Type="http://schemas.openxmlformats.org/officeDocument/2006/relationships/image" Target="../media/image29.png"/><Relationship Id="rId44" Type="http://schemas.openxmlformats.org/officeDocument/2006/relationships/image" Target="../media/image47.png"/><Relationship Id="rId21" Type="http://schemas.openxmlformats.org/officeDocument/2006/relationships/image" Target="../media/image26.png"/><Relationship Id="rId43" Type="http://schemas.openxmlformats.org/officeDocument/2006/relationships/image" Target="../media/image48.png"/><Relationship Id="rId24" Type="http://schemas.openxmlformats.org/officeDocument/2006/relationships/image" Target="../media/image49.png"/><Relationship Id="rId23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Relationship Id="rId9" Type="http://schemas.openxmlformats.org/officeDocument/2006/relationships/image" Target="../media/image33.png"/><Relationship Id="rId26" Type="http://schemas.openxmlformats.org/officeDocument/2006/relationships/image" Target="../media/image32.png"/><Relationship Id="rId25" Type="http://schemas.openxmlformats.org/officeDocument/2006/relationships/image" Target="../media/image31.png"/><Relationship Id="rId28" Type="http://schemas.openxmlformats.org/officeDocument/2006/relationships/image" Target="../media/image183.png"/><Relationship Id="rId27" Type="http://schemas.openxmlformats.org/officeDocument/2006/relationships/image" Target="../media/image28.png"/><Relationship Id="rId5" Type="http://schemas.openxmlformats.org/officeDocument/2006/relationships/image" Target="../media/image24.png"/><Relationship Id="rId6" Type="http://schemas.openxmlformats.org/officeDocument/2006/relationships/image" Target="../media/image13.png"/><Relationship Id="rId29" Type="http://schemas.openxmlformats.org/officeDocument/2006/relationships/image" Target="../media/image42.png"/><Relationship Id="rId7" Type="http://schemas.openxmlformats.org/officeDocument/2006/relationships/image" Target="../media/image23.png"/><Relationship Id="rId8" Type="http://schemas.openxmlformats.org/officeDocument/2006/relationships/image" Target="../media/image16.png"/><Relationship Id="rId31" Type="http://schemas.openxmlformats.org/officeDocument/2006/relationships/image" Target="../media/image34.png"/><Relationship Id="rId30" Type="http://schemas.openxmlformats.org/officeDocument/2006/relationships/image" Target="../media/image35.png"/><Relationship Id="rId11" Type="http://schemas.openxmlformats.org/officeDocument/2006/relationships/image" Target="../media/image54.png"/><Relationship Id="rId33" Type="http://schemas.openxmlformats.org/officeDocument/2006/relationships/image" Target="../media/image37.png"/><Relationship Id="rId10" Type="http://schemas.openxmlformats.org/officeDocument/2006/relationships/image" Target="../media/image10.png"/><Relationship Id="rId32" Type="http://schemas.openxmlformats.org/officeDocument/2006/relationships/image" Target="../media/image38.png"/><Relationship Id="rId13" Type="http://schemas.openxmlformats.org/officeDocument/2006/relationships/image" Target="../media/image20.png"/><Relationship Id="rId35" Type="http://schemas.openxmlformats.org/officeDocument/2006/relationships/image" Target="../media/image30.png"/><Relationship Id="rId12" Type="http://schemas.openxmlformats.org/officeDocument/2006/relationships/image" Target="../media/image19.png"/><Relationship Id="rId34" Type="http://schemas.openxmlformats.org/officeDocument/2006/relationships/image" Target="../media/image53.png"/><Relationship Id="rId15" Type="http://schemas.openxmlformats.org/officeDocument/2006/relationships/image" Target="../media/image25.png"/><Relationship Id="rId37" Type="http://schemas.openxmlformats.org/officeDocument/2006/relationships/image" Target="../media/image58.png"/><Relationship Id="rId14" Type="http://schemas.openxmlformats.org/officeDocument/2006/relationships/image" Target="../media/image21.png"/><Relationship Id="rId36" Type="http://schemas.openxmlformats.org/officeDocument/2006/relationships/image" Target="../media/image62.png"/><Relationship Id="rId17" Type="http://schemas.openxmlformats.org/officeDocument/2006/relationships/image" Target="../media/image45.png"/><Relationship Id="rId39" Type="http://schemas.openxmlformats.org/officeDocument/2006/relationships/image" Target="../media/image63.png"/><Relationship Id="rId16" Type="http://schemas.openxmlformats.org/officeDocument/2006/relationships/image" Target="../media/image17.png"/><Relationship Id="rId38" Type="http://schemas.openxmlformats.org/officeDocument/2006/relationships/image" Target="../media/image36.png"/><Relationship Id="rId19" Type="http://schemas.openxmlformats.org/officeDocument/2006/relationships/image" Target="../media/image39.png"/><Relationship Id="rId18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image" Target="../media/image75.png"/><Relationship Id="rId22" Type="http://schemas.openxmlformats.org/officeDocument/2006/relationships/image" Target="../media/image68.png"/><Relationship Id="rId21" Type="http://schemas.openxmlformats.org/officeDocument/2006/relationships/image" Target="../media/image77.png"/><Relationship Id="rId24" Type="http://schemas.openxmlformats.org/officeDocument/2006/relationships/image" Target="../media/image78.png"/><Relationship Id="rId23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61.png"/><Relationship Id="rId26" Type="http://schemas.openxmlformats.org/officeDocument/2006/relationships/image" Target="../media/image81.png"/><Relationship Id="rId25" Type="http://schemas.openxmlformats.org/officeDocument/2006/relationships/image" Target="../media/image76.png"/><Relationship Id="rId28" Type="http://schemas.openxmlformats.org/officeDocument/2006/relationships/image" Target="../media/image90.png"/><Relationship Id="rId27" Type="http://schemas.openxmlformats.org/officeDocument/2006/relationships/image" Target="../media/image64.png"/><Relationship Id="rId5" Type="http://schemas.openxmlformats.org/officeDocument/2006/relationships/image" Target="../media/image43.png"/><Relationship Id="rId6" Type="http://schemas.openxmlformats.org/officeDocument/2006/relationships/image" Target="../media/image52.png"/><Relationship Id="rId29" Type="http://schemas.openxmlformats.org/officeDocument/2006/relationships/image" Target="../media/image89.png"/><Relationship Id="rId7" Type="http://schemas.openxmlformats.org/officeDocument/2006/relationships/image" Target="../media/image46.png"/><Relationship Id="rId8" Type="http://schemas.openxmlformats.org/officeDocument/2006/relationships/image" Target="../media/image55.png"/><Relationship Id="rId11" Type="http://schemas.openxmlformats.org/officeDocument/2006/relationships/image" Target="../media/image67.png"/><Relationship Id="rId10" Type="http://schemas.openxmlformats.org/officeDocument/2006/relationships/image" Target="../media/image50.png"/><Relationship Id="rId13" Type="http://schemas.openxmlformats.org/officeDocument/2006/relationships/image" Target="../media/image65.png"/><Relationship Id="rId12" Type="http://schemas.openxmlformats.org/officeDocument/2006/relationships/image" Target="../media/image51.png"/><Relationship Id="rId15" Type="http://schemas.openxmlformats.org/officeDocument/2006/relationships/image" Target="../media/image69.png"/><Relationship Id="rId14" Type="http://schemas.openxmlformats.org/officeDocument/2006/relationships/image" Target="../media/image95.png"/><Relationship Id="rId17" Type="http://schemas.openxmlformats.org/officeDocument/2006/relationships/image" Target="../media/image57.png"/><Relationship Id="rId16" Type="http://schemas.openxmlformats.org/officeDocument/2006/relationships/image" Target="../media/image73.png"/><Relationship Id="rId19" Type="http://schemas.openxmlformats.org/officeDocument/2006/relationships/image" Target="../media/image71.png"/><Relationship Id="rId18" Type="http://schemas.openxmlformats.org/officeDocument/2006/relationships/image" Target="../media/image56.png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105.png"/><Relationship Id="rId22" Type="http://schemas.openxmlformats.org/officeDocument/2006/relationships/image" Target="../media/image96.png"/><Relationship Id="rId21" Type="http://schemas.openxmlformats.org/officeDocument/2006/relationships/image" Target="../media/image99.png"/><Relationship Id="rId24" Type="http://schemas.openxmlformats.org/officeDocument/2006/relationships/image" Target="../media/image113.png"/><Relationship Id="rId23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0.png"/><Relationship Id="rId4" Type="http://schemas.openxmlformats.org/officeDocument/2006/relationships/image" Target="../media/image98.png"/><Relationship Id="rId9" Type="http://schemas.openxmlformats.org/officeDocument/2006/relationships/image" Target="../media/image82.png"/><Relationship Id="rId26" Type="http://schemas.openxmlformats.org/officeDocument/2006/relationships/image" Target="../media/image14.png"/><Relationship Id="rId25" Type="http://schemas.openxmlformats.org/officeDocument/2006/relationships/image" Target="../media/image184.png"/><Relationship Id="rId28" Type="http://schemas.openxmlformats.org/officeDocument/2006/relationships/image" Target="../media/image93.png"/><Relationship Id="rId27" Type="http://schemas.openxmlformats.org/officeDocument/2006/relationships/image" Target="../media/image101.png"/><Relationship Id="rId5" Type="http://schemas.openxmlformats.org/officeDocument/2006/relationships/image" Target="../media/image72.png"/><Relationship Id="rId6" Type="http://schemas.openxmlformats.org/officeDocument/2006/relationships/image" Target="../media/image80.png"/><Relationship Id="rId29" Type="http://schemas.openxmlformats.org/officeDocument/2006/relationships/image" Target="../media/image107.png"/><Relationship Id="rId7" Type="http://schemas.openxmlformats.org/officeDocument/2006/relationships/image" Target="../media/image86.png"/><Relationship Id="rId8" Type="http://schemas.openxmlformats.org/officeDocument/2006/relationships/image" Target="../media/image84.png"/><Relationship Id="rId31" Type="http://schemas.openxmlformats.org/officeDocument/2006/relationships/image" Target="../media/image119.png"/><Relationship Id="rId30" Type="http://schemas.openxmlformats.org/officeDocument/2006/relationships/image" Target="../media/image102.png"/><Relationship Id="rId11" Type="http://schemas.openxmlformats.org/officeDocument/2006/relationships/image" Target="../media/image83.png"/><Relationship Id="rId10" Type="http://schemas.openxmlformats.org/officeDocument/2006/relationships/image" Target="../media/image100.png"/><Relationship Id="rId32" Type="http://schemas.openxmlformats.org/officeDocument/2006/relationships/image" Target="../media/image106.png"/><Relationship Id="rId13" Type="http://schemas.openxmlformats.org/officeDocument/2006/relationships/image" Target="../media/image79.png"/><Relationship Id="rId12" Type="http://schemas.openxmlformats.org/officeDocument/2006/relationships/image" Target="../media/image85.png"/><Relationship Id="rId15" Type="http://schemas.openxmlformats.org/officeDocument/2006/relationships/image" Target="../media/image87.png"/><Relationship Id="rId14" Type="http://schemas.openxmlformats.org/officeDocument/2006/relationships/image" Target="../media/image108.png"/><Relationship Id="rId17" Type="http://schemas.openxmlformats.org/officeDocument/2006/relationships/image" Target="../media/image94.png"/><Relationship Id="rId16" Type="http://schemas.openxmlformats.org/officeDocument/2006/relationships/image" Target="../media/image88.png"/><Relationship Id="rId19" Type="http://schemas.openxmlformats.org/officeDocument/2006/relationships/image" Target="../media/image92.png"/><Relationship Id="rId18" Type="http://schemas.openxmlformats.org/officeDocument/2006/relationships/image" Target="../media/image18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7.png"/><Relationship Id="rId4" Type="http://schemas.openxmlformats.org/officeDocument/2006/relationships/image" Target="../media/image104.png"/><Relationship Id="rId9" Type="http://schemas.openxmlformats.org/officeDocument/2006/relationships/image" Target="../media/image109.png"/><Relationship Id="rId5" Type="http://schemas.openxmlformats.org/officeDocument/2006/relationships/image" Target="../media/image103.png"/><Relationship Id="rId6" Type="http://schemas.openxmlformats.org/officeDocument/2006/relationships/image" Target="../media/image129.png"/><Relationship Id="rId7" Type="http://schemas.openxmlformats.org/officeDocument/2006/relationships/image" Target="../media/image128.png"/><Relationship Id="rId8" Type="http://schemas.openxmlformats.org/officeDocument/2006/relationships/image" Target="../media/image116.png"/><Relationship Id="rId11" Type="http://schemas.openxmlformats.org/officeDocument/2006/relationships/image" Target="../media/image115.png"/><Relationship Id="rId10" Type="http://schemas.openxmlformats.org/officeDocument/2006/relationships/image" Target="../media/image118.png"/><Relationship Id="rId13" Type="http://schemas.openxmlformats.org/officeDocument/2006/relationships/image" Target="../media/image156.png"/><Relationship Id="rId12" Type="http://schemas.openxmlformats.org/officeDocument/2006/relationships/image" Target="../media/image114.png"/><Relationship Id="rId15" Type="http://schemas.openxmlformats.org/officeDocument/2006/relationships/image" Target="../media/image127.png"/><Relationship Id="rId14" Type="http://schemas.openxmlformats.org/officeDocument/2006/relationships/image" Target="../media/image110.png"/><Relationship Id="rId17" Type="http://schemas.openxmlformats.org/officeDocument/2006/relationships/image" Target="../media/image122.png"/><Relationship Id="rId16" Type="http://schemas.openxmlformats.org/officeDocument/2006/relationships/image" Target="../media/image136.png"/><Relationship Id="rId19" Type="http://schemas.openxmlformats.org/officeDocument/2006/relationships/image" Target="../media/image112.png"/><Relationship Id="rId18" Type="http://schemas.openxmlformats.org/officeDocument/2006/relationships/image" Target="../media/image120.png"/></Relationships>
</file>

<file path=ppt/slides/_rels/slide6.xml.rels><?xml version="1.0" encoding="UTF-8" standalone="yes"?><Relationships xmlns="http://schemas.openxmlformats.org/package/2006/relationships"><Relationship Id="rId20" Type="http://schemas.openxmlformats.org/officeDocument/2006/relationships/image" Target="../media/image143.png"/><Relationship Id="rId22" Type="http://schemas.openxmlformats.org/officeDocument/2006/relationships/image" Target="../media/image140.png"/><Relationship Id="rId21" Type="http://schemas.openxmlformats.org/officeDocument/2006/relationships/image" Target="../media/image134.png"/><Relationship Id="rId24" Type="http://schemas.openxmlformats.org/officeDocument/2006/relationships/image" Target="../media/image171.png"/><Relationship Id="rId23" Type="http://schemas.openxmlformats.org/officeDocument/2006/relationships/image" Target="../media/image14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3.png"/><Relationship Id="rId4" Type="http://schemas.openxmlformats.org/officeDocument/2006/relationships/image" Target="../media/image149.png"/><Relationship Id="rId9" Type="http://schemas.openxmlformats.org/officeDocument/2006/relationships/image" Target="../media/image157.png"/><Relationship Id="rId26" Type="http://schemas.openxmlformats.org/officeDocument/2006/relationships/image" Target="../media/image144.png"/><Relationship Id="rId25" Type="http://schemas.openxmlformats.org/officeDocument/2006/relationships/image" Target="../media/image142.png"/><Relationship Id="rId28" Type="http://schemas.openxmlformats.org/officeDocument/2006/relationships/image" Target="../media/image141.png"/><Relationship Id="rId27" Type="http://schemas.openxmlformats.org/officeDocument/2006/relationships/image" Target="../media/image160.png"/><Relationship Id="rId5" Type="http://schemas.openxmlformats.org/officeDocument/2006/relationships/image" Target="../media/image125.png"/><Relationship Id="rId6" Type="http://schemas.openxmlformats.org/officeDocument/2006/relationships/image" Target="../media/image126.png"/><Relationship Id="rId29" Type="http://schemas.openxmlformats.org/officeDocument/2006/relationships/image" Target="../media/image153.png"/><Relationship Id="rId7" Type="http://schemas.openxmlformats.org/officeDocument/2006/relationships/image" Target="../media/image135.png"/><Relationship Id="rId8" Type="http://schemas.openxmlformats.org/officeDocument/2006/relationships/image" Target="../media/image131.png"/><Relationship Id="rId31" Type="http://schemas.openxmlformats.org/officeDocument/2006/relationships/image" Target="../media/image154.png"/><Relationship Id="rId30" Type="http://schemas.openxmlformats.org/officeDocument/2006/relationships/image" Target="../media/image151.png"/><Relationship Id="rId11" Type="http://schemas.openxmlformats.org/officeDocument/2006/relationships/image" Target="../media/image130.png"/><Relationship Id="rId10" Type="http://schemas.openxmlformats.org/officeDocument/2006/relationships/image" Target="../media/image121.png"/><Relationship Id="rId13" Type="http://schemas.openxmlformats.org/officeDocument/2006/relationships/image" Target="../media/image133.png"/><Relationship Id="rId12" Type="http://schemas.openxmlformats.org/officeDocument/2006/relationships/image" Target="../media/image124.png"/><Relationship Id="rId15" Type="http://schemas.openxmlformats.org/officeDocument/2006/relationships/image" Target="../media/image139.png"/><Relationship Id="rId14" Type="http://schemas.openxmlformats.org/officeDocument/2006/relationships/image" Target="../media/image137.png"/><Relationship Id="rId17" Type="http://schemas.openxmlformats.org/officeDocument/2006/relationships/image" Target="../media/image138.png"/><Relationship Id="rId16" Type="http://schemas.openxmlformats.org/officeDocument/2006/relationships/image" Target="../media/image146.png"/><Relationship Id="rId19" Type="http://schemas.openxmlformats.org/officeDocument/2006/relationships/image" Target="../media/image132.png"/><Relationship Id="rId18" Type="http://schemas.openxmlformats.org/officeDocument/2006/relationships/image" Target="../media/image148.png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177.png"/><Relationship Id="rId22" Type="http://schemas.openxmlformats.org/officeDocument/2006/relationships/image" Target="../media/image178.png"/><Relationship Id="rId21" Type="http://schemas.openxmlformats.org/officeDocument/2006/relationships/image" Target="../media/image170.png"/><Relationship Id="rId24" Type="http://schemas.openxmlformats.org/officeDocument/2006/relationships/image" Target="../media/image164.png"/><Relationship Id="rId23" Type="http://schemas.openxmlformats.org/officeDocument/2006/relationships/image" Target="../media/image17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0.png"/><Relationship Id="rId4" Type="http://schemas.openxmlformats.org/officeDocument/2006/relationships/image" Target="../media/image155.png"/><Relationship Id="rId9" Type="http://schemas.openxmlformats.org/officeDocument/2006/relationships/image" Target="../media/image152.png"/><Relationship Id="rId26" Type="http://schemas.openxmlformats.org/officeDocument/2006/relationships/image" Target="../media/image181.png"/><Relationship Id="rId25" Type="http://schemas.openxmlformats.org/officeDocument/2006/relationships/image" Target="../media/image179.png"/><Relationship Id="rId28" Type="http://schemas.openxmlformats.org/officeDocument/2006/relationships/image" Target="../media/image169.png"/><Relationship Id="rId27" Type="http://schemas.openxmlformats.org/officeDocument/2006/relationships/image" Target="../media/image175.png"/><Relationship Id="rId5" Type="http://schemas.openxmlformats.org/officeDocument/2006/relationships/image" Target="../media/image147.png"/><Relationship Id="rId6" Type="http://schemas.openxmlformats.org/officeDocument/2006/relationships/image" Target="../media/image161.png"/><Relationship Id="rId29" Type="http://schemas.openxmlformats.org/officeDocument/2006/relationships/image" Target="../media/image182.png"/><Relationship Id="rId7" Type="http://schemas.openxmlformats.org/officeDocument/2006/relationships/image" Target="../media/image159.png"/><Relationship Id="rId8" Type="http://schemas.openxmlformats.org/officeDocument/2006/relationships/image" Target="../media/image162.png"/><Relationship Id="rId31" Type="http://schemas.openxmlformats.org/officeDocument/2006/relationships/image" Target="../media/image180.png"/><Relationship Id="rId30" Type="http://schemas.openxmlformats.org/officeDocument/2006/relationships/image" Target="../media/image176.png"/><Relationship Id="rId11" Type="http://schemas.openxmlformats.org/officeDocument/2006/relationships/image" Target="../media/image167.png"/><Relationship Id="rId10" Type="http://schemas.openxmlformats.org/officeDocument/2006/relationships/image" Target="../media/image174.png"/><Relationship Id="rId13" Type="http://schemas.openxmlformats.org/officeDocument/2006/relationships/image" Target="../media/image163.png"/><Relationship Id="rId12" Type="http://schemas.openxmlformats.org/officeDocument/2006/relationships/image" Target="../media/image158.png"/><Relationship Id="rId15" Type="http://schemas.openxmlformats.org/officeDocument/2006/relationships/image" Target="../media/image168.png"/><Relationship Id="rId14" Type="http://schemas.openxmlformats.org/officeDocument/2006/relationships/image" Target="../media/image165.png"/><Relationship Id="rId17" Type="http://schemas.openxmlformats.org/officeDocument/2006/relationships/image" Target="../media/image166.png"/><Relationship Id="rId16" Type="http://schemas.openxmlformats.org/officeDocument/2006/relationships/image" Target="../media/image173.png"/><Relationship Id="rId19" Type="http://schemas.openxmlformats.org/officeDocument/2006/relationships/image" Target="../media/image187.png"/><Relationship Id="rId18" Type="http://schemas.openxmlformats.org/officeDocument/2006/relationships/image" Target="../media/image18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Google Shape;88;p13"/>
          <p:cNvGraphicFramePr/>
          <p:nvPr/>
        </p:nvGraphicFramePr>
        <p:xfrm>
          <a:off x="109273" y="62511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{469A048F-DD2F-4D15-B865-2E25CF8D0158}</a:tableStyleId>
              </a:tblPr>
              <a:tblGrid>
                <a:gridCol w="1516675"/>
                <a:gridCol w="1724775"/>
                <a:gridCol w="1724775"/>
                <a:gridCol w="1724775"/>
              </a:tblGrid>
              <a:tr h="292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Calculate: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Calculate: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94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Determine which way the digits move when we multiply by 10, 100, 1000…</a:t>
                      </a:r>
                      <a:endParaRPr/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Work out how many places we need to move the digits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3) Move the digits in the correct direction, by the number of places.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9" name="Google Shape;89;p13"/>
          <p:cNvSpPr txBox="1"/>
          <p:nvPr/>
        </p:nvSpPr>
        <p:spPr>
          <a:xfrm>
            <a:off x="1924206" y="6028615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 </a:t>
            </a: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I do…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214595" y="6028615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 – You do…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491007" y="6028615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 – We do…</a:t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109272" y="5354242"/>
            <a:ext cx="4266505" cy="2418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Multiplying Integers by Powers of Ten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3" name="Google Shape;93;p13"/>
          <p:cNvGraphicFramePr/>
          <p:nvPr/>
        </p:nvGraphicFramePr>
        <p:xfrm>
          <a:off x="109272" y="56730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{469A048F-DD2F-4D15-B865-2E25CF8D0158}</a:tableStyleId>
              </a:tblPr>
              <a:tblGrid>
                <a:gridCol w="674300"/>
                <a:gridCol w="674300"/>
                <a:gridCol w="674300"/>
                <a:gridCol w="973650"/>
                <a:gridCol w="883900"/>
                <a:gridCol w="766900"/>
                <a:gridCol w="703250"/>
                <a:gridCol w="674300"/>
                <a:gridCol w="674300"/>
              </a:tblGrid>
              <a:tr h="224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000000"/>
                          </a:solidFill>
                        </a:rPr>
                        <a:t>Hundred</a:t>
                      </a:r>
                      <a:r>
                        <a:rPr lang="en-GB" sz="900">
                          <a:solidFill>
                            <a:srgbClr val="000000"/>
                          </a:solidFill>
                        </a:rPr>
                        <a:t> Millions</a:t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000000"/>
                          </a:solidFill>
                        </a:rPr>
                        <a:t>Ten Millions</a:t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000000"/>
                          </a:solidFill>
                        </a:rPr>
                        <a:t>Millions</a:t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000000"/>
                          </a:solidFill>
                        </a:rPr>
                        <a:t>Hundred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000000"/>
                          </a:solidFill>
                        </a:rPr>
                        <a:t>Thousands</a:t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000000"/>
                          </a:solidFill>
                        </a:rPr>
                        <a:t>Ten Thousands</a:t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000000"/>
                          </a:solidFill>
                        </a:rPr>
                        <a:t>Thousands</a:t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000000"/>
                          </a:solidFill>
                        </a:rPr>
                        <a:t>Hundreds</a:t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000000"/>
                          </a:solidFill>
                        </a:rPr>
                        <a:t>Tens</a:t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000000"/>
                          </a:solidFill>
                        </a:rPr>
                        <a:t>ones</a:t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4" name="Google Shape;94;p13"/>
          <p:cNvSpPr txBox="1"/>
          <p:nvPr>
            <p:ph idx="12" type="sldNum"/>
          </p:nvPr>
        </p:nvSpPr>
        <p:spPr>
          <a:xfrm>
            <a:off x="5314950" y="955518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2147778" y="6998536"/>
            <a:ext cx="680484" cy="2769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2137147" y="7748594"/>
            <a:ext cx="680484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2137147" y="8498652"/>
            <a:ext cx="680484" cy="27699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-180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2137147" y="9191574"/>
            <a:ext cx="680484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-180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3884429" y="6993758"/>
            <a:ext cx="680484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3873798" y="7743816"/>
            <a:ext cx="680484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3873798" y="8493874"/>
            <a:ext cx="680484" cy="276999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-89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3873798" y="9186796"/>
            <a:ext cx="680484" cy="276999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-89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5576372" y="6996892"/>
            <a:ext cx="680484" cy="276999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5565741" y="7746950"/>
            <a:ext cx="680484" cy="276999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5565741" y="8497008"/>
            <a:ext cx="680484" cy="276999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5502071" y="9223750"/>
            <a:ext cx="680484" cy="276999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-1891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7" name="Google Shape;107;p13"/>
          <p:cNvSpPr/>
          <p:nvPr/>
        </p:nvSpPr>
        <p:spPr>
          <a:xfrm>
            <a:off x="86108" y="364088"/>
            <a:ext cx="6679742" cy="125977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/>
          <p:nvPr/>
        </p:nvSpPr>
        <p:spPr>
          <a:xfrm>
            <a:off x="0" y="0"/>
            <a:ext cx="6858000" cy="34617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N3.3 - </a:t>
            </a:r>
            <a:r>
              <a:rPr b="0" i="0"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Multiply and divide integers and decimals by powers of 10</a:t>
            </a:r>
            <a:r>
              <a:rPr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65215" y="631000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109272" y="806170"/>
            <a:ext cx="466799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Multiply integers by powers of 10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Multiply decimals by powers of 10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Divide integers and decimals by powers of 10.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Multiply and Divide numbers involving powers of ten.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154393" y="394512"/>
            <a:ext cx="5432436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To  multiply and divide integers and decimals by powers of 10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5644766" y="392740"/>
            <a:ext cx="1058841" cy="120032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Decimal</a:t>
            </a:r>
            <a:endParaRPr/>
          </a:p>
        </p:txBody>
      </p:sp>
      <p:cxnSp>
        <p:nvCxnSpPr>
          <p:cNvPr id="113" name="Google Shape;113;p13"/>
          <p:cNvCxnSpPr/>
          <p:nvPr/>
        </p:nvCxnSpPr>
        <p:spPr>
          <a:xfrm flipH="1" rot="10800000">
            <a:off x="1025126" y="5139796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4" name="Google Shape;114;p13"/>
          <p:cNvSpPr/>
          <p:nvPr/>
        </p:nvSpPr>
        <p:spPr>
          <a:xfrm>
            <a:off x="61001" y="3005872"/>
            <a:ext cx="6701659" cy="226644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" name="Google Shape;115;p13"/>
          <p:cNvCxnSpPr/>
          <p:nvPr/>
        </p:nvCxnSpPr>
        <p:spPr>
          <a:xfrm>
            <a:off x="141359" y="4497025"/>
            <a:ext cx="662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6" name="Google Shape;116;p13"/>
          <p:cNvCxnSpPr>
            <a:stCxn id="114" idx="2"/>
            <a:endCxn id="114" idx="0"/>
          </p:cNvCxnSpPr>
          <p:nvPr/>
        </p:nvCxnSpPr>
        <p:spPr>
          <a:xfrm rot="10800000">
            <a:off x="3411831" y="3005814"/>
            <a:ext cx="0" cy="226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7" name="Google Shape;117;p13"/>
          <p:cNvSpPr txBox="1"/>
          <p:nvPr/>
        </p:nvSpPr>
        <p:spPr>
          <a:xfrm>
            <a:off x="83498" y="3005870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5714657" y="2985784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3"/>
          <p:cNvSpPr txBox="1"/>
          <p:nvPr/>
        </p:nvSpPr>
        <p:spPr>
          <a:xfrm>
            <a:off x="106541" y="4462685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3"/>
          <p:cNvSpPr txBox="1"/>
          <p:nvPr/>
        </p:nvSpPr>
        <p:spPr>
          <a:xfrm>
            <a:off x="5650711" y="4469496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3"/>
          <p:cNvSpPr txBox="1"/>
          <p:nvPr/>
        </p:nvSpPr>
        <p:spPr>
          <a:xfrm>
            <a:off x="2758528" y="4308596"/>
            <a:ext cx="1491883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Multiplication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3"/>
          <p:cNvSpPr txBox="1"/>
          <p:nvPr/>
        </p:nvSpPr>
        <p:spPr>
          <a:xfrm>
            <a:off x="71801" y="3233693"/>
            <a:ext cx="340460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Repeated addition of the same number.</a:t>
            </a:r>
            <a:endParaRPr/>
          </a:p>
        </p:txBody>
      </p:sp>
      <p:sp>
        <p:nvSpPr>
          <p:cNvPr id="123" name="Google Shape;123;p13"/>
          <p:cNvSpPr txBox="1"/>
          <p:nvPr/>
        </p:nvSpPr>
        <p:spPr>
          <a:xfrm>
            <a:off x="3440055" y="3167046"/>
            <a:ext cx="334614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ften represented by the "×" sign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Commutative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Distributive property: </a:t>
            </a: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Multiplication can be distributed over addition. For example, 3 × (2 + 4) is the same as (3 × 2) + (3 × 4), and both equal 18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3"/>
          <p:cNvSpPr txBox="1"/>
          <p:nvPr/>
        </p:nvSpPr>
        <p:spPr>
          <a:xfrm>
            <a:off x="106541" y="4645213"/>
            <a:ext cx="336695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have 3 groups of 4 apples, you can use multiplication to find the total number of apples by calculating 3 × 4, which equals 12.</a:t>
            </a:r>
            <a:endParaRPr/>
          </a:p>
        </p:txBody>
      </p:sp>
      <p:sp>
        <p:nvSpPr>
          <p:cNvPr id="125" name="Google Shape;125;p13"/>
          <p:cNvSpPr/>
          <p:nvPr/>
        </p:nvSpPr>
        <p:spPr>
          <a:xfrm>
            <a:off x="3547835" y="4664755"/>
            <a:ext cx="3356119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Sarah has 12 cookies. She wants to share them equally among 4 friends. How many cookies will each friend get? This is a </a:t>
            </a:r>
            <a:r>
              <a:rPr b="1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division problem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3"/>
          <p:cNvSpPr/>
          <p:nvPr/>
        </p:nvSpPr>
        <p:spPr>
          <a:xfrm>
            <a:off x="75781" y="1651389"/>
            <a:ext cx="6686879" cy="130986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10162" y="1626385"/>
            <a:ext cx="677475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Multiplying and dividing by powers of 10 means working with numbers like 10, 100, 1,000, and so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on. Being able to do this helps you solve related calculations more easily. For example, if you know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3 × 4 = 12, then you can use that fact to work out 30 × 4 by recognising that 3 has been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multiplied by 10—so there's no need to do the full calculation again. When you multiply by a power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10, the digits move to the left, making the number bigger; when you divide by a power of 10, the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digits move to the right, making the number smaller.</a:t>
            </a:r>
            <a:endParaRPr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"/>
          <p:cNvSpPr/>
          <p:nvPr/>
        </p:nvSpPr>
        <p:spPr>
          <a:xfrm>
            <a:off x="110543" y="99023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1248497" y="171804"/>
            <a:ext cx="183851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Calculate the following: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4"/>
          <p:cNvSpPr txBox="1"/>
          <p:nvPr>
            <p:ph idx="12" type="sldNum"/>
          </p:nvPr>
        </p:nvSpPr>
        <p:spPr>
          <a:xfrm>
            <a:off x="5286672" y="9522389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135" name="Google Shape;135;p14"/>
          <p:cNvGraphicFramePr/>
          <p:nvPr/>
        </p:nvGraphicFramePr>
        <p:xfrm>
          <a:off x="152287" y="57820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{469A048F-DD2F-4D15-B865-2E25CF8D0158}</a:tableStyleId>
              </a:tblPr>
              <a:tblGrid>
                <a:gridCol w="1498125"/>
                <a:gridCol w="1703675"/>
                <a:gridCol w="1703675"/>
                <a:gridCol w="17036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Steps: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3200"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rabicPeriod"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Look at the calculation given, what has happened to each number in the calculation?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185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2. What overall effect does this have on the calculation? Adjust your answer appropriately.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136" name="Google Shape;136;p14"/>
          <p:cNvSpPr txBox="1"/>
          <p:nvPr/>
        </p:nvSpPr>
        <p:spPr>
          <a:xfrm>
            <a:off x="1789358" y="5544166"/>
            <a:ext cx="139192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4 - I do…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5056126" y="5549392"/>
            <a:ext cx="162152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6 – You do…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3412721" y="5546683"/>
            <a:ext cx="162152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5 – We do…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129737" y="566434"/>
            <a:ext cx="6632812" cy="2769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7778" l="0" r="0" t="-222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0" name="Google Shape;140;p14"/>
          <p:cNvSpPr/>
          <p:nvPr/>
        </p:nvSpPr>
        <p:spPr>
          <a:xfrm>
            <a:off x="226808" y="866948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/>
          <p:nvPr/>
        </p:nvSpPr>
        <p:spPr>
          <a:xfrm>
            <a:off x="1533079" y="866948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/>
          <p:nvPr/>
        </p:nvSpPr>
        <p:spPr>
          <a:xfrm>
            <a:off x="2938224" y="866948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4"/>
          <p:cNvSpPr/>
          <p:nvPr/>
        </p:nvSpPr>
        <p:spPr>
          <a:xfrm>
            <a:off x="4244495" y="866948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4"/>
          <p:cNvSpPr/>
          <p:nvPr/>
        </p:nvSpPr>
        <p:spPr>
          <a:xfrm>
            <a:off x="5709742" y="866948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129737" y="1409410"/>
            <a:ext cx="6861298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521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6" name="Google Shape;146;p14"/>
          <p:cNvSpPr/>
          <p:nvPr/>
        </p:nvSpPr>
        <p:spPr>
          <a:xfrm>
            <a:off x="226808" y="1709924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/>
          <p:nvPr/>
        </p:nvSpPr>
        <p:spPr>
          <a:xfrm>
            <a:off x="1533079" y="1709924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4"/>
          <p:cNvSpPr/>
          <p:nvPr/>
        </p:nvSpPr>
        <p:spPr>
          <a:xfrm>
            <a:off x="2938224" y="1709924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4"/>
          <p:cNvSpPr/>
          <p:nvPr/>
        </p:nvSpPr>
        <p:spPr>
          <a:xfrm>
            <a:off x="4244495" y="1709924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4"/>
          <p:cNvSpPr/>
          <p:nvPr/>
        </p:nvSpPr>
        <p:spPr>
          <a:xfrm>
            <a:off x="5709742" y="1709924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4"/>
          <p:cNvSpPr txBox="1"/>
          <p:nvPr/>
        </p:nvSpPr>
        <p:spPr>
          <a:xfrm>
            <a:off x="110543" y="3193686"/>
            <a:ext cx="138069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Fill in the blanks.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4"/>
          <p:cNvSpPr txBox="1"/>
          <p:nvPr/>
        </p:nvSpPr>
        <p:spPr>
          <a:xfrm>
            <a:off x="138821" y="3477533"/>
            <a:ext cx="6623728" cy="46166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92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3" name="Google Shape;153;p14"/>
          <p:cNvSpPr/>
          <p:nvPr/>
        </p:nvSpPr>
        <p:spPr>
          <a:xfrm>
            <a:off x="324583" y="3788427"/>
            <a:ext cx="1099161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4"/>
          <p:cNvSpPr/>
          <p:nvPr/>
        </p:nvSpPr>
        <p:spPr>
          <a:xfrm>
            <a:off x="1929881" y="3788427"/>
            <a:ext cx="1099163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4"/>
          <p:cNvSpPr/>
          <p:nvPr/>
        </p:nvSpPr>
        <p:spPr>
          <a:xfrm>
            <a:off x="3634790" y="3773283"/>
            <a:ext cx="116155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4"/>
          <p:cNvSpPr txBox="1"/>
          <p:nvPr/>
        </p:nvSpPr>
        <p:spPr>
          <a:xfrm>
            <a:off x="141023" y="4431574"/>
            <a:ext cx="6861298" cy="47817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-128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7" name="Google Shape;157;p14"/>
          <p:cNvSpPr/>
          <p:nvPr/>
        </p:nvSpPr>
        <p:spPr>
          <a:xfrm>
            <a:off x="5416681" y="3789657"/>
            <a:ext cx="1099161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4"/>
          <p:cNvSpPr/>
          <p:nvPr/>
        </p:nvSpPr>
        <p:spPr>
          <a:xfrm>
            <a:off x="312771" y="4741876"/>
            <a:ext cx="1099163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4"/>
          <p:cNvSpPr/>
          <p:nvPr/>
        </p:nvSpPr>
        <p:spPr>
          <a:xfrm>
            <a:off x="1929881" y="4741876"/>
            <a:ext cx="116155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4"/>
          <p:cNvSpPr/>
          <p:nvPr/>
        </p:nvSpPr>
        <p:spPr>
          <a:xfrm>
            <a:off x="3640359" y="4741876"/>
            <a:ext cx="1099161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4"/>
          <p:cNvSpPr/>
          <p:nvPr/>
        </p:nvSpPr>
        <p:spPr>
          <a:xfrm>
            <a:off x="5416679" y="4726698"/>
            <a:ext cx="1099163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4"/>
          <p:cNvSpPr txBox="1"/>
          <p:nvPr/>
        </p:nvSpPr>
        <p:spPr>
          <a:xfrm>
            <a:off x="129737" y="2261514"/>
            <a:ext cx="6861298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7778" l="0" r="0" t="-222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63" name="Google Shape;163;p14"/>
          <p:cNvSpPr/>
          <p:nvPr/>
        </p:nvSpPr>
        <p:spPr>
          <a:xfrm>
            <a:off x="226808" y="2562028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4"/>
          <p:cNvSpPr/>
          <p:nvPr/>
        </p:nvSpPr>
        <p:spPr>
          <a:xfrm>
            <a:off x="1533079" y="2562028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4"/>
          <p:cNvSpPr/>
          <p:nvPr/>
        </p:nvSpPr>
        <p:spPr>
          <a:xfrm>
            <a:off x="2938224" y="2562028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4"/>
          <p:cNvSpPr/>
          <p:nvPr/>
        </p:nvSpPr>
        <p:spPr>
          <a:xfrm>
            <a:off x="4244495" y="2562028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4"/>
          <p:cNvSpPr/>
          <p:nvPr/>
        </p:nvSpPr>
        <p:spPr>
          <a:xfrm>
            <a:off x="5709742" y="2562028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4"/>
          <p:cNvSpPr txBox="1"/>
          <p:nvPr/>
        </p:nvSpPr>
        <p:spPr>
          <a:xfrm>
            <a:off x="341909" y="957737"/>
            <a:ext cx="682212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69" name="Google Shape;169;p14"/>
          <p:cNvSpPr txBox="1"/>
          <p:nvPr/>
        </p:nvSpPr>
        <p:spPr>
          <a:xfrm>
            <a:off x="1669841" y="957737"/>
            <a:ext cx="682212" cy="276999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0" name="Google Shape;170;p14"/>
          <p:cNvSpPr txBox="1"/>
          <p:nvPr/>
        </p:nvSpPr>
        <p:spPr>
          <a:xfrm>
            <a:off x="3074764" y="957737"/>
            <a:ext cx="682212" cy="276999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1" name="Google Shape;171;p14"/>
          <p:cNvSpPr txBox="1"/>
          <p:nvPr/>
        </p:nvSpPr>
        <p:spPr>
          <a:xfrm>
            <a:off x="4381257" y="957737"/>
            <a:ext cx="682212" cy="276999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2" name="Google Shape;172;p14"/>
          <p:cNvSpPr txBox="1"/>
          <p:nvPr/>
        </p:nvSpPr>
        <p:spPr>
          <a:xfrm>
            <a:off x="5840869" y="957737"/>
            <a:ext cx="682212" cy="276999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3" name="Google Shape;173;p14"/>
          <p:cNvSpPr txBox="1"/>
          <p:nvPr/>
        </p:nvSpPr>
        <p:spPr>
          <a:xfrm>
            <a:off x="318303" y="1812565"/>
            <a:ext cx="682212" cy="276999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4" name="Google Shape;174;p14"/>
          <p:cNvSpPr txBox="1"/>
          <p:nvPr/>
        </p:nvSpPr>
        <p:spPr>
          <a:xfrm>
            <a:off x="1646235" y="1812565"/>
            <a:ext cx="682212" cy="276999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5" name="Google Shape;175;p14"/>
          <p:cNvSpPr txBox="1"/>
          <p:nvPr/>
        </p:nvSpPr>
        <p:spPr>
          <a:xfrm>
            <a:off x="3051158" y="1812565"/>
            <a:ext cx="682212" cy="276999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-180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6" name="Google Shape;176;p14"/>
          <p:cNvSpPr txBox="1"/>
          <p:nvPr/>
        </p:nvSpPr>
        <p:spPr>
          <a:xfrm>
            <a:off x="4357651" y="1812565"/>
            <a:ext cx="682212" cy="276999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-89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7" name="Google Shape;177;p14"/>
          <p:cNvSpPr txBox="1"/>
          <p:nvPr/>
        </p:nvSpPr>
        <p:spPr>
          <a:xfrm>
            <a:off x="5817263" y="1812565"/>
            <a:ext cx="682212" cy="276999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-1785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8" name="Google Shape;178;p14"/>
          <p:cNvSpPr txBox="1"/>
          <p:nvPr/>
        </p:nvSpPr>
        <p:spPr>
          <a:xfrm>
            <a:off x="312771" y="2664669"/>
            <a:ext cx="682212" cy="276999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9" name="Google Shape;179;p14"/>
          <p:cNvSpPr txBox="1"/>
          <p:nvPr/>
        </p:nvSpPr>
        <p:spPr>
          <a:xfrm>
            <a:off x="1640703" y="2664669"/>
            <a:ext cx="682212" cy="276999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0" name="Google Shape;180;p14"/>
          <p:cNvSpPr txBox="1"/>
          <p:nvPr/>
        </p:nvSpPr>
        <p:spPr>
          <a:xfrm>
            <a:off x="3045626" y="2664669"/>
            <a:ext cx="682212" cy="276999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-89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1" name="Google Shape;181;p14"/>
          <p:cNvSpPr txBox="1"/>
          <p:nvPr/>
        </p:nvSpPr>
        <p:spPr>
          <a:xfrm>
            <a:off x="4352119" y="2664669"/>
            <a:ext cx="682212" cy="276999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-89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2" name="Google Shape;182;p14"/>
          <p:cNvSpPr txBox="1"/>
          <p:nvPr/>
        </p:nvSpPr>
        <p:spPr>
          <a:xfrm>
            <a:off x="5811731" y="2664669"/>
            <a:ext cx="682212" cy="276999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-1785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3" name="Google Shape;183;p14"/>
          <p:cNvSpPr txBox="1"/>
          <p:nvPr/>
        </p:nvSpPr>
        <p:spPr>
          <a:xfrm>
            <a:off x="533057" y="3891056"/>
            <a:ext cx="682212" cy="276999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-1521424" l="-580358" r="-580358" t="-369489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4" name="Google Shape;184;p14"/>
          <p:cNvSpPr txBox="1"/>
          <p:nvPr/>
        </p:nvSpPr>
        <p:spPr>
          <a:xfrm>
            <a:off x="2123605" y="3903985"/>
            <a:ext cx="682212" cy="276999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-1521424" l="-586619" r="-586619" t="-369489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5" name="Google Shape;185;p14"/>
          <p:cNvSpPr txBox="1"/>
          <p:nvPr/>
        </p:nvSpPr>
        <p:spPr>
          <a:xfrm>
            <a:off x="3874462" y="3888704"/>
            <a:ext cx="682212" cy="276999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-1555977" l="-604519" r="-605410" t="-377880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6" name="Google Shape;186;p14"/>
          <p:cNvSpPr txBox="1"/>
          <p:nvPr/>
        </p:nvSpPr>
        <p:spPr>
          <a:xfrm>
            <a:off x="5592430" y="3904472"/>
            <a:ext cx="682212" cy="276999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-1521424" l="-580358" r="-580358" t="-369489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7" name="Google Shape;187;p14"/>
          <p:cNvSpPr txBox="1"/>
          <p:nvPr/>
        </p:nvSpPr>
        <p:spPr>
          <a:xfrm>
            <a:off x="502049" y="4869620"/>
            <a:ext cx="682212" cy="276999"/>
          </a:xfrm>
          <a:prstGeom prst="rect">
            <a:avLst/>
          </a:prstGeom>
          <a:blipFill rotWithShape="1">
            <a:blip r:embed="rId26">
              <a:alphaModFix/>
            </a:blip>
            <a:stretch>
              <a:fillRect b="-1555977" l="-592839" r="-592839" t="-377880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8" name="Google Shape;188;p14"/>
          <p:cNvSpPr txBox="1"/>
          <p:nvPr/>
        </p:nvSpPr>
        <p:spPr>
          <a:xfrm>
            <a:off x="2136828" y="4856964"/>
            <a:ext cx="682212" cy="276999"/>
          </a:xfrm>
          <a:prstGeom prst="rect">
            <a:avLst/>
          </a:prstGeom>
          <a:blipFill rotWithShape="1">
            <a:blip r:embed="rId27">
              <a:alphaModFix/>
            </a:blip>
            <a:stretch>
              <a:fillRect b="-1555327" l="-610751" r="-611651" t="-377946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9" name="Google Shape;189;p14"/>
          <p:cNvSpPr txBox="1"/>
          <p:nvPr/>
        </p:nvSpPr>
        <p:spPr>
          <a:xfrm>
            <a:off x="3852157" y="4836915"/>
            <a:ext cx="682212" cy="276999"/>
          </a:xfrm>
          <a:prstGeom prst="rect">
            <a:avLst/>
          </a:prstGeom>
          <a:blipFill rotWithShape="1">
            <a:blip r:embed="rId28">
              <a:alphaModFix/>
            </a:blip>
            <a:stretch>
              <a:fillRect b="-1576095" l="-608935" r="-608935" t="-383049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0" name="Google Shape;190;p14"/>
          <p:cNvSpPr txBox="1"/>
          <p:nvPr/>
        </p:nvSpPr>
        <p:spPr>
          <a:xfrm>
            <a:off x="5642006" y="4834666"/>
            <a:ext cx="682212" cy="276999"/>
          </a:xfrm>
          <a:prstGeom prst="rect">
            <a:avLst/>
          </a:prstGeom>
          <a:blipFill rotWithShape="1">
            <a:blip r:embed="rId29">
              <a:alphaModFix/>
            </a:blip>
            <a:stretch>
              <a:fillRect b="-1521424" l="-591894" r="-592793" t="-369489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1" name="Google Shape;191;p14"/>
          <p:cNvSpPr/>
          <p:nvPr/>
        </p:nvSpPr>
        <p:spPr>
          <a:xfrm>
            <a:off x="110543" y="5339222"/>
            <a:ext cx="2574000" cy="2418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Related Calculations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4"/>
          <p:cNvSpPr txBox="1"/>
          <p:nvPr/>
        </p:nvSpPr>
        <p:spPr>
          <a:xfrm>
            <a:off x="2540296" y="7069388"/>
            <a:ext cx="682212" cy="276999"/>
          </a:xfrm>
          <a:prstGeom prst="rect">
            <a:avLst/>
          </a:prstGeom>
          <a:blipFill rotWithShape="1">
            <a:blip r:embed="rId30">
              <a:alphaModFix/>
            </a:blip>
            <a:stretch>
              <a:fillRect b="-1555327" l="-592839" r="-592839" t="-377946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3" name="Google Shape;193;p14"/>
          <p:cNvSpPr txBox="1"/>
          <p:nvPr/>
        </p:nvSpPr>
        <p:spPr>
          <a:xfrm>
            <a:off x="2562714" y="7604122"/>
            <a:ext cx="682212" cy="276999"/>
          </a:xfrm>
          <a:prstGeom prst="rect">
            <a:avLst/>
          </a:prstGeom>
          <a:blipFill rotWithShape="1">
            <a:blip r:embed="rId31">
              <a:alphaModFix/>
            </a:blip>
            <a:stretch>
              <a:fillRect b="-1521424" l="-599182" r="-599182" t="-369489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4" name="Google Shape;194;p14"/>
          <p:cNvSpPr txBox="1"/>
          <p:nvPr/>
        </p:nvSpPr>
        <p:spPr>
          <a:xfrm>
            <a:off x="2541788" y="8168664"/>
            <a:ext cx="682212" cy="276999"/>
          </a:xfrm>
          <a:prstGeom prst="rect">
            <a:avLst/>
          </a:prstGeom>
          <a:blipFill rotWithShape="1">
            <a:blip r:embed="rId32">
              <a:alphaModFix/>
            </a:blip>
            <a:stretch>
              <a:fillRect b="-1557556" l="-599182" r="-599182" t="-37772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5" name="Google Shape;195;p14"/>
          <p:cNvSpPr txBox="1"/>
          <p:nvPr/>
        </p:nvSpPr>
        <p:spPr>
          <a:xfrm>
            <a:off x="2540296" y="8708635"/>
            <a:ext cx="682212" cy="276999"/>
          </a:xfrm>
          <a:prstGeom prst="rect">
            <a:avLst/>
          </a:prstGeom>
          <a:blipFill rotWithShape="1">
            <a:blip r:embed="rId33">
              <a:alphaModFix/>
            </a:blip>
            <a:stretch>
              <a:fillRect b="-1555327" l="-586619" r="-586619" t="-377946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6" name="Google Shape;196;p14"/>
          <p:cNvSpPr txBox="1"/>
          <p:nvPr/>
        </p:nvSpPr>
        <p:spPr>
          <a:xfrm>
            <a:off x="2540296" y="9253810"/>
            <a:ext cx="682212" cy="276999"/>
          </a:xfrm>
          <a:prstGeom prst="rect">
            <a:avLst/>
          </a:prstGeom>
          <a:blipFill rotWithShape="1">
            <a:blip r:embed="rId34">
              <a:alphaModFix/>
            </a:blip>
            <a:stretch>
              <a:fillRect b="-1557556" l="-580358" r="-580358" t="-37772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7" name="Google Shape;197;p14"/>
          <p:cNvSpPr txBox="1"/>
          <p:nvPr/>
        </p:nvSpPr>
        <p:spPr>
          <a:xfrm>
            <a:off x="4333647" y="7159601"/>
            <a:ext cx="682212" cy="276999"/>
          </a:xfrm>
          <a:prstGeom prst="rect">
            <a:avLst/>
          </a:prstGeom>
          <a:blipFill rotWithShape="1">
            <a:blip r:embed="rId3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8" name="Google Shape;198;p14"/>
          <p:cNvSpPr txBox="1"/>
          <p:nvPr/>
        </p:nvSpPr>
        <p:spPr>
          <a:xfrm>
            <a:off x="4342468" y="7710728"/>
            <a:ext cx="682212" cy="276999"/>
          </a:xfrm>
          <a:prstGeom prst="rect">
            <a:avLst/>
          </a:prstGeom>
          <a:blipFill rotWithShape="1">
            <a:blip r:embed="rId36">
              <a:alphaModFix/>
            </a:blip>
            <a:stretch>
              <a:fillRect b="0" l="0" r="-89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9" name="Google Shape;199;p14"/>
          <p:cNvSpPr txBox="1"/>
          <p:nvPr/>
        </p:nvSpPr>
        <p:spPr>
          <a:xfrm>
            <a:off x="4462689" y="8168664"/>
            <a:ext cx="682212" cy="276999"/>
          </a:xfrm>
          <a:prstGeom prst="rect">
            <a:avLst/>
          </a:prstGeom>
          <a:blipFill rotWithShape="1">
            <a:blip r:embed="rId37">
              <a:alphaModFix/>
            </a:blip>
            <a:stretch>
              <a:fillRect b="-1527389" l="-582148" r="-583034" t="-377509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00" name="Google Shape;200;p14"/>
          <p:cNvSpPr txBox="1"/>
          <p:nvPr/>
        </p:nvSpPr>
        <p:spPr>
          <a:xfrm>
            <a:off x="4461197" y="8708635"/>
            <a:ext cx="682212" cy="276999"/>
          </a:xfrm>
          <a:prstGeom prst="rect">
            <a:avLst/>
          </a:prstGeom>
          <a:blipFill rotWithShape="1">
            <a:blip r:embed="rId38">
              <a:alphaModFix/>
            </a:blip>
            <a:stretch>
              <a:fillRect b="-1555327" l="-599182" r="-599182" t="-377946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01" name="Google Shape;201;p14"/>
          <p:cNvSpPr txBox="1"/>
          <p:nvPr/>
        </p:nvSpPr>
        <p:spPr>
          <a:xfrm>
            <a:off x="4131366" y="9371002"/>
            <a:ext cx="682212" cy="276999"/>
          </a:xfrm>
          <a:prstGeom prst="rect">
            <a:avLst/>
          </a:prstGeom>
          <a:blipFill rotWithShape="1">
            <a:blip r:embed="rId3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02" name="Google Shape;202;p14"/>
          <p:cNvSpPr txBox="1"/>
          <p:nvPr/>
        </p:nvSpPr>
        <p:spPr>
          <a:xfrm>
            <a:off x="6040992" y="7124290"/>
            <a:ext cx="682212" cy="276999"/>
          </a:xfrm>
          <a:prstGeom prst="rect">
            <a:avLst/>
          </a:prstGeom>
          <a:blipFill rotWithShape="1">
            <a:blip r:embed="rId40">
              <a:alphaModFix/>
            </a:blip>
            <a:stretch>
              <a:fillRect b="-1555327" l="-599182" r="-599182" t="-377946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03" name="Google Shape;203;p14"/>
          <p:cNvSpPr txBox="1"/>
          <p:nvPr/>
        </p:nvSpPr>
        <p:spPr>
          <a:xfrm>
            <a:off x="6063410" y="7659024"/>
            <a:ext cx="682212" cy="276999"/>
          </a:xfrm>
          <a:prstGeom prst="rect">
            <a:avLst/>
          </a:prstGeom>
          <a:blipFill rotWithShape="1">
            <a:blip r:embed="rId41">
              <a:alphaModFix/>
            </a:blip>
            <a:stretch>
              <a:fillRect b="-1521424" l="-599182" r="-599182" t="-369489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04" name="Google Shape;204;p14"/>
          <p:cNvSpPr txBox="1"/>
          <p:nvPr/>
        </p:nvSpPr>
        <p:spPr>
          <a:xfrm>
            <a:off x="6042484" y="8223566"/>
            <a:ext cx="682212" cy="276999"/>
          </a:xfrm>
          <a:prstGeom prst="rect">
            <a:avLst/>
          </a:prstGeom>
          <a:blipFill rotWithShape="1">
            <a:blip r:embed="rId4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05" name="Google Shape;205;p14"/>
          <p:cNvSpPr txBox="1"/>
          <p:nvPr/>
        </p:nvSpPr>
        <p:spPr>
          <a:xfrm>
            <a:off x="6040992" y="8763537"/>
            <a:ext cx="682212" cy="276999"/>
          </a:xfrm>
          <a:prstGeom prst="rect">
            <a:avLst/>
          </a:prstGeom>
          <a:blipFill rotWithShape="1">
            <a:blip r:embed="rId43">
              <a:alphaModFix/>
            </a:blip>
            <a:stretch>
              <a:fillRect b="-1555327" l="-592839" r="-592839" t="-377946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06" name="Google Shape;206;p14"/>
          <p:cNvSpPr txBox="1"/>
          <p:nvPr/>
        </p:nvSpPr>
        <p:spPr>
          <a:xfrm>
            <a:off x="6040992" y="9308712"/>
            <a:ext cx="682212" cy="276999"/>
          </a:xfrm>
          <a:prstGeom prst="rect">
            <a:avLst/>
          </a:prstGeom>
          <a:blipFill rotWithShape="1">
            <a:blip r:embed="rId4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"/>
          <p:cNvSpPr/>
          <p:nvPr/>
        </p:nvSpPr>
        <p:spPr>
          <a:xfrm>
            <a:off x="63815" y="47516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212" name="Google Shape;212;p15"/>
          <p:cNvSpPr txBox="1"/>
          <p:nvPr>
            <p:ph idx="12" type="sldNum"/>
          </p:nvPr>
        </p:nvSpPr>
        <p:spPr>
          <a:xfrm>
            <a:off x="5163181" y="93785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213" name="Google Shape;213;p15"/>
          <p:cNvGraphicFramePr/>
          <p:nvPr/>
        </p:nvGraphicFramePr>
        <p:xfrm>
          <a:off x="97071" y="57608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{469A048F-DD2F-4D15-B865-2E25CF8D0158}</a:tableStyleId>
              </a:tblPr>
              <a:tblGrid>
                <a:gridCol w="1498125"/>
                <a:gridCol w="1703675"/>
                <a:gridCol w="1703675"/>
                <a:gridCol w="1703675"/>
              </a:tblGrid>
              <a:tr h="28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Steps: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Calculate: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Calculate: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89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Determine which way the digits move when we multiply by 10, 100, 1000…</a:t>
                      </a:r>
                      <a:endParaRPr/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Work out how many places we need to move the digits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97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3) Move the digits in the correct direction, by the number of places.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214" name="Google Shape;214;p15"/>
          <p:cNvSpPr txBox="1"/>
          <p:nvPr/>
        </p:nvSpPr>
        <p:spPr>
          <a:xfrm>
            <a:off x="1796059" y="5461273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7 - I do…</a:t>
            </a:r>
            <a:endParaRPr/>
          </a:p>
        </p:txBody>
      </p:sp>
      <p:sp>
        <p:nvSpPr>
          <p:cNvPr id="215" name="Google Shape;215;p15"/>
          <p:cNvSpPr txBox="1"/>
          <p:nvPr/>
        </p:nvSpPr>
        <p:spPr>
          <a:xfrm>
            <a:off x="5062826" y="5466499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9 – You do…</a:t>
            </a:r>
            <a:endParaRPr/>
          </a:p>
        </p:txBody>
      </p:sp>
      <p:sp>
        <p:nvSpPr>
          <p:cNvPr id="216" name="Google Shape;216;p15"/>
          <p:cNvSpPr txBox="1"/>
          <p:nvPr/>
        </p:nvSpPr>
        <p:spPr>
          <a:xfrm>
            <a:off x="3419421" y="5463790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8 – We do…</a:t>
            </a:r>
            <a:endParaRPr/>
          </a:p>
        </p:txBody>
      </p:sp>
      <p:sp>
        <p:nvSpPr>
          <p:cNvPr id="217" name="Google Shape;217;p15"/>
          <p:cNvSpPr/>
          <p:nvPr/>
        </p:nvSpPr>
        <p:spPr>
          <a:xfrm>
            <a:off x="97071" y="4431427"/>
            <a:ext cx="2574000" cy="2418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Multiplying Decimals by Powers of Ten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8" name="Google Shape;218;p15"/>
          <p:cNvGraphicFramePr/>
          <p:nvPr/>
        </p:nvGraphicFramePr>
        <p:xfrm>
          <a:off x="97071" y="49561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{469A048F-DD2F-4D15-B865-2E25CF8D0158}</a:tableStyleId>
              </a:tblPr>
              <a:tblGrid>
                <a:gridCol w="960550"/>
                <a:gridCol w="872025"/>
                <a:gridCol w="756575"/>
                <a:gridCol w="693800"/>
                <a:gridCol w="665250"/>
                <a:gridCol w="665250"/>
                <a:gridCol w="665250"/>
                <a:gridCol w="555000"/>
                <a:gridCol w="775500"/>
              </a:tblGrid>
              <a:tr h="224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000000"/>
                          </a:solidFill>
                        </a:rPr>
                        <a:t>Hundred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000000"/>
                          </a:solidFill>
                        </a:rPr>
                        <a:t>Thousands</a:t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000000"/>
                          </a:solidFill>
                        </a:rPr>
                        <a:t>Ten Thousands</a:t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000000"/>
                          </a:solidFill>
                        </a:rPr>
                        <a:t>Thousands</a:t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000000"/>
                          </a:solidFill>
                        </a:rPr>
                        <a:t>Hundreds</a:t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000000"/>
                          </a:solidFill>
                        </a:rPr>
                        <a:t>Tens</a:t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000000"/>
                          </a:solidFill>
                        </a:rPr>
                        <a:t>ones</a:t>
                      </a:r>
                      <a:endParaRPr sz="9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000000"/>
                          </a:solidFill>
                        </a:rPr>
                        <a:t>Tenths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000000"/>
                          </a:solidFill>
                        </a:rPr>
                        <a:t>Hundredths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000000"/>
                          </a:solidFill>
                        </a:rPr>
                        <a:t>Thousandths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19" name="Google Shape;219;p15"/>
          <p:cNvSpPr/>
          <p:nvPr/>
        </p:nvSpPr>
        <p:spPr>
          <a:xfrm>
            <a:off x="4663700" y="5090333"/>
            <a:ext cx="73820" cy="71592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5"/>
          <p:cNvSpPr txBox="1"/>
          <p:nvPr/>
        </p:nvSpPr>
        <p:spPr>
          <a:xfrm>
            <a:off x="0" y="432136"/>
            <a:ext cx="6632812" cy="64633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6605" l="0" r="0" t="-94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21" name="Google Shape;221;p15"/>
          <p:cNvSpPr/>
          <p:nvPr/>
        </p:nvSpPr>
        <p:spPr>
          <a:xfrm>
            <a:off x="135281" y="1097275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5"/>
          <p:cNvSpPr/>
          <p:nvPr/>
        </p:nvSpPr>
        <p:spPr>
          <a:xfrm>
            <a:off x="1441552" y="1097275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5"/>
          <p:cNvSpPr/>
          <p:nvPr/>
        </p:nvSpPr>
        <p:spPr>
          <a:xfrm>
            <a:off x="2846697" y="1097275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5"/>
          <p:cNvSpPr/>
          <p:nvPr/>
        </p:nvSpPr>
        <p:spPr>
          <a:xfrm>
            <a:off x="4152968" y="1097275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5"/>
          <p:cNvSpPr/>
          <p:nvPr/>
        </p:nvSpPr>
        <p:spPr>
          <a:xfrm>
            <a:off x="5618215" y="1097275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5"/>
          <p:cNvSpPr txBox="1"/>
          <p:nvPr/>
        </p:nvSpPr>
        <p:spPr>
          <a:xfrm>
            <a:off x="32088" y="1677756"/>
            <a:ext cx="6861298" cy="64633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660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27" name="Google Shape;227;p15"/>
          <p:cNvSpPr/>
          <p:nvPr/>
        </p:nvSpPr>
        <p:spPr>
          <a:xfrm>
            <a:off x="118832" y="2330954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5"/>
          <p:cNvSpPr/>
          <p:nvPr/>
        </p:nvSpPr>
        <p:spPr>
          <a:xfrm>
            <a:off x="1425103" y="2330954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5"/>
          <p:cNvSpPr/>
          <p:nvPr/>
        </p:nvSpPr>
        <p:spPr>
          <a:xfrm>
            <a:off x="2830248" y="2330954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5"/>
          <p:cNvSpPr/>
          <p:nvPr/>
        </p:nvSpPr>
        <p:spPr>
          <a:xfrm>
            <a:off x="4136519" y="2330954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5"/>
          <p:cNvSpPr/>
          <p:nvPr/>
        </p:nvSpPr>
        <p:spPr>
          <a:xfrm>
            <a:off x="5601766" y="2330954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5"/>
          <p:cNvSpPr txBox="1"/>
          <p:nvPr/>
        </p:nvSpPr>
        <p:spPr>
          <a:xfrm>
            <a:off x="0" y="3003984"/>
            <a:ext cx="6861298" cy="64633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6605" l="0" r="0" t="-94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3" name="Google Shape;233;p15"/>
          <p:cNvSpPr/>
          <p:nvPr/>
        </p:nvSpPr>
        <p:spPr>
          <a:xfrm>
            <a:off x="97071" y="3650315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5"/>
          <p:cNvSpPr/>
          <p:nvPr/>
        </p:nvSpPr>
        <p:spPr>
          <a:xfrm>
            <a:off x="1403342" y="3650315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5"/>
          <p:cNvSpPr/>
          <p:nvPr/>
        </p:nvSpPr>
        <p:spPr>
          <a:xfrm>
            <a:off x="2808487" y="3650315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5"/>
          <p:cNvSpPr/>
          <p:nvPr/>
        </p:nvSpPr>
        <p:spPr>
          <a:xfrm>
            <a:off x="4114758" y="3650315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5"/>
          <p:cNvSpPr/>
          <p:nvPr/>
        </p:nvSpPr>
        <p:spPr>
          <a:xfrm>
            <a:off x="5580005" y="3650315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5"/>
          <p:cNvSpPr txBox="1"/>
          <p:nvPr/>
        </p:nvSpPr>
        <p:spPr>
          <a:xfrm>
            <a:off x="284049" y="1195498"/>
            <a:ext cx="682212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9" name="Google Shape;239;p15"/>
          <p:cNvSpPr txBox="1"/>
          <p:nvPr/>
        </p:nvSpPr>
        <p:spPr>
          <a:xfrm>
            <a:off x="1611981" y="1195498"/>
            <a:ext cx="682212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0" name="Google Shape;240;p15"/>
          <p:cNvSpPr txBox="1"/>
          <p:nvPr/>
        </p:nvSpPr>
        <p:spPr>
          <a:xfrm>
            <a:off x="3016904" y="1195498"/>
            <a:ext cx="682212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1" name="Google Shape;241;p15"/>
          <p:cNvSpPr txBox="1"/>
          <p:nvPr/>
        </p:nvSpPr>
        <p:spPr>
          <a:xfrm>
            <a:off x="4323397" y="1195498"/>
            <a:ext cx="682212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2" name="Google Shape;242;p15"/>
          <p:cNvSpPr txBox="1"/>
          <p:nvPr/>
        </p:nvSpPr>
        <p:spPr>
          <a:xfrm>
            <a:off x="5783009" y="1195498"/>
            <a:ext cx="682212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3" name="Google Shape;243;p15"/>
          <p:cNvSpPr txBox="1"/>
          <p:nvPr/>
        </p:nvSpPr>
        <p:spPr>
          <a:xfrm>
            <a:off x="267600" y="2434078"/>
            <a:ext cx="682212" cy="276999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4" name="Google Shape;244;p15"/>
          <p:cNvSpPr txBox="1"/>
          <p:nvPr/>
        </p:nvSpPr>
        <p:spPr>
          <a:xfrm>
            <a:off x="1595532" y="2434078"/>
            <a:ext cx="682212" cy="276999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-89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5" name="Google Shape;245;p15"/>
          <p:cNvSpPr txBox="1"/>
          <p:nvPr/>
        </p:nvSpPr>
        <p:spPr>
          <a:xfrm>
            <a:off x="2898025" y="2434078"/>
            <a:ext cx="682212" cy="276999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-1785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6" name="Google Shape;246;p15"/>
          <p:cNvSpPr txBox="1"/>
          <p:nvPr/>
        </p:nvSpPr>
        <p:spPr>
          <a:xfrm>
            <a:off x="4306948" y="2434078"/>
            <a:ext cx="682212" cy="276999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7" name="Google Shape;247;p15"/>
          <p:cNvSpPr txBox="1"/>
          <p:nvPr/>
        </p:nvSpPr>
        <p:spPr>
          <a:xfrm>
            <a:off x="5766560" y="2434078"/>
            <a:ext cx="682212" cy="276999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8" name="Google Shape;248;p15"/>
          <p:cNvSpPr txBox="1"/>
          <p:nvPr/>
        </p:nvSpPr>
        <p:spPr>
          <a:xfrm>
            <a:off x="284049" y="3752241"/>
            <a:ext cx="682212" cy="276999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9" name="Google Shape;249;p15"/>
          <p:cNvSpPr txBox="1"/>
          <p:nvPr/>
        </p:nvSpPr>
        <p:spPr>
          <a:xfrm>
            <a:off x="1611981" y="3752241"/>
            <a:ext cx="682212" cy="276999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50" name="Google Shape;250;p15"/>
          <p:cNvSpPr txBox="1"/>
          <p:nvPr/>
        </p:nvSpPr>
        <p:spPr>
          <a:xfrm>
            <a:off x="3016904" y="3752241"/>
            <a:ext cx="682212" cy="276999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51" name="Google Shape;251;p15"/>
          <p:cNvSpPr txBox="1"/>
          <p:nvPr/>
        </p:nvSpPr>
        <p:spPr>
          <a:xfrm>
            <a:off x="4323397" y="3752241"/>
            <a:ext cx="682212" cy="276999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52" name="Google Shape;252;p15"/>
          <p:cNvSpPr txBox="1"/>
          <p:nvPr/>
        </p:nvSpPr>
        <p:spPr>
          <a:xfrm>
            <a:off x="5783009" y="3752241"/>
            <a:ext cx="682212" cy="276999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53" name="Google Shape;253;p15"/>
          <p:cNvSpPr txBox="1"/>
          <p:nvPr/>
        </p:nvSpPr>
        <p:spPr>
          <a:xfrm>
            <a:off x="2129902" y="6499009"/>
            <a:ext cx="682212" cy="276999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54" name="Google Shape;254;p15"/>
          <p:cNvSpPr txBox="1"/>
          <p:nvPr/>
        </p:nvSpPr>
        <p:spPr>
          <a:xfrm>
            <a:off x="2129902" y="7148056"/>
            <a:ext cx="682212" cy="276999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55" name="Google Shape;255;p15"/>
          <p:cNvSpPr txBox="1"/>
          <p:nvPr/>
        </p:nvSpPr>
        <p:spPr>
          <a:xfrm>
            <a:off x="2129902" y="7782372"/>
            <a:ext cx="682212" cy="276999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56" name="Google Shape;256;p15"/>
          <p:cNvSpPr txBox="1"/>
          <p:nvPr/>
        </p:nvSpPr>
        <p:spPr>
          <a:xfrm>
            <a:off x="2129902" y="8525075"/>
            <a:ext cx="682212" cy="276999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57" name="Google Shape;257;p15"/>
          <p:cNvSpPr txBox="1"/>
          <p:nvPr/>
        </p:nvSpPr>
        <p:spPr>
          <a:xfrm>
            <a:off x="3829088" y="6499009"/>
            <a:ext cx="682212" cy="276999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58" name="Google Shape;258;p15"/>
          <p:cNvSpPr txBox="1"/>
          <p:nvPr/>
        </p:nvSpPr>
        <p:spPr>
          <a:xfrm>
            <a:off x="3829088" y="7148056"/>
            <a:ext cx="682212" cy="276999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59" name="Google Shape;259;p15"/>
          <p:cNvSpPr txBox="1"/>
          <p:nvPr/>
        </p:nvSpPr>
        <p:spPr>
          <a:xfrm>
            <a:off x="3829088" y="7782372"/>
            <a:ext cx="682212" cy="276999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0" name="Google Shape;260;p15"/>
          <p:cNvSpPr txBox="1"/>
          <p:nvPr/>
        </p:nvSpPr>
        <p:spPr>
          <a:xfrm>
            <a:off x="3829088" y="8525075"/>
            <a:ext cx="682212" cy="276999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1" name="Google Shape;261;p15"/>
          <p:cNvSpPr txBox="1"/>
          <p:nvPr/>
        </p:nvSpPr>
        <p:spPr>
          <a:xfrm>
            <a:off x="5528274" y="6513697"/>
            <a:ext cx="682212" cy="276999"/>
          </a:xfrm>
          <a:prstGeom prst="rect">
            <a:avLst/>
          </a:prstGeom>
          <a:blipFill rotWithShape="1">
            <a:blip r:embed="rId2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2" name="Google Shape;262;p15"/>
          <p:cNvSpPr txBox="1"/>
          <p:nvPr/>
        </p:nvSpPr>
        <p:spPr>
          <a:xfrm>
            <a:off x="5528274" y="7162744"/>
            <a:ext cx="682212" cy="276999"/>
          </a:xfrm>
          <a:prstGeom prst="rect">
            <a:avLst/>
          </a:prstGeom>
          <a:blipFill rotWithShape="1">
            <a:blip r:embed="rId2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3" name="Google Shape;263;p15"/>
          <p:cNvSpPr txBox="1"/>
          <p:nvPr/>
        </p:nvSpPr>
        <p:spPr>
          <a:xfrm>
            <a:off x="5528274" y="7797060"/>
            <a:ext cx="682212" cy="276999"/>
          </a:xfrm>
          <a:prstGeom prst="rect">
            <a:avLst/>
          </a:prstGeom>
          <a:blipFill rotWithShape="1">
            <a:blip r:embed="rId2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4" name="Google Shape;264;p15"/>
          <p:cNvSpPr txBox="1"/>
          <p:nvPr/>
        </p:nvSpPr>
        <p:spPr>
          <a:xfrm>
            <a:off x="5528274" y="8539763"/>
            <a:ext cx="682212" cy="276999"/>
          </a:xfrm>
          <a:prstGeom prst="rect">
            <a:avLst/>
          </a:prstGeom>
          <a:blipFill rotWithShape="1">
            <a:blip r:embed="rId2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9" name="Google Shape;269;p16"/>
          <p:cNvGraphicFramePr/>
          <p:nvPr/>
        </p:nvGraphicFramePr>
        <p:xfrm>
          <a:off x="124419" y="3598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{469A048F-DD2F-4D15-B865-2E25CF8D0158}</a:tableStyleId>
              </a:tblPr>
              <a:tblGrid>
                <a:gridCol w="1498125"/>
                <a:gridCol w="1703675"/>
                <a:gridCol w="1703675"/>
                <a:gridCol w="1703675"/>
              </a:tblGrid>
              <a:tr h="30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Steps: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Calculate: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Calculate: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05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Determine which way the digits move when we multiply by 10, 100, 1000…</a:t>
                      </a:r>
                      <a:endParaRPr/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Work out how many places we need to move the digits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102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3) Move the digits in the correct direction, by the number of places.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270" name="Google Shape;270;p16"/>
          <p:cNvSpPr txBox="1"/>
          <p:nvPr/>
        </p:nvSpPr>
        <p:spPr>
          <a:xfrm>
            <a:off x="1720974" y="45720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10 - I do…</a:t>
            </a:r>
            <a:endParaRPr/>
          </a:p>
        </p:txBody>
      </p:sp>
      <p:sp>
        <p:nvSpPr>
          <p:cNvPr id="271" name="Google Shape;271;p16"/>
          <p:cNvSpPr txBox="1"/>
          <p:nvPr/>
        </p:nvSpPr>
        <p:spPr>
          <a:xfrm>
            <a:off x="4994516" y="45720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12 – You do…</a:t>
            </a:r>
            <a:endParaRPr/>
          </a:p>
        </p:txBody>
      </p:sp>
      <p:sp>
        <p:nvSpPr>
          <p:cNvPr id="272" name="Google Shape;272;p16"/>
          <p:cNvSpPr txBox="1"/>
          <p:nvPr/>
        </p:nvSpPr>
        <p:spPr>
          <a:xfrm>
            <a:off x="3315570" y="45720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11 – We do…</a:t>
            </a:r>
            <a:endParaRPr/>
          </a:p>
        </p:txBody>
      </p:sp>
      <p:sp>
        <p:nvSpPr>
          <p:cNvPr id="273" name="Google Shape;273;p16"/>
          <p:cNvSpPr txBox="1"/>
          <p:nvPr>
            <p:ph idx="12" type="sldNum"/>
          </p:nvPr>
        </p:nvSpPr>
        <p:spPr>
          <a:xfrm>
            <a:off x="5286672" y="9476669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4" name="Google Shape;274;p16"/>
          <p:cNvSpPr/>
          <p:nvPr/>
        </p:nvSpPr>
        <p:spPr>
          <a:xfrm>
            <a:off x="129407" y="3666863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275" name="Google Shape;275;p16"/>
          <p:cNvSpPr txBox="1"/>
          <p:nvPr/>
        </p:nvSpPr>
        <p:spPr>
          <a:xfrm>
            <a:off x="1267361" y="3792358"/>
            <a:ext cx="183851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Calculate the following: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6"/>
          <p:cNvSpPr txBox="1"/>
          <p:nvPr/>
        </p:nvSpPr>
        <p:spPr>
          <a:xfrm>
            <a:off x="102180" y="4032105"/>
            <a:ext cx="6632812" cy="2769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5217" l="-92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7" name="Google Shape;277;p16"/>
          <p:cNvSpPr txBox="1"/>
          <p:nvPr/>
        </p:nvSpPr>
        <p:spPr>
          <a:xfrm>
            <a:off x="95507" y="6734583"/>
            <a:ext cx="519116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Fill in the missing gaps in the table below, the first row has been done for you: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8" name="Google Shape;278;p16"/>
          <p:cNvGraphicFramePr/>
          <p:nvPr/>
        </p:nvGraphicFramePr>
        <p:xfrm>
          <a:off x="209663" y="71509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{469A048F-DD2F-4D15-B865-2E25CF8D0158}</a:tableStyleId>
              </a:tblPr>
              <a:tblGrid>
                <a:gridCol w="1073100"/>
                <a:gridCol w="1073100"/>
                <a:gridCol w="1073100"/>
                <a:gridCol w="1073100"/>
                <a:gridCol w="1073100"/>
                <a:gridCol w="1073100"/>
              </a:tblGrid>
              <a:tr h="32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Number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E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/>
                </a:tc>
              </a:tr>
              <a:tr h="456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2.6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260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2600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26,000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260,000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56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120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1200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12,000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120,000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1,200,000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56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256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2560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25,600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256,000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2,560,000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25,600,000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56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33.8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338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3380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33,800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338,000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3,380,000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279" name="Google Shape;279;p16"/>
          <p:cNvSpPr txBox="1"/>
          <p:nvPr/>
        </p:nvSpPr>
        <p:spPr>
          <a:xfrm>
            <a:off x="2157251" y="1098095"/>
            <a:ext cx="682212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0" name="Google Shape;280;p16"/>
          <p:cNvSpPr txBox="1"/>
          <p:nvPr/>
        </p:nvSpPr>
        <p:spPr>
          <a:xfrm>
            <a:off x="2157251" y="1747142"/>
            <a:ext cx="682212" cy="27699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1" name="Google Shape;281;p16"/>
          <p:cNvSpPr txBox="1"/>
          <p:nvPr/>
        </p:nvSpPr>
        <p:spPr>
          <a:xfrm>
            <a:off x="2157251" y="2381458"/>
            <a:ext cx="682212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2" name="Google Shape;282;p16"/>
          <p:cNvSpPr txBox="1"/>
          <p:nvPr/>
        </p:nvSpPr>
        <p:spPr>
          <a:xfrm>
            <a:off x="2157251" y="3124161"/>
            <a:ext cx="682212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3" name="Google Shape;283;p16"/>
          <p:cNvSpPr txBox="1"/>
          <p:nvPr/>
        </p:nvSpPr>
        <p:spPr>
          <a:xfrm>
            <a:off x="3856437" y="1098095"/>
            <a:ext cx="682212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4" name="Google Shape;284;p16"/>
          <p:cNvSpPr txBox="1"/>
          <p:nvPr/>
        </p:nvSpPr>
        <p:spPr>
          <a:xfrm>
            <a:off x="3856437" y="1747142"/>
            <a:ext cx="682212" cy="276999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5" name="Google Shape;285;p16"/>
          <p:cNvSpPr txBox="1"/>
          <p:nvPr/>
        </p:nvSpPr>
        <p:spPr>
          <a:xfrm>
            <a:off x="3856437" y="2381458"/>
            <a:ext cx="682212" cy="276999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6" name="Google Shape;286;p16"/>
          <p:cNvSpPr txBox="1"/>
          <p:nvPr/>
        </p:nvSpPr>
        <p:spPr>
          <a:xfrm>
            <a:off x="3856437" y="3124161"/>
            <a:ext cx="682212" cy="276999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7" name="Google Shape;287;p16"/>
          <p:cNvSpPr txBox="1"/>
          <p:nvPr/>
        </p:nvSpPr>
        <p:spPr>
          <a:xfrm>
            <a:off x="5555623" y="1098095"/>
            <a:ext cx="682212" cy="276999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1469874" l="-573286" r="-573286" t="-368775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8" name="Google Shape;288;p16"/>
          <p:cNvSpPr txBox="1"/>
          <p:nvPr/>
        </p:nvSpPr>
        <p:spPr>
          <a:xfrm>
            <a:off x="5555623" y="1747142"/>
            <a:ext cx="682212" cy="276999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-1555327" l="-586619" r="-586619" t="-377946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9" name="Google Shape;289;p16"/>
          <p:cNvSpPr txBox="1"/>
          <p:nvPr/>
        </p:nvSpPr>
        <p:spPr>
          <a:xfrm>
            <a:off x="5555623" y="2381458"/>
            <a:ext cx="682212" cy="276999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-1502259" l="-579406" r="-579406" t="-377120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0" name="Google Shape;290;p16"/>
          <p:cNvSpPr txBox="1"/>
          <p:nvPr/>
        </p:nvSpPr>
        <p:spPr>
          <a:xfrm>
            <a:off x="5555623" y="3124161"/>
            <a:ext cx="682212" cy="276999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-1521424" l="-592839" r="-592839" t="-369489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1" name="Google Shape;291;p16"/>
          <p:cNvSpPr/>
          <p:nvPr/>
        </p:nvSpPr>
        <p:spPr>
          <a:xfrm>
            <a:off x="199251" y="4332619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6"/>
          <p:cNvSpPr/>
          <p:nvPr/>
        </p:nvSpPr>
        <p:spPr>
          <a:xfrm>
            <a:off x="1505522" y="4332619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6"/>
          <p:cNvSpPr/>
          <p:nvPr/>
        </p:nvSpPr>
        <p:spPr>
          <a:xfrm>
            <a:off x="2910667" y="4332619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6"/>
          <p:cNvSpPr/>
          <p:nvPr/>
        </p:nvSpPr>
        <p:spPr>
          <a:xfrm>
            <a:off x="4216938" y="4332619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6"/>
          <p:cNvSpPr/>
          <p:nvPr/>
        </p:nvSpPr>
        <p:spPr>
          <a:xfrm>
            <a:off x="5682185" y="4332619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6"/>
          <p:cNvSpPr txBox="1"/>
          <p:nvPr/>
        </p:nvSpPr>
        <p:spPr>
          <a:xfrm>
            <a:off x="102180" y="4875081"/>
            <a:ext cx="6861298" cy="276999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-17778" l="-89" r="0" t="-222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7" name="Google Shape;297;p16"/>
          <p:cNvSpPr/>
          <p:nvPr/>
        </p:nvSpPr>
        <p:spPr>
          <a:xfrm>
            <a:off x="199251" y="5175595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6"/>
          <p:cNvSpPr/>
          <p:nvPr/>
        </p:nvSpPr>
        <p:spPr>
          <a:xfrm>
            <a:off x="1505522" y="5175595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6"/>
          <p:cNvSpPr/>
          <p:nvPr/>
        </p:nvSpPr>
        <p:spPr>
          <a:xfrm>
            <a:off x="2910667" y="5175595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6"/>
          <p:cNvSpPr/>
          <p:nvPr/>
        </p:nvSpPr>
        <p:spPr>
          <a:xfrm>
            <a:off x="4216938" y="5175595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6"/>
          <p:cNvSpPr/>
          <p:nvPr/>
        </p:nvSpPr>
        <p:spPr>
          <a:xfrm>
            <a:off x="5682185" y="5175595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 txBox="1"/>
          <p:nvPr/>
        </p:nvSpPr>
        <p:spPr>
          <a:xfrm>
            <a:off x="102180" y="5757665"/>
            <a:ext cx="6861298" cy="276999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-15217" l="-8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3" name="Google Shape;303;p16"/>
          <p:cNvSpPr/>
          <p:nvPr/>
        </p:nvSpPr>
        <p:spPr>
          <a:xfrm>
            <a:off x="199251" y="6058179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6"/>
          <p:cNvSpPr/>
          <p:nvPr/>
        </p:nvSpPr>
        <p:spPr>
          <a:xfrm>
            <a:off x="1505522" y="6058179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/>
          <p:nvPr/>
        </p:nvSpPr>
        <p:spPr>
          <a:xfrm>
            <a:off x="2910667" y="6058179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6"/>
          <p:cNvSpPr/>
          <p:nvPr/>
        </p:nvSpPr>
        <p:spPr>
          <a:xfrm>
            <a:off x="4216938" y="6058179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5682185" y="6058179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6"/>
          <p:cNvSpPr txBox="1"/>
          <p:nvPr/>
        </p:nvSpPr>
        <p:spPr>
          <a:xfrm>
            <a:off x="309270" y="4448495"/>
            <a:ext cx="682212" cy="276999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-1610690" l="-615247" r="-615247" t="-391676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9" name="Google Shape;309;p16"/>
          <p:cNvSpPr txBox="1"/>
          <p:nvPr/>
        </p:nvSpPr>
        <p:spPr>
          <a:xfrm>
            <a:off x="1637202" y="4448495"/>
            <a:ext cx="682212" cy="276999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10" name="Google Shape;310;p16"/>
          <p:cNvSpPr txBox="1"/>
          <p:nvPr/>
        </p:nvSpPr>
        <p:spPr>
          <a:xfrm>
            <a:off x="3042125" y="4448495"/>
            <a:ext cx="682212" cy="276999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-1555327" l="-599182" r="-599182" t="-377946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11" name="Google Shape;311;p16"/>
          <p:cNvSpPr txBox="1"/>
          <p:nvPr/>
        </p:nvSpPr>
        <p:spPr>
          <a:xfrm>
            <a:off x="4348618" y="4448495"/>
            <a:ext cx="682212" cy="276999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-1502259" l="-585647" r="-585647" t="-377120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12" name="Google Shape;312;p16"/>
          <p:cNvSpPr txBox="1"/>
          <p:nvPr/>
        </p:nvSpPr>
        <p:spPr>
          <a:xfrm>
            <a:off x="5808230" y="4448495"/>
            <a:ext cx="682212" cy="276999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-1555327" l="-592839" r="-592839" t="-377946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13" name="Google Shape;313;p16"/>
          <p:cNvSpPr txBox="1"/>
          <p:nvPr/>
        </p:nvSpPr>
        <p:spPr>
          <a:xfrm>
            <a:off x="309270" y="5294232"/>
            <a:ext cx="682212" cy="276999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-1521424" l="-599182" r="-599182" t="-369489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14" name="Google Shape;314;p16"/>
          <p:cNvSpPr txBox="1"/>
          <p:nvPr/>
        </p:nvSpPr>
        <p:spPr>
          <a:xfrm>
            <a:off x="1637202" y="5294232"/>
            <a:ext cx="682212" cy="276999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-1521424" l="-604519" r="-605410" t="-369489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15" name="Google Shape;315;p16"/>
          <p:cNvSpPr txBox="1"/>
          <p:nvPr/>
        </p:nvSpPr>
        <p:spPr>
          <a:xfrm>
            <a:off x="3042125" y="5294232"/>
            <a:ext cx="682212" cy="276999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-1576095" l="-621501" r="-621501" t="-383049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16" name="Google Shape;316;p16"/>
          <p:cNvSpPr txBox="1"/>
          <p:nvPr/>
        </p:nvSpPr>
        <p:spPr>
          <a:xfrm>
            <a:off x="4348618" y="5294232"/>
            <a:ext cx="682212" cy="276999"/>
          </a:xfrm>
          <a:prstGeom prst="rect">
            <a:avLst/>
          </a:prstGeom>
          <a:blipFill rotWithShape="1">
            <a:blip r:embed="rId2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17" name="Google Shape;317;p16"/>
          <p:cNvSpPr txBox="1"/>
          <p:nvPr/>
        </p:nvSpPr>
        <p:spPr>
          <a:xfrm>
            <a:off x="5808230" y="5294232"/>
            <a:ext cx="682212" cy="276999"/>
          </a:xfrm>
          <a:prstGeom prst="rect">
            <a:avLst/>
          </a:prstGeom>
          <a:blipFill rotWithShape="1">
            <a:blip r:embed="rId27">
              <a:alphaModFix/>
            </a:blip>
            <a:stretch>
              <a:fillRect b="-1521424" l="-580358" r="-580358" t="-369489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18" name="Google Shape;318;p16"/>
          <p:cNvSpPr txBox="1"/>
          <p:nvPr/>
        </p:nvSpPr>
        <p:spPr>
          <a:xfrm>
            <a:off x="348700" y="6152642"/>
            <a:ext cx="682212" cy="276999"/>
          </a:xfrm>
          <a:prstGeom prst="rect">
            <a:avLst/>
          </a:prstGeom>
          <a:blipFill rotWithShape="1">
            <a:blip r:embed="rId28">
              <a:alphaModFix/>
            </a:blip>
            <a:stretch>
              <a:fillRect b="-1469874" l="-579406" r="-579406" t="-368775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19" name="Google Shape;319;p16"/>
          <p:cNvSpPr txBox="1"/>
          <p:nvPr/>
        </p:nvSpPr>
        <p:spPr>
          <a:xfrm>
            <a:off x="1676632" y="6152642"/>
            <a:ext cx="682212" cy="276999"/>
          </a:xfrm>
          <a:prstGeom prst="rect">
            <a:avLst/>
          </a:prstGeom>
          <a:blipFill rotWithShape="1">
            <a:blip r:embed="rId29">
              <a:alphaModFix/>
            </a:blip>
            <a:stretch>
              <a:fillRect b="-1521424" l="-592839" r="-592839" t="-369489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20" name="Google Shape;320;p16"/>
          <p:cNvSpPr txBox="1"/>
          <p:nvPr/>
        </p:nvSpPr>
        <p:spPr>
          <a:xfrm>
            <a:off x="3081555" y="6152642"/>
            <a:ext cx="682212" cy="276999"/>
          </a:xfrm>
          <a:prstGeom prst="rect">
            <a:avLst/>
          </a:prstGeom>
          <a:blipFill rotWithShape="1">
            <a:blip r:embed="rId3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21" name="Google Shape;321;p16"/>
          <p:cNvSpPr txBox="1"/>
          <p:nvPr/>
        </p:nvSpPr>
        <p:spPr>
          <a:xfrm>
            <a:off x="4388048" y="6152642"/>
            <a:ext cx="682212" cy="276999"/>
          </a:xfrm>
          <a:prstGeom prst="rect">
            <a:avLst/>
          </a:prstGeom>
          <a:blipFill rotWithShape="1">
            <a:blip r:embed="rId31">
              <a:alphaModFix/>
            </a:blip>
            <a:stretch>
              <a:fillRect b="-1521424" l="-599182" r="-599182" t="-369489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22" name="Google Shape;322;p16"/>
          <p:cNvSpPr txBox="1"/>
          <p:nvPr/>
        </p:nvSpPr>
        <p:spPr>
          <a:xfrm>
            <a:off x="5847660" y="6152642"/>
            <a:ext cx="682212" cy="276999"/>
          </a:xfrm>
          <a:prstGeom prst="rect">
            <a:avLst/>
          </a:prstGeom>
          <a:blipFill rotWithShape="1">
            <a:blip r:embed="rId3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" name="Google Shape;327;p17"/>
          <p:cNvGraphicFramePr/>
          <p:nvPr/>
        </p:nvGraphicFramePr>
        <p:xfrm>
          <a:off x="209664" y="1663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{469A048F-DD2F-4D15-B865-2E25CF8D0158}</a:tableStyleId>
              </a:tblPr>
              <a:tblGrid>
                <a:gridCol w="1073100"/>
                <a:gridCol w="1073100"/>
                <a:gridCol w="1073100"/>
                <a:gridCol w="1073100"/>
                <a:gridCol w="1073100"/>
                <a:gridCol w="1073100"/>
              </a:tblGrid>
              <a:tr h="32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Number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E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/>
                </a:tc>
              </a:tr>
              <a:tr h="456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3.38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33.8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338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3380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33,800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338,000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56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5.71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57.1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571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5710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57,100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571,000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56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3.4955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34.955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349.55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3495.5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34,955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349,550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56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0.49855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4.9855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49.855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498.55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4985.5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49,855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56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0.54175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5.4175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54.175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541.75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5417.5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54,175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56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0.0271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0.271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2.71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27.1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271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2710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56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0.0004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0.004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0.04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0.4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40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328" name="Google Shape;328;p17"/>
          <p:cNvSpPr txBox="1"/>
          <p:nvPr>
            <p:ph idx="12" type="sldNum"/>
          </p:nvPr>
        </p:nvSpPr>
        <p:spPr>
          <a:xfrm>
            <a:off x="5271432" y="9415709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329" name="Google Shape;329;p17"/>
          <p:cNvGraphicFramePr/>
          <p:nvPr/>
        </p:nvGraphicFramePr>
        <p:xfrm>
          <a:off x="209664" y="43243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{469A048F-DD2F-4D15-B865-2E25CF8D0158}</a:tableStyleId>
              </a:tblPr>
              <a:tblGrid>
                <a:gridCol w="1446700"/>
                <a:gridCol w="1645200"/>
                <a:gridCol w="1645200"/>
                <a:gridCol w="16452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Steps: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05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Determine which way the digits move when we divide  by 10, 100, 1000…</a:t>
                      </a:r>
                      <a:endParaRPr/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Work out how many places we need to move the digits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1188725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3) Move the digits in the correct direction, by the number of places.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2743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373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0" name="Google Shape;330;p17"/>
          <p:cNvSpPr txBox="1"/>
          <p:nvPr/>
        </p:nvSpPr>
        <p:spPr>
          <a:xfrm>
            <a:off x="1750768" y="4086542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13 - I do…</a:t>
            </a:r>
            <a:endParaRPr/>
          </a:p>
        </p:txBody>
      </p:sp>
      <p:sp>
        <p:nvSpPr>
          <p:cNvPr id="331" name="Google Shape;331;p17"/>
          <p:cNvSpPr txBox="1"/>
          <p:nvPr/>
        </p:nvSpPr>
        <p:spPr>
          <a:xfrm>
            <a:off x="4948560" y="4069920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15 – You do…</a:t>
            </a:r>
            <a:endParaRPr/>
          </a:p>
        </p:txBody>
      </p:sp>
      <p:sp>
        <p:nvSpPr>
          <p:cNvPr id="332" name="Google Shape;332;p17"/>
          <p:cNvSpPr txBox="1"/>
          <p:nvPr/>
        </p:nvSpPr>
        <p:spPr>
          <a:xfrm>
            <a:off x="3305155" y="4067494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14 – We do…</a:t>
            </a:r>
            <a:endParaRPr/>
          </a:p>
        </p:txBody>
      </p:sp>
      <p:sp>
        <p:nvSpPr>
          <p:cNvPr id="333" name="Google Shape;333;p17"/>
          <p:cNvSpPr/>
          <p:nvPr/>
        </p:nvSpPr>
        <p:spPr>
          <a:xfrm>
            <a:off x="194424" y="3741445"/>
            <a:ext cx="3057249" cy="31970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Divide integers and decimals by powers of ten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7"/>
          <p:cNvSpPr txBox="1"/>
          <p:nvPr/>
        </p:nvSpPr>
        <p:spPr>
          <a:xfrm>
            <a:off x="1807139" y="7593932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16 - I do…</a:t>
            </a:r>
            <a:endParaRPr/>
          </a:p>
        </p:txBody>
      </p:sp>
      <p:sp>
        <p:nvSpPr>
          <p:cNvPr id="335" name="Google Shape;335;p17"/>
          <p:cNvSpPr txBox="1"/>
          <p:nvPr/>
        </p:nvSpPr>
        <p:spPr>
          <a:xfrm>
            <a:off x="5004931" y="7609172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18 – You do…</a:t>
            </a:r>
            <a:endParaRPr/>
          </a:p>
        </p:txBody>
      </p:sp>
      <p:sp>
        <p:nvSpPr>
          <p:cNvPr id="336" name="Google Shape;336;p17"/>
          <p:cNvSpPr txBox="1"/>
          <p:nvPr/>
        </p:nvSpPr>
        <p:spPr>
          <a:xfrm>
            <a:off x="3361526" y="7603032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17 – We do…</a:t>
            </a:r>
            <a:endParaRPr/>
          </a:p>
        </p:txBody>
      </p:sp>
      <p:sp>
        <p:nvSpPr>
          <p:cNvPr id="337" name="Google Shape;337;p17"/>
          <p:cNvSpPr txBox="1"/>
          <p:nvPr/>
        </p:nvSpPr>
        <p:spPr>
          <a:xfrm>
            <a:off x="2115014" y="5103511"/>
            <a:ext cx="682212" cy="2769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38" name="Google Shape;338;p17"/>
          <p:cNvSpPr txBox="1"/>
          <p:nvPr/>
        </p:nvSpPr>
        <p:spPr>
          <a:xfrm>
            <a:off x="2115014" y="5811131"/>
            <a:ext cx="682212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39" name="Google Shape;339;p17"/>
          <p:cNvSpPr txBox="1"/>
          <p:nvPr/>
        </p:nvSpPr>
        <p:spPr>
          <a:xfrm>
            <a:off x="2171385" y="6572009"/>
            <a:ext cx="682212" cy="27699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40" name="Google Shape;340;p17"/>
          <p:cNvSpPr txBox="1"/>
          <p:nvPr/>
        </p:nvSpPr>
        <p:spPr>
          <a:xfrm>
            <a:off x="2171385" y="7269169"/>
            <a:ext cx="682212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-1339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41" name="Google Shape;341;p17"/>
          <p:cNvSpPr txBox="1"/>
          <p:nvPr/>
        </p:nvSpPr>
        <p:spPr>
          <a:xfrm>
            <a:off x="3776174" y="5103511"/>
            <a:ext cx="682212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42" name="Google Shape;342;p17"/>
          <p:cNvSpPr txBox="1"/>
          <p:nvPr/>
        </p:nvSpPr>
        <p:spPr>
          <a:xfrm>
            <a:off x="3776174" y="5811131"/>
            <a:ext cx="682212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43" name="Google Shape;343;p17"/>
          <p:cNvSpPr txBox="1"/>
          <p:nvPr/>
        </p:nvSpPr>
        <p:spPr>
          <a:xfrm>
            <a:off x="3832545" y="6572009"/>
            <a:ext cx="682212" cy="276999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44" name="Google Shape;344;p17"/>
          <p:cNvSpPr txBox="1"/>
          <p:nvPr/>
        </p:nvSpPr>
        <p:spPr>
          <a:xfrm>
            <a:off x="3776174" y="7269169"/>
            <a:ext cx="682212" cy="276999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-2589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45" name="Google Shape;345;p17"/>
          <p:cNvSpPr txBox="1"/>
          <p:nvPr/>
        </p:nvSpPr>
        <p:spPr>
          <a:xfrm>
            <a:off x="5437334" y="5093035"/>
            <a:ext cx="682212" cy="276999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46" name="Google Shape;346;p17"/>
          <p:cNvSpPr txBox="1"/>
          <p:nvPr/>
        </p:nvSpPr>
        <p:spPr>
          <a:xfrm>
            <a:off x="5437334" y="5800655"/>
            <a:ext cx="682212" cy="276999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47" name="Google Shape;347;p17"/>
          <p:cNvSpPr txBox="1"/>
          <p:nvPr/>
        </p:nvSpPr>
        <p:spPr>
          <a:xfrm>
            <a:off x="5493705" y="6561533"/>
            <a:ext cx="682212" cy="276999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48" name="Google Shape;348;p17"/>
          <p:cNvSpPr txBox="1"/>
          <p:nvPr/>
        </p:nvSpPr>
        <p:spPr>
          <a:xfrm>
            <a:off x="5493705" y="7258693"/>
            <a:ext cx="682212" cy="276999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-178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49" name="Google Shape;349;p17"/>
          <p:cNvSpPr txBox="1"/>
          <p:nvPr/>
        </p:nvSpPr>
        <p:spPr>
          <a:xfrm>
            <a:off x="2108080" y="8398793"/>
            <a:ext cx="682212" cy="276999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50" name="Google Shape;350;p17"/>
          <p:cNvSpPr txBox="1"/>
          <p:nvPr/>
        </p:nvSpPr>
        <p:spPr>
          <a:xfrm>
            <a:off x="2108080" y="9095953"/>
            <a:ext cx="682212" cy="276999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-1339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51" name="Google Shape;351;p17"/>
          <p:cNvSpPr txBox="1"/>
          <p:nvPr/>
        </p:nvSpPr>
        <p:spPr>
          <a:xfrm>
            <a:off x="3769240" y="8398793"/>
            <a:ext cx="682212" cy="276999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52" name="Google Shape;352;p17"/>
          <p:cNvSpPr txBox="1"/>
          <p:nvPr/>
        </p:nvSpPr>
        <p:spPr>
          <a:xfrm>
            <a:off x="3712869" y="9095953"/>
            <a:ext cx="682212" cy="276999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-2589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53" name="Google Shape;353;p17"/>
          <p:cNvSpPr txBox="1"/>
          <p:nvPr/>
        </p:nvSpPr>
        <p:spPr>
          <a:xfrm>
            <a:off x="5430400" y="8388317"/>
            <a:ext cx="682212" cy="276999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54" name="Google Shape;354;p17"/>
          <p:cNvSpPr txBox="1"/>
          <p:nvPr/>
        </p:nvSpPr>
        <p:spPr>
          <a:xfrm>
            <a:off x="5430400" y="9085477"/>
            <a:ext cx="682212" cy="276999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-89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8"/>
          <p:cNvSpPr/>
          <p:nvPr/>
        </p:nvSpPr>
        <p:spPr>
          <a:xfrm>
            <a:off x="196149" y="68709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360" name="Google Shape;360;p18"/>
          <p:cNvSpPr txBox="1"/>
          <p:nvPr/>
        </p:nvSpPr>
        <p:spPr>
          <a:xfrm>
            <a:off x="1349343" y="193080"/>
            <a:ext cx="183851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Calculate the following: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8"/>
          <p:cNvSpPr txBox="1"/>
          <p:nvPr/>
        </p:nvSpPr>
        <p:spPr>
          <a:xfrm>
            <a:off x="126242" y="467671"/>
            <a:ext cx="6632812" cy="2769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7778" l="-92" r="0" t="-222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62" name="Google Shape;362;p18"/>
          <p:cNvSpPr/>
          <p:nvPr/>
        </p:nvSpPr>
        <p:spPr>
          <a:xfrm>
            <a:off x="223313" y="768185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8"/>
          <p:cNvSpPr/>
          <p:nvPr/>
        </p:nvSpPr>
        <p:spPr>
          <a:xfrm>
            <a:off x="1529584" y="768185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8"/>
          <p:cNvSpPr/>
          <p:nvPr/>
        </p:nvSpPr>
        <p:spPr>
          <a:xfrm>
            <a:off x="2934729" y="768185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8"/>
          <p:cNvSpPr/>
          <p:nvPr/>
        </p:nvSpPr>
        <p:spPr>
          <a:xfrm>
            <a:off x="4241000" y="768185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8"/>
          <p:cNvSpPr/>
          <p:nvPr/>
        </p:nvSpPr>
        <p:spPr>
          <a:xfrm>
            <a:off x="5706247" y="768185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8"/>
          <p:cNvSpPr txBox="1"/>
          <p:nvPr/>
        </p:nvSpPr>
        <p:spPr>
          <a:xfrm>
            <a:off x="126242" y="1310647"/>
            <a:ext cx="6861298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7779" l="-8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68" name="Google Shape;368;p18"/>
          <p:cNvSpPr/>
          <p:nvPr/>
        </p:nvSpPr>
        <p:spPr>
          <a:xfrm>
            <a:off x="223313" y="1611161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8"/>
          <p:cNvSpPr/>
          <p:nvPr/>
        </p:nvSpPr>
        <p:spPr>
          <a:xfrm>
            <a:off x="1529584" y="1611161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8"/>
          <p:cNvSpPr/>
          <p:nvPr/>
        </p:nvSpPr>
        <p:spPr>
          <a:xfrm>
            <a:off x="2934729" y="1611161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8"/>
          <p:cNvSpPr/>
          <p:nvPr/>
        </p:nvSpPr>
        <p:spPr>
          <a:xfrm>
            <a:off x="4241000" y="1611161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8"/>
          <p:cNvSpPr/>
          <p:nvPr/>
        </p:nvSpPr>
        <p:spPr>
          <a:xfrm>
            <a:off x="5706247" y="1611161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8"/>
          <p:cNvSpPr txBox="1"/>
          <p:nvPr/>
        </p:nvSpPr>
        <p:spPr>
          <a:xfrm>
            <a:off x="126242" y="3041373"/>
            <a:ext cx="519116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Fill in the missing gaps in the table below, the first row has been done for you: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8"/>
          <p:cNvSpPr txBox="1"/>
          <p:nvPr/>
        </p:nvSpPr>
        <p:spPr>
          <a:xfrm>
            <a:off x="126242" y="2132271"/>
            <a:ext cx="6861298" cy="27699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7778" l="-89" r="0" t="-222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75" name="Google Shape;375;p18"/>
          <p:cNvSpPr/>
          <p:nvPr/>
        </p:nvSpPr>
        <p:spPr>
          <a:xfrm>
            <a:off x="223313" y="2432785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8"/>
          <p:cNvSpPr/>
          <p:nvPr/>
        </p:nvSpPr>
        <p:spPr>
          <a:xfrm>
            <a:off x="1529584" y="2432785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8"/>
          <p:cNvSpPr/>
          <p:nvPr/>
        </p:nvSpPr>
        <p:spPr>
          <a:xfrm>
            <a:off x="2934729" y="2432785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8"/>
          <p:cNvSpPr/>
          <p:nvPr/>
        </p:nvSpPr>
        <p:spPr>
          <a:xfrm>
            <a:off x="4241000" y="2432785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8"/>
          <p:cNvSpPr/>
          <p:nvPr/>
        </p:nvSpPr>
        <p:spPr>
          <a:xfrm>
            <a:off x="5706247" y="2432785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0" name="Google Shape;380;p18"/>
          <p:cNvGraphicFramePr/>
          <p:nvPr/>
        </p:nvGraphicFramePr>
        <p:xfrm>
          <a:off x="221363" y="33761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{469A048F-DD2F-4D15-B865-2E25CF8D0158}</a:tableStyleId>
              </a:tblPr>
              <a:tblGrid>
                <a:gridCol w="1073100"/>
                <a:gridCol w="1073100"/>
                <a:gridCol w="1073100"/>
                <a:gridCol w="1073100"/>
                <a:gridCol w="1073100"/>
                <a:gridCol w="1073100"/>
              </a:tblGrid>
              <a:tr h="32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Number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E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/>
                </a:tc>
              </a:tr>
              <a:tr h="456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3710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371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37.1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0.371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0.0371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0.00371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56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68100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6810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681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68.1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6.81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0.681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56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2650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265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26.5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2.65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0.265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0.0265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56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76,540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7654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765.4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76.54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7.654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0.7654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56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12,260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1226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122.6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12.26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1.226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0.1226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56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381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38.1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3.81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0.381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0.0381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0.00381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56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327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32.7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3.27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0.327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0.0327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0.00327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56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0.58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0.058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0.0058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0.00058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0.000058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0.0000058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381" name="Google Shape;381;p18"/>
          <p:cNvSpPr txBox="1"/>
          <p:nvPr>
            <p:ph idx="12" type="sldNum"/>
          </p:nvPr>
        </p:nvSpPr>
        <p:spPr>
          <a:xfrm>
            <a:off x="5281014" y="948401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82" name="Google Shape;382;p18"/>
          <p:cNvSpPr txBox="1"/>
          <p:nvPr/>
        </p:nvSpPr>
        <p:spPr>
          <a:xfrm>
            <a:off x="333332" y="884061"/>
            <a:ext cx="682212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83" name="Google Shape;383;p18"/>
          <p:cNvSpPr txBox="1"/>
          <p:nvPr/>
        </p:nvSpPr>
        <p:spPr>
          <a:xfrm>
            <a:off x="1661264" y="884061"/>
            <a:ext cx="682212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84" name="Google Shape;384;p18"/>
          <p:cNvSpPr txBox="1"/>
          <p:nvPr/>
        </p:nvSpPr>
        <p:spPr>
          <a:xfrm>
            <a:off x="3066187" y="884061"/>
            <a:ext cx="682212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85" name="Google Shape;385;p18"/>
          <p:cNvSpPr txBox="1"/>
          <p:nvPr/>
        </p:nvSpPr>
        <p:spPr>
          <a:xfrm>
            <a:off x="4372680" y="884061"/>
            <a:ext cx="682212" cy="276999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86" name="Google Shape;386;p18"/>
          <p:cNvSpPr txBox="1"/>
          <p:nvPr/>
        </p:nvSpPr>
        <p:spPr>
          <a:xfrm>
            <a:off x="5832292" y="884061"/>
            <a:ext cx="682212" cy="276999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87" name="Google Shape;387;p18"/>
          <p:cNvSpPr txBox="1"/>
          <p:nvPr/>
        </p:nvSpPr>
        <p:spPr>
          <a:xfrm>
            <a:off x="313044" y="1719697"/>
            <a:ext cx="682212" cy="276999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88" name="Google Shape;388;p18"/>
          <p:cNvSpPr txBox="1"/>
          <p:nvPr/>
        </p:nvSpPr>
        <p:spPr>
          <a:xfrm>
            <a:off x="1661264" y="1751533"/>
            <a:ext cx="682212" cy="276999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89" name="Google Shape;389;p18"/>
          <p:cNvSpPr txBox="1"/>
          <p:nvPr/>
        </p:nvSpPr>
        <p:spPr>
          <a:xfrm>
            <a:off x="3066187" y="1751533"/>
            <a:ext cx="682212" cy="276999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90" name="Google Shape;390;p18"/>
          <p:cNvSpPr txBox="1"/>
          <p:nvPr/>
        </p:nvSpPr>
        <p:spPr>
          <a:xfrm>
            <a:off x="4372680" y="1751533"/>
            <a:ext cx="682212" cy="276999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-89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91" name="Google Shape;391;p18"/>
          <p:cNvSpPr txBox="1"/>
          <p:nvPr/>
        </p:nvSpPr>
        <p:spPr>
          <a:xfrm>
            <a:off x="5832292" y="1751533"/>
            <a:ext cx="682212" cy="276999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92" name="Google Shape;392;p18"/>
          <p:cNvSpPr txBox="1"/>
          <p:nvPr/>
        </p:nvSpPr>
        <p:spPr>
          <a:xfrm>
            <a:off x="339237" y="2504393"/>
            <a:ext cx="682212" cy="276999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93" name="Google Shape;393;p18"/>
          <p:cNvSpPr txBox="1"/>
          <p:nvPr/>
        </p:nvSpPr>
        <p:spPr>
          <a:xfrm>
            <a:off x="1687457" y="2536229"/>
            <a:ext cx="682212" cy="276999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94" name="Google Shape;394;p18"/>
          <p:cNvSpPr txBox="1"/>
          <p:nvPr/>
        </p:nvSpPr>
        <p:spPr>
          <a:xfrm>
            <a:off x="3092380" y="2536229"/>
            <a:ext cx="682212" cy="276999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-89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95" name="Google Shape;395;p18"/>
          <p:cNvSpPr txBox="1"/>
          <p:nvPr/>
        </p:nvSpPr>
        <p:spPr>
          <a:xfrm>
            <a:off x="4398873" y="2536229"/>
            <a:ext cx="682212" cy="276999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96" name="Google Shape;396;p18"/>
          <p:cNvSpPr txBox="1"/>
          <p:nvPr/>
        </p:nvSpPr>
        <p:spPr>
          <a:xfrm>
            <a:off x="5858485" y="2536229"/>
            <a:ext cx="682212" cy="276999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-1339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97" name="Google Shape;397;p18"/>
          <p:cNvSpPr/>
          <p:nvPr/>
        </p:nvSpPr>
        <p:spPr>
          <a:xfrm>
            <a:off x="221363" y="7435047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Mixed Practice</a:t>
            </a:r>
            <a:endParaRPr/>
          </a:p>
        </p:txBody>
      </p:sp>
      <p:sp>
        <p:nvSpPr>
          <p:cNvPr id="398" name="Google Shape;398;p18"/>
          <p:cNvSpPr txBox="1"/>
          <p:nvPr/>
        </p:nvSpPr>
        <p:spPr>
          <a:xfrm>
            <a:off x="1349343" y="7549092"/>
            <a:ext cx="183851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 Calculate the following: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8"/>
          <p:cNvSpPr txBox="1"/>
          <p:nvPr/>
        </p:nvSpPr>
        <p:spPr>
          <a:xfrm>
            <a:off x="121454" y="7826091"/>
            <a:ext cx="6632812" cy="461665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-92" r="0" t="-131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00" name="Google Shape;400;p18"/>
          <p:cNvSpPr/>
          <p:nvPr/>
        </p:nvSpPr>
        <p:spPr>
          <a:xfrm>
            <a:off x="218525" y="8126605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8"/>
          <p:cNvSpPr/>
          <p:nvPr/>
        </p:nvSpPr>
        <p:spPr>
          <a:xfrm>
            <a:off x="1524796" y="8126605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8"/>
          <p:cNvSpPr/>
          <p:nvPr/>
        </p:nvSpPr>
        <p:spPr>
          <a:xfrm>
            <a:off x="2929941" y="8126605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8"/>
          <p:cNvSpPr/>
          <p:nvPr/>
        </p:nvSpPr>
        <p:spPr>
          <a:xfrm>
            <a:off x="4236212" y="8126605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8"/>
          <p:cNvSpPr/>
          <p:nvPr/>
        </p:nvSpPr>
        <p:spPr>
          <a:xfrm>
            <a:off x="5701459" y="8126605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8"/>
          <p:cNvSpPr txBox="1"/>
          <p:nvPr/>
        </p:nvSpPr>
        <p:spPr>
          <a:xfrm>
            <a:off x="121454" y="8851947"/>
            <a:ext cx="6861298" cy="276999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-15217" l="-8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06" name="Google Shape;406;p18"/>
          <p:cNvSpPr/>
          <p:nvPr/>
        </p:nvSpPr>
        <p:spPr>
          <a:xfrm>
            <a:off x="218525" y="9152461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8"/>
          <p:cNvSpPr/>
          <p:nvPr/>
        </p:nvSpPr>
        <p:spPr>
          <a:xfrm>
            <a:off x="1524796" y="9152461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8"/>
          <p:cNvSpPr/>
          <p:nvPr/>
        </p:nvSpPr>
        <p:spPr>
          <a:xfrm>
            <a:off x="2929941" y="9152461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8"/>
          <p:cNvSpPr/>
          <p:nvPr/>
        </p:nvSpPr>
        <p:spPr>
          <a:xfrm>
            <a:off x="4236212" y="9152461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8"/>
          <p:cNvSpPr/>
          <p:nvPr/>
        </p:nvSpPr>
        <p:spPr>
          <a:xfrm>
            <a:off x="5706247" y="9152461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8"/>
          <p:cNvSpPr txBox="1"/>
          <p:nvPr/>
        </p:nvSpPr>
        <p:spPr>
          <a:xfrm>
            <a:off x="308256" y="9260997"/>
            <a:ext cx="682212" cy="276999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12" name="Google Shape;412;p18"/>
          <p:cNvSpPr txBox="1"/>
          <p:nvPr/>
        </p:nvSpPr>
        <p:spPr>
          <a:xfrm>
            <a:off x="1656476" y="9292833"/>
            <a:ext cx="682212" cy="276999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13" name="Google Shape;413;p18"/>
          <p:cNvSpPr txBox="1"/>
          <p:nvPr/>
        </p:nvSpPr>
        <p:spPr>
          <a:xfrm>
            <a:off x="3061399" y="9292833"/>
            <a:ext cx="682212" cy="276999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14" name="Google Shape;414;p18"/>
          <p:cNvSpPr txBox="1"/>
          <p:nvPr/>
        </p:nvSpPr>
        <p:spPr>
          <a:xfrm>
            <a:off x="4367892" y="9292833"/>
            <a:ext cx="682212" cy="276999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15" name="Google Shape;415;p18"/>
          <p:cNvSpPr txBox="1"/>
          <p:nvPr/>
        </p:nvSpPr>
        <p:spPr>
          <a:xfrm>
            <a:off x="5827504" y="9292833"/>
            <a:ext cx="682212" cy="276999"/>
          </a:xfrm>
          <a:prstGeom prst="rect">
            <a:avLst/>
          </a:prstGeom>
          <a:blipFill rotWithShape="1">
            <a:blip r:embed="rId2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16" name="Google Shape;416;p18"/>
          <p:cNvSpPr txBox="1"/>
          <p:nvPr/>
        </p:nvSpPr>
        <p:spPr>
          <a:xfrm>
            <a:off x="306465" y="8184391"/>
            <a:ext cx="682212" cy="276999"/>
          </a:xfrm>
          <a:prstGeom prst="rect">
            <a:avLst/>
          </a:prstGeom>
          <a:blipFill rotWithShape="1">
            <a:blip r:embed="rId2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17" name="Google Shape;417;p18"/>
          <p:cNvSpPr txBox="1"/>
          <p:nvPr/>
        </p:nvSpPr>
        <p:spPr>
          <a:xfrm>
            <a:off x="1654685" y="8216227"/>
            <a:ext cx="682212" cy="276999"/>
          </a:xfrm>
          <a:prstGeom prst="rect">
            <a:avLst/>
          </a:prstGeom>
          <a:blipFill rotWithShape="1">
            <a:blip r:embed="rId2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18" name="Google Shape;418;p18"/>
          <p:cNvSpPr txBox="1"/>
          <p:nvPr/>
        </p:nvSpPr>
        <p:spPr>
          <a:xfrm>
            <a:off x="3059608" y="8216227"/>
            <a:ext cx="682212" cy="276999"/>
          </a:xfrm>
          <a:prstGeom prst="rect">
            <a:avLst/>
          </a:prstGeom>
          <a:blipFill rotWithShape="1">
            <a:blip r:embed="rId2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19" name="Google Shape;419;p18"/>
          <p:cNvSpPr txBox="1"/>
          <p:nvPr/>
        </p:nvSpPr>
        <p:spPr>
          <a:xfrm>
            <a:off x="4366101" y="8216227"/>
            <a:ext cx="682212" cy="276999"/>
          </a:xfrm>
          <a:prstGeom prst="rect">
            <a:avLst/>
          </a:prstGeom>
          <a:blipFill rotWithShape="1">
            <a:blip r:embed="rId3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20" name="Google Shape;420;p18"/>
          <p:cNvSpPr txBox="1"/>
          <p:nvPr/>
        </p:nvSpPr>
        <p:spPr>
          <a:xfrm>
            <a:off x="5825713" y="8216227"/>
            <a:ext cx="682212" cy="276999"/>
          </a:xfrm>
          <a:prstGeom prst="rect">
            <a:avLst/>
          </a:prstGeom>
          <a:blipFill rotWithShape="1">
            <a:blip r:embed="rId3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9"/>
          <p:cNvSpPr txBox="1"/>
          <p:nvPr/>
        </p:nvSpPr>
        <p:spPr>
          <a:xfrm>
            <a:off x="42672" y="105351"/>
            <a:ext cx="6861298" cy="2769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521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26" name="Google Shape;426;p19"/>
          <p:cNvSpPr/>
          <p:nvPr/>
        </p:nvSpPr>
        <p:spPr>
          <a:xfrm>
            <a:off x="139743" y="405865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9"/>
          <p:cNvSpPr/>
          <p:nvPr/>
        </p:nvSpPr>
        <p:spPr>
          <a:xfrm>
            <a:off x="1446014" y="405865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9"/>
          <p:cNvSpPr/>
          <p:nvPr/>
        </p:nvSpPr>
        <p:spPr>
          <a:xfrm>
            <a:off x="2851159" y="405865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9"/>
          <p:cNvSpPr/>
          <p:nvPr/>
        </p:nvSpPr>
        <p:spPr>
          <a:xfrm>
            <a:off x="4157430" y="405865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9"/>
          <p:cNvSpPr/>
          <p:nvPr/>
        </p:nvSpPr>
        <p:spPr>
          <a:xfrm>
            <a:off x="5622677" y="405865"/>
            <a:ext cx="95573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9"/>
          <p:cNvSpPr txBox="1"/>
          <p:nvPr/>
        </p:nvSpPr>
        <p:spPr>
          <a:xfrm>
            <a:off x="29597" y="1061619"/>
            <a:ext cx="22226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9. Calculate the following below: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9"/>
          <p:cNvSpPr txBox="1"/>
          <p:nvPr/>
        </p:nvSpPr>
        <p:spPr>
          <a:xfrm>
            <a:off x="42672" y="1388807"/>
            <a:ext cx="7255123" cy="46166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-131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33" name="Google Shape;433;p19"/>
          <p:cNvSpPr/>
          <p:nvPr/>
        </p:nvSpPr>
        <p:spPr>
          <a:xfrm>
            <a:off x="283385" y="1652348"/>
            <a:ext cx="1099161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9"/>
          <p:cNvSpPr/>
          <p:nvPr/>
        </p:nvSpPr>
        <p:spPr>
          <a:xfrm>
            <a:off x="2117503" y="1640899"/>
            <a:ext cx="1099163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9"/>
          <p:cNvSpPr/>
          <p:nvPr/>
        </p:nvSpPr>
        <p:spPr>
          <a:xfrm>
            <a:off x="3951610" y="1649068"/>
            <a:ext cx="1161556" cy="51951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9"/>
          <p:cNvSpPr txBox="1"/>
          <p:nvPr/>
        </p:nvSpPr>
        <p:spPr>
          <a:xfrm>
            <a:off x="-418152" y="2307117"/>
            <a:ext cx="7900991" cy="46166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37" name="Google Shape;437;p19"/>
          <p:cNvSpPr/>
          <p:nvPr/>
        </p:nvSpPr>
        <p:spPr>
          <a:xfrm>
            <a:off x="5622677" y="1667174"/>
            <a:ext cx="1099161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9"/>
          <p:cNvSpPr/>
          <p:nvPr/>
        </p:nvSpPr>
        <p:spPr>
          <a:xfrm>
            <a:off x="286917" y="2620847"/>
            <a:ext cx="1099163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9"/>
          <p:cNvSpPr/>
          <p:nvPr/>
        </p:nvSpPr>
        <p:spPr>
          <a:xfrm>
            <a:off x="2451599" y="2623434"/>
            <a:ext cx="1161556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9"/>
          <p:cNvSpPr/>
          <p:nvPr/>
        </p:nvSpPr>
        <p:spPr>
          <a:xfrm>
            <a:off x="4662179" y="2622533"/>
            <a:ext cx="1099161" cy="48225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9"/>
          <p:cNvSpPr txBox="1"/>
          <p:nvPr>
            <p:ph idx="12" type="sldNum"/>
          </p:nvPr>
        </p:nvSpPr>
        <p:spPr>
          <a:xfrm>
            <a:off x="5286672" y="9476669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42" name="Google Shape;442;p19"/>
          <p:cNvSpPr txBox="1"/>
          <p:nvPr/>
        </p:nvSpPr>
        <p:spPr>
          <a:xfrm>
            <a:off x="227683" y="482948"/>
            <a:ext cx="682212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43" name="Google Shape;443;p19"/>
          <p:cNvSpPr txBox="1"/>
          <p:nvPr/>
        </p:nvSpPr>
        <p:spPr>
          <a:xfrm>
            <a:off x="1575903" y="514784"/>
            <a:ext cx="682212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44" name="Google Shape;444;p19"/>
          <p:cNvSpPr txBox="1"/>
          <p:nvPr/>
        </p:nvSpPr>
        <p:spPr>
          <a:xfrm>
            <a:off x="2980826" y="514784"/>
            <a:ext cx="682212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45" name="Google Shape;445;p19"/>
          <p:cNvSpPr txBox="1"/>
          <p:nvPr/>
        </p:nvSpPr>
        <p:spPr>
          <a:xfrm>
            <a:off x="4287319" y="514784"/>
            <a:ext cx="682212" cy="276999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46" name="Google Shape;446;p19"/>
          <p:cNvSpPr txBox="1"/>
          <p:nvPr/>
        </p:nvSpPr>
        <p:spPr>
          <a:xfrm>
            <a:off x="5746931" y="514784"/>
            <a:ext cx="682212" cy="276999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47" name="Google Shape;447;p19"/>
          <p:cNvSpPr txBox="1"/>
          <p:nvPr/>
        </p:nvSpPr>
        <p:spPr>
          <a:xfrm>
            <a:off x="439901" y="1758083"/>
            <a:ext cx="682212" cy="276999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-3035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48" name="Google Shape;448;p19"/>
          <p:cNvSpPr txBox="1"/>
          <p:nvPr/>
        </p:nvSpPr>
        <p:spPr>
          <a:xfrm>
            <a:off x="2325978" y="1754678"/>
            <a:ext cx="682212" cy="276999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49" name="Google Shape;449;p19"/>
          <p:cNvSpPr txBox="1"/>
          <p:nvPr/>
        </p:nvSpPr>
        <p:spPr>
          <a:xfrm>
            <a:off x="4178308" y="1771611"/>
            <a:ext cx="682212" cy="276999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50" name="Google Shape;450;p19"/>
          <p:cNvSpPr txBox="1"/>
          <p:nvPr/>
        </p:nvSpPr>
        <p:spPr>
          <a:xfrm>
            <a:off x="5761340" y="1791380"/>
            <a:ext cx="682212" cy="276999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51" name="Google Shape;451;p19"/>
          <p:cNvSpPr txBox="1"/>
          <p:nvPr/>
        </p:nvSpPr>
        <p:spPr>
          <a:xfrm>
            <a:off x="505956" y="2728708"/>
            <a:ext cx="682212" cy="276999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-89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52" name="Google Shape;452;p19"/>
          <p:cNvSpPr txBox="1"/>
          <p:nvPr/>
        </p:nvSpPr>
        <p:spPr>
          <a:xfrm>
            <a:off x="2673196" y="2743896"/>
            <a:ext cx="682212" cy="276999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53" name="Google Shape;453;p19"/>
          <p:cNvSpPr txBox="1"/>
          <p:nvPr/>
        </p:nvSpPr>
        <p:spPr>
          <a:xfrm>
            <a:off x="4807599" y="2709846"/>
            <a:ext cx="682212" cy="276999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aphicFrame>
        <p:nvGraphicFramePr>
          <p:cNvPr id="454" name="Google Shape;454;p19"/>
          <p:cNvGraphicFramePr/>
          <p:nvPr/>
        </p:nvGraphicFramePr>
        <p:xfrm>
          <a:off x="139743" y="38995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{469A048F-DD2F-4D15-B865-2E25CF8D0158}</a:tableStyleId>
              </a:tblPr>
              <a:tblGrid>
                <a:gridCol w="1513725"/>
                <a:gridCol w="1721425"/>
                <a:gridCol w="1721425"/>
                <a:gridCol w="1721425"/>
              </a:tblGrid>
              <a:tr h="474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Steps: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18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Look at the calculation given, what has happened to each number in the calculation?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What overall effect does this have on the calculation? Adjust your answer appropriately.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455" name="Google Shape;455;p19"/>
          <p:cNvSpPr txBox="1"/>
          <p:nvPr/>
        </p:nvSpPr>
        <p:spPr>
          <a:xfrm>
            <a:off x="2003872" y="3569175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19 - I do…</a:t>
            </a:r>
            <a:endParaRPr/>
          </a:p>
        </p:txBody>
      </p:sp>
      <p:sp>
        <p:nvSpPr>
          <p:cNvPr id="456" name="Google Shape;456;p19"/>
          <p:cNvSpPr txBox="1"/>
          <p:nvPr/>
        </p:nvSpPr>
        <p:spPr>
          <a:xfrm>
            <a:off x="5174331" y="3578971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21 – You do…</a:t>
            </a:r>
            <a:endParaRPr/>
          </a:p>
        </p:txBody>
      </p:sp>
      <p:sp>
        <p:nvSpPr>
          <p:cNvPr id="457" name="Google Shape;457;p19"/>
          <p:cNvSpPr txBox="1"/>
          <p:nvPr/>
        </p:nvSpPr>
        <p:spPr>
          <a:xfrm>
            <a:off x="3530926" y="3553898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20 – We do…</a:t>
            </a:r>
            <a:endParaRPr/>
          </a:p>
        </p:txBody>
      </p:sp>
      <p:sp>
        <p:nvSpPr>
          <p:cNvPr id="458" name="Google Shape;458;p19"/>
          <p:cNvSpPr/>
          <p:nvPr/>
        </p:nvSpPr>
        <p:spPr>
          <a:xfrm>
            <a:off x="139742" y="3223567"/>
            <a:ext cx="2961556" cy="2769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Related Calculations involving decimals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9"/>
          <p:cNvSpPr txBox="1"/>
          <p:nvPr/>
        </p:nvSpPr>
        <p:spPr>
          <a:xfrm>
            <a:off x="1777423" y="5797708"/>
            <a:ext cx="682212" cy="276999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-1576363" l="-614441" r="-615345" t="-383327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60" name="Google Shape;460;p19"/>
          <p:cNvSpPr txBox="1"/>
          <p:nvPr/>
        </p:nvSpPr>
        <p:spPr>
          <a:xfrm>
            <a:off x="1777423" y="6540411"/>
            <a:ext cx="682212" cy="276999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-1610690" l="-614441" r="-615345" t="-391676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61" name="Google Shape;461;p19"/>
          <p:cNvSpPr txBox="1"/>
          <p:nvPr/>
        </p:nvSpPr>
        <p:spPr>
          <a:xfrm>
            <a:off x="1777423" y="7228920"/>
            <a:ext cx="682212" cy="276999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62" name="Google Shape;462;p19"/>
          <p:cNvSpPr txBox="1"/>
          <p:nvPr/>
        </p:nvSpPr>
        <p:spPr>
          <a:xfrm>
            <a:off x="1777423" y="7972907"/>
            <a:ext cx="682212" cy="276999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63" name="Google Shape;463;p19"/>
          <p:cNvSpPr txBox="1"/>
          <p:nvPr/>
        </p:nvSpPr>
        <p:spPr>
          <a:xfrm>
            <a:off x="1839254" y="8716894"/>
            <a:ext cx="682212" cy="276999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-1555977" l="-592839" r="-592839" t="-377880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64" name="Google Shape;464;p19"/>
          <p:cNvSpPr txBox="1"/>
          <p:nvPr/>
        </p:nvSpPr>
        <p:spPr>
          <a:xfrm>
            <a:off x="3522621" y="5797708"/>
            <a:ext cx="682212" cy="276999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65" name="Google Shape;465;p19"/>
          <p:cNvSpPr txBox="1"/>
          <p:nvPr/>
        </p:nvSpPr>
        <p:spPr>
          <a:xfrm>
            <a:off x="3522621" y="6540411"/>
            <a:ext cx="682212" cy="276999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66" name="Google Shape;466;p19"/>
          <p:cNvSpPr txBox="1"/>
          <p:nvPr/>
        </p:nvSpPr>
        <p:spPr>
          <a:xfrm>
            <a:off x="3522621" y="7228920"/>
            <a:ext cx="682212" cy="276999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67" name="Google Shape;467;p19"/>
          <p:cNvSpPr txBox="1"/>
          <p:nvPr/>
        </p:nvSpPr>
        <p:spPr>
          <a:xfrm>
            <a:off x="3522621" y="7972907"/>
            <a:ext cx="682212" cy="276999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-1555977" l="-599182" r="-599182" t="-377880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68" name="Google Shape;468;p19"/>
          <p:cNvSpPr txBox="1"/>
          <p:nvPr/>
        </p:nvSpPr>
        <p:spPr>
          <a:xfrm>
            <a:off x="3584452" y="8716894"/>
            <a:ext cx="682212" cy="276999"/>
          </a:xfrm>
          <a:prstGeom prst="rect">
            <a:avLst/>
          </a:prstGeom>
          <a:blipFill rotWithShape="1">
            <a:blip r:embed="rId26">
              <a:alphaModFix/>
            </a:blip>
            <a:stretch>
              <a:fillRect b="-1555977" l="-586619" r="-586619" t="-377880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69" name="Google Shape;469;p19"/>
          <p:cNvSpPr txBox="1"/>
          <p:nvPr/>
        </p:nvSpPr>
        <p:spPr>
          <a:xfrm>
            <a:off x="5178558" y="5797708"/>
            <a:ext cx="682212" cy="276999"/>
          </a:xfrm>
          <a:prstGeom prst="rect">
            <a:avLst/>
          </a:prstGeom>
          <a:blipFill rotWithShape="1">
            <a:blip r:embed="rId2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70" name="Google Shape;470;p19"/>
          <p:cNvSpPr txBox="1"/>
          <p:nvPr/>
        </p:nvSpPr>
        <p:spPr>
          <a:xfrm>
            <a:off x="5178558" y="6540411"/>
            <a:ext cx="682212" cy="276999"/>
          </a:xfrm>
          <a:prstGeom prst="rect">
            <a:avLst/>
          </a:prstGeom>
          <a:blipFill rotWithShape="1">
            <a:blip r:embed="rId2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71" name="Google Shape;471;p19"/>
          <p:cNvSpPr txBox="1"/>
          <p:nvPr/>
        </p:nvSpPr>
        <p:spPr>
          <a:xfrm>
            <a:off x="5178558" y="7228920"/>
            <a:ext cx="682212" cy="276999"/>
          </a:xfrm>
          <a:prstGeom prst="rect">
            <a:avLst/>
          </a:prstGeom>
          <a:blipFill rotWithShape="1">
            <a:blip r:embed="rId2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72" name="Google Shape;472;p19"/>
          <p:cNvSpPr txBox="1"/>
          <p:nvPr/>
        </p:nvSpPr>
        <p:spPr>
          <a:xfrm>
            <a:off x="5178558" y="7972907"/>
            <a:ext cx="682212" cy="276999"/>
          </a:xfrm>
          <a:prstGeom prst="rect">
            <a:avLst/>
          </a:prstGeom>
          <a:blipFill rotWithShape="1">
            <a:blip r:embed="rId30">
              <a:alphaModFix/>
            </a:blip>
            <a:stretch>
              <a:fillRect b="-1555977" l="-598222" r="-599131" t="-377880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73" name="Google Shape;473;p19"/>
          <p:cNvSpPr txBox="1"/>
          <p:nvPr/>
        </p:nvSpPr>
        <p:spPr>
          <a:xfrm>
            <a:off x="5240389" y="8716894"/>
            <a:ext cx="682212" cy="276999"/>
          </a:xfrm>
          <a:prstGeom prst="rect">
            <a:avLst/>
          </a:prstGeom>
          <a:blipFill rotWithShape="1">
            <a:blip r:embed="rId31">
              <a:alphaModFix/>
            </a:blip>
            <a:stretch>
              <a:fillRect b="-1515667" l="-578614" r="-578614" t="-374914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9" name="Google Shape;479;p20"/>
          <p:cNvGraphicFramePr/>
          <p:nvPr/>
        </p:nvGraphicFramePr>
        <p:xfrm>
          <a:off x="101601" y="6982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{469A048F-DD2F-4D15-B865-2E25CF8D0158}</a:tableStyleId>
              </a:tblPr>
              <a:tblGrid>
                <a:gridCol w="1478850"/>
                <a:gridCol w="739425"/>
                <a:gridCol w="1478850"/>
                <a:gridCol w="739425"/>
                <a:gridCol w="1478850"/>
                <a:gridCol w="739425"/>
              </a:tblGrid>
              <a:tr h="276675">
                <a:tc gridSpan="6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</a:tr>
              <a:tr h="2527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a) 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b) 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c) 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161325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hMerge="1"/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100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d)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e)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f)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1951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hMerge="1"/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g)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h)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i)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hMerge="1"/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80" name="Google Shape;480;p20"/>
          <p:cNvSpPr/>
          <p:nvPr/>
        </p:nvSpPr>
        <p:spPr>
          <a:xfrm>
            <a:off x="101601" y="637564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481" name="Google Shape;481;p20"/>
          <p:cNvSpPr txBox="1"/>
          <p:nvPr>
            <p:ph idx="12" type="sldNum"/>
          </p:nvPr>
        </p:nvSpPr>
        <p:spPr>
          <a:xfrm>
            <a:off x="5255456" y="9456702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2" name="Google Shape;482;p20"/>
          <p:cNvSpPr txBox="1"/>
          <p:nvPr/>
        </p:nvSpPr>
        <p:spPr>
          <a:xfrm>
            <a:off x="1239555" y="738572"/>
            <a:ext cx="499614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10. Complete each table of related calculations:</a:t>
            </a:r>
            <a:endParaRPr/>
          </a:p>
        </p:txBody>
      </p:sp>
      <p:sp>
        <p:nvSpPr>
          <p:cNvPr id="483" name="Google Shape;483;p20"/>
          <p:cNvSpPr txBox="1"/>
          <p:nvPr/>
        </p:nvSpPr>
        <p:spPr>
          <a:xfrm>
            <a:off x="114300" y="6096665"/>
            <a:ext cx="6645899" cy="338554"/>
          </a:xfrm>
          <a:prstGeom prst="rect">
            <a:avLst/>
          </a:prstGeom>
          <a:solidFill>
            <a:srgbClr val="7E234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Skills Check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84" name="Google Shape;484;p20"/>
          <p:cNvGraphicFramePr/>
          <p:nvPr/>
        </p:nvGraphicFramePr>
        <p:xfrm>
          <a:off x="127002" y="64479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{469A048F-DD2F-4D15-B865-2E25CF8D0158}</a:tableStyleId>
              </a:tblPr>
              <a:tblGrid>
                <a:gridCol w="6632800"/>
              </a:tblGrid>
              <a:tr h="71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85" name="Google Shape;485;p20"/>
          <p:cNvSpPr/>
          <p:nvPr/>
        </p:nvSpPr>
        <p:spPr>
          <a:xfrm>
            <a:off x="3430606" y="6801950"/>
            <a:ext cx="680483" cy="339051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0"/>
          <p:cNvSpPr/>
          <p:nvPr/>
        </p:nvSpPr>
        <p:spPr>
          <a:xfrm>
            <a:off x="1931867" y="7507003"/>
            <a:ext cx="680483" cy="339051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0"/>
          <p:cNvSpPr/>
          <p:nvPr/>
        </p:nvSpPr>
        <p:spPr>
          <a:xfrm>
            <a:off x="4512980" y="8335623"/>
            <a:ext cx="883881" cy="285736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0"/>
          <p:cNvSpPr/>
          <p:nvPr/>
        </p:nvSpPr>
        <p:spPr>
          <a:xfrm>
            <a:off x="4302932" y="9170966"/>
            <a:ext cx="883881" cy="285736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