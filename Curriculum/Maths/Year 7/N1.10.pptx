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E8A3DC-3B5F-489C-BB74-5E415AD04B98}">
  <a:tblStyle styleId="{A2E8A3DC-3B5F-489C-BB74-5E415AD04B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97230" y="63138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939100"/>
                <a:gridCol w="1900925"/>
                <a:gridCol w="1900925"/>
                <a:gridCol w="1900925"/>
              </a:tblGrid>
              <a:tr h="5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nearest 10 above and below 134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nearest 10 above and below 2158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nearest 10 above and below 574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1) Identify the 10 above and the 10 below.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Is it closer to the 10 above or the 10 below?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130                            140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2150                            2160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b="0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rgbClr val="FF0000"/>
                          </a:solidFill>
                        </a:rPr>
                        <a:t>570                               580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134 to the nearest 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2158 to the nearest 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574 to the nearest 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9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130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2160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0000"/>
                          </a:solidFill>
                        </a:rPr>
                        <a:t>570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316588" y="605538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95690" y="604131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221649" y="920638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18367"/>
            <a:ext cx="6679742" cy="125430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N1.10 – Rounding to the nearest 10, 100, 1000, integer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63991" y="70524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84866" y="936004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round to the nearest 10, 100 or 1000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round decimal numbers to the nearest integer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76846" y="387997"/>
            <a:ext cx="6535969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round numbers to the nearest 10, 100, 1000 or integer.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597301" y="699618"/>
            <a:ext cx="1112228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cxnSp>
        <p:nvCxnSpPr>
          <p:cNvPr id="99" name="Google Shape;99;p13"/>
          <p:cNvCxnSpPr/>
          <p:nvPr/>
        </p:nvCxnSpPr>
        <p:spPr>
          <a:xfrm flipH="1" rot="10800000">
            <a:off x="948805" y="5322803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/>
          <p:nvPr/>
        </p:nvSpPr>
        <p:spPr>
          <a:xfrm>
            <a:off x="94124" y="3392208"/>
            <a:ext cx="6668963" cy="226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3"/>
          <p:cNvCxnSpPr>
            <a:stCxn id="100" idx="1"/>
            <a:endCxn id="100" idx="3"/>
          </p:cNvCxnSpPr>
          <p:nvPr/>
        </p:nvCxnSpPr>
        <p:spPr>
          <a:xfrm>
            <a:off x="94124" y="4526208"/>
            <a:ext cx="666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3"/>
          <p:cNvCxnSpPr>
            <a:stCxn id="100" idx="2"/>
            <a:endCxn id="100" idx="0"/>
          </p:cNvCxnSpPr>
          <p:nvPr/>
        </p:nvCxnSpPr>
        <p:spPr>
          <a:xfrm rot="10800000">
            <a:off x="3428606" y="3392208"/>
            <a:ext cx="0" cy="226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3"/>
          <p:cNvSpPr txBox="1"/>
          <p:nvPr/>
        </p:nvSpPr>
        <p:spPr>
          <a:xfrm>
            <a:off x="64657" y="3403355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716573" y="3375406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1906" y="4566163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67194" y="455523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64657" y="3577192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finding an approximation for a number to a given accuracy.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3508761" y="3582619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round up or down depending on the value they are closer to.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number is exactly halfway between the two values it could round to, it rounds up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930049" y="4367829"/>
            <a:ext cx="10760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184346" y="604609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75021" y="4825706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1853 = 1850 to the nearest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1853 = 1900 to the nearest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1853 = 2000 to the nearest 1000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18.53 = 19 to the nearest integer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454681" y="4658207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1853 ≠ 50 to the nearest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 ≠ 30 to the nearest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1499 ≠ 2000 to the nearest 1000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18.53 ≠ 19.00 to the nearest integer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98113" y="5747875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a number line to identify the nearest 10 and round to the nearest 10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3"/>
          <p:cNvCxnSpPr/>
          <p:nvPr/>
        </p:nvCxnSpPr>
        <p:spPr>
          <a:xfrm>
            <a:off x="1384726" y="7366302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5" name="Google Shape;115;p13"/>
          <p:cNvGrpSpPr/>
          <p:nvPr/>
        </p:nvGrpSpPr>
        <p:grpSpPr>
          <a:xfrm>
            <a:off x="1273601" y="7366302"/>
            <a:ext cx="1417470" cy="115672"/>
            <a:chOff x="1277321" y="6379072"/>
            <a:chExt cx="1417470" cy="115672"/>
          </a:xfrm>
        </p:grpSpPr>
        <p:cxnSp>
          <p:nvCxnSpPr>
            <p:cNvPr id="116" name="Google Shape;116;p13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3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3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9" name="Google Shape;119;p13"/>
          <p:cNvGrpSpPr/>
          <p:nvPr/>
        </p:nvGrpSpPr>
        <p:grpSpPr>
          <a:xfrm>
            <a:off x="3194703" y="7362291"/>
            <a:ext cx="1417470" cy="115672"/>
            <a:chOff x="1277321" y="6379072"/>
            <a:chExt cx="1417470" cy="115672"/>
          </a:xfrm>
        </p:grpSpPr>
        <p:cxnSp>
          <p:nvCxnSpPr>
            <p:cNvPr id="120" name="Google Shape;120;p13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" name="Google Shape;121;p13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13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3" name="Google Shape;123;p13"/>
          <p:cNvGrpSpPr/>
          <p:nvPr/>
        </p:nvGrpSpPr>
        <p:grpSpPr>
          <a:xfrm>
            <a:off x="5072848" y="7344612"/>
            <a:ext cx="1417470" cy="115672"/>
            <a:chOff x="1277321" y="6379072"/>
            <a:chExt cx="1417470" cy="115672"/>
          </a:xfrm>
        </p:grpSpPr>
        <p:cxnSp>
          <p:nvCxnSpPr>
            <p:cNvPr id="124" name="Google Shape;124;p13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13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p13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7" name="Google Shape;127;p13"/>
          <p:cNvSpPr/>
          <p:nvPr/>
        </p:nvSpPr>
        <p:spPr>
          <a:xfrm>
            <a:off x="96888" y="1642017"/>
            <a:ext cx="6668962" cy="163469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b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7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Rounding numbers to the nearest 10, 100, 1,000, or integer helps us find the closest value that is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easier to work with while still being accurate. This builds on our earlier skills of identifying place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values, understanding the value of digits in different positions, estimating positions on a number line,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recognising midpoints to decide which way to round correctly. By knowing which digits affect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rounding and how numbers are spaced on the number line, we can make informed decisions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simplify calculations without losing important information. This skill is essential for estimating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answers quickly and checking the reasonableness of our results.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p14"/>
          <p:cNvGraphicFramePr/>
          <p:nvPr/>
        </p:nvGraphicFramePr>
        <p:xfrm>
          <a:off x="261066" y="574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2123100"/>
                <a:gridCol w="2123100"/>
                <a:gridCol w="2123100"/>
              </a:tblGrid>
              <a:tr h="158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36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736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641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9403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314.9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1456.3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14"/>
          <p:cNvSpPr/>
          <p:nvPr/>
        </p:nvSpPr>
        <p:spPr>
          <a:xfrm>
            <a:off x="154386" y="15240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1267879" y="296404"/>
            <a:ext cx="654553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Identify the nearest 10 above and below each number, then round to the nearest 10.</a:t>
            </a:r>
            <a:endParaRPr/>
          </a:p>
        </p:txBody>
      </p:sp>
      <p:grpSp>
        <p:nvGrpSpPr>
          <p:cNvPr id="135" name="Google Shape;135;p14"/>
          <p:cNvGrpSpPr/>
          <p:nvPr/>
        </p:nvGrpSpPr>
        <p:grpSpPr>
          <a:xfrm>
            <a:off x="304610" y="853976"/>
            <a:ext cx="2025909" cy="600279"/>
            <a:chOff x="472103" y="8978880"/>
            <a:chExt cx="1492729" cy="476968"/>
          </a:xfrm>
        </p:grpSpPr>
        <p:sp>
          <p:nvSpPr>
            <p:cNvPr id="136" name="Google Shape;136;p14"/>
            <p:cNvSpPr/>
            <p:nvPr/>
          </p:nvSpPr>
          <p:spPr>
            <a:xfrm>
              <a:off x="483665" y="8983548"/>
              <a:ext cx="27017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/>
            </a:p>
          </p:txBody>
        </p:sp>
        <p:cxnSp>
          <p:nvCxnSpPr>
            <p:cNvPr id="137" name="Google Shape;137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1" name="Google Shape;141;p14"/>
            <p:cNvSpPr/>
            <p:nvPr/>
          </p:nvSpPr>
          <p:spPr>
            <a:xfrm>
              <a:off x="1683091" y="8978880"/>
              <a:ext cx="27017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200"/>
                <a:buFont typeface="Calibri"/>
                <a:buNone/>
              </a:pPr>
              <a:r>
                <a:rPr b="0" i="0" lang="en-GB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80</a:t>
              </a:r>
              <a:endParaRPr/>
            </a:p>
          </p:txBody>
        </p:sp>
        <p:cxnSp>
          <p:nvCxnSpPr>
            <p:cNvPr id="142" name="Google Shape;142;p14"/>
            <p:cNvCxnSpPr/>
            <p:nvPr/>
          </p:nvCxnSpPr>
          <p:spPr>
            <a:xfrm>
              <a:off x="963135" y="9283680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3" name="Google Shape;143;p14"/>
            <p:cNvSpPr txBox="1"/>
            <p:nvPr/>
          </p:nvSpPr>
          <p:spPr>
            <a:xfrm>
              <a:off x="742556" y="9035865"/>
              <a:ext cx="441158" cy="220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73</a:t>
              </a:r>
              <a:endParaRPr/>
            </a:p>
          </p:txBody>
        </p:sp>
      </p:grpSp>
      <p:grpSp>
        <p:nvGrpSpPr>
          <p:cNvPr id="144" name="Google Shape;144;p14"/>
          <p:cNvGrpSpPr/>
          <p:nvPr/>
        </p:nvGrpSpPr>
        <p:grpSpPr>
          <a:xfrm>
            <a:off x="2463066" y="853975"/>
            <a:ext cx="1946625" cy="600249"/>
            <a:chOff x="438730" y="8978880"/>
            <a:chExt cx="1605117" cy="476968"/>
          </a:xfrm>
        </p:grpSpPr>
        <p:sp>
          <p:nvSpPr>
            <p:cNvPr id="145" name="Google Shape;145;p14"/>
            <p:cNvSpPr/>
            <p:nvPr/>
          </p:nvSpPr>
          <p:spPr>
            <a:xfrm>
              <a:off x="438730" y="8983548"/>
              <a:ext cx="36075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840</a:t>
              </a:r>
              <a:endParaRPr/>
            </a:p>
          </p:txBody>
        </p:sp>
        <p:cxnSp>
          <p:nvCxnSpPr>
            <p:cNvPr id="146" name="Google Shape;146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" name="Google Shape;147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8" name="Google Shape;148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" name="Google Shape;149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0" name="Google Shape;150;p14"/>
            <p:cNvSpPr/>
            <p:nvPr/>
          </p:nvSpPr>
          <p:spPr>
            <a:xfrm>
              <a:off x="1683091" y="8978880"/>
              <a:ext cx="360756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850</a:t>
              </a:r>
              <a:endParaRPr/>
            </a:p>
          </p:txBody>
        </p:sp>
        <p:cxnSp>
          <p:nvCxnSpPr>
            <p:cNvPr id="151" name="Google Shape;151;p14"/>
            <p:cNvCxnSpPr/>
            <p:nvPr/>
          </p:nvCxnSpPr>
          <p:spPr>
            <a:xfrm>
              <a:off x="1552625" y="9283680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52" name="Google Shape;152;p14"/>
            <p:cNvSpPr txBox="1"/>
            <p:nvPr/>
          </p:nvSpPr>
          <p:spPr>
            <a:xfrm>
              <a:off x="1332046" y="9035865"/>
              <a:ext cx="441158" cy="220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848</a:t>
              </a: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>
            <a:off x="4555888" y="853974"/>
            <a:ext cx="2034025" cy="600243"/>
            <a:chOff x="472103" y="8978880"/>
            <a:chExt cx="1492729" cy="476968"/>
          </a:xfrm>
        </p:grpSpPr>
        <p:sp>
          <p:nvSpPr>
            <p:cNvPr id="154" name="Google Shape;154;p14"/>
            <p:cNvSpPr/>
            <p:nvPr/>
          </p:nvSpPr>
          <p:spPr>
            <a:xfrm>
              <a:off x="483665" y="8983548"/>
              <a:ext cx="27017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  <p:cxnSp>
          <p:nvCxnSpPr>
            <p:cNvPr id="155" name="Google Shape;155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" name="Google Shape;156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" name="Google Shape;157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9" name="Google Shape;159;p14"/>
            <p:cNvSpPr/>
            <p:nvPr/>
          </p:nvSpPr>
          <p:spPr>
            <a:xfrm>
              <a:off x="1683091" y="8978880"/>
              <a:ext cx="27017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/>
            </a:p>
          </p:txBody>
        </p:sp>
        <p:cxnSp>
          <p:nvCxnSpPr>
            <p:cNvPr id="160" name="Google Shape;160;p14"/>
            <p:cNvCxnSpPr/>
            <p:nvPr/>
          </p:nvCxnSpPr>
          <p:spPr>
            <a:xfrm>
              <a:off x="1258945" y="9271201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61" name="Google Shape;161;p14"/>
            <p:cNvSpPr txBox="1"/>
            <p:nvPr/>
          </p:nvSpPr>
          <p:spPr>
            <a:xfrm>
              <a:off x="1009783" y="9022083"/>
              <a:ext cx="539890" cy="22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25.4</a:t>
              </a:r>
              <a:endParaRPr/>
            </a:p>
          </p:txBody>
        </p:sp>
      </p:grpSp>
      <p:grpSp>
        <p:nvGrpSpPr>
          <p:cNvPr id="162" name="Google Shape;162;p14"/>
          <p:cNvGrpSpPr/>
          <p:nvPr/>
        </p:nvGrpSpPr>
        <p:grpSpPr>
          <a:xfrm>
            <a:off x="320301" y="2456217"/>
            <a:ext cx="2020875" cy="553415"/>
            <a:chOff x="465892" y="8978880"/>
            <a:chExt cx="1531095" cy="476968"/>
          </a:xfrm>
        </p:grpSpPr>
        <p:sp>
          <p:nvSpPr>
            <p:cNvPr id="163" name="Google Shape;163;p14"/>
            <p:cNvSpPr/>
            <p:nvPr/>
          </p:nvSpPr>
          <p:spPr>
            <a:xfrm>
              <a:off x="465892" y="8983548"/>
              <a:ext cx="331671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/>
            </a:p>
          </p:txBody>
        </p:sp>
        <p:cxnSp>
          <p:nvCxnSpPr>
            <p:cNvPr id="164" name="Google Shape;164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8" name="Google Shape;168;p14"/>
            <p:cNvSpPr/>
            <p:nvPr/>
          </p:nvSpPr>
          <p:spPr>
            <a:xfrm>
              <a:off x="1662759" y="8978880"/>
              <a:ext cx="33422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40</a:t>
              </a:r>
              <a:endParaRPr/>
            </a:p>
          </p:txBody>
        </p:sp>
      </p:grpSp>
      <p:grpSp>
        <p:nvGrpSpPr>
          <p:cNvPr id="169" name="Google Shape;169;p14"/>
          <p:cNvGrpSpPr/>
          <p:nvPr/>
        </p:nvGrpSpPr>
        <p:grpSpPr>
          <a:xfrm>
            <a:off x="2429121" y="2447321"/>
            <a:ext cx="1980569" cy="551969"/>
            <a:chOff x="429777" y="8978880"/>
            <a:chExt cx="1589069" cy="476968"/>
          </a:xfrm>
        </p:grpSpPr>
        <p:sp>
          <p:nvSpPr>
            <p:cNvPr id="170" name="Google Shape;170;p14"/>
            <p:cNvSpPr/>
            <p:nvPr/>
          </p:nvSpPr>
          <p:spPr>
            <a:xfrm>
              <a:off x="429777" y="8983548"/>
              <a:ext cx="385559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730</a:t>
              </a:r>
              <a:endParaRPr/>
            </a:p>
          </p:txBody>
        </p:sp>
        <p:cxnSp>
          <p:nvCxnSpPr>
            <p:cNvPr id="171" name="Google Shape;171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2" name="Google Shape;172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3" name="Google Shape;173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" name="Google Shape;174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5" name="Google Shape;175;p14"/>
            <p:cNvSpPr/>
            <p:nvPr/>
          </p:nvSpPr>
          <p:spPr>
            <a:xfrm>
              <a:off x="1631112" y="8978880"/>
              <a:ext cx="387734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740</a:t>
              </a:r>
              <a:endParaRPr/>
            </a:p>
          </p:txBody>
        </p:sp>
      </p:grpSp>
      <p:grpSp>
        <p:nvGrpSpPr>
          <p:cNvPr id="176" name="Google Shape;176;p14"/>
          <p:cNvGrpSpPr/>
          <p:nvPr/>
        </p:nvGrpSpPr>
        <p:grpSpPr>
          <a:xfrm>
            <a:off x="4548434" y="2447321"/>
            <a:ext cx="2000864" cy="562281"/>
            <a:chOff x="421501" y="8978880"/>
            <a:chExt cx="1591246" cy="476968"/>
          </a:xfrm>
        </p:grpSpPr>
        <p:sp>
          <p:nvSpPr>
            <p:cNvPr id="177" name="Google Shape;177;p14"/>
            <p:cNvSpPr/>
            <p:nvPr/>
          </p:nvSpPr>
          <p:spPr>
            <a:xfrm>
              <a:off x="421501" y="8983548"/>
              <a:ext cx="385559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640</a:t>
              </a:r>
              <a:endParaRPr/>
            </a:p>
          </p:txBody>
        </p:sp>
        <p:cxnSp>
          <p:nvCxnSpPr>
            <p:cNvPr id="178" name="Google Shape;178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" name="Google Shape;181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2" name="Google Shape;182;p14"/>
            <p:cNvSpPr/>
            <p:nvPr/>
          </p:nvSpPr>
          <p:spPr>
            <a:xfrm>
              <a:off x="1625013" y="8978880"/>
              <a:ext cx="387734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650</a:t>
              </a:r>
              <a:endParaRPr/>
            </a:p>
          </p:txBody>
        </p:sp>
      </p:grpSp>
      <p:grpSp>
        <p:nvGrpSpPr>
          <p:cNvPr id="183" name="Google Shape;183;p14"/>
          <p:cNvGrpSpPr/>
          <p:nvPr/>
        </p:nvGrpSpPr>
        <p:grpSpPr>
          <a:xfrm>
            <a:off x="328498" y="4025476"/>
            <a:ext cx="2002019" cy="637955"/>
            <a:chOff x="374738" y="8978880"/>
            <a:chExt cx="1690000" cy="476968"/>
          </a:xfrm>
        </p:grpSpPr>
        <p:sp>
          <p:nvSpPr>
            <p:cNvPr id="184" name="Google Shape;184;p14"/>
            <p:cNvSpPr/>
            <p:nvPr/>
          </p:nvSpPr>
          <p:spPr>
            <a:xfrm>
              <a:off x="374738" y="8983548"/>
              <a:ext cx="484317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9400</a:t>
              </a:r>
              <a:endParaRPr/>
            </a:p>
          </p:txBody>
        </p:sp>
        <p:cxnSp>
          <p:nvCxnSpPr>
            <p:cNvPr id="185" name="Google Shape;185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" name="Google Shape;186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" name="Google Shape;187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" name="Google Shape;188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9" name="Google Shape;189;p14"/>
            <p:cNvSpPr/>
            <p:nvPr/>
          </p:nvSpPr>
          <p:spPr>
            <a:xfrm>
              <a:off x="1580423" y="8978880"/>
              <a:ext cx="484315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9410</a:t>
              </a:r>
              <a:endParaRPr/>
            </a:p>
          </p:txBody>
        </p:sp>
      </p:grpSp>
      <p:graphicFrame>
        <p:nvGraphicFramePr>
          <p:cNvPr id="190" name="Google Shape;190;p14"/>
          <p:cNvGraphicFramePr/>
          <p:nvPr/>
        </p:nvGraphicFramePr>
        <p:xfrm>
          <a:off x="261066" y="5695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1592325"/>
                <a:gridCol w="1592325"/>
                <a:gridCol w="1592325"/>
                <a:gridCol w="1592325"/>
              </a:tblGrid>
              <a:tr h="77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71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59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238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312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333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i) 845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 1628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k) 502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l) 7555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m) 1164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n) 6036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o) 29234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p) 998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q) 78.38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r) 15.455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s) 1009.02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t) 5141.49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14"/>
          <p:cNvSpPr txBox="1"/>
          <p:nvPr>
            <p:ph idx="12" type="sldNum"/>
          </p:nvPr>
        </p:nvSpPr>
        <p:spPr>
          <a:xfrm>
            <a:off x="5227439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920165" y="5912244"/>
            <a:ext cx="5695947" cy="3493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30                                  70                                  70                                   20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60                                   240                                 310                                330</a:t>
            </a: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850                                 1630                             500                                  7560</a:t>
            </a: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1160                            6040                                 29230                       1000</a:t>
            </a: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80                                   20                                      1010                             5140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190827" y="5376225"/>
            <a:ext cx="68808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 startAt="2"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Round each number to the nearest 10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p14"/>
          <p:cNvGrpSpPr/>
          <p:nvPr/>
        </p:nvGrpSpPr>
        <p:grpSpPr>
          <a:xfrm>
            <a:off x="2463066" y="4008530"/>
            <a:ext cx="2002019" cy="637955"/>
            <a:chOff x="374738" y="8978880"/>
            <a:chExt cx="1690000" cy="476968"/>
          </a:xfrm>
        </p:grpSpPr>
        <p:sp>
          <p:nvSpPr>
            <p:cNvPr id="195" name="Google Shape;195;p14"/>
            <p:cNvSpPr/>
            <p:nvPr/>
          </p:nvSpPr>
          <p:spPr>
            <a:xfrm>
              <a:off x="374738" y="8983548"/>
              <a:ext cx="484317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310</a:t>
              </a:r>
              <a:endParaRPr/>
            </a:p>
          </p:txBody>
        </p:sp>
        <p:cxnSp>
          <p:nvCxnSpPr>
            <p:cNvPr id="196" name="Google Shape;196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" name="Google Shape;197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0" name="Google Shape;200;p14"/>
            <p:cNvSpPr/>
            <p:nvPr/>
          </p:nvSpPr>
          <p:spPr>
            <a:xfrm>
              <a:off x="1580423" y="8978880"/>
              <a:ext cx="484315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320</a:t>
              </a:r>
              <a:endParaRPr/>
            </a:p>
          </p:txBody>
        </p:sp>
      </p:grpSp>
      <p:grpSp>
        <p:nvGrpSpPr>
          <p:cNvPr id="201" name="Google Shape;201;p14"/>
          <p:cNvGrpSpPr/>
          <p:nvPr/>
        </p:nvGrpSpPr>
        <p:grpSpPr>
          <a:xfrm>
            <a:off x="4578889" y="4008530"/>
            <a:ext cx="2002019" cy="637955"/>
            <a:chOff x="374738" y="8978880"/>
            <a:chExt cx="1690000" cy="476968"/>
          </a:xfrm>
        </p:grpSpPr>
        <p:sp>
          <p:nvSpPr>
            <p:cNvPr id="202" name="Google Shape;202;p14"/>
            <p:cNvSpPr/>
            <p:nvPr/>
          </p:nvSpPr>
          <p:spPr>
            <a:xfrm>
              <a:off x="374738" y="8983548"/>
              <a:ext cx="484317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1450</a:t>
              </a:r>
              <a:endParaRPr/>
            </a:p>
          </p:txBody>
        </p:sp>
        <p:cxnSp>
          <p:nvCxnSpPr>
            <p:cNvPr id="203" name="Google Shape;203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" name="Google Shape;204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" name="Google Shape;205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" name="Google Shape;206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7" name="Google Shape;207;p14"/>
            <p:cNvSpPr/>
            <p:nvPr/>
          </p:nvSpPr>
          <p:spPr>
            <a:xfrm>
              <a:off x="1580423" y="8978880"/>
              <a:ext cx="484315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1460</a:t>
              </a:r>
              <a:endParaRPr/>
            </a:p>
          </p:txBody>
        </p:sp>
      </p:grpSp>
      <p:sp>
        <p:nvSpPr>
          <p:cNvPr id="208" name="Google Shape;208;p14"/>
          <p:cNvSpPr txBox="1"/>
          <p:nvPr/>
        </p:nvSpPr>
        <p:spPr>
          <a:xfrm>
            <a:off x="1118650" y="165786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3253218" y="1643297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850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5418704" y="165786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1104264" y="327247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>
            <a:off x="3238832" y="3257912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740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5404318" y="3272475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640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1058527" y="4934284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9400</a:t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3193095" y="4919721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310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5358581" y="4934284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1460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 txBox="1"/>
          <p:nvPr>
            <p:ph idx="12" type="sldNum"/>
          </p:nvPr>
        </p:nvSpPr>
        <p:spPr>
          <a:xfrm>
            <a:off x="5210684" y="923616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22" name="Google Shape;222;p15"/>
          <p:cNvGraphicFramePr/>
          <p:nvPr/>
        </p:nvGraphicFramePr>
        <p:xfrm>
          <a:off x="121214" y="6800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1097975"/>
                <a:gridCol w="1824275"/>
                <a:gridCol w="1824275"/>
                <a:gridCol w="1824275"/>
              </a:tblGrid>
              <a:tr h="51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1935 to the nearest 100,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10245 to the nearest 100,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2840 to the nearest 100,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097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1) Identify the 100 above and the 100 below.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2)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it closer to the 100 above or the 100 below?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1900                         2000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1900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10200                      10300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10200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2800                            2900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2800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43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1935 to the nearest 1000,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10245 to the nearest 1000,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2840 to the nearest 1000,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1000                         2000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2000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10000                      11000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10000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2000                            3000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3000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15"/>
          <p:cNvSpPr txBox="1"/>
          <p:nvPr/>
        </p:nvSpPr>
        <p:spPr>
          <a:xfrm>
            <a:off x="1431792" y="41832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224" name="Google Shape;224;p15"/>
          <p:cNvSpPr txBox="1"/>
          <p:nvPr/>
        </p:nvSpPr>
        <p:spPr>
          <a:xfrm>
            <a:off x="4988398" y="43356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3063342" y="40762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121214" y="14243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a number line to identify the nearest 100 or 1000 and round to the nearest 100 or 1000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3000375" y="455295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15"/>
          <p:cNvGrpSpPr/>
          <p:nvPr/>
        </p:nvGrpSpPr>
        <p:grpSpPr>
          <a:xfrm>
            <a:off x="1336709" y="1920233"/>
            <a:ext cx="1417470" cy="115672"/>
            <a:chOff x="1277321" y="6379072"/>
            <a:chExt cx="1417470" cy="115672"/>
          </a:xfrm>
        </p:grpSpPr>
        <p:cxnSp>
          <p:nvCxnSpPr>
            <p:cNvPr id="229" name="Google Shape;229;p15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15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15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32" name="Google Shape;232;p15"/>
          <p:cNvGrpSpPr/>
          <p:nvPr/>
        </p:nvGrpSpPr>
        <p:grpSpPr>
          <a:xfrm>
            <a:off x="3122248" y="1947673"/>
            <a:ext cx="1417470" cy="115672"/>
            <a:chOff x="1277321" y="6379072"/>
            <a:chExt cx="1417470" cy="115672"/>
          </a:xfrm>
        </p:grpSpPr>
        <p:cxnSp>
          <p:nvCxnSpPr>
            <p:cNvPr id="233" name="Google Shape;233;p15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15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15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36" name="Google Shape;236;p15"/>
          <p:cNvGrpSpPr/>
          <p:nvPr/>
        </p:nvGrpSpPr>
        <p:grpSpPr>
          <a:xfrm>
            <a:off x="5002870" y="1947589"/>
            <a:ext cx="1417470" cy="115672"/>
            <a:chOff x="1277321" y="6379072"/>
            <a:chExt cx="1417470" cy="115672"/>
          </a:xfrm>
        </p:grpSpPr>
        <p:cxnSp>
          <p:nvCxnSpPr>
            <p:cNvPr id="237" name="Google Shape;237;p15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15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15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40" name="Google Shape;240;p15"/>
          <p:cNvGrpSpPr/>
          <p:nvPr/>
        </p:nvGrpSpPr>
        <p:grpSpPr>
          <a:xfrm>
            <a:off x="1355233" y="3787170"/>
            <a:ext cx="1417470" cy="115672"/>
            <a:chOff x="1277321" y="6379072"/>
            <a:chExt cx="1417470" cy="115672"/>
          </a:xfrm>
        </p:grpSpPr>
        <p:cxnSp>
          <p:nvCxnSpPr>
            <p:cNvPr id="241" name="Google Shape;241;p15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" name="Google Shape;242;p15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" name="Google Shape;243;p15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44" name="Google Shape;244;p15"/>
          <p:cNvGrpSpPr/>
          <p:nvPr/>
        </p:nvGrpSpPr>
        <p:grpSpPr>
          <a:xfrm>
            <a:off x="3140716" y="3779148"/>
            <a:ext cx="1417470" cy="115672"/>
            <a:chOff x="1277321" y="6379072"/>
            <a:chExt cx="1417470" cy="115672"/>
          </a:xfrm>
        </p:grpSpPr>
        <p:cxnSp>
          <p:nvCxnSpPr>
            <p:cNvPr id="245" name="Google Shape;245;p15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6" name="Google Shape;246;p15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" name="Google Shape;247;p15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48" name="Google Shape;248;p15"/>
          <p:cNvGrpSpPr/>
          <p:nvPr/>
        </p:nvGrpSpPr>
        <p:grpSpPr>
          <a:xfrm>
            <a:off x="5006337" y="3794304"/>
            <a:ext cx="1417470" cy="115672"/>
            <a:chOff x="1277321" y="6379072"/>
            <a:chExt cx="1417470" cy="115672"/>
          </a:xfrm>
        </p:grpSpPr>
        <p:cxnSp>
          <p:nvCxnSpPr>
            <p:cNvPr id="249" name="Google Shape;249;p15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" name="Google Shape;250;p15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" name="Google Shape;251;p15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252" name="Google Shape;252;p15"/>
          <p:cNvGraphicFramePr/>
          <p:nvPr/>
        </p:nvGraphicFramePr>
        <p:xfrm>
          <a:off x="104266" y="48194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3293875"/>
                <a:gridCol w="3293875"/>
              </a:tblGrid>
              <a:tr h="11343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7620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4801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9450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4382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43820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43280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40328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15"/>
          <p:cNvSpPr/>
          <p:nvPr/>
        </p:nvSpPr>
        <p:spPr>
          <a:xfrm>
            <a:off x="121213" y="4409869"/>
            <a:ext cx="1060047" cy="36102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54" name="Google Shape;254;p15"/>
          <p:cNvSpPr txBox="1"/>
          <p:nvPr/>
        </p:nvSpPr>
        <p:spPr>
          <a:xfrm>
            <a:off x="1172040" y="4386249"/>
            <a:ext cx="58231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For a-d, identify the nearest 100 above and below each number, then round to the nearest 100. For e-h, identify the 1000 above and below then round to the nearest 1000.</a:t>
            </a:r>
            <a:endParaRPr/>
          </a:p>
        </p:txBody>
      </p:sp>
      <p:grpSp>
        <p:nvGrpSpPr>
          <p:cNvPr id="255" name="Google Shape;255;p15"/>
          <p:cNvGrpSpPr/>
          <p:nvPr/>
        </p:nvGrpSpPr>
        <p:grpSpPr>
          <a:xfrm>
            <a:off x="500931" y="5196572"/>
            <a:ext cx="2423153" cy="643765"/>
            <a:chOff x="405609" y="8978880"/>
            <a:chExt cx="1628020" cy="476968"/>
          </a:xfrm>
        </p:grpSpPr>
        <p:sp>
          <p:nvSpPr>
            <p:cNvPr id="256" name="Google Shape;256;p15"/>
            <p:cNvSpPr/>
            <p:nvPr/>
          </p:nvSpPr>
          <p:spPr>
            <a:xfrm>
              <a:off x="405609" y="8983548"/>
              <a:ext cx="426152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200</a:t>
              </a:r>
              <a:endParaRPr/>
            </a:p>
          </p:txBody>
        </p:sp>
        <p:cxnSp>
          <p:nvCxnSpPr>
            <p:cNvPr id="257" name="Google Shape;257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" name="Google Shape;258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9" name="Google Shape;259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0" name="Google Shape;260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1" name="Google Shape;261;p15"/>
            <p:cNvSpPr/>
            <p:nvPr/>
          </p:nvSpPr>
          <p:spPr>
            <a:xfrm>
              <a:off x="1607477" y="8978880"/>
              <a:ext cx="426152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200"/>
                <a:buFont typeface="Calibri"/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0" i="0" lang="en-GB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00</a:t>
              </a:r>
              <a:endParaRPr/>
            </a:p>
          </p:txBody>
        </p:sp>
      </p:grpSp>
      <p:grpSp>
        <p:nvGrpSpPr>
          <p:cNvPr id="262" name="Google Shape;262;p15"/>
          <p:cNvGrpSpPr/>
          <p:nvPr/>
        </p:nvGrpSpPr>
        <p:grpSpPr>
          <a:xfrm>
            <a:off x="3519323" y="5259474"/>
            <a:ext cx="2963787" cy="612541"/>
            <a:chOff x="384858" y="8978880"/>
            <a:chExt cx="1649881" cy="476968"/>
          </a:xfrm>
        </p:grpSpPr>
        <p:sp>
          <p:nvSpPr>
            <p:cNvPr id="263" name="Google Shape;263;p15"/>
            <p:cNvSpPr/>
            <p:nvPr/>
          </p:nvSpPr>
          <p:spPr>
            <a:xfrm>
              <a:off x="384858" y="8983548"/>
              <a:ext cx="453219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7600</a:t>
              </a:r>
              <a:endParaRPr/>
            </a:p>
          </p:txBody>
        </p:sp>
        <p:cxnSp>
          <p:nvCxnSpPr>
            <p:cNvPr id="264" name="Google Shape;264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8" name="Google Shape;268;p15"/>
            <p:cNvSpPr/>
            <p:nvPr/>
          </p:nvSpPr>
          <p:spPr>
            <a:xfrm>
              <a:off x="1581521" y="8978880"/>
              <a:ext cx="45321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7700</a:t>
              </a:r>
              <a:endParaRPr/>
            </a:p>
          </p:txBody>
        </p:sp>
      </p:grpSp>
      <p:grpSp>
        <p:nvGrpSpPr>
          <p:cNvPr id="269" name="Google Shape;269;p15"/>
          <p:cNvGrpSpPr/>
          <p:nvPr/>
        </p:nvGrpSpPr>
        <p:grpSpPr>
          <a:xfrm>
            <a:off x="411358" y="6335139"/>
            <a:ext cx="2615059" cy="643647"/>
            <a:chOff x="384938" y="8978880"/>
            <a:chExt cx="1655972" cy="476968"/>
          </a:xfrm>
        </p:grpSpPr>
        <p:sp>
          <p:nvSpPr>
            <p:cNvPr id="270" name="Google Shape;270;p15"/>
            <p:cNvSpPr/>
            <p:nvPr/>
          </p:nvSpPr>
          <p:spPr>
            <a:xfrm>
              <a:off x="384938" y="8983548"/>
              <a:ext cx="453136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4800</a:t>
              </a:r>
              <a:endParaRPr/>
            </a:p>
          </p:txBody>
        </p:sp>
        <p:cxnSp>
          <p:nvCxnSpPr>
            <p:cNvPr id="271" name="Google Shape;271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5" name="Google Shape;275;p15"/>
            <p:cNvSpPr/>
            <p:nvPr/>
          </p:nvSpPr>
          <p:spPr>
            <a:xfrm>
              <a:off x="1591973" y="8978880"/>
              <a:ext cx="448937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4900</a:t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3518482" y="6346633"/>
            <a:ext cx="2964613" cy="652359"/>
            <a:chOff x="388508" y="8978880"/>
            <a:chExt cx="1662699" cy="476968"/>
          </a:xfrm>
        </p:grpSpPr>
        <p:sp>
          <p:nvSpPr>
            <p:cNvPr id="277" name="Google Shape;277;p15"/>
            <p:cNvSpPr/>
            <p:nvPr/>
          </p:nvSpPr>
          <p:spPr>
            <a:xfrm>
              <a:off x="388508" y="8983548"/>
              <a:ext cx="459922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9400</a:t>
              </a:r>
              <a:endParaRPr/>
            </a:p>
          </p:txBody>
        </p:sp>
        <p:cxnSp>
          <p:nvCxnSpPr>
            <p:cNvPr id="278" name="Google Shape;278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" name="Google Shape;279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" name="Google Shape;280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" name="Google Shape;281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2" name="Google Shape;282;p15"/>
            <p:cNvSpPr/>
            <p:nvPr/>
          </p:nvSpPr>
          <p:spPr>
            <a:xfrm>
              <a:off x="1602273" y="8978880"/>
              <a:ext cx="448934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9500</a:t>
              </a:r>
              <a:endParaRPr/>
            </a:p>
          </p:txBody>
        </p:sp>
      </p:grpSp>
      <p:grpSp>
        <p:nvGrpSpPr>
          <p:cNvPr id="283" name="Google Shape;283;p15"/>
          <p:cNvGrpSpPr/>
          <p:nvPr/>
        </p:nvGrpSpPr>
        <p:grpSpPr>
          <a:xfrm>
            <a:off x="248305" y="7440544"/>
            <a:ext cx="2974503" cy="694596"/>
            <a:chOff x="383751" y="8978880"/>
            <a:chExt cx="1667541" cy="476968"/>
          </a:xfrm>
        </p:grpSpPr>
        <p:sp>
          <p:nvSpPr>
            <p:cNvPr id="284" name="Google Shape;284;p15"/>
            <p:cNvSpPr/>
            <p:nvPr/>
          </p:nvSpPr>
          <p:spPr>
            <a:xfrm>
              <a:off x="383751" y="8983548"/>
              <a:ext cx="459570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4000</a:t>
              </a:r>
              <a:endParaRPr/>
            </a:p>
          </p:txBody>
        </p:sp>
        <p:cxnSp>
          <p:nvCxnSpPr>
            <p:cNvPr id="285" name="Google Shape;285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" name="Google Shape;286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" name="Google Shape;287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8" name="Google Shape;288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9" name="Google Shape;289;p15"/>
            <p:cNvSpPr/>
            <p:nvPr/>
          </p:nvSpPr>
          <p:spPr>
            <a:xfrm>
              <a:off x="1591722" y="8978880"/>
              <a:ext cx="459570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5000</a:t>
              </a:r>
              <a:endParaRPr/>
            </a:p>
          </p:txBody>
        </p:sp>
      </p:grpSp>
      <p:grpSp>
        <p:nvGrpSpPr>
          <p:cNvPr id="290" name="Google Shape;290;p15"/>
          <p:cNvGrpSpPr/>
          <p:nvPr/>
        </p:nvGrpSpPr>
        <p:grpSpPr>
          <a:xfrm>
            <a:off x="3534514" y="7440100"/>
            <a:ext cx="2900981" cy="695040"/>
            <a:chOff x="369170" y="8978880"/>
            <a:chExt cx="1705170" cy="476968"/>
          </a:xfrm>
        </p:grpSpPr>
        <p:sp>
          <p:nvSpPr>
            <p:cNvPr id="291" name="Google Shape;291;p15"/>
            <p:cNvSpPr/>
            <p:nvPr/>
          </p:nvSpPr>
          <p:spPr>
            <a:xfrm>
              <a:off x="369170" y="8983548"/>
              <a:ext cx="5231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43000</a:t>
              </a:r>
              <a:endParaRPr/>
            </a:p>
          </p:txBody>
        </p:sp>
        <p:cxnSp>
          <p:nvCxnSpPr>
            <p:cNvPr id="292" name="Google Shape;292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" name="Google Shape;293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4" name="Google Shape;294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5" name="Google Shape;295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6" name="Google Shape;296;p15"/>
            <p:cNvSpPr/>
            <p:nvPr/>
          </p:nvSpPr>
          <p:spPr>
            <a:xfrm>
              <a:off x="1548005" y="8978880"/>
              <a:ext cx="526335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44000</a:t>
              </a:r>
              <a:endParaRPr/>
            </a:p>
          </p:txBody>
        </p:sp>
      </p:grpSp>
      <p:grpSp>
        <p:nvGrpSpPr>
          <p:cNvPr id="297" name="Google Shape;297;p15"/>
          <p:cNvGrpSpPr/>
          <p:nvPr/>
        </p:nvGrpSpPr>
        <p:grpSpPr>
          <a:xfrm>
            <a:off x="359667" y="8582477"/>
            <a:ext cx="2821718" cy="676793"/>
            <a:chOff x="366008" y="8978880"/>
            <a:chExt cx="1705168" cy="476968"/>
          </a:xfrm>
        </p:grpSpPr>
        <p:sp>
          <p:nvSpPr>
            <p:cNvPr id="298" name="Google Shape;298;p15"/>
            <p:cNvSpPr/>
            <p:nvPr/>
          </p:nvSpPr>
          <p:spPr>
            <a:xfrm>
              <a:off x="366008" y="8983548"/>
              <a:ext cx="523172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43000</a:t>
              </a:r>
              <a:endParaRPr/>
            </a:p>
          </p:txBody>
        </p:sp>
        <p:cxnSp>
          <p:nvCxnSpPr>
            <p:cNvPr id="299" name="Google Shape;299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0" name="Google Shape;300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" name="Google Shape;301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" name="Google Shape;302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3" name="Google Shape;303;p15"/>
            <p:cNvSpPr/>
            <p:nvPr/>
          </p:nvSpPr>
          <p:spPr>
            <a:xfrm>
              <a:off x="1548004" y="8978880"/>
              <a:ext cx="523172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44000</a:t>
              </a:r>
              <a:endParaRPr/>
            </a:p>
          </p:txBody>
        </p:sp>
      </p:grpSp>
      <p:grpSp>
        <p:nvGrpSpPr>
          <p:cNvPr id="304" name="Google Shape;304;p15"/>
          <p:cNvGrpSpPr/>
          <p:nvPr/>
        </p:nvGrpSpPr>
        <p:grpSpPr>
          <a:xfrm>
            <a:off x="3612303" y="8606876"/>
            <a:ext cx="2752189" cy="652367"/>
            <a:chOff x="400071" y="8978880"/>
            <a:chExt cx="1670996" cy="476968"/>
          </a:xfrm>
        </p:grpSpPr>
        <p:sp>
          <p:nvSpPr>
            <p:cNvPr id="305" name="Google Shape;305;p15"/>
            <p:cNvSpPr/>
            <p:nvPr/>
          </p:nvSpPr>
          <p:spPr>
            <a:xfrm>
              <a:off x="400071" y="8983548"/>
              <a:ext cx="519901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40000</a:t>
              </a:r>
              <a:endParaRPr/>
            </a:p>
          </p:txBody>
        </p:sp>
        <p:cxnSp>
          <p:nvCxnSpPr>
            <p:cNvPr id="306" name="Google Shape;306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8" name="Google Shape;308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9" name="Google Shape;309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0" name="Google Shape;310;p15"/>
            <p:cNvSpPr/>
            <p:nvPr/>
          </p:nvSpPr>
          <p:spPr>
            <a:xfrm>
              <a:off x="1551168" y="8978880"/>
              <a:ext cx="519899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41000</a:t>
              </a:r>
              <a:endParaRPr/>
            </a:p>
          </p:txBody>
        </p:sp>
      </p:grpSp>
      <p:sp>
        <p:nvSpPr>
          <p:cNvPr id="311" name="Google Shape;311;p15"/>
          <p:cNvSpPr txBox="1"/>
          <p:nvPr/>
        </p:nvSpPr>
        <p:spPr>
          <a:xfrm>
            <a:off x="1575639" y="4904563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1484598" y="8335908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43000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1515516" y="6173443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4800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4674960" y="4890463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740</a:t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4674960" y="6129316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640</a:t>
            </a:r>
            <a:endParaRPr/>
          </a:p>
        </p:txBody>
      </p:sp>
      <p:sp>
        <p:nvSpPr>
          <p:cNvPr id="316" name="Google Shape;316;p15"/>
          <p:cNvSpPr txBox="1"/>
          <p:nvPr/>
        </p:nvSpPr>
        <p:spPr>
          <a:xfrm>
            <a:off x="1398496" y="7162430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4000</a:t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4706747" y="7213186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44000</a:t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4662026" y="8297056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40000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idx="12" type="sldNum"/>
          </p:nvPr>
        </p:nvSpPr>
        <p:spPr>
          <a:xfrm>
            <a:off x="5314950" y="939639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221763" y="140940"/>
            <a:ext cx="1137954" cy="41039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167975" y="4246855"/>
            <a:ext cx="366209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Round these numbers to the given degree of accuracy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6" name="Google Shape;326;p16"/>
          <p:cNvGraphicFramePr/>
          <p:nvPr/>
        </p:nvGraphicFramePr>
        <p:xfrm>
          <a:off x="221763" y="48929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1143875"/>
                <a:gridCol w="1741800"/>
                <a:gridCol w="1741800"/>
                <a:gridCol w="1741800"/>
              </a:tblGrid>
              <a:tr h="35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the nearest 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the nearest 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the nearest 1000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6432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6430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6400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6000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9256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9260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9300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9000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40039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40040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2409.12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2410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2400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4555.9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4560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4600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7" name="Google Shape;327;p16"/>
          <p:cNvGraphicFramePr/>
          <p:nvPr/>
        </p:nvGraphicFramePr>
        <p:xfrm>
          <a:off x="221763" y="6986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1592325"/>
                <a:gridCol w="1592325"/>
                <a:gridCol w="1592325"/>
                <a:gridCol w="1592325"/>
              </a:tblGrid>
              <a:tr h="8625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1254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12540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12054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4708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3902.8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76.34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8" name="Google Shape;328;p16"/>
          <p:cNvSpPr txBox="1"/>
          <p:nvPr/>
        </p:nvSpPr>
        <p:spPr>
          <a:xfrm>
            <a:off x="1359717" y="306857"/>
            <a:ext cx="582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Round these numbers to the nearest 100:</a:t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167975" y="2456143"/>
            <a:ext cx="582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Round these numbers to the nearest 1000:</a:t>
            </a:r>
            <a:endParaRPr/>
          </a:p>
        </p:txBody>
      </p:sp>
      <p:graphicFrame>
        <p:nvGraphicFramePr>
          <p:cNvPr id="330" name="Google Shape;330;p16"/>
          <p:cNvGraphicFramePr/>
          <p:nvPr/>
        </p:nvGraphicFramePr>
        <p:xfrm>
          <a:off x="221763" y="27369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1592325"/>
                <a:gridCol w="1592325"/>
                <a:gridCol w="1592325"/>
                <a:gridCol w="1592325"/>
              </a:tblGrid>
              <a:tr h="8625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5839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12540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12054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104,708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3902.8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706.34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324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1" name="Google Shape;331;p16"/>
          <p:cNvSpPr txBox="1"/>
          <p:nvPr/>
        </p:nvSpPr>
        <p:spPr>
          <a:xfrm>
            <a:off x="167975" y="7464991"/>
            <a:ext cx="655555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 A number rounds to 2,000 when rounded to the nearest 10, nearest 100 and nearest 1000.</a:t>
            </a: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a) Which of these could be the number?</a:t>
            </a: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										           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b) Give two more possibilities for what this number could be.</a:t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221763" y="7774516"/>
            <a:ext cx="6369303" cy="183976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3" name="Google Shape;333;p16"/>
          <p:cNvGraphicFramePr/>
          <p:nvPr/>
        </p:nvGraphicFramePr>
        <p:xfrm>
          <a:off x="534094" y="82498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827125"/>
                <a:gridCol w="827125"/>
                <a:gridCol w="827125"/>
                <a:gridCol w="827125"/>
                <a:gridCol w="827125"/>
                <a:gridCol w="827125"/>
                <a:gridCol w="827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2037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2007.31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2004.9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2005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16"/>
          <p:cNvSpPr txBox="1"/>
          <p:nvPr/>
        </p:nvSpPr>
        <p:spPr>
          <a:xfrm>
            <a:off x="627959" y="1074059"/>
            <a:ext cx="5695947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1200                               1300                           12500                       12100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4700                                 3900                        100                                0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597778" y="3080382"/>
            <a:ext cx="5695947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1000                           6000                           13000                           12000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105000                        4000                          1000                                0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3961578" y="8302891"/>
            <a:ext cx="619397" cy="33242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836207" y="9161139"/>
            <a:ext cx="24593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2003 and 2002.3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17"/>
          <p:cNvPicPr preferRelativeResize="0"/>
          <p:nvPr/>
        </p:nvPicPr>
        <p:blipFill rotWithShape="1">
          <a:blip r:embed="rId3">
            <a:alphaModFix/>
          </a:blip>
          <a:srcRect b="3023" l="26093" r="49910" t="28011"/>
          <a:stretch/>
        </p:blipFill>
        <p:spPr>
          <a:xfrm>
            <a:off x="4098606" y="5237715"/>
            <a:ext cx="1593576" cy="8108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4" name="Google Shape;344;p17"/>
          <p:cNvGraphicFramePr/>
          <p:nvPr/>
        </p:nvGraphicFramePr>
        <p:xfrm>
          <a:off x="167443" y="34035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3293875"/>
                <a:gridCol w="3293875"/>
              </a:tblGrid>
              <a:tr h="8890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5.8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12.1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2.45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10.62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15.3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0.7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3.92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38.51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43.7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2.83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9.55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" name="Google Shape;345;p17"/>
          <p:cNvSpPr txBox="1"/>
          <p:nvPr>
            <p:ph idx="12" type="sldNum"/>
          </p:nvPr>
        </p:nvSpPr>
        <p:spPr>
          <a:xfrm>
            <a:off x="5269286" y="942217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46" name="Google Shape;346;p17"/>
          <p:cNvGraphicFramePr/>
          <p:nvPr/>
        </p:nvGraphicFramePr>
        <p:xfrm>
          <a:off x="164101" y="6593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1283700"/>
                <a:gridCol w="1762925"/>
                <a:gridCol w="1762925"/>
                <a:gridCol w="1762925"/>
              </a:tblGrid>
              <a:tr h="38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5.491 to the nearest integer using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0.94 to the nearest integer using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12.843 to the nearest integer using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 Identify the integer above and below.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2) Is it closer to the integer above or the integer below?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5                                 6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0                                 1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12                                   13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FF0000"/>
                          </a:solidFill>
                        </a:rPr>
                        <a:t>13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7" name="Google Shape;347;p17"/>
          <p:cNvSpPr txBox="1"/>
          <p:nvPr/>
        </p:nvSpPr>
        <p:spPr>
          <a:xfrm>
            <a:off x="1231560" y="37013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348" name="Google Shape;348;p17"/>
          <p:cNvSpPr txBox="1"/>
          <p:nvPr/>
        </p:nvSpPr>
        <p:spPr>
          <a:xfrm>
            <a:off x="5150916" y="36331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3192838" y="35073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148861" y="2974617"/>
            <a:ext cx="1040636" cy="34770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164101" y="157324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a number line to identify the nearest integer and round to the nearest integer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17"/>
          <p:cNvGrpSpPr/>
          <p:nvPr/>
        </p:nvGrpSpPr>
        <p:grpSpPr>
          <a:xfrm>
            <a:off x="1020788" y="7786445"/>
            <a:ext cx="1300876" cy="476968"/>
            <a:chOff x="472103" y="8978880"/>
            <a:chExt cx="1492729" cy="476968"/>
          </a:xfrm>
        </p:grpSpPr>
        <p:sp>
          <p:nvSpPr>
            <p:cNvPr id="353" name="Google Shape;353;p17"/>
            <p:cNvSpPr/>
            <p:nvPr/>
          </p:nvSpPr>
          <p:spPr>
            <a:xfrm>
              <a:off x="483665" y="8983548"/>
              <a:ext cx="27017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354" name="Google Shape;354;p17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5" name="Google Shape;355;p17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" name="Google Shape;356;p17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7" name="Google Shape;357;p17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8" name="Google Shape;358;p17"/>
            <p:cNvSpPr/>
            <p:nvPr/>
          </p:nvSpPr>
          <p:spPr>
            <a:xfrm>
              <a:off x="1683091" y="8978880"/>
              <a:ext cx="27017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359" name="Google Shape;359;p17"/>
          <p:cNvGrpSpPr/>
          <p:nvPr/>
        </p:nvGrpSpPr>
        <p:grpSpPr>
          <a:xfrm>
            <a:off x="4366234" y="7764012"/>
            <a:ext cx="1356924" cy="476968"/>
            <a:chOff x="450876" y="8978880"/>
            <a:chExt cx="1557044" cy="476968"/>
          </a:xfrm>
        </p:grpSpPr>
        <p:sp>
          <p:nvSpPr>
            <p:cNvPr id="360" name="Google Shape;360;p17"/>
            <p:cNvSpPr/>
            <p:nvPr/>
          </p:nvSpPr>
          <p:spPr>
            <a:xfrm>
              <a:off x="450876" y="8983548"/>
              <a:ext cx="345792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43</a:t>
              </a:r>
              <a:endParaRPr/>
            </a:p>
          </p:txBody>
        </p:sp>
        <p:cxnSp>
          <p:nvCxnSpPr>
            <p:cNvPr id="361" name="Google Shape;361;p17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2" name="Google Shape;362;p17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" name="Google Shape;363;p17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17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5" name="Google Shape;365;p17"/>
            <p:cNvSpPr/>
            <p:nvPr/>
          </p:nvSpPr>
          <p:spPr>
            <a:xfrm>
              <a:off x="1662129" y="8978880"/>
              <a:ext cx="345791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44</a:t>
              </a:r>
              <a:endParaRPr/>
            </a:p>
          </p:txBody>
        </p:sp>
      </p:grpSp>
      <p:grpSp>
        <p:nvGrpSpPr>
          <p:cNvPr id="366" name="Google Shape;366;p17"/>
          <p:cNvGrpSpPr/>
          <p:nvPr/>
        </p:nvGrpSpPr>
        <p:grpSpPr>
          <a:xfrm>
            <a:off x="951754" y="8896992"/>
            <a:ext cx="1301104" cy="476968"/>
            <a:chOff x="471841" y="8978880"/>
            <a:chExt cx="1492991" cy="476968"/>
          </a:xfrm>
        </p:grpSpPr>
        <p:sp>
          <p:nvSpPr>
            <p:cNvPr id="367" name="Google Shape;367;p17"/>
            <p:cNvSpPr/>
            <p:nvPr/>
          </p:nvSpPr>
          <p:spPr>
            <a:xfrm>
              <a:off x="471841" y="8983548"/>
              <a:ext cx="282002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368" name="Google Shape;368;p17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" name="Google Shape;369;p17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0" name="Google Shape;370;p17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" name="Google Shape;371;p17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2" name="Google Shape;372;p17"/>
            <p:cNvSpPr/>
            <p:nvPr/>
          </p:nvSpPr>
          <p:spPr>
            <a:xfrm>
              <a:off x="1683091" y="8978880"/>
              <a:ext cx="27017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4366234" y="8842992"/>
            <a:ext cx="1338423" cy="476968"/>
            <a:chOff x="472103" y="8978880"/>
            <a:chExt cx="1535814" cy="476968"/>
          </a:xfrm>
        </p:grpSpPr>
        <p:sp>
          <p:nvSpPr>
            <p:cNvPr id="374" name="Google Shape;374;p17"/>
            <p:cNvSpPr/>
            <p:nvPr/>
          </p:nvSpPr>
          <p:spPr>
            <a:xfrm>
              <a:off x="483665" y="8983548"/>
              <a:ext cx="270178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cxnSp>
          <p:nvCxnSpPr>
            <p:cNvPr id="375" name="Google Shape;375;p17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9" name="Google Shape;379;p17"/>
            <p:cNvSpPr/>
            <p:nvPr/>
          </p:nvSpPr>
          <p:spPr>
            <a:xfrm>
              <a:off x="1631947" y="8978880"/>
              <a:ext cx="375970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pic>
        <p:nvPicPr>
          <p:cNvPr id="380" name="Google Shape;380;p17"/>
          <p:cNvPicPr preferRelativeResize="0"/>
          <p:nvPr/>
        </p:nvPicPr>
        <p:blipFill rotWithShape="1">
          <a:blip r:embed="rId4">
            <a:alphaModFix/>
          </a:blip>
          <a:srcRect b="0" l="75681" r="0" t="25371"/>
          <a:stretch/>
        </p:blipFill>
        <p:spPr>
          <a:xfrm>
            <a:off x="4216051" y="4316626"/>
            <a:ext cx="1507107" cy="799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7"/>
          <p:cNvPicPr preferRelativeResize="0"/>
          <p:nvPr/>
        </p:nvPicPr>
        <p:blipFill rotWithShape="1">
          <a:blip r:embed="rId3">
            <a:alphaModFix/>
          </a:blip>
          <a:srcRect b="-5498" l="0" r="77156" t="31034"/>
          <a:stretch/>
        </p:blipFill>
        <p:spPr>
          <a:xfrm>
            <a:off x="994955" y="5337820"/>
            <a:ext cx="1383113" cy="7981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" name="Google Shape;382;p17"/>
          <p:cNvGrpSpPr/>
          <p:nvPr/>
        </p:nvGrpSpPr>
        <p:grpSpPr>
          <a:xfrm>
            <a:off x="1591429" y="1718582"/>
            <a:ext cx="1417470" cy="115672"/>
            <a:chOff x="1277321" y="6379072"/>
            <a:chExt cx="1417470" cy="115672"/>
          </a:xfrm>
        </p:grpSpPr>
        <p:cxnSp>
          <p:nvCxnSpPr>
            <p:cNvPr id="383" name="Google Shape;383;p17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86" name="Google Shape;386;p17"/>
          <p:cNvGrpSpPr/>
          <p:nvPr/>
        </p:nvGrpSpPr>
        <p:grpSpPr>
          <a:xfrm>
            <a:off x="3367881" y="1735987"/>
            <a:ext cx="1417470" cy="115672"/>
            <a:chOff x="1277321" y="6379072"/>
            <a:chExt cx="1417470" cy="115672"/>
          </a:xfrm>
        </p:grpSpPr>
        <p:cxnSp>
          <p:nvCxnSpPr>
            <p:cNvPr id="387" name="Google Shape;387;p17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90" name="Google Shape;390;p17"/>
          <p:cNvGrpSpPr/>
          <p:nvPr/>
        </p:nvGrpSpPr>
        <p:grpSpPr>
          <a:xfrm>
            <a:off x="5150916" y="1728602"/>
            <a:ext cx="1417470" cy="115672"/>
            <a:chOff x="1277321" y="6379072"/>
            <a:chExt cx="1417470" cy="115672"/>
          </a:xfrm>
        </p:grpSpPr>
        <p:cxnSp>
          <p:nvCxnSpPr>
            <p:cNvPr id="391" name="Google Shape;391;p17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" name="Google Shape;392;p17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" name="Google Shape;393;p17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4" name="Google Shape;394;p17"/>
          <p:cNvSpPr txBox="1"/>
          <p:nvPr/>
        </p:nvSpPr>
        <p:spPr>
          <a:xfrm>
            <a:off x="325772" y="5728791"/>
            <a:ext cx="569594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15                                                                               1  </a:t>
            </a: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4                                                                               39</a:t>
            </a:r>
            <a:endParaRPr/>
          </a:p>
        </p:txBody>
      </p:sp>
      <p:sp>
        <p:nvSpPr>
          <p:cNvPr id="395" name="Google Shape;395;p17"/>
          <p:cNvSpPr txBox="1"/>
          <p:nvPr/>
        </p:nvSpPr>
        <p:spPr>
          <a:xfrm>
            <a:off x="994955" y="5837315"/>
            <a:ext cx="63395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15                                                                             0                           1</a:t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>
            <a:off x="3017832" y="3091328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17"/>
          <p:cNvPicPr preferRelativeResize="0"/>
          <p:nvPr/>
        </p:nvPicPr>
        <p:blipFill rotWithShape="1">
          <a:blip r:embed="rId4">
            <a:alphaModFix/>
          </a:blip>
          <a:srcRect b="-733" l="53164" r="22817" t="31860"/>
          <a:stretch/>
        </p:blipFill>
        <p:spPr>
          <a:xfrm>
            <a:off x="953438" y="4388370"/>
            <a:ext cx="1488496" cy="738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7"/>
          <p:cNvPicPr preferRelativeResize="0"/>
          <p:nvPr/>
        </p:nvPicPr>
        <p:blipFill rotWithShape="1">
          <a:blip r:embed="rId4">
            <a:alphaModFix/>
          </a:blip>
          <a:srcRect b="30" l="28655" r="49295" t="22427"/>
          <a:stretch/>
        </p:blipFill>
        <p:spPr>
          <a:xfrm>
            <a:off x="4336904" y="3430551"/>
            <a:ext cx="1366452" cy="83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7"/>
          <p:cNvPicPr preferRelativeResize="0"/>
          <p:nvPr/>
        </p:nvPicPr>
        <p:blipFill rotWithShape="1">
          <a:blip r:embed="rId4">
            <a:alphaModFix/>
          </a:blip>
          <a:srcRect b="-4851" l="0" r="75974" t="25979"/>
          <a:stretch/>
        </p:blipFill>
        <p:spPr>
          <a:xfrm>
            <a:off x="942058" y="3457190"/>
            <a:ext cx="1488908" cy="84544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7"/>
          <p:cNvSpPr txBox="1"/>
          <p:nvPr/>
        </p:nvSpPr>
        <p:spPr>
          <a:xfrm>
            <a:off x="323348" y="3733937"/>
            <a:ext cx="569594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6                                                                                 12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2                                                                                  11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1231560" y="3061777"/>
            <a:ext cx="71723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Round each of the numbers below to the nearest integer using the number line:</a:t>
            </a:r>
            <a:endParaRPr/>
          </a:p>
        </p:txBody>
      </p:sp>
      <p:pic>
        <p:nvPicPr>
          <p:cNvPr id="402" name="Google Shape;402;p17"/>
          <p:cNvPicPr preferRelativeResize="0"/>
          <p:nvPr/>
        </p:nvPicPr>
        <p:blipFill rotWithShape="1">
          <a:blip r:embed="rId3">
            <a:alphaModFix/>
          </a:blip>
          <a:srcRect b="6992" l="51631" r="23784" t="30226"/>
          <a:stretch/>
        </p:blipFill>
        <p:spPr>
          <a:xfrm>
            <a:off x="930884" y="6492003"/>
            <a:ext cx="1488497" cy="672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7"/>
          <p:cNvPicPr preferRelativeResize="0"/>
          <p:nvPr/>
        </p:nvPicPr>
        <p:blipFill rotWithShape="1">
          <a:blip r:embed="rId3">
            <a:alphaModFix/>
          </a:blip>
          <a:srcRect b="0" l="78514" r="0" t="24154"/>
          <a:stretch/>
        </p:blipFill>
        <p:spPr>
          <a:xfrm>
            <a:off x="4319166" y="6443459"/>
            <a:ext cx="1300876" cy="81299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7"/>
          <p:cNvSpPr txBox="1"/>
          <p:nvPr/>
        </p:nvSpPr>
        <p:spPr>
          <a:xfrm>
            <a:off x="344864" y="7956413"/>
            <a:ext cx="569594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3                                                                               44  </a:t>
            </a:r>
            <a:b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3                                                                               10</a:t>
            </a:r>
            <a:endParaRPr/>
          </a:p>
        </p:txBody>
      </p:sp>
      <p:sp>
        <p:nvSpPr>
          <p:cNvPr id="405" name="Google Shape;405;p17"/>
          <p:cNvSpPr txBox="1"/>
          <p:nvPr/>
        </p:nvSpPr>
        <p:spPr>
          <a:xfrm>
            <a:off x="982688" y="6995419"/>
            <a:ext cx="78581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3                    4                                     38                  39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" name="Google Shape;411;p18"/>
          <p:cNvGraphicFramePr/>
          <p:nvPr/>
        </p:nvGraphicFramePr>
        <p:xfrm>
          <a:off x="142761" y="413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59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7.2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1.9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14.3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50.6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e) 27.8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f) 154.7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g) 29.1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h) 6.34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i) 38.15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j) 103.46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k) 8.909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l) 48.394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2" name="Google Shape;412;p18"/>
          <p:cNvGraphicFramePr/>
          <p:nvPr/>
        </p:nvGraphicFramePr>
        <p:xfrm>
          <a:off x="142761" y="53953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788775"/>
                <a:gridCol w="1445925"/>
                <a:gridCol w="1445925"/>
                <a:gridCol w="1445925"/>
                <a:gridCol w="1445925"/>
              </a:tblGrid>
              <a:tr h="33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the nearest 1000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the nearest 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the nearest 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the nearest integer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7942.5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8000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7900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7940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7942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1463.91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1500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1460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1464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5983.03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6000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6000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5980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5983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270.9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300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270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271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93.75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90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94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10094.9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10090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10095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p18"/>
          <p:cNvSpPr txBox="1"/>
          <p:nvPr>
            <p:ph idx="12" type="sldNum"/>
          </p:nvPr>
        </p:nvSpPr>
        <p:spPr>
          <a:xfrm>
            <a:off x="5232084" y="941659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14" name="Google Shape;414;p18"/>
          <p:cNvGraphicFramePr/>
          <p:nvPr/>
        </p:nvGraphicFramePr>
        <p:xfrm>
          <a:off x="142761" y="2810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1321800"/>
                <a:gridCol w="1750225"/>
                <a:gridCol w="1750225"/>
                <a:gridCol w="1750225"/>
              </a:tblGrid>
              <a:tr h="35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3952 to the nearest 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3952 to the nearest 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3952 to the nearest 1000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170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digit to the right of the tens column.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If it is 5 or above, round up. If it is below 5, keep it the same.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3950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10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 140.81 to the nearest integer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 0.373 to the nearest integer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 0.51 to the nearest integer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1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141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5" name="Google Shape;415;p18"/>
          <p:cNvSpPr txBox="1"/>
          <p:nvPr/>
        </p:nvSpPr>
        <p:spPr>
          <a:xfrm>
            <a:off x="1603458" y="253084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416" name="Google Shape;416;p18"/>
          <p:cNvSpPr txBox="1"/>
          <p:nvPr/>
        </p:nvSpPr>
        <p:spPr>
          <a:xfrm>
            <a:off x="5071833" y="252457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417" name="Google Shape;417;p18"/>
          <p:cNvSpPr txBox="1"/>
          <p:nvPr/>
        </p:nvSpPr>
        <p:spPr>
          <a:xfrm>
            <a:off x="3330531" y="253747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127520" y="5068452"/>
            <a:ext cx="1777479" cy="25798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142761" y="2254769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Round to a given accuracy without a number line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 txBox="1"/>
          <p:nvPr/>
        </p:nvSpPr>
        <p:spPr>
          <a:xfrm>
            <a:off x="707597" y="444684"/>
            <a:ext cx="585977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7                                      2                            14                       51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28                                   155                           3                        6     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38                                  103                            9                        48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 txBox="1"/>
          <p:nvPr/>
        </p:nvSpPr>
        <p:spPr>
          <a:xfrm>
            <a:off x="51321" y="164549"/>
            <a:ext cx="71723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9. Round each of the numbers below to the nearest integer:</a:t>
            </a:r>
            <a:endParaRPr/>
          </a:p>
        </p:txBody>
      </p:sp>
      <p:sp>
        <p:nvSpPr>
          <p:cNvPr id="422" name="Google Shape;422;p18"/>
          <p:cNvSpPr txBox="1"/>
          <p:nvPr/>
        </p:nvSpPr>
        <p:spPr>
          <a:xfrm>
            <a:off x="1904999" y="5102446"/>
            <a:ext cx="71170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Round each of the numbers below to the given accuracy:</a:t>
            </a:r>
            <a:endParaRPr/>
          </a:p>
        </p:txBody>
      </p:sp>
      <p:graphicFrame>
        <p:nvGraphicFramePr>
          <p:cNvPr id="423" name="Google Shape;423;p18"/>
          <p:cNvGraphicFramePr/>
          <p:nvPr/>
        </p:nvGraphicFramePr>
        <p:xfrm>
          <a:off x="142761" y="790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{A2E8A3DC-3B5F-489C-BB74-5E415AD04B98}</a:tableStyleId>
              </a:tblPr>
              <a:tblGrid>
                <a:gridCol w="1314500"/>
                <a:gridCol w="1314500"/>
                <a:gridCol w="1314500"/>
                <a:gridCol w="1314500"/>
                <a:gridCol w="1314500"/>
              </a:tblGrid>
              <a:tr h="84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384 (nearest 100)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942 (nearest 10)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47.5 (nearest integer)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7460.8 (nearest 1000)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 525.94 (nearest integer)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f) 95.06 (nearest 100)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g) 10053 (nearest 1000)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h) 55.6 (nearest 10)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i) 0.437 (nearest integer)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/>
                        <a:t>j) 87.45 (nearest 100)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4" name="Google Shape;424;p18"/>
          <p:cNvSpPr txBox="1"/>
          <p:nvPr/>
        </p:nvSpPr>
        <p:spPr>
          <a:xfrm>
            <a:off x="51321" y="7663934"/>
            <a:ext cx="6690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11. Round each number to the required degree of accuracy: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 txBox="1"/>
          <p:nvPr/>
        </p:nvSpPr>
        <p:spPr>
          <a:xfrm>
            <a:off x="647033" y="8294927"/>
            <a:ext cx="70104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400                   940                    48               7000              526</a:t>
            </a: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100                10000                  60                        0              100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