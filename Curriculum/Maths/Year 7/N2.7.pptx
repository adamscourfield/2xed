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6858000" cy="9144000"/>
  <p:embeddedFontLst>
    <p:embeddedFont>
      <p:font typeface="Google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11F63E-148B-42E4-9B80-232AFBA347D7}">
  <a:tblStyle styleId="{FE11F63E-148B-42E4-9B80-232AFBA347D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oogle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-italic.fntdata"/><Relationship Id="rId14" Type="http://schemas.openxmlformats.org/officeDocument/2006/relationships/font" Target="fonts/GoogleSans-bold.fntdata"/><Relationship Id="rId16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39740" y="63079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988300"/>
                <a:gridCol w="1748525"/>
                <a:gridCol w="1917825"/>
                <a:gridCol w="1917825"/>
              </a:tblGrid>
              <a:tr h="292125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use the column method to work out the subtraction problems: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"/>
                        <a:buFont typeface="Calibri"/>
                        <a:buNone/>
                      </a:pPr>
                      <a:r>
                        <a:t/>
                      </a:r>
                      <a:endParaRPr b="0" sz="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16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3.8 − 2.5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1.8 − 0.6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8.7 − 1.3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58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Write the numbers in columns, ensuring that they are lined up correctly (keep the decimals in line.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Starting from the right, complete subtraction.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415905" y="653918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68813" y="653918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253313" y="945594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6108" y="320544"/>
            <a:ext cx="6679742" cy="116181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N2.7 – Use Formal Methods for Subtraction of Decimals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06932" y="644510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38792" y="869733"/>
            <a:ext cx="50472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the column method for subtraction involving decimals.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the column method for subtraction involving decimals and exchanging.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380611" y="352015"/>
            <a:ext cx="4090736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understand how to subtract integers.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565954" y="366504"/>
            <a:ext cx="1105288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084226" y="653918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97145" y="6046456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Column subtraction with decimals, no exchanging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97145" y="2665119"/>
            <a:ext cx="6699219" cy="32459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3"/>
          <p:cNvCxnSpPr/>
          <p:nvPr/>
        </p:nvCxnSpPr>
        <p:spPr>
          <a:xfrm>
            <a:off x="103863" y="3762936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13"/>
          <p:cNvCxnSpPr>
            <a:stCxn id="101" idx="2"/>
          </p:cNvCxnSpPr>
          <p:nvPr/>
        </p:nvCxnSpPr>
        <p:spPr>
          <a:xfrm rot="10800000">
            <a:off x="3446755" y="2665085"/>
            <a:ext cx="0" cy="324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13"/>
          <p:cNvSpPr txBox="1"/>
          <p:nvPr/>
        </p:nvSpPr>
        <p:spPr>
          <a:xfrm>
            <a:off x="114900" y="2665118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638951" y="2632732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83930" y="3783346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655992" y="375619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08954" y="2903871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40C28"/>
                </a:solidFill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b="0" i="0" lang="en-GB" sz="1200">
                <a:solidFill>
                  <a:srgbClr val="040C28"/>
                </a:solidFill>
                <a:latin typeface="Google Sans"/>
                <a:ea typeface="Google Sans"/>
                <a:cs typeface="Google Sans"/>
                <a:sym typeface="Google Sans"/>
              </a:rPr>
              <a:t> mathematical operation in which the difference between two numbers or quantities is calculated</a:t>
            </a:r>
            <a:r>
              <a:rPr b="0" i="0" lang="en-GB" sz="12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.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511782" y="2817952"/>
            <a:ext cx="330233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involve positive or negative integers, fractions, decimals, percentages or algebraic terms.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Linked words include minus, difference.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2767471" y="3603660"/>
            <a:ext cx="126733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Subtraction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24687" y="4026450"/>
            <a:ext cx="3230335" cy="13663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79" l="0" r="0" t="-44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527758" y="3972092"/>
            <a:ext cx="328805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Words that aren’t linked to subtraction: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um: When you're asked to find the "sum" of numbers, you're being asked to add them, not subtract. For example, the sum of 8 and 6 is 14, which is not a subtraction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Compare: When comparing numbers to determine which is larger or smaller, you are not performing a subtraction. For example, comparing 10 and 5, you know that 10 is greater, but this doesn't involve a subtraction operation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86108" y="1527207"/>
            <a:ext cx="6679742" cy="107338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subtracting decimals, you follow the same steps as adding decimals: line up the decimal points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that digits with the same place value are aligned. You can also add zeros as placeholders to make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numbers the same length. Once lined up, subtract each column starting from the right, just as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would with whole numbers.</a:t>
            </a:r>
            <a:endParaRPr i="0" sz="1200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1592706" y="7193811"/>
            <a:ext cx="7259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3429000" y="7193812"/>
            <a:ext cx="7259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5377613" y="7193812"/>
            <a:ext cx="7259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14"/>
          <p:cNvGraphicFramePr/>
          <p:nvPr/>
        </p:nvGraphicFramePr>
        <p:xfrm>
          <a:off x="142761" y="3019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2190825"/>
                <a:gridCol w="2190825"/>
                <a:gridCol w="2190825"/>
              </a:tblGrid>
              <a:tr h="242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9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4.6 – 1.2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8.9 – 2.5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7.3 – 3.1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5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6.8 – 0.7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5.4 – 2.1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9.7 – 4.3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5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 4.56 – 2.34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 7.89 – 3.45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i) 6.78 – 1.32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5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123" name="Google Shape;123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0587" y="359604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24" name="Google Shape;124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03060" y="360693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25" name="Google Shape;125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25533" y="358684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26" name="Google Shape;126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9313" y="510224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27" name="Google Shape;127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03060" y="512401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28" name="Google Shape;128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25533" y="512401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29" name="Google Shape;129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9313" y="665440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0" name="Google Shape;130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03060" y="665201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1" name="Google Shape;131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16807" y="6620636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33" name="Google Shape;133;p14"/>
          <p:cNvGraphicFramePr/>
          <p:nvPr/>
        </p:nvGraphicFramePr>
        <p:xfrm>
          <a:off x="142761" y="68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1283275"/>
                <a:gridCol w="1763075"/>
                <a:gridCol w="1763075"/>
                <a:gridCol w="1763075"/>
              </a:tblGrid>
              <a:tr h="138575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use the column method to work out the subtraction problems: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13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b="0"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45.93 – 3.4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37.81 – 6.2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84.95 – 4.5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Write the numbers in columns, ensuring that they are lined up correctly (keep the decimals in line.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Starting from the right, complete subtraction.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34" name="Google Shape;134;p14"/>
          <p:cNvSpPr txBox="1"/>
          <p:nvPr/>
        </p:nvSpPr>
        <p:spPr>
          <a:xfrm>
            <a:off x="1650722" y="35578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082720" y="35234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3315328" y="35578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120989" y="2877591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258943" y="2823161"/>
            <a:ext cx="55108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For the following questions, use the column method to work out the subtraction problems:</a:t>
            </a:r>
            <a:endParaRPr/>
          </a:p>
        </p:txBody>
      </p:sp>
      <p:graphicFrame>
        <p:nvGraphicFramePr>
          <p:cNvPr id="139" name="Google Shape;139;p14"/>
          <p:cNvGraphicFramePr/>
          <p:nvPr/>
        </p:nvGraphicFramePr>
        <p:xfrm>
          <a:off x="147124" y="78674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2190825"/>
                <a:gridCol w="2190825"/>
                <a:gridCol w="2190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j) 9.45 – 6.21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k) 3.69 – 2.17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l) 8.53 – 4.41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140" name="Google Shape;140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9313" y="822155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1" name="Google Shape;141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03060" y="8219168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2" name="Google Shape;142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16807" y="8187789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1758533" y="102325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42.53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3523180" y="97737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31.61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5261344" y="96454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80.45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742681" y="382486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3.4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3032965" y="3824865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6.4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5361519" y="378200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4.2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761816" y="538410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6.1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3063354" y="538410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3.3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5299510" y="539596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5.4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658468" y="6913141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2.22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2980338" y="691314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4.44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5170175" y="691313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5.46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658468" y="8523225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3.24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2916414" y="854227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1.52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5133666" y="8584781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4.12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/>
          <p:nvPr>
            <p:ph idx="12" type="sldNum"/>
          </p:nvPr>
        </p:nvSpPr>
        <p:spPr>
          <a:xfrm>
            <a:off x="5314950" y="943562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64" name="Google Shape;164;p15"/>
          <p:cNvGraphicFramePr/>
          <p:nvPr/>
        </p:nvGraphicFramePr>
        <p:xfrm>
          <a:off x="99217" y="108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2190825"/>
                <a:gridCol w="2190825"/>
                <a:gridCol w="2190825"/>
              </a:tblGrid>
              <a:tr h="2882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3.67 – 2.1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8.53 – 4.1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6.32 – 1.2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9.45 – 6.2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4.238 – 1.21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7.892 – 1.2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 5.643 – 2.1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 7.932 – 1.21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i) 2.999 – 1.2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j) 7.565 – 0.44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k) 9.6897 – 7.23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l) 18.49723 – 4.35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165" name="Google Shape;165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12941" y="71628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66" name="Google Shape;166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82992" y="68895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67" name="Google Shape;167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96739" y="68045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68" name="Google Shape;168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316661" y="224535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69" name="Google Shape;169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70960" y="224535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70" name="Google Shape;170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96739" y="224535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71" name="Google Shape;171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12569" y="379133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72" name="Google Shape;172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26316" y="379983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73" name="Google Shape;173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96739" y="379133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74" name="Google Shape;174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12569" y="534581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75" name="Google Shape;175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26316" y="535276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76" name="Google Shape;176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96739" y="5345815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/>
          <p:nvPr/>
        </p:nvSpPr>
        <p:spPr>
          <a:xfrm>
            <a:off x="99217" y="6684716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Column subtraction with decimals, involving exchanging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15"/>
          <p:cNvGraphicFramePr/>
          <p:nvPr/>
        </p:nvGraphicFramePr>
        <p:xfrm>
          <a:off x="99218" y="69515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1947300"/>
                <a:gridCol w="1541725"/>
                <a:gridCol w="1541725"/>
                <a:gridCol w="1541725"/>
              </a:tblGrid>
              <a:tr h="139000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use the column method to work out the subtraction problems: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13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5.54 – 0.36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5.45 – 0.27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4.55 – 0.39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Write the numbers in columns, ensuring that they are lined up correctly.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ones column, complete subtraction.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3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Exchange where appropriate.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79" name="Google Shape;179;p15"/>
          <p:cNvSpPr txBox="1"/>
          <p:nvPr/>
        </p:nvSpPr>
        <p:spPr>
          <a:xfrm>
            <a:off x="2216809" y="725494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5168274" y="724406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3627321" y="725019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760624" y="106761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1.57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2926955" y="103004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4.43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5119855" y="106063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5.12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713208" y="261784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3.25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2787333" y="2592254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3.028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5119855" y="261585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6.692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559467" y="411652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3.543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2750702" y="411652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6.722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5111698" y="4135805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1.799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599856" y="569541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7.125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2674381" y="570236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2.4597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4683258" y="5700837"/>
            <a:ext cx="18388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14.14723</a:t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2381313" y="771640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5.18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3937040" y="773798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5.18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5492767" y="771382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4.16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 txBox="1"/>
          <p:nvPr>
            <p:ph idx="12" type="sldNum"/>
          </p:nvPr>
        </p:nvSpPr>
        <p:spPr>
          <a:xfrm>
            <a:off x="5280708" y="932367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03" name="Google Shape;203;p16"/>
          <p:cNvGraphicFramePr/>
          <p:nvPr/>
        </p:nvGraphicFramePr>
        <p:xfrm>
          <a:off x="142761" y="1400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1970700"/>
                <a:gridCol w="1533925"/>
                <a:gridCol w="1533925"/>
                <a:gridCol w="1533925"/>
              </a:tblGrid>
              <a:tr h="504000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use the column method to work out the subtraction problems: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5.54 – 0.036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5.45 – 0.027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4.55 – 0.039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Write the numbers in columns, ensuring that they are lined up correctly.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Starting from the ones column, complete subtraction.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3) Exchange where appropriate.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04" name="Google Shape;204;p16"/>
          <p:cNvSpPr txBox="1"/>
          <p:nvPr/>
        </p:nvSpPr>
        <p:spPr>
          <a:xfrm>
            <a:off x="2178625" y="39811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5192486" y="38842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3637075" y="38842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graphicFrame>
        <p:nvGraphicFramePr>
          <p:cNvPr id="207" name="Google Shape;207;p16"/>
          <p:cNvGraphicFramePr/>
          <p:nvPr/>
        </p:nvGraphicFramePr>
        <p:xfrm>
          <a:off x="142761" y="23847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2190825"/>
                <a:gridCol w="2190825"/>
                <a:gridCol w="2190825"/>
              </a:tblGrid>
              <a:tr h="216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16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4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3.56 – 0.35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3.56−0.36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3.56−0.37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3.56−0.47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3.56−0.57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3.56−0.057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 3.56−0.507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 3.56 – 0.35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i) 3.55−0.35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j) 3.54−0.35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k) 3.46−0.35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l) 3.36−0.35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208" name="Google Shape;208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8861" y="3241798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09" name="Google Shape;209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30946" y="3241797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0" name="Google Shape;210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73031" y="3241797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1" name="Google Shape;211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8861" y="477951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2" name="Google Shape;212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30946" y="477951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3" name="Google Shape;213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73031" y="477951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4" name="Google Shape;214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8861" y="635626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5" name="Google Shape;215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30946" y="6356268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6" name="Google Shape;216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73031" y="6356268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7" name="Google Shape;217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8861" y="793302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8" name="Google Shape;218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30946" y="793302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9" name="Google Shape;219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73031" y="7933025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6"/>
          <p:cNvSpPr/>
          <p:nvPr/>
        </p:nvSpPr>
        <p:spPr>
          <a:xfrm>
            <a:off x="142761" y="2508784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1280715" y="2458144"/>
            <a:ext cx="59513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For the following questions, use the column method to work out the subtraction problems: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2357896" y="91374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5.504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3812235" y="89536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5.423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5441879" y="92632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4.511</a:t>
            </a:r>
            <a:endParaRPr/>
          </a:p>
        </p:txBody>
      </p:sp>
      <p:pic>
        <p:nvPicPr>
          <p:cNvPr descr="A screenshot of a computer&#10;&#10;Description automatically generated" id="225" name="Google Shape;225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335390" y="793586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26" name="Google Shape;226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77475" y="793586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27" name="Google Shape;227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819560" y="7935863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6"/>
          <p:cNvSpPr txBox="1"/>
          <p:nvPr/>
        </p:nvSpPr>
        <p:spPr>
          <a:xfrm>
            <a:off x="751284" y="3549731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3.21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3069980" y="354973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3.20</a:t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5351848" y="3576274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3.19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751284" y="512868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3.09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3082623" y="5128681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2.99</a:t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5242566" y="516796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3.503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729890" y="671201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3.053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3082623" y="671200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3.21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5351848" y="674472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3.20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751284" y="824095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3.19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3069980" y="826879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3.11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5362481" y="826879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Google Shape;245;p17"/>
          <p:cNvGraphicFramePr/>
          <p:nvPr/>
        </p:nvGraphicFramePr>
        <p:xfrm>
          <a:off x="151341" y="7038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3286250"/>
                <a:gridCol w="3286250"/>
              </a:tblGrid>
              <a:tr h="2840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906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 For the following questions, find the missing numbers.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46" name="Google Shape;2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852" y="7647129"/>
            <a:ext cx="2619741" cy="48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1842" y="7625435"/>
            <a:ext cx="2619741" cy="5057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48" name="Google Shape;248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344966" y="821552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49" name="Google Shape;249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1552131" y="821523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50" name="Google Shape;250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3576675" y="823047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51" name="Google Shape;251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4786848" y="8234575"/>
            <a:ext cx="1838834" cy="118677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7"/>
          <p:cNvSpPr/>
          <p:nvPr/>
        </p:nvSpPr>
        <p:spPr>
          <a:xfrm>
            <a:off x="233295" y="5909497"/>
            <a:ext cx="6579477" cy="34045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" name="Google Shape;253;p17"/>
          <p:cNvGraphicFramePr/>
          <p:nvPr/>
        </p:nvGraphicFramePr>
        <p:xfrm>
          <a:off x="142761" y="5903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6564250"/>
              </a:tblGrid>
              <a:tr h="24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 The sides on the following triangle sum to 16.1 cm. Work out the length of the missing side.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54" name="Google Shape;2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9488" y="6460958"/>
            <a:ext cx="914535" cy="71075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5" name="Google Shape;255;p17"/>
          <p:cNvGraphicFramePr/>
          <p:nvPr/>
        </p:nvGraphicFramePr>
        <p:xfrm>
          <a:off x="142761" y="1493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2190825"/>
                <a:gridCol w="2190825"/>
                <a:gridCol w="2190825"/>
              </a:tblGrid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m) 0.366−0.35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n) 0.666−0.35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o) 3.56 – 0.35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6" name="Google Shape;256;p17"/>
          <p:cNvSpPr txBox="1"/>
          <p:nvPr>
            <p:ph idx="12" type="sldNum"/>
          </p:nvPr>
        </p:nvSpPr>
        <p:spPr>
          <a:xfrm>
            <a:off x="5260678" y="947255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screenshot of a computer&#10;&#10;Description automatically generated" id="257" name="Google Shape;257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239013" y="44486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58" name="Google Shape;258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2481098" y="44486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59" name="Google Shape;259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4723183" y="444865"/>
            <a:ext cx="1838834" cy="11949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0" name="Google Shape;260;p17"/>
          <p:cNvGraphicFramePr/>
          <p:nvPr/>
        </p:nvGraphicFramePr>
        <p:xfrm>
          <a:off x="142761" y="17190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2190825"/>
                <a:gridCol w="2190825"/>
                <a:gridCol w="2190825"/>
              </a:tblGrid>
              <a:tr h="288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p) 3.56−0.30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q) 3.57−0.31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r) 3.55−0.29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s) 4.15−0.89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t) 8.3−1.78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u) 0.83−0.178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83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4. Jennifer has 1.2kg of flour. She uses 0.75kg of the flour to bake a cake. How much flour is left?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828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descr="A screenshot of a computer&#10;&#10;Description automatically generated" id="261" name="Google Shape;261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217721" y="204181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62" name="Google Shape;262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2459806" y="204181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63" name="Google Shape;263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4701891" y="204181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64" name="Google Shape;264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261361" y="358301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65" name="Google Shape;265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2503446" y="358301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66" name="Google Shape;266;p17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4745531" y="3583014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7"/>
          <p:cNvSpPr txBox="1"/>
          <p:nvPr/>
        </p:nvSpPr>
        <p:spPr>
          <a:xfrm>
            <a:off x="722869" y="76446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0.016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2836529" y="76446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0.316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5283062" y="788051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3.21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473733" y="247701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3.26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2927598" y="247701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3.26</a:t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5112094" y="2404571"/>
            <a:ext cx="1898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3.26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695450" y="400573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3.26</a:t>
            </a:r>
            <a:endParaRPr/>
          </a:p>
        </p:txBody>
      </p:sp>
      <p:sp>
        <p:nvSpPr>
          <p:cNvPr id="274" name="Google Shape;274;p17"/>
          <p:cNvSpPr txBox="1"/>
          <p:nvPr/>
        </p:nvSpPr>
        <p:spPr>
          <a:xfrm>
            <a:off x="2877769" y="404607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6.52</a:t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4860281" y="407070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0.652</a:t>
            </a:r>
            <a:endParaRPr/>
          </a:p>
        </p:txBody>
      </p:sp>
      <p:sp>
        <p:nvSpPr>
          <p:cNvPr id="276" name="Google Shape;276;p17"/>
          <p:cNvSpPr txBox="1"/>
          <p:nvPr/>
        </p:nvSpPr>
        <p:spPr>
          <a:xfrm>
            <a:off x="2895124" y="5318425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0.45kg</a:t>
            </a:r>
            <a:endParaRPr/>
          </a:p>
        </p:txBody>
      </p:sp>
      <p:sp>
        <p:nvSpPr>
          <p:cNvPr id="277" name="Google Shape;277;p17"/>
          <p:cNvSpPr txBox="1"/>
          <p:nvPr/>
        </p:nvSpPr>
        <p:spPr>
          <a:xfrm>
            <a:off x="3962916" y="660561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4.7cm</a:t>
            </a:r>
            <a:endParaRPr/>
          </a:p>
        </p:txBody>
      </p:sp>
      <p:sp>
        <p:nvSpPr>
          <p:cNvPr id="278" name="Google Shape;278;p17"/>
          <p:cNvSpPr txBox="1"/>
          <p:nvPr/>
        </p:nvSpPr>
        <p:spPr>
          <a:xfrm>
            <a:off x="1044163" y="859205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16.59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4348273" y="861737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15.38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5" name="Google Shape;285;p18"/>
          <p:cNvGraphicFramePr/>
          <p:nvPr/>
        </p:nvGraphicFramePr>
        <p:xfrm>
          <a:off x="142761" y="9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6572475"/>
              </a:tblGrid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4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7. Angus is working out 7.23 − 1.91 . Can you spot any mistakes?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6" name="Google Shape;286;p18"/>
          <p:cNvSpPr txBox="1"/>
          <p:nvPr/>
        </p:nvSpPr>
        <p:spPr>
          <a:xfrm>
            <a:off x="5254843" y="946889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749" y="425811"/>
            <a:ext cx="1686221" cy="11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8"/>
          <p:cNvSpPr/>
          <p:nvPr/>
        </p:nvSpPr>
        <p:spPr>
          <a:xfrm>
            <a:off x="131875" y="1736023"/>
            <a:ext cx="2535125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complement of a decimal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9" name="Google Shape;289;p18"/>
          <p:cNvGraphicFramePr/>
          <p:nvPr/>
        </p:nvGraphicFramePr>
        <p:xfrm>
          <a:off x="131875" y="19713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1724875"/>
                <a:gridCol w="1615875"/>
                <a:gridCol w="1615875"/>
                <a:gridCol w="1615875"/>
              </a:tblGrid>
              <a:tr h="154250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work out the subtraction problems: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14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– 0.32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1 – 0.57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1 – 0.47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6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Write the numbers in columns, ensuring that they are lined up correctly.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right column, complete subtraction.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57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Exchange where appropriate.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90" name="Google Shape;290;p18"/>
          <p:cNvSpPr txBox="1"/>
          <p:nvPr/>
        </p:nvSpPr>
        <p:spPr>
          <a:xfrm>
            <a:off x="1975146" y="217502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5052047" y="218423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3470380" y="218423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– We do…</a:t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122974" y="4682197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294" name="Google Shape;294;p18"/>
          <p:cNvGraphicFramePr/>
          <p:nvPr/>
        </p:nvGraphicFramePr>
        <p:xfrm>
          <a:off x="122974" y="50661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{FE11F63E-148B-42E4-9B80-232AFBA347D7}</a:tableStyleId>
              </a:tblPr>
              <a:tblGrid>
                <a:gridCol w="2190825"/>
                <a:gridCol w="2190825"/>
                <a:gridCol w="2190825"/>
              </a:tblGrid>
              <a:tr h="25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1 – 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1 – 0.3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1 – 0.7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1 – 0.25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1 – 0.43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1 – 0.78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 1 – 0.123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 1 – 0.345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i) 1 – 0.678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295" name="Google Shape;295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74307" y="5363277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6" name="Google Shape;296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489058" y="534783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7" name="Google Shape;297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731143" y="534783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8" name="Google Shape;298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46973" y="690782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9" name="Google Shape;299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489058" y="690782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00" name="Google Shape;300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731143" y="690782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01" name="Google Shape;301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46973" y="845053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02" name="Google Shape;302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489058" y="844756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03" name="Google Shape;303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731143" y="8458186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8"/>
          <p:cNvSpPr txBox="1"/>
          <p:nvPr/>
        </p:nvSpPr>
        <p:spPr>
          <a:xfrm>
            <a:off x="1234336" y="4797494"/>
            <a:ext cx="6388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2168769" y="531695"/>
            <a:ext cx="46216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tenths column, Angus subtracted 2 from 9, rather than exchanging to make twelve tenths and subtracting 9 from that. </a:t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2168769" y="2720391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0.68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3871811" y="266918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0.43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5524314" y="2671264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0.53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680512" y="570699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3063633" y="564282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5323704" y="564282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716599" y="727268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3030946" y="721603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0.57</a:t>
            </a: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5247488" y="727268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0.22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543507" y="8757335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0.877</a:t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2767539" y="875145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0.655</a:t>
            </a:r>
            <a:endParaRPr/>
          </a:p>
        </p:txBody>
      </p:sp>
      <p:sp>
        <p:nvSpPr>
          <p:cNvPr id="317" name="Google Shape;317;p18"/>
          <p:cNvSpPr txBox="1"/>
          <p:nvPr/>
        </p:nvSpPr>
        <p:spPr>
          <a:xfrm>
            <a:off x="5135382" y="875145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0.322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19"/>
          <p:cNvGrpSpPr/>
          <p:nvPr/>
        </p:nvGrpSpPr>
        <p:grpSpPr>
          <a:xfrm>
            <a:off x="0" y="5102740"/>
            <a:ext cx="6762406" cy="4557736"/>
            <a:chOff x="0" y="5102740"/>
            <a:chExt cx="6762406" cy="4557736"/>
          </a:xfrm>
        </p:grpSpPr>
        <p:grpSp>
          <p:nvGrpSpPr>
            <p:cNvPr id="324" name="Google Shape;324;p19"/>
            <p:cNvGrpSpPr/>
            <p:nvPr/>
          </p:nvGrpSpPr>
          <p:grpSpPr>
            <a:xfrm>
              <a:off x="154306" y="5278976"/>
              <a:ext cx="6539864" cy="4381500"/>
              <a:chOff x="159068" y="5311167"/>
              <a:chExt cx="6539864" cy="4381500"/>
            </a:xfrm>
          </p:grpSpPr>
          <p:pic>
            <p:nvPicPr>
              <p:cNvPr id="325" name="Google Shape;325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9068" y="5311167"/>
                <a:ext cx="5514975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6" name="Google Shape;326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69735" r="3662" t="0"/>
              <a:stretch/>
            </p:blipFill>
            <p:spPr>
              <a:xfrm>
                <a:off x="5231750" y="5311167"/>
                <a:ext cx="1467182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7" name="Google Shape;327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6619" r="0" t="0"/>
              <a:stretch/>
            </p:blipFill>
            <p:spPr>
              <a:xfrm>
                <a:off x="936852" y="5311167"/>
                <a:ext cx="5149954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28" name="Google Shape;328;p19"/>
            <p:cNvSpPr/>
            <p:nvPr/>
          </p:nvSpPr>
          <p:spPr>
            <a:xfrm>
              <a:off x="0" y="5102740"/>
              <a:ext cx="6762406" cy="182319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19"/>
          <p:cNvSpPr txBox="1"/>
          <p:nvPr>
            <p:ph idx="12" type="sldNum"/>
          </p:nvPr>
        </p:nvSpPr>
        <p:spPr>
          <a:xfrm>
            <a:off x="5281613" y="952297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30" name="Google Shape;330;p19"/>
          <p:cNvPicPr preferRelativeResize="0"/>
          <p:nvPr/>
        </p:nvPicPr>
        <p:blipFill rotWithShape="1">
          <a:blip r:embed="rId4">
            <a:alphaModFix/>
          </a:blip>
          <a:srcRect b="16535" l="25124" r="2948" t="18870"/>
          <a:stretch/>
        </p:blipFill>
        <p:spPr>
          <a:xfrm>
            <a:off x="385549" y="408737"/>
            <a:ext cx="1859280" cy="95673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9"/>
          <p:cNvSpPr txBox="1"/>
          <p:nvPr/>
        </p:nvSpPr>
        <p:spPr>
          <a:xfrm>
            <a:off x="142761" y="204675"/>
            <a:ext cx="6572478" cy="120032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Two identical squares and a rectangle are drawn below. Find the length of the rectangle.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 txBox="1"/>
          <p:nvPr/>
        </p:nvSpPr>
        <p:spPr>
          <a:xfrm>
            <a:off x="145239" y="1564609"/>
            <a:ext cx="6570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151325" y="1890423"/>
            <a:ext cx="6543302" cy="48857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651496" y="5932995"/>
            <a:ext cx="1975236" cy="2151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9"/>
          <p:cNvPicPr preferRelativeResize="0"/>
          <p:nvPr/>
        </p:nvPicPr>
        <p:blipFill rotWithShape="1">
          <a:blip r:embed="rId5">
            <a:alphaModFix/>
          </a:blip>
          <a:srcRect b="0" l="0" r="0" t="2967"/>
          <a:stretch/>
        </p:blipFill>
        <p:spPr>
          <a:xfrm>
            <a:off x="1087958" y="1906465"/>
            <a:ext cx="4577722" cy="28242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6" name="Google Shape;336;p19"/>
          <p:cNvCxnSpPr/>
          <p:nvPr/>
        </p:nvCxnSpPr>
        <p:spPr>
          <a:xfrm>
            <a:off x="151325" y="4730723"/>
            <a:ext cx="654110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37" name="Google Shape;33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3507" y="5727393"/>
            <a:ext cx="4549446" cy="71085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9"/>
          <p:cNvSpPr txBox="1"/>
          <p:nvPr/>
        </p:nvSpPr>
        <p:spPr>
          <a:xfrm>
            <a:off x="2734134" y="4852236"/>
            <a:ext cx="22753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1 – 0.56</a:t>
            </a:r>
            <a:endParaRPr/>
          </a:p>
        </p:txBody>
      </p:sp>
      <p:sp>
        <p:nvSpPr>
          <p:cNvPr id="339" name="Google Shape;339;p19"/>
          <p:cNvSpPr txBox="1"/>
          <p:nvPr/>
        </p:nvSpPr>
        <p:spPr>
          <a:xfrm>
            <a:off x="1342363" y="6337480"/>
            <a:ext cx="22753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1.56</a:t>
            </a:r>
            <a:endParaRPr/>
          </a:p>
        </p:txBody>
      </p:sp>
      <p:sp>
        <p:nvSpPr>
          <p:cNvPr id="340" name="Google Shape;340;p19"/>
          <p:cNvSpPr txBox="1"/>
          <p:nvPr/>
        </p:nvSpPr>
        <p:spPr>
          <a:xfrm>
            <a:off x="2650168" y="6362695"/>
            <a:ext cx="22753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5095656" y="6341429"/>
            <a:ext cx="22753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0.44</a:t>
            </a:r>
            <a:endParaRPr/>
          </a:p>
        </p:txBody>
      </p:sp>
      <p:sp>
        <p:nvSpPr>
          <p:cNvPr id="342" name="Google Shape;342;p19"/>
          <p:cNvSpPr txBox="1"/>
          <p:nvPr/>
        </p:nvSpPr>
        <p:spPr>
          <a:xfrm>
            <a:off x="3841206" y="6356091"/>
            <a:ext cx="22753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0.54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>
            <a:off x="3637263" y="562195"/>
            <a:ext cx="16855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10.6cm</a:t>
            </a:r>
            <a:endParaRPr/>
          </a:p>
        </p:txBody>
      </p:sp>
      <p:sp>
        <p:nvSpPr>
          <p:cNvPr id="344" name="Google Shape;344;p19"/>
          <p:cNvSpPr/>
          <p:nvPr/>
        </p:nvSpPr>
        <p:spPr>
          <a:xfrm>
            <a:off x="3455107" y="3538687"/>
            <a:ext cx="1223211" cy="128015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4652451" y="5633186"/>
            <a:ext cx="1223211" cy="128015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