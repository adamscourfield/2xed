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DAE5B5-D852-48E7-99B0-D29FA4E4346D}">
  <a:tblStyle styleId="{89DAE5B5-D852-48E7-99B0-D29FA4E4346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6: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8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8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8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8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85: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9" name="Google Shape;39;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7"/>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7"/>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nvSpPr>
        <p:spPr>
          <a:xfrm>
            <a:off x="166836" y="883686"/>
            <a:ext cx="4667990"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understand the symbols =, ≠, &lt;, &gt;, ≤, ≥ </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use these symbols to compare negatives</a:t>
            </a:r>
            <a:endParaRPr/>
          </a:p>
        </p:txBody>
      </p:sp>
      <p:sp>
        <p:nvSpPr>
          <p:cNvPr id="90" name="Google Shape;90;p13"/>
          <p:cNvSpPr/>
          <p:nvPr/>
        </p:nvSpPr>
        <p:spPr>
          <a:xfrm>
            <a:off x="90644" y="5108572"/>
            <a:ext cx="6014442" cy="307492"/>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and ‘Less than’ symbols to compare negative integers</a:t>
            </a:r>
            <a:endParaRPr/>
          </a:p>
        </p:txBody>
      </p:sp>
      <p:graphicFrame>
        <p:nvGraphicFramePr>
          <p:cNvPr id="91" name="Google Shape;91;p13"/>
          <p:cNvGraphicFramePr/>
          <p:nvPr/>
        </p:nvGraphicFramePr>
        <p:xfrm>
          <a:off x="101756" y="5487037"/>
          <a:ext cx="3000000" cy="3000000"/>
        </p:xfrm>
        <a:graphic>
          <a:graphicData uri="http://schemas.openxmlformats.org/drawingml/2006/table">
            <a:tbl>
              <a:tblPr bandRow="1" firstRow="1">
                <a:noFill/>
                <a:tableStyleId>{89DAE5B5-D852-48E7-99B0-D29FA4E4346D}</a:tableStyleId>
              </a:tblPr>
              <a:tblGrid>
                <a:gridCol w="1955725"/>
                <a:gridCol w="1569450"/>
                <a:gridCol w="1569450"/>
                <a:gridCol w="1569450"/>
              </a:tblGrid>
              <a:tr h="18615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1 - I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2 – We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3 – You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752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-4 is greater than -7.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-4 &gt; -7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-83 is greater than -85.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-83 &lt; -85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-739 is greater than -746.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-739 &lt; -746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9487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Look at the largest side of the symbol. This should be next to the largest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2" name="Google Shape;92;p13"/>
          <p:cNvSpPr/>
          <p:nvPr/>
        </p:nvSpPr>
        <p:spPr>
          <a:xfrm>
            <a:off x="86108" y="320544"/>
            <a:ext cx="6679742" cy="141300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3" name="Google Shape;93;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N1.14 – Compare negatives using  =, ≠, &lt;, &gt;, ≤, ≥</a:t>
            </a:r>
            <a:endParaRPr/>
          </a:p>
        </p:txBody>
      </p:sp>
      <p:sp>
        <p:nvSpPr>
          <p:cNvPr id="94" name="Google Shape;94;p13"/>
          <p:cNvSpPr txBox="1"/>
          <p:nvPr/>
        </p:nvSpPr>
        <p:spPr>
          <a:xfrm>
            <a:off x="136949" y="651826"/>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5" name="Google Shape;95;p13"/>
          <p:cNvSpPr txBox="1"/>
          <p:nvPr/>
        </p:nvSpPr>
        <p:spPr>
          <a:xfrm>
            <a:off x="204768" y="362865"/>
            <a:ext cx="6402861"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compare integers using =, ≠, &lt;, &gt;, ≤, ≥ </a:t>
            </a:r>
            <a:endParaRPr/>
          </a:p>
        </p:txBody>
      </p:sp>
      <p:sp>
        <p:nvSpPr>
          <p:cNvPr id="96" name="Google Shape;96;p13"/>
          <p:cNvSpPr txBox="1"/>
          <p:nvPr/>
        </p:nvSpPr>
        <p:spPr>
          <a:xfrm>
            <a:off x="5451863" y="668491"/>
            <a:ext cx="1155766" cy="1015663"/>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Negatives</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Greater than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Less than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Inequality</a:t>
            </a:r>
            <a:endParaRPr/>
          </a:p>
        </p:txBody>
      </p:sp>
      <p:grpSp>
        <p:nvGrpSpPr>
          <p:cNvPr id="97" name="Google Shape;97;p13"/>
          <p:cNvGrpSpPr/>
          <p:nvPr/>
        </p:nvGrpSpPr>
        <p:grpSpPr>
          <a:xfrm>
            <a:off x="60164" y="2769103"/>
            <a:ext cx="6807419" cy="2269622"/>
            <a:chOff x="50581" y="1910511"/>
            <a:chExt cx="6807419" cy="2126169"/>
          </a:xfrm>
        </p:grpSpPr>
        <p:cxnSp>
          <p:nvCxnSpPr>
            <p:cNvPr id="98" name="Google Shape;98;p13"/>
            <p:cNvCxnSpPr/>
            <p:nvPr/>
          </p:nvCxnSpPr>
          <p:spPr>
            <a:xfrm flipH="1" rot="10800000">
              <a:off x="931051" y="3894707"/>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99" name="Google Shape;99;p13"/>
            <p:cNvSpPr/>
            <p:nvPr/>
          </p:nvSpPr>
          <p:spPr>
            <a:xfrm>
              <a:off x="76370" y="1964111"/>
              <a:ext cx="6699219" cy="2072569"/>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100" name="Google Shape;100;p13"/>
            <p:cNvCxnSpPr/>
            <p:nvPr/>
          </p:nvCxnSpPr>
          <p:spPr>
            <a:xfrm>
              <a:off x="76370" y="3134598"/>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13"/>
            <p:cNvCxnSpPr>
              <a:stCxn id="99" idx="2"/>
              <a:endCxn id="99" idx="0"/>
            </p:cNvCxnSpPr>
            <p:nvPr/>
          </p:nvCxnSpPr>
          <p:spPr>
            <a:xfrm rot="10800000">
              <a:off x="3425980" y="1963980"/>
              <a:ext cx="0" cy="2072700"/>
            </a:xfrm>
            <a:prstGeom prst="straightConnector1">
              <a:avLst/>
            </a:prstGeom>
            <a:noFill/>
            <a:ln cap="flat" cmpd="sng" w="9525">
              <a:solidFill>
                <a:schemeClr val="dk1"/>
              </a:solidFill>
              <a:prstDash val="solid"/>
              <a:miter lim="800000"/>
              <a:headEnd len="sm" w="sm" type="none"/>
              <a:tailEnd len="sm" w="sm" type="none"/>
            </a:ln>
          </p:spPr>
        </p:cxnSp>
        <p:sp>
          <p:nvSpPr>
            <p:cNvPr id="102" name="Google Shape;102;p13"/>
            <p:cNvSpPr txBox="1"/>
            <p:nvPr/>
          </p:nvSpPr>
          <p:spPr>
            <a:xfrm>
              <a:off x="50581" y="1931453"/>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3" name="Google Shape;103;p13"/>
            <p:cNvSpPr txBox="1"/>
            <p:nvPr/>
          </p:nvSpPr>
          <p:spPr>
            <a:xfrm>
              <a:off x="5745772" y="1910511"/>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4" name="Google Shape;104;p13"/>
            <p:cNvSpPr txBox="1"/>
            <p:nvPr/>
          </p:nvSpPr>
          <p:spPr>
            <a:xfrm>
              <a:off x="52843" y="3110540"/>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5" name="Google Shape;105;p13"/>
            <p:cNvSpPr txBox="1"/>
            <p:nvPr/>
          </p:nvSpPr>
          <p:spPr>
            <a:xfrm>
              <a:off x="5685115" y="3101940"/>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6" name="Google Shape;106;p13"/>
            <p:cNvSpPr txBox="1"/>
            <p:nvPr/>
          </p:nvSpPr>
          <p:spPr>
            <a:xfrm>
              <a:off x="2599153" y="2901200"/>
              <a:ext cx="1650132" cy="338554"/>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Negative Number</a:t>
              </a:r>
              <a:endParaRPr sz="1600">
                <a:solidFill>
                  <a:schemeClr val="dk1"/>
                </a:solidFill>
                <a:latin typeface="Calibri"/>
                <a:ea typeface="Calibri"/>
                <a:cs typeface="Calibri"/>
                <a:sym typeface="Calibri"/>
              </a:endParaRPr>
            </a:p>
          </p:txBody>
        </p:sp>
      </p:grpSp>
      <p:sp>
        <p:nvSpPr>
          <p:cNvPr id="107" name="Google Shape;107;p13"/>
          <p:cNvSpPr/>
          <p:nvPr/>
        </p:nvSpPr>
        <p:spPr>
          <a:xfrm>
            <a:off x="91213" y="1794817"/>
            <a:ext cx="6679742" cy="976404"/>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200" u="sng">
                <a:solidFill>
                  <a:srgbClr val="000000"/>
                </a:solidFill>
                <a:latin typeface="Calibri"/>
                <a:ea typeface="Calibri"/>
                <a:cs typeface="Calibri"/>
                <a:sym typeface="Calibri"/>
              </a:rPr>
              <a:t>Introduction – Read and annotate: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Comparing negative numbers using inequality symbols builds on your understanding of place value,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number lines, and the symmetry around zero. It helps us see that, unlike positive numbers, the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further a negative number is from zero, the smaller its value.</a:t>
            </a:r>
            <a:endParaRPr sz="1200">
              <a:solidFill>
                <a:srgbClr val="000000"/>
              </a:solidFill>
              <a:latin typeface="Calibri"/>
              <a:ea typeface="Calibri"/>
              <a:cs typeface="Calibri"/>
              <a:sym typeface="Calibri"/>
            </a:endParaRPr>
          </a:p>
        </p:txBody>
      </p:sp>
      <p:graphicFrame>
        <p:nvGraphicFramePr>
          <p:cNvPr id="108" name="Google Shape;108;p13"/>
          <p:cNvGraphicFramePr/>
          <p:nvPr/>
        </p:nvGraphicFramePr>
        <p:xfrm>
          <a:off x="98653" y="7474659"/>
          <a:ext cx="3000000" cy="3000000"/>
        </p:xfrm>
        <a:graphic>
          <a:graphicData uri="http://schemas.openxmlformats.org/drawingml/2006/table">
            <a:tbl>
              <a:tblPr bandRow="1" firstRow="1">
                <a:noFill/>
                <a:tableStyleId>{89DAE5B5-D852-48E7-99B0-D29FA4E4346D}</a:tableStyleId>
              </a:tblPr>
              <a:tblGrid>
                <a:gridCol w="1955725"/>
                <a:gridCol w="1569450"/>
                <a:gridCol w="1569450"/>
                <a:gridCol w="1569450"/>
              </a:tblGrid>
              <a:tr h="18615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4 - I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5 – We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6 – You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752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-298 is less than -273.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-273 &lt; -298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-4813 is less than -4586.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-4813 &gt; -4586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-5076 is less than -5016.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-5076 &lt; -5016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9487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Look at the smallest side of the symbol. This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09" name="Google Shape;109;p13"/>
          <p:cNvSpPr txBox="1"/>
          <p:nvPr/>
        </p:nvSpPr>
        <p:spPr>
          <a:xfrm>
            <a:off x="68683" y="2969141"/>
            <a:ext cx="3230335"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100">
                <a:solidFill>
                  <a:schemeClr val="dk1"/>
                </a:solidFill>
                <a:latin typeface="Calibri"/>
                <a:ea typeface="Calibri"/>
                <a:cs typeface="Calibri"/>
                <a:sym typeface="Calibri"/>
              </a:rPr>
              <a:t>Negative numbers are numbers that represent values that are less than zero. They show things like temperatures below zero, debts and losses.</a:t>
            </a:r>
            <a:endParaRPr sz="1100">
              <a:solidFill>
                <a:schemeClr val="dk1"/>
              </a:solidFill>
              <a:latin typeface="Calibri"/>
              <a:ea typeface="Calibri"/>
              <a:cs typeface="Calibri"/>
              <a:sym typeface="Calibri"/>
            </a:endParaRPr>
          </a:p>
        </p:txBody>
      </p:sp>
      <p:sp>
        <p:nvSpPr>
          <p:cNvPr id="110" name="Google Shape;110;p13"/>
          <p:cNvSpPr txBox="1"/>
          <p:nvPr/>
        </p:nvSpPr>
        <p:spPr>
          <a:xfrm>
            <a:off x="3461353" y="4273280"/>
            <a:ext cx="323033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100"/>
              <a:buFont typeface="Arial"/>
              <a:buChar char="•"/>
            </a:pPr>
            <a:r>
              <a:rPr lang="en-GB" sz="1100">
                <a:solidFill>
                  <a:schemeClr val="dk1"/>
                </a:solidFill>
                <a:latin typeface="Calibri"/>
                <a:ea typeface="Calibri"/>
                <a:cs typeface="Calibri"/>
                <a:sym typeface="Calibri"/>
              </a:rPr>
              <a:t>Positive Numbers: Positive numbers are greater than zero and are not negative.</a:t>
            </a:r>
            <a:endParaRPr/>
          </a:p>
          <a:p>
            <a:pPr indent="-171450" lvl="0" marL="171450" marR="0" rtl="0" algn="l">
              <a:spcBef>
                <a:spcPts val="0"/>
              </a:spcBef>
              <a:spcAft>
                <a:spcPts val="0"/>
              </a:spcAft>
              <a:buClr>
                <a:schemeClr val="dk1"/>
              </a:buClr>
              <a:buSzPts val="1100"/>
              <a:buFont typeface="Arial"/>
              <a:buChar char="•"/>
            </a:pPr>
            <a:r>
              <a:rPr lang="en-GB" sz="1100">
                <a:solidFill>
                  <a:schemeClr val="dk1"/>
                </a:solidFill>
                <a:latin typeface="Calibri"/>
                <a:ea typeface="Calibri"/>
                <a:cs typeface="Calibri"/>
                <a:sym typeface="Calibri"/>
              </a:rPr>
              <a:t>Zero: Zero is not positive or negative.</a:t>
            </a:r>
            <a:endParaRPr/>
          </a:p>
        </p:txBody>
      </p:sp>
      <p:sp>
        <p:nvSpPr>
          <p:cNvPr id="111" name="Google Shape;111;p13"/>
          <p:cNvSpPr txBox="1"/>
          <p:nvPr/>
        </p:nvSpPr>
        <p:spPr>
          <a:xfrm>
            <a:off x="1532468" y="4220936"/>
            <a:ext cx="73152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5          0           2.5          </a:t>
            </a:r>
            <a:r>
              <a:rPr b="0" i="0" lang="en-GB" sz="1200" u="none" cap="none" strike="noStrike">
                <a:solidFill>
                  <a:srgbClr val="000000"/>
                </a:solidFill>
                <a:latin typeface="Arial"/>
                <a:ea typeface="Arial"/>
                <a:cs typeface="Arial"/>
                <a:sym typeface="Arial"/>
              </a:rPr>
              <a:t>⅔         </a:t>
            </a:r>
            <a:r>
              <a:rPr b="0" i="0" lang="en-GB" sz="1100" u="none" cap="none" strike="noStrike">
                <a:solidFill>
                  <a:srgbClr val="000000"/>
                </a:solidFill>
                <a:latin typeface="Arial"/>
                <a:ea typeface="Arial"/>
                <a:cs typeface="Arial"/>
                <a:sym typeface="Arial"/>
              </a:rPr>
              <a:t>200       45.67</a:t>
            </a:r>
            <a:endParaRPr b="0" i="0" sz="1100" u="none" cap="none" strike="noStrike">
              <a:solidFill>
                <a:srgbClr val="000000"/>
              </a:solidFill>
              <a:latin typeface="Calibri"/>
              <a:ea typeface="Calibri"/>
              <a:cs typeface="Calibri"/>
              <a:sym typeface="Calibri"/>
            </a:endParaRPr>
          </a:p>
        </p:txBody>
      </p:sp>
      <p:sp>
        <p:nvSpPr>
          <p:cNvPr id="112" name="Google Shape;112;p13"/>
          <p:cNvSpPr txBox="1"/>
          <p:nvPr/>
        </p:nvSpPr>
        <p:spPr>
          <a:xfrm>
            <a:off x="68683" y="4318939"/>
            <a:ext cx="3473354" cy="76944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100"/>
              <a:buFont typeface="Arial"/>
              <a:buChar char="•"/>
            </a:pPr>
            <a:r>
              <a:rPr lang="en-GB" sz="1100">
                <a:solidFill>
                  <a:schemeClr val="dk1"/>
                </a:solidFill>
                <a:latin typeface="Calibri"/>
                <a:ea typeface="Calibri"/>
                <a:cs typeface="Calibri"/>
                <a:sym typeface="Calibri"/>
              </a:rPr>
              <a:t>If the temperature drops below zero, like -10 degrees Celsius, it means it's colder than zero degrees.</a:t>
            </a:r>
            <a:endParaRPr/>
          </a:p>
          <a:p>
            <a:pPr indent="-171450" lvl="0" marL="171450" marR="0" rtl="0" algn="l">
              <a:spcBef>
                <a:spcPts val="0"/>
              </a:spcBef>
              <a:spcAft>
                <a:spcPts val="0"/>
              </a:spcAft>
              <a:buClr>
                <a:schemeClr val="dk1"/>
              </a:buClr>
              <a:buSzPts val="1100"/>
              <a:buFont typeface="Arial"/>
              <a:buChar char="•"/>
            </a:pPr>
            <a:r>
              <a:rPr lang="en-GB" sz="1100">
                <a:solidFill>
                  <a:schemeClr val="dk1"/>
                </a:solidFill>
                <a:latin typeface="Calibri"/>
                <a:ea typeface="Calibri"/>
                <a:cs typeface="Calibri"/>
                <a:sym typeface="Calibri"/>
              </a:rPr>
              <a:t>Debt: When you owe money, the amount is represented by a negative number. </a:t>
            </a:r>
            <a:endParaRPr/>
          </a:p>
        </p:txBody>
      </p:sp>
      <p:sp>
        <p:nvSpPr>
          <p:cNvPr id="113" name="Google Shape;113;p13"/>
          <p:cNvSpPr txBox="1"/>
          <p:nvPr/>
        </p:nvSpPr>
        <p:spPr>
          <a:xfrm>
            <a:off x="3416570" y="2931908"/>
            <a:ext cx="3497414" cy="938719"/>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100"/>
              <a:buFont typeface="Arial"/>
              <a:buChar char="•"/>
            </a:pPr>
            <a:r>
              <a:rPr lang="en-GB" sz="1100">
                <a:solidFill>
                  <a:schemeClr val="dk1"/>
                </a:solidFill>
                <a:latin typeface="Calibri"/>
                <a:ea typeface="Calibri"/>
                <a:cs typeface="Calibri"/>
                <a:sym typeface="Calibri"/>
              </a:rPr>
              <a:t>Negative numbers have a negative sign (-) in front of them. </a:t>
            </a:r>
            <a:endParaRPr/>
          </a:p>
          <a:p>
            <a:pPr indent="-171450" lvl="0" marL="171450" marR="0" rtl="0" algn="l">
              <a:spcBef>
                <a:spcPts val="0"/>
              </a:spcBef>
              <a:spcAft>
                <a:spcPts val="0"/>
              </a:spcAft>
              <a:buClr>
                <a:schemeClr val="dk1"/>
              </a:buClr>
              <a:buSzPts val="1100"/>
              <a:buFont typeface="Arial"/>
              <a:buChar char="•"/>
            </a:pPr>
            <a:r>
              <a:rPr lang="en-GB" sz="1100">
                <a:solidFill>
                  <a:schemeClr val="dk1"/>
                </a:solidFill>
                <a:latin typeface="Calibri"/>
                <a:ea typeface="Calibri"/>
                <a:cs typeface="Calibri"/>
                <a:sym typeface="Calibri"/>
              </a:rPr>
              <a:t>When comparing negative numbers, the one with the smaller distance from zero is considered greater. For example, -3 is greater than -5 because -3 is closer to 0.</a:t>
            </a:r>
            <a:endParaRPr sz="1100">
              <a:solidFill>
                <a:schemeClr val="dk1"/>
              </a:solidFill>
              <a:latin typeface="Calibri"/>
              <a:ea typeface="Calibri"/>
              <a:cs typeface="Calibri"/>
              <a:sym typeface="Calibri"/>
            </a:endParaRPr>
          </a:p>
        </p:txBody>
      </p:sp>
      <p:sp>
        <p:nvSpPr>
          <p:cNvPr id="114" name="Google Shape;114;p13"/>
          <p:cNvSpPr txBox="1"/>
          <p:nvPr/>
        </p:nvSpPr>
        <p:spPr>
          <a:xfrm>
            <a:off x="-291228" y="4188030"/>
            <a:ext cx="4419600"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-3         -10            -0.5           -⅔            -632.456</a:t>
            </a:r>
            <a:endParaRPr b="0" i="0" sz="1100" u="none" cap="none" strike="noStrike">
              <a:solidFill>
                <a:srgbClr val="000000"/>
              </a:solidFill>
              <a:latin typeface="Calibri"/>
              <a:ea typeface="Calibri"/>
              <a:cs typeface="Calibri"/>
              <a:sym typeface="Calibri"/>
            </a:endParaRPr>
          </a:p>
        </p:txBody>
      </p:sp>
      <p:sp>
        <p:nvSpPr>
          <p:cNvPr id="115" name="Google Shape;115;p13"/>
          <p:cNvSpPr txBox="1"/>
          <p:nvPr>
            <p:ph idx="12" type="sldNum"/>
          </p:nvPr>
        </p:nvSpPr>
        <p:spPr>
          <a:xfrm>
            <a:off x="5258221" y="9279433"/>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6" name="Google Shape;116;p13"/>
          <p:cNvSpPr txBox="1"/>
          <p:nvPr/>
        </p:nvSpPr>
        <p:spPr>
          <a:xfrm>
            <a:off x="2523068" y="6872031"/>
            <a:ext cx="5334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sz="1800">
              <a:solidFill>
                <a:schemeClr val="dk1"/>
              </a:solidFill>
              <a:latin typeface="Calibri"/>
              <a:ea typeface="Calibri"/>
              <a:cs typeface="Calibri"/>
              <a:sym typeface="Calibri"/>
            </a:endParaRPr>
          </a:p>
        </p:txBody>
      </p:sp>
      <p:sp>
        <p:nvSpPr>
          <p:cNvPr id="117" name="Google Shape;117;p13"/>
          <p:cNvSpPr txBox="1"/>
          <p:nvPr/>
        </p:nvSpPr>
        <p:spPr>
          <a:xfrm>
            <a:off x="3662622" y="6892343"/>
            <a:ext cx="152744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1800" u="none" cap="none" strike="noStrike">
                <a:solidFill>
                  <a:srgbClr val="FF0000"/>
                </a:solidFill>
                <a:latin typeface="Calibri"/>
                <a:ea typeface="Calibri"/>
                <a:cs typeface="Calibri"/>
                <a:sym typeface="Calibri"/>
              </a:rPr>
              <a:t>False</a:t>
            </a:r>
            <a:endParaRPr sz="1400">
              <a:solidFill>
                <a:schemeClr val="dk1"/>
              </a:solidFill>
              <a:latin typeface="Calibri"/>
              <a:ea typeface="Calibri"/>
              <a:cs typeface="Calibri"/>
              <a:sym typeface="Calibri"/>
            </a:endParaRPr>
          </a:p>
        </p:txBody>
      </p:sp>
      <p:sp>
        <p:nvSpPr>
          <p:cNvPr id="118" name="Google Shape;118;p13"/>
          <p:cNvSpPr txBox="1"/>
          <p:nvPr/>
        </p:nvSpPr>
        <p:spPr>
          <a:xfrm>
            <a:off x="3668328" y="6912654"/>
            <a:ext cx="4572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1800" u="none" cap="none" strike="noStrike">
                <a:solidFill>
                  <a:srgbClr val="FF0000"/>
                </a:solidFill>
                <a:latin typeface="Calibri"/>
                <a:ea typeface="Calibri"/>
                <a:cs typeface="Calibri"/>
                <a:sym typeface="Calibri"/>
              </a:rPr>
              <a:t>False</a:t>
            </a:r>
            <a:endParaRPr sz="1400">
              <a:solidFill>
                <a:schemeClr val="dk1"/>
              </a:solidFill>
              <a:latin typeface="Calibri"/>
              <a:ea typeface="Calibri"/>
              <a:cs typeface="Calibri"/>
              <a:sym typeface="Calibri"/>
            </a:endParaRPr>
          </a:p>
        </p:txBody>
      </p:sp>
      <p:sp>
        <p:nvSpPr>
          <p:cNvPr id="119" name="Google Shape;119;p13"/>
          <p:cNvSpPr txBox="1"/>
          <p:nvPr/>
        </p:nvSpPr>
        <p:spPr>
          <a:xfrm>
            <a:off x="593277" y="8837648"/>
            <a:ext cx="4572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1800" u="none" cap="none" strike="noStrike">
                <a:solidFill>
                  <a:srgbClr val="FF0000"/>
                </a:solidFill>
                <a:latin typeface="Calibri"/>
                <a:ea typeface="Calibri"/>
                <a:cs typeface="Calibri"/>
                <a:sym typeface="Calibri"/>
              </a:rPr>
              <a:t>False</a:t>
            </a:r>
            <a:endParaRPr sz="1400">
              <a:solidFill>
                <a:schemeClr val="dk1"/>
              </a:solidFill>
              <a:latin typeface="Calibri"/>
              <a:ea typeface="Calibri"/>
              <a:cs typeface="Calibri"/>
              <a:sym typeface="Calibri"/>
            </a:endParaRPr>
          </a:p>
        </p:txBody>
      </p:sp>
      <p:sp>
        <p:nvSpPr>
          <p:cNvPr id="120" name="Google Shape;120;p13"/>
          <p:cNvSpPr txBox="1"/>
          <p:nvPr/>
        </p:nvSpPr>
        <p:spPr>
          <a:xfrm>
            <a:off x="2165835" y="8905030"/>
            <a:ext cx="45720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1800" u="none" cap="none" strike="noStrike">
                <a:solidFill>
                  <a:srgbClr val="FF0000"/>
                </a:solidFill>
                <a:latin typeface="Calibri"/>
                <a:ea typeface="Calibri"/>
                <a:cs typeface="Calibri"/>
                <a:sym typeface="Calibri"/>
              </a:rPr>
              <a:t>False</a:t>
            </a:r>
            <a:endParaRPr sz="1400">
              <a:solidFill>
                <a:schemeClr val="dk1"/>
              </a:solidFill>
              <a:latin typeface="Calibri"/>
              <a:ea typeface="Calibri"/>
              <a:cs typeface="Calibri"/>
              <a:sym typeface="Calibri"/>
            </a:endParaRPr>
          </a:p>
        </p:txBody>
      </p:sp>
      <p:sp>
        <p:nvSpPr>
          <p:cNvPr id="121" name="Google Shape;121;p13"/>
          <p:cNvSpPr txBox="1"/>
          <p:nvPr/>
        </p:nvSpPr>
        <p:spPr>
          <a:xfrm>
            <a:off x="5643393" y="8889840"/>
            <a:ext cx="6213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nvSpPr>
        <p:spPr>
          <a:xfrm>
            <a:off x="5314950" y="9498130"/>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127" name="Google Shape;127;p14"/>
          <p:cNvGraphicFramePr/>
          <p:nvPr/>
        </p:nvGraphicFramePr>
        <p:xfrm>
          <a:off x="182224" y="975163"/>
          <a:ext cx="3000000" cy="3000000"/>
        </p:xfrm>
        <a:graphic>
          <a:graphicData uri="http://schemas.openxmlformats.org/drawingml/2006/table">
            <a:tbl>
              <a:tblPr bandRow="1" firstRow="1">
                <a:noFill/>
                <a:tableStyleId>{89DAE5B5-D852-48E7-99B0-D29FA4E4346D}</a:tableStyleId>
              </a:tblPr>
              <a:tblGrid>
                <a:gridCol w="2422975"/>
                <a:gridCol w="928050"/>
                <a:gridCol w="1519150"/>
                <a:gridCol w="1623400"/>
              </a:tblGrid>
              <a:tr h="370850">
                <a:tc>
                  <a:txBody>
                    <a:bodyPr/>
                    <a:lstStyle/>
                    <a:p>
                      <a:pPr indent="0" lvl="0" marL="0" marR="0" rtl="0" algn="ctr">
                        <a:spcBef>
                          <a:spcPts val="0"/>
                        </a:spcBef>
                        <a:spcAft>
                          <a:spcPts val="0"/>
                        </a:spcAft>
                        <a:buNone/>
                      </a:pPr>
                      <a:r>
                        <a:rPr lang="en-GB" sz="1200">
                          <a:solidFill>
                            <a:schemeClr val="dk1"/>
                          </a:solidFill>
                        </a:rPr>
                        <a:t>Statement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True or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Rewritten to make true (if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Alternative way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a) -3 &lt;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-3 &gt;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-5 &lt;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b) -1 &lt;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 0 &gt; -1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c) -902 &lt; -93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-93 &gt; -902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d) -8106 &gt; -8099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-8106 &lt; -8099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-8099 &gt; -8106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e) -3751 &lt; -3699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-3699 &gt; -3751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f) -809 &gt; 820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-809 &lt; 820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820 &gt; - 809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g) 203 000 &lt; -199 987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203 000 &gt; -199 987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00">
                          <a:solidFill>
                            <a:srgbClr val="FF0000"/>
                          </a:solidFill>
                        </a:rPr>
                        <a:t>-199 987 &lt; 203 000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h) -32 150 &lt; -31 205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-32 150 &gt; -31 205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-31 205 &lt; -32 150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i) -1494 &gt; negative two thousand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800">
                          <a:solidFill>
                            <a:srgbClr val="FF0000"/>
                          </a:solidFill>
                        </a:rPr>
                        <a:t>Negative two thousand &lt; -1494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j) Negative one million &lt; -214 380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900">
                          <a:solidFill>
                            <a:srgbClr val="FF0000"/>
                          </a:solidFill>
                        </a:rPr>
                        <a:t>-214 380 &gt; negative one million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k) -3  849 000 &gt; one million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0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900">
                          <a:solidFill>
                            <a:srgbClr val="FF0000"/>
                          </a:solidFill>
                        </a:rPr>
                        <a:t>-3 849 000 &lt; one million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900">
                          <a:solidFill>
                            <a:srgbClr val="FF0000"/>
                          </a:solidFill>
                        </a:rPr>
                        <a:t>One million &gt; - 3 849 000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28" name="Google Shape;128;p14"/>
          <p:cNvSpPr/>
          <p:nvPr/>
        </p:nvSpPr>
        <p:spPr>
          <a:xfrm>
            <a:off x="182224" y="359345"/>
            <a:ext cx="1137954" cy="400641"/>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29" name="Google Shape;129;p14"/>
          <p:cNvSpPr txBox="1"/>
          <p:nvPr/>
        </p:nvSpPr>
        <p:spPr>
          <a:xfrm>
            <a:off x="1299770" y="144168"/>
            <a:ext cx="555823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Question 1. For each of the following questions, decide which statements are true and which statements are false. Rewrite the false statements to make them true. Can you write each true statement in a different way such that it remains true? E.g. -86 &gt; -101 and -101 &lt; -86 are both true. </a:t>
            </a:r>
            <a:endParaRPr/>
          </a:p>
        </p:txBody>
      </p:sp>
      <p:graphicFrame>
        <p:nvGraphicFramePr>
          <p:cNvPr id="130" name="Google Shape;130;p14"/>
          <p:cNvGraphicFramePr/>
          <p:nvPr/>
        </p:nvGraphicFramePr>
        <p:xfrm>
          <a:off x="184647" y="5065887"/>
          <a:ext cx="3000000" cy="3000000"/>
        </p:xfrm>
        <a:graphic>
          <a:graphicData uri="http://schemas.openxmlformats.org/drawingml/2006/table">
            <a:tbl>
              <a:tblPr bandRow="1" firstRow="1">
                <a:noFill/>
                <a:tableStyleId>{89DAE5B5-D852-48E7-99B0-D29FA4E4346D}</a:tableStyleId>
              </a:tblPr>
              <a:tblGrid>
                <a:gridCol w="6491125"/>
              </a:tblGrid>
              <a:tr h="8640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Question 2. </a:t>
                      </a:r>
                      <a:r>
                        <a:rPr b="0" i="0" lang="en-GB" sz="1200" u="none" cap="none" strike="noStrike">
                          <a:solidFill>
                            <a:srgbClr val="000000"/>
                          </a:solidFill>
                          <a:latin typeface="Calibri"/>
                          <a:ea typeface="Calibri"/>
                          <a:cs typeface="Calibri"/>
                          <a:sym typeface="Calibri"/>
                        </a:rPr>
                        <a:t>Circle the statement that means -3 is greater than -5</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 </a:t>
                      </a:r>
                      <a:endParaRPr/>
                    </a:p>
                    <a:p>
                      <a:pPr indent="0" lvl="0" marL="0" marR="0" rtl="0" algn="ctr">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a) -5 &gt; -3                             b) -5 &lt; -3                              c) -5 = -3                             d) -5/-3</a:t>
                      </a:r>
                      <a:endParaRPr/>
                    </a:p>
                    <a:p>
                      <a:pPr indent="0" lvl="0" marL="0" marR="0" rtl="0" algn="ctr">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864000">
                <a:tc>
                  <a:txBody>
                    <a:bodyPr/>
                    <a:lstStyle/>
                    <a:p>
                      <a:pPr indent="0" lvl="0" marL="0" marR="0" rtl="0" algn="l">
                        <a:spcBef>
                          <a:spcPts val="0"/>
                        </a:spcBef>
                        <a:spcAft>
                          <a:spcPts val="0"/>
                        </a:spcAft>
                        <a:buNone/>
                      </a:pPr>
                      <a:r>
                        <a:rPr b="0" lang="en-GB" sz="1200">
                          <a:solidFill>
                            <a:schemeClr val="dk1"/>
                          </a:solidFill>
                        </a:rPr>
                        <a:t>Question 3. </a:t>
                      </a:r>
                      <a:r>
                        <a:rPr lang="en-GB" sz="1200"/>
                        <a:t>Which of the following is the same as -2 &lt; -1?</a:t>
                      </a:r>
                      <a:endParaRPr/>
                    </a:p>
                    <a:p>
                      <a:pPr indent="0" lvl="0" marL="0" marR="0" rtl="0" algn="l">
                        <a:spcBef>
                          <a:spcPts val="0"/>
                        </a:spcBef>
                        <a:spcAft>
                          <a:spcPts val="0"/>
                        </a:spcAft>
                        <a:buNone/>
                      </a:pPr>
                      <a:r>
                        <a:rPr lang="en-GB" sz="1200"/>
                        <a:t> </a:t>
                      </a:r>
                      <a:endParaRPr/>
                    </a:p>
                    <a:p>
                      <a:pPr indent="0" lvl="0" marL="0" marR="0" rtl="0" algn="ctr">
                        <a:spcBef>
                          <a:spcPts val="0"/>
                        </a:spcBef>
                        <a:spcAft>
                          <a:spcPts val="0"/>
                        </a:spcAft>
                        <a:buNone/>
                      </a:pPr>
                      <a:r>
                        <a:rPr lang="en-GB" sz="1200"/>
                        <a:t>a) -1 &gt; -2                             b) -2 &gt; -1                             c) -2 &gt; 1                         d) None of these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864000">
                <a:tc>
                  <a:txBody>
                    <a:bodyPr/>
                    <a:lstStyle/>
                    <a:p>
                      <a:pPr indent="0" lvl="0" marL="0" marR="0" rtl="0" algn="l">
                        <a:spcBef>
                          <a:spcPts val="0"/>
                        </a:spcBef>
                        <a:spcAft>
                          <a:spcPts val="0"/>
                        </a:spcAft>
                        <a:buNone/>
                      </a:pPr>
                      <a:r>
                        <a:rPr b="0" lang="en-GB" sz="1200">
                          <a:solidFill>
                            <a:schemeClr val="dk1"/>
                          </a:solidFill>
                        </a:rPr>
                        <a:t>Question 4. </a:t>
                      </a:r>
                      <a:r>
                        <a:rPr lang="en-GB" sz="1200"/>
                        <a:t>True or false?: a = -8  satisfies the inequality a &lt; -5.  Circle the correct answer.</a:t>
                      </a:r>
                      <a:endParaRPr/>
                    </a:p>
                    <a:p>
                      <a:pPr indent="0" lvl="0" marL="0" marR="0" rtl="0" algn="l">
                        <a:spcBef>
                          <a:spcPts val="0"/>
                        </a:spcBef>
                        <a:spcAft>
                          <a:spcPts val="0"/>
                        </a:spcAft>
                        <a:buNone/>
                      </a:pPr>
                      <a:r>
                        <a:rPr lang="en-GB" sz="1200"/>
                        <a:t> </a:t>
                      </a:r>
                      <a:endParaRPr/>
                    </a:p>
                    <a:p>
                      <a:pPr indent="0" lvl="0" marL="0" marR="0" rtl="0" algn="ctr">
                        <a:spcBef>
                          <a:spcPts val="0"/>
                        </a:spcBef>
                        <a:spcAft>
                          <a:spcPts val="0"/>
                        </a:spcAft>
                        <a:buNone/>
                      </a:pPr>
                      <a:r>
                        <a:rPr lang="en-GB" sz="1200"/>
                        <a:t>True                False</a:t>
                      </a:r>
                      <a:endParaRPr/>
                    </a:p>
                    <a:p>
                      <a:pPr indent="0" lvl="0" marL="0" marR="0" rtl="0" algn="ctr">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Question 5. </a:t>
                      </a:r>
                      <a:endParaRPr/>
                    </a:p>
                    <a:p>
                      <a:pPr indent="0" lvl="0" marL="0" marR="0" rtl="0" algn="ctr">
                        <a:spcBef>
                          <a:spcPts val="0"/>
                        </a:spcBef>
                        <a:spcAft>
                          <a:spcPts val="0"/>
                        </a:spcAft>
                        <a:buNone/>
                      </a:pPr>
                      <a:r>
                        <a:rPr b="1" lang="en-GB" sz="1200"/>
                        <a:t> -46 000 &lt; -400 010 </a:t>
                      </a:r>
                      <a:endParaRPr/>
                    </a:p>
                    <a:p>
                      <a:pPr indent="0" lvl="0" marL="0" marR="0" rtl="0" algn="ctr">
                        <a:spcBef>
                          <a:spcPts val="0"/>
                        </a:spcBef>
                        <a:spcAft>
                          <a:spcPts val="0"/>
                        </a:spcAft>
                        <a:buNone/>
                      </a:pPr>
                      <a:r>
                        <a:rPr lang="en-GB" sz="1200"/>
                        <a:t>    </a:t>
                      </a:r>
                      <a:endParaRPr/>
                    </a:p>
                    <a:p>
                      <a:pPr indent="0" lvl="0" marL="0" marR="0" rtl="0" algn="ctr">
                        <a:spcBef>
                          <a:spcPts val="0"/>
                        </a:spcBef>
                        <a:spcAft>
                          <a:spcPts val="0"/>
                        </a:spcAft>
                        <a:buNone/>
                      </a:pPr>
                      <a:r>
                        <a:rPr lang="en-GB" sz="1200"/>
                        <a:t>    Joe says “this statement is correct because 46 000 is less than 400 010”. </a:t>
                      </a:r>
                      <a:endParaRPr/>
                    </a:p>
                    <a:p>
                      <a:pPr indent="0" lvl="0" marL="0" marR="0" rtl="0" algn="ctr">
                        <a:spcBef>
                          <a:spcPts val="0"/>
                        </a:spcBef>
                        <a:spcAft>
                          <a:spcPts val="0"/>
                        </a:spcAft>
                        <a:buNone/>
                      </a:pPr>
                      <a:r>
                        <a:rPr lang="en-GB" sz="1200"/>
                        <a:t>    Jay says “this statement is incorrect because -46 000 is closer to zero than -400 010”</a:t>
                      </a:r>
                      <a:endParaRPr/>
                    </a:p>
                    <a:p>
                      <a:pPr indent="0" lvl="0" marL="0" marR="0" rtl="0" algn="ctr">
                        <a:spcBef>
                          <a:spcPts val="0"/>
                        </a:spcBef>
                        <a:spcAft>
                          <a:spcPts val="0"/>
                        </a:spcAft>
                        <a:buNone/>
                      </a:pPr>
                      <a:r>
                        <a:rPr lang="en-GB" sz="1200"/>
                        <a:t>    Do you agree with Joe, Jay, both of them or neither of them?  </a:t>
                      </a:r>
                      <a:endParaRPr/>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131" name="Google Shape;131;p14"/>
          <p:cNvGraphicFramePr/>
          <p:nvPr/>
        </p:nvGraphicFramePr>
        <p:xfrm>
          <a:off x="182224" y="8905971"/>
          <a:ext cx="3000000" cy="3000000"/>
        </p:xfrm>
        <a:graphic>
          <a:graphicData uri="http://schemas.openxmlformats.org/drawingml/2006/table">
            <a:tbl>
              <a:tblPr bandRow="1" firstRow="1">
                <a:noFill/>
                <a:tableStyleId>{89DAE5B5-D852-48E7-99B0-D29FA4E4346D}</a:tableStyleId>
              </a:tblPr>
              <a:tblGrid>
                <a:gridCol w="6491125"/>
              </a:tblGrid>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32" name="Google Shape;132;p14"/>
          <p:cNvSpPr/>
          <p:nvPr/>
        </p:nvSpPr>
        <p:spPr>
          <a:xfrm>
            <a:off x="2122552" y="5338275"/>
            <a:ext cx="968991" cy="35996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14"/>
          <p:cNvSpPr/>
          <p:nvPr/>
        </p:nvSpPr>
        <p:spPr>
          <a:xfrm>
            <a:off x="437148" y="6248460"/>
            <a:ext cx="968991" cy="35996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14"/>
          <p:cNvSpPr/>
          <p:nvPr/>
        </p:nvSpPr>
        <p:spPr>
          <a:xfrm>
            <a:off x="2460009" y="7122123"/>
            <a:ext cx="968991" cy="359968"/>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 name="Google Shape;135;p14"/>
          <p:cNvSpPr txBox="1"/>
          <p:nvPr/>
        </p:nvSpPr>
        <p:spPr>
          <a:xfrm>
            <a:off x="174955" y="9024562"/>
            <a:ext cx="649839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FF0000"/>
                </a:solidFill>
                <a:latin typeface="Calibri"/>
                <a:ea typeface="Calibri"/>
                <a:cs typeface="Calibri"/>
                <a:sym typeface="Calibri"/>
              </a:rPr>
              <a:t>Jay is correct. -46 000 is closer to zero than -400 010, which means -46 000 is greater, so the inequality should be written as -46 000 &gt; - 400 010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p:nvPr/>
        </p:nvSpPr>
        <p:spPr>
          <a:xfrm>
            <a:off x="142761" y="2868052"/>
            <a:ext cx="1137954" cy="423696"/>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41" name="Google Shape;141;p15"/>
          <p:cNvSpPr txBox="1"/>
          <p:nvPr/>
        </p:nvSpPr>
        <p:spPr>
          <a:xfrm>
            <a:off x="5187041" y="9432725"/>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142" name="Google Shape;142;p15"/>
          <p:cNvGraphicFramePr/>
          <p:nvPr/>
        </p:nvGraphicFramePr>
        <p:xfrm>
          <a:off x="142761" y="110113"/>
          <a:ext cx="3000000" cy="3000000"/>
        </p:xfrm>
        <a:graphic>
          <a:graphicData uri="http://schemas.openxmlformats.org/drawingml/2006/table">
            <a:tbl>
              <a:tblPr bandRow="1" firstRow="1">
                <a:noFill/>
                <a:tableStyleId>{89DAE5B5-D852-48E7-99B0-D29FA4E4346D}</a:tableStyleId>
              </a:tblPr>
              <a:tblGrid>
                <a:gridCol w="1503150"/>
                <a:gridCol w="1689775"/>
                <a:gridCol w="1689775"/>
                <a:gridCol w="1689775"/>
              </a:tblGrid>
              <a:tr h="15240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7- I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8– We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9 – You do…</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The smallest side of the symbol should be next to the smallest number. </a:t>
                      </a:r>
                      <a:endParaRPr/>
                    </a:p>
                    <a:p>
                      <a:pPr indent="0" lvl="0" marL="0" marR="0" rtl="0" algn="l">
                        <a:spcBef>
                          <a:spcPts val="0"/>
                        </a:spcBef>
                        <a:spcAft>
                          <a:spcPts val="0"/>
                        </a:spcAft>
                        <a:buClr>
                          <a:schemeClr val="dk1"/>
                        </a:buClr>
                        <a:buSzPts val="1200"/>
                        <a:buFont typeface="Calibri"/>
                        <a:buNone/>
                      </a:pPr>
                      <a:br>
                        <a:rPr lang="en-GB" sz="1200">
                          <a:solidFill>
                            <a:schemeClr val="dk1"/>
                          </a:solidFill>
                        </a:rPr>
                      </a:br>
                      <a:r>
                        <a:rPr lang="en-GB" sz="1200">
                          <a:solidFill>
                            <a:schemeClr val="dk1"/>
                          </a:solidFill>
                        </a:rPr>
                        <a:t>2) The largest side of the symbol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600">
                        <a:solidFill>
                          <a:schemeClr val="dk1"/>
                        </a:solidFill>
                      </a:endParaRPr>
                    </a:p>
                    <a:p>
                      <a:pPr indent="0" lvl="0" marL="0" marR="0" rtl="0" algn="l">
                        <a:spcBef>
                          <a:spcPts val="0"/>
                        </a:spcBef>
                        <a:spcAft>
                          <a:spcPts val="0"/>
                        </a:spcAft>
                        <a:buNone/>
                      </a:pPr>
                      <a:r>
                        <a:t/>
                      </a:r>
                      <a:endParaRPr sz="1600">
                        <a:solidFill>
                          <a:schemeClr val="dk1"/>
                        </a:solidFill>
                      </a:endParaRPr>
                    </a:p>
                    <a:p>
                      <a:pPr indent="0" lvl="0" marL="0" marR="0" rtl="0" algn="ctr">
                        <a:spcBef>
                          <a:spcPts val="0"/>
                        </a:spcBef>
                        <a:spcAft>
                          <a:spcPts val="0"/>
                        </a:spcAft>
                        <a:buNone/>
                      </a:pPr>
                      <a:r>
                        <a:rPr lang="en-GB" sz="1600">
                          <a:solidFill>
                            <a:schemeClr val="dk1"/>
                          </a:solidFill>
                        </a:rPr>
                        <a:t>-740                -470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600">
                        <a:solidFill>
                          <a:schemeClr val="dk1"/>
                        </a:solidFill>
                      </a:endParaRPr>
                    </a:p>
                    <a:p>
                      <a:pPr indent="0" lvl="0" marL="0" marR="0" rtl="0" algn="l">
                        <a:spcBef>
                          <a:spcPts val="0"/>
                        </a:spcBef>
                        <a:spcAft>
                          <a:spcPts val="0"/>
                        </a:spcAft>
                        <a:buNone/>
                      </a:pPr>
                      <a:r>
                        <a:t/>
                      </a:r>
                      <a:endParaRPr sz="1600">
                        <a:solidFill>
                          <a:schemeClr val="dk1"/>
                        </a:solidFill>
                      </a:endParaRPr>
                    </a:p>
                    <a:p>
                      <a:pPr indent="0" lvl="0" marL="0" marR="0" rtl="0" algn="ctr">
                        <a:spcBef>
                          <a:spcPts val="0"/>
                        </a:spcBef>
                        <a:spcAft>
                          <a:spcPts val="0"/>
                        </a:spcAft>
                        <a:buNone/>
                      </a:pPr>
                      <a:r>
                        <a:rPr lang="en-GB" sz="1600">
                          <a:solidFill>
                            <a:schemeClr val="dk1"/>
                          </a:solidFill>
                        </a:rPr>
                        <a:t>-3744            -3470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-740                -744</a:t>
                      </a:r>
                      <a:endParaRPr/>
                    </a:p>
                    <a:p>
                      <a:pPr indent="0" lvl="0" marL="0" marR="0" rtl="0" algn="l">
                        <a:spcBef>
                          <a:spcPts val="0"/>
                        </a:spcBef>
                        <a:spcAft>
                          <a:spcPts val="0"/>
                        </a:spcAft>
                        <a:buNone/>
                      </a:pPr>
                      <a:r>
                        <a:t/>
                      </a:r>
                      <a:endParaRPr sz="16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43" name="Google Shape;143;p15"/>
          <p:cNvSpPr/>
          <p:nvPr/>
        </p:nvSpPr>
        <p:spPr>
          <a:xfrm>
            <a:off x="2215151" y="1384609"/>
            <a:ext cx="540000"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4" name="Google Shape;144;p15"/>
          <p:cNvSpPr/>
          <p:nvPr/>
        </p:nvSpPr>
        <p:spPr>
          <a:xfrm>
            <a:off x="3914309" y="1371247"/>
            <a:ext cx="540000" cy="51133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5" name="Google Shape;145;p15"/>
          <p:cNvSpPr/>
          <p:nvPr/>
        </p:nvSpPr>
        <p:spPr>
          <a:xfrm>
            <a:off x="5577695" y="1371247"/>
            <a:ext cx="540000"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6" name="Google Shape;146;p15"/>
          <p:cNvSpPr txBox="1"/>
          <p:nvPr/>
        </p:nvSpPr>
        <p:spPr>
          <a:xfrm>
            <a:off x="2357725" y="1375854"/>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47" name="Google Shape;147;p15"/>
          <p:cNvSpPr txBox="1"/>
          <p:nvPr/>
        </p:nvSpPr>
        <p:spPr>
          <a:xfrm>
            <a:off x="4002208" y="1359361"/>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48" name="Google Shape;148;p15"/>
          <p:cNvSpPr txBox="1"/>
          <p:nvPr/>
        </p:nvSpPr>
        <p:spPr>
          <a:xfrm rot="10800000">
            <a:off x="5577695" y="1387297"/>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49" name="Google Shape;149;p15"/>
          <p:cNvSpPr txBox="1"/>
          <p:nvPr/>
        </p:nvSpPr>
        <p:spPr>
          <a:xfrm>
            <a:off x="1280715" y="3060410"/>
            <a:ext cx="495288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 Complete these statements using the symbols &gt; or &lt;</a:t>
            </a:r>
            <a:endParaRPr/>
          </a:p>
        </p:txBody>
      </p:sp>
      <p:graphicFrame>
        <p:nvGraphicFramePr>
          <p:cNvPr id="150" name="Google Shape;150;p15"/>
          <p:cNvGraphicFramePr/>
          <p:nvPr/>
        </p:nvGraphicFramePr>
        <p:xfrm>
          <a:off x="121374" y="3401822"/>
          <a:ext cx="3000000" cy="3000000"/>
        </p:xfrm>
        <a:graphic>
          <a:graphicData uri="http://schemas.openxmlformats.org/drawingml/2006/table">
            <a:tbl>
              <a:tblPr bandRow="1" firstRow="1">
                <a:noFill/>
                <a:tableStyleId>{89DAE5B5-D852-48E7-99B0-D29FA4E4346D}</a:tableStyleId>
              </a:tblPr>
              <a:tblGrid>
                <a:gridCol w="3296925"/>
                <a:gridCol w="3296925"/>
              </a:tblGrid>
              <a:tr h="29422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822950">
                <a:tc>
                  <a:txBody>
                    <a:bodyPr/>
                    <a:lstStyle/>
                    <a:p>
                      <a:pPr indent="0" lvl="0" marL="0" marR="0" rtl="0" algn="l">
                        <a:spcBef>
                          <a:spcPts val="0"/>
                        </a:spcBef>
                        <a:spcAft>
                          <a:spcPts val="0"/>
                        </a:spcAft>
                        <a:buNone/>
                      </a:pPr>
                      <a:r>
                        <a:rPr lang="en-GB" sz="1200">
                          <a:solidFill>
                            <a:schemeClr val="dk1"/>
                          </a:solidFill>
                        </a:rPr>
                        <a:t>Negative two</a:t>
                      </a:r>
                      <a:endParaRPr/>
                    </a:p>
                    <a:p>
                      <a:pPr indent="0" lvl="0" marL="0" marR="0" rtl="0" algn="l">
                        <a:spcBef>
                          <a:spcPts val="0"/>
                        </a:spcBef>
                        <a:spcAft>
                          <a:spcPts val="0"/>
                        </a:spcAft>
                        <a:buNone/>
                      </a:pPr>
                      <a:r>
                        <a:rPr lang="en-GB" sz="1200">
                          <a:solidFill>
                            <a:schemeClr val="dk1"/>
                          </a:solidFill>
                        </a:rPr>
                        <a:t>thousand three</a:t>
                      </a:r>
                      <a:endParaRPr/>
                    </a:p>
                    <a:p>
                      <a:pPr indent="0" lvl="0" marL="0" marR="0" rtl="0" algn="l">
                        <a:spcBef>
                          <a:spcPts val="0"/>
                        </a:spcBef>
                        <a:spcAft>
                          <a:spcPts val="0"/>
                        </a:spcAft>
                        <a:buNone/>
                      </a:pPr>
                      <a:r>
                        <a:rPr lang="en-GB" sz="1200">
                          <a:solidFill>
                            <a:schemeClr val="dk1"/>
                          </a:solidFill>
                        </a:rPr>
                        <a:t>hundred and sixty</a:t>
                      </a:r>
                      <a:endParaRPr/>
                    </a:p>
                    <a:p>
                      <a:pPr indent="0" lvl="0" marL="0" marR="0" rtl="0" algn="l">
                        <a:spcBef>
                          <a:spcPts val="0"/>
                        </a:spcBef>
                        <a:spcAft>
                          <a:spcPts val="0"/>
                        </a:spcAft>
                        <a:buNone/>
                      </a:pPr>
                      <a:r>
                        <a:rPr lang="en-GB" sz="1200">
                          <a:solidFill>
                            <a:schemeClr val="dk1"/>
                          </a:solidFill>
                        </a:rPr>
                        <a:t>four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Negative </a:t>
                      </a:r>
                      <a:endParaRPr/>
                    </a:p>
                    <a:p>
                      <a:pPr indent="0" lvl="0" marL="0" marR="0" rtl="0" algn="l">
                        <a:spcBef>
                          <a:spcPts val="0"/>
                        </a:spcBef>
                        <a:spcAft>
                          <a:spcPts val="0"/>
                        </a:spcAft>
                        <a:buNone/>
                      </a:pPr>
                      <a:r>
                        <a:rPr lang="en-GB" sz="1200">
                          <a:solidFill>
                            <a:schemeClr val="dk1"/>
                          </a:solidFill>
                        </a:rPr>
                        <a:t>fourteen </a:t>
                      </a:r>
                      <a:endParaRPr/>
                    </a:p>
                    <a:p>
                      <a:pPr indent="0" lvl="0" marL="0" marR="0" rtl="0" algn="l">
                        <a:spcBef>
                          <a:spcPts val="0"/>
                        </a:spcBef>
                        <a:spcAft>
                          <a:spcPts val="0"/>
                        </a:spcAft>
                        <a:buNone/>
                      </a:pPr>
                      <a:r>
                        <a:rPr lang="en-GB" sz="1200">
                          <a:solidFill>
                            <a:schemeClr val="dk1"/>
                          </a:solidFill>
                        </a:rPr>
                        <a:t>thousand five </a:t>
                      </a:r>
                      <a:endParaRPr/>
                    </a:p>
                    <a:p>
                      <a:pPr indent="0" lvl="0" marL="0" marR="0" rtl="0" algn="l">
                        <a:spcBef>
                          <a:spcPts val="0"/>
                        </a:spcBef>
                        <a:spcAft>
                          <a:spcPts val="0"/>
                        </a:spcAft>
                        <a:buNone/>
                      </a:pPr>
                      <a:r>
                        <a:rPr lang="en-GB" sz="1200">
                          <a:solidFill>
                            <a:schemeClr val="dk1"/>
                          </a:solidFill>
                        </a:rPr>
                        <a:t>hundred and eight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4325">
                <a:tc>
                  <a:txBody>
                    <a:bodyPr/>
                    <a:lstStyle/>
                    <a:p>
                      <a:pPr indent="0" lvl="0" marL="0" marR="0" rtl="0" algn="l">
                        <a:spcBef>
                          <a:spcPts val="0"/>
                        </a:spcBef>
                        <a:spcAft>
                          <a:spcPts val="0"/>
                        </a:spcAft>
                        <a:buNone/>
                      </a:pPr>
                      <a:r>
                        <a:rPr lang="en-GB" sz="1200">
                          <a:solidFill>
                            <a:schemeClr val="dk1"/>
                          </a:solidFill>
                        </a:rPr>
                        <a:t>i)</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j)</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644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k)</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GB" sz="1200">
                          <a:solidFill>
                            <a:schemeClr val="dk1"/>
                          </a:solidFill>
                        </a:rPr>
                        <a:t>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84625">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51" name="Google Shape;151;p15"/>
          <p:cNvSpPr/>
          <p:nvPr/>
        </p:nvSpPr>
        <p:spPr>
          <a:xfrm>
            <a:off x="4858617" y="3769247"/>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5"/>
          <p:cNvSpPr/>
          <p:nvPr/>
        </p:nvSpPr>
        <p:spPr>
          <a:xfrm>
            <a:off x="4858615" y="481981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15"/>
          <p:cNvSpPr/>
          <p:nvPr/>
        </p:nvSpPr>
        <p:spPr>
          <a:xfrm>
            <a:off x="1559135" y="5797986"/>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5"/>
          <p:cNvSpPr/>
          <p:nvPr/>
        </p:nvSpPr>
        <p:spPr>
          <a:xfrm>
            <a:off x="1559135" y="6827091"/>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15"/>
          <p:cNvSpPr/>
          <p:nvPr/>
        </p:nvSpPr>
        <p:spPr>
          <a:xfrm>
            <a:off x="4832577" y="686758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15"/>
          <p:cNvSpPr/>
          <p:nvPr/>
        </p:nvSpPr>
        <p:spPr>
          <a:xfrm>
            <a:off x="4832577" y="582953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5"/>
          <p:cNvSpPr/>
          <p:nvPr/>
        </p:nvSpPr>
        <p:spPr>
          <a:xfrm>
            <a:off x="1559135" y="383055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5"/>
          <p:cNvSpPr/>
          <p:nvPr/>
        </p:nvSpPr>
        <p:spPr>
          <a:xfrm>
            <a:off x="1559133" y="4881117"/>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5"/>
          <p:cNvSpPr txBox="1"/>
          <p:nvPr/>
        </p:nvSpPr>
        <p:spPr>
          <a:xfrm>
            <a:off x="2054181" y="6812334"/>
            <a:ext cx="64552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-20 361</a:t>
            </a:r>
            <a:endParaRPr/>
          </a:p>
        </p:txBody>
      </p:sp>
      <p:sp>
        <p:nvSpPr>
          <p:cNvPr id="160" name="Google Shape;160;p15"/>
          <p:cNvSpPr txBox="1"/>
          <p:nvPr/>
        </p:nvSpPr>
        <p:spPr>
          <a:xfrm>
            <a:off x="5308048" y="6919771"/>
            <a:ext cx="140719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-14 580</a:t>
            </a:r>
            <a:endParaRPr/>
          </a:p>
        </p:txBody>
      </p:sp>
      <p:sp>
        <p:nvSpPr>
          <p:cNvPr id="161" name="Google Shape;161;p15"/>
          <p:cNvSpPr/>
          <p:nvPr/>
        </p:nvSpPr>
        <p:spPr>
          <a:xfrm>
            <a:off x="1527541" y="789426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5"/>
          <p:cNvSpPr txBox="1"/>
          <p:nvPr/>
        </p:nvSpPr>
        <p:spPr>
          <a:xfrm>
            <a:off x="1982787" y="7975569"/>
            <a:ext cx="14782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Negative one million</a:t>
            </a:r>
            <a:endParaRPr/>
          </a:p>
        </p:txBody>
      </p:sp>
      <p:sp>
        <p:nvSpPr>
          <p:cNvPr id="163" name="Google Shape;163;p15"/>
          <p:cNvSpPr txBox="1"/>
          <p:nvPr/>
        </p:nvSpPr>
        <p:spPr>
          <a:xfrm>
            <a:off x="5281795" y="7979776"/>
            <a:ext cx="14782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Negative one billion</a:t>
            </a:r>
            <a:endParaRPr/>
          </a:p>
        </p:txBody>
      </p:sp>
      <p:sp>
        <p:nvSpPr>
          <p:cNvPr id="164" name="Google Shape;164;p15"/>
          <p:cNvSpPr/>
          <p:nvPr/>
        </p:nvSpPr>
        <p:spPr>
          <a:xfrm>
            <a:off x="4813781" y="790562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5"/>
          <p:cNvSpPr/>
          <p:nvPr/>
        </p:nvSpPr>
        <p:spPr>
          <a:xfrm>
            <a:off x="1527541" y="8811138"/>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5"/>
          <p:cNvSpPr/>
          <p:nvPr/>
        </p:nvSpPr>
        <p:spPr>
          <a:xfrm>
            <a:off x="4811303" y="8861116"/>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15"/>
          <p:cNvSpPr txBox="1"/>
          <p:nvPr/>
        </p:nvSpPr>
        <p:spPr>
          <a:xfrm>
            <a:off x="1559133" y="3759842"/>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68" name="Google Shape;168;p15"/>
          <p:cNvSpPr txBox="1"/>
          <p:nvPr/>
        </p:nvSpPr>
        <p:spPr>
          <a:xfrm rot="10800000">
            <a:off x="4055192" y="3704917"/>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69" name="Google Shape;169;p15"/>
          <p:cNvSpPr txBox="1"/>
          <p:nvPr/>
        </p:nvSpPr>
        <p:spPr>
          <a:xfrm>
            <a:off x="1576205" y="4799125"/>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0" name="Google Shape;170;p15"/>
          <p:cNvSpPr txBox="1"/>
          <p:nvPr/>
        </p:nvSpPr>
        <p:spPr>
          <a:xfrm rot="10800000">
            <a:off x="4026201" y="4790917"/>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1" name="Google Shape;171;p15"/>
          <p:cNvSpPr txBox="1"/>
          <p:nvPr/>
        </p:nvSpPr>
        <p:spPr>
          <a:xfrm rot="10800000">
            <a:off x="749919" y="6762051"/>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2" name="Google Shape;172;p15"/>
          <p:cNvSpPr txBox="1"/>
          <p:nvPr/>
        </p:nvSpPr>
        <p:spPr>
          <a:xfrm rot="10800000">
            <a:off x="720581" y="5746525"/>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3" name="Google Shape;173;p15"/>
          <p:cNvSpPr txBox="1"/>
          <p:nvPr/>
        </p:nvSpPr>
        <p:spPr>
          <a:xfrm>
            <a:off x="4854266" y="5746525"/>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4" name="Google Shape;174;p15"/>
          <p:cNvSpPr txBox="1"/>
          <p:nvPr/>
        </p:nvSpPr>
        <p:spPr>
          <a:xfrm rot="10800000">
            <a:off x="4003562" y="6827091"/>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5" name="Google Shape;175;p15"/>
          <p:cNvSpPr txBox="1"/>
          <p:nvPr/>
        </p:nvSpPr>
        <p:spPr>
          <a:xfrm rot="10800000">
            <a:off x="3978889" y="7839518"/>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6" name="Google Shape;176;p15"/>
          <p:cNvSpPr txBox="1"/>
          <p:nvPr/>
        </p:nvSpPr>
        <p:spPr>
          <a:xfrm>
            <a:off x="1499557" y="7818430"/>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7" name="Google Shape;177;p15"/>
          <p:cNvSpPr txBox="1"/>
          <p:nvPr/>
        </p:nvSpPr>
        <p:spPr>
          <a:xfrm rot="10800000">
            <a:off x="652918" y="8765830"/>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178" name="Google Shape;178;p15"/>
          <p:cNvSpPr txBox="1"/>
          <p:nvPr/>
        </p:nvSpPr>
        <p:spPr>
          <a:xfrm>
            <a:off x="4832577" y="8820271"/>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6"/>
          <p:cNvSpPr txBox="1"/>
          <p:nvPr/>
        </p:nvSpPr>
        <p:spPr>
          <a:xfrm>
            <a:off x="140012" y="100310"/>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 What is the </a:t>
            </a:r>
            <a:r>
              <a:rPr b="1" lang="en-GB" sz="1200">
                <a:solidFill>
                  <a:schemeClr val="dk1"/>
                </a:solidFill>
                <a:latin typeface="Calibri"/>
                <a:ea typeface="Calibri"/>
                <a:cs typeface="Calibri"/>
                <a:sym typeface="Calibri"/>
              </a:rPr>
              <a:t>largest</a:t>
            </a:r>
            <a:r>
              <a:rPr lang="en-GB" sz="1200">
                <a:solidFill>
                  <a:schemeClr val="dk1"/>
                </a:solidFill>
                <a:latin typeface="Calibri"/>
                <a:ea typeface="Calibri"/>
                <a:cs typeface="Calibri"/>
                <a:sym typeface="Calibri"/>
              </a:rPr>
              <a:t> integer that makes each statement true?</a:t>
            </a:r>
            <a:endParaRPr/>
          </a:p>
        </p:txBody>
      </p:sp>
      <p:graphicFrame>
        <p:nvGraphicFramePr>
          <p:cNvPr id="185" name="Google Shape;185;p16"/>
          <p:cNvGraphicFramePr/>
          <p:nvPr/>
        </p:nvGraphicFramePr>
        <p:xfrm>
          <a:off x="244304" y="377309"/>
          <a:ext cx="3000000" cy="3000000"/>
        </p:xfrm>
        <a:graphic>
          <a:graphicData uri="http://schemas.openxmlformats.org/drawingml/2006/table">
            <a:tbl>
              <a:tblPr bandRow="1" firstRow="1">
                <a:noFill/>
                <a:tableStyleId>{89DAE5B5-D852-48E7-99B0-D29FA4E4346D}</a:tableStyleId>
              </a:tblPr>
              <a:tblGrid>
                <a:gridCol w="4074725"/>
                <a:gridCol w="2269975"/>
              </a:tblGrid>
              <a:tr h="432000">
                <a:tc>
                  <a:txBody>
                    <a:bodyPr/>
                    <a:lstStyle/>
                    <a:p>
                      <a:pPr indent="0" lvl="0" marL="0" marR="0" rtl="0" algn="ctr">
                        <a:spcBef>
                          <a:spcPts val="0"/>
                        </a:spcBef>
                        <a:spcAft>
                          <a:spcPts val="0"/>
                        </a:spcAft>
                        <a:buNone/>
                      </a:pPr>
                      <a:r>
                        <a:rPr b="0" lang="en-GB" sz="1200">
                          <a:solidFill>
                            <a:schemeClr val="dk1"/>
                          </a:solidFill>
                        </a:rPr>
                        <a:t>______ &lt; -100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-500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-501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-1500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-1501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6" name="Google Shape;186;p16"/>
          <p:cNvSpPr txBox="1"/>
          <p:nvPr/>
        </p:nvSpPr>
        <p:spPr>
          <a:xfrm>
            <a:off x="152362" y="2243808"/>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8. What is the </a:t>
            </a:r>
            <a:r>
              <a:rPr b="1" lang="en-GB" sz="1200">
                <a:solidFill>
                  <a:schemeClr val="dk1"/>
                </a:solidFill>
                <a:latin typeface="Calibri"/>
                <a:ea typeface="Calibri"/>
                <a:cs typeface="Calibri"/>
                <a:sym typeface="Calibri"/>
              </a:rPr>
              <a:t>smallest</a:t>
            </a:r>
            <a:r>
              <a:rPr lang="en-GB" sz="1200">
                <a:solidFill>
                  <a:schemeClr val="dk1"/>
                </a:solidFill>
                <a:latin typeface="Calibri"/>
                <a:ea typeface="Calibri"/>
                <a:cs typeface="Calibri"/>
                <a:sym typeface="Calibri"/>
              </a:rPr>
              <a:t> integer that makes each statement true?</a:t>
            </a:r>
            <a:endParaRPr/>
          </a:p>
        </p:txBody>
      </p:sp>
      <p:graphicFrame>
        <p:nvGraphicFramePr>
          <p:cNvPr id="187" name="Google Shape;187;p16"/>
          <p:cNvGraphicFramePr/>
          <p:nvPr/>
        </p:nvGraphicFramePr>
        <p:xfrm>
          <a:off x="244304" y="2522905"/>
          <a:ext cx="3000000" cy="3000000"/>
        </p:xfrm>
        <a:graphic>
          <a:graphicData uri="http://schemas.openxmlformats.org/drawingml/2006/table">
            <a:tbl>
              <a:tblPr bandRow="1" firstRow="1">
                <a:noFill/>
                <a:tableStyleId>{89DAE5B5-D852-48E7-99B0-D29FA4E4346D}</a:tableStyleId>
              </a:tblPr>
              <a:tblGrid>
                <a:gridCol w="4078400"/>
                <a:gridCol w="2266275"/>
              </a:tblGrid>
              <a:tr h="432000">
                <a:tc>
                  <a:txBody>
                    <a:bodyPr/>
                    <a:lstStyle/>
                    <a:p>
                      <a:pPr indent="0" lvl="0" marL="0" marR="0" rtl="0" algn="ctr">
                        <a:spcBef>
                          <a:spcPts val="0"/>
                        </a:spcBef>
                        <a:spcAft>
                          <a:spcPts val="0"/>
                        </a:spcAft>
                        <a:buNone/>
                      </a:pPr>
                      <a:r>
                        <a:rPr b="0" lang="en-GB" sz="1200">
                          <a:solidFill>
                            <a:schemeClr val="dk1"/>
                          </a:solidFill>
                        </a:rPr>
                        <a:t>-489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-488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-3800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-3799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spcBef>
                          <a:spcPts val="0"/>
                        </a:spcBef>
                        <a:spcAft>
                          <a:spcPts val="0"/>
                        </a:spcAft>
                        <a:buNone/>
                      </a:pPr>
                      <a:r>
                        <a:rPr b="0" lang="en-GB" sz="1200">
                          <a:solidFill>
                            <a:schemeClr val="dk1"/>
                          </a:solidFill>
                        </a:rPr>
                        <a:t>-10 000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-9999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Negative six hundred and ninety nine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-698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8" name="Google Shape;188;p16"/>
          <p:cNvSpPr txBox="1"/>
          <p:nvPr/>
        </p:nvSpPr>
        <p:spPr>
          <a:xfrm>
            <a:off x="5137377" y="9186423"/>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189" name="Google Shape;189;p16"/>
          <p:cNvGraphicFramePr/>
          <p:nvPr/>
        </p:nvGraphicFramePr>
        <p:xfrm>
          <a:off x="244304" y="5235075"/>
          <a:ext cx="3000000" cy="3000000"/>
        </p:xfrm>
        <a:graphic>
          <a:graphicData uri="http://schemas.openxmlformats.org/drawingml/2006/table">
            <a:tbl>
              <a:tblPr bandRow="1" firstRow="1">
                <a:noFill/>
                <a:tableStyleId>{89DAE5B5-D852-48E7-99B0-D29FA4E4346D}</a:tableStyleId>
              </a:tblPr>
              <a:tblGrid>
                <a:gridCol w="1094650"/>
                <a:gridCol w="1750025"/>
                <a:gridCol w="1750025"/>
                <a:gridCol w="1750025"/>
              </a:tblGrid>
              <a:tr h="5343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7247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Look at the number and the symbol.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-12</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-806</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-114</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538150">
                <a:tc>
                  <a:txBody>
                    <a:bodyPr/>
                    <a:lstStyle/>
                    <a:p>
                      <a:pPr indent="0" lvl="0" marL="0" marR="0" rtl="0" algn="ctr">
                        <a:spcBef>
                          <a:spcPts val="0"/>
                        </a:spcBef>
                        <a:spcAft>
                          <a:spcPts val="0"/>
                        </a:spcAft>
                        <a:buNone/>
                      </a:pPr>
                      <a:r>
                        <a:rPr lang="en-GB" sz="1200">
                          <a:solidFill>
                            <a:schemeClr val="dk1"/>
                          </a:solidFill>
                        </a:rPr>
                        <a:t>Use the symbol to decide whether you are listing numbers great than or equal to, or less than or equal to that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190" name="Google Shape;190;p16"/>
          <p:cNvSpPr txBox="1"/>
          <p:nvPr/>
        </p:nvSpPr>
        <p:spPr>
          <a:xfrm>
            <a:off x="1616305" y="4985537"/>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10 - I do…</a:t>
            </a:r>
            <a:endParaRPr/>
          </a:p>
        </p:txBody>
      </p:sp>
      <p:sp>
        <p:nvSpPr>
          <p:cNvPr id="191" name="Google Shape;191;p16"/>
          <p:cNvSpPr txBox="1"/>
          <p:nvPr/>
        </p:nvSpPr>
        <p:spPr>
          <a:xfrm>
            <a:off x="4945591" y="498553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12 – You do…</a:t>
            </a:r>
            <a:endParaRPr/>
          </a:p>
        </p:txBody>
      </p:sp>
      <p:sp>
        <p:nvSpPr>
          <p:cNvPr id="192" name="Google Shape;192;p16"/>
          <p:cNvSpPr txBox="1"/>
          <p:nvPr/>
        </p:nvSpPr>
        <p:spPr>
          <a:xfrm>
            <a:off x="3200058" y="498553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11 – We do…</a:t>
            </a:r>
            <a:endParaRPr/>
          </a:p>
        </p:txBody>
      </p:sp>
      <p:sp>
        <p:nvSpPr>
          <p:cNvPr id="193" name="Google Shape;193;p16"/>
          <p:cNvSpPr/>
          <p:nvPr/>
        </p:nvSpPr>
        <p:spPr>
          <a:xfrm>
            <a:off x="244304" y="4387306"/>
            <a:ext cx="6344692" cy="39465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or equal to’ and ‘Less than or equal to ’ symbols to compare negative integers</a:t>
            </a:r>
            <a:endParaRPr/>
          </a:p>
        </p:txBody>
      </p:sp>
      <p:sp>
        <p:nvSpPr>
          <p:cNvPr id="194" name="Google Shape;194;p16"/>
          <p:cNvSpPr txBox="1"/>
          <p:nvPr/>
        </p:nvSpPr>
        <p:spPr>
          <a:xfrm>
            <a:off x="506186" y="6523124"/>
            <a:ext cx="34290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GB" sz="1600">
                <a:solidFill>
                  <a:srgbClr val="FF0000"/>
                </a:solidFill>
                <a:latin typeface="Calibri"/>
                <a:ea typeface="Calibri"/>
                <a:cs typeface="Calibri"/>
                <a:sym typeface="Calibri"/>
              </a:rPr>
              <a:t>-12, -11, -10, -9, -8</a:t>
            </a:r>
            <a:endParaRPr/>
          </a:p>
        </p:txBody>
      </p:sp>
      <p:sp>
        <p:nvSpPr>
          <p:cNvPr id="195" name="Google Shape;195;p16"/>
          <p:cNvSpPr txBox="1"/>
          <p:nvPr/>
        </p:nvSpPr>
        <p:spPr>
          <a:xfrm>
            <a:off x="2220686" y="6902327"/>
            <a:ext cx="34290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200"/>
              <a:buFont typeface="Calibri"/>
              <a:buNone/>
            </a:pPr>
            <a:r>
              <a:rPr b="1" i="0" lang="en-GB" sz="1200" u="none" cap="none" strike="noStrike">
                <a:solidFill>
                  <a:srgbClr val="FF0000"/>
                </a:solidFill>
                <a:latin typeface="Calibri"/>
                <a:ea typeface="Calibri"/>
                <a:cs typeface="Calibri"/>
                <a:sym typeface="Calibri"/>
              </a:rPr>
              <a:t>-806, -805, -804, -803, -802</a:t>
            </a:r>
            <a:endParaRPr/>
          </a:p>
        </p:txBody>
      </p:sp>
      <p:sp>
        <p:nvSpPr>
          <p:cNvPr id="196" name="Google Shape;196;p16"/>
          <p:cNvSpPr txBox="1"/>
          <p:nvPr/>
        </p:nvSpPr>
        <p:spPr>
          <a:xfrm>
            <a:off x="3990395" y="6536500"/>
            <a:ext cx="34290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200"/>
              <a:buFont typeface="Calibri"/>
              <a:buNone/>
            </a:pPr>
            <a:r>
              <a:rPr b="1" i="0" lang="en-GB" sz="1200" u="none" cap="none" strike="noStrike">
                <a:solidFill>
                  <a:srgbClr val="FF0000"/>
                </a:solidFill>
                <a:latin typeface="Calibri"/>
                <a:ea typeface="Calibri"/>
                <a:cs typeface="Calibri"/>
                <a:sym typeface="Calibri"/>
              </a:rPr>
              <a:t>-114, -113, -112, -111, -110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nvSpPr>
        <p:spPr>
          <a:xfrm>
            <a:off x="5172187" y="9228605"/>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203" name="Google Shape;203;p17"/>
          <p:cNvGraphicFramePr/>
          <p:nvPr/>
        </p:nvGraphicFramePr>
        <p:xfrm>
          <a:off x="142761" y="402772"/>
          <a:ext cx="3000000" cy="3000000"/>
        </p:xfrm>
        <a:graphic>
          <a:graphicData uri="http://schemas.openxmlformats.org/drawingml/2006/table">
            <a:tbl>
              <a:tblPr bandRow="1" firstRow="1">
                <a:noFill/>
                <a:tableStyleId>{89DAE5B5-D852-48E7-99B0-D29FA4E4346D}</a:tableStyleId>
              </a:tblPr>
              <a:tblGrid>
                <a:gridCol w="1283275"/>
                <a:gridCol w="1763075"/>
                <a:gridCol w="1763075"/>
                <a:gridCol w="1763075"/>
              </a:tblGrid>
              <a:tr h="396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0972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Look at the number and the symbol.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-12</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-806</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-114</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ctr">
                        <a:spcBef>
                          <a:spcPts val="0"/>
                        </a:spcBef>
                        <a:spcAft>
                          <a:spcPts val="0"/>
                        </a:spcAft>
                        <a:buNone/>
                      </a:pPr>
                      <a:r>
                        <a:rPr lang="en-GB" sz="1200">
                          <a:solidFill>
                            <a:schemeClr val="dk1"/>
                          </a:solidFill>
                        </a:rPr>
                        <a:t>Use the symbol to decide whether you are listing numbers great than or equal to, or less than or equal to that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204" name="Google Shape;204;p17"/>
          <p:cNvSpPr txBox="1"/>
          <p:nvPr/>
        </p:nvSpPr>
        <p:spPr>
          <a:xfrm>
            <a:off x="1572762" y="142688"/>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13 - I do…</a:t>
            </a:r>
            <a:endParaRPr/>
          </a:p>
        </p:txBody>
      </p:sp>
      <p:sp>
        <p:nvSpPr>
          <p:cNvPr id="205" name="Google Shape;205;p17"/>
          <p:cNvSpPr txBox="1"/>
          <p:nvPr/>
        </p:nvSpPr>
        <p:spPr>
          <a:xfrm>
            <a:off x="5071833" y="142688"/>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15 – You do…</a:t>
            </a:r>
            <a:endParaRPr/>
          </a:p>
        </p:txBody>
      </p:sp>
      <p:sp>
        <p:nvSpPr>
          <p:cNvPr id="206" name="Google Shape;206;p17"/>
          <p:cNvSpPr txBox="1"/>
          <p:nvPr/>
        </p:nvSpPr>
        <p:spPr>
          <a:xfrm>
            <a:off x="3314805" y="13423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14 – We do…</a:t>
            </a:r>
            <a:endParaRPr/>
          </a:p>
        </p:txBody>
      </p:sp>
      <p:sp>
        <p:nvSpPr>
          <p:cNvPr id="207" name="Google Shape;207;p17"/>
          <p:cNvSpPr/>
          <p:nvPr/>
        </p:nvSpPr>
        <p:spPr>
          <a:xfrm>
            <a:off x="142761" y="3411738"/>
            <a:ext cx="1137954" cy="433417"/>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208" name="Google Shape;208;p17"/>
          <p:cNvSpPr txBox="1"/>
          <p:nvPr/>
        </p:nvSpPr>
        <p:spPr>
          <a:xfrm>
            <a:off x="1280715" y="3628446"/>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9. List the first five integers that satisfy each of the following inequalities</a:t>
            </a:r>
            <a:endParaRPr/>
          </a:p>
        </p:txBody>
      </p:sp>
      <p:graphicFrame>
        <p:nvGraphicFramePr>
          <p:cNvPr id="209" name="Google Shape;209;p17"/>
          <p:cNvGraphicFramePr/>
          <p:nvPr/>
        </p:nvGraphicFramePr>
        <p:xfrm>
          <a:off x="142760" y="3949825"/>
          <a:ext cx="3000000" cy="3000000"/>
        </p:xfrm>
        <a:graphic>
          <a:graphicData uri="http://schemas.openxmlformats.org/drawingml/2006/table">
            <a:tbl>
              <a:tblPr bandRow="1" firstRow="1">
                <a:noFill/>
                <a:tableStyleId>{89DAE5B5-D852-48E7-99B0-D29FA4E4346D}</a:tableStyleId>
              </a:tblPr>
              <a:tblGrid>
                <a:gridCol w="2981450"/>
                <a:gridCol w="3591025"/>
              </a:tblGrid>
              <a:tr h="432000">
                <a:tc>
                  <a:txBody>
                    <a:bodyPr/>
                    <a:lstStyle/>
                    <a:p>
                      <a:pPr indent="0" lvl="0" marL="0" marR="0" rtl="0" algn="ctr">
                        <a:spcBef>
                          <a:spcPts val="0"/>
                        </a:spcBef>
                        <a:spcAft>
                          <a:spcPts val="0"/>
                        </a:spcAft>
                        <a:buNone/>
                      </a:pPr>
                      <a:r>
                        <a:rPr b="0" lang="en-GB" sz="1200">
                          <a:solidFill>
                            <a:schemeClr val="dk1"/>
                          </a:solidFill>
                        </a:rPr>
                        <a:t>______  ≤ -16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600">
                          <a:solidFill>
                            <a:srgbClr val="FF0000"/>
                          </a:solidFill>
                        </a:rPr>
                        <a:t>-16, -17, -18, -19, -20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-52, -51, -50, -49, -48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-14, -15, -16, -17, -18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600"/>
                        <a:buFont typeface="Calibri"/>
                        <a:buNone/>
                      </a:pPr>
                      <a:r>
                        <a:rPr b="1" lang="en-GB" sz="1600">
                          <a:solidFill>
                            <a:srgbClr val="FF0000"/>
                          </a:solidFill>
                        </a:rPr>
                        <a:t>-13, -14, -15, -16, -17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&gt;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-12, -11, -10, -9, -8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600"/>
                        <a:buFont typeface="Calibri"/>
                        <a:buNone/>
                      </a:pPr>
                      <a:r>
                        <a:rPr b="1" lang="en-GB" sz="1600">
                          <a:solidFill>
                            <a:srgbClr val="FF0000"/>
                          </a:solidFill>
                        </a:rPr>
                        <a:t>-13, -12, -11, -10, -9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-796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-796, -797, -798, -799, -800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-1080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300"/>
                        <a:buFont typeface="Calibri"/>
                        <a:buNone/>
                      </a:pPr>
                      <a:r>
                        <a:rPr b="1" lang="en-GB" sz="1300">
                          <a:solidFill>
                            <a:srgbClr val="FF0000"/>
                          </a:solidFill>
                        </a:rPr>
                        <a:t>-1080, -1079, -1078, -1077, -1076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Negative three thousand and sixteen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300">
                          <a:solidFill>
                            <a:srgbClr val="FF0000"/>
                          </a:solidFill>
                        </a:rPr>
                        <a:t>-3016, -3015, -3014, -3013, -3012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Negative ten thousand, four hundred and eighty nine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200">
                          <a:solidFill>
                            <a:srgbClr val="FF0000"/>
                          </a:solidFill>
                        </a:rPr>
                        <a:t>-10 489, -10 490, -10 491, -10 492,     -10 493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 , -2, -3, -4, -5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600"/>
                        <a:buFont typeface="Calibri"/>
                        <a:buNone/>
                      </a:pPr>
                      <a:r>
                        <a:rPr b="1" lang="en-GB" sz="1600">
                          <a:solidFill>
                            <a:srgbClr val="FF0000"/>
                          </a:solidFill>
                        </a:rPr>
                        <a:t>0, -1 , -2, -3, -4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10" name="Google Shape;210;p17"/>
          <p:cNvSpPr txBox="1"/>
          <p:nvPr/>
        </p:nvSpPr>
        <p:spPr>
          <a:xfrm>
            <a:off x="-1344107" y="1701031"/>
            <a:ext cx="7244442"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Calibri"/>
              <a:buNone/>
            </a:pPr>
            <a:r>
              <a:rPr b="1" lang="en-GB" sz="1400">
                <a:solidFill>
                  <a:srgbClr val="FF0000"/>
                </a:solidFill>
                <a:latin typeface="Calibri"/>
                <a:ea typeface="Calibri"/>
                <a:cs typeface="Calibri"/>
                <a:sym typeface="Calibri"/>
              </a:rPr>
              <a:t>-12, -13, -14, -15, -16</a:t>
            </a:r>
            <a:endParaRPr/>
          </a:p>
        </p:txBody>
      </p:sp>
      <p:sp>
        <p:nvSpPr>
          <p:cNvPr id="211" name="Google Shape;211;p17"/>
          <p:cNvSpPr txBox="1"/>
          <p:nvPr/>
        </p:nvSpPr>
        <p:spPr>
          <a:xfrm>
            <a:off x="405429" y="1709488"/>
            <a:ext cx="7244442"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latin typeface="Calibri"/>
                <a:ea typeface="Calibri"/>
                <a:cs typeface="Calibri"/>
                <a:sym typeface="Calibri"/>
              </a:rPr>
              <a:t>-806, -807, -808, -809, -810</a:t>
            </a:r>
            <a:endParaRPr/>
          </a:p>
        </p:txBody>
      </p:sp>
      <p:sp>
        <p:nvSpPr>
          <p:cNvPr id="212" name="Google Shape;212;p17"/>
          <p:cNvSpPr txBox="1"/>
          <p:nvPr/>
        </p:nvSpPr>
        <p:spPr>
          <a:xfrm>
            <a:off x="2053633" y="1922644"/>
            <a:ext cx="7396842"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200"/>
              <a:buFont typeface="Calibri"/>
              <a:buNone/>
            </a:pPr>
            <a:r>
              <a:rPr b="1" lang="en-GB" sz="1200">
                <a:solidFill>
                  <a:srgbClr val="FF0000"/>
                </a:solidFill>
                <a:latin typeface="Calibri"/>
                <a:ea typeface="Calibri"/>
                <a:cs typeface="Calibri"/>
                <a:sym typeface="Calibri"/>
              </a:rPr>
              <a:t>-114, -115, -116, -117, -118</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8"/>
          <p:cNvSpPr txBox="1"/>
          <p:nvPr/>
        </p:nvSpPr>
        <p:spPr>
          <a:xfrm>
            <a:off x="5211736" y="9485175"/>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219" name="Google Shape;219;p18"/>
          <p:cNvGraphicFramePr/>
          <p:nvPr/>
        </p:nvGraphicFramePr>
        <p:xfrm>
          <a:off x="164169" y="197200"/>
          <a:ext cx="3000000" cy="3000000"/>
        </p:xfrm>
        <a:graphic>
          <a:graphicData uri="http://schemas.openxmlformats.org/drawingml/2006/table">
            <a:tbl>
              <a:tblPr bandRow="1" firstRow="1">
                <a:noFill/>
                <a:tableStyleId>{89DAE5B5-D852-48E7-99B0-D29FA4E4346D}</a:tableStyleId>
              </a:tblPr>
              <a:tblGrid>
                <a:gridCol w="6529650"/>
              </a:tblGrid>
              <a:tr h="1098200">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10. </a:t>
                      </a:r>
                      <a:r>
                        <a:rPr b="0" i="0" lang="en-GB" sz="1200" u="none" cap="none" strike="noStrike">
                          <a:solidFill>
                            <a:srgbClr val="000000"/>
                          </a:solidFill>
                          <a:latin typeface="Calibri"/>
                          <a:ea typeface="Calibri"/>
                          <a:cs typeface="Calibri"/>
                          <a:sym typeface="Calibri"/>
                        </a:rPr>
                        <a:t>Which of the following is equivalent to -5 ≥ ?</a:t>
                      </a:r>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a) ? ≥ -5                             b) ? &gt; -5                              c) ? ≤ -5                             d) -5 ≤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84900">
                <a:tc>
                  <a:txBody>
                    <a:bodyPr/>
                    <a:lstStyle/>
                    <a:p>
                      <a:pPr indent="0" lvl="0" marL="0" marR="0" rtl="0" algn="l">
                        <a:lnSpc>
                          <a:spcPct val="100000"/>
                        </a:lnSpc>
                        <a:spcBef>
                          <a:spcPts val="0"/>
                        </a:spcBef>
                        <a:spcAft>
                          <a:spcPts val="0"/>
                        </a:spcAft>
                        <a:buClr>
                          <a:schemeClr val="dk1"/>
                        </a:buClr>
                        <a:buSzPts val="1200"/>
                        <a:buFont typeface="Calibri"/>
                        <a:buNone/>
                      </a:pPr>
                      <a:r>
                        <a:rPr lang="en-GB" sz="1200"/>
                        <a:t>11. </a:t>
                      </a:r>
                      <a:r>
                        <a:rPr b="0" i="0" lang="en-GB" sz="1200" u="none" cap="none" strike="noStrike">
                          <a:solidFill>
                            <a:srgbClr val="000000"/>
                          </a:solidFill>
                          <a:latin typeface="Calibri"/>
                          <a:ea typeface="Calibri"/>
                          <a:cs typeface="Calibri"/>
                          <a:sym typeface="Calibri"/>
                        </a:rPr>
                        <a:t>Which of the following says that the missing number, ?,  is at least -7?</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 </a:t>
                      </a:r>
                      <a:endParaRPr/>
                    </a:p>
                    <a:p>
                      <a:pPr indent="0" lvl="0" marL="0" marR="0" rtl="0" algn="ctr">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a) ? &lt; -7                             b) ? &gt; -7                              c) ? ≤ -7                             d) ? ≥ -7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20" name="Google Shape;220;p18"/>
          <p:cNvSpPr txBox="1"/>
          <p:nvPr/>
        </p:nvSpPr>
        <p:spPr>
          <a:xfrm>
            <a:off x="80555" y="2390076"/>
            <a:ext cx="617770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1</a:t>
            </a:r>
            <a:r>
              <a:rPr lang="en-GB" sz="1200">
                <a:solidFill>
                  <a:schemeClr val="dk1"/>
                </a:solidFill>
                <a:latin typeface="Calibri"/>
                <a:ea typeface="Calibri"/>
                <a:cs typeface="Calibri"/>
                <a:sym typeface="Calibri"/>
              </a:rPr>
              <a:t>2</a:t>
            </a:r>
            <a:r>
              <a:rPr b="0" lang="en-GB" sz="1200">
                <a:solidFill>
                  <a:schemeClr val="dk1"/>
                </a:solidFill>
                <a:latin typeface="Calibri"/>
                <a:ea typeface="Calibri"/>
                <a:cs typeface="Calibri"/>
                <a:sym typeface="Calibri"/>
              </a:rPr>
              <a:t>. Fill in the missing symbol ( &gt;, &lt;,  ≤,  ≥), based on the first five integers that have been listed to satisfy the inequality.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graphicFrame>
        <p:nvGraphicFramePr>
          <p:cNvPr id="221" name="Google Shape;221;p18"/>
          <p:cNvGraphicFramePr/>
          <p:nvPr/>
        </p:nvGraphicFramePr>
        <p:xfrm>
          <a:off x="164169" y="2858468"/>
          <a:ext cx="3000000" cy="3000000"/>
        </p:xfrm>
        <a:graphic>
          <a:graphicData uri="http://schemas.openxmlformats.org/drawingml/2006/table">
            <a:tbl>
              <a:tblPr bandRow="1" firstRow="1">
                <a:noFill/>
                <a:tableStyleId>{89DAE5B5-D852-48E7-99B0-D29FA4E4346D}</a:tableStyleId>
              </a:tblPr>
              <a:tblGrid>
                <a:gridCol w="1525475"/>
                <a:gridCol w="465750"/>
                <a:gridCol w="1034150"/>
                <a:gridCol w="3504325"/>
              </a:tblGrid>
              <a:tr h="152400">
                <a:tc gridSpan="3">
                  <a:txBody>
                    <a:bodyPr/>
                    <a:lstStyle/>
                    <a:p>
                      <a:pPr indent="0" lvl="0" marL="0" marR="0" rtl="0" algn="ctr">
                        <a:spcBef>
                          <a:spcPts val="0"/>
                        </a:spcBef>
                        <a:spcAft>
                          <a:spcPts val="0"/>
                        </a:spcAft>
                        <a:buNone/>
                      </a:pPr>
                      <a:r>
                        <a:rPr b="1" lang="en-GB" sz="1200">
                          <a:solidFill>
                            <a:schemeClr val="dk1"/>
                          </a:solidFill>
                        </a:rPr>
                        <a:t>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a:txBody>
                    <a:bodyPr/>
                    <a:lstStyle/>
                    <a:p>
                      <a:pPr indent="0" lvl="0" marL="0" marR="0" rtl="0" algn="ctr">
                        <a:spcBef>
                          <a:spcPts val="0"/>
                        </a:spcBef>
                        <a:spcAft>
                          <a:spcPts val="0"/>
                        </a:spcAft>
                        <a:buNone/>
                      </a:pPr>
                      <a:r>
                        <a:rPr lang="en-GB" sz="1200">
                          <a:solidFill>
                            <a:schemeClr val="dk1"/>
                          </a:solidFill>
                        </a:rPr>
                        <a:t>First five integers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0375">
                <a:tc>
                  <a:txBody>
                    <a:bodyPr/>
                    <a:lstStyle/>
                    <a:p>
                      <a:pPr indent="0" lvl="0" marL="0" marR="0" rtl="0" algn="ctr">
                        <a:spcBef>
                          <a:spcPts val="0"/>
                        </a:spcBef>
                        <a:spcAft>
                          <a:spcPts val="0"/>
                        </a:spcAft>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rPr>
                        <a:t>-7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-8, -9, -10, -11, -12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-114</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-114, -113, -112, -111, -110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-71</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-70, -69, -68, -67, -66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-1080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-1080, -1079, -1078, -1077, -1076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-6008</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-6008, -6009, -6010, -6011, -6012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Negative five thousand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-4999, -4998, -4997, -4996, -4995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Negative five thousand</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-5000, -5001, -5002, -5003, -5004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-2 000 000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Negative two million, negative two million and one, negative two million and two, negative two million and three, negative two million and four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-600 285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Negative six hundred thousand two hundred and eighty four, negative six hundred thousand two hundred and eighty three, negative six hundred thousand two hundred and eighty two, negative six hundred thousand two hundred and eighty one, negative six hundred thousand two hundred and eighty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Zero, negative one, negative two, negative three, negative four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Negative one, negative two, negative three, negative four, negative five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22" name="Google Shape;222;p18"/>
          <p:cNvSpPr/>
          <p:nvPr/>
        </p:nvSpPr>
        <p:spPr>
          <a:xfrm>
            <a:off x="1519645" y="3151013"/>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8"/>
          <p:cNvSpPr/>
          <p:nvPr/>
        </p:nvSpPr>
        <p:spPr>
          <a:xfrm>
            <a:off x="1522116" y="3633189"/>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8"/>
          <p:cNvSpPr/>
          <p:nvPr/>
        </p:nvSpPr>
        <p:spPr>
          <a:xfrm>
            <a:off x="1519436" y="4152965"/>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8"/>
          <p:cNvSpPr/>
          <p:nvPr/>
        </p:nvSpPr>
        <p:spPr>
          <a:xfrm>
            <a:off x="1508551" y="4676265"/>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8"/>
          <p:cNvSpPr/>
          <p:nvPr/>
        </p:nvSpPr>
        <p:spPr>
          <a:xfrm>
            <a:off x="1505871" y="5163659"/>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8"/>
          <p:cNvSpPr/>
          <p:nvPr/>
        </p:nvSpPr>
        <p:spPr>
          <a:xfrm>
            <a:off x="1505871" y="5643048"/>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8"/>
          <p:cNvSpPr/>
          <p:nvPr/>
        </p:nvSpPr>
        <p:spPr>
          <a:xfrm>
            <a:off x="1505871" y="6165611"/>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18"/>
          <p:cNvSpPr/>
          <p:nvPr/>
        </p:nvSpPr>
        <p:spPr>
          <a:xfrm>
            <a:off x="1505871" y="6774422"/>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18"/>
          <p:cNvSpPr/>
          <p:nvPr/>
        </p:nvSpPr>
        <p:spPr>
          <a:xfrm>
            <a:off x="1505871" y="7776374"/>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8"/>
          <p:cNvSpPr/>
          <p:nvPr/>
        </p:nvSpPr>
        <p:spPr>
          <a:xfrm>
            <a:off x="1505871" y="8671878"/>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8"/>
          <p:cNvSpPr/>
          <p:nvPr/>
        </p:nvSpPr>
        <p:spPr>
          <a:xfrm>
            <a:off x="1505871" y="9190236"/>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8"/>
          <p:cNvSpPr/>
          <p:nvPr/>
        </p:nvSpPr>
        <p:spPr>
          <a:xfrm>
            <a:off x="3700818" y="750218"/>
            <a:ext cx="914400" cy="311872"/>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8"/>
          <p:cNvSpPr/>
          <p:nvPr/>
        </p:nvSpPr>
        <p:spPr>
          <a:xfrm>
            <a:off x="5343861" y="1839115"/>
            <a:ext cx="914400" cy="311872"/>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8"/>
          <p:cNvSpPr txBox="1"/>
          <p:nvPr/>
        </p:nvSpPr>
        <p:spPr>
          <a:xfrm>
            <a:off x="1519436" y="3036407"/>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236" name="Google Shape;236;p18"/>
          <p:cNvSpPr txBox="1"/>
          <p:nvPr/>
        </p:nvSpPr>
        <p:spPr>
          <a:xfrm rot="10800000">
            <a:off x="661938" y="4056754"/>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237" name="Google Shape;237;p18"/>
          <p:cNvSpPr txBox="1"/>
          <p:nvPr/>
        </p:nvSpPr>
        <p:spPr>
          <a:xfrm>
            <a:off x="1549043" y="3595256"/>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238" name="Google Shape;238;p18"/>
          <p:cNvSpPr txBox="1"/>
          <p:nvPr/>
        </p:nvSpPr>
        <p:spPr>
          <a:xfrm>
            <a:off x="1507920" y="4573512"/>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239" name="Google Shape;239;p18"/>
          <p:cNvSpPr txBox="1"/>
          <p:nvPr/>
        </p:nvSpPr>
        <p:spPr>
          <a:xfrm>
            <a:off x="1507920" y="5087885"/>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240" name="Google Shape;240;p18"/>
          <p:cNvSpPr txBox="1"/>
          <p:nvPr/>
        </p:nvSpPr>
        <p:spPr>
          <a:xfrm rot="10800000">
            <a:off x="652214" y="5613444"/>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241" name="Google Shape;241;p18"/>
          <p:cNvSpPr txBox="1"/>
          <p:nvPr/>
        </p:nvSpPr>
        <p:spPr>
          <a:xfrm>
            <a:off x="1519436" y="6121354"/>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242" name="Google Shape;242;p18"/>
          <p:cNvSpPr txBox="1"/>
          <p:nvPr/>
        </p:nvSpPr>
        <p:spPr>
          <a:xfrm>
            <a:off x="1519436" y="6707352"/>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243" name="Google Shape;243;p18"/>
          <p:cNvSpPr txBox="1"/>
          <p:nvPr/>
        </p:nvSpPr>
        <p:spPr>
          <a:xfrm rot="10800000">
            <a:off x="693158" y="7773301"/>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244" name="Google Shape;244;p18"/>
          <p:cNvSpPr txBox="1"/>
          <p:nvPr/>
        </p:nvSpPr>
        <p:spPr>
          <a:xfrm>
            <a:off x="1549043" y="8666840"/>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245" name="Google Shape;245;p18"/>
          <p:cNvSpPr txBox="1"/>
          <p:nvPr/>
        </p:nvSpPr>
        <p:spPr>
          <a:xfrm rot="10800000">
            <a:off x="693158" y="9190558"/>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9"/>
          <p:cNvSpPr txBox="1"/>
          <p:nvPr>
            <p:ph idx="12" type="sldNum"/>
          </p:nvPr>
        </p:nvSpPr>
        <p:spPr>
          <a:xfrm>
            <a:off x="5105652" y="9325591"/>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1" name="Google Shape;251;p19"/>
          <p:cNvSpPr/>
          <p:nvPr/>
        </p:nvSpPr>
        <p:spPr>
          <a:xfrm>
            <a:off x="108488" y="88714"/>
            <a:ext cx="6014442" cy="369332"/>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or equal to’ and ‘Less than or equal to symbols to compare negative decimals</a:t>
            </a:r>
            <a:endParaRPr/>
          </a:p>
        </p:txBody>
      </p:sp>
      <p:graphicFrame>
        <p:nvGraphicFramePr>
          <p:cNvPr id="252" name="Google Shape;252;p19"/>
          <p:cNvGraphicFramePr/>
          <p:nvPr/>
        </p:nvGraphicFramePr>
        <p:xfrm>
          <a:off x="142761" y="792194"/>
          <a:ext cx="3000000" cy="3000000"/>
        </p:xfrm>
        <a:graphic>
          <a:graphicData uri="http://schemas.openxmlformats.org/drawingml/2006/table">
            <a:tbl>
              <a:tblPr bandRow="1" firstRow="1">
                <a:noFill/>
                <a:tableStyleId>{89DAE5B5-D852-48E7-99B0-D29FA4E4346D}</a:tableStyleId>
              </a:tblPr>
              <a:tblGrid>
                <a:gridCol w="949450"/>
                <a:gridCol w="1787400"/>
                <a:gridCol w="1917825"/>
                <a:gridCol w="1917825"/>
              </a:tblGrid>
              <a:tr h="396000">
                <a:tc>
                  <a:txBody>
                    <a:bodyPr/>
                    <a:lstStyle/>
                    <a:p>
                      <a:pPr indent="0" lvl="0" marL="0" marR="0" rtl="0" algn="l">
                        <a:spcBef>
                          <a:spcPts val="0"/>
                        </a:spcBef>
                        <a:spcAft>
                          <a:spcPts val="0"/>
                        </a:spcAft>
                        <a:buNone/>
                      </a:pPr>
                      <a:r>
                        <a:rPr b="1" lang="en-GB" sz="1100">
                          <a:solidFill>
                            <a:schemeClr val="dk1"/>
                          </a:solidFill>
                        </a:rPr>
                        <a:t>Steps</a:t>
                      </a:r>
                      <a:endParaRPr b="1"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Calibri"/>
                        <a:buNone/>
                      </a:pPr>
                      <a:r>
                        <a:rPr b="0" lang="en-GB" sz="1000">
                          <a:solidFill>
                            <a:schemeClr val="dk1"/>
                          </a:solidFill>
                        </a:rPr>
                        <a:t>Which is greater, -5.2 or -5.5?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Calibri"/>
                        <a:buNone/>
                      </a:pPr>
                      <a:r>
                        <a:rPr b="0" lang="en-GB" sz="1000">
                          <a:solidFill>
                            <a:schemeClr val="dk1"/>
                          </a:solidFill>
                        </a:rPr>
                        <a:t>Which is smaller, -0.14 or -0.13?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Calibri"/>
                        <a:buNone/>
                      </a:pPr>
                      <a:r>
                        <a:rPr b="0" lang="en-GB" sz="1000">
                          <a:solidFill>
                            <a:schemeClr val="dk1"/>
                          </a:solidFill>
                        </a:rPr>
                        <a:t>Which is greater, -0.71 or -0.68?</a:t>
                      </a:r>
                      <a:endParaRPr/>
                    </a:p>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66775">
                <a:tc>
                  <a:txBody>
                    <a:bodyPr/>
                    <a:lstStyle/>
                    <a:p>
                      <a:pPr indent="0" lvl="0" marL="0" marR="0" rtl="0" algn="ctr">
                        <a:spcBef>
                          <a:spcPts val="0"/>
                        </a:spcBef>
                        <a:spcAft>
                          <a:spcPts val="0"/>
                        </a:spcAft>
                        <a:buClr>
                          <a:schemeClr val="dk1"/>
                        </a:buClr>
                        <a:buSzPts val="1000"/>
                        <a:buFont typeface="Calibri"/>
                        <a:buNone/>
                      </a:pPr>
                      <a:r>
                        <a:rPr lang="en-GB" sz="1000">
                          <a:solidFill>
                            <a:schemeClr val="dk1"/>
                          </a:solidFill>
                        </a:rPr>
                        <a:t>Mark each number on the number line.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ctr">
                        <a:spcBef>
                          <a:spcPts val="0"/>
                        </a:spcBef>
                        <a:spcAft>
                          <a:spcPts val="0"/>
                        </a:spcAft>
                        <a:buNone/>
                      </a:pPr>
                      <a:r>
                        <a:rPr b="1" lang="en-GB" sz="1100">
                          <a:solidFill>
                            <a:srgbClr val="FF0000"/>
                          </a:solidFill>
                        </a:rPr>
                        <a:t>-5.2 as this value is closer to zero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b="1" sz="1100">
                        <a:solidFill>
                          <a:srgbClr val="FF0000"/>
                        </a:solidFill>
                      </a:endParaRPr>
                    </a:p>
                    <a:p>
                      <a:pPr indent="0" lvl="0" marL="0" marR="0" rtl="0" algn="ctr">
                        <a:spcBef>
                          <a:spcPts val="0"/>
                        </a:spcBef>
                        <a:spcAft>
                          <a:spcPts val="0"/>
                        </a:spcAft>
                        <a:buNone/>
                      </a:pPr>
                      <a:r>
                        <a:rPr b="1" lang="en-GB" sz="1100">
                          <a:solidFill>
                            <a:srgbClr val="FF0000"/>
                          </a:solidFill>
                        </a:rPr>
                        <a:t>-0.14 as this value is further from zero</a:t>
                      </a:r>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1" lang="en-GB" sz="1100">
                          <a:solidFill>
                            <a:srgbClr val="FF0000"/>
                          </a:solidFill>
                        </a:rPr>
                        <a:t>-0.68 as this value is closer to zero</a:t>
                      </a:r>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29850">
                <a:tc>
                  <a:txBody>
                    <a:bodyPr/>
                    <a:lstStyle/>
                    <a:p>
                      <a:pPr indent="0" lvl="0" marL="0" marR="0" rtl="0" algn="ctr">
                        <a:spcBef>
                          <a:spcPts val="0"/>
                        </a:spcBef>
                        <a:spcAft>
                          <a:spcPts val="0"/>
                        </a:spcAft>
                        <a:buNone/>
                      </a:pPr>
                      <a:r>
                        <a:rPr lang="en-GB" sz="1000">
                          <a:solidFill>
                            <a:schemeClr val="dk1"/>
                          </a:solidFill>
                        </a:rPr>
                        <a:t>The number that is closer to zero is the greater number. The number further away from zero is the smaller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253" name="Google Shape;253;p19"/>
          <p:cNvSpPr txBox="1"/>
          <p:nvPr/>
        </p:nvSpPr>
        <p:spPr>
          <a:xfrm>
            <a:off x="1210220" y="502967"/>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16 - I do…</a:t>
            </a:r>
            <a:endParaRPr/>
          </a:p>
        </p:txBody>
      </p:sp>
      <p:sp>
        <p:nvSpPr>
          <p:cNvPr id="254" name="Google Shape;254;p19"/>
          <p:cNvSpPr txBox="1"/>
          <p:nvPr/>
        </p:nvSpPr>
        <p:spPr>
          <a:xfrm>
            <a:off x="4953114" y="496146"/>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18 – You do…</a:t>
            </a:r>
            <a:endParaRPr/>
          </a:p>
        </p:txBody>
      </p:sp>
      <p:sp>
        <p:nvSpPr>
          <p:cNvPr id="255" name="Google Shape;255;p19"/>
          <p:cNvSpPr txBox="1"/>
          <p:nvPr/>
        </p:nvSpPr>
        <p:spPr>
          <a:xfrm>
            <a:off x="3053547" y="49767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17 – We do…</a:t>
            </a:r>
            <a:endParaRPr/>
          </a:p>
        </p:txBody>
      </p:sp>
      <p:pic>
        <p:nvPicPr>
          <p:cNvPr id="256" name="Google Shape;256;p19"/>
          <p:cNvPicPr preferRelativeResize="0"/>
          <p:nvPr/>
        </p:nvPicPr>
        <p:blipFill rotWithShape="1">
          <a:blip r:embed="rId3">
            <a:alphaModFix/>
          </a:blip>
          <a:srcRect b="7706" l="0" r="45433" t="0"/>
          <a:stretch/>
        </p:blipFill>
        <p:spPr>
          <a:xfrm>
            <a:off x="1150061" y="1377840"/>
            <a:ext cx="1718593" cy="374654"/>
          </a:xfrm>
          <a:prstGeom prst="rect">
            <a:avLst/>
          </a:prstGeom>
          <a:noFill/>
          <a:ln>
            <a:noFill/>
          </a:ln>
        </p:spPr>
      </p:pic>
      <p:sp>
        <p:nvSpPr>
          <p:cNvPr id="257" name="Google Shape;257;p19"/>
          <p:cNvSpPr/>
          <p:nvPr/>
        </p:nvSpPr>
        <p:spPr>
          <a:xfrm>
            <a:off x="1150061" y="1618771"/>
            <a:ext cx="1639080" cy="15277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19"/>
          <p:cNvSpPr txBox="1"/>
          <p:nvPr/>
        </p:nvSpPr>
        <p:spPr>
          <a:xfrm>
            <a:off x="2511813" y="1564607"/>
            <a:ext cx="5009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-5.1</a:t>
            </a:r>
            <a:endParaRPr/>
          </a:p>
        </p:txBody>
      </p:sp>
      <p:sp>
        <p:nvSpPr>
          <p:cNvPr id="259" name="Google Shape;259;p19"/>
          <p:cNvSpPr txBox="1"/>
          <p:nvPr/>
        </p:nvSpPr>
        <p:spPr>
          <a:xfrm>
            <a:off x="2205690" y="1558055"/>
            <a:ext cx="5009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-5.2</a:t>
            </a:r>
            <a:endParaRPr/>
          </a:p>
        </p:txBody>
      </p:sp>
      <p:sp>
        <p:nvSpPr>
          <p:cNvPr id="260" name="Google Shape;260;p19"/>
          <p:cNvSpPr txBox="1"/>
          <p:nvPr/>
        </p:nvSpPr>
        <p:spPr>
          <a:xfrm>
            <a:off x="1908484" y="1554380"/>
            <a:ext cx="5009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-5.3</a:t>
            </a:r>
            <a:endParaRPr/>
          </a:p>
        </p:txBody>
      </p:sp>
      <p:sp>
        <p:nvSpPr>
          <p:cNvPr id="261" name="Google Shape;261;p19"/>
          <p:cNvSpPr txBox="1"/>
          <p:nvPr/>
        </p:nvSpPr>
        <p:spPr>
          <a:xfrm>
            <a:off x="1617294" y="1550705"/>
            <a:ext cx="5009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-5.4</a:t>
            </a:r>
            <a:endParaRPr/>
          </a:p>
        </p:txBody>
      </p:sp>
      <p:sp>
        <p:nvSpPr>
          <p:cNvPr id="262" name="Google Shape;262;p19"/>
          <p:cNvSpPr txBox="1"/>
          <p:nvPr/>
        </p:nvSpPr>
        <p:spPr>
          <a:xfrm>
            <a:off x="1336044" y="1550704"/>
            <a:ext cx="5009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-5.5</a:t>
            </a:r>
            <a:endParaRPr/>
          </a:p>
        </p:txBody>
      </p:sp>
      <p:sp>
        <p:nvSpPr>
          <p:cNvPr id="263" name="Google Shape;263;p19"/>
          <p:cNvSpPr txBox="1"/>
          <p:nvPr/>
        </p:nvSpPr>
        <p:spPr>
          <a:xfrm>
            <a:off x="1001729" y="1542752"/>
            <a:ext cx="50093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-5.6</a:t>
            </a:r>
            <a:endParaRPr/>
          </a:p>
        </p:txBody>
      </p:sp>
      <p:pic>
        <p:nvPicPr>
          <p:cNvPr id="264" name="Google Shape;264;p19"/>
          <p:cNvPicPr preferRelativeResize="0"/>
          <p:nvPr/>
        </p:nvPicPr>
        <p:blipFill rotWithShape="1">
          <a:blip r:embed="rId3">
            <a:alphaModFix/>
          </a:blip>
          <a:srcRect b="7706" l="0" r="45433" t="0"/>
          <a:stretch/>
        </p:blipFill>
        <p:spPr>
          <a:xfrm>
            <a:off x="3042609" y="1378116"/>
            <a:ext cx="1718593" cy="374654"/>
          </a:xfrm>
          <a:prstGeom prst="rect">
            <a:avLst/>
          </a:prstGeom>
          <a:noFill/>
          <a:ln>
            <a:noFill/>
          </a:ln>
        </p:spPr>
      </p:pic>
      <p:sp>
        <p:nvSpPr>
          <p:cNvPr id="265" name="Google Shape;265;p19"/>
          <p:cNvSpPr/>
          <p:nvPr/>
        </p:nvSpPr>
        <p:spPr>
          <a:xfrm>
            <a:off x="3042609" y="1619047"/>
            <a:ext cx="1639080" cy="15277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266" name="Google Shape;266;p19"/>
          <p:cNvSpPr txBox="1"/>
          <p:nvPr/>
        </p:nvSpPr>
        <p:spPr>
          <a:xfrm>
            <a:off x="4406375" y="1550701"/>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-0.12</a:t>
            </a:r>
            <a:endParaRPr/>
          </a:p>
        </p:txBody>
      </p:sp>
      <p:sp>
        <p:nvSpPr>
          <p:cNvPr id="267" name="Google Shape;267;p19"/>
          <p:cNvSpPr txBox="1"/>
          <p:nvPr/>
        </p:nvSpPr>
        <p:spPr>
          <a:xfrm>
            <a:off x="4122558" y="1554674"/>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-0.13</a:t>
            </a:r>
            <a:endParaRPr/>
          </a:p>
        </p:txBody>
      </p:sp>
      <p:sp>
        <p:nvSpPr>
          <p:cNvPr id="268" name="Google Shape;268;p19"/>
          <p:cNvSpPr txBox="1"/>
          <p:nvPr/>
        </p:nvSpPr>
        <p:spPr>
          <a:xfrm>
            <a:off x="3824435" y="1542751"/>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-0.14</a:t>
            </a:r>
            <a:endParaRPr/>
          </a:p>
        </p:txBody>
      </p:sp>
      <p:sp>
        <p:nvSpPr>
          <p:cNvPr id="269" name="Google Shape;269;p19"/>
          <p:cNvSpPr txBox="1"/>
          <p:nvPr/>
        </p:nvSpPr>
        <p:spPr>
          <a:xfrm>
            <a:off x="3534212" y="1547083"/>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-0.15</a:t>
            </a:r>
            <a:endParaRPr/>
          </a:p>
        </p:txBody>
      </p:sp>
      <p:sp>
        <p:nvSpPr>
          <p:cNvPr id="270" name="Google Shape;270;p19"/>
          <p:cNvSpPr txBox="1"/>
          <p:nvPr/>
        </p:nvSpPr>
        <p:spPr>
          <a:xfrm>
            <a:off x="3221586" y="1543030"/>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-0.16</a:t>
            </a:r>
            <a:endParaRPr/>
          </a:p>
        </p:txBody>
      </p:sp>
      <p:sp>
        <p:nvSpPr>
          <p:cNvPr id="271" name="Google Shape;271;p19"/>
          <p:cNvSpPr txBox="1"/>
          <p:nvPr/>
        </p:nvSpPr>
        <p:spPr>
          <a:xfrm>
            <a:off x="2908532" y="1542752"/>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-0.17</a:t>
            </a:r>
            <a:endParaRPr/>
          </a:p>
        </p:txBody>
      </p:sp>
      <p:pic>
        <p:nvPicPr>
          <p:cNvPr id="272" name="Google Shape;272;p19"/>
          <p:cNvPicPr preferRelativeResize="0"/>
          <p:nvPr/>
        </p:nvPicPr>
        <p:blipFill rotWithShape="1">
          <a:blip r:embed="rId3">
            <a:alphaModFix/>
          </a:blip>
          <a:srcRect b="7706" l="0" r="45433" t="0"/>
          <a:stretch/>
        </p:blipFill>
        <p:spPr>
          <a:xfrm>
            <a:off x="4954030" y="1370798"/>
            <a:ext cx="1718593" cy="374654"/>
          </a:xfrm>
          <a:prstGeom prst="rect">
            <a:avLst/>
          </a:prstGeom>
          <a:noFill/>
          <a:ln>
            <a:noFill/>
          </a:ln>
        </p:spPr>
      </p:pic>
      <p:sp>
        <p:nvSpPr>
          <p:cNvPr id="273" name="Google Shape;273;p19"/>
          <p:cNvSpPr/>
          <p:nvPr/>
        </p:nvSpPr>
        <p:spPr>
          <a:xfrm>
            <a:off x="4954030" y="1611729"/>
            <a:ext cx="1639080" cy="15277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chemeClr val="lt1"/>
              </a:solidFill>
              <a:latin typeface="Calibri"/>
              <a:ea typeface="Calibri"/>
              <a:cs typeface="Calibri"/>
              <a:sym typeface="Calibri"/>
            </a:endParaRPr>
          </a:p>
        </p:txBody>
      </p:sp>
      <p:sp>
        <p:nvSpPr>
          <p:cNvPr id="274" name="Google Shape;274;p19"/>
          <p:cNvSpPr txBox="1"/>
          <p:nvPr/>
        </p:nvSpPr>
        <p:spPr>
          <a:xfrm>
            <a:off x="6317796" y="1543383"/>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-0.67</a:t>
            </a:r>
            <a:endParaRPr/>
          </a:p>
        </p:txBody>
      </p:sp>
      <p:sp>
        <p:nvSpPr>
          <p:cNvPr id="275" name="Google Shape;275;p19"/>
          <p:cNvSpPr txBox="1"/>
          <p:nvPr/>
        </p:nvSpPr>
        <p:spPr>
          <a:xfrm>
            <a:off x="6033979" y="1547356"/>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-0.68</a:t>
            </a:r>
            <a:endParaRPr/>
          </a:p>
        </p:txBody>
      </p:sp>
      <p:sp>
        <p:nvSpPr>
          <p:cNvPr id="276" name="Google Shape;276;p19"/>
          <p:cNvSpPr txBox="1"/>
          <p:nvPr/>
        </p:nvSpPr>
        <p:spPr>
          <a:xfrm>
            <a:off x="5735856" y="1535433"/>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-0.69</a:t>
            </a:r>
            <a:endParaRPr/>
          </a:p>
        </p:txBody>
      </p:sp>
      <p:sp>
        <p:nvSpPr>
          <p:cNvPr id="277" name="Google Shape;277;p19"/>
          <p:cNvSpPr txBox="1"/>
          <p:nvPr/>
        </p:nvSpPr>
        <p:spPr>
          <a:xfrm>
            <a:off x="5445633" y="1539765"/>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-0.70</a:t>
            </a:r>
            <a:endParaRPr/>
          </a:p>
        </p:txBody>
      </p:sp>
      <p:sp>
        <p:nvSpPr>
          <p:cNvPr id="278" name="Google Shape;278;p19"/>
          <p:cNvSpPr txBox="1"/>
          <p:nvPr/>
        </p:nvSpPr>
        <p:spPr>
          <a:xfrm>
            <a:off x="5133007" y="1535712"/>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-0.71</a:t>
            </a:r>
            <a:endParaRPr/>
          </a:p>
        </p:txBody>
      </p:sp>
      <p:sp>
        <p:nvSpPr>
          <p:cNvPr id="279" name="Google Shape;279;p19"/>
          <p:cNvSpPr txBox="1"/>
          <p:nvPr/>
        </p:nvSpPr>
        <p:spPr>
          <a:xfrm>
            <a:off x="4855213" y="1535433"/>
            <a:ext cx="500932"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chemeClr val="dk1"/>
                </a:solidFill>
                <a:latin typeface="Calibri"/>
                <a:ea typeface="Calibri"/>
                <a:cs typeface="Calibri"/>
                <a:sym typeface="Calibri"/>
              </a:rPr>
              <a:t>-0.72</a:t>
            </a:r>
            <a:endParaRPr/>
          </a:p>
        </p:txBody>
      </p:sp>
      <p:sp>
        <p:nvSpPr>
          <p:cNvPr id="280" name="Google Shape;280;p19"/>
          <p:cNvSpPr/>
          <p:nvPr/>
        </p:nvSpPr>
        <p:spPr>
          <a:xfrm>
            <a:off x="108488" y="6753040"/>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81" name="Google Shape;281;p19"/>
          <p:cNvGraphicFramePr/>
          <p:nvPr/>
        </p:nvGraphicFramePr>
        <p:xfrm>
          <a:off x="108488" y="3961802"/>
          <a:ext cx="3000000" cy="3000000"/>
        </p:xfrm>
        <a:graphic>
          <a:graphicData uri="http://schemas.openxmlformats.org/drawingml/2006/table">
            <a:tbl>
              <a:tblPr bandRow="1" firstRow="1">
                <a:noFill/>
                <a:tableStyleId>{89DAE5B5-D852-48E7-99B0-D29FA4E4346D}</a:tableStyleId>
              </a:tblPr>
              <a:tblGrid>
                <a:gridCol w="856700"/>
                <a:gridCol w="1880125"/>
                <a:gridCol w="1917825"/>
                <a:gridCol w="1917825"/>
              </a:tblGrid>
              <a:tr h="481075">
                <a:tc>
                  <a:txBody>
                    <a:bodyPr/>
                    <a:lstStyle/>
                    <a:p>
                      <a:pPr indent="0" lvl="0" marL="0" marR="0" rtl="0" algn="l">
                        <a:spcBef>
                          <a:spcPts val="0"/>
                        </a:spcBef>
                        <a:spcAft>
                          <a:spcPts val="0"/>
                        </a:spcAft>
                        <a:buNone/>
                      </a:pPr>
                      <a:r>
                        <a:rPr b="1" lang="en-GB" sz="1100">
                          <a:solidFill>
                            <a:schemeClr val="dk1"/>
                          </a:solidFill>
                        </a:rPr>
                        <a:t>Steps</a:t>
                      </a:r>
                      <a:endParaRPr b="1"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Which is greater, -5.02 or -5.2?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Calibri"/>
                        <a:buNone/>
                      </a:pPr>
                      <a:r>
                        <a:rPr b="0" lang="en-GB" sz="1000">
                          <a:solidFill>
                            <a:schemeClr val="dk1"/>
                          </a:solidFill>
                        </a:rPr>
                        <a:t>Which is smaller, -0.706 or -0.73?</a:t>
                      </a:r>
                      <a:endParaRPr/>
                    </a:p>
                    <a:p>
                      <a:pPr indent="0" lvl="0" marL="0" marR="0" rtl="0" algn="ctr">
                        <a:lnSpc>
                          <a:spcPct val="100000"/>
                        </a:lnSpc>
                        <a:spcBef>
                          <a:spcPts val="0"/>
                        </a:spcBef>
                        <a:spcAft>
                          <a:spcPts val="0"/>
                        </a:spcAft>
                        <a:buClr>
                          <a:schemeClr val="dk1"/>
                        </a:buClr>
                        <a:buSzPts val="1100"/>
                        <a:buFont typeface="Calibri"/>
                        <a:buNone/>
                      </a:pPr>
                      <a:r>
                        <a:t/>
                      </a:r>
                      <a:endParaRPr b="0"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000"/>
                        <a:buFont typeface="Calibri"/>
                        <a:buNone/>
                      </a:pPr>
                      <a:r>
                        <a:rPr b="0" lang="en-GB" sz="1000">
                          <a:solidFill>
                            <a:schemeClr val="dk1"/>
                          </a:solidFill>
                        </a:rPr>
                        <a:t>Which is greater, -0.071 or -0.06?</a:t>
                      </a:r>
                      <a:endParaRPr/>
                    </a:p>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5825">
                <a:tc>
                  <a:txBody>
                    <a:bodyPr/>
                    <a:lstStyle/>
                    <a:p>
                      <a:pPr indent="0" lvl="0" marL="0" marR="0" rtl="0" algn="ctr">
                        <a:spcBef>
                          <a:spcPts val="0"/>
                        </a:spcBef>
                        <a:spcAft>
                          <a:spcPts val="0"/>
                        </a:spcAft>
                        <a:buClr>
                          <a:schemeClr val="dk1"/>
                        </a:buClr>
                        <a:buSzPts val="1000"/>
                        <a:buFont typeface="Calibri"/>
                        <a:buNone/>
                      </a:pPr>
                      <a:r>
                        <a:rPr lang="en-GB" sz="1000">
                          <a:solidFill>
                            <a:schemeClr val="dk1"/>
                          </a:solidFill>
                        </a:rPr>
                        <a:t>Identify the place value of each digit.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ctr">
                        <a:spcBef>
                          <a:spcPts val="0"/>
                        </a:spcBef>
                        <a:spcAft>
                          <a:spcPts val="0"/>
                        </a:spcAft>
                        <a:buNone/>
                      </a:pPr>
                      <a:r>
                        <a:rPr b="1" lang="en-GB" sz="1100">
                          <a:solidFill>
                            <a:srgbClr val="FF0000"/>
                          </a:solidFill>
                        </a:rPr>
                        <a:t>-5.02 as this number is closer to zero</a:t>
                      </a:r>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b="1" sz="1100">
                        <a:solidFill>
                          <a:srgbClr val="FF0000"/>
                        </a:solidFill>
                      </a:endParaRPr>
                    </a:p>
                    <a:p>
                      <a:pPr indent="0" lvl="0" marL="0" marR="0" rtl="0" algn="ctr">
                        <a:spcBef>
                          <a:spcPts val="0"/>
                        </a:spcBef>
                        <a:spcAft>
                          <a:spcPts val="0"/>
                        </a:spcAft>
                        <a:buNone/>
                      </a:pPr>
                      <a:r>
                        <a:rPr b="1" lang="en-GB" sz="1100">
                          <a:solidFill>
                            <a:srgbClr val="FF0000"/>
                          </a:solidFill>
                        </a:rPr>
                        <a:t>-0.73  as this number is further from zero</a:t>
                      </a:r>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1" lang="en-GB" sz="1100">
                          <a:solidFill>
                            <a:srgbClr val="FF0000"/>
                          </a:solidFill>
                        </a:rPr>
                        <a:t>-0.06 as this number is closer to zero</a:t>
                      </a:r>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b="1" sz="1100">
                        <a:solidFill>
                          <a:srgbClr val="FF0000"/>
                        </a:solidFill>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29850">
                <a:tc>
                  <a:txBody>
                    <a:bodyPr/>
                    <a:lstStyle/>
                    <a:p>
                      <a:pPr indent="0" lvl="0" marL="0" marR="0" rtl="0" algn="ctr">
                        <a:spcBef>
                          <a:spcPts val="0"/>
                        </a:spcBef>
                        <a:spcAft>
                          <a:spcPts val="0"/>
                        </a:spcAft>
                        <a:buNone/>
                      </a:pPr>
                      <a:r>
                        <a:rPr lang="en-GB" sz="1000">
                          <a:solidFill>
                            <a:schemeClr val="dk1"/>
                          </a:solidFill>
                        </a:rPr>
                        <a:t>The number that is closer to zero is the greater number. The number further away from zero is the smaller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282" name="Google Shape;282;p19"/>
          <p:cNvSpPr txBox="1"/>
          <p:nvPr/>
        </p:nvSpPr>
        <p:spPr>
          <a:xfrm>
            <a:off x="1175947" y="3672575"/>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19 - I do…</a:t>
            </a:r>
            <a:endParaRPr/>
          </a:p>
        </p:txBody>
      </p:sp>
      <p:sp>
        <p:nvSpPr>
          <p:cNvPr id="283" name="Google Shape;283;p19"/>
          <p:cNvSpPr txBox="1"/>
          <p:nvPr/>
        </p:nvSpPr>
        <p:spPr>
          <a:xfrm>
            <a:off x="4918841" y="366575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21 – You do…</a:t>
            </a:r>
            <a:endParaRPr/>
          </a:p>
        </p:txBody>
      </p:sp>
      <p:sp>
        <p:nvSpPr>
          <p:cNvPr id="284" name="Google Shape;284;p19"/>
          <p:cNvSpPr txBox="1"/>
          <p:nvPr/>
        </p:nvSpPr>
        <p:spPr>
          <a:xfrm>
            <a:off x="3019274" y="3667283"/>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20 – We do…</a:t>
            </a:r>
            <a:endParaRPr/>
          </a:p>
        </p:txBody>
      </p:sp>
      <p:graphicFrame>
        <p:nvGraphicFramePr>
          <p:cNvPr id="285" name="Google Shape;285;p19"/>
          <p:cNvGraphicFramePr/>
          <p:nvPr/>
        </p:nvGraphicFramePr>
        <p:xfrm>
          <a:off x="166513" y="7472929"/>
          <a:ext cx="3000000" cy="3000000"/>
        </p:xfrm>
        <a:graphic>
          <a:graphicData uri="http://schemas.openxmlformats.org/drawingml/2006/table">
            <a:tbl>
              <a:tblPr bandRow="1" firstRow="1">
                <a:noFill/>
                <a:tableStyleId>{89DAE5B5-D852-48E7-99B0-D29FA4E4346D}</a:tableStyleId>
              </a:tblPr>
              <a:tblGrid>
                <a:gridCol w="932150"/>
                <a:gridCol w="932150"/>
                <a:gridCol w="932150"/>
                <a:gridCol w="932150"/>
                <a:gridCol w="932150"/>
                <a:gridCol w="932150"/>
                <a:gridCol w="932150"/>
              </a:tblGrid>
              <a:tr h="288000">
                <a:tc>
                  <a:txBody>
                    <a:bodyPr/>
                    <a:lstStyle/>
                    <a:p>
                      <a:pPr indent="0" lvl="0" marL="0" marR="0" rtl="0" algn="ctr">
                        <a:spcBef>
                          <a:spcPts val="0"/>
                        </a:spcBef>
                        <a:spcAft>
                          <a:spcPts val="0"/>
                        </a:spcAft>
                        <a:buNone/>
                      </a:pPr>
                      <a:r>
                        <a:rPr b="0" lang="en-GB" sz="1350">
                          <a:solidFill>
                            <a:schemeClr val="dk1"/>
                          </a:solidFill>
                        </a:rPr>
                        <a:t>-0.75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-0.73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35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350">
                          <a:solidFill>
                            <a:schemeClr val="dk1"/>
                          </a:solidFill>
                        </a:rPr>
                        <a:t>-0.71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-0.73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4000">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4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8000">
                <a:tc>
                  <a:txBody>
                    <a:bodyPr/>
                    <a:lstStyle/>
                    <a:p>
                      <a:pPr indent="0" lvl="0" marL="0" marR="0" rtl="0" algn="ctr">
                        <a:spcBef>
                          <a:spcPts val="0"/>
                        </a:spcBef>
                        <a:spcAft>
                          <a:spcPts val="0"/>
                        </a:spcAft>
                        <a:buNone/>
                      </a:pPr>
                      <a:r>
                        <a:rPr b="0" lang="en-GB" sz="1350">
                          <a:solidFill>
                            <a:schemeClr val="dk1"/>
                          </a:solidFill>
                        </a:rPr>
                        <a:t>-0.703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-0.73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35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350">
                          <a:solidFill>
                            <a:schemeClr val="dk1"/>
                          </a:solidFill>
                        </a:rPr>
                        <a:t>-0.703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solidFill>
                            <a:schemeClr val="dk1"/>
                          </a:solidFill>
                        </a:rPr>
                        <a:t>-0.83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135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8000">
                <a:tc>
                  <a:txBody>
                    <a:bodyPr/>
                    <a:lstStyle/>
                    <a:p>
                      <a:pPr indent="0" lvl="0" marL="0" marR="0" rtl="0" algn="ctr">
                        <a:spcBef>
                          <a:spcPts val="0"/>
                        </a:spcBef>
                        <a:spcAft>
                          <a:spcPts val="0"/>
                        </a:spcAft>
                        <a:buNone/>
                      </a:pPr>
                      <a:r>
                        <a:rPr b="0" lang="en-GB" sz="1350"/>
                        <a:t>-0.814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-0.83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350"/>
                        <a:t>-1.67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-1.607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4000">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t/>
                      </a:r>
                      <a:endParaRPr b="0" sz="5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88000">
                <a:tc>
                  <a:txBody>
                    <a:bodyPr/>
                    <a:lstStyle/>
                    <a:p>
                      <a:pPr indent="0" lvl="0" marL="0" marR="0" rtl="0" algn="ctr">
                        <a:spcBef>
                          <a:spcPts val="0"/>
                        </a:spcBef>
                        <a:spcAft>
                          <a:spcPts val="0"/>
                        </a:spcAft>
                        <a:buNone/>
                      </a:pPr>
                      <a:r>
                        <a:rPr b="0" lang="en-GB" sz="1350"/>
                        <a:t>-1.67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-1.219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0" lang="en-GB" sz="1350"/>
                        <a:t>-1.67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or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350"/>
                        <a:t>-1.7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86" name="Google Shape;286;p19"/>
          <p:cNvSpPr txBox="1"/>
          <p:nvPr/>
        </p:nvSpPr>
        <p:spPr>
          <a:xfrm>
            <a:off x="105212" y="7165152"/>
            <a:ext cx="3429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14. Circle the smallest number </a:t>
            </a:r>
            <a:endParaRPr/>
          </a:p>
        </p:txBody>
      </p:sp>
      <p:sp>
        <p:nvSpPr>
          <p:cNvPr id="287" name="Google Shape;287;p19"/>
          <p:cNvSpPr txBox="1"/>
          <p:nvPr/>
        </p:nvSpPr>
        <p:spPr>
          <a:xfrm>
            <a:off x="105212" y="8296644"/>
            <a:ext cx="3429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15. Circle the greater number </a:t>
            </a:r>
            <a:endParaRPr/>
          </a:p>
        </p:txBody>
      </p:sp>
      <p:sp>
        <p:nvSpPr>
          <p:cNvPr id="288" name="Google Shape;288;p19"/>
          <p:cNvSpPr txBox="1"/>
          <p:nvPr/>
        </p:nvSpPr>
        <p:spPr>
          <a:xfrm>
            <a:off x="1404900" y="1211430"/>
            <a:ext cx="5009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X</a:t>
            </a:r>
            <a:endParaRPr/>
          </a:p>
        </p:txBody>
      </p:sp>
      <p:sp>
        <p:nvSpPr>
          <p:cNvPr id="289" name="Google Shape;289;p19"/>
          <p:cNvSpPr txBox="1"/>
          <p:nvPr/>
        </p:nvSpPr>
        <p:spPr>
          <a:xfrm>
            <a:off x="2266334" y="1215136"/>
            <a:ext cx="5009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X</a:t>
            </a:r>
            <a:endParaRPr/>
          </a:p>
        </p:txBody>
      </p:sp>
      <p:sp>
        <p:nvSpPr>
          <p:cNvPr id="290" name="Google Shape;290;p19"/>
          <p:cNvSpPr txBox="1"/>
          <p:nvPr/>
        </p:nvSpPr>
        <p:spPr>
          <a:xfrm>
            <a:off x="3918446" y="1159731"/>
            <a:ext cx="5009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X</a:t>
            </a:r>
            <a:endParaRPr/>
          </a:p>
        </p:txBody>
      </p:sp>
      <p:sp>
        <p:nvSpPr>
          <p:cNvPr id="291" name="Google Shape;291;p19"/>
          <p:cNvSpPr txBox="1"/>
          <p:nvPr/>
        </p:nvSpPr>
        <p:spPr>
          <a:xfrm>
            <a:off x="4193359" y="1149622"/>
            <a:ext cx="5009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X</a:t>
            </a:r>
            <a:endParaRPr/>
          </a:p>
        </p:txBody>
      </p:sp>
      <p:sp>
        <p:nvSpPr>
          <p:cNvPr id="292" name="Google Shape;292;p19"/>
          <p:cNvSpPr txBox="1"/>
          <p:nvPr/>
        </p:nvSpPr>
        <p:spPr>
          <a:xfrm>
            <a:off x="5214015" y="1199358"/>
            <a:ext cx="5009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X</a:t>
            </a:r>
            <a:endParaRPr/>
          </a:p>
        </p:txBody>
      </p:sp>
      <p:sp>
        <p:nvSpPr>
          <p:cNvPr id="293" name="Google Shape;293;p19"/>
          <p:cNvSpPr txBox="1"/>
          <p:nvPr/>
        </p:nvSpPr>
        <p:spPr>
          <a:xfrm>
            <a:off x="6075449" y="1203064"/>
            <a:ext cx="5009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X</a:t>
            </a:r>
            <a:endParaRPr/>
          </a:p>
        </p:txBody>
      </p:sp>
      <p:sp>
        <p:nvSpPr>
          <p:cNvPr id="294" name="Google Shape;294;p19"/>
          <p:cNvSpPr/>
          <p:nvPr/>
        </p:nvSpPr>
        <p:spPr>
          <a:xfrm>
            <a:off x="204062" y="7455542"/>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19"/>
          <p:cNvSpPr/>
          <p:nvPr/>
        </p:nvSpPr>
        <p:spPr>
          <a:xfrm>
            <a:off x="5813655" y="7474264"/>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19"/>
          <p:cNvSpPr/>
          <p:nvPr/>
        </p:nvSpPr>
        <p:spPr>
          <a:xfrm>
            <a:off x="2118226" y="7887109"/>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19"/>
          <p:cNvSpPr/>
          <p:nvPr/>
        </p:nvSpPr>
        <p:spPr>
          <a:xfrm>
            <a:off x="5815534" y="7935929"/>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19"/>
          <p:cNvSpPr/>
          <p:nvPr/>
        </p:nvSpPr>
        <p:spPr>
          <a:xfrm>
            <a:off x="204062" y="8587034"/>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19"/>
          <p:cNvSpPr/>
          <p:nvPr/>
        </p:nvSpPr>
        <p:spPr>
          <a:xfrm>
            <a:off x="2118226" y="9062139"/>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19"/>
          <p:cNvSpPr/>
          <p:nvPr/>
        </p:nvSpPr>
        <p:spPr>
          <a:xfrm>
            <a:off x="5798512" y="8572089"/>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19"/>
          <p:cNvSpPr/>
          <p:nvPr/>
        </p:nvSpPr>
        <p:spPr>
          <a:xfrm>
            <a:off x="3943540" y="9019321"/>
            <a:ext cx="858968" cy="307777"/>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0"/>
          <p:cNvSpPr txBox="1"/>
          <p:nvPr/>
        </p:nvSpPr>
        <p:spPr>
          <a:xfrm>
            <a:off x="5249634" y="9418787"/>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sp>
        <p:nvSpPr>
          <p:cNvPr id="307" name="Google Shape;307;p20"/>
          <p:cNvSpPr txBox="1"/>
          <p:nvPr/>
        </p:nvSpPr>
        <p:spPr>
          <a:xfrm>
            <a:off x="1560609" y="48445"/>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22 - I do…</a:t>
            </a:r>
            <a:endParaRPr/>
          </a:p>
        </p:txBody>
      </p:sp>
      <p:sp>
        <p:nvSpPr>
          <p:cNvPr id="308" name="Google Shape;308;p20"/>
          <p:cNvSpPr txBox="1"/>
          <p:nvPr/>
        </p:nvSpPr>
        <p:spPr>
          <a:xfrm>
            <a:off x="5024181" y="5778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24 – You do…</a:t>
            </a:r>
            <a:endParaRPr/>
          </a:p>
        </p:txBody>
      </p:sp>
      <p:sp>
        <p:nvSpPr>
          <p:cNvPr id="309" name="Google Shape;309;p20"/>
          <p:cNvSpPr txBox="1"/>
          <p:nvPr/>
        </p:nvSpPr>
        <p:spPr>
          <a:xfrm>
            <a:off x="3199870" y="4844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23– We do…</a:t>
            </a:r>
            <a:endParaRPr/>
          </a:p>
        </p:txBody>
      </p:sp>
      <p:graphicFrame>
        <p:nvGraphicFramePr>
          <p:cNvPr id="310" name="Google Shape;310;p20"/>
          <p:cNvGraphicFramePr/>
          <p:nvPr/>
        </p:nvGraphicFramePr>
        <p:xfrm>
          <a:off x="142761" y="271014"/>
          <a:ext cx="3000000" cy="3000000"/>
        </p:xfrm>
        <a:graphic>
          <a:graphicData uri="http://schemas.openxmlformats.org/drawingml/2006/table">
            <a:tbl>
              <a:tblPr bandRow="1" firstRow="1">
                <a:noFill/>
                <a:tableStyleId>{89DAE5B5-D852-48E7-99B0-D29FA4E4346D}</a:tableStyleId>
              </a:tblPr>
              <a:tblGrid>
                <a:gridCol w="1283275"/>
                <a:gridCol w="1690500"/>
                <a:gridCol w="1799350"/>
                <a:gridCol w="1799350"/>
              </a:tblGrid>
              <a:tr h="7641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following inequality shows that -0.298 is less than  -0.273.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-0.273 &lt; -0.298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following inequality shows that -40.813 is less than -40.09.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-40.09 &gt; -40.813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following inequality shows that -5.076 is less than -5.06.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-5.076 &lt; -5.06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7217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Look at the smallest side of the symbol. This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lang="en-GB" sz="1400">
                          <a:solidFill>
                            <a:srgbClr val="FF0000"/>
                          </a:solidFill>
                        </a:rPr>
                        <a:t>False</a:t>
                      </a:r>
                      <a:endParaRPr sz="11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0" i="0" lang="en-GB" sz="1400" u="none" cap="none" strike="noStrike">
                          <a:solidFill>
                            <a:srgbClr val="FF0000"/>
                          </a:solidFill>
                          <a:latin typeface="Calibri"/>
                          <a:ea typeface="Calibri"/>
                          <a:cs typeface="Calibri"/>
                          <a:sym typeface="Calibri"/>
                        </a:rPr>
                        <a:t>True</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0" i="0" lang="en-GB" sz="1400" u="none" cap="none" strike="noStrike">
                          <a:solidFill>
                            <a:srgbClr val="FF0000"/>
                          </a:solidFill>
                          <a:latin typeface="Calibri"/>
                          <a:ea typeface="Calibri"/>
                          <a:cs typeface="Calibri"/>
                          <a:sym typeface="Calibri"/>
                        </a:rPr>
                        <a:t>True</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311" name="Google Shape;311;p20"/>
          <p:cNvGraphicFramePr/>
          <p:nvPr/>
        </p:nvGraphicFramePr>
        <p:xfrm>
          <a:off x="142759" y="3338902"/>
          <a:ext cx="3000000" cy="3000000"/>
        </p:xfrm>
        <a:graphic>
          <a:graphicData uri="http://schemas.openxmlformats.org/drawingml/2006/table">
            <a:tbl>
              <a:tblPr bandRow="1" firstRow="1">
                <a:noFill/>
                <a:tableStyleId>{89DAE5B5-D852-48E7-99B0-D29FA4E4346D}</a:tableStyleId>
              </a:tblPr>
              <a:tblGrid>
                <a:gridCol w="1490100"/>
                <a:gridCol w="1132125"/>
                <a:gridCol w="2235475"/>
                <a:gridCol w="1714800"/>
              </a:tblGrid>
              <a:tr h="144550">
                <a:tc>
                  <a:txBody>
                    <a:bodyPr/>
                    <a:lstStyle/>
                    <a:p>
                      <a:pPr indent="0" lvl="0" marL="0" marR="0" rtl="0" algn="ctr">
                        <a:spcBef>
                          <a:spcPts val="0"/>
                        </a:spcBef>
                        <a:spcAft>
                          <a:spcPts val="0"/>
                        </a:spcAft>
                        <a:buNone/>
                      </a:pPr>
                      <a:r>
                        <a:rPr lang="en-GB" sz="1200">
                          <a:solidFill>
                            <a:schemeClr val="dk1"/>
                          </a:solidFill>
                        </a:rPr>
                        <a:t>Statement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True or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Rewritten to make true (if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Alternative way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-0.8 &gt; -0.70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 &lt; -0.70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-0.70 &gt;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-0.80 &lt; -0.7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-0.7 &gt; -0.80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lnSpc>
                          <a:spcPct val="100000"/>
                        </a:lnSpc>
                        <a:spcBef>
                          <a:spcPts val="0"/>
                        </a:spcBef>
                        <a:spcAft>
                          <a:spcPts val="0"/>
                        </a:spcAft>
                        <a:buClr>
                          <a:schemeClr val="dk1"/>
                        </a:buClr>
                        <a:buSzPts val="1200"/>
                        <a:buFont typeface="Calibri"/>
                        <a:buNone/>
                      </a:pPr>
                      <a:r>
                        <a:rPr lang="en-GB" sz="1200">
                          <a:solidFill>
                            <a:schemeClr val="dk1"/>
                          </a:solidFill>
                        </a:rPr>
                        <a:t>-0.8 &gt; -0.809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-0.809 &lt;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-0.8 &gt; -0.509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 &lt; -0.509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-0.509 &gt;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-0.509 &lt; -0.8</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-0.509 &gt;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-0.8 &lt; -0.509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-0.8 &lt; -0.009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-0.009 &gt; -0.8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-0.08 &lt; -0.009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-0.009 &gt; -0.08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-0.008 &lt; -0.009</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-0.008 &gt; -0.009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-0.009 &lt; -0.008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-8.09 &gt; -8.01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-8.09 &lt; -8.01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-8.01 &gt; -8.09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-8.102 &gt; -8.056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-8.102 &lt; -8.056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-8.056 &gt; -8.102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ctr">
                        <a:spcBef>
                          <a:spcPts val="0"/>
                        </a:spcBef>
                        <a:spcAft>
                          <a:spcPts val="0"/>
                        </a:spcAft>
                        <a:buNone/>
                      </a:pPr>
                      <a:r>
                        <a:rPr lang="en-GB" sz="1200">
                          <a:solidFill>
                            <a:schemeClr val="dk1"/>
                          </a:solidFill>
                        </a:rPr>
                        <a:t>-298.04 &gt; -289.5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350">
                          <a:solidFill>
                            <a:srgbClr val="FF0000"/>
                          </a:solidFill>
                        </a:rPr>
                        <a:t>-289.5 &lt; -298.04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12" name="Google Shape;312;p20"/>
          <p:cNvSpPr/>
          <p:nvPr/>
        </p:nvSpPr>
        <p:spPr>
          <a:xfrm>
            <a:off x="142760" y="2695952"/>
            <a:ext cx="1137954" cy="432645"/>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313" name="Google Shape;313;p20"/>
          <p:cNvSpPr txBox="1"/>
          <p:nvPr/>
        </p:nvSpPr>
        <p:spPr>
          <a:xfrm>
            <a:off x="1280714" y="2507905"/>
            <a:ext cx="54345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15. For each of the following questions, decide which statements are true and which statements are false. Rewrite the false statements to make them true.  Can you write each true statement in a different way such that it remains true? E.g. -8.5 &gt; -8.6 and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-8.6 &lt; -8.5 are both true. </a:t>
            </a:r>
            <a:endParaRPr/>
          </a:p>
        </p:txBody>
      </p:sp>
      <p:sp>
        <p:nvSpPr>
          <p:cNvPr id="314" name="Google Shape;314;p20"/>
          <p:cNvSpPr txBox="1"/>
          <p:nvPr/>
        </p:nvSpPr>
        <p:spPr>
          <a:xfrm>
            <a:off x="1806304" y="7237341"/>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25 -  I do…</a:t>
            </a:r>
            <a:endParaRPr/>
          </a:p>
        </p:txBody>
      </p:sp>
      <p:sp>
        <p:nvSpPr>
          <p:cNvPr id="315" name="Google Shape;315;p20"/>
          <p:cNvSpPr txBox="1"/>
          <p:nvPr/>
        </p:nvSpPr>
        <p:spPr>
          <a:xfrm>
            <a:off x="5110556" y="722645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27 – You do…</a:t>
            </a:r>
            <a:endParaRPr/>
          </a:p>
        </p:txBody>
      </p:sp>
      <p:sp>
        <p:nvSpPr>
          <p:cNvPr id="316" name="Google Shape;316;p20"/>
          <p:cNvSpPr txBox="1"/>
          <p:nvPr/>
        </p:nvSpPr>
        <p:spPr>
          <a:xfrm>
            <a:off x="3456263" y="722566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26 – We do…</a:t>
            </a:r>
            <a:endParaRPr/>
          </a:p>
        </p:txBody>
      </p:sp>
      <p:graphicFrame>
        <p:nvGraphicFramePr>
          <p:cNvPr id="317" name="Google Shape;317;p20"/>
          <p:cNvGraphicFramePr/>
          <p:nvPr/>
        </p:nvGraphicFramePr>
        <p:xfrm>
          <a:off x="142759" y="7502661"/>
          <a:ext cx="3000000" cy="3000000"/>
        </p:xfrm>
        <a:graphic>
          <a:graphicData uri="http://schemas.openxmlformats.org/drawingml/2006/table">
            <a:tbl>
              <a:tblPr bandRow="1" firstRow="1">
                <a:noFill/>
                <a:tableStyleId>{89DAE5B5-D852-48E7-99B0-D29FA4E4346D}</a:tableStyleId>
              </a:tblPr>
              <a:tblGrid>
                <a:gridCol w="1522750"/>
                <a:gridCol w="1683250"/>
                <a:gridCol w="1683250"/>
                <a:gridCol w="1683250"/>
              </a:tblGrid>
              <a:tr h="396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The smallest side of the symbol should be next to the smallest number. The largest side of the symbol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ctr">
                        <a:spcBef>
                          <a:spcPts val="0"/>
                        </a:spcBef>
                        <a:spcAft>
                          <a:spcPts val="0"/>
                        </a:spcAft>
                        <a:buNone/>
                      </a:pPr>
                      <a:r>
                        <a:rPr lang="en-GB" sz="1200">
                          <a:solidFill>
                            <a:schemeClr val="dk1"/>
                          </a:solidFill>
                        </a:rPr>
                        <a:t>-6.3                  -6.7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ctr">
                        <a:spcBef>
                          <a:spcPts val="0"/>
                        </a:spcBef>
                        <a:spcAft>
                          <a:spcPts val="0"/>
                        </a:spcAft>
                        <a:buNone/>
                      </a:pPr>
                      <a:r>
                        <a:rPr lang="en-GB" sz="1200">
                          <a:solidFill>
                            <a:schemeClr val="dk1"/>
                          </a:solidFill>
                        </a:rPr>
                        <a:t>-8.21                 -8.9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-2.2                 -2.15</a:t>
                      </a:r>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318" name="Google Shape;318;p20"/>
          <p:cNvSpPr/>
          <p:nvPr/>
        </p:nvSpPr>
        <p:spPr>
          <a:xfrm>
            <a:off x="2242453" y="8394496"/>
            <a:ext cx="516635" cy="467059"/>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20"/>
          <p:cNvSpPr txBox="1"/>
          <p:nvPr/>
        </p:nvSpPr>
        <p:spPr>
          <a:xfrm>
            <a:off x="5709546" y="8356988"/>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20" name="Google Shape;320;p20"/>
          <p:cNvSpPr txBox="1"/>
          <p:nvPr/>
        </p:nvSpPr>
        <p:spPr>
          <a:xfrm>
            <a:off x="2343516" y="8338335"/>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21" name="Google Shape;321;p20"/>
          <p:cNvSpPr txBox="1"/>
          <p:nvPr/>
        </p:nvSpPr>
        <p:spPr>
          <a:xfrm>
            <a:off x="4098914" y="8341629"/>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nvSpPr>
        <p:spPr>
          <a:xfrm>
            <a:off x="5266643" y="9464846"/>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sp>
        <p:nvSpPr>
          <p:cNvPr id="327" name="Google Shape;327;p21"/>
          <p:cNvSpPr/>
          <p:nvPr/>
        </p:nvSpPr>
        <p:spPr>
          <a:xfrm>
            <a:off x="132066" y="97044"/>
            <a:ext cx="1696733" cy="277000"/>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328" name="Google Shape;328;p21"/>
          <p:cNvGraphicFramePr/>
          <p:nvPr/>
        </p:nvGraphicFramePr>
        <p:xfrm>
          <a:off x="132067" y="441154"/>
          <a:ext cx="3000000" cy="3000000"/>
        </p:xfrm>
        <a:graphic>
          <a:graphicData uri="http://schemas.openxmlformats.org/drawingml/2006/table">
            <a:tbl>
              <a:tblPr bandRow="1" firstRow="1">
                <a:noFill/>
                <a:tableStyleId>{89DAE5B5-D852-48E7-99B0-D29FA4E4346D}</a:tableStyleId>
              </a:tblPr>
              <a:tblGrid>
                <a:gridCol w="3296925"/>
                <a:gridCol w="3296925"/>
              </a:tblGrid>
              <a:tr h="29422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84625">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29" name="Google Shape;329;p21"/>
          <p:cNvSpPr txBox="1"/>
          <p:nvPr/>
        </p:nvSpPr>
        <p:spPr>
          <a:xfrm>
            <a:off x="1828668" y="107762"/>
            <a:ext cx="581841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16. Complete these statements using the symbols &gt; or &lt;</a:t>
            </a:r>
            <a:endParaRPr/>
          </a:p>
        </p:txBody>
      </p:sp>
      <p:sp>
        <p:nvSpPr>
          <p:cNvPr id="330" name="Google Shape;330;p21"/>
          <p:cNvSpPr/>
          <p:nvPr/>
        </p:nvSpPr>
        <p:spPr>
          <a:xfrm>
            <a:off x="4907743" y="870391"/>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21"/>
          <p:cNvSpPr/>
          <p:nvPr/>
        </p:nvSpPr>
        <p:spPr>
          <a:xfrm>
            <a:off x="4843463" y="186977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21"/>
          <p:cNvSpPr/>
          <p:nvPr/>
        </p:nvSpPr>
        <p:spPr>
          <a:xfrm>
            <a:off x="1505715" y="2847953"/>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3" name="Google Shape;333;p21"/>
          <p:cNvSpPr/>
          <p:nvPr/>
        </p:nvSpPr>
        <p:spPr>
          <a:xfrm>
            <a:off x="1573532" y="3898518"/>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p21"/>
          <p:cNvSpPr/>
          <p:nvPr/>
        </p:nvSpPr>
        <p:spPr>
          <a:xfrm>
            <a:off x="4932153" y="3912096"/>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5" name="Google Shape;335;p21"/>
          <p:cNvSpPr/>
          <p:nvPr/>
        </p:nvSpPr>
        <p:spPr>
          <a:xfrm>
            <a:off x="4907743" y="2861531"/>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21"/>
          <p:cNvSpPr/>
          <p:nvPr/>
        </p:nvSpPr>
        <p:spPr>
          <a:xfrm>
            <a:off x="1505715" y="88051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21"/>
          <p:cNvSpPr/>
          <p:nvPr/>
        </p:nvSpPr>
        <p:spPr>
          <a:xfrm>
            <a:off x="1505715" y="187621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338" name="Google Shape;338;p21"/>
          <p:cNvGraphicFramePr/>
          <p:nvPr/>
        </p:nvGraphicFramePr>
        <p:xfrm>
          <a:off x="130749" y="4487820"/>
          <a:ext cx="3000000" cy="3000000"/>
        </p:xfrm>
        <a:graphic>
          <a:graphicData uri="http://schemas.openxmlformats.org/drawingml/2006/table">
            <a:tbl>
              <a:tblPr bandRow="1" firstRow="1">
                <a:noFill/>
                <a:tableStyleId>{89DAE5B5-D852-48E7-99B0-D29FA4E4346D}</a:tableStyleId>
              </a:tblPr>
              <a:tblGrid>
                <a:gridCol w="3296925"/>
                <a:gridCol w="3296925"/>
              </a:tblGrid>
              <a:tr h="294225">
                <a:tc>
                  <a:txBody>
                    <a:bodyPr/>
                    <a:lstStyle/>
                    <a:p>
                      <a:pPr indent="0" lvl="0" marL="0" marR="0" rtl="0" algn="l">
                        <a:spcBef>
                          <a:spcPts val="0"/>
                        </a:spcBef>
                        <a:spcAft>
                          <a:spcPts val="0"/>
                        </a:spcAft>
                        <a:buNone/>
                      </a:pPr>
                      <a:r>
                        <a:rPr b="0" lang="en-GB" sz="1200">
                          <a:solidFill>
                            <a:schemeClr val="dk1"/>
                          </a:solidFill>
                        </a:rPr>
                        <a:t>i)</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j)</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k)</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m)</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39" name="Google Shape;339;p21"/>
          <p:cNvSpPr/>
          <p:nvPr/>
        </p:nvSpPr>
        <p:spPr>
          <a:xfrm>
            <a:off x="4873205" y="4940015"/>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0" name="Google Shape;340;p21"/>
          <p:cNvSpPr/>
          <p:nvPr/>
        </p:nvSpPr>
        <p:spPr>
          <a:xfrm>
            <a:off x="4878815" y="592041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21"/>
          <p:cNvSpPr/>
          <p:nvPr/>
        </p:nvSpPr>
        <p:spPr>
          <a:xfrm>
            <a:off x="1556007" y="691324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21"/>
          <p:cNvSpPr/>
          <p:nvPr/>
        </p:nvSpPr>
        <p:spPr>
          <a:xfrm>
            <a:off x="4878815" y="692012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21"/>
          <p:cNvSpPr/>
          <p:nvPr/>
        </p:nvSpPr>
        <p:spPr>
          <a:xfrm>
            <a:off x="1617078" y="4940015"/>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4" name="Google Shape;344;p21"/>
          <p:cNvSpPr/>
          <p:nvPr/>
        </p:nvSpPr>
        <p:spPr>
          <a:xfrm>
            <a:off x="1518724" y="592041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5" name="Google Shape;345;p21"/>
          <p:cNvSpPr txBox="1"/>
          <p:nvPr/>
        </p:nvSpPr>
        <p:spPr>
          <a:xfrm>
            <a:off x="48307" y="7542130"/>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17. What is the </a:t>
            </a:r>
            <a:r>
              <a:rPr b="1" lang="en-GB" sz="1200">
                <a:solidFill>
                  <a:schemeClr val="dk1"/>
                </a:solidFill>
                <a:latin typeface="Calibri"/>
                <a:ea typeface="Calibri"/>
                <a:cs typeface="Calibri"/>
                <a:sym typeface="Calibri"/>
              </a:rPr>
              <a:t>largest</a:t>
            </a:r>
            <a:r>
              <a:rPr lang="en-GB" sz="1200">
                <a:solidFill>
                  <a:schemeClr val="dk1"/>
                </a:solidFill>
                <a:latin typeface="Calibri"/>
                <a:ea typeface="Calibri"/>
                <a:cs typeface="Calibri"/>
                <a:sym typeface="Calibri"/>
              </a:rPr>
              <a:t> integer that makes each statement true?</a:t>
            </a:r>
            <a:endParaRPr/>
          </a:p>
        </p:txBody>
      </p:sp>
      <p:graphicFrame>
        <p:nvGraphicFramePr>
          <p:cNvPr id="346" name="Google Shape;346;p21"/>
          <p:cNvGraphicFramePr/>
          <p:nvPr/>
        </p:nvGraphicFramePr>
        <p:xfrm>
          <a:off x="130749" y="7846818"/>
          <a:ext cx="3000000" cy="3000000"/>
        </p:xfrm>
        <a:graphic>
          <a:graphicData uri="http://schemas.openxmlformats.org/drawingml/2006/table">
            <a:tbl>
              <a:tblPr bandRow="1" firstRow="1">
                <a:noFill/>
                <a:tableStyleId>{89DAE5B5-D852-48E7-99B0-D29FA4E4346D}</a:tableStyleId>
              </a:tblPr>
              <a:tblGrid>
                <a:gridCol w="4234750"/>
                <a:gridCol w="2359125"/>
              </a:tblGrid>
              <a:tr h="432000">
                <a:tc>
                  <a:txBody>
                    <a:bodyPr/>
                    <a:lstStyle/>
                    <a:p>
                      <a:pPr indent="0" lvl="0" marL="0" marR="0" rtl="0" algn="ctr">
                        <a:spcBef>
                          <a:spcPts val="0"/>
                        </a:spcBef>
                        <a:spcAft>
                          <a:spcPts val="0"/>
                        </a:spcAft>
                        <a:buNone/>
                      </a:pPr>
                      <a:r>
                        <a:rPr b="0" lang="en-GB" sz="1200">
                          <a:solidFill>
                            <a:schemeClr val="dk1"/>
                          </a:solidFill>
                        </a:rPr>
                        <a:t>______ &lt; -3.7</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-73.62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-74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-0.413</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______ &lt; -0.104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47" name="Google Shape;347;p21"/>
          <p:cNvSpPr txBox="1"/>
          <p:nvPr/>
        </p:nvSpPr>
        <p:spPr>
          <a:xfrm>
            <a:off x="1491428" y="857661"/>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48" name="Google Shape;348;p21"/>
          <p:cNvSpPr txBox="1"/>
          <p:nvPr/>
        </p:nvSpPr>
        <p:spPr>
          <a:xfrm>
            <a:off x="4990361" y="783089"/>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49" name="Google Shape;349;p21"/>
          <p:cNvSpPr txBox="1"/>
          <p:nvPr/>
        </p:nvSpPr>
        <p:spPr>
          <a:xfrm>
            <a:off x="1527153" y="1841537"/>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50" name="Google Shape;350;p21"/>
          <p:cNvSpPr txBox="1"/>
          <p:nvPr/>
        </p:nvSpPr>
        <p:spPr>
          <a:xfrm>
            <a:off x="4843463" y="1746135"/>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51" name="Google Shape;351;p21"/>
          <p:cNvSpPr txBox="1"/>
          <p:nvPr/>
        </p:nvSpPr>
        <p:spPr>
          <a:xfrm>
            <a:off x="1532806" y="2807702"/>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52" name="Google Shape;352;p21"/>
          <p:cNvSpPr txBox="1"/>
          <p:nvPr/>
        </p:nvSpPr>
        <p:spPr>
          <a:xfrm>
            <a:off x="4843463" y="2801228"/>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53" name="Google Shape;353;p21"/>
          <p:cNvSpPr txBox="1"/>
          <p:nvPr/>
        </p:nvSpPr>
        <p:spPr>
          <a:xfrm>
            <a:off x="1593182" y="3840790"/>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54" name="Google Shape;354;p21"/>
          <p:cNvSpPr txBox="1"/>
          <p:nvPr/>
        </p:nvSpPr>
        <p:spPr>
          <a:xfrm>
            <a:off x="5044367" y="3822230"/>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55" name="Google Shape;355;p21"/>
          <p:cNvSpPr txBox="1"/>
          <p:nvPr/>
        </p:nvSpPr>
        <p:spPr>
          <a:xfrm>
            <a:off x="4962829" y="4875454"/>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56" name="Google Shape;356;p21"/>
          <p:cNvSpPr txBox="1"/>
          <p:nvPr/>
        </p:nvSpPr>
        <p:spPr>
          <a:xfrm>
            <a:off x="1658635" y="4857653"/>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57" name="Google Shape;357;p21"/>
          <p:cNvSpPr txBox="1"/>
          <p:nvPr/>
        </p:nvSpPr>
        <p:spPr>
          <a:xfrm>
            <a:off x="1593182" y="5821661"/>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58" name="Google Shape;358;p21"/>
          <p:cNvSpPr txBox="1"/>
          <p:nvPr/>
        </p:nvSpPr>
        <p:spPr>
          <a:xfrm>
            <a:off x="4896605" y="5840369"/>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
        <p:nvSpPr>
          <p:cNvPr id="359" name="Google Shape;359;p21"/>
          <p:cNvSpPr txBox="1"/>
          <p:nvPr/>
        </p:nvSpPr>
        <p:spPr>
          <a:xfrm>
            <a:off x="1590828" y="6862357"/>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sz="1800">
              <a:solidFill>
                <a:srgbClr val="FF0000"/>
              </a:solidFill>
              <a:latin typeface="Calibri"/>
              <a:ea typeface="Calibri"/>
              <a:cs typeface="Calibri"/>
              <a:sym typeface="Calibri"/>
            </a:endParaRPr>
          </a:p>
        </p:txBody>
      </p:sp>
      <p:sp>
        <p:nvSpPr>
          <p:cNvPr id="360" name="Google Shape;360;p21"/>
          <p:cNvSpPr txBox="1"/>
          <p:nvPr/>
        </p:nvSpPr>
        <p:spPr>
          <a:xfrm>
            <a:off x="4874172" y="6884840"/>
            <a:ext cx="125559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sz="1800">
              <a:solidFill>
                <a:srgbClr val="FF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2"/>
          <p:cNvSpPr txBox="1"/>
          <p:nvPr/>
        </p:nvSpPr>
        <p:spPr>
          <a:xfrm>
            <a:off x="5266636" y="9442655"/>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sp>
        <p:nvSpPr>
          <p:cNvPr id="367" name="Google Shape;367;p22"/>
          <p:cNvSpPr txBox="1"/>
          <p:nvPr/>
        </p:nvSpPr>
        <p:spPr>
          <a:xfrm>
            <a:off x="87694" y="88340"/>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18. What is the </a:t>
            </a:r>
            <a:r>
              <a:rPr b="1" lang="en-GB" sz="1200">
                <a:solidFill>
                  <a:schemeClr val="dk1"/>
                </a:solidFill>
                <a:latin typeface="Calibri"/>
                <a:ea typeface="Calibri"/>
                <a:cs typeface="Calibri"/>
                <a:sym typeface="Calibri"/>
              </a:rPr>
              <a:t>smallest</a:t>
            </a:r>
            <a:r>
              <a:rPr lang="en-GB" sz="1200">
                <a:solidFill>
                  <a:schemeClr val="dk1"/>
                </a:solidFill>
                <a:latin typeface="Calibri"/>
                <a:ea typeface="Calibri"/>
                <a:cs typeface="Calibri"/>
                <a:sym typeface="Calibri"/>
              </a:rPr>
              <a:t> integer that makes each statement true?</a:t>
            </a:r>
            <a:endParaRPr/>
          </a:p>
        </p:txBody>
      </p:sp>
      <p:graphicFrame>
        <p:nvGraphicFramePr>
          <p:cNvPr id="368" name="Google Shape;368;p22"/>
          <p:cNvGraphicFramePr/>
          <p:nvPr/>
        </p:nvGraphicFramePr>
        <p:xfrm>
          <a:off x="177312" y="321795"/>
          <a:ext cx="3000000" cy="3000000"/>
        </p:xfrm>
        <a:graphic>
          <a:graphicData uri="http://schemas.openxmlformats.org/drawingml/2006/table">
            <a:tbl>
              <a:tblPr bandRow="1" firstRow="1">
                <a:noFill/>
                <a:tableStyleId>{89DAE5B5-D852-48E7-99B0-D29FA4E4346D}</a:tableStyleId>
              </a:tblPr>
              <a:tblGrid>
                <a:gridCol w="4180400"/>
                <a:gridCol w="2322975"/>
              </a:tblGrid>
              <a:tr h="432000">
                <a:tc>
                  <a:txBody>
                    <a:bodyPr/>
                    <a:lstStyle/>
                    <a:p>
                      <a:pPr indent="0" lvl="0" marL="0" marR="0" rtl="0" algn="ctr">
                        <a:spcBef>
                          <a:spcPts val="0"/>
                        </a:spcBef>
                        <a:spcAft>
                          <a:spcPts val="0"/>
                        </a:spcAft>
                        <a:buNone/>
                      </a:pPr>
                      <a:r>
                        <a:rPr b="0" lang="en-GB" sz="1200">
                          <a:solidFill>
                            <a:schemeClr val="dk1"/>
                          </a:solidFill>
                        </a:rPr>
                        <a:t>-4.89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-105.713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-105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-0.012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-0.91403 &lt; _____</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600">
                          <a:solidFill>
                            <a:srgbClr val="FF0000"/>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369" name="Google Shape;369;p22"/>
          <p:cNvGraphicFramePr/>
          <p:nvPr/>
        </p:nvGraphicFramePr>
        <p:xfrm>
          <a:off x="177312" y="2608146"/>
          <a:ext cx="3000000" cy="3000000"/>
        </p:xfrm>
        <a:graphic>
          <a:graphicData uri="http://schemas.openxmlformats.org/drawingml/2006/table">
            <a:tbl>
              <a:tblPr bandRow="1" firstRow="1">
                <a:noFill/>
                <a:tableStyleId>{89DAE5B5-D852-48E7-99B0-D29FA4E4346D}</a:tableStyleId>
              </a:tblPr>
              <a:tblGrid>
                <a:gridCol w="819025"/>
                <a:gridCol w="1917825"/>
                <a:gridCol w="1917825"/>
                <a:gridCol w="1917825"/>
              </a:tblGrid>
              <a:tr h="37817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83250">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Decide whether the two values are equal or not.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285775">
                <a:tc>
                  <a:txBody>
                    <a:bodyPr/>
                    <a:lstStyle/>
                    <a:p>
                      <a:pPr indent="0" lvl="0" marL="0" marR="0" rtl="0" algn="ctr">
                        <a:spcBef>
                          <a:spcPts val="0"/>
                        </a:spcBef>
                        <a:spcAft>
                          <a:spcPts val="0"/>
                        </a:spcAft>
                        <a:buNone/>
                      </a:pPr>
                      <a:r>
                        <a:rPr lang="en-GB" sz="1200">
                          <a:solidFill>
                            <a:schemeClr val="dk1"/>
                          </a:solidFill>
                        </a:rPr>
                        <a:t>If they are equal, use the ‘=‘ sign. If they aren’t, use the ≠ sign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370" name="Google Shape;370;p22"/>
          <p:cNvSpPr txBox="1"/>
          <p:nvPr/>
        </p:nvSpPr>
        <p:spPr>
          <a:xfrm>
            <a:off x="1225916" y="2373051"/>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28 - I do…</a:t>
            </a:r>
            <a:endParaRPr/>
          </a:p>
        </p:txBody>
      </p:sp>
      <p:sp>
        <p:nvSpPr>
          <p:cNvPr id="371" name="Google Shape;371;p22"/>
          <p:cNvSpPr txBox="1"/>
          <p:nvPr/>
        </p:nvSpPr>
        <p:spPr>
          <a:xfrm>
            <a:off x="4968810" y="2366230"/>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30 – You do…</a:t>
            </a:r>
            <a:endParaRPr/>
          </a:p>
        </p:txBody>
      </p:sp>
      <p:sp>
        <p:nvSpPr>
          <p:cNvPr id="372" name="Google Shape;372;p22"/>
          <p:cNvSpPr txBox="1"/>
          <p:nvPr/>
        </p:nvSpPr>
        <p:spPr>
          <a:xfrm>
            <a:off x="3069243" y="2367759"/>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29 – We do…</a:t>
            </a:r>
            <a:endParaRPr/>
          </a:p>
        </p:txBody>
      </p:sp>
      <p:sp>
        <p:nvSpPr>
          <p:cNvPr id="373" name="Google Shape;373;p22"/>
          <p:cNvSpPr/>
          <p:nvPr/>
        </p:nvSpPr>
        <p:spPr>
          <a:xfrm>
            <a:off x="1867501" y="3191497"/>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4" name="Google Shape;374;p22"/>
          <p:cNvSpPr/>
          <p:nvPr/>
        </p:nvSpPr>
        <p:spPr>
          <a:xfrm>
            <a:off x="3724102" y="3191497"/>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22"/>
          <p:cNvSpPr/>
          <p:nvPr/>
        </p:nvSpPr>
        <p:spPr>
          <a:xfrm>
            <a:off x="5573129" y="3202648"/>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22"/>
          <p:cNvSpPr txBox="1"/>
          <p:nvPr/>
        </p:nvSpPr>
        <p:spPr>
          <a:xfrm>
            <a:off x="886422" y="3121851"/>
            <a:ext cx="10714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Negative two hundred and six tenths</a:t>
            </a:r>
            <a:endParaRPr/>
          </a:p>
        </p:txBody>
      </p:sp>
      <p:sp>
        <p:nvSpPr>
          <p:cNvPr id="377" name="Google Shape;377;p22"/>
          <p:cNvSpPr txBox="1"/>
          <p:nvPr/>
        </p:nvSpPr>
        <p:spPr>
          <a:xfrm>
            <a:off x="2318500" y="3306518"/>
            <a:ext cx="1098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-200.06</a:t>
            </a:r>
            <a:endParaRPr/>
          </a:p>
        </p:txBody>
      </p:sp>
      <p:sp>
        <p:nvSpPr>
          <p:cNvPr id="378" name="Google Shape;378;p22"/>
          <p:cNvSpPr txBox="1"/>
          <p:nvPr/>
        </p:nvSpPr>
        <p:spPr>
          <a:xfrm>
            <a:off x="2774141" y="3294583"/>
            <a:ext cx="107148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- 3 000 000</a:t>
            </a:r>
            <a:endParaRPr/>
          </a:p>
        </p:txBody>
      </p:sp>
      <p:sp>
        <p:nvSpPr>
          <p:cNvPr id="379" name="Google Shape;379;p22"/>
          <p:cNvSpPr txBox="1"/>
          <p:nvPr/>
        </p:nvSpPr>
        <p:spPr>
          <a:xfrm>
            <a:off x="4118980" y="3121851"/>
            <a:ext cx="76707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Negative three million</a:t>
            </a:r>
            <a:endParaRPr/>
          </a:p>
        </p:txBody>
      </p:sp>
      <p:sp>
        <p:nvSpPr>
          <p:cNvPr id="380" name="Google Shape;380;p22"/>
          <p:cNvSpPr txBox="1"/>
          <p:nvPr/>
        </p:nvSpPr>
        <p:spPr>
          <a:xfrm>
            <a:off x="4761470" y="3016848"/>
            <a:ext cx="986187"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Negative six thousand eight hundred and nine tenths</a:t>
            </a:r>
            <a:endParaRPr/>
          </a:p>
        </p:txBody>
      </p:sp>
      <p:sp>
        <p:nvSpPr>
          <p:cNvPr id="381" name="Google Shape;381;p22"/>
          <p:cNvSpPr txBox="1"/>
          <p:nvPr/>
        </p:nvSpPr>
        <p:spPr>
          <a:xfrm>
            <a:off x="6020964" y="3360948"/>
            <a:ext cx="1098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-68 000.9</a:t>
            </a:r>
            <a:endParaRPr/>
          </a:p>
        </p:txBody>
      </p:sp>
      <p:sp>
        <p:nvSpPr>
          <p:cNvPr id="382" name="Google Shape;382;p22"/>
          <p:cNvSpPr/>
          <p:nvPr/>
        </p:nvSpPr>
        <p:spPr>
          <a:xfrm>
            <a:off x="177312" y="2122521"/>
            <a:ext cx="6014442" cy="276999"/>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‘not equal to’ symbol to compare negative numbers</a:t>
            </a:r>
            <a:endParaRPr/>
          </a:p>
        </p:txBody>
      </p:sp>
      <p:graphicFrame>
        <p:nvGraphicFramePr>
          <p:cNvPr id="383" name="Google Shape;383;p22"/>
          <p:cNvGraphicFramePr/>
          <p:nvPr/>
        </p:nvGraphicFramePr>
        <p:xfrm>
          <a:off x="166618" y="6141287"/>
          <a:ext cx="3000000" cy="3000000"/>
        </p:xfrm>
        <a:graphic>
          <a:graphicData uri="http://schemas.openxmlformats.org/drawingml/2006/table">
            <a:tbl>
              <a:tblPr bandRow="1" firstRow="1">
                <a:noFill/>
                <a:tableStyleId>{89DAE5B5-D852-48E7-99B0-D29FA4E4346D}</a:tableStyleId>
              </a:tblPr>
              <a:tblGrid>
                <a:gridCol w="3296925"/>
                <a:gridCol w="3296925"/>
              </a:tblGrid>
              <a:tr h="27432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976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984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984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976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84" name="Google Shape;384;p22"/>
          <p:cNvSpPr/>
          <p:nvPr/>
        </p:nvSpPr>
        <p:spPr>
          <a:xfrm>
            <a:off x="155732" y="5847720"/>
            <a:ext cx="2060044" cy="237234"/>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385" name="Google Shape;385;p22"/>
          <p:cNvSpPr txBox="1"/>
          <p:nvPr/>
        </p:nvSpPr>
        <p:spPr>
          <a:xfrm>
            <a:off x="2184474" y="5844591"/>
            <a:ext cx="712636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19. Complete these statements using the symbols = or </a:t>
            </a:r>
            <a:r>
              <a:rPr b="0" lang="en-GB" sz="1200">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 </a:t>
            </a:r>
            <a:endParaRPr/>
          </a:p>
        </p:txBody>
      </p:sp>
      <p:sp>
        <p:nvSpPr>
          <p:cNvPr id="386" name="Google Shape;386;p22"/>
          <p:cNvSpPr/>
          <p:nvPr/>
        </p:nvSpPr>
        <p:spPr>
          <a:xfrm>
            <a:off x="1034852" y="6433027"/>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22"/>
          <p:cNvSpPr txBox="1"/>
          <p:nvPr/>
        </p:nvSpPr>
        <p:spPr>
          <a:xfrm>
            <a:off x="1872486" y="6490163"/>
            <a:ext cx="18282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Negative five thousand four hundred</a:t>
            </a:r>
            <a:endParaRPr/>
          </a:p>
        </p:txBody>
      </p:sp>
      <p:sp>
        <p:nvSpPr>
          <p:cNvPr id="388" name="Google Shape;388;p22"/>
          <p:cNvSpPr txBox="1"/>
          <p:nvPr/>
        </p:nvSpPr>
        <p:spPr>
          <a:xfrm>
            <a:off x="3428999" y="6495115"/>
            <a:ext cx="17438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Negative eighty-three and seven tenths</a:t>
            </a:r>
            <a:endParaRPr/>
          </a:p>
        </p:txBody>
      </p:sp>
      <p:sp>
        <p:nvSpPr>
          <p:cNvPr id="389" name="Google Shape;389;p22"/>
          <p:cNvSpPr txBox="1"/>
          <p:nvPr/>
        </p:nvSpPr>
        <p:spPr>
          <a:xfrm>
            <a:off x="186040" y="7254837"/>
            <a:ext cx="166007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Negative nine thousand, five hundred and thirty−seven</a:t>
            </a:r>
            <a:endParaRPr/>
          </a:p>
        </p:txBody>
      </p:sp>
      <p:sp>
        <p:nvSpPr>
          <p:cNvPr id="390" name="Google Shape;390;p22"/>
          <p:cNvSpPr/>
          <p:nvPr/>
        </p:nvSpPr>
        <p:spPr>
          <a:xfrm>
            <a:off x="1773788" y="7321452"/>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1" name="Google Shape;391;p22"/>
          <p:cNvSpPr/>
          <p:nvPr/>
        </p:nvSpPr>
        <p:spPr>
          <a:xfrm>
            <a:off x="1997917" y="8214311"/>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22"/>
          <p:cNvSpPr txBox="1"/>
          <p:nvPr/>
        </p:nvSpPr>
        <p:spPr>
          <a:xfrm>
            <a:off x="4905776" y="7269824"/>
            <a:ext cx="187930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Negative twelve thousand, two hundred point one four</a:t>
            </a:r>
            <a:endParaRPr/>
          </a:p>
        </p:txBody>
      </p:sp>
      <p:sp>
        <p:nvSpPr>
          <p:cNvPr id="393" name="Google Shape;393;p22"/>
          <p:cNvSpPr/>
          <p:nvPr/>
        </p:nvSpPr>
        <p:spPr>
          <a:xfrm>
            <a:off x="5202945" y="6447905"/>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4" name="Google Shape;394;p22"/>
          <p:cNvSpPr/>
          <p:nvPr/>
        </p:nvSpPr>
        <p:spPr>
          <a:xfrm>
            <a:off x="4375316" y="7328159"/>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 name="Google Shape;395;p22"/>
          <p:cNvSpPr txBox="1"/>
          <p:nvPr/>
        </p:nvSpPr>
        <p:spPr>
          <a:xfrm>
            <a:off x="192977" y="8145188"/>
            <a:ext cx="222846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Negative seventy−nine thousand, six hundred and twenty−six </a:t>
            </a:r>
            <a:endParaRPr/>
          </a:p>
        </p:txBody>
      </p:sp>
      <p:sp>
        <p:nvSpPr>
          <p:cNvPr id="396" name="Google Shape;396;p22"/>
          <p:cNvSpPr txBox="1"/>
          <p:nvPr/>
        </p:nvSpPr>
        <p:spPr>
          <a:xfrm>
            <a:off x="5090906" y="8237520"/>
            <a:ext cx="16588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GB" sz="1200" u="none" cap="none" strike="noStrike">
                <a:solidFill>
                  <a:srgbClr val="000000"/>
                </a:solidFill>
                <a:latin typeface="Calibri"/>
                <a:ea typeface="Calibri"/>
                <a:cs typeface="Calibri"/>
                <a:sym typeface="Calibri"/>
              </a:rPr>
              <a:t>Negative one million, four hundred and eight</a:t>
            </a:r>
            <a:endParaRPr/>
          </a:p>
        </p:txBody>
      </p:sp>
      <p:sp>
        <p:nvSpPr>
          <p:cNvPr id="397" name="Google Shape;397;p22"/>
          <p:cNvSpPr/>
          <p:nvPr/>
        </p:nvSpPr>
        <p:spPr>
          <a:xfrm>
            <a:off x="4375316" y="8207624"/>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8" name="Google Shape;398;p22"/>
          <p:cNvSpPr/>
          <p:nvPr/>
        </p:nvSpPr>
        <p:spPr>
          <a:xfrm>
            <a:off x="1571368" y="9083040"/>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9" name="Google Shape;399;p22"/>
          <p:cNvSpPr/>
          <p:nvPr/>
        </p:nvSpPr>
        <p:spPr>
          <a:xfrm>
            <a:off x="4920028" y="9064389"/>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22"/>
          <p:cNvSpPr txBox="1"/>
          <p:nvPr/>
        </p:nvSpPr>
        <p:spPr>
          <a:xfrm>
            <a:off x="3805372" y="3168838"/>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1" name="Google Shape;401;p22"/>
          <p:cNvSpPr txBox="1"/>
          <p:nvPr/>
        </p:nvSpPr>
        <p:spPr>
          <a:xfrm>
            <a:off x="1956345" y="3158463"/>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2" name="Google Shape;402;p22"/>
          <p:cNvSpPr txBox="1"/>
          <p:nvPr/>
        </p:nvSpPr>
        <p:spPr>
          <a:xfrm>
            <a:off x="5693996" y="3167309"/>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3" name="Google Shape;403;p22"/>
          <p:cNvSpPr txBox="1"/>
          <p:nvPr/>
        </p:nvSpPr>
        <p:spPr>
          <a:xfrm>
            <a:off x="1225916" y="6442408"/>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4" name="Google Shape;404;p22"/>
          <p:cNvSpPr txBox="1"/>
          <p:nvPr/>
        </p:nvSpPr>
        <p:spPr>
          <a:xfrm>
            <a:off x="5311127" y="6459051"/>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5" name="Google Shape;405;p22"/>
          <p:cNvSpPr txBox="1"/>
          <p:nvPr/>
        </p:nvSpPr>
        <p:spPr>
          <a:xfrm>
            <a:off x="1872486" y="7325480"/>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6" name="Google Shape;406;p22"/>
          <p:cNvSpPr txBox="1"/>
          <p:nvPr/>
        </p:nvSpPr>
        <p:spPr>
          <a:xfrm>
            <a:off x="4477490" y="7298288"/>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7" name="Google Shape;407;p22"/>
          <p:cNvSpPr txBox="1"/>
          <p:nvPr/>
        </p:nvSpPr>
        <p:spPr>
          <a:xfrm>
            <a:off x="2056657" y="8214311"/>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8" name="Google Shape;408;p22"/>
          <p:cNvSpPr txBox="1"/>
          <p:nvPr/>
        </p:nvSpPr>
        <p:spPr>
          <a:xfrm>
            <a:off x="4453310" y="8226696"/>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09" name="Google Shape;409;p22"/>
          <p:cNvSpPr txBox="1"/>
          <p:nvPr/>
        </p:nvSpPr>
        <p:spPr>
          <a:xfrm>
            <a:off x="1624760" y="9087674"/>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
        <p:nvSpPr>
          <p:cNvPr id="410" name="Google Shape;410;p22"/>
          <p:cNvSpPr txBox="1"/>
          <p:nvPr/>
        </p:nvSpPr>
        <p:spPr>
          <a:xfrm>
            <a:off x="5055522" y="9106250"/>
            <a:ext cx="98263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0000"/>
                </a:solidFill>
                <a:latin typeface="Calibri"/>
                <a:ea typeface="Calibri"/>
                <a:cs typeface="Calibri"/>
                <a:sym typeface="Calibri"/>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