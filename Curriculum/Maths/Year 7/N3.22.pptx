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91AEFD-050F-4350-BB94-A2241F861526}">
  <a:tblStyle styleId="{1791AEFD-050F-4350-BB94-A2241F86152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9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0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0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0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0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10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0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idx="12" type="sldNum"/>
          </p:nvPr>
        </p:nvSpPr>
        <p:spPr>
          <a:xfrm>
            <a:off x="5216810" y="943490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90" name="Google Shape;90;p13"/>
          <p:cNvSpPr/>
          <p:nvPr/>
        </p:nvSpPr>
        <p:spPr>
          <a:xfrm>
            <a:off x="86108" y="309495"/>
            <a:ext cx="6679742" cy="127148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1" name="Google Shape;91;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N3.22 –  The Mean</a:t>
            </a:r>
            <a:endParaRPr/>
          </a:p>
        </p:txBody>
      </p:sp>
      <p:sp>
        <p:nvSpPr>
          <p:cNvPr id="92" name="Google Shape;92;p13"/>
          <p:cNvSpPr txBox="1"/>
          <p:nvPr/>
        </p:nvSpPr>
        <p:spPr>
          <a:xfrm>
            <a:off x="70364" y="660166"/>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3" name="Google Shape;93;p13"/>
          <p:cNvSpPr txBox="1"/>
          <p:nvPr/>
        </p:nvSpPr>
        <p:spPr>
          <a:xfrm>
            <a:off x="68227" y="876283"/>
            <a:ext cx="5166520"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find the mean from a list of numbers.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use the mean to find missing numbers.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solve problems where the mean changes.</a:t>
            </a:r>
            <a:endParaRPr/>
          </a:p>
        </p:txBody>
      </p:sp>
      <p:sp>
        <p:nvSpPr>
          <p:cNvPr id="94" name="Google Shape;94;p13"/>
          <p:cNvSpPr txBox="1"/>
          <p:nvPr/>
        </p:nvSpPr>
        <p:spPr>
          <a:xfrm>
            <a:off x="142969" y="356923"/>
            <a:ext cx="6534707" cy="28566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understand what the mean is and how to apply it to different contexts.</a:t>
            </a:r>
            <a:endParaRPr/>
          </a:p>
        </p:txBody>
      </p:sp>
      <p:sp>
        <p:nvSpPr>
          <p:cNvPr id="95" name="Google Shape;95;p13"/>
          <p:cNvSpPr txBox="1"/>
          <p:nvPr/>
        </p:nvSpPr>
        <p:spPr>
          <a:xfrm>
            <a:off x="5400878" y="682055"/>
            <a:ext cx="1267941" cy="830997"/>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Average</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Mean</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Outlier</a:t>
            </a:r>
            <a:endParaRPr/>
          </a:p>
        </p:txBody>
      </p:sp>
      <p:sp>
        <p:nvSpPr>
          <p:cNvPr id="96" name="Google Shape;96;p13"/>
          <p:cNvSpPr/>
          <p:nvPr/>
        </p:nvSpPr>
        <p:spPr>
          <a:xfrm>
            <a:off x="94533" y="1623245"/>
            <a:ext cx="6671317" cy="1440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7" name="Google Shape;97;p13"/>
          <p:cNvSpPr txBox="1"/>
          <p:nvPr/>
        </p:nvSpPr>
        <p:spPr>
          <a:xfrm>
            <a:off x="51442" y="1586599"/>
            <a:ext cx="27782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rgbClr val="000000"/>
                </a:solidFill>
                <a:latin typeface="Calibri"/>
                <a:ea typeface="Calibri"/>
                <a:cs typeface="Calibri"/>
                <a:sym typeface="Calibri"/>
              </a:rPr>
              <a:t>Introduction: </a:t>
            </a:r>
            <a:endParaRPr/>
          </a:p>
        </p:txBody>
      </p:sp>
      <p:sp>
        <p:nvSpPr>
          <p:cNvPr id="98" name="Google Shape;98;p13"/>
          <p:cNvSpPr txBox="1"/>
          <p:nvPr/>
        </p:nvSpPr>
        <p:spPr>
          <a:xfrm>
            <a:off x="52987" y="1734794"/>
            <a:ext cx="6858000" cy="1384995"/>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The "mean" is a way to find the average of a group of numbers. One way to think about it is as a </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method for sharing things evenly. Imagine dividing a total amount equally among everyone—this is the</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idea behind the mean. For example, if three friends have 8, 10, and 12 sweets, you’d add them </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Together (8 + 10 + 12 = 30 sweets). Then, divide the total (30) by the number of friends (3). Everyone</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would get 10 sweets if they shared equally, so the mean is 10. This idea works for numbers too, not </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just sweets! The mean is useful because it gives a single value that represents the whole group, helping</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us understand what is typical in a set of data. </a:t>
            </a:r>
            <a:endParaRPr b="0" i="0" sz="1200" u="none" cap="none" strike="noStrike">
              <a:solidFill>
                <a:srgbClr val="000000"/>
              </a:solidFill>
              <a:latin typeface="Calibri"/>
              <a:ea typeface="Calibri"/>
              <a:cs typeface="Calibri"/>
              <a:sym typeface="Calibri"/>
            </a:endParaRPr>
          </a:p>
        </p:txBody>
      </p:sp>
      <p:cxnSp>
        <p:nvCxnSpPr>
          <p:cNvPr id="99" name="Google Shape;99;p13"/>
          <p:cNvCxnSpPr/>
          <p:nvPr/>
        </p:nvCxnSpPr>
        <p:spPr>
          <a:xfrm flipH="1" rot="10800000">
            <a:off x="960508" y="5043925"/>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0" name="Google Shape;100;p13"/>
          <p:cNvSpPr/>
          <p:nvPr/>
        </p:nvSpPr>
        <p:spPr>
          <a:xfrm>
            <a:off x="94533" y="3113330"/>
            <a:ext cx="6665327" cy="218009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1" name="Google Shape;101;p13"/>
          <p:cNvCxnSpPr>
            <a:stCxn id="100" idx="1"/>
            <a:endCxn id="100" idx="3"/>
          </p:cNvCxnSpPr>
          <p:nvPr/>
        </p:nvCxnSpPr>
        <p:spPr>
          <a:xfrm>
            <a:off x="94533" y="4203376"/>
            <a:ext cx="6665400" cy="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13"/>
          <p:cNvCxnSpPr>
            <a:stCxn id="100" idx="2"/>
            <a:endCxn id="100" idx="0"/>
          </p:cNvCxnSpPr>
          <p:nvPr/>
        </p:nvCxnSpPr>
        <p:spPr>
          <a:xfrm rot="10800000">
            <a:off x="3427196" y="3113322"/>
            <a:ext cx="0" cy="2180100"/>
          </a:xfrm>
          <a:prstGeom prst="straightConnector1">
            <a:avLst/>
          </a:prstGeom>
          <a:noFill/>
          <a:ln cap="flat" cmpd="sng" w="9525">
            <a:solidFill>
              <a:schemeClr val="dk1"/>
            </a:solidFill>
            <a:prstDash val="solid"/>
            <a:miter lim="800000"/>
            <a:headEnd len="sm" w="sm" type="none"/>
            <a:tailEnd len="sm" w="sm" type="none"/>
          </a:ln>
        </p:spPr>
      </p:cxnSp>
      <p:sp>
        <p:nvSpPr>
          <p:cNvPr id="103" name="Google Shape;103;p13"/>
          <p:cNvSpPr txBox="1"/>
          <p:nvPr/>
        </p:nvSpPr>
        <p:spPr>
          <a:xfrm>
            <a:off x="50153" y="3059542"/>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13"/>
          <p:cNvSpPr txBox="1"/>
          <p:nvPr/>
        </p:nvSpPr>
        <p:spPr>
          <a:xfrm>
            <a:off x="5738029" y="3058179"/>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5" name="Google Shape;105;p13"/>
          <p:cNvSpPr txBox="1"/>
          <p:nvPr/>
        </p:nvSpPr>
        <p:spPr>
          <a:xfrm>
            <a:off x="61396" y="4233446"/>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6" name="Google Shape;106;p13"/>
          <p:cNvSpPr txBox="1"/>
          <p:nvPr/>
        </p:nvSpPr>
        <p:spPr>
          <a:xfrm>
            <a:off x="5677372" y="4239050"/>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7" name="Google Shape;107;p13"/>
          <p:cNvSpPr txBox="1"/>
          <p:nvPr/>
        </p:nvSpPr>
        <p:spPr>
          <a:xfrm>
            <a:off x="44983" y="3246345"/>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a:solidFill>
                  <a:srgbClr val="000000"/>
                </a:solidFill>
                <a:latin typeface="Calibri"/>
                <a:ea typeface="Calibri"/>
                <a:cs typeface="Calibri"/>
                <a:sym typeface="Calibri"/>
              </a:rPr>
              <a:t>The average value of the data.​</a:t>
            </a:r>
            <a:endParaRPr sz="1200">
              <a:solidFill>
                <a:schemeClr val="dk1"/>
              </a:solidFill>
              <a:latin typeface="Calibri"/>
              <a:ea typeface="Calibri"/>
              <a:cs typeface="Calibri"/>
              <a:sym typeface="Calibri"/>
            </a:endParaRPr>
          </a:p>
        </p:txBody>
      </p:sp>
      <p:sp>
        <p:nvSpPr>
          <p:cNvPr id="108" name="Google Shape;108;p13"/>
          <p:cNvSpPr txBox="1"/>
          <p:nvPr/>
        </p:nvSpPr>
        <p:spPr>
          <a:xfrm>
            <a:off x="3373459" y="3228395"/>
            <a:ext cx="3484542" cy="107170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7000"/>
              </a:lnSpc>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Can be found by sharing the total of all the numbers in the list equally between them.</a:t>
            </a:r>
            <a:endParaRPr sz="1200">
              <a:solidFill>
                <a:schemeClr val="dk1"/>
              </a:solidFill>
              <a:latin typeface="Calibri"/>
              <a:ea typeface="Calibri"/>
              <a:cs typeface="Calibri"/>
              <a:sym typeface="Calibri"/>
            </a:endParaRPr>
          </a:p>
          <a:p>
            <a:pPr indent="-171450" lvl="0" marL="171450" marR="0" rtl="0" algn="l">
              <a:lnSpc>
                <a:spcPct val="107000"/>
              </a:lnSpc>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Represents the point of balance if all the numbers from the list are placed on a number line.</a:t>
            </a:r>
            <a:endParaRPr sz="1200">
              <a:solidFill>
                <a:schemeClr val="dk1"/>
              </a:solidFill>
              <a:latin typeface="Calibri"/>
              <a:ea typeface="Calibri"/>
              <a:cs typeface="Calibri"/>
              <a:sym typeface="Calibri"/>
            </a:endParaRPr>
          </a:p>
          <a:p>
            <a:pPr indent="-171450" lvl="0" marL="171450" marR="0" rtl="0" algn="l">
              <a:lnSpc>
                <a:spcPct val="107000"/>
              </a:lnSpc>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Affected by outliers.</a:t>
            </a:r>
            <a:endParaRPr sz="1200">
              <a:solidFill>
                <a:schemeClr val="dk1"/>
              </a:solidFill>
              <a:latin typeface="Calibri"/>
              <a:ea typeface="Calibri"/>
              <a:cs typeface="Calibri"/>
              <a:sym typeface="Calibri"/>
            </a:endParaRPr>
          </a:p>
        </p:txBody>
      </p:sp>
      <p:sp>
        <p:nvSpPr>
          <p:cNvPr id="109" name="Google Shape;109;p13"/>
          <p:cNvSpPr txBox="1"/>
          <p:nvPr/>
        </p:nvSpPr>
        <p:spPr>
          <a:xfrm>
            <a:off x="3077331" y="4238913"/>
            <a:ext cx="729687"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Mean</a:t>
            </a:r>
            <a:endParaRPr sz="1800">
              <a:solidFill>
                <a:schemeClr val="dk1"/>
              </a:solidFill>
              <a:latin typeface="Calibri"/>
              <a:ea typeface="Calibri"/>
              <a:cs typeface="Calibri"/>
              <a:sym typeface="Calibri"/>
            </a:endParaRPr>
          </a:p>
        </p:txBody>
      </p:sp>
      <p:pic>
        <p:nvPicPr>
          <p:cNvPr id="110" name="Google Shape;110;p13"/>
          <p:cNvPicPr preferRelativeResize="0"/>
          <p:nvPr/>
        </p:nvPicPr>
        <p:blipFill rotWithShape="1">
          <a:blip r:embed="rId3">
            <a:alphaModFix/>
          </a:blip>
          <a:srcRect b="0" l="0" r="0" t="0"/>
          <a:stretch/>
        </p:blipFill>
        <p:spPr>
          <a:xfrm>
            <a:off x="4053024" y="4468002"/>
            <a:ext cx="2258677" cy="634962"/>
          </a:xfrm>
          <a:prstGeom prst="rect">
            <a:avLst/>
          </a:prstGeom>
          <a:noFill/>
          <a:ln>
            <a:noFill/>
          </a:ln>
        </p:spPr>
      </p:pic>
      <p:sp>
        <p:nvSpPr>
          <p:cNvPr id="111" name="Google Shape;111;p13"/>
          <p:cNvSpPr txBox="1"/>
          <p:nvPr/>
        </p:nvSpPr>
        <p:spPr>
          <a:xfrm>
            <a:off x="3405150" y="5045372"/>
            <a:ext cx="248428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Mean of 5, 4, 3, ≠ 5 + 4 + 3 ÷ 3</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pic>
        <p:nvPicPr>
          <p:cNvPr id="112" name="Google Shape;112;p13"/>
          <p:cNvPicPr preferRelativeResize="0"/>
          <p:nvPr/>
        </p:nvPicPr>
        <p:blipFill rotWithShape="1">
          <a:blip r:embed="rId4">
            <a:alphaModFix/>
          </a:blip>
          <a:srcRect b="0" l="0" r="0" t="0"/>
          <a:stretch/>
        </p:blipFill>
        <p:spPr>
          <a:xfrm>
            <a:off x="128071" y="4516919"/>
            <a:ext cx="1518841" cy="663852"/>
          </a:xfrm>
          <a:prstGeom prst="rect">
            <a:avLst/>
          </a:prstGeom>
          <a:noFill/>
          <a:ln>
            <a:noFill/>
          </a:ln>
        </p:spPr>
      </p:pic>
      <p:pic>
        <p:nvPicPr>
          <p:cNvPr id="113" name="Google Shape;113;p13"/>
          <p:cNvPicPr preferRelativeResize="0"/>
          <p:nvPr/>
        </p:nvPicPr>
        <p:blipFill rotWithShape="1">
          <a:blip r:embed="rId5">
            <a:alphaModFix/>
          </a:blip>
          <a:srcRect b="0" l="0" r="0" t="0"/>
          <a:stretch/>
        </p:blipFill>
        <p:spPr>
          <a:xfrm>
            <a:off x="1705739" y="4629570"/>
            <a:ext cx="1524478" cy="663852"/>
          </a:xfrm>
          <a:prstGeom prst="rect">
            <a:avLst/>
          </a:prstGeom>
          <a:noFill/>
          <a:ln>
            <a:noFill/>
          </a:ln>
        </p:spPr>
      </p:pic>
      <p:pic>
        <p:nvPicPr>
          <p:cNvPr id="114" name="Google Shape;114;p13"/>
          <p:cNvPicPr preferRelativeResize="0"/>
          <p:nvPr/>
        </p:nvPicPr>
        <p:blipFill rotWithShape="1">
          <a:blip r:embed="rId6">
            <a:alphaModFix/>
          </a:blip>
          <a:srcRect b="17047" l="0" r="0" t="11230"/>
          <a:stretch/>
        </p:blipFill>
        <p:spPr>
          <a:xfrm>
            <a:off x="2364320" y="6410909"/>
            <a:ext cx="1731794" cy="1324511"/>
          </a:xfrm>
          <a:prstGeom prst="rect">
            <a:avLst/>
          </a:prstGeom>
          <a:noFill/>
          <a:ln>
            <a:noFill/>
          </a:ln>
        </p:spPr>
      </p:pic>
      <p:sp>
        <p:nvSpPr>
          <p:cNvPr id="115" name="Google Shape;115;p13"/>
          <p:cNvSpPr txBox="1"/>
          <p:nvPr/>
        </p:nvSpPr>
        <p:spPr>
          <a:xfrm>
            <a:off x="44983" y="5414317"/>
            <a:ext cx="668516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We can think of the </a:t>
            </a:r>
            <a:r>
              <a:rPr b="1" lang="en-GB" sz="1200">
                <a:solidFill>
                  <a:schemeClr val="dk1"/>
                </a:solidFill>
                <a:latin typeface="Calibri"/>
                <a:ea typeface="Calibri"/>
                <a:cs typeface="Calibri"/>
                <a:sym typeface="Calibri"/>
              </a:rPr>
              <a:t>mean </a:t>
            </a:r>
            <a:r>
              <a:rPr lang="en-GB" sz="1200">
                <a:solidFill>
                  <a:schemeClr val="dk1"/>
                </a:solidFill>
                <a:latin typeface="Calibri"/>
                <a:ea typeface="Calibri"/>
                <a:cs typeface="Calibri"/>
                <a:sym typeface="Calibri"/>
              </a:rPr>
              <a:t>as redistributing things equally. </a:t>
            </a:r>
            <a:endParaRPr/>
          </a:p>
        </p:txBody>
      </p:sp>
      <p:sp>
        <p:nvSpPr>
          <p:cNvPr id="116" name="Google Shape;116;p13"/>
          <p:cNvSpPr txBox="1"/>
          <p:nvPr/>
        </p:nvSpPr>
        <p:spPr>
          <a:xfrm>
            <a:off x="51442" y="5711568"/>
            <a:ext cx="34363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For example:</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5 people have different amounts of pizza:</a:t>
            </a:r>
            <a:endParaRPr/>
          </a:p>
        </p:txBody>
      </p:sp>
      <p:sp>
        <p:nvSpPr>
          <p:cNvPr id="117" name="Google Shape;117;p13"/>
          <p:cNvSpPr/>
          <p:nvPr/>
        </p:nvSpPr>
        <p:spPr>
          <a:xfrm>
            <a:off x="51442" y="7776900"/>
            <a:ext cx="4416081" cy="27699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GB" sz="1200">
                <a:solidFill>
                  <a:schemeClr val="dk1"/>
                </a:solidFill>
                <a:latin typeface="Calibri"/>
                <a:ea typeface="Calibri"/>
                <a:cs typeface="Calibri"/>
                <a:sym typeface="Calibri"/>
              </a:rPr>
              <a:t>We can redistribute them as follows, so they all have an equal share:</a:t>
            </a:r>
            <a:endParaRPr b="0" i="0" sz="1200" u="none" cap="none" strike="noStrike">
              <a:solidFill>
                <a:schemeClr val="dk1"/>
              </a:solidFill>
              <a:latin typeface="Calibri"/>
              <a:ea typeface="Calibri"/>
              <a:cs typeface="Calibri"/>
              <a:sym typeface="Calibri"/>
            </a:endParaRPr>
          </a:p>
        </p:txBody>
      </p:sp>
      <p:pic>
        <p:nvPicPr>
          <p:cNvPr id="118" name="Google Shape;118;p13"/>
          <p:cNvPicPr preferRelativeResize="0"/>
          <p:nvPr/>
        </p:nvPicPr>
        <p:blipFill rotWithShape="1">
          <a:blip r:embed="rId6">
            <a:alphaModFix/>
          </a:blip>
          <a:srcRect b="17047" l="0" r="0" t="11230"/>
          <a:stretch/>
        </p:blipFill>
        <p:spPr>
          <a:xfrm>
            <a:off x="462509" y="8224566"/>
            <a:ext cx="1731794" cy="1324511"/>
          </a:xfrm>
          <a:prstGeom prst="rect">
            <a:avLst/>
          </a:prstGeom>
          <a:noFill/>
          <a:ln>
            <a:noFill/>
          </a:ln>
        </p:spPr>
      </p:pic>
      <p:sp>
        <p:nvSpPr>
          <p:cNvPr id="119" name="Google Shape;119;p13"/>
          <p:cNvSpPr/>
          <p:nvPr/>
        </p:nvSpPr>
        <p:spPr>
          <a:xfrm>
            <a:off x="411480" y="8417421"/>
            <a:ext cx="358140" cy="20841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13"/>
          <p:cNvSpPr/>
          <p:nvPr/>
        </p:nvSpPr>
        <p:spPr>
          <a:xfrm>
            <a:off x="1149336" y="8417420"/>
            <a:ext cx="358140" cy="20841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13"/>
          <p:cNvSpPr/>
          <p:nvPr/>
        </p:nvSpPr>
        <p:spPr>
          <a:xfrm>
            <a:off x="1149336" y="8215191"/>
            <a:ext cx="358140" cy="20841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2" name="Google Shape;122;p13"/>
          <p:cNvCxnSpPr>
            <a:stCxn id="119" idx="6"/>
          </p:cNvCxnSpPr>
          <p:nvPr/>
        </p:nvCxnSpPr>
        <p:spPr>
          <a:xfrm>
            <a:off x="769620" y="8521631"/>
            <a:ext cx="190800" cy="165300"/>
          </a:xfrm>
          <a:prstGeom prst="straightConnector1">
            <a:avLst/>
          </a:prstGeom>
          <a:noFill/>
          <a:ln cap="flat" cmpd="sng" w="9525">
            <a:solidFill>
              <a:srgbClr val="FF0000"/>
            </a:solidFill>
            <a:prstDash val="solid"/>
            <a:miter lim="800000"/>
            <a:headEnd len="sm" w="sm" type="none"/>
            <a:tailEnd len="med" w="med" type="triangle"/>
          </a:ln>
        </p:spPr>
      </p:cxnSp>
      <p:cxnSp>
        <p:nvCxnSpPr>
          <p:cNvPr id="123" name="Google Shape;123;p13"/>
          <p:cNvCxnSpPr/>
          <p:nvPr/>
        </p:nvCxnSpPr>
        <p:spPr>
          <a:xfrm>
            <a:off x="1514851" y="8552629"/>
            <a:ext cx="190888" cy="165169"/>
          </a:xfrm>
          <a:prstGeom prst="straightConnector1">
            <a:avLst/>
          </a:prstGeom>
          <a:noFill/>
          <a:ln cap="flat" cmpd="sng" w="9525">
            <a:solidFill>
              <a:srgbClr val="FF0000"/>
            </a:solidFill>
            <a:prstDash val="solid"/>
            <a:miter lim="800000"/>
            <a:headEnd len="sm" w="sm" type="none"/>
            <a:tailEnd len="med" w="med" type="triangle"/>
          </a:ln>
        </p:spPr>
      </p:cxnSp>
      <p:cxnSp>
        <p:nvCxnSpPr>
          <p:cNvPr id="124" name="Google Shape;124;p13"/>
          <p:cNvCxnSpPr/>
          <p:nvPr/>
        </p:nvCxnSpPr>
        <p:spPr>
          <a:xfrm>
            <a:off x="1507476" y="8319400"/>
            <a:ext cx="466104" cy="367400"/>
          </a:xfrm>
          <a:prstGeom prst="straightConnector1">
            <a:avLst/>
          </a:prstGeom>
          <a:noFill/>
          <a:ln cap="flat" cmpd="sng" w="9525">
            <a:solidFill>
              <a:srgbClr val="FF0000"/>
            </a:solidFill>
            <a:prstDash val="solid"/>
            <a:miter lim="800000"/>
            <a:headEnd len="sm" w="sm" type="none"/>
            <a:tailEnd len="med" w="med" type="triangle"/>
          </a:ln>
        </p:spPr>
      </p:cxnSp>
      <p:sp>
        <p:nvSpPr>
          <p:cNvPr id="125" name="Google Shape;125;p13"/>
          <p:cNvSpPr/>
          <p:nvPr/>
        </p:nvSpPr>
        <p:spPr>
          <a:xfrm>
            <a:off x="2467978" y="8945879"/>
            <a:ext cx="503822" cy="83837"/>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6" name="Google Shape;126;p13"/>
          <p:cNvGrpSpPr/>
          <p:nvPr/>
        </p:nvGrpSpPr>
        <p:grpSpPr>
          <a:xfrm>
            <a:off x="3077331" y="8055951"/>
            <a:ext cx="1924810" cy="1516410"/>
            <a:chOff x="3077331" y="8055951"/>
            <a:chExt cx="1924810" cy="1516410"/>
          </a:xfrm>
        </p:grpSpPr>
        <p:pic>
          <p:nvPicPr>
            <p:cNvPr id="127" name="Google Shape;127;p13"/>
            <p:cNvPicPr preferRelativeResize="0"/>
            <p:nvPr/>
          </p:nvPicPr>
          <p:blipFill rotWithShape="1">
            <a:blip r:embed="rId6">
              <a:alphaModFix/>
            </a:blip>
            <a:srcRect b="17047" l="0" r="0" t="11230"/>
            <a:stretch/>
          </p:blipFill>
          <p:spPr>
            <a:xfrm>
              <a:off x="3230217" y="8247850"/>
              <a:ext cx="1731794" cy="1324511"/>
            </a:xfrm>
            <a:prstGeom prst="rect">
              <a:avLst/>
            </a:prstGeom>
            <a:noFill/>
            <a:ln>
              <a:noFill/>
            </a:ln>
          </p:spPr>
        </p:pic>
        <p:pic>
          <p:nvPicPr>
            <p:cNvPr id="128" name="Google Shape;128;p13"/>
            <p:cNvPicPr preferRelativeResize="0"/>
            <p:nvPr/>
          </p:nvPicPr>
          <p:blipFill rotWithShape="1">
            <a:blip r:embed="rId7">
              <a:alphaModFix/>
            </a:blip>
            <a:srcRect b="0" l="0" r="0" t="0"/>
            <a:stretch/>
          </p:blipFill>
          <p:spPr>
            <a:xfrm>
              <a:off x="3544560" y="8537389"/>
              <a:ext cx="394980" cy="257196"/>
            </a:xfrm>
            <a:prstGeom prst="rect">
              <a:avLst/>
            </a:prstGeom>
            <a:noFill/>
            <a:ln>
              <a:noFill/>
            </a:ln>
          </p:spPr>
        </p:pic>
        <p:pic>
          <p:nvPicPr>
            <p:cNvPr id="129" name="Google Shape;129;p13"/>
            <p:cNvPicPr preferRelativeResize="0"/>
            <p:nvPr/>
          </p:nvPicPr>
          <p:blipFill rotWithShape="1">
            <a:blip r:embed="rId7">
              <a:alphaModFix/>
            </a:blip>
            <a:srcRect b="0" l="0" r="0" t="0"/>
            <a:stretch/>
          </p:blipFill>
          <p:spPr>
            <a:xfrm>
              <a:off x="4252310" y="8537389"/>
              <a:ext cx="394980" cy="257196"/>
            </a:xfrm>
            <a:prstGeom prst="rect">
              <a:avLst/>
            </a:prstGeom>
            <a:noFill/>
            <a:ln>
              <a:noFill/>
            </a:ln>
          </p:spPr>
        </p:pic>
        <p:pic>
          <p:nvPicPr>
            <p:cNvPr id="130" name="Google Shape;130;p13"/>
            <p:cNvPicPr preferRelativeResize="0"/>
            <p:nvPr/>
          </p:nvPicPr>
          <p:blipFill rotWithShape="1">
            <a:blip r:embed="rId7">
              <a:alphaModFix/>
            </a:blip>
            <a:srcRect b="0" l="0" r="0" t="0"/>
            <a:stretch/>
          </p:blipFill>
          <p:spPr>
            <a:xfrm>
              <a:off x="4607161" y="8537389"/>
              <a:ext cx="394980" cy="257196"/>
            </a:xfrm>
            <a:prstGeom prst="rect">
              <a:avLst/>
            </a:prstGeom>
            <a:noFill/>
            <a:ln>
              <a:noFill/>
            </a:ln>
          </p:spPr>
        </p:pic>
        <p:sp>
          <p:nvSpPr>
            <p:cNvPr id="131" name="Google Shape;131;p13"/>
            <p:cNvSpPr/>
            <p:nvPr/>
          </p:nvSpPr>
          <p:spPr>
            <a:xfrm>
              <a:off x="3077331" y="8055951"/>
              <a:ext cx="1174979" cy="562268"/>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2" name="Google Shape;132;p13"/>
          <p:cNvSpPr/>
          <p:nvPr/>
        </p:nvSpPr>
        <p:spPr>
          <a:xfrm>
            <a:off x="5272180" y="8457030"/>
            <a:ext cx="1363850" cy="1200329"/>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200">
                <a:solidFill>
                  <a:schemeClr val="dk1"/>
                </a:solidFill>
                <a:latin typeface="Calibri"/>
                <a:ea typeface="Calibri"/>
                <a:cs typeface="Calibri"/>
                <a:sym typeface="Calibri"/>
              </a:rPr>
              <a:t>Now they have been redistributed equally, they have 3 slices each. Therefore, the mean is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4"/>
          <p:cNvSpPr txBox="1"/>
          <p:nvPr>
            <p:ph idx="12" type="sldNum"/>
          </p:nvPr>
        </p:nvSpPr>
        <p:spPr>
          <a:xfrm>
            <a:off x="5184546" y="945729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38" name="Google Shape;138;p14"/>
          <p:cNvGraphicFramePr/>
          <p:nvPr/>
        </p:nvGraphicFramePr>
        <p:xfrm>
          <a:off x="142761" y="320149"/>
          <a:ext cx="3000000" cy="3000000"/>
        </p:xfrm>
        <a:graphic>
          <a:graphicData uri="http://schemas.openxmlformats.org/drawingml/2006/table">
            <a:tbl>
              <a:tblPr bandRow="1" firstRow="1">
                <a:noFill/>
                <a:tableStyleId>{1791AEFD-050F-4350-BB94-A2241F861526}</a:tableStyleId>
              </a:tblPr>
              <a:tblGrid>
                <a:gridCol w="819025"/>
                <a:gridCol w="1917825"/>
                <a:gridCol w="1917825"/>
                <a:gridCol w="1917825"/>
              </a:tblGrid>
              <a:tr h="371200">
                <a:tc gridSpan="4">
                  <a:txBody>
                    <a:bodyPr/>
                    <a:lstStyle/>
                    <a:p>
                      <a:pPr indent="0" lvl="0" marL="0" marR="0" rtl="0" algn="l">
                        <a:spcBef>
                          <a:spcPts val="0"/>
                        </a:spcBef>
                        <a:spcAft>
                          <a:spcPts val="0"/>
                        </a:spcAft>
                        <a:buNone/>
                      </a:pPr>
                      <a:r>
                        <a:rPr b="0" lang="en-GB" sz="1200">
                          <a:solidFill>
                            <a:schemeClr val="dk1"/>
                          </a:solidFill>
                        </a:rPr>
                        <a:t>For the following questions, find the mean of the list of numbers.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c hMerge="1"/>
                <a:tc hMerge="1"/>
              </a:tr>
              <a:tr h="274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rowSpan="3">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1) Add the numbers together.</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2) Divide by the number of values in the list.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vMerge="1"/>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40000">
                <a:tc vMerge="1"/>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9" name="Google Shape;139;p14"/>
          <p:cNvSpPr txBox="1"/>
          <p:nvPr/>
        </p:nvSpPr>
        <p:spPr>
          <a:xfrm>
            <a:off x="1297229" y="691647"/>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140" name="Google Shape;140;p14"/>
          <p:cNvSpPr txBox="1"/>
          <p:nvPr/>
        </p:nvSpPr>
        <p:spPr>
          <a:xfrm>
            <a:off x="5071834" y="693480"/>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141" name="Google Shape;141;p14"/>
          <p:cNvSpPr txBox="1"/>
          <p:nvPr/>
        </p:nvSpPr>
        <p:spPr>
          <a:xfrm>
            <a:off x="3133590" y="688588"/>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142" name="Google Shape;142;p14"/>
          <p:cNvSpPr txBox="1"/>
          <p:nvPr/>
        </p:nvSpPr>
        <p:spPr>
          <a:xfrm>
            <a:off x="1268358" y="2408632"/>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43" name="Google Shape;143;p14"/>
          <p:cNvSpPr txBox="1"/>
          <p:nvPr/>
        </p:nvSpPr>
        <p:spPr>
          <a:xfrm>
            <a:off x="5042963" y="2404738"/>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144" name="Google Shape;144;p14"/>
          <p:cNvSpPr txBox="1"/>
          <p:nvPr/>
        </p:nvSpPr>
        <p:spPr>
          <a:xfrm>
            <a:off x="3176970" y="240116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sp>
        <p:nvSpPr>
          <p:cNvPr id="145" name="Google Shape;145;p14"/>
          <p:cNvSpPr/>
          <p:nvPr/>
        </p:nvSpPr>
        <p:spPr>
          <a:xfrm>
            <a:off x="130404" y="4173384"/>
            <a:ext cx="1137954" cy="384896"/>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46" name="Google Shape;146;p14"/>
          <p:cNvSpPr txBox="1"/>
          <p:nvPr/>
        </p:nvSpPr>
        <p:spPr>
          <a:xfrm>
            <a:off x="1268358" y="4324449"/>
            <a:ext cx="467201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 Work out the mean from the following lists of data:</a:t>
            </a:r>
            <a:endParaRPr/>
          </a:p>
        </p:txBody>
      </p:sp>
      <p:graphicFrame>
        <p:nvGraphicFramePr>
          <p:cNvPr id="147" name="Google Shape;147;p14"/>
          <p:cNvGraphicFramePr/>
          <p:nvPr/>
        </p:nvGraphicFramePr>
        <p:xfrm>
          <a:off x="130404" y="4637413"/>
          <a:ext cx="3000000" cy="3000000"/>
        </p:xfrm>
        <a:graphic>
          <a:graphicData uri="http://schemas.openxmlformats.org/drawingml/2006/table">
            <a:tbl>
              <a:tblPr bandRow="1" firstRow="1">
                <a:noFill/>
                <a:tableStyleId>{1791AEFD-050F-4350-BB94-A2241F861526}</a:tableStyleId>
              </a:tblPr>
              <a:tblGrid>
                <a:gridCol w="2190825"/>
                <a:gridCol w="2190825"/>
                <a:gridCol w="2190825"/>
              </a:tblGrid>
              <a:tr h="1260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60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60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60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8" name="Google Shape;148;p14"/>
          <p:cNvSpPr/>
          <p:nvPr/>
        </p:nvSpPr>
        <p:spPr>
          <a:xfrm>
            <a:off x="163546" y="110701"/>
            <a:ext cx="3265454"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Finding the mean from a list of numbers</a:t>
            </a:r>
            <a:endParaRPr sz="1200">
              <a:solidFill>
                <a:schemeClr val="lt1"/>
              </a:solidFill>
              <a:latin typeface="Calibri"/>
              <a:ea typeface="Calibri"/>
              <a:cs typeface="Calibri"/>
              <a:sym typeface="Calibri"/>
            </a:endParaRPr>
          </a:p>
        </p:txBody>
      </p:sp>
      <p:sp>
        <p:nvSpPr>
          <p:cNvPr id="149" name="Google Shape;149;p14"/>
          <p:cNvSpPr txBox="1"/>
          <p:nvPr/>
        </p:nvSpPr>
        <p:spPr>
          <a:xfrm>
            <a:off x="1745761" y="152186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b="1" baseline="30000" sz="1800">
              <a:solidFill>
                <a:srgbClr val="FF0000"/>
              </a:solidFill>
              <a:latin typeface="Calibri"/>
              <a:ea typeface="Calibri"/>
              <a:cs typeface="Calibri"/>
              <a:sym typeface="Calibri"/>
            </a:endParaRPr>
          </a:p>
        </p:txBody>
      </p:sp>
      <p:sp>
        <p:nvSpPr>
          <p:cNvPr id="150" name="Google Shape;150;p14"/>
          <p:cNvSpPr txBox="1"/>
          <p:nvPr/>
        </p:nvSpPr>
        <p:spPr>
          <a:xfrm>
            <a:off x="3669451" y="1522043"/>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a:t>
            </a:r>
            <a:endParaRPr/>
          </a:p>
        </p:txBody>
      </p:sp>
      <p:sp>
        <p:nvSpPr>
          <p:cNvPr id="151" name="Google Shape;151;p14"/>
          <p:cNvSpPr txBox="1"/>
          <p:nvPr/>
        </p:nvSpPr>
        <p:spPr>
          <a:xfrm>
            <a:off x="5638685" y="152186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b="1" baseline="30000" sz="1800">
              <a:solidFill>
                <a:srgbClr val="FF0000"/>
              </a:solidFill>
              <a:latin typeface="Calibri"/>
              <a:ea typeface="Calibri"/>
              <a:cs typeface="Calibri"/>
              <a:sym typeface="Calibri"/>
            </a:endParaRPr>
          </a:p>
        </p:txBody>
      </p:sp>
      <p:sp>
        <p:nvSpPr>
          <p:cNvPr id="152" name="Google Shape;152;p14"/>
          <p:cNvSpPr txBox="1"/>
          <p:nvPr/>
        </p:nvSpPr>
        <p:spPr>
          <a:xfrm>
            <a:off x="1567829" y="3264912"/>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4.8</a:t>
            </a:r>
            <a:endParaRPr b="1" baseline="30000" sz="1800">
              <a:solidFill>
                <a:srgbClr val="FF0000"/>
              </a:solidFill>
              <a:latin typeface="Calibri"/>
              <a:ea typeface="Calibri"/>
              <a:cs typeface="Calibri"/>
              <a:sym typeface="Calibri"/>
            </a:endParaRPr>
          </a:p>
        </p:txBody>
      </p:sp>
      <p:sp>
        <p:nvSpPr>
          <p:cNvPr id="153" name="Google Shape;153;p14"/>
          <p:cNvSpPr txBox="1"/>
          <p:nvPr/>
        </p:nvSpPr>
        <p:spPr>
          <a:xfrm>
            <a:off x="3529186" y="3264912"/>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5.5</a:t>
            </a:r>
            <a:endParaRPr/>
          </a:p>
        </p:txBody>
      </p:sp>
      <p:sp>
        <p:nvSpPr>
          <p:cNvPr id="154" name="Google Shape;154;p14"/>
          <p:cNvSpPr txBox="1"/>
          <p:nvPr/>
        </p:nvSpPr>
        <p:spPr>
          <a:xfrm>
            <a:off x="5441878" y="3264912"/>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8.5</a:t>
            </a:r>
            <a:endParaRPr b="1" baseline="30000" sz="1800">
              <a:solidFill>
                <a:srgbClr val="FF0000"/>
              </a:solidFill>
              <a:latin typeface="Calibri"/>
              <a:ea typeface="Calibri"/>
              <a:cs typeface="Calibri"/>
              <a:sym typeface="Calibri"/>
            </a:endParaRPr>
          </a:p>
        </p:txBody>
      </p:sp>
      <p:sp>
        <p:nvSpPr>
          <p:cNvPr id="155" name="Google Shape;155;p14"/>
          <p:cNvSpPr txBox="1"/>
          <p:nvPr/>
        </p:nvSpPr>
        <p:spPr>
          <a:xfrm>
            <a:off x="996571" y="5118881"/>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b="1" baseline="30000" sz="1800">
              <a:solidFill>
                <a:srgbClr val="FF0000"/>
              </a:solidFill>
              <a:latin typeface="Calibri"/>
              <a:ea typeface="Calibri"/>
              <a:cs typeface="Calibri"/>
              <a:sym typeface="Calibri"/>
            </a:endParaRPr>
          </a:p>
        </p:txBody>
      </p:sp>
      <p:sp>
        <p:nvSpPr>
          <p:cNvPr id="156" name="Google Shape;156;p14"/>
          <p:cNvSpPr txBox="1"/>
          <p:nvPr/>
        </p:nvSpPr>
        <p:spPr>
          <a:xfrm>
            <a:off x="3253761" y="5104843"/>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a:p>
        </p:txBody>
      </p:sp>
      <p:sp>
        <p:nvSpPr>
          <p:cNvPr id="157" name="Google Shape;157;p14"/>
          <p:cNvSpPr txBox="1"/>
          <p:nvPr/>
        </p:nvSpPr>
        <p:spPr>
          <a:xfrm>
            <a:off x="5361331" y="511888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45</a:t>
            </a:r>
            <a:endParaRPr b="1" baseline="30000" sz="1800">
              <a:solidFill>
                <a:srgbClr val="FF0000"/>
              </a:solidFill>
              <a:latin typeface="Calibri"/>
              <a:ea typeface="Calibri"/>
              <a:cs typeface="Calibri"/>
              <a:sym typeface="Calibri"/>
            </a:endParaRPr>
          </a:p>
        </p:txBody>
      </p:sp>
      <p:sp>
        <p:nvSpPr>
          <p:cNvPr id="158" name="Google Shape;158;p14"/>
          <p:cNvSpPr txBox="1"/>
          <p:nvPr/>
        </p:nvSpPr>
        <p:spPr>
          <a:xfrm>
            <a:off x="1020967" y="636127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b="1" baseline="30000" sz="1800">
              <a:solidFill>
                <a:srgbClr val="FF0000"/>
              </a:solidFill>
              <a:latin typeface="Calibri"/>
              <a:ea typeface="Calibri"/>
              <a:cs typeface="Calibri"/>
              <a:sym typeface="Calibri"/>
            </a:endParaRPr>
          </a:p>
        </p:txBody>
      </p:sp>
      <p:sp>
        <p:nvSpPr>
          <p:cNvPr id="159" name="Google Shape;159;p14"/>
          <p:cNvSpPr txBox="1"/>
          <p:nvPr/>
        </p:nvSpPr>
        <p:spPr>
          <a:xfrm>
            <a:off x="3278157" y="6347241"/>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a:t>
            </a:r>
            <a:endParaRPr/>
          </a:p>
        </p:txBody>
      </p:sp>
      <p:sp>
        <p:nvSpPr>
          <p:cNvPr id="160" name="Google Shape;160;p14"/>
          <p:cNvSpPr txBox="1"/>
          <p:nvPr/>
        </p:nvSpPr>
        <p:spPr>
          <a:xfrm>
            <a:off x="5385727" y="6361279"/>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a:t>
            </a:r>
            <a:endParaRPr b="1" baseline="30000" sz="1800">
              <a:solidFill>
                <a:srgbClr val="FF0000"/>
              </a:solidFill>
              <a:latin typeface="Calibri"/>
              <a:ea typeface="Calibri"/>
              <a:cs typeface="Calibri"/>
              <a:sym typeface="Calibri"/>
            </a:endParaRPr>
          </a:p>
        </p:txBody>
      </p:sp>
      <p:sp>
        <p:nvSpPr>
          <p:cNvPr id="161" name="Google Shape;161;p14"/>
          <p:cNvSpPr txBox="1"/>
          <p:nvPr/>
        </p:nvSpPr>
        <p:spPr>
          <a:xfrm>
            <a:off x="903949" y="762187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a:t>
            </a:r>
            <a:endParaRPr b="1" baseline="30000" sz="1800">
              <a:solidFill>
                <a:srgbClr val="FF0000"/>
              </a:solidFill>
              <a:latin typeface="Calibri"/>
              <a:ea typeface="Calibri"/>
              <a:cs typeface="Calibri"/>
              <a:sym typeface="Calibri"/>
            </a:endParaRPr>
          </a:p>
        </p:txBody>
      </p:sp>
      <p:sp>
        <p:nvSpPr>
          <p:cNvPr id="162" name="Google Shape;162;p14"/>
          <p:cNvSpPr txBox="1"/>
          <p:nvPr/>
        </p:nvSpPr>
        <p:spPr>
          <a:xfrm>
            <a:off x="3161139" y="760783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63" name="Google Shape;163;p14"/>
          <p:cNvSpPr txBox="1"/>
          <p:nvPr/>
        </p:nvSpPr>
        <p:spPr>
          <a:xfrm>
            <a:off x="5251111" y="7621875"/>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11.5</a:t>
            </a:r>
            <a:endParaRPr b="1" baseline="30000" sz="1800">
              <a:solidFill>
                <a:srgbClr val="FF0000"/>
              </a:solidFill>
              <a:latin typeface="Calibri"/>
              <a:ea typeface="Calibri"/>
              <a:cs typeface="Calibri"/>
              <a:sym typeface="Calibri"/>
            </a:endParaRPr>
          </a:p>
        </p:txBody>
      </p:sp>
      <p:sp>
        <p:nvSpPr>
          <p:cNvPr id="164" name="Google Shape;164;p14"/>
          <p:cNvSpPr txBox="1"/>
          <p:nvPr/>
        </p:nvSpPr>
        <p:spPr>
          <a:xfrm>
            <a:off x="892368" y="8953900"/>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10.5</a:t>
            </a:r>
            <a:endParaRPr b="1" baseline="30000" sz="1800">
              <a:solidFill>
                <a:srgbClr val="FF0000"/>
              </a:solidFill>
              <a:latin typeface="Calibri"/>
              <a:ea typeface="Calibri"/>
              <a:cs typeface="Calibri"/>
              <a:sym typeface="Calibri"/>
            </a:endParaRPr>
          </a:p>
        </p:txBody>
      </p:sp>
      <p:sp>
        <p:nvSpPr>
          <p:cNvPr id="165" name="Google Shape;165;p14"/>
          <p:cNvSpPr txBox="1"/>
          <p:nvPr/>
        </p:nvSpPr>
        <p:spPr>
          <a:xfrm>
            <a:off x="3149558" y="8939862"/>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2.3</a:t>
            </a:r>
            <a:endParaRPr/>
          </a:p>
        </p:txBody>
      </p:sp>
      <p:sp>
        <p:nvSpPr>
          <p:cNvPr id="166" name="Google Shape;166;p14"/>
          <p:cNvSpPr txBox="1"/>
          <p:nvPr/>
        </p:nvSpPr>
        <p:spPr>
          <a:xfrm>
            <a:off x="5239530" y="8953900"/>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1.15</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idx="12" type="sldNum"/>
          </p:nvPr>
        </p:nvSpPr>
        <p:spPr>
          <a:xfrm>
            <a:off x="5187429" y="946033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72" name="Google Shape;172;p15"/>
          <p:cNvGraphicFramePr/>
          <p:nvPr/>
        </p:nvGraphicFramePr>
        <p:xfrm>
          <a:off x="142761" y="197200"/>
          <a:ext cx="3000000" cy="3000000"/>
        </p:xfrm>
        <a:graphic>
          <a:graphicData uri="http://schemas.openxmlformats.org/drawingml/2006/table">
            <a:tbl>
              <a:tblPr bandRow="1" firstRow="1">
                <a:noFill/>
                <a:tableStyleId>{1791AEFD-050F-4350-BB94-A2241F861526}</a:tableStyleId>
              </a:tblPr>
              <a:tblGrid>
                <a:gridCol w="3286250"/>
                <a:gridCol w="3286250"/>
              </a:tblGrid>
              <a:tr h="3293675">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Question 2. </a:t>
                      </a:r>
                      <a:r>
                        <a:rPr b="0" lang="en-GB" sz="1200">
                          <a:solidFill>
                            <a:schemeClr val="dk1"/>
                          </a:solidFill>
                        </a:rPr>
                        <a:t>A basketball team plays 8 matches. </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rPr b="0" lang="en-GB" sz="1200">
                          <a:solidFill>
                            <a:schemeClr val="dk1"/>
                          </a:solidFill>
                        </a:rPr>
                        <a:t>The number of points they score in each match are:</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ctr">
                        <a:spcBef>
                          <a:spcPts val="0"/>
                        </a:spcBef>
                        <a:spcAft>
                          <a:spcPts val="0"/>
                        </a:spcAft>
                        <a:buNone/>
                      </a:pPr>
                      <a:r>
                        <a:rPr b="0" lang="en-GB" sz="1200">
                          <a:solidFill>
                            <a:schemeClr val="dk1"/>
                          </a:solidFill>
                        </a:rPr>
                        <a:t>62, 68, 67, 79, 82, 50, 74, 62</a:t>
                      </a:r>
                      <a:endParaRPr/>
                    </a:p>
                    <a:p>
                      <a:pPr indent="0" lvl="0" marL="0" marR="0" rtl="0" algn="ctr">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rPr b="0" lang="en-GB" sz="1200">
                          <a:solidFill>
                            <a:schemeClr val="dk1"/>
                          </a:solidFill>
                        </a:rPr>
                        <a:t>Work out the mean number of points scored .</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Question 3. </a:t>
                      </a:r>
                      <a:r>
                        <a:rPr b="0" lang="en-GB" sz="1200">
                          <a:solidFill>
                            <a:schemeClr val="dk1"/>
                          </a:solidFill>
                        </a:rPr>
                        <a:t>Mr Holland gives his class a test. The results are: </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rPr b="0" lang="en-GB" sz="1200">
                          <a:solidFill>
                            <a:schemeClr val="dk1"/>
                          </a:solidFill>
                        </a:rPr>
                        <a:t>34%, 44%, 75%, 21%, 98%, 86%, 71%, 76%, 63%, 55% </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rPr b="0" lang="en-GB" sz="1200">
                          <a:solidFill>
                            <a:schemeClr val="dk1"/>
                          </a:solidFill>
                        </a:rPr>
                        <a:t>Work out the mean mark.</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58425">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Question 4. </a:t>
                      </a:r>
                      <a:r>
                        <a:rPr lang="en-GB" sz="1200"/>
                        <a:t>Five houses on a street are sold in 2016. They sell for: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rPr lang="en-GB" sz="1200"/>
                        <a:t>£175,000 £184,000 £150,000 £201,000 £191,000</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rPr lang="en-GB" sz="1200"/>
                        <a:t>Calculate the mean price.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lang="en-GB" sz="1200"/>
                        <a:t>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Question 5. </a:t>
                      </a:r>
                      <a:r>
                        <a:rPr lang="en-GB" sz="1200"/>
                        <a:t>The length of nine caterpillars are listed below:</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t>9cm 4cm 8cm 10cm 7cm 5cm 13cm 10cm 6cm</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t>Find the mean.</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97625">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Question 6. </a:t>
                      </a:r>
                      <a:r>
                        <a:rPr lang="en-GB" sz="1200"/>
                        <a:t>The amount of water in some containers are: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rPr lang="en-GB" sz="1200"/>
                        <a:t>2 litres, 330ml, 0.08 litres, 0.7 litres, 75ml, 5000ml, 0.215 litres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rPr lang="en-GB" sz="1200"/>
                        <a:t>Work out the mean. Give your answer in litres.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Question 7. </a:t>
                      </a:r>
                      <a:r>
                        <a:rPr lang="en-GB" sz="1200"/>
                        <a:t>Shown are the weights of 3 puppies.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Work out the mean weight.</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73" name="Google Shape;173;p15"/>
          <p:cNvPicPr preferRelativeResize="0"/>
          <p:nvPr/>
        </p:nvPicPr>
        <p:blipFill rotWithShape="1">
          <a:blip r:embed="rId3">
            <a:alphaModFix/>
          </a:blip>
          <a:srcRect b="0" l="0" r="0" t="0"/>
          <a:stretch/>
        </p:blipFill>
        <p:spPr>
          <a:xfrm>
            <a:off x="3487901" y="7010496"/>
            <a:ext cx="1699528" cy="1672973"/>
          </a:xfrm>
          <a:prstGeom prst="rect">
            <a:avLst/>
          </a:prstGeom>
          <a:noFill/>
          <a:ln>
            <a:noFill/>
          </a:ln>
        </p:spPr>
      </p:pic>
      <p:sp>
        <p:nvSpPr>
          <p:cNvPr id="174" name="Google Shape;174;p15"/>
          <p:cNvSpPr txBox="1"/>
          <p:nvPr/>
        </p:nvSpPr>
        <p:spPr>
          <a:xfrm>
            <a:off x="2510343" y="288762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68</a:t>
            </a:r>
            <a:endParaRPr b="1" baseline="30000" sz="1800">
              <a:solidFill>
                <a:srgbClr val="FF0000"/>
              </a:solidFill>
              <a:latin typeface="Calibri"/>
              <a:ea typeface="Calibri"/>
              <a:cs typeface="Calibri"/>
              <a:sym typeface="Calibri"/>
            </a:endParaRPr>
          </a:p>
        </p:txBody>
      </p:sp>
      <p:sp>
        <p:nvSpPr>
          <p:cNvPr id="175" name="Google Shape;175;p15"/>
          <p:cNvSpPr txBox="1"/>
          <p:nvPr/>
        </p:nvSpPr>
        <p:spPr>
          <a:xfrm>
            <a:off x="2236682" y="6040955"/>
            <a:ext cx="10631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£180,200</a:t>
            </a:r>
            <a:endParaRPr/>
          </a:p>
        </p:txBody>
      </p:sp>
      <p:sp>
        <p:nvSpPr>
          <p:cNvPr id="176" name="Google Shape;176;p15"/>
          <p:cNvSpPr txBox="1"/>
          <p:nvPr/>
        </p:nvSpPr>
        <p:spPr>
          <a:xfrm>
            <a:off x="5789036" y="2922284"/>
            <a:ext cx="7649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62.3%</a:t>
            </a:r>
            <a:endParaRPr b="1" baseline="30000" sz="1800">
              <a:solidFill>
                <a:srgbClr val="FF0000"/>
              </a:solidFill>
              <a:latin typeface="Calibri"/>
              <a:ea typeface="Calibri"/>
              <a:cs typeface="Calibri"/>
              <a:sym typeface="Calibri"/>
            </a:endParaRPr>
          </a:p>
        </p:txBody>
      </p:sp>
      <p:sp>
        <p:nvSpPr>
          <p:cNvPr id="177" name="Google Shape;177;p15"/>
          <p:cNvSpPr txBox="1"/>
          <p:nvPr/>
        </p:nvSpPr>
        <p:spPr>
          <a:xfrm>
            <a:off x="2236682" y="9089280"/>
            <a:ext cx="9579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1.2litres</a:t>
            </a:r>
            <a:endParaRPr/>
          </a:p>
        </p:txBody>
      </p:sp>
      <p:sp>
        <p:nvSpPr>
          <p:cNvPr id="178" name="Google Shape;178;p15"/>
          <p:cNvSpPr txBox="1"/>
          <p:nvPr/>
        </p:nvSpPr>
        <p:spPr>
          <a:xfrm>
            <a:off x="5815721" y="6062752"/>
            <a:ext cx="5854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8cm</a:t>
            </a:r>
            <a:endParaRPr/>
          </a:p>
        </p:txBody>
      </p:sp>
      <p:sp>
        <p:nvSpPr>
          <p:cNvPr id="179" name="Google Shape;179;p15"/>
          <p:cNvSpPr txBox="1"/>
          <p:nvPr/>
        </p:nvSpPr>
        <p:spPr>
          <a:xfrm>
            <a:off x="5816745" y="9099879"/>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6"/>
          <p:cNvSpPr txBox="1"/>
          <p:nvPr>
            <p:ph idx="12" type="sldNum"/>
          </p:nvPr>
        </p:nvSpPr>
        <p:spPr>
          <a:xfrm>
            <a:off x="5222638" y="9474589"/>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85" name="Google Shape;185;p16"/>
          <p:cNvSpPr txBox="1"/>
          <p:nvPr/>
        </p:nvSpPr>
        <p:spPr>
          <a:xfrm>
            <a:off x="54611" y="84682"/>
            <a:ext cx="67487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cap="none" strike="noStrike">
                <a:solidFill>
                  <a:srgbClr val="000000"/>
                </a:solidFill>
                <a:latin typeface="Calibri"/>
                <a:ea typeface="Calibri"/>
                <a:cs typeface="Calibri"/>
                <a:sym typeface="Calibri"/>
              </a:rPr>
              <a:t>Question 9. Using your knowledge of the mean being a redistribution into equal amounts, answer the following questions:</a:t>
            </a:r>
            <a:endParaRPr sz="1800">
              <a:solidFill>
                <a:schemeClr val="dk1"/>
              </a:solidFill>
              <a:latin typeface="Calibri"/>
              <a:ea typeface="Calibri"/>
              <a:cs typeface="Calibri"/>
              <a:sym typeface="Calibri"/>
            </a:endParaRPr>
          </a:p>
        </p:txBody>
      </p:sp>
      <p:graphicFrame>
        <p:nvGraphicFramePr>
          <p:cNvPr id="186" name="Google Shape;186;p16"/>
          <p:cNvGraphicFramePr/>
          <p:nvPr/>
        </p:nvGraphicFramePr>
        <p:xfrm>
          <a:off x="92312" y="506970"/>
          <a:ext cx="3000000" cy="3000000"/>
        </p:xfrm>
        <a:graphic>
          <a:graphicData uri="http://schemas.openxmlformats.org/drawingml/2006/table">
            <a:tbl>
              <a:tblPr bandRow="1" firstRow="1">
                <a:noFill/>
                <a:tableStyleId>{1791AEFD-050F-4350-BB94-A2241F861526}</a:tableStyleId>
              </a:tblPr>
              <a:tblGrid>
                <a:gridCol w="6656475"/>
              </a:tblGrid>
              <a:tr h="510600">
                <a:tc>
                  <a:txBody>
                    <a:bodyPr/>
                    <a:lstStyle/>
                    <a:p>
                      <a:pPr indent="0" lvl="0" marL="0" marR="0" rtl="0" algn="l">
                        <a:spcBef>
                          <a:spcPts val="0"/>
                        </a:spcBef>
                        <a:spcAft>
                          <a:spcPts val="0"/>
                        </a:spcAft>
                        <a:buNone/>
                      </a:pPr>
                      <a:r>
                        <a:rPr b="0" lang="en-GB" sz="1200">
                          <a:solidFill>
                            <a:schemeClr val="dk1"/>
                          </a:solidFill>
                        </a:rPr>
                        <a:t>a) Alex has 12 cubes, Bilal has 7 cubes and Carlos has 5 cubes. If they were to redistribute the cubes so they each have the same amount of cubes, how many cubes would each of them get?</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b) Amy has one card, Ben has five cards, Cath has three cards, Dave has nine cards and Evie has two cards. How many do they have if they each share them equally?</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92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c) John, Moira, Selina, Naomi and Afzal each have some cubes. If the cubes were to be reorganised so that each child had the same amount of cubes, how many cubes would they each have?</a:t>
                      </a:r>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96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d) Here is a bar model with some values. Redistribute the amounts into equal boxes. What number goes in each box?</a:t>
                      </a:r>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87" name="Google Shape;187;p16"/>
          <p:cNvPicPr preferRelativeResize="0"/>
          <p:nvPr/>
        </p:nvPicPr>
        <p:blipFill rotWithShape="1">
          <a:blip r:embed="rId3">
            <a:alphaModFix/>
          </a:blip>
          <a:srcRect b="35098" l="15503" r="25750" t="12108"/>
          <a:stretch/>
        </p:blipFill>
        <p:spPr>
          <a:xfrm>
            <a:off x="125617" y="903713"/>
            <a:ext cx="3651390" cy="1252528"/>
          </a:xfrm>
          <a:prstGeom prst="rect">
            <a:avLst/>
          </a:prstGeom>
          <a:noFill/>
          <a:ln>
            <a:noFill/>
          </a:ln>
        </p:spPr>
      </p:pic>
      <p:pic>
        <p:nvPicPr>
          <p:cNvPr id="188" name="Google Shape;188;p16"/>
          <p:cNvPicPr preferRelativeResize="0"/>
          <p:nvPr/>
        </p:nvPicPr>
        <p:blipFill rotWithShape="1">
          <a:blip r:embed="rId4">
            <a:alphaModFix/>
          </a:blip>
          <a:srcRect b="0" l="0" r="0" t="17277"/>
          <a:stretch/>
        </p:blipFill>
        <p:spPr>
          <a:xfrm>
            <a:off x="173767" y="2712822"/>
            <a:ext cx="2635215" cy="2127652"/>
          </a:xfrm>
          <a:prstGeom prst="rect">
            <a:avLst/>
          </a:prstGeom>
          <a:noFill/>
          <a:ln>
            <a:noFill/>
          </a:ln>
        </p:spPr>
      </p:pic>
      <p:pic>
        <p:nvPicPr>
          <p:cNvPr id="189" name="Google Shape;189;p16"/>
          <p:cNvPicPr preferRelativeResize="0"/>
          <p:nvPr/>
        </p:nvPicPr>
        <p:blipFill rotWithShape="1">
          <a:blip r:embed="rId5">
            <a:alphaModFix/>
          </a:blip>
          <a:srcRect b="0" l="0" r="0" t="0"/>
          <a:stretch/>
        </p:blipFill>
        <p:spPr>
          <a:xfrm>
            <a:off x="162426" y="5397055"/>
            <a:ext cx="6513230" cy="2578877"/>
          </a:xfrm>
          <a:prstGeom prst="rect">
            <a:avLst/>
          </a:prstGeom>
          <a:noFill/>
          <a:ln>
            <a:noFill/>
          </a:ln>
        </p:spPr>
      </p:pic>
      <p:grpSp>
        <p:nvGrpSpPr>
          <p:cNvPr id="190" name="Google Shape;190;p16"/>
          <p:cNvGrpSpPr/>
          <p:nvPr/>
        </p:nvGrpSpPr>
        <p:grpSpPr>
          <a:xfrm>
            <a:off x="162426" y="8801100"/>
            <a:ext cx="3577771" cy="867750"/>
            <a:chOff x="194409" y="7687638"/>
            <a:chExt cx="3952875" cy="1019623"/>
          </a:xfrm>
        </p:grpSpPr>
        <p:pic>
          <p:nvPicPr>
            <p:cNvPr id="191" name="Google Shape;191;p16"/>
            <p:cNvPicPr preferRelativeResize="0"/>
            <p:nvPr/>
          </p:nvPicPr>
          <p:blipFill rotWithShape="1">
            <a:blip r:embed="rId6">
              <a:alphaModFix/>
            </a:blip>
            <a:srcRect b="0" l="0" r="0" t="27037"/>
            <a:stretch/>
          </p:blipFill>
          <p:spPr>
            <a:xfrm>
              <a:off x="194409" y="7755148"/>
              <a:ext cx="3952875" cy="952113"/>
            </a:xfrm>
            <a:prstGeom prst="rect">
              <a:avLst/>
            </a:prstGeom>
            <a:noFill/>
            <a:ln>
              <a:noFill/>
            </a:ln>
          </p:spPr>
        </p:pic>
        <p:sp>
          <p:nvSpPr>
            <p:cNvPr id="192" name="Google Shape;192;p16"/>
            <p:cNvSpPr/>
            <p:nvPr/>
          </p:nvSpPr>
          <p:spPr>
            <a:xfrm>
              <a:off x="194409" y="7687638"/>
              <a:ext cx="3944202" cy="13526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93" name="Google Shape;193;p16"/>
          <p:cNvSpPr txBox="1"/>
          <p:nvPr/>
        </p:nvSpPr>
        <p:spPr>
          <a:xfrm>
            <a:off x="4715666" y="1496113"/>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8</a:t>
            </a:r>
            <a:endParaRPr/>
          </a:p>
        </p:txBody>
      </p:sp>
      <p:sp>
        <p:nvSpPr>
          <p:cNvPr id="194" name="Google Shape;194;p16"/>
          <p:cNvSpPr txBox="1"/>
          <p:nvPr/>
        </p:nvSpPr>
        <p:spPr>
          <a:xfrm>
            <a:off x="4711605" y="370862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a:t>
            </a:r>
            <a:endParaRPr/>
          </a:p>
        </p:txBody>
      </p:sp>
      <p:sp>
        <p:nvSpPr>
          <p:cNvPr id="195" name="Google Shape;195;p16"/>
          <p:cNvSpPr txBox="1"/>
          <p:nvPr/>
        </p:nvSpPr>
        <p:spPr>
          <a:xfrm>
            <a:off x="5994163" y="779126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a:t>
            </a:r>
            <a:endParaRPr/>
          </a:p>
        </p:txBody>
      </p:sp>
      <p:sp>
        <p:nvSpPr>
          <p:cNvPr id="196" name="Google Shape;196;p16"/>
          <p:cNvSpPr txBox="1"/>
          <p:nvPr/>
        </p:nvSpPr>
        <p:spPr>
          <a:xfrm>
            <a:off x="5524464" y="9110364"/>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nvSpPr>
        <p:spPr>
          <a:xfrm>
            <a:off x="5214595" y="9352007"/>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202" name="Google Shape;202;p17"/>
          <p:cNvGraphicFramePr/>
          <p:nvPr/>
        </p:nvGraphicFramePr>
        <p:xfrm>
          <a:off x="154688" y="538753"/>
          <a:ext cx="3000000" cy="3000000"/>
        </p:xfrm>
        <a:graphic>
          <a:graphicData uri="http://schemas.openxmlformats.org/drawingml/2006/table">
            <a:tbl>
              <a:tblPr bandRow="1" firstRow="1">
                <a:noFill/>
                <a:tableStyleId>{1791AEFD-050F-4350-BB94-A2241F861526}</a:tableStyleId>
              </a:tblPr>
              <a:tblGrid>
                <a:gridCol w="1093200"/>
                <a:gridCol w="1826425"/>
                <a:gridCol w="1826425"/>
                <a:gridCol w="1826425"/>
              </a:tblGrid>
              <a:tr h="45720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2025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Multiply the mean by the number of values.</a:t>
                      </a:r>
                      <a:endParaRPr/>
                    </a:p>
                    <a:p>
                      <a:pPr indent="0" lvl="0" marL="0" marR="0" rtl="0" algn="l">
                        <a:spcBef>
                          <a:spcPts val="0"/>
                        </a:spcBef>
                        <a:spcAft>
                          <a:spcPts val="0"/>
                        </a:spcAft>
                        <a:buClr>
                          <a:schemeClr val="dk1"/>
                        </a:buClr>
                        <a:buSzPts val="1200"/>
                        <a:buFont typeface="Calibri"/>
                        <a:buNone/>
                      </a:pPr>
                      <a:r>
                        <a:rPr lang="en-GB" sz="1200">
                          <a:solidFill>
                            <a:schemeClr val="dk1"/>
                          </a:solidFill>
                        </a:rPr>
                        <a:t>2) Subtract the given numbers in the list away from this total.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03" name="Google Shape;203;p17"/>
          <p:cNvSpPr txBox="1"/>
          <p:nvPr/>
        </p:nvSpPr>
        <p:spPr>
          <a:xfrm>
            <a:off x="1504588" y="294544"/>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7 – I do…</a:t>
            </a:r>
            <a:endParaRPr/>
          </a:p>
        </p:txBody>
      </p:sp>
      <p:sp>
        <p:nvSpPr>
          <p:cNvPr id="204" name="Google Shape;204;p17"/>
          <p:cNvSpPr txBox="1"/>
          <p:nvPr/>
        </p:nvSpPr>
        <p:spPr>
          <a:xfrm>
            <a:off x="5048688" y="28379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9 – You do…</a:t>
            </a:r>
            <a:endParaRPr/>
          </a:p>
        </p:txBody>
      </p:sp>
      <p:sp>
        <p:nvSpPr>
          <p:cNvPr id="205" name="Google Shape;205;p17"/>
          <p:cNvSpPr txBox="1"/>
          <p:nvPr/>
        </p:nvSpPr>
        <p:spPr>
          <a:xfrm>
            <a:off x="3190645" y="294543"/>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8 – We do…</a:t>
            </a:r>
            <a:endParaRPr/>
          </a:p>
        </p:txBody>
      </p:sp>
      <p:sp>
        <p:nvSpPr>
          <p:cNvPr id="206" name="Google Shape;206;p17"/>
          <p:cNvSpPr/>
          <p:nvPr/>
        </p:nvSpPr>
        <p:spPr>
          <a:xfrm>
            <a:off x="154688" y="74470"/>
            <a:ext cx="6014442" cy="23531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Depth: Using the mean to find missing numbers</a:t>
            </a:r>
            <a:endParaRPr sz="1200">
              <a:solidFill>
                <a:schemeClr val="lt1"/>
              </a:solidFill>
              <a:latin typeface="Calibri"/>
              <a:ea typeface="Calibri"/>
              <a:cs typeface="Calibri"/>
              <a:sym typeface="Calibri"/>
            </a:endParaRPr>
          </a:p>
        </p:txBody>
      </p:sp>
      <p:graphicFrame>
        <p:nvGraphicFramePr>
          <p:cNvPr id="207" name="Google Shape;207;p17"/>
          <p:cNvGraphicFramePr/>
          <p:nvPr/>
        </p:nvGraphicFramePr>
        <p:xfrm>
          <a:off x="154688" y="3171155"/>
          <a:ext cx="3000000" cy="3000000"/>
        </p:xfrm>
        <a:graphic>
          <a:graphicData uri="http://schemas.openxmlformats.org/drawingml/2006/table">
            <a:tbl>
              <a:tblPr bandRow="1" firstRow="1">
                <a:noFill/>
                <a:tableStyleId>{1791AEFD-050F-4350-BB94-A2241F861526}</a:tableStyleId>
              </a:tblPr>
              <a:tblGrid>
                <a:gridCol w="1102600"/>
                <a:gridCol w="1800075"/>
                <a:gridCol w="1834900"/>
                <a:gridCol w="1834900"/>
              </a:tblGrid>
              <a:tr h="68487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Four numbers have a mean of 10.</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Three of the numbers are 8, 15, 7.</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fourth number?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Five numbers have a mean of 10.</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Four of the numbers are 8, 15, 7, 8.</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fifth number?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Six numbers have a mean of 10.</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Five of the numbers are, 8, 15, 7, 8, 9.</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sixth number?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72175">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1) Multiply the mean by the number of values.</a:t>
                      </a:r>
                      <a:endParaRPr/>
                    </a:p>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2) Subtract the given numbers in the list away from this total.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08" name="Google Shape;208;p17"/>
          <p:cNvSpPr txBox="1"/>
          <p:nvPr/>
        </p:nvSpPr>
        <p:spPr>
          <a:xfrm>
            <a:off x="1419111" y="2894156"/>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10 – I do…</a:t>
            </a:r>
            <a:endParaRPr/>
          </a:p>
        </p:txBody>
      </p:sp>
      <p:sp>
        <p:nvSpPr>
          <p:cNvPr id="209" name="Google Shape;209;p17"/>
          <p:cNvSpPr txBox="1"/>
          <p:nvPr/>
        </p:nvSpPr>
        <p:spPr>
          <a:xfrm>
            <a:off x="5048688" y="2899048"/>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12 – You do…</a:t>
            </a:r>
            <a:endParaRPr/>
          </a:p>
        </p:txBody>
      </p:sp>
      <p:sp>
        <p:nvSpPr>
          <p:cNvPr id="210" name="Google Shape;210;p17"/>
          <p:cNvSpPr txBox="1"/>
          <p:nvPr/>
        </p:nvSpPr>
        <p:spPr>
          <a:xfrm>
            <a:off x="3272535" y="289415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11 – We do…</a:t>
            </a:r>
            <a:endParaRPr/>
          </a:p>
        </p:txBody>
      </p:sp>
      <p:sp>
        <p:nvSpPr>
          <p:cNvPr id="211" name="Google Shape;211;p17"/>
          <p:cNvSpPr/>
          <p:nvPr/>
        </p:nvSpPr>
        <p:spPr>
          <a:xfrm>
            <a:off x="154688" y="6165613"/>
            <a:ext cx="1887472" cy="235318"/>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12" name="Google Shape;212;p17"/>
          <p:cNvGraphicFramePr/>
          <p:nvPr/>
        </p:nvGraphicFramePr>
        <p:xfrm>
          <a:off x="153736" y="6458787"/>
          <a:ext cx="3000000" cy="3000000"/>
        </p:xfrm>
        <a:graphic>
          <a:graphicData uri="http://schemas.openxmlformats.org/drawingml/2006/table">
            <a:tbl>
              <a:tblPr bandRow="1" firstRow="1">
                <a:noFill/>
                <a:tableStyleId>{1791AEFD-050F-4350-BB94-A2241F861526}</a:tableStyleId>
              </a:tblPr>
              <a:tblGrid>
                <a:gridCol w="2190825"/>
                <a:gridCol w="2190825"/>
                <a:gridCol w="2190825"/>
              </a:tblGrid>
              <a:tr h="1512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3" name="Google Shape;213;p17"/>
          <p:cNvSpPr txBox="1"/>
          <p:nvPr/>
        </p:nvSpPr>
        <p:spPr>
          <a:xfrm>
            <a:off x="2042160" y="6194648"/>
            <a:ext cx="462238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10. Work out the missing number from the list.</a:t>
            </a:r>
            <a:endParaRPr/>
          </a:p>
        </p:txBody>
      </p:sp>
      <p:graphicFrame>
        <p:nvGraphicFramePr>
          <p:cNvPr id="214" name="Google Shape;214;p17"/>
          <p:cNvGraphicFramePr/>
          <p:nvPr/>
        </p:nvGraphicFramePr>
        <p:xfrm>
          <a:off x="153736" y="7967482"/>
          <a:ext cx="3000000" cy="3000000"/>
        </p:xfrm>
        <a:graphic>
          <a:graphicData uri="http://schemas.openxmlformats.org/drawingml/2006/table">
            <a:tbl>
              <a:tblPr bandRow="1" firstRow="1">
                <a:noFill/>
                <a:tableStyleId>{1791AEFD-050F-4350-BB94-A2241F861526}</a:tableStyleId>
              </a:tblPr>
              <a:tblGrid>
                <a:gridCol w="2190825"/>
                <a:gridCol w="2190825"/>
                <a:gridCol w="2190825"/>
              </a:tblGrid>
              <a:tr h="1512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5" name="Google Shape;215;p17"/>
          <p:cNvSpPr txBox="1"/>
          <p:nvPr/>
        </p:nvSpPr>
        <p:spPr>
          <a:xfrm>
            <a:off x="1988848" y="109970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b="1" baseline="30000" sz="1800">
              <a:solidFill>
                <a:srgbClr val="FF0000"/>
              </a:solidFill>
              <a:latin typeface="Calibri"/>
              <a:ea typeface="Calibri"/>
              <a:cs typeface="Calibri"/>
              <a:sym typeface="Calibri"/>
            </a:endParaRPr>
          </a:p>
        </p:txBody>
      </p:sp>
      <p:sp>
        <p:nvSpPr>
          <p:cNvPr id="216" name="Google Shape;216;p17"/>
          <p:cNvSpPr txBox="1"/>
          <p:nvPr/>
        </p:nvSpPr>
        <p:spPr>
          <a:xfrm>
            <a:off x="3782064" y="1099881"/>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217" name="Google Shape;217;p17"/>
          <p:cNvSpPr txBox="1"/>
          <p:nvPr/>
        </p:nvSpPr>
        <p:spPr>
          <a:xfrm>
            <a:off x="5751298" y="109970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a:t>
            </a:r>
            <a:endParaRPr b="1" baseline="30000" sz="1800">
              <a:solidFill>
                <a:srgbClr val="FF0000"/>
              </a:solidFill>
              <a:latin typeface="Calibri"/>
              <a:ea typeface="Calibri"/>
              <a:cs typeface="Calibri"/>
              <a:sym typeface="Calibri"/>
            </a:endParaRPr>
          </a:p>
        </p:txBody>
      </p:sp>
      <p:sp>
        <p:nvSpPr>
          <p:cNvPr id="218" name="Google Shape;218;p17"/>
          <p:cNvSpPr txBox="1"/>
          <p:nvPr/>
        </p:nvSpPr>
        <p:spPr>
          <a:xfrm>
            <a:off x="1941078" y="476227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a:t>
            </a:r>
            <a:endParaRPr b="1" baseline="30000" sz="1800">
              <a:solidFill>
                <a:srgbClr val="FF0000"/>
              </a:solidFill>
              <a:latin typeface="Calibri"/>
              <a:ea typeface="Calibri"/>
              <a:cs typeface="Calibri"/>
              <a:sym typeface="Calibri"/>
            </a:endParaRPr>
          </a:p>
        </p:txBody>
      </p:sp>
      <p:sp>
        <p:nvSpPr>
          <p:cNvPr id="219" name="Google Shape;219;p17"/>
          <p:cNvSpPr txBox="1"/>
          <p:nvPr/>
        </p:nvSpPr>
        <p:spPr>
          <a:xfrm>
            <a:off x="3849891" y="475608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220" name="Google Shape;220;p17"/>
          <p:cNvSpPr txBox="1"/>
          <p:nvPr/>
        </p:nvSpPr>
        <p:spPr>
          <a:xfrm>
            <a:off x="5641193" y="476227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b="1" baseline="30000" sz="1800">
              <a:solidFill>
                <a:srgbClr val="FF0000"/>
              </a:solidFill>
              <a:latin typeface="Calibri"/>
              <a:ea typeface="Calibri"/>
              <a:cs typeface="Calibri"/>
              <a:sym typeface="Calibri"/>
            </a:endParaRPr>
          </a:p>
        </p:txBody>
      </p:sp>
      <p:sp>
        <p:nvSpPr>
          <p:cNvPr id="221" name="Google Shape;221;p17"/>
          <p:cNvSpPr txBox="1"/>
          <p:nvPr/>
        </p:nvSpPr>
        <p:spPr>
          <a:xfrm>
            <a:off x="1117425" y="715410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b="1" baseline="30000" sz="1800">
              <a:solidFill>
                <a:srgbClr val="FF0000"/>
              </a:solidFill>
              <a:latin typeface="Calibri"/>
              <a:ea typeface="Calibri"/>
              <a:cs typeface="Calibri"/>
              <a:sym typeface="Calibri"/>
            </a:endParaRPr>
          </a:p>
        </p:txBody>
      </p:sp>
      <p:sp>
        <p:nvSpPr>
          <p:cNvPr id="222" name="Google Shape;222;p17"/>
          <p:cNvSpPr txBox="1"/>
          <p:nvPr/>
        </p:nvSpPr>
        <p:spPr>
          <a:xfrm>
            <a:off x="3289740" y="712757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223" name="Google Shape;223;p17"/>
          <p:cNvSpPr txBox="1"/>
          <p:nvPr/>
        </p:nvSpPr>
        <p:spPr>
          <a:xfrm>
            <a:off x="5252703" y="712107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b="1" baseline="30000" sz="1800">
              <a:solidFill>
                <a:srgbClr val="FF0000"/>
              </a:solidFill>
              <a:latin typeface="Calibri"/>
              <a:ea typeface="Calibri"/>
              <a:cs typeface="Calibri"/>
              <a:sym typeface="Calibri"/>
            </a:endParaRPr>
          </a:p>
        </p:txBody>
      </p:sp>
      <p:sp>
        <p:nvSpPr>
          <p:cNvPr id="224" name="Google Shape;224;p17"/>
          <p:cNvSpPr txBox="1"/>
          <p:nvPr/>
        </p:nvSpPr>
        <p:spPr>
          <a:xfrm>
            <a:off x="1049924" y="853737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b="1" baseline="30000" sz="1800">
              <a:solidFill>
                <a:srgbClr val="FF0000"/>
              </a:solidFill>
              <a:latin typeface="Calibri"/>
              <a:ea typeface="Calibri"/>
              <a:cs typeface="Calibri"/>
              <a:sym typeface="Calibri"/>
            </a:endParaRPr>
          </a:p>
        </p:txBody>
      </p:sp>
      <p:sp>
        <p:nvSpPr>
          <p:cNvPr id="225" name="Google Shape;225;p17"/>
          <p:cNvSpPr txBox="1"/>
          <p:nvPr/>
        </p:nvSpPr>
        <p:spPr>
          <a:xfrm>
            <a:off x="3418028" y="853119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55</a:t>
            </a:r>
            <a:endParaRPr/>
          </a:p>
        </p:txBody>
      </p:sp>
      <p:sp>
        <p:nvSpPr>
          <p:cNvPr id="226" name="Google Shape;226;p17"/>
          <p:cNvSpPr txBox="1"/>
          <p:nvPr/>
        </p:nvSpPr>
        <p:spPr>
          <a:xfrm>
            <a:off x="5332594" y="853737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46</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txBox="1"/>
          <p:nvPr/>
        </p:nvSpPr>
        <p:spPr>
          <a:xfrm>
            <a:off x="5206713" y="9332901"/>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chemeClr val="dk1"/>
                </a:solidFill>
                <a:latin typeface="Calibri"/>
                <a:ea typeface="Calibri"/>
                <a:cs typeface="Calibri"/>
                <a:sym typeface="Calibri"/>
              </a:rPr>
              <a:t>‹#›</a:t>
            </a:fld>
            <a:endParaRPr sz="900">
              <a:solidFill>
                <a:schemeClr val="dk1"/>
              </a:solidFill>
              <a:latin typeface="Calibri"/>
              <a:ea typeface="Calibri"/>
              <a:cs typeface="Calibri"/>
              <a:sym typeface="Calibri"/>
            </a:endParaRPr>
          </a:p>
        </p:txBody>
      </p:sp>
      <p:graphicFrame>
        <p:nvGraphicFramePr>
          <p:cNvPr id="232" name="Google Shape;232;p18"/>
          <p:cNvGraphicFramePr/>
          <p:nvPr/>
        </p:nvGraphicFramePr>
        <p:xfrm>
          <a:off x="142759" y="232162"/>
          <a:ext cx="3000000" cy="3000000"/>
        </p:xfrm>
        <a:graphic>
          <a:graphicData uri="http://schemas.openxmlformats.org/drawingml/2006/table">
            <a:tbl>
              <a:tblPr bandRow="1" firstRow="1">
                <a:noFill/>
                <a:tableStyleId>{1791AEFD-050F-4350-BB94-A2241F861526}</a:tableStyleId>
              </a:tblPr>
              <a:tblGrid>
                <a:gridCol w="2190825"/>
                <a:gridCol w="2190825"/>
                <a:gridCol w="2190825"/>
              </a:tblGrid>
              <a:tr h="154800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33" name="Google Shape;233;p18"/>
          <p:cNvGraphicFramePr/>
          <p:nvPr/>
        </p:nvGraphicFramePr>
        <p:xfrm>
          <a:off x="142759" y="2203426"/>
          <a:ext cx="3000000" cy="3000000"/>
        </p:xfrm>
        <a:graphic>
          <a:graphicData uri="http://schemas.openxmlformats.org/drawingml/2006/table">
            <a:tbl>
              <a:tblPr bandRow="1" firstRow="1">
                <a:noFill/>
                <a:tableStyleId>{1791AEFD-050F-4350-BB94-A2241F861526}</a:tableStyleId>
              </a:tblPr>
              <a:tblGrid>
                <a:gridCol w="3286250"/>
                <a:gridCol w="3286250"/>
              </a:tblGrid>
              <a:tr h="180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a) Four numbers have a mean of 22.</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three are 20, 28 and 25.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fourth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b) Four numbers have a mean of 2.2.</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three are 2.0, 2.8, 2.5.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fourth number?</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c) Five numbers have a mean of 22.</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four are 20, 28, 25, 17.</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fifth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d) Five numbers have a mean of 44.</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four are 40, 56, 50 and 34.</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fifth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4" name="Google Shape;234;p18"/>
          <p:cNvSpPr txBox="1"/>
          <p:nvPr/>
        </p:nvSpPr>
        <p:spPr>
          <a:xfrm>
            <a:off x="51319" y="1886842"/>
            <a:ext cx="462238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11. Work out the missing number from the list.</a:t>
            </a:r>
            <a:endParaRPr/>
          </a:p>
        </p:txBody>
      </p:sp>
      <p:graphicFrame>
        <p:nvGraphicFramePr>
          <p:cNvPr id="235" name="Google Shape;235;p18"/>
          <p:cNvGraphicFramePr/>
          <p:nvPr/>
        </p:nvGraphicFramePr>
        <p:xfrm>
          <a:off x="142759" y="5803426"/>
          <a:ext cx="3000000" cy="3000000"/>
        </p:xfrm>
        <a:graphic>
          <a:graphicData uri="http://schemas.openxmlformats.org/drawingml/2006/table">
            <a:tbl>
              <a:tblPr bandRow="1" firstRow="1">
                <a:noFill/>
                <a:tableStyleId>{1791AEFD-050F-4350-BB94-A2241F861526}</a:tableStyleId>
              </a:tblPr>
              <a:tblGrid>
                <a:gridCol w="3286250"/>
                <a:gridCol w="3286250"/>
              </a:tblGrid>
              <a:tr h="180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e) Five numbers have a mean of 11.</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four are 10, 14, 12, 9.</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fifth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f) Four numbers have a mean of 15.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three are 15, 15, 15.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fourth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g) Four numbers have a mean of 15. </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three are 20, 20, 20.</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fourth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h) Four numbers have a mean of 15.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first three are 0, 30, 30.</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fourth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6" name="Google Shape;236;p18"/>
          <p:cNvSpPr txBox="1"/>
          <p:nvPr/>
        </p:nvSpPr>
        <p:spPr>
          <a:xfrm>
            <a:off x="979783" y="93625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66</a:t>
            </a:r>
            <a:endParaRPr b="1" baseline="30000" sz="1800">
              <a:solidFill>
                <a:srgbClr val="FF0000"/>
              </a:solidFill>
              <a:latin typeface="Calibri"/>
              <a:ea typeface="Calibri"/>
              <a:cs typeface="Calibri"/>
              <a:sym typeface="Calibri"/>
            </a:endParaRPr>
          </a:p>
        </p:txBody>
      </p:sp>
      <p:sp>
        <p:nvSpPr>
          <p:cNvPr id="237" name="Google Shape;237;p18"/>
          <p:cNvSpPr txBox="1"/>
          <p:nvPr/>
        </p:nvSpPr>
        <p:spPr>
          <a:xfrm>
            <a:off x="3111637" y="953016"/>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28.5</a:t>
            </a:r>
            <a:endParaRPr b="1" baseline="30000" sz="1800">
              <a:solidFill>
                <a:srgbClr val="FF0000"/>
              </a:solidFill>
              <a:latin typeface="Calibri"/>
              <a:ea typeface="Calibri"/>
              <a:cs typeface="Calibri"/>
              <a:sym typeface="Calibri"/>
            </a:endParaRPr>
          </a:p>
        </p:txBody>
      </p:sp>
      <p:sp>
        <p:nvSpPr>
          <p:cNvPr id="238" name="Google Shape;238;p18"/>
          <p:cNvSpPr txBox="1"/>
          <p:nvPr/>
        </p:nvSpPr>
        <p:spPr>
          <a:xfrm>
            <a:off x="5427215" y="97413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b="1" baseline="30000" sz="1800">
              <a:solidFill>
                <a:srgbClr val="FF0000"/>
              </a:solidFill>
              <a:latin typeface="Calibri"/>
              <a:ea typeface="Calibri"/>
              <a:cs typeface="Calibri"/>
              <a:sym typeface="Calibri"/>
            </a:endParaRPr>
          </a:p>
        </p:txBody>
      </p:sp>
      <p:sp>
        <p:nvSpPr>
          <p:cNvPr id="239" name="Google Shape;239;p18"/>
          <p:cNvSpPr txBox="1"/>
          <p:nvPr/>
        </p:nvSpPr>
        <p:spPr>
          <a:xfrm>
            <a:off x="1441741" y="297612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b="1" baseline="30000" sz="1800">
              <a:solidFill>
                <a:srgbClr val="FF0000"/>
              </a:solidFill>
              <a:latin typeface="Calibri"/>
              <a:ea typeface="Calibri"/>
              <a:cs typeface="Calibri"/>
              <a:sym typeface="Calibri"/>
            </a:endParaRPr>
          </a:p>
        </p:txBody>
      </p:sp>
      <p:sp>
        <p:nvSpPr>
          <p:cNvPr id="240" name="Google Shape;240;p18"/>
          <p:cNvSpPr txBox="1"/>
          <p:nvPr/>
        </p:nvSpPr>
        <p:spPr>
          <a:xfrm>
            <a:off x="4727095" y="2952633"/>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b="1" baseline="30000" sz="1800">
              <a:solidFill>
                <a:srgbClr val="FF0000"/>
              </a:solidFill>
              <a:latin typeface="Calibri"/>
              <a:ea typeface="Calibri"/>
              <a:cs typeface="Calibri"/>
              <a:sym typeface="Calibri"/>
            </a:endParaRPr>
          </a:p>
        </p:txBody>
      </p:sp>
      <p:sp>
        <p:nvSpPr>
          <p:cNvPr id="241" name="Google Shape;241;p18"/>
          <p:cNvSpPr txBox="1"/>
          <p:nvPr/>
        </p:nvSpPr>
        <p:spPr>
          <a:xfrm>
            <a:off x="1468769" y="501083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a:t>
            </a:r>
            <a:endParaRPr b="1" baseline="30000" sz="1800">
              <a:solidFill>
                <a:srgbClr val="FF0000"/>
              </a:solidFill>
              <a:latin typeface="Calibri"/>
              <a:ea typeface="Calibri"/>
              <a:cs typeface="Calibri"/>
              <a:sym typeface="Calibri"/>
            </a:endParaRPr>
          </a:p>
        </p:txBody>
      </p:sp>
      <p:sp>
        <p:nvSpPr>
          <p:cNvPr id="242" name="Google Shape;242;p18"/>
          <p:cNvSpPr txBox="1"/>
          <p:nvPr/>
        </p:nvSpPr>
        <p:spPr>
          <a:xfrm>
            <a:off x="4754123" y="498734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40</a:t>
            </a:r>
            <a:endParaRPr b="1" baseline="30000" sz="1800">
              <a:solidFill>
                <a:srgbClr val="FF0000"/>
              </a:solidFill>
              <a:latin typeface="Calibri"/>
              <a:ea typeface="Calibri"/>
              <a:cs typeface="Calibri"/>
              <a:sym typeface="Calibri"/>
            </a:endParaRPr>
          </a:p>
        </p:txBody>
      </p:sp>
      <p:sp>
        <p:nvSpPr>
          <p:cNvPr id="243" name="Google Shape;243;p18"/>
          <p:cNvSpPr txBox="1"/>
          <p:nvPr/>
        </p:nvSpPr>
        <p:spPr>
          <a:xfrm>
            <a:off x="1468133" y="6692659"/>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a:t>
            </a:r>
            <a:endParaRPr b="1" baseline="30000" sz="1800">
              <a:solidFill>
                <a:srgbClr val="FF0000"/>
              </a:solidFill>
              <a:latin typeface="Calibri"/>
              <a:ea typeface="Calibri"/>
              <a:cs typeface="Calibri"/>
              <a:sym typeface="Calibri"/>
            </a:endParaRPr>
          </a:p>
        </p:txBody>
      </p:sp>
      <p:sp>
        <p:nvSpPr>
          <p:cNvPr id="244" name="Google Shape;244;p18"/>
          <p:cNvSpPr txBox="1"/>
          <p:nvPr/>
        </p:nvSpPr>
        <p:spPr>
          <a:xfrm>
            <a:off x="4753487" y="666917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b="1" baseline="30000" sz="1800">
              <a:solidFill>
                <a:srgbClr val="FF0000"/>
              </a:solidFill>
              <a:latin typeface="Calibri"/>
              <a:ea typeface="Calibri"/>
              <a:cs typeface="Calibri"/>
              <a:sym typeface="Calibri"/>
            </a:endParaRPr>
          </a:p>
        </p:txBody>
      </p:sp>
      <p:sp>
        <p:nvSpPr>
          <p:cNvPr id="245" name="Google Shape;245;p18"/>
          <p:cNvSpPr txBox="1"/>
          <p:nvPr/>
        </p:nvSpPr>
        <p:spPr>
          <a:xfrm>
            <a:off x="1523772" y="864033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b="1" baseline="30000" sz="1800">
              <a:solidFill>
                <a:srgbClr val="FF0000"/>
              </a:solidFill>
              <a:latin typeface="Calibri"/>
              <a:ea typeface="Calibri"/>
              <a:cs typeface="Calibri"/>
              <a:sym typeface="Calibri"/>
            </a:endParaRPr>
          </a:p>
        </p:txBody>
      </p:sp>
      <p:sp>
        <p:nvSpPr>
          <p:cNvPr id="246" name="Google Shape;246;p18"/>
          <p:cNvSpPr txBox="1"/>
          <p:nvPr/>
        </p:nvSpPr>
        <p:spPr>
          <a:xfrm>
            <a:off x="4809126" y="8616851"/>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txBox="1"/>
          <p:nvPr/>
        </p:nvSpPr>
        <p:spPr>
          <a:xfrm>
            <a:off x="5204682" y="9411480"/>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chemeClr val="dk1"/>
                </a:solidFill>
                <a:latin typeface="Calibri"/>
                <a:ea typeface="Calibri"/>
                <a:cs typeface="Calibri"/>
                <a:sym typeface="Calibri"/>
              </a:rPr>
              <a:t>‹#›</a:t>
            </a:fld>
            <a:endParaRPr sz="900">
              <a:solidFill>
                <a:schemeClr val="dk1"/>
              </a:solidFill>
              <a:latin typeface="Calibri"/>
              <a:ea typeface="Calibri"/>
              <a:cs typeface="Calibri"/>
              <a:sym typeface="Calibri"/>
            </a:endParaRPr>
          </a:p>
        </p:txBody>
      </p:sp>
      <p:graphicFrame>
        <p:nvGraphicFramePr>
          <p:cNvPr id="252" name="Google Shape;252;p19"/>
          <p:cNvGraphicFramePr/>
          <p:nvPr/>
        </p:nvGraphicFramePr>
        <p:xfrm>
          <a:off x="144772" y="788731"/>
          <a:ext cx="3000000" cy="3000000"/>
        </p:xfrm>
        <a:graphic>
          <a:graphicData uri="http://schemas.openxmlformats.org/drawingml/2006/table">
            <a:tbl>
              <a:tblPr bandRow="1" firstRow="1">
                <a:noFill/>
                <a:tableStyleId>{1791AEFD-050F-4350-BB94-A2241F861526}</a:tableStyleId>
              </a:tblPr>
              <a:tblGrid>
                <a:gridCol w="1283700"/>
                <a:gridCol w="1762925"/>
                <a:gridCol w="1762925"/>
                <a:gridCol w="1762925"/>
              </a:tblGrid>
              <a:tr h="7788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4 numbers is 6. Another number is added and the mean is now 5. What number was added?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4 numbers is 10. Another number is added and the mean is now 8. What number was added?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4 numbers is 8. Another number is added and the mean is now 7. What number was added?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1600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Multiply the new mean by the new number of values. </a:t>
                      </a:r>
                      <a:endParaRPr/>
                    </a:p>
                    <a:p>
                      <a:pPr indent="0" lvl="0" marL="0" marR="0" rtl="0" algn="l">
                        <a:spcBef>
                          <a:spcPts val="0"/>
                        </a:spcBef>
                        <a:spcAft>
                          <a:spcPts val="0"/>
                        </a:spcAft>
                        <a:buClr>
                          <a:schemeClr val="dk1"/>
                        </a:buClr>
                        <a:buSzPts val="1200"/>
                        <a:buFont typeface="Calibri"/>
                        <a:buNone/>
                      </a:pPr>
                      <a:r>
                        <a:rPr lang="en-GB" sz="1200">
                          <a:solidFill>
                            <a:schemeClr val="dk1"/>
                          </a:solidFill>
                        </a:rPr>
                        <a:t>2) Multiply the original mean by the original number of values.</a:t>
                      </a:r>
                      <a:endParaRPr/>
                    </a:p>
                    <a:p>
                      <a:pPr indent="0" lvl="0" marL="0" marR="0" rtl="0" algn="l">
                        <a:spcBef>
                          <a:spcPts val="0"/>
                        </a:spcBef>
                        <a:spcAft>
                          <a:spcPts val="0"/>
                        </a:spcAft>
                        <a:buClr>
                          <a:schemeClr val="dk1"/>
                        </a:buClr>
                        <a:buSzPts val="1200"/>
                        <a:buFont typeface="Calibri"/>
                        <a:buNone/>
                      </a:pPr>
                      <a:r>
                        <a:rPr lang="en-GB" sz="1200">
                          <a:solidFill>
                            <a:schemeClr val="dk1"/>
                          </a:solidFill>
                        </a:rPr>
                        <a:t>3) Subtract these.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53" name="Google Shape;253;p19"/>
          <p:cNvSpPr txBox="1"/>
          <p:nvPr/>
        </p:nvSpPr>
        <p:spPr>
          <a:xfrm>
            <a:off x="1801117" y="528006"/>
            <a:ext cx="15456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13 – I do…</a:t>
            </a:r>
            <a:endParaRPr/>
          </a:p>
        </p:txBody>
      </p:sp>
      <p:sp>
        <p:nvSpPr>
          <p:cNvPr id="254" name="Google Shape;254;p19"/>
          <p:cNvSpPr txBox="1"/>
          <p:nvPr/>
        </p:nvSpPr>
        <p:spPr>
          <a:xfrm>
            <a:off x="5069252" y="51662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15 – You do…</a:t>
            </a:r>
            <a:endParaRPr/>
          </a:p>
        </p:txBody>
      </p:sp>
      <p:sp>
        <p:nvSpPr>
          <p:cNvPr id="255" name="Google Shape;255;p19"/>
          <p:cNvSpPr txBox="1"/>
          <p:nvPr/>
        </p:nvSpPr>
        <p:spPr>
          <a:xfrm>
            <a:off x="3386313" y="51173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14 – We do…</a:t>
            </a:r>
            <a:endParaRPr/>
          </a:p>
        </p:txBody>
      </p:sp>
      <p:sp>
        <p:nvSpPr>
          <p:cNvPr id="256" name="Google Shape;256;p19"/>
          <p:cNvSpPr/>
          <p:nvPr/>
        </p:nvSpPr>
        <p:spPr>
          <a:xfrm>
            <a:off x="144769" y="190696"/>
            <a:ext cx="6014442" cy="312223"/>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Solving problems where the mean changes</a:t>
            </a:r>
            <a:endParaRPr sz="1200">
              <a:solidFill>
                <a:schemeClr val="lt1"/>
              </a:solidFill>
              <a:latin typeface="Calibri"/>
              <a:ea typeface="Calibri"/>
              <a:cs typeface="Calibri"/>
              <a:sym typeface="Calibri"/>
            </a:endParaRPr>
          </a:p>
        </p:txBody>
      </p:sp>
      <p:sp>
        <p:nvSpPr>
          <p:cNvPr id="257" name="Google Shape;257;p19"/>
          <p:cNvSpPr/>
          <p:nvPr/>
        </p:nvSpPr>
        <p:spPr>
          <a:xfrm>
            <a:off x="144769" y="4029268"/>
            <a:ext cx="1265614" cy="396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258" name="Google Shape;258;p19"/>
          <p:cNvSpPr txBox="1"/>
          <p:nvPr/>
        </p:nvSpPr>
        <p:spPr>
          <a:xfrm>
            <a:off x="1437490" y="4240382"/>
            <a:ext cx="34290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12.</a:t>
            </a:r>
            <a:endParaRPr/>
          </a:p>
        </p:txBody>
      </p:sp>
      <p:graphicFrame>
        <p:nvGraphicFramePr>
          <p:cNvPr id="259" name="Google Shape;259;p19"/>
          <p:cNvGraphicFramePr/>
          <p:nvPr/>
        </p:nvGraphicFramePr>
        <p:xfrm>
          <a:off x="144769" y="4043061"/>
          <a:ext cx="3000000" cy="3000000"/>
        </p:xfrm>
        <a:graphic>
          <a:graphicData uri="http://schemas.openxmlformats.org/drawingml/2006/table">
            <a:tbl>
              <a:tblPr bandRow="1" firstRow="1">
                <a:noFill/>
                <a:tableStyleId>{1791AEFD-050F-4350-BB94-A2241F861526}</a:tableStyleId>
              </a:tblPr>
              <a:tblGrid>
                <a:gridCol w="3286250"/>
                <a:gridCol w="3286250"/>
              </a:tblGrid>
              <a:tr h="442050">
                <a:tc gridSpan="2">
                  <a:txBody>
                    <a:bodyPr/>
                    <a:lstStyle/>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2468875">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 The mean of 3 numbers is 15.</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Another number is added and the mean is now 12.</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What number was added?</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b) The mean of 9 numbers is 1.5.</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Another number is added and the mean is now 1.6.</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What number was added?</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68875">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c) The mean of 5 numbers is 8.</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Another number is added and the mean is now 6.</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What number was added?</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d) The mean of 5 numbers is 30.</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A number is taken away.</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mean of the 4 remaining numbers is 25.</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What number was taken away?</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60" name="Google Shape;260;p19"/>
          <p:cNvSpPr txBox="1"/>
          <p:nvPr/>
        </p:nvSpPr>
        <p:spPr>
          <a:xfrm>
            <a:off x="2317279" y="208142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b="1" baseline="30000" sz="1800">
              <a:solidFill>
                <a:srgbClr val="FF0000"/>
              </a:solidFill>
              <a:latin typeface="Calibri"/>
              <a:ea typeface="Calibri"/>
              <a:cs typeface="Calibri"/>
              <a:sym typeface="Calibri"/>
            </a:endParaRPr>
          </a:p>
        </p:txBody>
      </p:sp>
      <p:sp>
        <p:nvSpPr>
          <p:cNvPr id="261" name="Google Shape;261;p19"/>
          <p:cNvSpPr txBox="1"/>
          <p:nvPr/>
        </p:nvSpPr>
        <p:spPr>
          <a:xfrm>
            <a:off x="3965045" y="208142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a:p>
        </p:txBody>
      </p:sp>
      <p:sp>
        <p:nvSpPr>
          <p:cNvPr id="262" name="Google Shape;262;p19"/>
          <p:cNvSpPr txBox="1"/>
          <p:nvPr/>
        </p:nvSpPr>
        <p:spPr>
          <a:xfrm>
            <a:off x="5612811" y="208142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b="1" baseline="30000" sz="1800">
              <a:solidFill>
                <a:srgbClr val="FF0000"/>
              </a:solidFill>
              <a:latin typeface="Calibri"/>
              <a:ea typeface="Calibri"/>
              <a:cs typeface="Calibri"/>
              <a:sym typeface="Calibri"/>
            </a:endParaRPr>
          </a:p>
        </p:txBody>
      </p:sp>
      <p:sp>
        <p:nvSpPr>
          <p:cNvPr id="263" name="Google Shape;263;p19"/>
          <p:cNvSpPr txBox="1"/>
          <p:nvPr/>
        </p:nvSpPr>
        <p:spPr>
          <a:xfrm>
            <a:off x="1437490" y="579244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b="1" baseline="30000" sz="1800">
              <a:solidFill>
                <a:srgbClr val="FF0000"/>
              </a:solidFill>
              <a:latin typeface="Calibri"/>
              <a:ea typeface="Calibri"/>
              <a:cs typeface="Calibri"/>
              <a:sym typeface="Calibri"/>
            </a:endParaRPr>
          </a:p>
        </p:txBody>
      </p:sp>
      <p:sp>
        <p:nvSpPr>
          <p:cNvPr id="264" name="Google Shape;264;p19"/>
          <p:cNvSpPr txBox="1"/>
          <p:nvPr/>
        </p:nvSpPr>
        <p:spPr>
          <a:xfrm>
            <a:off x="4792295" y="5797487"/>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2.5</a:t>
            </a:r>
            <a:endParaRPr b="1" baseline="30000" sz="1800">
              <a:solidFill>
                <a:srgbClr val="FF0000"/>
              </a:solidFill>
              <a:latin typeface="Calibri"/>
              <a:ea typeface="Calibri"/>
              <a:cs typeface="Calibri"/>
              <a:sym typeface="Calibri"/>
            </a:endParaRPr>
          </a:p>
        </p:txBody>
      </p:sp>
      <p:sp>
        <p:nvSpPr>
          <p:cNvPr id="265" name="Google Shape;265;p19"/>
          <p:cNvSpPr txBox="1"/>
          <p:nvPr/>
        </p:nvSpPr>
        <p:spPr>
          <a:xfrm>
            <a:off x="1414274" y="825303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b="1" baseline="30000" sz="1800">
              <a:solidFill>
                <a:srgbClr val="FF0000"/>
              </a:solidFill>
              <a:latin typeface="Calibri"/>
              <a:ea typeface="Calibri"/>
              <a:cs typeface="Calibri"/>
              <a:sym typeface="Calibri"/>
            </a:endParaRPr>
          </a:p>
        </p:txBody>
      </p:sp>
      <p:sp>
        <p:nvSpPr>
          <p:cNvPr id="266" name="Google Shape;266;p19"/>
          <p:cNvSpPr txBox="1"/>
          <p:nvPr/>
        </p:nvSpPr>
        <p:spPr>
          <a:xfrm>
            <a:off x="4680710" y="8237534"/>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50</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pSp>
        <p:nvGrpSpPr>
          <p:cNvPr id="271" name="Google Shape;271;p20"/>
          <p:cNvGrpSpPr/>
          <p:nvPr/>
        </p:nvGrpSpPr>
        <p:grpSpPr>
          <a:xfrm>
            <a:off x="0" y="0"/>
            <a:ext cx="6804000" cy="9591040"/>
            <a:chOff x="0" y="0"/>
            <a:chExt cx="6804000" cy="9591040"/>
          </a:xfrm>
        </p:grpSpPr>
        <p:grpSp>
          <p:nvGrpSpPr>
            <p:cNvPr id="272" name="Google Shape;272;p20"/>
            <p:cNvGrpSpPr/>
            <p:nvPr/>
          </p:nvGrpSpPr>
          <p:grpSpPr>
            <a:xfrm>
              <a:off x="0" y="0"/>
              <a:ext cx="6779619" cy="9591040"/>
              <a:chOff x="0" y="0"/>
              <a:chExt cx="6779619" cy="9591040"/>
            </a:xfrm>
          </p:grpSpPr>
          <p:grpSp>
            <p:nvGrpSpPr>
              <p:cNvPr id="273" name="Google Shape;273;p20"/>
              <p:cNvGrpSpPr/>
              <p:nvPr/>
            </p:nvGrpSpPr>
            <p:grpSpPr>
              <a:xfrm>
                <a:off x="0" y="0"/>
                <a:ext cx="6779619" cy="9591040"/>
                <a:chOff x="0" y="0"/>
                <a:chExt cx="6779619" cy="9591040"/>
              </a:xfrm>
            </p:grpSpPr>
            <p:pic>
              <p:nvPicPr>
                <p:cNvPr id="274" name="Google Shape;274;p20"/>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275" name="Google Shape;275;p20"/>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276" name="Google Shape;276;p20"/>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277" name="Google Shape;277;p20"/>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278" name="Google Shape;278;p20"/>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279" name="Google Shape;279;p20"/>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280" name="Google Shape;280;p20"/>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281" name="Google Shape;281;p20"/>
            <p:cNvSpPr/>
            <p:nvPr/>
          </p:nvSpPr>
          <p:spPr>
            <a:xfrm>
              <a:off x="0" y="5408"/>
              <a:ext cx="6804000" cy="682550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82" name="Google Shape;282;p20"/>
          <p:cNvSpPr txBox="1"/>
          <p:nvPr>
            <p:ph idx="12" type="sldNum"/>
          </p:nvPr>
        </p:nvSpPr>
        <p:spPr>
          <a:xfrm>
            <a:off x="5233151" y="942431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83" name="Google Shape;283;p20"/>
          <p:cNvGraphicFramePr/>
          <p:nvPr/>
        </p:nvGraphicFramePr>
        <p:xfrm>
          <a:off x="142759" y="105760"/>
          <a:ext cx="3000000" cy="3000000"/>
        </p:xfrm>
        <a:graphic>
          <a:graphicData uri="http://schemas.openxmlformats.org/drawingml/2006/table">
            <a:tbl>
              <a:tblPr bandRow="1" firstRow="1">
                <a:noFill/>
                <a:tableStyleId>{1791AEFD-050F-4350-BB94-A2241F861526}</a:tableStyleId>
              </a:tblPr>
              <a:tblGrid>
                <a:gridCol w="3286250"/>
                <a:gridCol w="3286250"/>
              </a:tblGrid>
              <a:tr h="324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d) </a:t>
                      </a:r>
                      <a:r>
                        <a:rPr b="0" i="0" lang="en-GB" sz="1200" u="none" cap="none" strike="noStrike">
                          <a:solidFill>
                            <a:srgbClr val="000000"/>
                          </a:solidFill>
                          <a:latin typeface="Calibri"/>
                          <a:ea typeface="Calibri"/>
                          <a:cs typeface="Calibri"/>
                          <a:sym typeface="Calibri"/>
                        </a:rPr>
                        <a:t>Hertford Juniors is a basketball team. At the end of 10 games, their mean score is 35 points per game. At the end of 11 games, their mean score has gone down to 33 points per game. How many points did the team score in the 11th game?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e) </a:t>
                      </a:r>
                      <a:r>
                        <a:rPr b="0" lang="en-GB" sz="1200">
                          <a:solidFill>
                            <a:schemeClr val="dk1"/>
                          </a:solidFill>
                        </a:rPr>
                        <a:t>Nigel has scored a mean of 18 runs in the last five cricket matches. His mean score must be 20 or more for him to be chosen for the school team. Find the number of runs that he must make in the next match if he is to be chosen for the school team.</a:t>
                      </a:r>
                      <a:endParaRPr b="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4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f) </a:t>
                      </a:r>
                      <a:r>
                        <a:rPr b="0" lang="en-GB" sz="1200">
                          <a:solidFill>
                            <a:schemeClr val="dk1"/>
                          </a:solidFill>
                        </a:rPr>
                        <a:t>Buster is taking part in a dog competition. There are 6 rounds, each worth 20 points. The mean of Buster’s scores for the first 5 rounds is 13 points. If a dog has a mean score of 14 points or more, after the 6 rounds, they will receive a prize. Find the lowest possible number of points that Buster needs, in the final round in order to win a prize.</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g) John has scored a mean of 0.4 goals in the last 10 football matches for the B team. His mean score must be 0.5 or more for him to be chosen to play for the A team. Find the minimum number of goals that he must score in the next match if he is to be chosen for the A team.</a:t>
                      </a:r>
                      <a:endParaRPr b="0"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4" name="Google Shape;284;p20"/>
          <p:cNvSpPr txBox="1"/>
          <p:nvPr/>
        </p:nvSpPr>
        <p:spPr>
          <a:xfrm>
            <a:off x="1559273" y="192373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b="1" baseline="30000" sz="1800">
              <a:solidFill>
                <a:srgbClr val="FF0000"/>
              </a:solidFill>
              <a:latin typeface="Calibri"/>
              <a:ea typeface="Calibri"/>
              <a:cs typeface="Calibri"/>
              <a:sym typeface="Calibri"/>
            </a:endParaRPr>
          </a:p>
        </p:txBody>
      </p:sp>
      <p:sp>
        <p:nvSpPr>
          <p:cNvPr id="285" name="Google Shape;285;p20"/>
          <p:cNvSpPr txBox="1"/>
          <p:nvPr/>
        </p:nvSpPr>
        <p:spPr>
          <a:xfrm>
            <a:off x="4914078" y="192878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30</a:t>
            </a:r>
            <a:endParaRPr b="1" baseline="30000" sz="1800">
              <a:solidFill>
                <a:srgbClr val="FF0000"/>
              </a:solidFill>
              <a:latin typeface="Calibri"/>
              <a:ea typeface="Calibri"/>
              <a:cs typeface="Calibri"/>
              <a:sym typeface="Calibri"/>
            </a:endParaRPr>
          </a:p>
        </p:txBody>
      </p:sp>
      <p:sp>
        <p:nvSpPr>
          <p:cNvPr id="286" name="Google Shape;286;p20"/>
          <p:cNvSpPr txBox="1"/>
          <p:nvPr/>
        </p:nvSpPr>
        <p:spPr>
          <a:xfrm>
            <a:off x="1554756" y="545069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19</a:t>
            </a:r>
            <a:endParaRPr b="1" baseline="30000" sz="1800">
              <a:solidFill>
                <a:srgbClr val="FF0000"/>
              </a:solidFill>
              <a:latin typeface="Calibri"/>
              <a:ea typeface="Calibri"/>
              <a:cs typeface="Calibri"/>
              <a:sym typeface="Calibri"/>
            </a:endParaRPr>
          </a:p>
        </p:txBody>
      </p:sp>
      <p:sp>
        <p:nvSpPr>
          <p:cNvPr id="287" name="Google Shape;287;p20"/>
          <p:cNvSpPr txBox="1"/>
          <p:nvPr/>
        </p:nvSpPr>
        <p:spPr>
          <a:xfrm>
            <a:off x="4501152" y="5435197"/>
            <a:ext cx="9172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 so 2</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1"/>
          <p:cNvSpPr txBox="1"/>
          <p:nvPr>
            <p:ph idx="12" type="sldNum"/>
          </p:nvPr>
        </p:nvSpPr>
        <p:spPr>
          <a:xfrm>
            <a:off x="5224487" y="950557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93" name="Google Shape;293;p21"/>
          <p:cNvSpPr txBox="1"/>
          <p:nvPr/>
        </p:nvSpPr>
        <p:spPr>
          <a:xfrm>
            <a:off x="1333461" y="2908246"/>
            <a:ext cx="35292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cap="none" strike="noStrike">
                <a:solidFill>
                  <a:srgbClr val="000000"/>
                </a:solidFill>
                <a:latin typeface="Calibri"/>
                <a:ea typeface="Calibri"/>
                <a:cs typeface="Calibri"/>
                <a:sym typeface="Calibri"/>
              </a:rPr>
              <a:t>Question 13.</a:t>
            </a:r>
            <a:endParaRPr sz="1800">
              <a:solidFill>
                <a:schemeClr val="dk1"/>
              </a:solidFill>
              <a:latin typeface="Calibri"/>
              <a:ea typeface="Calibri"/>
              <a:cs typeface="Calibri"/>
              <a:sym typeface="Calibri"/>
            </a:endParaRPr>
          </a:p>
        </p:txBody>
      </p:sp>
      <p:sp>
        <p:nvSpPr>
          <p:cNvPr id="294" name="Google Shape;294;p21"/>
          <p:cNvSpPr/>
          <p:nvPr/>
        </p:nvSpPr>
        <p:spPr>
          <a:xfrm>
            <a:off x="142737" y="2819569"/>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95" name="Google Shape;295;p21"/>
          <p:cNvGraphicFramePr/>
          <p:nvPr/>
        </p:nvGraphicFramePr>
        <p:xfrm>
          <a:off x="143757" y="3194961"/>
          <a:ext cx="3000000" cy="3000000"/>
        </p:xfrm>
        <a:graphic>
          <a:graphicData uri="http://schemas.openxmlformats.org/drawingml/2006/table">
            <a:tbl>
              <a:tblPr bandRow="1" firstRow="1">
                <a:noFill/>
                <a:tableStyleId>{1791AEFD-050F-4350-BB94-A2241F861526}</a:tableStyleId>
              </a:tblPr>
              <a:tblGrid>
                <a:gridCol w="3297700"/>
                <a:gridCol w="3297700"/>
              </a:tblGrid>
              <a:tr h="16200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a) The mean age of 2 girls is 8.</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Another girl joins, age 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mean age of the 3 girls?</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b) The mean number of goals scored by 3 players is 18.</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Another player joins, having scored 6 goals.</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mean number of goals scored by the 4 players?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20000">
                <a:tc>
                  <a:txBody>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c) The mean heights of 24 men is 1.64m.</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Another man has a height of 1.89m.</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What is the mean height of the 25 boys?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d) The mean age of a team if 25 players is 26. </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One of the players, age 20, is sold.</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What is the mean age of the team now?</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2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e) </a:t>
                      </a:r>
                      <a:r>
                        <a:rPr b="0" i="0" lang="en-GB" sz="1200" u="none" cap="none" strike="noStrike">
                          <a:solidFill>
                            <a:srgbClr val="000000"/>
                          </a:solidFill>
                          <a:latin typeface="Calibri"/>
                          <a:ea typeface="Calibri"/>
                          <a:cs typeface="Calibri"/>
                          <a:sym typeface="Calibri"/>
                        </a:rPr>
                        <a:t>The mean age of 3 students is 15 years old. </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Another student joins the group, aged 16.</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What is the mean age of the 4 students?</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lang="en-GB" sz="1200">
                          <a:solidFill>
                            <a:schemeClr val="dk1"/>
                          </a:solidFill>
                          <a:latin typeface="Calibri"/>
                          <a:ea typeface="Calibri"/>
                          <a:cs typeface="Calibri"/>
                          <a:sym typeface="Calibri"/>
                        </a:rPr>
                        <a:t>f) </a:t>
                      </a:r>
                      <a:r>
                        <a:rPr b="0" i="0" lang="en-GB" sz="1200" u="none" cap="none" strike="noStrike">
                          <a:solidFill>
                            <a:srgbClr val="000000"/>
                          </a:solidFill>
                          <a:latin typeface="Calibri"/>
                          <a:ea typeface="Calibri"/>
                          <a:cs typeface="Calibri"/>
                          <a:sym typeface="Calibri"/>
                        </a:rPr>
                        <a:t>The mean age of 4 students is 12 years old. </a:t>
                      </a:r>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Calibri"/>
                          <a:ea typeface="Calibri"/>
                          <a:cs typeface="Calibri"/>
                          <a:sym typeface="Calibri"/>
                        </a:rPr>
                        <a:t>Another student joins the group, aged 16.</a:t>
                      </a:r>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Calibri"/>
                          <a:ea typeface="Calibri"/>
                          <a:cs typeface="Calibri"/>
                          <a:sym typeface="Calibri"/>
                        </a:rPr>
                        <a:t>What is the mean age of the 5 students?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20000">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g) </a:t>
                      </a:r>
                      <a:r>
                        <a:rPr lang="en-GB" sz="1200"/>
                        <a:t>Mark ran a mean distance of 13.2 km in five days. The next day Mark ran 20 km. Find the mean distance Mark ran in the six days.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h) </a:t>
                      </a:r>
                      <a:r>
                        <a:rPr lang="en-GB" sz="1200"/>
                        <a:t>Pete has seven Shetland ponies. They have a mean height of 116cm. Pete buys an eighth pony. The height of this pony is 128cm. Find the mean height of all eight ponies.</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96" name="Google Shape;296;p21"/>
          <p:cNvGraphicFramePr/>
          <p:nvPr/>
        </p:nvGraphicFramePr>
        <p:xfrm>
          <a:off x="143758" y="364697"/>
          <a:ext cx="3000000" cy="3000000"/>
        </p:xfrm>
        <a:graphic>
          <a:graphicData uri="http://schemas.openxmlformats.org/drawingml/2006/table">
            <a:tbl>
              <a:tblPr bandRow="1" firstRow="1">
                <a:noFill/>
                <a:tableStyleId>{1791AEFD-050F-4350-BB94-A2241F861526}</a:tableStyleId>
              </a:tblPr>
              <a:tblGrid>
                <a:gridCol w="1819675"/>
                <a:gridCol w="1601375"/>
                <a:gridCol w="1601375"/>
                <a:gridCol w="1601375"/>
              </a:tblGrid>
              <a:tr h="5355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The mean of 5 numbers is 8. The number 2 is added. What is the mean now?</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6 numbers is 5. The number 12 is added. What is the mean now?</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3 numbers is 8. The number 4 is added. What is the mean now?</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3680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Multiply the mean by the number of values to get the total. </a:t>
                      </a:r>
                      <a:endParaRPr/>
                    </a:p>
                    <a:p>
                      <a:pPr indent="0" lvl="0" marL="0" marR="0" rtl="0" algn="l">
                        <a:spcBef>
                          <a:spcPts val="0"/>
                        </a:spcBef>
                        <a:spcAft>
                          <a:spcPts val="0"/>
                        </a:spcAft>
                        <a:buClr>
                          <a:schemeClr val="dk1"/>
                        </a:buClr>
                        <a:buSzPts val="1200"/>
                        <a:buFont typeface="Calibri"/>
                        <a:buNone/>
                      </a:pPr>
                      <a:r>
                        <a:t/>
                      </a:r>
                      <a:endParaRPr sz="1200">
                        <a:solidFill>
                          <a:schemeClr val="dk1"/>
                        </a:solidFill>
                      </a:endParaRPr>
                    </a:p>
                    <a:p>
                      <a:pPr indent="0" lvl="0" marL="0" marR="0" rtl="0" algn="l">
                        <a:spcBef>
                          <a:spcPts val="0"/>
                        </a:spcBef>
                        <a:spcAft>
                          <a:spcPts val="0"/>
                        </a:spcAft>
                        <a:buClr>
                          <a:schemeClr val="dk1"/>
                        </a:buClr>
                        <a:buSzPts val="1200"/>
                        <a:buFont typeface="Calibri"/>
                        <a:buNone/>
                      </a:pPr>
                      <a:r>
                        <a:rPr lang="en-GB" sz="1200">
                          <a:solidFill>
                            <a:schemeClr val="dk1"/>
                          </a:solidFill>
                        </a:rPr>
                        <a:t>2) Add on the new values. Divide by how many values there are now.</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97" name="Google Shape;297;p21"/>
          <p:cNvSpPr txBox="1"/>
          <p:nvPr/>
        </p:nvSpPr>
        <p:spPr>
          <a:xfrm>
            <a:off x="1894372" y="103921"/>
            <a:ext cx="15456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16 – I do…</a:t>
            </a:r>
            <a:endParaRPr/>
          </a:p>
        </p:txBody>
      </p:sp>
      <p:sp>
        <p:nvSpPr>
          <p:cNvPr id="298" name="Google Shape;298;p21"/>
          <p:cNvSpPr txBox="1"/>
          <p:nvPr/>
        </p:nvSpPr>
        <p:spPr>
          <a:xfrm>
            <a:off x="5162507" y="9253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18 – You do…</a:t>
            </a:r>
            <a:endParaRPr/>
          </a:p>
        </p:txBody>
      </p:sp>
      <p:sp>
        <p:nvSpPr>
          <p:cNvPr id="299" name="Google Shape;299;p21"/>
          <p:cNvSpPr txBox="1"/>
          <p:nvPr/>
        </p:nvSpPr>
        <p:spPr>
          <a:xfrm>
            <a:off x="3479568" y="87647"/>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17 – We do…</a:t>
            </a:r>
            <a:endParaRPr/>
          </a:p>
        </p:txBody>
      </p:sp>
      <p:sp>
        <p:nvSpPr>
          <p:cNvPr id="300" name="Google Shape;300;p21"/>
          <p:cNvSpPr txBox="1"/>
          <p:nvPr/>
        </p:nvSpPr>
        <p:spPr>
          <a:xfrm>
            <a:off x="1592686" y="384850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endParaRPr b="1" baseline="30000" sz="1800">
              <a:solidFill>
                <a:srgbClr val="FF0000"/>
              </a:solidFill>
              <a:latin typeface="Calibri"/>
              <a:ea typeface="Calibri"/>
              <a:cs typeface="Calibri"/>
              <a:sym typeface="Calibri"/>
            </a:endParaRPr>
          </a:p>
        </p:txBody>
      </p:sp>
      <p:sp>
        <p:nvSpPr>
          <p:cNvPr id="301" name="Google Shape;301;p21"/>
          <p:cNvSpPr txBox="1"/>
          <p:nvPr/>
        </p:nvSpPr>
        <p:spPr>
          <a:xfrm>
            <a:off x="4943870" y="387446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b="1" baseline="30000" sz="1800">
              <a:solidFill>
                <a:srgbClr val="FF0000"/>
              </a:solidFill>
              <a:latin typeface="Calibri"/>
              <a:ea typeface="Calibri"/>
              <a:cs typeface="Calibri"/>
              <a:sym typeface="Calibri"/>
            </a:endParaRPr>
          </a:p>
        </p:txBody>
      </p:sp>
      <p:sp>
        <p:nvSpPr>
          <p:cNvPr id="302" name="Google Shape;302;p21"/>
          <p:cNvSpPr txBox="1"/>
          <p:nvPr/>
        </p:nvSpPr>
        <p:spPr>
          <a:xfrm>
            <a:off x="1387568" y="5506200"/>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1.65</a:t>
            </a:r>
            <a:endParaRPr b="1" baseline="30000" sz="1800">
              <a:solidFill>
                <a:srgbClr val="FF0000"/>
              </a:solidFill>
              <a:latin typeface="Calibri"/>
              <a:ea typeface="Calibri"/>
              <a:cs typeface="Calibri"/>
              <a:sym typeface="Calibri"/>
            </a:endParaRPr>
          </a:p>
        </p:txBody>
      </p:sp>
      <p:sp>
        <p:nvSpPr>
          <p:cNvPr id="303" name="Google Shape;303;p21"/>
          <p:cNvSpPr txBox="1"/>
          <p:nvPr/>
        </p:nvSpPr>
        <p:spPr>
          <a:xfrm>
            <a:off x="4657996" y="5483055"/>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26.25</a:t>
            </a:r>
            <a:endParaRPr b="1" baseline="30000" sz="1800">
              <a:solidFill>
                <a:srgbClr val="FF0000"/>
              </a:solidFill>
              <a:latin typeface="Calibri"/>
              <a:ea typeface="Calibri"/>
              <a:cs typeface="Calibri"/>
              <a:sym typeface="Calibri"/>
            </a:endParaRPr>
          </a:p>
        </p:txBody>
      </p:sp>
      <p:sp>
        <p:nvSpPr>
          <p:cNvPr id="304" name="Google Shape;304;p21"/>
          <p:cNvSpPr txBox="1"/>
          <p:nvPr/>
        </p:nvSpPr>
        <p:spPr>
          <a:xfrm>
            <a:off x="1592686" y="7179632"/>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15.25</a:t>
            </a:r>
            <a:endParaRPr b="1" baseline="30000" sz="1800">
              <a:solidFill>
                <a:srgbClr val="FF0000"/>
              </a:solidFill>
              <a:latin typeface="Calibri"/>
              <a:ea typeface="Calibri"/>
              <a:cs typeface="Calibri"/>
              <a:sym typeface="Calibri"/>
            </a:endParaRPr>
          </a:p>
        </p:txBody>
      </p:sp>
      <p:sp>
        <p:nvSpPr>
          <p:cNvPr id="305" name="Google Shape;305;p21"/>
          <p:cNvSpPr txBox="1"/>
          <p:nvPr/>
        </p:nvSpPr>
        <p:spPr>
          <a:xfrm>
            <a:off x="4943870" y="7205591"/>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12.8</a:t>
            </a:r>
            <a:endParaRPr b="1" baseline="30000" sz="1800">
              <a:solidFill>
                <a:srgbClr val="FF0000"/>
              </a:solidFill>
              <a:latin typeface="Calibri"/>
              <a:ea typeface="Calibri"/>
              <a:cs typeface="Calibri"/>
              <a:sym typeface="Calibri"/>
            </a:endParaRPr>
          </a:p>
        </p:txBody>
      </p:sp>
      <p:sp>
        <p:nvSpPr>
          <p:cNvPr id="306" name="Google Shape;306;p21"/>
          <p:cNvSpPr txBox="1"/>
          <p:nvPr/>
        </p:nvSpPr>
        <p:spPr>
          <a:xfrm>
            <a:off x="1103107" y="8695764"/>
            <a:ext cx="12474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14.56333…</a:t>
            </a:r>
            <a:endParaRPr b="1" baseline="30000" sz="1800">
              <a:solidFill>
                <a:srgbClr val="FF0000"/>
              </a:solidFill>
              <a:latin typeface="Calibri"/>
              <a:ea typeface="Calibri"/>
              <a:cs typeface="Calibri"/>
              <a:sym typeface="Calibri"/>
            </a:endParaRPr>
          </a:p>
        </p:txBody>
      </p:sp>
      <p:sp>
        <p:nvSpPr>
          <p:cNvPr id="307" name="Google Shape;307;p21"/>
          <p:cNvSpPr txBox="1"/>
          <p:nvPr/>
        </p:nvSpPr>
        <p:spPr>
          <a:xfrm>
            <a:off x="4893203" y="8721723"/>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117.5</a:t>
            </a:r>
            <a:endParaRPr b="1" baseline="30000" sz="1800">
              <a:solidFill>
                <a:srgbClr val="FF0000"/>
              </a:solidFill>
              <a:latin typeface="Calibri"/>
              <a:ea typeface="Calibri"/>
              <a:cs typeface="Calibri"/>
              <a:sym typeface="Calibri"/>
            </a:endParaRPr>
          </a:p>
        </p:txBody>
      </p:sp>
      <p:sp>
        <p:nvSpPr>
          <p:cNvPr id="308" name="Google Shape;308;p21"/>
          <p:cNvSpPr txBox="1"/>
          <p:nvPr/>
        </p:nvSpPr>
        <p:spPr>
          <a:xfrm>
            <a:off x="2499908" y="186231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endParaRPr b="1" baseline="30000" sz="1800">
              <a:solidFill>
                <a:srgbClr val="FF0000"/>
              </a:solidFill>
              <a:latin typeface="Calibri"/>
              <a:ea typeface="Calibri"/>
              <a:cs typeface="Calibri"/>
              <a:sym typeface="Calibri"/>
            </a:endParaRPr>
          </a:p>
        </p:txBody>
      </p:sp>
      <p:sp>
        <p:nvSpPr>
          <p:cNvPr id="309" name="Google Shape;309;p21"/>
          <p:cNvSpPr txBox="1"/>
          <p:nvPr/>
        </p:nvSpPr>
        <p:spPr>
          <a:xfrm>
            <a:off x="4201453" y="186231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b="1" baseline="30000" sz="1800">
              <a:solidFill>
                <a:srgbClr val="FF0000"/>
              </a:solidFill>
              <a:latin typeface="Calibri"/>
              <a:ea typeface="Calibri"/>
              <a:cs typeface="Calibri"/>
              <a:sym typeface="Calibri"/>
            </a:endParaRPr>
          </a:p>
        </p:txBody>
      </p:sp>
      <p:sp>
        <p:nvSpPr>
          <p:cNvPr id="310" name="Google Shape;310;p21"/>
          <p:cNvSpPr txBox="1"/>
          <p:nvPr/>
        </p:nvSpPr>
        <p:spPr>
          <a:xfrm>
            <a:off x="6012988" y="186231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idx="12" type="sldNum"/>
          </p:nvPr>
        </p:nvSpPr>
        <p:spPr>
          <a:xfrm>
            <a:off x="5172189"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16" name="Google Shape;316;p22"/>
          <p:cNvGraphicFramePr/>
          <p:nvPr/>
        </p:nvGraphicFramePr>
        <p:xfrm>
          <a:off x="142759" y="197200"/>
          <a:ext cx="3000000" cy="3000000"/>
        </p:xfrm>
        <a:graphic>
          <a:graphicData uri="http://schemas.openxmlformats.org/drawingml/2006/table">
            <a:tbl>
              <a:tblPr bandRow="1" firstRow="1">
                <a:noFill/>
                <a:tableStyleId>{1791AEFD-050F-4350-BB94-A2241F861526}</a:tableStyleId>
              </a:tblPr>
              <a:tblGrid>
                <a:gridCol w="3286250"/>
                <a:gridCol w="3286250"/>
              </a:tblGrid>
              <a:tr h="234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i) </a:t>
                      </a:r>
                      <a:r>
                        <a:rPr b="0" lang="en-GB" sz="1200">
                          <a:solidFill>
                            <a:schemeClr val="dk1"/>
                          </a:solidFill>
                        </a:rPr>
                        <a:t>The mean height of a squad of 24 rugby players is 185cm A new player joins the squad who has a height of 170cm Work out the new mean height of the squad.</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j) The mean height of seven pupils is 123cm. One pupil of height 147cm leaves the group. Find the mean height of the remaining six pupils.</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17" name="Google Shape;317;p22"/>
          <p:cNvSpPr txBox="1"/>
          <p:nvPr/>
        </p:nvSpPr>
        <p:spPr>
          <a:xfrm>
            <a:off x="51318" y="2606495"/>
            <a:ext cx="666392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14. In the first row of the table, the mean for a set of data has been calculated. For each question, first predict whether you think the mean will </a:t>
            </a:r>
            <a:r>
              <a:rPr b="1" i="0" lang="en-GB" sz="1200" u="none" cap="none" strike="noStrike">
                <a:solidFill>
                  <a:srgbClr val="000000"/>
                </a:solidFill>
                <a:latin typeface="Calibri"/>
                <a:ea typeface="Calibri"/>
                <a:cs typeface="Calibri"/>
                <a:sym typeface="Calibri"/>
              </a:rPr>
              <a:t>increase, decrease or stay the same</a:t>
            </a:r>
            <a:r>
              <a:rPr b="0" i="0" lang="en-GB" sz="1200" u="none" cap="none" strike="noStrike">
                <a:solidFill>
                  <a:srgbClr val="000000"/>
                </a:solidFill>
                <a:latin typeface="Calibri"/>
                <a:ea typeface="Calibri"/>
                <a:cs typeface="Calibri"/>
                <a:sym typeface="Calibri"/>
              </a:rPr>
              <a:t>. Then calculate the mean and compare this with your prediction.</a:t>
            </a:r>
            <a:endParaRPr/>
          </a:p>
        </p:txBody>
      </p:sp>
      <p:graphicFrame>
        <p:nvGraphicFramePr>
          <p:cNvPr id="318" name="Google Shape;318;p22"/>
          <p:cNvGraphicFramePr/>
          <p:nvPr/>
        </p:nvGraphicFramePr>
        <p:xfrm>
          <a:off x="142760" y="3322121"/>
          <a:ext cx="3000000" cy="3000000"/>
        </p:xfrm>
        <a:graphic>
          <a:graphicData uri="http://schemas.openxmlformats.org/drawingml/2006/table">
            <a:tbl>
              <a:tblPr bandRow="1" firstRow="1">
                <a:noFill/>
                <a:tableStyleId>{1791AEFD-050F-4350-BB94-A2241F861526}</a:tableStyleId>
              </a:tblPr>
              <a:tblGrid>
                <a:gridCol w="1876550"/>
                <a:gridCol w="1676400"/>
                <a:gridCol w="1376425"/>
                <a:gridCol w="1643125"/>
              </a:tblGrid>
              <a:tr h="352500">
                <a:tc>
                  <a:txBody>
                    <a:bodyPr/>
                    <a:lstStyle/>
                    <a:p>
                      <a:pPr indent="0" lvl="0" marL="0" marR="0" rtl="0" algn="ctr">
                        <a:spcBef>
                          <a:spcPts val="0"/>
                        </a:spcBef>
                        <a:spcAft>
                          <a:spcPts val="0"/>
                        </a:spcAft>
                        <a:buNone/>
                      </a:pPr>
                      <a:r>
                        <a:rPr b="1" lang="en-GB" sz="1200">
                          <a:solidFill>
                            <a:schemeClr val="dk1"/>
                          </a:solidFill>
                        </a:rPr>
                        <a:t>Data</a:t>
                      </a:r>
                      <a:endParaRPr b="1"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200">
                          <a:solidFill>
                            <a:schemeClr val="dk1"/>
                          </a:solidFill>
                        </a:rPr>
                        <a:t>Prediction</a:t>
                      </a:r>
                      <a:endParaRPr b="1"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200">
                          <a:solidFill>
                            <a:schemeClr val="dk1"/>
                          </a:solidFill>
                        </a:rPr>
                        <a:t>Mean</a:t>
                      </a:r>
                      <a:endParaRPr b="1"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200">
                          <a:solidFill>
                            <a:schemeClr val="dk1"/>
                          </a:solidFill>
                        </a:rPr>
                        <a:t>Was your prediction correct?</a:t>
                      </a:r>
                      <a:endParaRPr b="1"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ctr">
                        <a:spcBef>
                          <a:spcPts val="0"/>
                        </a:spcBef>
                        <a:spcAft>
                          <a:spcPts val="0"/>
                        </a:spcAft>
                        <a:buNone/>
                      </a:pPr>
                      <a:r>
                        <a:rPr lang="en-GB" sz="1350"/>
                        <a:t>2, 2, 4, 5, 7</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spcBef>
                          <a:spcPts val="0"/>
                        </a:spcBef>
                        <a:spcAft>
                          <a:spcPts val="0"/>
                        </a:spcAft>
                        <a:buNone/>
                      </a:pPr>
                      <a:r>
                        <a:rPr lang="en-GB" sz="1350"/>
                        <a:t>4</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720000">
                <a:tc>
                  <a:txBody>
                    <a:bodyPr/>
                    <a:lstStyle/>
                    <a:p>
                      <a:pPr indent="0" lvl="0" marL="0" marR="0" rtl="0" algn="l">
                        <a:spcBef>
                          <a:spcPts val="0"/>
                        </a:spcBef>
                        <a:spcAft>
                          <a:spcPts val="0"/>
                        </a:spcAft>
                        <a:buNone/>
                      </a:pPr>
                      <a:r>
                        <a:rPr lang="en-GB" sz="1350"/>
                        <a:t>a) 2, 2, 4, 5, 12</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5</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b) 3, 3, 5, 6, 13</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6</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c) 6, 6, 10, 12, 26</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12</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d) 6, 6, 10, 18, 20</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12</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e) 6, 6, 13, 15, 20</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12</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f) 6, 6, 13, 15, 20, 24</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14</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0000">
                <a:tc>
                  <a:txBody>
                    <a:bodyPr/>
                    <a:lstStyle/>
                    <a:p>
                      <a:pPr indent="0" lvl="0" marL="0" marR="0" rtl="0" algn="l">
                        <a:spcBef>
                          <a:spcPts val="0"/>
                        </a:spcBef>
                        <a:spcAft>
                          <a:spcPts val="0"/>
                        </a:spcAft>
                        <a:buNone/>
                      </a:pPr>
                      <a:r>
                        <a:rPr lang="en-GB" sz="1350"/>
                        <a:t>g) 0, 6, 6, 13, 15, 20, 24</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50">
                          <a:solidFill>
                            <a:srgbClr val="FF0000"/>
                          </a:solidFill>
                        </a:rPr>
                        <a:t>12</a:t>
                      </a:r>
                      <a:endParaRPr b="1" sz="135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19" name="Google Shape;319;p22"/>
          <p:cNvSpPr txBox="1"/>
          <p:nvPr/>
        </p:nvSpPr>
        <p:spPr>
          <a:xfrm>
            <a:off x="4861109" y="1473373"/>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119</a:t>
            </a:r>
            <a:endParaRPr b="1" baseline="30000" sz="1800">
              <a:solidFill>
                <a:srgbClr val="FF0000"/>
              </a:solidFill>
              <a:latin typeface="Calibri"/>
              <a:ea typeface="Calibri"/>
              <a:cs typeface="Calibri"/>
              <a:sym typeface="Calibri"/>
            </a:endParaRPr>
          </a:p>
        </p:txBody>
      </p:sp>
      <p:sp>
        <p:nvSpPr>
          <p:cNvPr id="320" name="Google Shape;320;p22"/>
          <p:cNvSpPr txBox="1"/>
          <p:nvPr/>
        </p:nvSpPr>
        <p:spPr>
          <a:xfrm>
            <a:off x="1341222" y="1514607"/>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184.4</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3"/>
          <p:cNvSpPr txBox="1"/>
          <p:nvPr>
            <p:ph idx="12" type="sldNum"/>
          </p:nvPr>
        </p:nvSpPr>
        <p:spPr>
          <a:xfrm>
            <a:off x="5172189"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26" name="Google Shape;326;p23"/>
          <p:cNvGraphicFramePr/>
          <p:nvPr/>
        </p:nvGraphicFramePr>
        <p:xfrm>
          <a:off x="142760" y="307479"/>
          <a:ext cx="3000000" cy="3000000"/>
        </p:xfrm>
        <a:graphic>
          <a:graphicData uri="http://schemas.openxmlformats.org/drawingml/2006/table">
            <a:tbl>
              <a:tblPr bandRow="1" firstRow="1">
                <a:noFill/>
                <a:tableStyleId>{1791AEFD-050F-4350-BB94-A2241F861526}</a:tableStyleId>
              </a:tblPr>
              <a:tblGrid>
                <a:gridCol w="1484600"/>
                <a:gridCol w="1695975"/>
                <a:gridCol w="1695975"/>
                <a:gridCol w="1695975"/>
              </a:tblGrid>
              <a:tr h="1045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7 numbers is 3.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a different 3 numbers is 5.</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mean for all of the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5 numbers is 3.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a different 3 numbers is 5.</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mean for all of the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6 numbers is 4.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mean of a different 4 numbers is 8.</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What is the mean for all of the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69175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Multiply the first mean by the total values in its set. Multiply the second mean by the numbers in that set.</a:t>
                      </a:r>
                      <a:endParaRPr/>
                    </a:p>
                    <a:p>
                      <a:pPr indent="0" lvl="0" marL="0" marR="0" rtl="0" algn="l">
                        <a:spcBef>
                          <a:spcPts val="0"/>
                        </a:spcBef>
                        <a:spcAft>
                          <a:spcPts val="0"/>
                        </a:spcAft>
                        <a:buClr>
                          <a:schemeClr val="dk1"/>
                        </a:buClr>
                        <a:buSzPts val="1200"/>
                        <a:buFont typeface="Calibri"/>
                        <a:buNone/>
                      </a:pPr>
                      <a:r>
                        <a:rPr lang="en-GB" sz="1200">
                          <a:solidFill>
                            <a:schemeClr val="dk1"/>
                          </a:solidFill>
                        </a:rPr>
                        <a:t>Add your answers.</a:t>
                      </a:r>
                      <a:endParaRPr/>
                    </a:p>
                    <a:p>
                      <a:pPr indent="0" lvl="0" marL="0" marR="0" rtl="0" algn="l">
                        <a:spcBef>
                          <a:spcPts val="0"/>
                        </a:spcBef>
                        <a:spcAft>
                          <a:spcPts val="0"/>
                        </a:spcAft>
                        <a:buClr>
                          <a:schemeClr val="dk1"/>
                        </a:buClr>
                        <a:buSzPts val="1200"/>
                        <a:buFont typeface="Calibri"/>
                        <a:buNone/>
                      </a:pPr>
                      <a:r>
                        <a:rPr lang="en-GB" sz="1200">
                          <a:solidFill>
                            <a:schemeClr val="dk1"/>
                          </a:solidFill>
                        </a:rPr>
                        <a:t>Divide by the total number of values.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27" name="Google Shape;327;p23"/>
          <p:cNvSpPr txBox="1"/>
          <p:nvPr/>
        </p:nvSpPr>
        <p:spPr>
          <a:xfrm>
            <a:off x="1768626" y="46754"/>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19 – I do…</a:t>
            </a:r>
            <a:endParaRPr/>
          </a:p>
        </p:txBody>
      </p:sp>
      <p:sp>
        <p:nvSpPr>
          <p:cNvPr id="328" name="Google Shape;328;p23"/>
          <p:cNvSpPr txBox="1"/>
          <p:nvPr/>
        </p:nvSpPr>
        <p:spPr>
          <a:xfrm>
            <a:off x="5036760" y="6585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21 – You do…</a:t>
            </a:r>
            <a:endParaRPr/>
          </a:p>
        </p:txBody>
      </p:sp>
      <p:sp>
        <p:nvSpPr>
          <p:cNvPr id="329" name="Google Shape;329;p23"/>
          <p:cNvSpPr txBox="1"/>
          <p:nvPr/>
        </p:nvSpPr>
        <p:spPr>
          <a:xfrm>
            <a:off x="3353821" y="60960"/>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20 – We do…</a:t>
            </a:r>
            <a:endParaRPr/>
          </a:p>
        </p:txBody>
      </p:sp>
      <p:sp>
        <p:nvSpPr>
          <p:cNvPr id="330" name="Google Shape;330;p23"/>
          <p:cNvSpPr/>
          <p:nvPr/>
        </p:nvSpPr>
        <p:spPr>
          <a:xfrm>
            <a:off x="142759" y="3812771"/>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331" name="Google Shape;331;p23"/>
          <p:cNvSpPr txBox="1"/>
          <p:nvPr/>
        </p:nvSpPr>
        <p:spPr>
          <a:xfrm>
            <a:off x="1280713" y="3959219"/>
            <a:ext cx="34290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Question 1</a:t>
            </a:r>
            <a:r>
              <a:rPr lang="en-GB" sz="1200">
                <a:solidFill>
                  <a:srgbClr val="000000"/>
                </a:solidFill>
                <a:latin typeface="Calibri"/>
                <a:ea typeface="Calibri"/>
                <a:cs typeface="Calibri"/>
                <a:sym typeface="Calibri"/>
              </a:rPr>
              <a:t>5.</a:t>
            </a:r>
            <a:endParaRPr b="0" i="0" sz="1200" u="none" cap="none" strike="noStrike">
              <a:solidFill>
                <a:srgbClr val="000000"/>
              </a:solidFill>
              <a:latin typeface="Calibri"/>
              <a:ea typeface="Calibri"/>
              <a:cs typeface="Calibri"/>
              <a:sym typeface="Calibri"/>
            </a:endParaRPr>
          </a:p>
        </p:txBody>
      </p:sp>
      <p:graphicFrame>
        <p:nvGraphicFramePr>
          <p:cNvPr id="332" name="Google Shape;332;p23"/>
          <p:cNvGraphicFramePr/>
          <p:nvPr/>
        </p:nvGraphicFramePr>
        <p:xfrm>
          <a:off x="142759" y="4246072"/>
          <a:ext cx="3000000" cy="3000000"/>
        </p:xfrm>
        <a:graphic>
          <a:graphicData uri="http://schemas.openxmlformats.org/drawingml/2006/table">
            <a:tbl>
              <a:tblPr bandRow="1" firstRow="1">
                <a:noFill/>
                <a:tableStyleId>{1791AEFD-050F-4350-BB94-A2241F861526}</a:tableStyleId>
              </a:tblPr>
              <a:tblGrid>
                <a:gridCol w="3286250"/>
                <a:gridCol w="3286250"/>
              </a:tblGrid>
              <a:tr h="231395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a) The mean age of 9 boys is 10.</a:t>
                      </a:r>
                      <a:endParaRPr/>
                    </a:p>
                    <a:p>
                      <a:pPr indent="0" lvl="0" marL="0" marR="0" rtl="0" algn="l">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The mean age of 9 girls is 15.</a:t>
                      </a:r>
                      <a:endParaRPr/>
                    </a:p>
                    <a:p>
                      <a:pPr indent="0" lvl="0" marL="0" marR="0" rtl="0" algn="l">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What is the mean age of all the boys and girls?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b) </a:t>
                      </a:r>
                      <a:r>
                        <a:rPr b="0" lang="en-GB" sz="1200">
                          <a:solidFill>
                            <a:schemeClr val="dk1"/>
                          </a:solidFill>
                        </a:rPr>
                        <a:t>A group of students take a test. The group consists of 12 boys and 8 girls. The mean mark for the boys is 18. The mean mark for the girls is 16.5 Calculate the mean` mark for the whole group.</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33" name="Google Shape;333;p23"/>
          <p:cNvGraphicFramePr/>
          <p:nvPr/>
        </p:nvGraphicFramePr>
        <p:xfrm>
          <a:off x="142757" y="6560034"/>
          <a:ext cx="3000000" cy="3000000"/>
        </p:xfrm>
        <a:graphic>
          <a:graphicData uri="http://schemas.openxmlformats.org/drawingml/2006/table">
            <a:tbl>
              <a:tblPr bandRow="1" firstRow="1">
                <a:noFill/>
                <a:tableStyleId>{1791AEFD-050F-4350-BB94-A2241F861526}</a:tableStyleId>
              </a:tblPr>
              <a:tblGrid>
                <a:gridCol w="3286250"/>
                <a:gridCol w="3286250"/>
              </a:tblGrid>
              <a:tr h="2916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c) </a:t>
                      </a:r>
                      <a:r>
                        <a:rPr b="0" lang="en-GB" sz="1200">
                          <a:solidFill>
                            <a:schemeClr val="dk1"/>
                          </a:solidFill>
                        </a:rPr>
                        <a:t>Don delivers pint bottles of milk to two streets. For the first street of 10 houses, the mean number of bottles of milk he delivers is 3.1. For the second street of six houses, the mean number of bottles he delivers is 2.5. Find the mean number of bottles of milk he delivers per household for the two streets altogether.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d) </a:t>
                      </a:r>
                      <a:r>
                        <a:rPr b="0" lang="en-GB" sz="1200">
                          <a:solidFill>
                            <a:schemeClr val="dk1"/>
                          </a:solidFill>
                        </a:rPr>
                        <a:t>There are 12 students in Phil’s Maths group. The mean mark in a test is 76%. In Paul’s group there are only eight students. Their mean mark is 84%. Find the overall mean for the 20 children.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34" name="Google Shape;334;p23"/>
          <p:cNvSpPr txBox="1"/>
          <p:nvPr/>
        </p:nvSpPr>
        <p:spPr>
          <a:xfrm>
            <a:off x="2323135" y="1697777"/>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a:t>
            </a:r>
            <a:endParaRPr b="1" baseline="30000" sz="1800">
              <a:solidFill>
                <a:srgbClr val="FF0000"/>
              </a:solidFill>
              <a:latin typeface="Calibri"/>
              <a:ea typeface="Calibri"/>
              <a:cs typeface="Calibri"/>
              <a:sym typeface="Calibri"/>
            </a:endParaRPr>
          </a:p>
        </p:txBody>
      </p:sp>
      <p:sp>
        <p:nvSpPr>
          <p:cNvPr id="335" name="Google Shape;335;p23"/>
          <p:cNvSpPr txBox="1"/>
          <p:nvPr/>
        </p:nvSpPr>
        <p:spPr>
          <a:xfrm>
            <a:off x="4024680" y="1697777"/>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3.75</a:t>
            </a:r>
            <a:endParaRPr b="1" baseline="30000" sz="1800">
              <a:solidFill>
                <a:srgbClr val="FF0000"/>
              </a:solidFill>
              <a:latin typeface="Calibri"/>
              <a:ea typeface="Calibri"/>
              <a:cs typeface="Calibri"/>
              <a:sym typeface="Calibri"/>
            </a:endParaRPr>
          </a:p>
        </p:txBody>
      </p:sp>
      <p:sp>
        <p:nvSpPr>
          <p:cNvPr id="336" name="Google Shape;336;p23"/>
          <p:cNvSpPr txBox="1"/>
          <p:nvPr/>
        </p:nvSpPr>
        <p:spPr>
          <a:xfrm>
            <a:off x="5836215" y="1697777"/>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5.6</a:t>
            </a:r>
            <a:endParaRPr b="1" baseline="30000" sz="1800">
              <a:solidFill>
                <a:srgbClr val="FF0000"/>
              </a:solidFill>
              <a:latin typeface="Calibri"/>
              <a:ea typeface="Calibri"/>
              <a:cs typeface="Calibri"/>
              <a:sym typeface="Calibri"/>
            </a:endParaRPr>
          </a:p>
        </p:txBody>
      </p:sp>
      <p:sp>
        <p:nvSpPr>
          <p:cNvPr id="337" name="Google Shape;337;p23"/>
          <p:cNvSpPr txBox="1"/>
          <p:nvPr/>
        </p:nvSpPr>
        <p:spPr>
          <a:xfrm>
            <a:off x="1470307" y="5543949"/>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12.5</a:t>
            </a:r>
            <a:endParaRPr b="1" baseline="30000" sz="1800">
              <a:solidFill>
                <a:srgbClr val="FF0000"/>
              </a:solidFill>
              <a:latin typeface="Calibri"/>
              <a:ea typeface="Calibri"/>
              <a:cs typeface="Calibri"/>
              <a:sym typeface="Calibri"/>
            </a:endParaRPr>
          </a:p>
        </p:txBody>
      </p:sp>
      <p:sp>
        <p:nvSpPr>
          <p:cNvPr id="338" name="Google Shape;338;p23"/>
          <p:cNvSpPr txBox="1"/>
          <p:nvPr/>
        </p:nvSpPr>
        <p:spPr>
          <a:xfrm>
            <a:off x="4775109" y="5496169"/>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17.4</a:t>
            </a:r>
            <a:endParaRPr b="1" baseline="30000" sz="1800">
              <a:solidFill>
                <a:srgbClr val="FF0000"/>
              </a:solidFill>
              <a:latin typeface="Calibri"/>
              <a:ea typeface="Calibri"/>
              <a:cs typeface="Calibri"/>
              <a:sym typeface="Calibri"/>
            </a:endParaRPr>
          </a:p>
        </p:txBody>
      </p:sp>
      <p:sp>
        <p:nvSpPr>
          <p:cNvPr id="339" name="Google Shape;339;p23"/>
          <p:cNvSpPr txBox="1"/>
          <p:nvPr/>
        </p:nvSpPr>
        <p:spPr>
          <a:xfrm>
            <a:off x="1487332" y="8149704"/>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2.875</a:t>
            </a:r>
            <a:endParaRPr b="1" baseline="30000" sz="1800">
              <a:solidFill>
                <a:srgbClr val="FF0000"/>
              </a:solidFill>
              <a:latin typeface="Calibri"/>
              <a:ea typeface="Calibri"/>
              <a:cs typeface="Calibri"/>
              <a:sym typeface="Calibri"/>
            </a:endParaRPr>
          </a:p>
        </p:txBody>
      </p:sp>
      <p:sp>
        <p:nvSpPr>
          <p:cNvPr id="340" name="Google Shape;340;p23"/>
          <p:cNvSpPr txBox="1"/>
          <p:nvPr/>
        </p:nvSpPr>
        <p:spPr>
          <a:xfrm>
            <a:off x="4792134" y="8101924"/>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79.2</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4"/>
          <p:cNvSpPr txBox="1"/>
          <p:nvPr>
            <p:ph idx="12" type="sldNum"/>
          </p:nvPr>
        </p:nvSpPr>
        <p:spPr>
          <a:xfrm>
            <a:off x="5172191" y="9282672"/>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46" name="Google Shape;346;p24"/>
          <p:cNvGraphicFramePr/>
          <p:nvPr/>
        </p:nvGraphicFramePr>
        <p:xfrm>
          <a:off x="142759" y="273400"/>
          <a:ext cx="3000000" cy="3000000"/>
        </p:xfrm>
        <a:graphic>
          <a:graphicData uri="http://schemas.openxmlformats.org/drawingml/2006/table">
            <a:tbl>
              <a:tblPr bandRow="1" firstRow="1">
                <a:noFill/>
                <a:tableStyleId>{1791AEFD-050F-4350-BB94-A2241F861526}</a:tableStyleId>
              </a:tblPr>
              <a:tblGrid>
                <a:gridCol w="3286250"/>
                <a:gridCol w="3286250"/>
              </a:tblGrid>
              <a:tr h="2268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d) The mean of eight numbers is 46. The mean of three of the numbers is 32. What is the mean of the other five numbers?</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lang="en-GB" sz="1200">
                          <a:solidFill>
                            <a:schemeClr val="dk1"/>
                          </a:solidFill>
                          <a:latin typeface="Calibri"/>
                          <a:ea typeface="Calibri"/>
                          <a:cs typeface="Calibri"/>
                          <a:sym typeface="Calibri"/>
                        </a:rPr>
                        <a:t>e) The mean of twenty numbers is 8. If four of those numbers have a mean of 10, what is the mean of the other sixteen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68000">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f)</a:t>
                      </a:r>
                      <a:r>
                        <a:rPr lang="en-GB" sz="1200"/>
                        <a:t> The mean of four numbers is 2.6. One of the four numbers is 5. Find the mean of the other three numbers.</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g) The mean of 10 numbers is 48. If one of the numbers is 50, what is the mean of the other nine?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68000">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h)</a:t>
                      </a:r>
                      <a:r>
                        <a:rPr lang="en-GB" sz="1200"/>
                        <a:t> The mean of eight numbers is 41. The mean of two of the numbers is 29. Work out the mean of the other six numbers.</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i) There are 10 boys and 10 girls in a class. The mean mark for the class test for the girls is 54. The mean mark for the class is 60. Work out the mean mark for the boys.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47" name="Google Shape;347;p24"/>
          <p:cNvGraphicFramePr/>
          <p:nvPr/>
        </p:nvGraphicFramePr>
        <p:xfrm>
          <a:off x="142759" y="7077400"/>
          <a:ext cx="3000000" cy="3000000"/>
        </p:xfrm>
        <a:graphic>
          <a:graphicData uri="http://schemas.openxmlformats.org/drawingml/2006/table">
            <a:tbl>
              <a:tblPr bandRow="1" firstRow="1">
                <a:noFill/>
                <a:tableStyleId>{1791AEFD-050F-4350-BB94-A2241F861526}</a:tableStyleId>
              </a:tblPr>
              <a:tblGrid>
                <a:gridCol w="3286250"/>
                <a:gridCol w="3286250"/>
              </a:tblGrid>
              <a:tr h="2268000">
                <a:tc>
                  <a:txBody>
                    <a:bodyPr/>
                    <a:lstStyle/>
                    <a:p>
                      <a:pPr indent="0" lvl="0" marL="0" marR="0" rtl="0" algn="l">
                        <a:spcBef>
                          <a:spcPts val="0"/>
                        </a:spcBef>
                        <a:spcAft>
                          <a:spcPts val="0"/>
                        </a:spcAft>
                        <a:buNone/>
                      </a:pPr>
                      <a:r>
                        <a:rPr b="0" i="0" lang="en-GB" sz="1200" u="none" cap="none" strike="noStrike">
                          <a:solidFill>
                            <a:srgbClr val="000000"/>
                          </a:solidFill>
                          <a:latin typeface="Calibri"/>
                          <a:ea typeface="Calibri"/>
                          <a:cs typeface="Calibri"/>
                          <a:sym typeface="Calibri"/>
                        </a:rPr>
                        <a:t>j) </a:t>
                      </a:r>
                      <a:r>
                        <a:rPr b="0" lang="en-GB" sz="1200">
                          <a:solidFill>
                            <a:schemeClr val="dk1"/>
                          </a:solidFill>
                          <a:latin typeface="Calibri"/>
                          <a:ea typeface="Calibri"/>
                          <a:cs typeface="Calibri"/>
                          <a:sym typeface="Calibri"/>
                        </a:rPr>
                        <a:t>4 adults and 6 children have a mean age of 21.8.</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The adults have a mean age of 35.</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mean age of the children?</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lang="en-GB" sz="1200">
                          <a:solidFill>
                            <a:schemeClr val="dk1"/>
                          </a:solidFill>
                          <a:latin typeface="Calibri"/>
                          <a:ea typeface="Calibri"/>
                          <a:cs typeface="Calibri"/>
                          <a:sym typeface="Calibri"/>
                        </a:rPr>
                        <a:t>k) 8 girls have a mean score of 45%. There are 20 students in total. The total class mean score was 40%. What was the mean score of the boys?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48" name="Google Shape;348;p24"/>
          <p:cNvSpPr txBox="1"/>
          <p:nvPr/>
        </p:nvSpPr>
        <p:spPr>
          <a:xfrm>
            <a:off x="1525762" y="1354139"/>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54.4</a:t>
            </a:r>
            <a:endParaRPr b="1" baseline="30000" sz="1800">
              <a:solidFill>
                <a:srgbClr val="FF0000"/>
              </a:solidFill>
              <a:latin typeface="Calibri"/>
              <a:ea typeface="Calibri"/>
              <a:cs typeface="Calibri"/>
              <a:sym typeface="Calibri"/>
            </a:endParaRPr>
          </a:p>
        </p:txBody>
      </p:sp>
      <p:sp>
        <p:nvSpPr>
          <p:cNvPr id="349" name="Google Shape;349;p24"/>
          <p:cNvSpPr txBox="1"/>
          <p:nvPr/>
        </p:nvSpPr>
        <p:spPr>
          <a:xfrm>
            <a:off x="4830564" y="1306359"/>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7.5</a:t>
            </a:r>
            <a:endParaRPr b="1" baseline="30000" sz="1800">
              <a:solidFill>
                <a:srgbClr val="FF0000"/>
              </a:solidFill>
              <a:latin typeface="Calibri"/>
              <a:ea typeface="Calibri"/>
              <a:cs typeface="Calibri"/>
              <a:sym typeface="Calibri"/>
            </a:endParaRPr>
          </a:p>
        </p:txBody>
      </p:sp>
      <p:sp>
        <p:nvSpPr>
          <p:cNvPr id="350" name="Google Shape;350;p24"/>
          <p:cNvSpPr txBox="1"/>
          <p:nvPr/>
        </p:nvSpPr>
        <p:spPr>
          <a:xfrm>
            <a:off x="1525762" y="3640598"/>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a:t>
            </a:r>
            <a:endParaRPr b="1" baseline="30000" sz="1800">
              <a:solidFill>
                <a:srgbClr val="FF0000"/>
              </a:solidFill>
              <a:latin typeface="Calibri"/>
              <a:ea typeface="Calibri"/>
              <a:cs typeface="Calibri"/>
              <a:sym typeface="Calibri"/>
            </a:endParaRPr>
          </a:p>
        </p:txBody>
      </p:sp>
      <p:sp>
        <p:nvSpPr>
          <p:cNvPr id="351" name="Google Shape;351;p24"/>
          <p:cNvSpPr txBox="1"/>
          <p:nvPr/>
        </p:nvSpPr>
        <p:spPr>
          <a:xfrm>
            <a:off x="4638540" y="3592818"/>
            <a:ext cx="10134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47.777…</a:t>
            </a:r>
            <a:endParaRPr b="1" baseline="30000" sz="1800">
              <a:solidFill>
                <a:srgbClr val="FF0000"/>
              </a:solidFill>
              <a:latin typeface="Calibri"/>
              <a:ea typeface="Calibri"/>
              <a:cs typeface="Calibri"/>
              <a:sym typeface="Calibri"/>
            </a:endParaRPr>
          </a:p>
        </p:txBody>
      </p:sp>
      <p:sp>
        <p:nvSpPr>
          <p:cNvPr id="352" name="Google Shape;352;p24"/>
          <p:cNvSpPr txBox="1"/>
          <p:nvPr/>
        </p:nvSpPr>
        <p:spPr>
          <a:xfrm>
            <a:off x="1586676" y="597081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45</a:t>
            </a:r>
            <a:endParaRPr b="1" baseline="30000" sz="1800">
              <a:solidFill>
                <a:srgbClr val="FF0000"/>
              </a:solidFill>
              <a:latin typeface="Calibri"/>
              <a:ea typeface="Calibri"/>
              <a:cs typeface="Calibri"/>
              <a:sym typeface="Calibri"/>
            </a:endParaRPr>
          </a:p>
        </p:txBody>
      </p:sp>
      <p:sp>
        <p:nvSpPr>
          <p:cNvPr id="353" name="Google Shape;353;p24"/>
          <p:cNvSpPr txBox="1"/>
          <p:nvPr/>
        </p:nvSpPr>
        <p:spPr>
          <a:xfrm>
            <a:off x="4891478" y="592303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66</a:t>
            </a:r>
            <a:endParaRPr b="1" baseline="30000" sz="1800">
              <a:solidFill>
                <a:srgbClr val="FF0000"/>
              </a:solidFill>
              <a:latin typeface="Calibri"/>
              <a:ea typeface="Calibri"/>
              <a:cs typeface="Calibri"/>
              <a:sym typeface="Calibri"/>
            </a:endParaRPr>
          </a:p>
        </p:txBody>
      </p:sp>
      <p:sp>
        <p:nvSpPr>
          <p:cNvPr id="354" name="Google Shape;354;p24"/>
          <p:cNvSpPr txBox="1"/>
          <p:nvPr/>
        </p:nvSpPr>
        <p:spPr>
          <a:xfrm>
            <a:off x="1586676" y="8271019"/>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b="1" baseline="30000" sz="1800">
              <a:solidFill>
                <a:srgbClr val="FF0000"/>
              </a:solidFill>
              <a:latin typeface="Calibri"/>
              <a:ea typeface="Calibri"/>
              <a:cs typeface="Calibri"/>
              <a:sym typeface="Calibri"/>
            </a:endParaRPr>
          </a:p>
        </p:txBody>
      </p:sp>
      <p:sp>
        <p:nvSpPr>
          <p:cNvPr id="355" name="Google Shape;355;p24"/>
          <p:cNvSpPr txBox="1"/>
          <p:nvPr/>
        </p:nvSpPr>
        <p:spPr>
          <a:xfrm>
            <a:off x="4601395" y="8275307"/>
            <a:ext cx="10134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36.666…</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5"/>
          <p:cNvSpPr txBox="1"/>
          <p:nvPr>
            <p:ph idx="12" type="sldNum"/>
          </p:nvPr>
        </p:nvSpPr>
        <p:spPr>
          <a:xfrm>
            <a:off x="5172191" y="94547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61" name="Google Shape;361;p25"/>
          <p:cNvGraphicFramePr/>
          <p:nvPr/>
        </p:nvGraphicFramePr>
        <p:xfrm>
          <a:off x="142759" y="182080"/>
          <a:ext cx="3000000" cy="3000000"/>
        </p:xfrm>
        <a:graphic>
          <a:graphicData uri="http://schemas.openxmlformats.org/drawingml/2006/table">
            <a:tbl>
              <a:tblPr bandRow="1" firstRow="1">
                <a:noFill/>
                <a:tableStyleId>{1791AEFD-050F-4350-BB94-A2241F861526}</a:tableStyleId>
              </a:tblPr>
              <a:tblGrid>
                <a:gridCol w="3286250"/>
                <a:gridCol w="3286250"/>
              </a:tblGrid>
              <a:tr h="2880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l) </a:t>
                      </a:r>
                      <a:r>
                        <a:rPr b="0" lang="en-GB" sz="1200">
                          <a:solidFill>
                            <a:schemeClr val="dk1"/>
                          </a:solidFill>
                        </a:rPr>
                        <a:t>A class of 30 boys and girls sit a test. The mean mark for the 14 boys is 76% The mean mark for the whole class is 78% Work out the mean mark of the girls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m)</a:t>
                      </a:r>
                      <a:r>
                        <a:rPr lang="en-GB" sz="1200">
                          <a:solidFill>
                            <a:schemeClr val="dk1"/>
                          </a:solidFill>
                          <a:latin typeface="Calibri"/>
                          <a:ea typeface="Calibri"/>
                          <a:cs typeface="Calibri"/>
                          <a:sym typeface="Calibri"/>
                        </a:rPr>
                        <a:t> </a:t>
                      </a:r>
                      <a:r>
                        <a:rPr b="0" i="0" lang="en-GB" sz="1200" u="none" cap="none" strike="noStrike">
                          <a:solidFill>
                            <a:srgbClr val="000000"/>
                          </a:solidFill>
                          <a:latin typeface="Calibri"/>
                          <a:ea typeface="Calibri"/>
                          <a:cs typeface="Calibri"/>
                          <a:sym typeface="Calibri"/>
                        </a:rPr>
                        <a:t>20 men, 10 women and 10 children are in a competition. The mean score for the women is 15.6. The mean score for the children is 9.2. Kevin says that the mean score for all 40 people is 11.2. Work out the mean score for the men.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0000">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n) Two parents have 3 daughters and 2 sons.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mean age of the family is 18.</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mean age of the daughters is 13.</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mean age of the sons is 10.</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mother is 3 years younger than the father.</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How old is the father?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o) Team A consists of 13 players with a mean age of 26.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Team B has 11 players with a mean of 28.</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A player leaves Team A to join Team B.</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The new mean of Team A is 26.5.</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What is the new mean of Team B?</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62" name="Google Shape;362;p25"/>
          <p:cNvGraphicFramePr/>
          <p:nvPr/>
        </p:nvGraphicFramePr>
        <p:xfrm>
          <a:off x="142759" y="6030194"/>
          <a:ext cx="3000000" cy="3000000"/>
        </p:xfrm>
        <a:graphic>
          <a:graphicData uri="http://schemas.openxmlformats.org/drawingml/2006/table">
            <a:tbl>
              <a:tblPr bandRow="1" firstRow="1">
                <a:noFill/>
                <a:tableStyleId>{1791AEFD-050F-4350-BB94-A2241F861526}</a:tableStyleId>
              </a:tblPr>
              <a:tblGrid>
                <a:gridCol w="3286250"/>
                <a:gridCol w="3286250"/>
              </a:tblGrid>
              <a:tr h="415875">
                <a:tc gridSpan="2">
                  <a:txBody>
                    <a:bodyPr/>
                    <a:lstStyle/>
                    <a:p>
                      <a:pPr indent="0" lvl="0" marL="0" marR="0" rtl="0" algn="ctr">
                        <a:spcBef>
                          <a:spcPts val="0"/>
                        </a:spcBef>
                        <a:spcAft>
                          <a:spcPts val="0"/>
                        </a:spcAft>
                        <a:buNone/>
                      </a:pPr>
                      <a:r>
                        <a:rPr b="1" lang="en-GB" sz="1600">
                          <a:solidFill>
                            <a:schemeClr val="lt1"/>
                          </a:solidFill>
                          <a:latin typeface="Calibri"/>
                          <a:ea typeface="Calibri"/>
                          <a:cs typeface="Calibri"/>
                          <a:sym typeface="Calibri"/>
                        </a:rPr>
                        <a:t>Skills Check</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7E2341"/>
                    </a:solidFill>
                  </a:tcPr>
                </a:tc>
                <a:tc hMerge="1"/>
              </a:tr>
              <a:tr h="1518200">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What is the mean of the set of scores?</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3, 4, 5, 6, 6, 8, 8, 8, 15</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arenR"/>
                      </a:pPr>
                      <a:r>
                        <a:rPr b="0" lang="en-GB" sz="1200">
                          <a:solidFill>
                            <a:schemeClr val="dk1"/>
                          </a:solidFill>
                          <a:latin typeface="Calibri"/>
                          <a:ea typeface="Calibri"/>
                          <a:cs typeface="Calibri"/>
                          <a:sym typeface="Calibri"/>
                        </a:rPr>
                        <a:t>6            B) 7              C) 8             D) 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52175">
                <a:tc>
                  <a:txBody>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The mean weight of six people is 60kg. One person leaves and the average weight of the remaining five people is 56kg.</a:t>
                      </a:r>
                      <a:endParaRPr/>
                    </a:p>
                    <a:p>
                      <a:pPr indent="0" lvl="0" marL="0" marR="0" rtl="0" algn="l">
                        <a:spcBef>
                          <a:spcPts val="0"/>
                        </a:spcBef>
                        <a:spcAft>
                          <a:spcPts val="0"/>
                        </a:spcAft>
                        <a:buNone/>
                      </a:pPr>
                      <a:r>
                        <a:rPr b="0" lang="en-GB" sz="1200">
                          <a:solidFill>
                            <a:schemeClr val="dk1"/>
                          </a:solidFill>
                          <a:latin typeface="Calibri"/>
                          <a:ea typeface="Calibri"/>
                          <a:cs typeface="Calibri"/>
                          <a:sym typeface="Calibri"/>
                        </a:rPr>
                        <a:t>What was the weight of the person who leaves?</a:t>
                      </a:r>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0"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arenR"/>
                      </a:pPr>
                      <a:r>
                        <a:rPr b="0" lang="en-GB" sz="1200">
                          <a:solidFill>
                            <a:schemeClr val="dk1"/>
                          </a:solidFill>
                          <a:latin typeface="Calibri"/>
                          <a:ea typeface="Calibri"/>
                          <a:cs typeface="Calibri"/>
                          <a:sym typeface="Calibri"/>
                        </a:rPr>
                        <a:t>80kg        B) 54kg         C) 304kg         D) 58kg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The mean of a set of 5 scores is 62.</a:t>
                      </a:r>
                      <a:endParaRPr/>
                    </a:p>
                    <a:p>
                      <a:pPr indent="0" lvl="0" marL="0" marR="0" rtl="0" algn="l">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What is the new mean after a score of 14 is added?</a:t>
                      </a:r>
                      <a:endParaRPr/>
                    </a:p>
                    <a:p>
                      <a:pPr indent="0" lvl="0" marL="0" marR="0" rtl="0" algn="l">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arenR"/>
                      </a:pPr>
                      <a:r>
                        <a:rPr b="0" lang="en-GB" sz="1200">
                          <a:solidFill>
                            <a:schemeClr val="dk1"/>
                          </a:solidFill>
                          <a:latin typeface="Calibri"/>
                          <a:ea typeface="Calibri"/>
                          <a:cs typeface="Calibri"/>
                          <a:sym typeface="Calibri"/>
                        </a:rPr>
                        <a:t>38             B) 54            C) 62           D) 76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63" name="Google Shape;363;p25"/>
          <p:cNvSpPr txBox="1"/>
          <p:nvPr/>
        </p:nvSpPr>
        <p:spPr>
          <a:xfrm>
            <a:off x="1738060" y="438305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35</a:t>
            </a:r>
            <a:endParaRPr b="1" baseline="30000" sz="1800">
              <a:solidFill>
                <a:srgbClr val="FF0000"/>
              </a:solidFill>
              <a:latin typeface="Calibri"/>
              <a:ea typeface="Calibri"/>
              <a:cs typeface="Calibri"/>
              <a:sym typeface="Calibri"/>
            </a:endParaRPr>
          </a:p>
        </p:txBody>
      </p:sp>
      <p:sp>
        <p:nvSpPr>
          <p:cNvPr id="364" name="Google Shape;364;p25"/>
          <p:cNvSpPr txBox="1"/>
          <p:nvPr/>
        </p:nvSpPr>
        <p:spPr>
          <a:xfrm>
            <a:off x="4708586" y="4315269"/>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27.5</a:t>
            </a:r>
            <a:endParaRPr b="1" baseline="30000" sz="1800">
              <a:solidFill>
                <a:srgbClr val="FF0000"/>
              </a:solidFill>
              <a:latin typeface="Calibri"/>
              <a:ea typeface="Calibri"/>
              <a:cs typeface="Calibri"/>
              <a:sym typeface="Calibri"/>
            </a:endParaRPr>
          </a:p>
        </p:txBody>
      </p:sp>
      <p:sp>
        <p:nvSpPr>
          <p:cNvPr id="365" name="Google Shape;365;p25"/>
          <p:cNvSpPr txBox="1"/>
          <p:nvPr/>
        </p:nvSpPr>
        <p:spPr>
          <a:xfrm>
            <a:off x="4886520" y="206198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a:t>
            </a:r>
            <a:endParaRPr b="1" baseline="30000" sz="1800">
              <a:solidFill>
                <a:srgbClr val="FF0000"/>
              </a:solidFill>
              <a:latin typeface="Calibri"/>
              <a:ea typeface="Calibri"/>
              <a:cs typeface="Calibri"/>
              <a:sym typeface="Calibri"/>
            </a:endParaRPr>
          </a:p>
        </p:txBody>
      </p:sp>
      <p:sp>
        <p:nvSpPr>
          <p:cNvPr id="366" name="Google Shape;366;p25"/>
          <p:cNvSpPr txBox="1"/>
          <p:nvPr/>
        </p:nvSpPr>
        <p:spPr>
          <a:xfrm>
            <a:off x="1481850" y="2007249"/>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79.75</a:t>
            </a:r>
            <a:endParaRPr b="1" baseline="30000" sz="1800">
              <a:solidFill>
                <a:srgbClr val="FF0000"/>
              </a:solidFill>
              <a:latin typeface="Calibri"/>
              <a:ea typeface="Calibri"/>
              <a:cs typeface="Calibri"/>
              <a:sym typeface="Calibri"/>
            </a:endParaRPr>
          </a:p>
        </p:txBody>
      </p:sp>
      <p:sp>
        <p:nvSpPr>
          <p:cNvPr id="367" name="Google Shape;367;p25"/>
          <p:cNvSpPr/>
          <p:nvPr/>
        </p:nvSpPr>
        <p:spPr>
          <a:xfrm>
            <a:off x="1200216" y="7328589"/>
            <a:ext cx="502308" cy="32004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25"/>
          <p:cNvSpPr/>
          <p:nvPr/>
        </p:nvSpPr>
        <p:spPr>
          <a:xfrm>
            <a:off x="5738282" y="7328589"/>
            <a:ext cx="502308" cy="32004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p25"/>
          <p:cNvSpPr/>
          <p:nvPr/>
        </p:nvSpPr>
        <p:spPr>
          <a:xfrm>
            <a:off x="328082" y="9020229"/>
            <a:ext cx="502308" cy="32004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25"/>
          <p:cNvSpPr/>
          <p:nvPr/>
        </p:nvSpPr>
        <p:spPr>
          <a:xfrm>
            <a:off x="4439805" y="9020229"/>
            <a:ext cx="502308" cy="32004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