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9906000" cx="6858000"/>
  <p:notesSz cx="6858000" cy="9945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7ECC27-C16B-49DC-B39A-55E039FCDDCE}">
  <a:tblStyle styleId="{DB7ECC27-C16B-49DC-B39A-55E039FCDD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0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2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2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2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image" Target="../media/image23.png"/><Relationship Id="rId21" Type="http://schemas.openxmlformats.org/officeDocument/2006/relationships/image" Target="../media/image21.png"/><Relationship Id="rId24" Type="http://schemas.openxmlformats.org/officeDocument/2006/relationships/image" Target="../media/image22.png"/><Relationship Id="rId23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26" Type="http://schemas.openxmlformats.org/officeDocument/2006/relationships/image" Target="../media/image17.png"/><Relationship Id="rId25" Type="http://schemas.openxmlformats.org/officeDocument/2006/relationships/image" Target="../media/image16.png"/><Relationship Id="rId28" Type="http://schemas.openxmlformats.org/officeDocument/2006/relationships/image" Target="../media/image39.png"/><Relationship Id="rId27" Type="http://schemas.openxmlformats.org/officeDocument/2006/relationships/image" Target="../media/image31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29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.png"/><Relationship Id="rId31" Type="http://schemas.openxmlformats.org/officeDocument/2006/relationships/image" Target="../media/image28.png"/><Relationship Id="rId30" Type="http://schemas.openxmlformats.org/officeDocument/2006/relationships/image" Target="../media/image29.png"/><Relationship Id="rId11" Type="http://schemas.openxmlformats.org/officeDocument/2006/relationships/image" Target="../media/image6.png"/><Relationship Id="rId33" Type="http://schemas.openxmlformats.org/officeDocument/2006/relationships/image" Target="../media/image32.gif"/><Relationship Id="rId10" Type="http://schemas.openxmlformats.org/officeDocument/2006/relationships/image" Target="../media/image5.png"/><Relationship Id="rId32" Type="http://schemas.openxmlformats.org/officeDocument/2006/relationships/image" Target="../media/image40.png"/><Relationship Id="rId13" Type="http://schemas.openxmlformats.org/officeDocument/2006/relationships/image" Target="../media/image4.png"/><Relationship Id="rId12" Type="http://schemas.openxmlformats.org/officeDocument/2006/relationships/image" Target="../media/image14.png"/><Relationship Id="rId34" Type="http://schemas.openxmlformats.org/officeDocument/2006/relationships/image" Target="../media/image49.png"/><Relationship Id="rId15" Type="http://schemas.openxmlformats.org/officeDocument/2006/relationships/image" Target="../media/image11.png"/><Relationship Id="rId14" Type="http://schemas.openxmlformats.org/officeDocument/2006/relationships/image" Target="../media/image12.png"/><Relationship Id="rId17" Type="http://schemas.openxmlformats.org/officeDocument/2006/relationships/image" Target="../media/image24.png"/><Relationship Id="rId16" Type="http://schemas.openxmlformats.org/officeDocument/2006/relationships/image" Target="../media/image13.png"/><Relationship Id="rId19" Type="http://schemas.openxmlformats.org/officeDocument/2006/relationships/image" Target="../media/image20.png"/><Relationship Id="rId1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62.png"/><Relationship Id="rId22" Type="http://schemas.openxmlformats.org/officeDocument/2006/relationships/image" Target="../media/image53.png"/><Relationship Id="rId21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31.jpg"/><Relationship Id="rId5" Type="http://schemas.openxmlformats.org/officeDocument/2006/relationships/image" Target="../media/image5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36.png"/><Relationship Id="rId11" Type="http://schemas.openxmlformats.org/officeDocument/2006/relationships/image" Target="../media/image44.png"/><Relationship Id="rId10" Type="http://schemas.openxmlformats.org/officeDocument/2006/relationships/image" Target="../media/image38.png"/><Relationship Id="rId13" Type="http://schemas.openxmlformats.org/officeDocument/2006/relationships/image" Target="../media/image51.png"/><Relationship Id="rId12" Type="http://schemas.openxmlformats.org/officeDocument/2006/relationships/image" Target="../media/image52.png"/><Relationship Id="rId15" Type="http://schemas.openxmlformats.org/officeDocument/2006/relationships/image" Target="../media/image46.png"/><Relationship Id="rId14" Type="http://schemas.openxmlformats.org/officeDocument/2006/relationships/image" Target="../media/image47.png"/><Relationship Id="rId17" Type="http://schemas.openxmlformats.org/officeDocument/2006/relationships/image" Target="../media/image48.png"/><Relationship Id="rId16" Type="http://schemas.openxmlformats.org/officeDocument/2006/relationships/image" Target="../media/image54.png"/><Relationship Id="rId19" Type="http://schemas.openxmlformats.org/officeDocument/2006/relationships/image" Target="../media/image45.png"/><Relationship Id="rId18" Type="http://schemas.openxmlformats.org/officeDocument/2006/relationships/image" Target="../media/image4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9" Type="http://schemas.openxmlformats.org/officeDocument/2006/relationships/image" Target="../media/image67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55.png"/><Relationship Id="rId8" Type="http://schemas.openxmlformats.org/officeDocument/2006/relationships/image" Target="../media/image6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4.png"/><Relationship Id="rId4" Type="http://schemas.openxmlformats.org/officeDocument/2006/relationships/image" Target="../media/image69.png"/><Relationship Id="rId5" Type="http://schemas.openxmlformats.org/officeDocument/2006/relationships/image" Target="../media/image57.png"/><Relationship Id="rId6" Type="http://schemas.openxmlformats.org/officeDocument/2006/relationships/image" Target="../media/image63.png"/><Relationship Id="rId7" Type="http://schemas.openxmlformats.org/officeDocument/2006/relationships/image" Target="../media/image72.png"/><Relationship Id="rId8" Type="http://schemas.openxmlformats.org/officeDocument/2006/relationships/image" Target="../media/image6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0.png"/><Relationship Id="rId4" Type="http://schemas.openxmlformats.org/officeDocument/2006/relationships/image" Target="../media/image68.png"/><Relationship Id="rId5" Type="http://schemas.openxmlformats.org/officeDocument/2006/relationships/image" Target="../media/image75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Relationship Id="rId8" Type="http://schemas.openxmlformats.org/officeDocument/2006/relationships/image" Target="../media/image9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7.png"/><Relationship Id="rId4" Type="http://schemas.openxmlformats.org/officeDocument/2006/relationships/image" Target="../media/image74.png"/><Relationship Id="rId9" Type="http://schemas.openxmlformats.org/officeDocument/2006/relationships/image" Target="../media/image85.png"/><Relationship Id="rId5" Type="http://schemas.openxmlformats.org/officeDocument/2006/relationships/image" Target="../media/image91.png"/><Relationship Id="rId6" Type="http://schemas.openxmlformats.org/officeDocument/2006/relationships/image" Target="../media/image77.png"/><Relationship Id="rId7" Type="http://schemas.openxmlformats.org/officeDocument/2006/relationships/image" Target="../media/image82.png"/><Relationship Id="rId8" Type="http://schemas.openxmlformats.org/officeDocument/2006/relationships/image" Target="../media/image89.png"/><Relationship Id="rId11" Type="http://schemas.openxmlformats.org/officeDocument/2006/relationships/image" Target="../media/image92.png"/><Relationship Id="rId10" Type="http://schemas.openxmlformats.org/officeDocument/2006/relationships/image" Target="../media/image84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95.png"/><Relationship Id="rId22" Type="http://schemas.openxmlformats.org/officeDocument/2006/relationships/image" Target="../media/image98.png"/><Relationship Id="rId21" Type="http://schemas.openxmlformats.org/officeDocument/2006/relationships/image" Target="../media/image106.png"/><Relationship Id="rId24" Type="http://schemas.openxmlformats.org/officeDocument/2006/relationships/image" Target="../media/image107.png"/><Relationship Id="rId23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4.png"/><Relationship Id="rId4" Type="http://schemas.openxmlformats.org/officeDocument/2006/relationships/image" Target="../media/image91.png"/><Relationship Id="rId9" Type="http://schemas.openxmlformats.org/officeDocument/2006/relationships/image" Target="../media/image85.png"/><Relationship Id="rId25" Type="http://schemas.openxmlformats.org/officeDocument/2006/relationships/image" Target="../media/image99.png"/><Relationship Id="rId5" Type="http://schemas.openxmlformats.org/officeDocument/2006/relationships/image" Target="../media/image87.png"/><Relationship Id="rId6" Type="http://schemas.openxmlformats.org/officeDocument/2006/relationships/image" Target="../media/image77.png"/><Relationship Id="rId7" Type="http://schemas.openxmlformats.org/officeDocument/2006/relationships/image" Target="../media/image82.png"/><Relationship Id="rId8" Type="http://schemas.openxmlformats.org/officeDocument/2006/relationships/image" Target="../media/image89.png"/><Relationship Id="rId11" Type="http://schemas.openxmlformats.org/officeDocument/2006/relationships/image" Target="../media/image92.png"/><Relationship Id="rId10" Type="http://schemas.openxmlformats.org/officeDocument/2006/relationships/image" Target="../media/image84.png"/><Relationship Id="rId13" Type="http://schemas.openxmlformats.org/officeDocument/2006/relationships/image" Target="../media/image111.png"/><Relationship Id="rId12" Type="http://schemas.openxmlformats.org/officeDocument/2006/relationships/image" Target="../media/image103.png"/><Relationship Id="rId15" Type="http://schemas.openxmlformats.org/officeDocument/2006/relationships/image" Target="../media/image100.png"/><Relationship Id="rId14" Type="http://schemas.openxmlformats.org/officeDocument/2006/relationships/image" Target="../media/image110.png"/><Relationship Id="rId17" Type="http://schemas.openxmlformats.org/officeDocument/2006/relationships/image" Target="../media/image105.png"/><Relationship Id="rId16" Type="http://schemas.openxmlformats.org/officeDocument/2006/relationships/image" Target="../media/image101.png"/><Relationship Id="rId19" Type="http://schemas.openxmlformats.org/officeDocument/2006/relationships/image" Target="../media/image94.png"/><Relationship Id="rId18" Type="http://schemas.openxmlformats.org/officeDocument/2006/relationships/image" Target="../media/image10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8.png"/><Relationship Id="rId4" Type="http://schemas.openxmlformats.org/officeDocument/2006/relationships/image" Target="../media/image121.png"/><Relationship Id="rId9" Type="http://schemas.openxmlformats.org/officeDocument/2006/relationships/image" Target="../media/image114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20.png"/><Relationship Id="rId8" Type="http://schemas.openxmlformats.org/officeDocument/2006/relationships/image" Target="../media/image104.png"/><Relationship Id="rId10" Type="http://schemas.openxmlformats.org/officeDocument/2006/relationships/image" Target="../media/image1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5.png"/><Relationship Id="rId4" Type="http://schemas.openxmlformats.org/officeDocument/2006/relationships/image" Target="../media/image118.png"/><Relationship Id="rId9" Type="http://schemas.openxmlformats.org/officeDocument/2006/relationships/image" Target="../media/image135.png"/><Relationship Id="rId5" Type="http://schemas.openxmlformats.org/officeDocument/2006/relationships/image" Target="../media/image125.png"/><Relationship Id="rId6" Type="http://schemas.openxmlformats.org/officeDocument/2006/relationships/image" Target="../media/image116.png"/><Relationship Id="rId7" Type="http://schemas.openxmlformats.org/officeDocument/2006/relationships/image" Target="../media/image137.png"/><Relationship Id="rId8" Type="http://schemas.openxmlformats.org/officeDocument/2006/relationships/image" Target="../media/image126.png"/><Relationship Id="rId11" Type="http://schemas.openxmlformats.org/officeDocument/2006/relationships/image" Target="../media/image122.png"/><Relationship Id="rId10" Type="http://schemas.openxmlformats.org/officeDocument/2006/relationships/image" Target="../media/image124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6.png"/><Relationship Id="rId22" Type="http://schemas.openxmlformats.org/officeDocument/2006/relationships/image" Target="../media/image151.png"/><Relationship Id="rId21" Type="http://schemas.openxmlformats.org/officeDocument/2006/relationships/image" Target="../media/image136.png"/><Relationship Id="rId24" Type="http://schemas.openxmlformats.org/officeDocument/2006/relationships/image" Target="../media/image166.png"/><Relationship Id="rId23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7.png"/><Relationship Id="rId4" Type="http://schemas.openxmlformats.org/officeDocument/2006/relationships/image" Target="../media/image131.png"/><Relationship Id="rId9" Type="http://schemas.openxmlformats.org/officeDocument/2006/relationships/image" Target="../media/image123.png"/><Relationship Id="rId25" Type="http://schemas.openxmlformats.org/officeDocument/2006/relationships/image" Target="../media/image147.png"/><Relationship Id="rId5" Type="http://schemas.openxmlformats.org/officeDocument/2006/relationships/image" Target="../media/image128.png"/><Relationship Id="rId6" Type="http://schemas.openxmlformats.org/officeDocument/2006/relationships/image" Target="../media/image130.png"/><Relationship Id="rId7" Type="http://schemas.openxmlformats.org/officeDocument/2006/relationships/image" Target="../media/image132.png"/><Relationship Id="rId8" Type="http://schemas.openxmlformats.org/officeDocument/2006/relationships/image" Target="../media/image143.png"/><Relationship Id="rId11" Type="http://schemas.openxmlformats.org/officeDocument/2006/relationships/image" Target="../media/image129.png"/><Relationship Id="rId10" Type="http://schemas.openxmlformats.org/officeDocument/2006/relationships/image" Target="../media/image133.png"/><Relationship Id="rId13" Type="http://schemas.openxmlformats.org/officeDocument/2006/relationships/image" Target="../media/image138.png"/><Relationship Id="rId12" Type="http://schemas.openxmlformats.org/officeDocument/2006/relationships/image" Target="../media/image142.png"/><Relationship Id="rId15" Type="http://schemas.openxmlformats.org/officeDocument/2006/relationships/image" Target="../media/image146.png"/><Relationship Id="rId14" Type="http://schemas.openxmlformats.org/officeDocument/2006/relationships/image" Target="../media/image139.png"/><Relationship Id="rId17" Type="http://schemas.openxmlformats.org/officeDocument/2006/relationships/image" Target="../media/image144.png"/><Relationship Id="rId16" Type="http://schemas.openxmlformats.org/officeDocument/2006/relationships/image" Target="../media/image141.png"/><Relationship Id="rId19" Type="http://schemas.openxmlformats.org/officeDocument/2006/relationships/image" Target="../media/image134.png"/><Relationship Id="rId18" Type="http://schemas.openxmlformats.org/officeDocument/2006/relationships/image" Target="../media/image1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1.png"/><Relationship Id="rId4" Type="http://schemas.openxmlformats.org/officeDocument/2006/relationships/image" Target="../media/image145.png"/><Relationship Id="rId5" Type="http://schemas.openxmlformats.org/officeDocument/2006/relationships/image" Target="../media/image153.png"/><Relationship Id="rId6" Type="http://schemas.openxmlformats.org/officeDocument/2006/relationships/image" Target="../media/image149.png"/><Relationship Id="rId7" Type="http://schemas.openxmlformats.org/officeDocument/2006/relationships/image" Target="../media/image157.png"/><Relationship Id="rId8" Type="http://schemas.openxmlformats.org/officeDocument/2006/relationships/image" Target="../media/image1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0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5" Type="http://schemas.openxmlformats.org/officeDocument/2006/relationships/image" Target="../media/image158.png"/><Relationship Id="rId6" Type="http://schemas.openxmlformats.org/officeDocument/2006/relationships/image" Target="../media/image180.png"/><Relationship Id="rId7" Type="http://schemas.openxmlformats.org/officeDocument/2006/relationships/image" Target="../media/image159.png"/><Relationship Id="rId8" Type="http://schemas.openxmlformats.org/officeDocument/2006/relationships/image" Target="../media/image1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0.png"/><Relationship Id="rId4" Type="http://schemas.openxmlformats.org/officeDocument/2006/relationships/image" Target="../media/image180.png"/><Relationship Id="rId5" Type="http://schemas.openxmlformats.org/officeDocument/2006/relationships/image" Target="../media/image170.png"/><Relationship Id="rId6" Type="http://schemas.openxmlformats.org/officeDocument/2006/relationships/image" Target="../media/image18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2.png"/><Relationship Id="rId4" Type="http://schemas.openxmlformats.org/officeDocument/2006/relationships/image" Target="../media/image172.png"/><Relationship Id="rId9" Type="http://schemas.openxmlformats.org/officeDocument/2006/relationships/image" Target="../media/image171.png"/><Relationship Id="rId5" Type="http://schemas.openxmlformats.org/officeDocument/2006/relationships/image" Target="../media/image173.png"/><Relationship Id="rId6" Type="http://schemas.openxmlformats.org/officeDocument/2006/relationships/image" Target="../media/image169.png"/><Relationship Id="rId7" Type="http://schemas.openxmlformats.org/officeDocument/2006/relationships/image" Target="../media/image168.png"/><Relationship Id="rId8" Type="http://schemas.openxmlformats.org/officeDocument/2006/relationships/image" Target="../media/image17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3.png"/><Relationship Id="rId4" Type="http://schemas.openxmlformats.org/officeDocument/2006/relationships/image" Target="../media/image179.png"/><Relationship Id="rId9" Type="http://schemas.openxmlformats.org/officeDocument/2006/relationships/image" Target="../media/image42.png"/><Relationship Id="rId5" Type="http://schemas.openxmlformats.org/officeDocument/2006/relationships/image" Target="../media/image184.png"/><Relationship Id="rId6" Type="http://schemas.openxmlformats.org/officeDocument/2006/relationships/image" Target="../media/image193.png"/><Relationship Id="rId7" Type="http://schemas.openxmlformats.org/officeDocument/2006/relationships/image" Target="../media/image186.png"/><Relationship Id="rId8" Type="http://schemas.openxmlformats.org/officeDocument/2006/relationships/image" Target="../media/image177.png"/><Relationship Id="rId11" Type="http://schemas.openxmlformats.org/officeDocument/2006/relationships/image" Target="../media/image190.png"/><Relationship Id="rId10" Type="http://schemas.openxmlformats.org/officeDocument/2006/relationships/image" Target="../media/image188.png"/><Relationship Id="rId13" Type="http://schemas.openxmlformats.org/officeDocument/2006/relationships/image" Target="../media/image189.png"/><Relationship Id="rId12" Type="http://schemas.openxmlformats.org/officeDocument/2006/relationships/image" Target="../media/image18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9.png"/><Relationship Id="rId4" Type="http://schemas.openxmlformats.org/officeDocument/2006/relationships/image" Target="../media/image185.png"/><Relationship Id="rId5" Type="http://schemas.openxmlformats.org/officeDocument/2006/relationships/image" Target="../media/image207.png"/><Relationship Id="rId6" Type="http://schemas.openxmlformats.org/officeDocument/2006/relationships/image" Target="../media/image199.png"/><Relationship Id="rId7" Type="http://schemas.openxmlformats.org/officeDocument/2006/relationships/image" Target="../media/image201.png"/><Relationship Id="rId8" Type="http://schemas.openxmlformats.org/officeDocument/2006/relationships/image" Target="../media/image20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6.png"/><Relationship Id="rId4" Type="http://schemas.openxmlformats.org/officeDocument/2006/relationships/image" Target="../media/image192.png"/><Relationship Id="rId9" Type="http://schemas.openxmlformats.org/officeDocument/2006/relationships/image" Target="../media/image200.png"/><Relationship Id="rId5" Type="http://schemas.openxmlformats.org/officeDocument/2006/relationships/image" Target="../media/image204.png"/><Relationship Id="rId6" Type="http://schemas.openxmlformats.org/officeDocument/2006/relationships/image" Target="../media/image210.png"/><Relationship Id="rId7" Type="http://schemas.openxmlformats.org/officeDocument/2006/relationships/image" Target="../media/image195.png"/><Relationship Id="rId8" Type="http://schemas.openxmlformats.org/officeDocument/2006/relationships/image" Target="../media/image42.png"/><Relationship Id="rId10" Type="http://schemas.openxmlformats.org/officeDocument/2006/relationships/image" Target="../media/image2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2.png"/><Relationship Id="rId4" Type="http://schemas.openxmlformats.org/officeDocument/2006/relationships/image" Target="../media/image218.png"/><Relationship Id="rId5" Type="http://schemas.openxmlformats.org/officeDocument/2006/relationships/image" Target="../media/image219.png"/><Relationship Id="rId6" Type="http://schemas.openxmlformats.org/officeDocument/2006/relationships/image" Target="../media/image209.png"/><Relationship Id="rId7" Type="http://schemas.openxmlformats.org/officeDocument/2006/relationships/image" Target="../media/image217.png"/><Relationship Id="rId8" Type="http://schemas.openxmlformats.org/officeDocument/2006/relationships/image" Target="../media/image2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4.png"/><Relationship Id="rId4" Type="http://schemas.openxmlformats.org/officeDocument/2006/relationships/image" Target="../media/image2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1.png"/><Relationship Id="rId4" Type="http://schemas.openxmlformats.org/officeDocument/2006/relationships/image" Target="../media/image2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4.png"/><Relationship Id="rId4" Type="http://schemas.openxmlformats.org/officeDocument/2006/relationships/image" Target="../media/image226.png"/><Relationship Id="rId5" Type="http://schemas.openxmlformats.org/officeDocument/2006/relationships/image" Target="../media/image2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9.png"/><Relationship Id="rId4" Type="http://schemas.openxmlformats.org/officeDocument/2006/relationships/image" Target="../media/image233.png"/><Relationship Id="rId5" Type="http://schemas.openxmlformats.org/officeDocument/2006/relationships/image" Target="../media/image232.png"/><Relationship Id="rId6" Type="http://schemas.openxmlformats.org/officeDocument/2006/relationships/image" Target="../media/image227.png"/><Relationship Id="rId7" Type="http://schemas.openxmlformats.org/officeDocument/2006/relationships/image" Target="../media/image2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0.png"/><Relationship Id="rId4" Type="http://schemas.openxmlformats.org/officeDocument/2006/relationships/image" Target="../media/image233.png"/><Relationship Id="rId5" Type="http://schemas.openxmlformats.org/officeDocument/2006/relationships/image" Target="../media/image2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G1.1 – Types of angles and notation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6370" y="309495"/>
            <a:ext cx="6716974" cy="177945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059" y="773170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68813" y="983991"/>
            <a:ext cx="54190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identify different angle types.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understand angle and line notation.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understand angles as turns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describe parallel and perpendicular lines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42969" y="356923"/>
            <a:ext cx="6534707" cy="285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understand angles, lines and their notation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537911" y="672624"/>
            <a:ext cx="1133772" cy="13849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Obtuse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Reflex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Right-angle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Parallel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Perpendicular</a:t>
            </a:r>
            <a:endParaRPr/>
          </a:p>
        </p:txBody>
      </p:sp>
      <p:cxnSp>
        <p:nvCxnSpPr>
          <p:cNvPr id="94" name="Google Shape;94;p13"/>
          <p:cNvCxnSpPr/>
          <p:nvPr/>
        </p:nvCxnSpPr>
        <p:spPr>
          <a:xfrm flipH="1" rot="10800000">
            <a:off x="906770" y="3528981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3"/>
          <p:cNvSpPr/>
          <p:nvPr/>
        </p:nvSpPr>
        <p:spPr>
          <a:xfrm>
            <a:off x="77519" y="2148865"/>
            <a:ext cx="6714996" cy="2327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81262" y="3102329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3"/>
          <p:cNvCxnSpPr>
            <a:stCxn id="95" idx="2"/>
            <a:endCxn id="95" idx="0"/>
          </p:cNvCxnSpPr>
          <p:nvPr/>
        </p:nvCxnSpPr>
        <p:spPr>
          <a:xfrm rot="10800000">
            <a:off x="3435017" y="2148806"/>
            <a:ext cx="0" cy="232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 txBox="1"/>
          <p:nvPr/>
        </p:nvSpPr>
        <p:spPr>
          <a:xfrm>
            <a:off x="81167" y="2131879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2483" y="3103736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677869" y="3120773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580986" y="2940069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Acute Angle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734034" y="2110639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5059" y="2335063"/>
            <a:ext cx="3375546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415484" y="2224213"/>
            <a:ext cx="34587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 than a right-angle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2250138" y="3648512"/>
            <a:ext cx="58060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2942455" y="3800351"/>
            <a:ext cx="45236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279513" y="4095867"/>
            <a:ext cx="7569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673222" y="3483249"/>
            <a:ext cx="70884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108064" y="3849363"/>
            <a:ext cx="70884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587847" y="4046461"/>
            <a:ext cx="70884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1" name="Google Shape;11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93086" y="3390338"/>
            <a:ext cx="1843829" cy="105361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5133264" y="3230083"/>
            <a:ext cx="580608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3" name="Google Shape;113;p13"/>
          <p:cNvCxnSpPr/>
          <p:nvPr/>
        </p:nvCxnSpPr>
        <p:spPr>
          <a:xfrm flipH="1" rot="10800000">
            <a:off x="905880" y="6143345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13"/>
          <p:cNvSpPr/>
          <p:nvPr/>
        </p:nvSpPr>
        <p:spPr>
          <a:xfrm>
            <a:off x="76629" y="4526075"/>
            <a:ext cx="6714996" cy="25647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3"/>
          <p:cNvCxnSpPr/>
          <p:nvPr/>
        </p:nvCxnSpPr>
        <p:spPr>
          <a:xfrm>
            <a:off x="80372" y="5716693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13"/>
          <p:cNvCxnSpPr>
            <a:stCxn id="114" idx="2"/>
            <a:endCxn id="114" idx="0"/>
          </p:cNvCxnSpPr>
          <p:nvPr/>
        </p:nvCxnSpPr>
        <p:spPr>
          <a:xfrm rot="10800000">
            <a:off x="3434127" y="4526170"/>
            <a:ext cx="0" cy="25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13"/>
          <p:cNvSpPr txBox="1"/>
          <p:nvPr/>
        </p:nvSpPr>
        <p:spPr>
          <a:xfrm>
            <a:off x="81167" y="450566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61593" y="5718100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5676979" y="573513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2580096" y="5554433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Obtuse Angle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5669342" y="4498578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64596" y="4776123"/>
            <a:ext cx="3375546" cy="46166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18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398384" y="4742684"/>
            <a:ext cx="34587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than a right-angle, but smaller than the angle on a straight line.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672332" y="6097613"/>
            <a:ext cx="580608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6107174" y="6463727"/>
            <a:ext cx="708848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5586957" y="6724993"/>
            <a:ext cx="708848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5132374" y="5844447"/>
            <a:ext cx="580608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8" name="Google Shape;128;p13"/>
          <p:cNvCxnSpPr/>
          <p:nvPr/>
        </p:nvCxnSpPr>
        <p:spPr>
          <a:xfrm flipH="1" rot="10800000">
            <a:off x="902278" y="8756012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3"/>
          <p:cNvSpPr/>
          <p:nvPr/>
        </p:nvSpPr>
        <p:spPr>
          <a:xfrm>
            <a:off x="73027" y="7138742"/>
            <a:ext cx="6714996" cy="25647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3"/>
          <p:cNvCxnSpPr/>
          <p:nvPr/>
        </p:nvCxnSpPr>
        <p:spPr>
          <a:xfrm>
            <a:off x="76770" y="8329360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13"/>
          <p:cNvCxnSpPr>
            <a:stCxn id="129" idx="2"/>
            <a:endCxn id="129" idx="0"/>
          </p:cNvCxnSpPr>
          <p:nvPr/>
        </p:nvCxnSpPr>
        <p:spPr>
          <a:xfrm rot="10800000">
            <a:off x="3430525" y="7138837"/>
            <a:ext cx="0" cy="25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3"/>
          <p:cNvSpPr txBox="1"/>
          <p:nvPr/>
        </p:nvSpPr>
        <p:spPr>
          <a:xfrm>
            <a:off x="77565" y="711833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57991" y="8330767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5673377" y="834780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2576494" y="8167100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 Angle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5665740" y="7111245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60994" y="7388790"/>
            <a:ext cx="3375546" cy="461665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3394782" y="7355351"/>
            <a:ext cx="34587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than the angle on a straight line, but less than the angle around a point.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2430152" y="8556774"/>
            <a:ext cx="708848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2788914" y="8869847"/>
            <a:ext cx="708848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1761833" y="9361402"/>
            <a:ext cx="708848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5668730" y="8710280"/>
            <a:ext cx="708848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6103572" y="9076394"/>
            <a:ext cx="708848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5583355" y="9337660"/>
            <a:ext cx="708848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45" name="Google Shape;145;p13"/>
          <p:cNvPicPr preferRelativeResize="0"/>
          <p:nvPr/>
        </p:nvPicPr>
        <p:blipFill rotWithShape="1">
          <a:blip r:embed="rId21">
            <a:alphaModFix/>
          </a:blip>
          <a:srcRect b="9036" l="6909" r="10075" t="5798"/>
          <a:stretch/>
        </p:blipFill>
        <p:spPr>
          <a:xfrm>
            <a:off x="3479878" y="8570880"/>
            <a:ext cx="1530663" cy="89732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5128772" y="8457114"/>
            <a:ext cx="708848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2828871" y="3394531"/>
            <a:ext cx="580607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26">
            <a:alphaModFix/>
          </a:blip>
          <a:srcRect b="-4664" l="71167" r="-5742" t="32880"/>
          <a:stretch/>
        </p:blipFill>
        <p:spPr>
          <a:xfrm>
            <a:off x="5034151" y="8752420"/>
            <a:ext cx="770705" cy="806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 rotWithShape="1">
          <a:blip r:embed="rId26">
            <a:alphaModFix/>
          </a:blip>
          <a:srcRect b="67120" l="14991" r="57835" t="0"/>
          <a:stretch/>
        </p:blipFill>
        <p:spPr>
          <a:xfrm>
            <a:off x="4129384" y="9277226"/>
            <a:ext cx="605747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flex Angle&quot; Images – Browse 84 Stock Photos, Vectors, and Video | Adobe  Stock" id="150" name="Google Shape;150;p13"/>
          <p:cNvPicPr preferRelativeResize="0"/>
          <p:nvPr/>
        </p:nvPicPr>
        <p:blipFill rotWithShape="1">
          <a:blip r:embed="rId27">
            <a:alphaModFix/>
          </a:blip>
          <a:srcRect b="39698" l="81331" r="0" t="36388"/>
          <a:stretch/>
        </p:blipFill>
        <p:spPr>
          <a:xfrm>
            <a:off x="696356" y="8859816"/>
            <a:ext cx="1157687" cy="7424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3"/>
          <p:cNvGrpSpPr/>
          <p:nvPr/>
        </p:nvGrpSpPr>
        <p:grpSpPr>
          <a:xfrm>
            <a:off x="106103" y="3339460"/>
            <a:ext cx="2229116" cy="1123288"/>
            <a:chOff x="106103" y="3275292"/>
            <a:chExt cx="2229116" cy="1123288"/>
          </a:xfrm>
        </p:grpSpPr>
        <p:pic>
          <p:nvPicPr>
            <p:cNvPr id="152" name="Google Shape;152;p1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06103" y="3275292"/>
              <a:ext cx="2229116" cy="1123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3"/>
            <p:cNvSpPr/>
            <p:nvPr/>
          </p:nvSpPr>
          <p:spPr>
            <a:xfrm>
              <a:off x="613306" y="3442274"/>
              <a:ext cx="123883" cy="22749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 rot="-9471120">
              <a:off x="463032" y="3937425"/>
              <a:ext cx="123883" cy="22749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 rot="1094762">
              <a:off x="1822587" y="4093384"/>
              <a:ext cx="169382" cy="227490"/>
            </a:xfrm>
            <a:prstGeom prst="arc">
              <a:avLst>
                <a:gd fmla="val 14739435" name="adj1"/>
                <a:gd fmla="val 20929253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 rot="-8162701">
              <a:off x="1400136" y="3925416"/>
              <a:ext cx="123883" cy="22749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3"/>
          <p:cNvSpPr txBox="1"/>
          <p:nvPr/>
        </p:nvSpPr>
        <p:spPr>
          <a:xfrm>
            <a:off x="1702557" y="3191277"/>
            <a:ext cx="580608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58" name="Google Shape;158;p13"/>
          <p:cNvGrpSpPr/>
          <p:nvPr/>
        </p:nvGrpSpPr>
        <p:grpSpPr>
          <a:xfrm>
            <a:off x="3492196" y="6004702"/>
            <a:ext cx="2106568" cy="1053617"/>
            <a:chOff x="3492196" y="5972618"/>
            <a:chExt cx="2106568" cy="1053617"/>
          </a:xfrm>
        </p:grpSpPr>
        <p:pic>
          <p:nvPicPr>
            <p:cNvPr id="159" name="Google Shape;159;p13"/>
            <p:cNvPicPr preferRelativeResize="0"/>
            <p:nvPr/>
          </p:nvPicPr>
          <p:blipFill rotWithShape="1">
            <a:blip r:embed="rId26">
              <a:alphaModFix/>
            </a:blip>
            <a:srcRect b="14596" l="39239" r="33367" t="24905"/>
            <a:stretch/>
          </p:blipFill>
          <p:spPr>
            <a:xfrm>
              <a:off x="4943310" y="6221202"/>
              <a:ext cx="610643" cy="679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3"/>
            <p:cNvPicPr preferRelativeResize="0"/>
            <p:nvPr/>
          </p:nvPicPr>
          <p:blipFill rotWithShape="1">
            <a:blip r:embed="rId10">
              <a:alphaModFix/>
            </a:blip>
            <a:srcRect b="0" l="0" r="54271" t="0"/>
            <a:stretch/>
          </p:blipFill>
          <p:spPr>
            <a:xfrm>
              <a:off x="3492196" y="5972618"/>
              <a:ext cx="843153" cy="1053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3"/>
            <p:cNvPicPr preferRelativeResize="0"/>
            <p:nvPr/>
          </p:nvPicPr>
          <p:blipFill rotWithShape="1">
            <a:blip r:embed="rId26">
              <a:alphaModFix/>
            </a:blip>
            <a:srcRect b="64003" l="15577" r="58015" t="0"/>
            <a:stretch/>
          </p:blipFill>
          <p:spPr>
            <a:xfrm>
              <a:off x="4502516" y="6058844"/>
              <a:ext cx="588655" cy="4043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3"/>
            <p:cNvSpPr/>
            <p:nvPr/>
          </p:nvSpPr>
          <p:spPr>
            <a:xfrm rot="-7926507">
              <a:off x="5344652" y="6479183"/>
              <a:ext cx="137930" cy="374464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 rot="1137890">
              <a:off x="4633942" y="6209872"/>
              <a:ext cx="143502" cy="236425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3"/>
          <p:cNvSpPr/>
          <p:nvPr/>
        </p:nvSpPr>
        <p:spPr>
          <a:xfrm rot="-7926507">
            <a:off x="4882523" y="3564123"/>
            <a:ext cx="136972" cy="170181"/>
          </a:xfrm>
          <a:prstGeom prst="arc">
            <a:avLst>
              <a:gd fmla="val 16200000" name="adj1"/>
              <a:gd fmla="val 5158089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 rot="-3301303">
            <a:off x="4637207" y="3913921"/>
            <a:ext cx="136972" cy="170181"/>
          </a:xfrm>
          <a:prstGeom prst="arc">
            <a:avLst>
              <a:gd fmla="val 16200000" name="adj1"/>
              <a:gd fmla="val 5158089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13"/>
          <p:cNvGrpSpPr/>
          <p:nvPr/>
        </p:nvGrpSpPr>
        <p:grpSpPr>
          <a:xfrm>
            <a:off x="197338" y="5770492"/>
            <a:ext cx="3236494" cy="1287827"/>
            <a:chOff x="197338" y="5738408"/>
            <a:chExt cx="3236494" cy="1287827"/>
          </a:xfrm>
        </p:grpSpPr>
        <p:sp>
          <p:nvSpPr>
            <p:cNvPr id="167" name="Google Shape;167;p13"/>
            <p:cNvSpPr txBox="1"/>
            <p:nvPr/>
          </p:nvSpPr>
          <p:spPr>
            <a:xfrm>
              <a:off x="1569310" y="5738408"/>
              <a:ext cx="708848" cy="369332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8" name="Google Shape;168;p13"/>
            <p:cNvSpPr txBox="1"/>
            <p:nvPr/>
          </p:nvSpPr>
          <p:spPr>
            <a:xfrm>
              <a:off x="2278005" y="6039596"/>
              <a:ext cx="580608" cy="369332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9" name="Google Shape;169;p13"/>
            <p:cNvSpPr txBox="1"/>
            <p:nvPr/>
          </p:nvSpPr>
          <p:spPr>
            <a:xfrm>
              <a:off x="2724984" y="6250908"/>
              <a:ext cx="708848" cy="369332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0" name="Google Shape;170;p13"/>
            <p:cNvSpPr txBox="1"/>
            <p:nvPr/>
          </p:nvSpPr>
          <p:spPr>
            <a:xfrm>
              <a:off x="1956735" y="6629062"/>
              <a:ext cx="885179" cy="369332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pic>
          <p:nvPicPr>
            <p:cNvPr id="171" name="Google Shape;171;p13"/>
            <p:cNvPicPr preferRelativeResize="0"/>
            <p:nvPr/>
          </p:nvPicPr>
          <p:blipFill rotWithShape="1">
            <a:blip r:embed="rId21">
              <a:alphaModFix/>
            </a:blip>
            <a:srcRect b="0" l="48603" r="0" t="0"/>
            <a:stretch/>
          </p:blipFill>
          <p:spPr>
            <a:xfrm>
              <a:off x="197338" y="5972618"/>
              <a:ext cx="947680" cy="10536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3"/>
            <p:cNvSpPr/>
            <p:nvPr/>
          </p:nvSpPr>
          <p:spPr>
            <a:xfrm rot="-7926507">
              <a:off x="672414" y="6168065"/>
              <a:ext cx="136972" cy="170181"/>
            </a:xfrm>
            <a:prstGeom prst="arc">
              <a:avLst>
                <a:gd fmla="val 16200000" name="adj1"/>
                <a:gd fmla="val 5158089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 rot="-3507569">
              <a:off x="443465" y="6496745"/>
              <a:ext cx="136972" cy="170181"/>
            </a:xfrm>
            <a:prstGeom prst="arc">
              <a:avLst>
                <a:gd fmla="val 16200000" name="adj1"/>
                <a:gd fmla="val 5158089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3"/>
          <p:cNvSpPr/>
          <p:nvPr/>
        </p:nvSpPr>
        <p:spPr>
          <a:xfrm rot="-7926507">
            <a:off x="4731345" y="8693743"/>
            <a:ext cx="136972" cy="170181"/>
          </a:xfrm>
          <a:prstGeom prst="arc">
            <a:avLst>
              <a:gd fmla="val 16200000" name="adj1"/>
              <a:gd fmla="val 5158089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 rot="-3468041">
            <a:off x="4500088" y="9037746"/>
            <a:ext cx="136972" cy="170181"/>
          </a:xfrm>
          <a:prstGeom prst="arc">
            <a:avLst>
              <a:gd fmla="val 16200000" name="adj1"/>
              <a:gd fmla="val 5158089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 rot="-3468041">
            <a:off x="5234817" y="9182354"/>
            <a:ext cx="136972" cy="170181"/>
          </a:xfrm>
          <a:prstGeom prst="arc">
            <a:avLst>
              <a:gd fmla="val 16200000" name="adj1"/>
              <a:gd fmla="val 5158089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 rot="-1880062">
            <a:off x="4287488" y="9446015"/>
            <a:ext cx="150954" cy="141731"/>
          </a:xfrm>
          <a:prstGeom prst="arc">
            <a:avLst>
              <a:gd fmla="val 16200000" name="adj1"/>
              <a:gd fmla="val 5158089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t 5 Section 2 : Measuring Angles" id="178" name="Google Shape;178;p13"/>
          <p:cNvPicPr preferRelativeResize="0"/>
          <p:nvPr/>
        </p:nvPicPr>
        <p:blipFill rotWithShape="1">
          <a:blip r:embed="rId33">
            <a:alphaModFix/>
          </a:blip>
          <a:srcRect b="63076" l="58869" r="8587" t="0"/>
          <a:stretch/>
        </p:blipFill>
        <p:spPr>
          <a:xfrm>
            <a:off x="1743749" y="8603726"/>
            <a:ext cx="801293" cy="792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3"/>
          <p:cNvGrpSpPr/>
          <p:nvPr/>
        </p:nvGrpSpPr>
        <p:grpSpPr>
          <a:xfrm>
            <a:off x="94428" y="8576653"/>
            <a:ext cx="623790" cy="1112353"/>
            <a:chOff x="1041991" y="8534205"/>
            <a:chExt cx="623790" cy="1112353"/>
          </a:xfrm>
        </p:grpSpPr>
        <p:pic>
          <p:nvPicPr>
            <p:cNvPr descr="Unit 5 Section 2 : Measuring Angles" id="180" name="Google Shape;180;p13"/>
            <p:cNvPicPr preferRelativeResize="0"/>
            <p:nvPr/>
          </p:nvPicPr>
          <p:blipFill rotWithShape="1">
            <a:blip r:embed="rId33">
              <a:alphaModFix/>
            </a:blip>
            <a:srcRect b="0" l="73557" r="4330" t="46086"/>
            <a:stretch/>
          </p:blipFill>
          <p:spPr>
            <a:xfrm>
              <a:off x="1142711" y="8534205"/>
              <a:ext cx="523070" cy="11123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3"/>
            <p:cNvSpPr/>
            <p:nvPr/>
          </p:nvSpPr>
          <p:spPr>
            <a:xfrm>
              <a:off x="1041991" y="8886698"/>
              <a:ext cx="153320" cy="16698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3"/>
          <p:cNvSpPr txBox="1"/>
          <p:nvPr/>
        </p:nvSpPr>
        <p:spPr>
          <a:xfrm>
            <a:off x="2602941" y="9306996"/>
            <a:ext cx="885179" cy="369332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3" name="Google Shape;183;p13"/>
          <p:cNvSpPr txBox="1"/>
          <p:nvPr>
            <p:ph idx="12" type="sldNum"/>
          </p:nvPr>
        </p:nvSpPr>
        <p:spPr>
          <a:xfrm>
            <a:off x="5209223" y="-1219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14"/>
          <p:cNvCxnSpPr/>
          <p:nvPr/>
        </p:nvCxnSpPr>
        <p:spPr>
          <a:xfrm flipH="1" rot="10800000">
            <a:off x="912785" y="181447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14"/>
          <p:cNvSpPr/>
          <p:nvPr/>
        </p:nvSpPr>
        <p:spPr>
          <a:xfrm>
            <a:off x="83534" y="197200"/>
            <a:ext cx="6714996" cy="25647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4"/>
          <p:cNvCxnSpPr/>
          <p:nvPr/>
        </p:nvCxnSpPr>
        <p:spPr>
          <a:xfrm>
            <a:off x="87277" y="1387818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14"/>
          <p:cNvCxnSpPr>
            <a:stCxn id="189" idx="2"/>
            <a:endCxn id="189" idx="0"/>
          </p:cNvCxnSpPr>
          <p:nvPr/>
        </p:nvCxnSpPr>
        <p:spPr>
          <a:xfrm rot="10800000">
            <a:off x="3441032" y="197295"/>
            <a:ext cx="0" cy="25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14"/>
          <p:cNvSpPr txBox="1"/>
          <p:nvPr/>
        </p:nvSpPr>
        <p:spPr>
          <a:xfrm>
            <a:off x="88072" y="176789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68498" y="1389225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5683884" y="1406262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2587001" y="1225558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Angle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676247" y="169703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71501" y="447248"/>
            <a:ext cx="3375546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3405289" y="413809"/>
            <a:ext cx="34587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Shown with this symbol</a:t>
            </a:r>
            <a:endParaRPr/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4">
            <a:alphaModFix/>
          </a:blip>
          <a:srcRect b="15425" l="0" r="59298" t="0"/>
          <a:stretch/>
        </p:blipFill>
        <p:spPr>
          <a:xfrm>
            <a:off x="4798667" y="1752225"/>
            <a:ext cx="907298" cy="95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5">
            <a:alphaModFix/>
          </a:blip>
          <a:srcRect b="29526" l="48666" r="0" t="0"/>
          <a:stretch/>
        </p:blipFill>
        <p:spPr>
          <a:xfrm>
            <a:off x="3567178" y="1774473"/>
            <a:ext cx="946501" cy="7425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14"/>
          <p:cNvGraphicFramePr/>
          <p:nvPr/>
        </p:nvGraphicFramePr>
        <p:xfrm>
          <a:off x="95568" y="33481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951675"/>
                <a:gridCol w="1901300"/>
                <a:gridCol w="1901300"/>
                <a:gridCol w="19013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Name each angle below as acute, obtuse, right or reflex: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Name each angle below as acute, obtuse, right or reflex: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Name each angle below as acute, obtuse, right or reflex: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96000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96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96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2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14"/>
          <p:cNvSpPr/>
          <p:nvPr/>
        </p:nvSpPr>
        <p:spPr>
          <a:xfrm>
            <a:off x="83534" y="3023466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types of angles</a:t>
            </a:r>
            <a:endParaRPr/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6">
            <a:alphaModFix/>
          </a:blip>
          <a:srcRect b="19077" l="0" r="21993" t="6354"/>
          <a:stretch/>
        </p:blipFill>
        <p:spPr>
          <a:xfrm>
            <a:off x="5179318" y="550437"/>
            <a:ext cx="741847" cy="735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14"/>
          <p:cNvCxnSpPr/>
          <p:nvPr/>
        </p:nvCxnSpPr>
        <p:spPr>
          <a:xfrm>
            <a:off x="4943124" y="659409"/>
            <a:ext cx="693270" cy="2687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05" name="Google Shape;205;p14"/>
          <p:cNvPicPr preferRelativeResize="0"/>
          <p:nvPr/>
        </p:nvPicPr>
        <p:blipFill rotWithShape="1">
          <a:blip r:embed="rId5">
            <a:alphaModFix/>
          </a:blip>
          <a:srcRect b="0" l="0" r="52474" t="0"/>
          <a:stretch/>
        </p:blipFill>
        <p:spPr>
          <a:xfrm>
            <a:off x="162631" y="1658578"/>
            <a:ext cx="876300" cy="105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961" y="1658578"/>
            <a:ext cx="1705056" cy="1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 txBox="1"/>
          <p:nvPr/>
        </p:nvSpPr>
        <p:spPr>
          <a:xfrm>
            <a:off x="1921620" y="1571372"/>
            <a:ext cx="58060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descr="Reflex Angle&quot; Images – Browse 84 Stock Photos, Vectors, and Video | Adobe  Stock" id="208" name="Google Shape;208;p14"/>
          <p:cNvPicPr preferRelativeResize="0"/>
          <p:nvPr/>
        </p:nvPicPr>
        <p:blipFill rotWithShape="1">
          <a:blip r:embed="rId9">
            <a:alphaModFix/>
          </a:blip>
          <a:srcRect b="39698" l="81331" r="0" t="36388"/>
          <a:stretch/>
        </p:blipFill>
        <p:spPr>
          <a:xfrm>
            <a:off x="5805266" y="1934347"/>
            <a:ext cx="945851" cy="60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432001" y="8247422"/>
            <a:ext cx="1179345" cy="81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4"/>
          <p:cNvPicPr preferRelativeResize="0"/>
          <p:nvPr/>
        </p:nvPicPr>
        <p:blipFill rotWithShape="1">
          <a:blip r:embed="rId11">
            <a:alphaModFix/>
          </a:blip>
          <a:srcRect b="0" l="54218" r="7563" t="56546"/>
          <a:stretch/>
        </p:blipFill>
        <p:spPr>
          <a:xfrm rot="2729227">
            <a:off x="1352472" y="4656522"/>
            <a:ext cx="1113151" cy="518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4"/>
          <p:cNvPicPr preferRelativeResize="0"/>
          <p:nvPr/>
        </p:nvPicPr>
        <p:blipFill rotWithShape="1">
          <a:blip r:embed="rId11">
            <a:alphaModFix/>
          </a:blip>
          <a:srcRect b="7139" l="3359" r="63696" t="8188"/>
          <a:stretch/>
        </p:blipFill>
        <p:spPr>
          <a:xfrm rot="8926958">
            <a:off x="5497075" y="4446691"/>
            <a:ext cx="890729" cy="93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4"/>
          <p:cNvPicPr preferRelativeResize="0"/>
          <p:nvPr/>
        </p:nvPicPr>
        <p:blipFill rotWithShape="1">
          <a:blip r:embed="rId12">
            <a:alphaModFix/>
          </a:blip>
          <a:srcRect b="59340" l="60823" r="0" t="18869"/>
          <a:stretch/>
        </p:blipFill>
        <p:spPr>
          <a:xfrm rot="10800000">
            <a:off x="3014017" y="5873765"/>
            <a:ext cx="1768548" cy="520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4"/>
          <p:cNvPicPr preferRelativeResize="0"/>
          <p:nvPr/>
        </p:nvPicPr>
        <p:blipFill rotWithShape="1">
          <a:blip r:embed="rId13">
            <a:alphaModFix/>
          </a:blip>
          <a:srcRect b="8740" l="74013" r="3576" t="46867"/>
          <a:stretch/>
        </p:blipFill>
        <p:spPr>
          <a:xfrm>
            <a:off x="3567178" y="8177914"/>
            <a:ext cx="840674" cy="881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32001" y="5649479"/>
            <a:ext cx="1135294" cy="834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33740" y="8310359"/>
            <a:ext cx="1543051" cy="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16">
            <a:alphaModFix/>
          </a:blip>
          <a:srcRect b="0" l="0" r="0" t="8972"/>
          <a:stretch/>
        </p:blipFill>
        <p:spPr>
          <a:xfrm>
            <a:off x="3279833" y="4300146"/>
            <a:ext cx="1264305" cy="115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64565" y="5637127"/>
            <a:ext cx="1289733" cy="8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1631316" y="4450804"/>
            <a:ext cx="490840" cy="30777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3744043" y="6188713"/>
            <a:ext cx="590226" cy="307777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3923453" y="4886336"/>
            <a:ext cx="590226" cy="307777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5567644" y="6434817"/>
            <a:ext cx="590226" cy="30777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5567644" y="4683455"/>
            <a:ext cx="490839" cy="307777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2116011" y="4389249"/>
            <a:ext cx="736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Acute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6097976" y="4364485"/>
            <a:ext cx="736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Acute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3898291" y="8333516"/>
            <a:ext cx="736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Acute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4127515" y="4605748"/>
            <a:ext cx="772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6026203" y="6080165"/>
            <a:ext cx="772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5846134" y="8768967"/>
            <a:ext cx="772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1599305" y="7344086"/>
            <a:ext cx="772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2968759" y="6250151"/>
            <a:ext cx="873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Obtuse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3475455" y="7362341"/>
            <a:ext cx="873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Obtuse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1434948" y="8667522"/>
            <a:ext cx="873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Obtuse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1359593" y="6443332"/>
            <a:ext cx="12517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 angle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5134652" y="7362341"/>
            <a:ext cx="12517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 angle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 txBox="1"/>
          <p:nvPr>
            <p:ph idx="12" type="sldNum"/>
          </p:nvPr>
        </p:nvSpPr>
        <p:spPr>
          <a:xfrm>
            <a:off x="5291330" y="-15169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123449" y="10462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1261403" y="228243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True or false? Circle the correct answer.</a:t>
            </a:r>
            <a:endParaRPr/>
          </a:p>
        </p:txBody>
      </p:sp>
      <p:graphicFrame>
        <p:nvGraphicFramePr>
          <p:cNvPr id="242" name="Google Shape;242;p15"/>
          <p:cNvGraphicFramePr/>
          <p:nvPr/>
        </p:nvGraphicFramePr>
        <p:xfrm>
          <a:off x="123449" y="5654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1588075"/>
                <a:gridCol w="1750100"/>
                <a:gridCol w="1635775"/>
                <a:gridCol w="1635775"/>
              </a:tblGrid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The following angle is acute.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The following angle is acute.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The following angle is acute.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The following angle is acute.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The following angle is acute.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The following angle is acute.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The following angle is obtuse.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The following angle is obtuse.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The following angle is obtuse.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The following angle is obtuse.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The following angle is obtuse.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The following angle is obtuse.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3" name="Google Shape;243;p15"/>
          <p:cNvPicPr preferRelativeResize="0"/>
          <p:nvPr/>
        </p:nvPicPr>
        <p:blipFill rotWithShape="1">
          <a:blip r:embed="rId3">
            <a:alphaModFix/>
          </a:blip>
          <a:srcRect b="10832" l="4376" r="71638" t="54948"/>
          <a:stretch/>
        </p:blipFill>
        <p:spPr>
          <a:xfrm>
            <a:off x="360947" y="938463"/>
            <a:ext cx="1082842" cy="81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5"/>
          <p:cNvPicPr preferRelativeResize="0"/>
          <p:nvPr/>
        </p:nvPicPr>
        <p:blipFill rotWithShape="1">
          <a:blip r:embed="rId3">
            <a:alphaModFix/>
          </a:blip>
          <a:srcRect b="59501" l="62745" r="0" t="16847"/>
          <a:stretch/>
        </p:blipFill>
        <p:spPr>
          <a:xfrm>
            <a:off x="3597442" y="1112920"/>
            <a:ext cx="1485004" cy="499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5"/>
          <p:cNvPicPr preferRelativeResize="0"/>
          <p:nvPr/>
        </p:nvPicPr>
        <p:blipFill rotWithShape="1">
          <a:blip r:embed="rId3">
            <a:alphaModFix/>
          </a:blip>
          <a:srcRect b="9671" l="72592" r="5553" t="47315"/>
          <a:stretch/>
        </p:blipFill>
        <p:spPr>
          <a:xfrm rot="10800000">
            <a:off x="421445" y="2374659"/>
            <a:ext cx="986591" cy="102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9671" l="72592" r="10475" t="61554"/>
          <a:stretch/>
        </p:blipFill>
        <p:spPr>
          <a:xfrm rot="7905935">
            <a:off x="550398" y="8476830"/>
            <a:ext cx="764438" cy="6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5"/>
          <p:cNvPicPr preferRelativeResize="0"/>
          <p:nvPr/>
        </p:nvPicPr>
        <p:blipFill rotWithShape="1">
          <a:blip r:embed="rId4">
            <a:alphaModFix/>
          </a:blip>
          <a:srcRect b="0" l="40085" r="32495" t="0"/>
          <a:stretch/>
        </p:blipFill>
        <p:spPr>
          <a:xfrm rot="5244503">
            <a:off x="189272" y="3834573"/>
            <a:ext cx="1085201" cy="104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6171" y="3792373"/>
            <a:ext cx="9810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5"/>
          <p:cNvPicPr preferRelativeResize="0"/>
          <p:nvPr/>
        </p:nvPicPr>
        <p:blipFill rotWithShape="1">
          <a:blip r:embed="rId6">
            <a:alphaModFix/>
          </a:blip>
          <a:srcRect b="0" l="8202" r="0" t="0"/>
          <a:stretch/>
        </p:blipFill>
        <p:spPr>
          <a:xfrm>
            <a:off x="3575347" y="8318956"/>
            <a:ext cx="1442721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355" y="5328248"/>
            <a:ext cx="13620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7969" y="5294422"/>
            <a:ext cx="11239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0764" y="6746729"/>
            <a:ext cx="11049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5"/>
          <p:cNvSpPr/>
          <p:nvPr/>
        </p:nvSpPr>
        <p:spPr>
          <a:xfrm>
            <a:off x="2048256" y="1234440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5875728" y="1244546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2048256" y="2699984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5327088" y="2699984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2565600" y="4176321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5837547" y="4169195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2044392" y="5605588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875728" y="5639639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2565600" y="7118662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5327088" y="7118662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2565600" y="8547469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5887915" y="8547303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 txBox="1"/>
          <p:nvPr/>
        </p:nvSpPr>
        <p:spPr>
          <a:xfrm>
            <a:off x="24064" y="119958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 continued.</a:t>
            </a:r>
            <a:endParaRPr/>
          </a:p>
        </p:txBody>
      </p:sp>
      <p:graphicFrame>
        <p:nvGraphicFramePr>
          <p:cNvPr id="271" name="Google Shape;271;p16"/>
          <p:cNvGraphicFramePr/>
          <p:nvPr/>
        </p:nvGraphicFramePr>
        <p:xfrm>
          <a:off x="106210" y="4210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1588075"/>
                <a:gridCol w="1785925"/>
                <a:gridCol w="1635775"/>
                <a:gridCol w="1635775"/>
              </a:tblGrid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The following angle is a reflex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The following angle is a reflex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 The following angle is a reflex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 The following angle is a reflex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 The following angle is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 The following angle is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s) The following angle is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t) The following angle is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u) The following angle is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v) The following angle is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72" name="Google Shape;2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2845" y="709288"/>
            <a:ext cx="685172" cy="1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3113" y="2228850"/>
            <a:ext cx="1171875" cy="90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3" y="3641660"/>
            <a:ext cx="1139463" cy="1036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a Right Angle? | 90° Angle | Definition, Examples" id="275" name="Google Shape;275;p16"/>
          <p:cNvPicPr preferRelativeResize="0"/>
          <p:nvPr/>
        </p:nvPicPr>
        <p:blipFill rotWithShape="1">
          <a:blip r:embed="rId6">
            <a:alphaModFix/>
          </a:blip>
          <a:srcRect b="10164" l="23721" r="38567" t="27882"/>
          <a:stretch/>
        </p:blipFill>
        <p:spPr>
          <a:xfrm rot="7410189">
            <a:off x="3918844" y="3759359"/>
            <a:ext cx="733174" cy="80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848" y="5222448"/>
            <a:ext cx="584791" cy="964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22399" y="6677377"/>
            <a:ext cx="1136567" cy="90805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20676" y="7821084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Circle the word that makes each statement correct:</a:t>
            </a:r>
            <a:endParaRPr/>
          </a:p>
        </p:txBody>
      </p:sp>
      <p:graphicFrame>
        <p:nvGraphicFramePr>
          <p:cNvPr id="279" name="Google Shape;279;p16"/>
          <p:cNvGraphicFramePr/>
          <p:nvPr/>
        </p:nvGraphicFramePr>
        <p:xfrm>
          <a:off x="106209" y="8095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528625"/>
                <a:gridCol w="3901750"/>
                <a:gridCol w="221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 obtuse angle is bigger than an  _________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Acute / Reflex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 _________ angle is smaller than an obtuse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/ Reflex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_________ angle is bigger than an obtuse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/ Reflex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 _________ angle is smaller than a right angle.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Acute / Obtuse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16"/>
          <p:cNvSpPr/>
          <p:nvPr/>
        </p:nvSpPr>
        <p:spPr>
          <a:xfrm>
            <a:off x="2547312" y="1133209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5415583" y="1078392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2087064" y="2565769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5402575" y="2565768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2547312" y="4034905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5402575" y="4034904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2080595" y="5516004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5384218" y="5493306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2547312" y="6964969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5868960" y="6962442"/>
            <a:ext cx="548640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4958966" y="8095234"/>
            <a:ext cx="710314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4948224" y="8457928"/>
            <a:ext cx="710314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5577701" y="8842206"/>
            <a:ext cx="710314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4941415" y="9217148"/>
            <a:ext cx="710314" cy="3777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17"/>
          <p:cNvGraphicFramePr/>
          <p:nvPr/>
        </p:nvGraphicFramePr>
        <p:xfrm>
          <a:off x="101224" y="4398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951675"/>
                <a:gridCol w="1901300"/>
                <a:gridCol w="1901300"/>
                <a:gridCol w="19013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 Name the line identified by the dotted line,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 Name the line identified by the dotted line,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 Name the line identified by the dotted line,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031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two points connected by the line. Write these points in alphabetical order.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 Name the line identified by the dotted line,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 Name the line identified by the dotted line,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 Name the line identified by the dotted line,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29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 Name the angle below,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 Name the angle identified by the arrow below,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 Name the angle below, using correct notation.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7"/>
          <p:cNvSpPr/>
          <p:nvPr/>
        </p:nvSpPr>
        <p:spPr>
          <a:xfrm>
            <a:off x="101224" y="166077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Angle and Line Notation</a:t>
            </a:r>
            <a:endParaRPr/>
          </a:p>
        </p:txBody>
      </p:sp>
      <p:pic>
        <p:nvPicPr>
          <p:cNvPr id="301" name="Google Shape;301;p17"/>
          <p:cNvPicPr preferRelativeResize="0"/>
          <p:nvPr/>
        </p:nvPicPr>
        <p:blipFill rotWithShape="1">
          <a:blip r:embed="rId3">
            <a:alphaModFix/>
          </a:blip>
          <a:srcRect b="11473" l="7718" r="6376" t="9457"/>
          <a:stretch/>
        </p:blipFill>
        <p:spPr>
          <a:xfrm>
            <a:off x="1244908" y="7368992"/>
            <a:ext cx="1219201" cy="97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17"/>
          <p:cNvGrpSpPr/>
          <p:nvPr/>
        </p:nvGrpSpPr>
        <p:grpSpPr>
          <a:xfrm>
            <a:off x="1407188" y="1520083"/>
            <a:ext cx="1231235" cy="971550"/>
            <a:chOff x="1407190" y="1371600"/>
            <a:chExt cx="1231235" cy="971550"/>
          </a:xfrm>
        </p:grpSpPr>
        <p:pic>
          <p:nvPicPr>
            <p:cNvPr id="303" name="Google Shape;303;p17"/>
            <p:cNvPicPr preferRelativeResize="0"/>
            <p:nvPr/>
          </p:nvPicPr>
          <p:blipFill rotWithShape="1">
            <a:blip r:embed="rId3">
              <a:alphaModFix/>
            </a:blip>
            <a:srcRect b="11473" l="7718" r="6376" t="9457"/>
            <a:stretch/>
          </p:blipFill>
          <p:spPr>
            <a:xfrm>
              <a:off x="1419224" y="1371600"/>
              <a:ext cx="1219201" cy="971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4" name="Google Shape;304;p17"/>
            <p:cNvCxnSpPr/>
            <p:nvPr/>
          </p:nvCxnSpPr>
          <p:spPr>
            <a:xfrm>
              <a:off x="1600200" y="2165684"/>
              <a:ext cx="6480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17"/>
            <p:cNvCxnSpPr/>
            <p:nvPr/>
          </p:nvCxnSpPr>
          <p:spPr>
            <a:xfrm>
              <a:off x="1583654" y="2165684"/>
              <a:ext cx="721895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06" name="Google Shape;306;p17"/>
            <p:cNvSpPr/>
            <p:nvPr/>
          </p:nvSpPr>
          <p:spPr>
            <a:xfrm>
              <a:off x="1407190" y="2021305"/>
              <a:ext cx="107083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7"/>
            <p:cNvSpPr/>
            <p:nvPr/>
          </p:nvSpPr>
          <p:spPr>
            <a:xfrm rot="5400000">
              <a:off x="2423961" y="1264221"/>
              <a:ext cx="107083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7"/>
          <p:cNvGrpSpPr/>
          <p:nvPr/>
        </p:nvGrpSpPr>
        <p:grpSpPr>
          <a:xfrm>
            <a:off x="3337410" y="1520079"/>
            <a:ext cx="1231235" cy="971550"/>
            <a:chOff x="1395154" y="3939885"/>
            <a:chExt cx="1231235" cy="971550"/>
          </a:xfrm>
        </p:grpSpPr>
        <p:pic>
          <p:nvPicPr>
            <p:cNvPr id="309" name="Google Shape;309;p17"/>
            <p:cNvPicPr preferRelativeResize="0"/>
            <p:nvPr/>
          </p:nvPicPr>
          <p:blipFill rotWithShape="1">
            <a:blip r:embed="rId3">
              <a:alphaModFix/>
            </a:blip>
            <a:srcRect b="11473" l="7718" r="6376" t="9457"/>
            <a:stretch/>
          </p:blipFill>
          <p:spPr>
            <a:xfrm>
              <a:off x="1407188" y="3939885"/>
              <a:ext cx="1219201" cy="9715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0" name="Google Shape;310;p17"/>
            <p:cNvGrpSpPr/>
            <p:nvPr/>
          </p:nvGrpSpPr>
          <p:grpSpPr>
            <a:xfrm rot="6393855">
              <a:off x="2003180" y="4425660"/>
              <a:ext cx="721895" cy="0"/>
              <a:chOff x="-2896106" y="3561441"/>
              <a:chExt cx="721895" cy="0"/>
            </a:xfrm>
          </p:grpSpPr>
          <p:cxnSp>
            <p:nvCxnSpPr>
              <p:cNvPr id="311" name="Google Shape;311;p17"/>
              <p:cNvCxnSpPr/>
              <p:nvPr/>
            </p:nvCxnSpPr>
            <p:spPr>
              <a:xfrm>
                <a:off x="-2879560" y="3561441"/>
                <a:ext cx="648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7"/>
              <p:cNvCxnSpPr/>
              <p:nvPr/>
            </p:nvCxnSpPr>
            <p:spPr>
              <a:xfrm>
                <a:off x="-2896106" y="3561441"/>
                <a:ext cx="72189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13" name="Google Shape;313;p17"/>
            <p:cNvSpPr/>
            <p:nvPr/>
          </p:nvSpPr>
          <p:spPr>
            <a:xfrm>
              <a:off x="1395154" y="4589590"/>
              <a:ext cx="107083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7"/>
            <p:cNvSpPr/>
            <p:nvPr/>
          </p:nvSpPr>
          <p:spPr>
            <a:xfrm rot="5400000">
              <a:off x="2411925" y="3844538"/>
              <a:ext cx="107083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7"/>
          <p:cNvGrpSpPr/>
          <p:nvPr/>
        </p:nvGrpSpPr>
        <p:grpSpPr>
          <a:xfrm>
            <a:off x="4959518" y="1406783"/>
            <a:ext cx="1668629" cy="923925"/>
            <a:chOff x="4959518" y="1406783"/>
            <a:chExt cx="1668629" cy="923925"/>
          </a:xfrm>
        </p:grpSpPr>
        <p:pic>
          <p:nvPicPr>
            <p:cNvPr id="316" name="Google Shape;31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18422" y="1406783"/>
              <a:ext cx="1609725" cy="923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17"/>
            <p:cNvSpPr/>
            <p:nvPr/>
          </p:nvSpPr>
          <p:spPr>
            <a:xfrm rot="7932543">
              <a:off x="5058206" y="2006849"/>
              <a:ext cx="124972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7"/>
          <p:cNvSpPr/>
          <p:nvPr/>
        </p:nvSpPr>
        <p:spPr>
          <a:xfrm rot="10800000">
            <a:off x="6436068" y="1520083"/>
            <a:ext cx="124972" cy="3218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17"/>
          <p:cNvGrpSpPr/>
          <p:nvPr/>
        </p:nvGrpSpPr>
        <p:grpSpPr>
          <a:xfrm>
            <a:off x="4990810" y="7299099"/>
            <a:ext cx="1668629" cy="923925"/>
            <a:chOff x="4959518" y="3920874"/>
            <a:chExt cx="1668629" cy="923925"/>
          </a:xfrm>
        </p:grpSpPr>
        <p:pic>
          <p:nvPicPr>
            <p:cNvPr id="320" name="Google Shape;32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18422" y="3920874"/>
              <a:ext cx="1609725" cy="923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7"/>
            <p:cNvSpPr/>
            <p:nvPr/>
          </p:nvSpPr>
          <p:spPr>
            <a:xfrm rot="7932543">
              <a:off x="5058206" y="4520940"/>
              <a:ext cx="124972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7"/>
            <p:cNvSpPr/>
            <p:nvPr/>
          </p:nvSpPr>
          <p:spPr>
            <a:xfrm rot="10800000">
              <a:off x="6436068" y="4057039"/>
              <a:ext cx="124972" cy="32184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7"/>
          <p:cNvSpPr/>
          <p:nvPr/>
        </p:nvSpPr>
        <p:spPr>
          <a:xfrm>
            <a:off x="1242177" y="8018701"/>
            <a:ext cx="107083" cy="3218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 rot="5400000">
            <a:off x="2283200" y="7261613"/>
            <a:ext cx="107083" cy="3218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315" y="4226130"/>
            <a:ext cx="1557765" cy="137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5387" y="4242745"/>
            <a:ext cx="1557765" cy="137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9529" y="4272631"/>
            <a:ext cx="1557765" cy="137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1366" y="7368992"/>
            <a:ext cx="1557765" cy="1375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17"/>
          <p:cNvCxnSpPr/>
          <p:nvPr/>
        </p:nvCxnSpPr>
        <p:spPr>
          <a:xfrm rot="10800000">
            <a:off x="3370762" y="7785905"/>
            <a:ext cx="372501" cy="29945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0" name="Google Shape;330;p17"/>
          <p:cNvSpPr txBox="1"/>
          <p:nvPr/>
        </p:nvSpPr>
        <p:spPr>
          <a:xfrm>
            <a:off x="1708433" y="2916385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XY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3685304" y="2916385"/>
            <a:ext cx="4143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YZ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553819" y="2932337"/>
            <a:ext cx="5389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MN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1743339" y="5973503"/>
            <a:ext cx="436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3720210" y="5973503"/>
            <a:ext cx="47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5588725" y="5989455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1617260" y="8924821"/>
            <a:ext cx="69326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-7895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3594131" y="8924821"/>
            <a:ext cx="74988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-6504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5462646" y="8940773"/>
            <a:ext cx="878767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9" name="Google Shape;339;p1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/>
          <p:nvPr/>
        </p:nvSpPr>
        <p:spPr>
          <a:xfrm>
            <a:off x="210114" y="12847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45" name="Google Shape;345;p18"/>
          <p:cNvSpPr txBox="1"/>
          <p:nvPr/>
        </p:nvSpPr>
        <p:spPr>
          <a:xfrm>
            <a:off x="1396194" y="229284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line identified by the dotted line, using correct notation.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" name="Google Shape;346;p18"/>
          <p:cNvGraphicFramePr/>
          <p:nvPr/>
        </p:nvGraphicFramePr>
        <p:xfrm>
          <a:off x="210114" y="5326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2145925"/>
                <a:gridCol w="2145925"/>
                <a:gridCol w="2145925"/>
              </a:tblGrid>
              <a:tr h="3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4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47" name="Google Shape;347;p18"/>
          <p:cNvGrpSpPr/>
          <p:nvPr/>
        </p:nvGrpSpPr>
        <p:grpSpPr>
          <a:xfrm>
            <a:off x="498874" y="890902"/>
            <a:ext cx="5865872" cy="1222265"/>
            <a:chOff x="474525" y="1060784"/>
            <a:chExt cx="5908951" cy="1346396"/>
          </a:xfrm>
        </p:grpSpPr>
        <p:pic>
          <p:nvPicPr>
            <p:cNvPr id="348" name="Google Shape;34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4525" y="1060784"/>
              <a:ext cx="1514696" cy="1346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03857" y="1060784"/>
              <a:ext cx="1514696" cy="1346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24098" y="1283230"/>
              <a:ext cx="1559378" cy="6642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18"/>
          <p:cNvGrpSpPr/>
          <p:nvPr/>
        </p:nvGrpSpPr>
        <p:grpSpPr>
          <a:xfrm>
            <a:off x="654592" y="2678436"/>
            <a:ext cx="5710154" cy="1078904"/>
            <a:chOff x="474525" y="3457120"/>
            <a:chExt cx="5722992" cy="1188614"/>
          </a:xfrm>
        </p:grpSpPr>
        <p:pic>
          <p:nvPicPr>
            <p:cNvPr id="352" name="Google Shape;35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4525" y="3530018"/>
              <a:ext cx="1559378" cy="664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70820" y="3457375"/>
              <a:ext cx="1165058" cy="11883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32459" y="3457120"/>
              <a:ext cx="1165058" cy="11883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18"/>
          <p:cNvGrpSpPr/>
          <p:nvPr/>
        </p:nvGrpSpPr>
        <p:grpSpPr>
          <a:xfrm>
            <a:off x="555055" y="4348720"/>
            <a:ext cx="5793436" cy="936693"/>
            <a:chOff x="571309" y="5768317"/>
            <a:chExt cx="5793436" cy="936693"/>
          </a:xfrm>
        </p:grpSpPr>
        <p:pic>
          <p:nvPicPr>
            <p:cNvPr id="356" name="Google Shape;356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309" y="5801186"/>
              <a:ext cx="1328347" cy="90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88800" y="5801186"/>
              <a:ext cx="1328347" cy="90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71052" y="5768317"/>
              <a:ext cx="1693693" cy="8777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9" name="Google Shape;359;p18"/>
          <p:cNvGrpSpPr/>
          <p:nvPr/>
        </p:nvGrpSpPr>
        <p:grpSpPr>
          <a:xfrm>
            <a:off x="306877" y="5779352"/>
            <a:ext cx="5824227" cy="1336878"/>
            <a:chOff x="210114" y="7555831"/>
            <a:chExt cx="6092192" cy="1552786"/>
          </a:xfrm>
        </p:grpSpPr>
        <p:pic>
          <p:nvPicPr>
            <p:cNvPr descr="Geometry Pentagon" id="360" name="Google Shape;360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96335" y="7638592"/>
              <a:ext cx="1505971" cy="147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8"/>
            <p:cNvPicPr preferRelativeResize="0"/>
            <p:nvPr/>
          </p:nvPicPr>
          <p:blipFill rotWithShape="1">
            <a:blip r:embed="rId9">
              <a:alphaModFix/>
            </a:blip>
            <a:srcRect b="0" l="31942" r="46573" t="0"/>
            <a:stretch/>
          </p:blipFill>
          <p:spPr>
            <a:xfrm>
              <a:off x="2803857" y="7555831"/>
              <a:ext cx="1473390" cy="147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8"/>
            <p:cNvPicPr preferRelativeResize="0"/>
            <p:nvPr/>
          </p:nvPicPr>
          <p:blipFill rotWithShape="1">
            <a:blip r:embed="rId9">
              <a:alphaModFix/>
            </a:blip>
            <a:srcRect b="0" l="60436" r="0" t="1117"/>
            <a:stretch/>
          </p:blipFill>
          <p:spPr>
            <a:xfrm>
              <a:off x="210114" y="7555831"/>
              <a:ext cx="2158341" cy="1156293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63" name="Google Shape;363;p18"/>
          <p:cNvGraphicFramePr/>
          <p:nvPr/>
        </p:nvGraphicFramePr>
        <p:xfrm>
          <a:off x="210114" y="7332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18875"/>
                <a:gridCol w="3218875"/>
              </a:tblGrid>
              <a:tr h="21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2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64" name="Google Shape;364;p18"/>
          <p:cNvGrpSpPr/>
          <p:nvPr/>
        </p:nvGrpSpPr>
        <p:grpSpPr>
          <a:xfrm>
            <a:off x="929468" y="7678293"/>
            <a:ext cx="5054956" cy="1783063"/>
            <a:chOff x="929467" y="1055003"/>
            <a:chExt cx="5316427" cy="1960912"/>
          </a:xfrm>
        </p:grpSpPr>
        <p:pic>
          <p:nvPicPr>
            <p:cNvPr id="365" name="Google Shape;365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19023" y="1055003"/>
              <a:ext cx="2426871" cy="1960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9467" y="1055003"/>
              <a:ext cx="1866477" cy="18004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" name="Google Shape;367;p18"/>
          <p:cNvSpPr txBox="1"/>
          <p:nvPr/>
        </p:nvSpPr>
        <p:spPr>
          <a:xfrm>
            <a:off x="1072022" y="1978907"/>
            <a:ext cx="436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3364237" y="1976667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496947" y="1940244"/>
            <a:ext cx="436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FG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1082005" y="3419618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EF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3374220" y="3417378"/>
            <a:ext cx="405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5506930" y="3380955"/>
            <a:ext cx="44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580806" y="5130738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2873021" y="5128498"/>
            <a:ext cx="436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5608575" y="4993451"/>
            <a:ext cx="4844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961180" y="6886834"/>
            <a:ext cx="478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GH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3253395" y="6884594"/>
            <a:ext cx="4143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YZ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6001378" y="6848744"/>
            <a:ext cx="442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2649275" y="8634417"/>
            <a:ext cx="443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5994939" y="8712676"/>
            <a:ext cx="436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6" name="Google Shape;386;p19"/>
          <p:cNvGraphicFramePr/>
          <p:nvPr/>
        </p:nvGraphicFramePr>
        <p:xfrm>
          <a:off x="210114" y="556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2145925"/>
                <a:gridCol w="2145925"/>
                <a:gridCol w="2145925"/>
              </a:tblGrid>
              <a:tr h="22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87" name="Google Shape;387;p19"/>
          <p:cNvGrpSpPr/>
          <p:nvPr/>
        </p:nvGrpSpPr>
        <p:grpSpPr>
          <a:xfrm>
            <a:off x="567504" y="2769391"/>
            <a:ext cx="5722992" cy="1188614"/>
            <a:chOff x="522902" y="7156900"/>
            <a:chExt cx="5722992" cy="1188614"/>
          </a:xfrm>
        </p:grpSpPr>
        <p:pic>
          <p:nvPicPr>
            <p:cNvPr id="388" name="Google Shape;38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2902" y="7229798"/>
              <a:ext cx="1559378" cy="664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19197" y="7157155"/>
              <a:ext cx="1165058" cy="11883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80836" y="7156900"/>
              <a:ext cx="1165058" cy="11883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1" name="Google Shape;391;p19"/>
          <p:cNvGrpSpPr/>
          <p:nvPr/>
        </p:nvGrpSpPr>
        <p:grpSpPr>
          <a:xfrm>
            <a:off x="443744" y="883808"/>
            <a:ext cx="5908951" cy="1376847"/>
            <a:chOff x="443744" y="4454790"/>
            <a:chExt cx="5908951" cy="1376847"/>
          </a:xfrm>
        </p:grpSpPr>
        <p:pic>
          <p:nvPicPr>
            <p:cNvPr id="392" name="Google Shape;39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3744" y="4454790"/>
              <a:ext cx="1514696" cy="1346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93317" y="4677236"/>
              <a:ext cx="1559378" cy="664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73076" y="4454790"/>
              <a:ext cx="1514696" cy="13463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19"/>
            <p:cNvSpPr/>
            <p:nvPr/>
          </p:nvSpPr>
          <p:spPr>
            <a:xfrm>
              <a:off x="2919197" y="5568696"/>
              <a:ext cx="1241323" cy="2324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9"/>
            <p:cNvSpPr/>
            <p:nvPr/>
          </p:nvSpPr>
          <p:spPr>
            <a:xfrm rot="4619153">
              <a:off x="3504380" y="5084495"/>
              <a:ext cx="1241323" cy="2324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9"/>
            <p:cNvSpPr txBox="1"/>
            <p:nvPr/>
          </p:nvSpPr>
          <p:spPr>
            <a:xfrm>
              <a:off x="2981092" y="5518567"/>
              <a:ext cx="2680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9"/>
            <p:cNvSpPr txBox="1"/>
            <p:nvPr/>
          </p:nvSpPr>
          <p:spPr>
            <a:xfrm>
              <a:off x="3884152" y="5455734"/>
              <a:ext cx="25519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9"/>
            <p:cNvSpPr txBox="1"/>
            <p:nvPr/>
          </p:nvSpPr>
          <p:spPr>
            <a:xfrm>
              <a:off x="3826174" y="4556257"/>
              <a:ext cx="2600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19"/>
          <p:cNvSpPr txBox="1"/>
          <p:nvPr/>
        </p:nvSpPr>
        <p:spPr>
          <a:xfrm>
            <a:off x="136803" y="78902"/>
            <a:ext cx="65110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each angle identified below, using correct notation. Where there are two of the same, use both possible notations.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1" name="Google Shape;401;p19"/>
          <p:cNvGraphicFramePr/>
          <p:nvPr/>
        </p:nvGraphicFramePr>
        <p:xfrm>
          <a:off x="210114" y="42348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2145925"/>
                <a:gridCol w="2145925"/>
                <a:gridCol w="2145925"/>
              </a:tblGrid>
              <a:tr h="3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02" name="Google Shape;402;p19"/>
          <p:cNvGrpSpPr/>
          <p:nvPr/>
        </p:nvGrpSpPr>
        <p:grpSpPr>
          <a:xfrm>
            <a:off x="593077" y="4558638"/>
            <a:ext cx="5793436" cy="936693"/>
            <a:chOff x="593077" y="890536"/>
            <a:chExt cx="5793436" cy="936693"/>
          </a:xfrm>
        </p:grpSpPr>
        <p:pic>
          <p:nvPicPr>
            <p:cNvPr id="403" name="Google Shape;403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3077" y="923405"/>
              <a:ext cx="1328347" cy="90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10568" y="923405"/>
              <a:ext cx="1328347" cy="90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92820" y="890536"/>
              <a:ext cx="1693693" cy="877703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406" name="Google Shape;406;p19"/>
          <p:cNvGraphicFramePr/>
          <p:nvPr/>
        </p:nvGraphicFramePr>
        <p:xfrm>
          <a:off x="206358" y="7693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18875"/>
                <a:gridCol w="3218875"/>
              </a:tblGrid>
              <a:tr h="17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07" name="Google Shape;407;p19"/>
          <p:cNvGrpSpPr/>
          <p:nvPr/>
        </p:nvGrpSpPr>
        <p:grpSpPr>
          <a:xfrm>
            <a:off x="443744" y="5683547"/>
            <a:ext cx="6453269" cy="1883726"/>
            <a:chOff x="294321" y="3082014"/>
            <a:chExt cx="7126996" cy="2420390"/>
          </a:xfrm>
        </p:grpSpPr>
        <p:pic>
          <p:nvPicPr>
            <p:cNvPr descr="Geometry Pentagon" id="408" name="Google Shape;408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80542" y="3680882"/>
              <a:ext cx="1505971" cy="147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19"/>
            <p:cNvPicPr preferRelativeResize="0"/>
            <p:nvPr/>
          </p:nvPicPr>
          <p:blipFill rotWithShape="1">
            <a:blip r:embed="rId9">
              <a:alphaModFix/>
            </a:blip>
            <a:srcRect b="0" l="31942" r="46573" t="0"/>
            <a:stretch/>
          </p:blipFill>
          <p:spPr>
            <a:xfrm>
              <a:off x="2888064" y="3598121"/>
              <a:ext cx="1473390" cy="147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19"/>
            <p:cNvPicPr preferRelativeResize="0"/>
            <p:nvPr/>
          </p:nvPicPr>
          <p:blipFill rotWithShape="1">
            <a:blip r:embed="rId9">
              <a:alphaModFix/>
            </a:blip>
            <a:srcRect b="0" l="60436" r="0" t="1117"/>
            <a:stretch/>
          </p:blipFill>
          <p:spPr>
            <a:xfrm>
              <a:off x="294321" y="3598121"/>
              <a:ext cx="2158341" cy="115629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1" name="Google Shape;411;p19"/>
            <p:cNvCxnSpPr/>
            <p:nvPr/>
          </p:nvCxnSpPr>
          <p:spPr>
            <a:xfrm flipH="1">
              <a:off x="1408660" y="3814123"/>
              <a:ext cx="103617" cy="43727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12" name="Google Shape;412;p19"/>
            <p:cNvSpPr/>
            <p:nvPr/>
          </p:nvSpPr>
          <p:spPr>
            <a:xfrm rot="-587087">
              <a:off x="695363" y="4259029"/>
              <a:ext cx="1123774" cy="1156293"/>
            </a:xfrm>
            <a:prstGeom prst="arc">
              <a:avLst>
                <a:gd fmla="val 16200000" name="adj1"/>
                <a:gd fmla="val 19142583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9"/>
            <p:cNvSpPr/>
            <p:nvPr/>
          </p:nvSpPr>
          <p:spPr>
            <a:xfrm rot="-10136971">
              <a:off x="3621270" y="3178993"/>
              <a:ext cx="1123774" cy="1156293"/>
            </a:xfrm>
            <a:prstGeom prst="arc">
              <a:avLst>
                <a:gd fmla="val 17318150" name="adj1"/>
                <a:gd fmla="val 19142583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4" name="Google Shape;414;p19"/>
            <p:cNvCxnSpPr/>
            <p:nvPr/>
          </p:nvCxnSpPr>
          <p:spPr>
            <a:xfrm flipH="1" rot="10800000">
              <a:off x="3542703" y="4158497"/>
              <a:ext cx="208241" cy="17463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15" name="Google Shape;415;p19"/>
            <p:cNvSpPr/>
            <p:nvPr/>
          </p:nvSpPr>
          <p:spPr>
            <a:xfrm rot="-8444442">
              <a:off x="6058498" y="3583312"/>
              <a:ext cx="1123774" cy="1156293"/>
            </a:xfrm>
            <a:prstGeom prst="arc">
              <a:avLst>
                <a:gd fmla="val 16793750" name="adj1"/>
                <a:gd fmla="val 19330071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6" name="Google Shape;416;p19"/>
            <p:cNvCxnSpPr/>
            <p:nvPr/>
          </p:nvCxnSpPr>
          <p:spPr>
            <a:xfrm>
              <a:off x="5606589" y="4383894"/>
              <a:ext cx="425725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417" name="Google Shape;417;p19"/>
          <p:cNvGrpSpPr/>
          <p:nvPr/>
        </p:nvGrpSpPr>
        <p:grpSpPr>
          <a:xfrm>
            <a:off x="1253938" y="8028581"/>
            <a:ext cx="4508682" cy="1507359"/>
            <a:chOff x="988185" y="6658029"/>
            <a:chExt cx="5296403" cy="1960912"/>
          </a:xfrm>
        </p:grpSpPr>
        <p:pic>
          <p:nvPicPr>
            <p:cNvPr id="418" name="Google Shape;418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57717" y="6658029"/>
              <a:ext cx="2426871" cy="1960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88185" y="6658029"/>
              <a:ext cx="1866477" cy="180049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20" name="Google Shape;420;p19"/>
            <p:cNvCxnSpPr/>
            <p:nvPr/>
          </p:nvCxnSpPr>
          <p:spPr>
            <a:xfrm flipH="1" rot="10800000">
              <a:off x="1460220" y="7141032"/>
              <a:ext cx="225383" cy="270763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21" name="Google Shape;421;p19"/>
            <p:cNvCxnSpPr/>
            <p:nvPr/>
          </p:nvCxnSpPr>
          <p:spPr>
            <a:xfrm>
              <a:off x="4927480" y="7953085"/>
              <a:ext cx="287344" cy="261645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422" name="Google Shape;422;p19"/>
          <p:cNvSpPr txBox="1"/>
          <p:nvPr/>
        </p:nvSpPr>
        <p:spPr>
          <a:xfrm>
            <a:off x="749845" y="2080961"/>
            <a:ext cx="1648208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589" l="0" r="-2593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3" name="Google Shape;423;p19"/>
          <p:cNvSpPr txBox="1"/>
          <p:nvPr/>
        </p:nvSpPr>
        <p:spPr>
          <a:xfrm>
            <a:off x="2913491" y="2064990"/>
            <a:ext cx="1552797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666" l="0" r="-2353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4" name="Google Shape;424;p19"/>
          <p:cNvSpPr txBox="1"/>
          <p:nvPr/>
        </p:nvSpPr>
        <p:spPr>
          <a:xfrm>
            <a:off x="5405519" y="2090748"/>
            <a:ext cx="700769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4591" l="0" r="-6956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5" name="Google Shape;425;p19"/>
          <p:cNvSpPr txBox="1"/>
          <p:nvPr/>
        </p:nvSpPr>
        <p:spPr>
          <a:xfrm>
            <a:off x="782681" y="3874153"/>
            <a:ext cx="702436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26666" l="0" r="-6897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6" name="Google Shape;426;p19"/>
          <p:cNvSpPr txBox="1"/>
          <p:nvPr/>
        </p:nvSpPr>
        <p:spPr>
          <a:xfrm>
            <a:off x="3074896" y="3871913"/>
            <a:ext cx="708207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4589" l="0" r="-7692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7" name="Google Shape;427;p19"/>
          <p:cNvSpPr txBox="1"/>
          <p:nvPr/>
        </p:nvSpPr>
        <p:spPr>
          <a:xfrm>
            <a:off x="5080978" y="3871913"/>
            <a:ext cx="709297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9" l="0" r="-7692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8" name="Google Shape;428;p19"/>
          <p:cNvSpPr txBox="1"/>
          <p:nvPr/>
        </p:nvSpPr>
        <p:spPr>
          <a:xfrm>
            <a:off x="800230" y="5338222"/>
            <a:ext cx="728084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26666" l="0" r="-6667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9" name="Google Shape;429;p19"/>
          <p:cNvSpPr txBox="1"/>
          <p:nvPr/>
        </p:nvSpPr>
        <p:spPr>
          <a:xfrm>
            <a:off x="3092445" y="5335982"/>
            <a:ext cx="725840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24589" l="0" r="-7563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0" name="Google Shape;430;p19"/>
          <p:cNvSpPr txBox="1"/>
          <p:nvPr/>
        </p:nvSpPr>
        <p:spPr>
          <a:xfrm>
            <a:off x="4746729" y="5355713"/>
            <a:ext cx="1794081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26666" l="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1" name="Google Shape;431;p19"/>
          <p:cNvSpPr txBox="1"/>
          <p:nvPr/>
        </p:nvSpPr>
        <p:spPr>
          <a:xfrm>
            <a:off x="509963" y="7270579"/>
            <a:ext cx="1611339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26666" l="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2" name="Google Shape;432;p19"/>
          <p:cNvSpPr txBox="1"/>
          <p:nvPr/>
        </p:nvSpPr>
        <p:spPr>
          <a:xfrm>
            <a:off x="2633641" y="7288101"/>
            <a:ext cx="1576201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26666" l="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3" name="Google Shape;433;p19"/>
          <p:cNvSpPr txBox="1"/>
          <p:nvPr/>
        </p:nvSpPr>
        <p:spPr>
          <a:xfrm>
            <a:off x="4770976" y="7290423"/>
            <a:ext cx="1592487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24591" l="0" r="-3065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4" name="Google Shape;434;p19"/>
          <p:cNvSpPr txBox="1"/>
          <p:nvPr/>
        </p:nvSpPr>
        <p:spPr>
          <a:xfrm>
            <a:off x="1320568" y="9417567"/>
            <a:ext cx="1710725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26666" l="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4550545" y="9407778"/>
            <a:ext cx="1638590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6" name="Google Shape;436;p1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1" name="Google Shape;441;p20"/>
          <p:cNvGraphicFramePr/>
          <p:nvPr/>
        </p:nvGraphicFramePr>
        <p:xfrm>
          <a:off x="187004" y="154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24400"/>
                <a:gridCol w="3224400"/>
              </a:tblGrid>
              <a:tr h="3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5. Consider the following parallelogram.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6. Consider the following quadrilateral.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 Consider the following triangle.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8. Consider the following isosceles triangle.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42" name="Google Shape;4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640" y="5212730"/>
            <a:ext cx="1999164" cy="1125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271" y="716759"/>
            <a:ext cx="1951473" cy="80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2331" y="716759"/>
            <a:ext cx="1502263" cy="1042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0967" y="5117383"/>
            <a:ext cx="1674695" cy="176097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0"/>
          <p:cNvSpPr txBox="1"/>
          <p:nvPr/>
        </p:nvSpPr>
        <p:spPr>
          <a:xfrm>
            <a:off x="2377544" y="1866467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2377544" y="2422701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 txBox="1"/>
          <p:nvPr/>
        </p:nvSpPr>
        <p:spPr>
          <a:xfrm>
            <a:off x="2369313" y="2952047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 txBox="1"/>
          <p:nvPr/>
        </p:nvSpPr>
        <p:spPr>
          <a:xfrm>
            <a:off x="1652975" y="3713056"/>
            <a:ext cx="172194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0" name="Google Shape;450;p20"/>
          <p:cNvSpPr txBox="1"/>
          <p:nvPr/>
        </p:nvSpPr>
        <p:spPr>
          <a:xfrm>
            <a:off x="4780110" y="2318042"/>
            <a:ext cx="176843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1" name="Google Shape;451;p20"/>
          <p:cNvSpPr txBox="1"/>
          <p:nvPr/>
        </p:nvSpPr>
        <p:spPr>
          <a:xfrm>
            <a:off x="5664326" y="2792033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2390181" y="6606256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 txBox="1"/>
          <p:nvPr/>
        </p:nvSpPr>
        <p:spPr>
          <a:xfrm>
            <a:off x="975918" y="7457900"/>
            <a:ext cx="165782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983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4" name="Google Shape;454;p20"/>
          <p:cNvSpPr txBox="1"/>
          <p:nvPr/>
        </p:nvSpPr>
        <p:spPr>
          <a:xfrm>
            <a:off x="993992" y="8002477"/>
            <a:ext cx="1675459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6666" l="-727" r="-364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5" name="Google Shape;455;p20"/>
          <p:cNvSpPr txBox="1"/>
          <p:nvPr/>
        </p:nvSpPr>
        <p:spPr>
          <a:xfrm>
            <a:off x="1263406" y="1389082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 txBox="1"/>
          <p:nvPr/>
        </p:nvSpPr>
        <p:spPr>
          <a:xfrm>
            <a:off x="1948575" y="805152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 txBox="1"/>
          <p:nvPr/>
        </p:nvSpPr>
        <p:spPr>
          <a:xfrm>
            <a:off x="5304172" y="716759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4808783" y="781814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 txBox="1"/>
          <p:nvPr/>
        </p:nvSpPr>
        <p:spPr>
          <a:xfrm>
            <a:off x="2009160" y="5579651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 txBox="1"/>
          <p:nvPr/>
        </p:nvSpPr>
        <p:spPr>
          <a:xfrm>
            <a:off x="1379027" y="5599424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 txBox="1"/>
          <p:nvPr/>
        </p:nvSpPr>
        <p:spPr>
          <a:xfrm>
            <a:off x="1643796" y="5425806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4092785" y="6411251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4044008" y="5984920"/>
            <a:ext cx="2663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>
            <p:ph idx="12" type="sldNum"/>
          </p:nvPr>
        </p:nvSpPr>
        <p:spPr>
          <a:xfrm>
            <a:off x="5368911" y="-15512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/>
          <p:nvPr/>
        </p:nvSpPr>
        <p:spPr>
          <a:xfrm>
            <a:off x="101224" y="166077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types of angles in shapes</a:t>
            </a:r>
            <a:endParaRPr/>
          </a:p>
        </p:txBody>
      </p:sp>
      <p:graphicFrame>
        <p:nvGraphicFramePr>
          <p:cNvPr id="470" name="Google Shape;470;p21"/>
          <p:cNvGraphicFramePr/>
          <p:nvPr/>
        </p:nvGraphicFramePr>
        <p:xfrm>
          <a:off x="101224" y="4398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927475"/>
                <a:gridCol w="1909350"/>
                <a:gridCol w="1909350"/>
                <a:gridCol w="19093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Mark the two acute angles in the pentagon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Mark the reflex angle in the pentagon below, then use correct angle notation to describe 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Mark the two obtuse angles in the pentagon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Grade 6 Math Unit 1 Section D Lesson 11 - Student Edition" id="471" name="Google Shape;4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67" y="1795150"/>
            <a:ext cx="1744299" cy="110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e 6 Math Unit 1 Section D Lesson 11 - Student Edition" id="472" name="Google Shape;4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8059" y="1795150"/>
            <a:ext cx="1744299" cy="110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e 6 Math Unit 1 Section D Lesson 11 - Student Edition" id="473" name="Google Shape;4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6918" y="1795150"/>
            <a:ext cx="1744299" cy="110719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1"/>
          <p:cNvSpPr/>
          <p:nvPr/>
        </p:nvSpPr>
        <p:spPr>
          <a:xfrm>
            <a:off x="101223" y="530542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75" name="Google Shape;475;p21"/>
          <p:cNvSpPr txBox="1"/>
          <p:nvPr/>
        </p:nvSpPr>
        <p:spPr>
          <a:xfrm>
            <a:off x="1311067" y="5423013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9. Answer the following questions:</a:t>
            </a:r>
            <a:endParaRPr/>
          </a:p>
        </p:txBody>
      </p:sp>
      <p:graphicFrame>
        <p:nvGraphicFramePr>
          <p:cNvPr id="476" name="Google Shape;476;p21"/>
          <p:cNvGraphicFramePr/>
          <p:nvPr/>
        </p:nvGraphicFramePr>
        <p:xfrm>
          <a:off x="101223" y="5829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27775"/>
                <a:gridCol w="3327775"/>
              </a:tblGrid>
              <a:tr h="2165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Mark any acute angles in the hexagon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Polygon Symmetry | Definition, Shapes &amp; Lines - Lesson | Study.com" id="477" name="Google Shape;4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334" y="6144916"/>
            <a:ext cx="2371725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1"/>
          <p:cNvSpPr/>
          <p:nvPr/>
        </p:nvSpPr>
        <p:spPr>
          <a:xfrm>
            <a:off x="1311067" y="2298032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 rot="-3621524">
            <a:off x="2538504" y="2526719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 txBox="1"/>
          <p:nvPr/>
        </p:nvSpPr>
        <p:spPr>
          <a:xfrm>
            <a:off x="1096881" y="3156071"/>
            <a:ext cx="178927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1" name="Google Shape;481;p21"/>
          <p:cNvSpPr txBox="1"/>
          <p:nvPr/>
        </p:nvSpPr>
        <p:spPr>
          <a:xfrm>
            <a:off x="3008059" y="3153190"/>
            <a:ext cx="180209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1096080" y="3542881"/>
            <a:ext cx="178606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3" name="Google Shape;483;p21"/>
          <p:cNvSpPr/>
          <p:nvPr/>
        </p:nvSpPr>
        <p:spPr>
          <a:xfrm rot="-1769235">
            <a:off x="3668199" y="2228622"/>
            <a:ext cx="370791" cy="397042"/>
          </a:xfrm>
          <a:prstGeom prst="arc">
            <a:avLst>
              <a:gd fmla="val 13150650" name="adj1"/>
              <a:gd fmla="val 1883491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 txBox="1"/>
          <p:nvPr/>
        </p:nvSpPr>
        <p:spPr>
          <a:xfrm>
            <a:off x="4874249" y="3142244"/>
            <a:ext cx="177644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5" name="Google Shape;485;p21"/>
          <p:cNvSpPr txBox="1"/>
          <p:nvPr/>
        </p:nvSpPr>
        <p:spPr>
          <a:xfrm>
            <a:off x="4870242" y="3486776"/>
            <a:ext cx="181812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 rot="7264204">
            <a:off x="5337952" y="1749185"/>
            <a:ext cx="370791" cy="397042"/>
          </a:xfrm>
          <a:prstGeom prst="arc">
            <a:avLst>
              <a:gd fmla="val 15291731" name="adj1"/>
              <a:gd fmla="val 972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 rot="-10317747">
            <a:off x="6322057" y="1906085"/>
            <a:ext cx="370791" cy="397042"/>
          </a:xfrm>
          <a:prstGeom prst="arc">
            <a:avLst>
              <a:gd fmla="val 15291731" name="adj1"/>
              <a:gd fmla="val 972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 rot="8987676">
            <a:off x="2013311" y="6380819"/>
            <a:ext cx="300308" cy="397042"/>
          </a:xfrm>
          <a:prstGeom prst="arc">
            <a:avLst>
              <a:gd fmla="val 14454415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 rot="8337653">
            <a:off x="677334" y="7182545"/>
            <a:ext cx="362680" cy="397042"/>
          </a:xfrm>
          <a:prstGeom prst="arc">
            <a:avLst>
              <a:gd fmla="val 14454415" name="adj1"/>
              <a:gd fmla="val 191111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 txBox="1"/>
          <p:nvPr/>
        </p:nvSpPr>
        <p:spPr>
          <a:xfrm>
            <a:off x="4104301" y="6439785"/>
            <a:ext cx="178606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1" name="Google Shape;491;p21"/>
          <p:cNvSpPr txBox="1"/>
          <p:nvPr/>
        </p:nvSpPr>
        <p:spPr>
          <a:xfrm>
            <a:off x="4112693" y="6994859"/>
            <a:ext cx="1750800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2" name="Google Shape;492;p2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" name="Google Shape;497;p22"/>
          <p:cNvGraphicFramePr/>
          <p:nvPr/>
        </p:nvGraphicFramePr>
        <p:xfrm>
          <a:off x="101224" y="19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27775"/>
                <a:gridCol w="3327775"/>
              </a:tblGrid>
              <a:tr h="252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Mark any acute angles in the hexagon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2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96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Mark any acute angles in the square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178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Mark any right angles in the square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0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lgorithm - Area of self-intersecting polygon - Stack Overflow" id="498" name="Google Shape;498;p22"/>
          <p:cNvPicPr preferRelativeResize="0"/>
          <p:nvPr/>
        </p:nvPicPr>
        <p:blipFill rotWithShape="1">
          <a:blip r:embed="rId3">
            <a:alphaModFix/>
          </a:blip>
          <a:srcRect b="0" l="56978" r="0" t="0"/>
          <a:stretch/>
        </p:blipFill>
        <p:spPr>
          <a:xfrm>
            <a:off x="1061843" y="620074"/>
            <a:ext cx="1317127" cy="2087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734" y="3315954"/>
            <a:ext cx="2945343" cy="2743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557" y="6701146"/>
            <a:ext cx="2945343" cy="2743952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2"/>
          <p:cNvSpPr txBox="1"/>
          <p:nvPr/>
        </p:nvSpPr>
        <p:spPr>
          <a:xfrm>
            <a:off x="4036965" y="809006"/>
            <a:ext cx="1782860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2" name="Google Shape;502;p22"/>
          <p:cNvSpPr txBox="1"/>
          <p:nvPr/>
        </p:nvSpPr>
        <p:spPr>
          <a:xfrm>
            <a:off x="4045357" y="1364080"/>
            <a:ext cx="178606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3" name="Google Shape;503;p22"/>
          <p:cNvSpPr txBox="1"/>
          <p:nvPr/>
        </p:nvSpPr>
        <p:spPr>
          <a:xfrm>
            <a:off x="4128350" y="3532814"/>
            <a:ext cx="186942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4134749" y="3081779"/>
            <a:ext cx="1911101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4100305" y="7096273"/>
            <a:ext cx="184056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6" name="Google Shape;506;p22"/>
          <p:cNvSpPr txBox="1"/>
          <p:nvPr/>
        </p:nvSpPr>
        <p:spPr>
          <a:xfrm>
            <a:off x="4085877" y="7492067"/>
            <a:ext cx="1869423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 rot="8017139">
            <a:off x="1517545" y="579204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 rot="441133">
            <a:off x="1458331" y="2367941"/>
            <a:ext cx="523871" cy="397042"/>
          </a:xfrm>
          <a:prstGeom prst="arc">
            <a:avLst>
              <a:gd fmla="val 13322995" name="adj1"/>
              <a:gd fmla="val 1813678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4067019" y="3787121"/>
            <a:ext cx="202651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0" name="Google Shape;510;p22"/>
          <p:cNvSpPr txBox="1"/>
          <p:nvPr/>
        </p:nvSpPr>
        <p:spPr>
          <a:xfrm>
            <a:off x="4061011" y="5105524"/>
            <a:ext cx="198483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4133471" y="5340068"/>
            <a:ext cx="1802096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2" name="Google Shape;512;p22"/>
          <p:cNvSpPr txBox="1"/>
          <p:nvPr/>
        </p:nvSpPr>
        <p:spPr>
          <a:xfrm>
            <a:off x="4116888" y="5583505"/>
            <a:ext cx="1802096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3" name="Google Shape;513;p22"/>
          <p:cNvSpPr txBox="1"/>
          <p:nvPr/>
        </p:nvSpPr>
        <p:spPr>
          <a:xfrm>
            <a:off x="4069875" y="4315125"/>
            <a:ext cx="1975221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4" name="Google Shape;514;p22"/>
          <p:cNvSpPr txBox="1"/>
          <p:nvPr/>
        </p:nvSpPr>
        <p:spPr>
          <a:xfrm>
            <a:off x="4061962" y="4053490"/>
            <a:ext cx="1923925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5" name="Google Shape;515;p22"/>
          <p:cNvSpPr txBox="1"/>
          <p:nvPr/>
        </p:nvSpPr>
        <p:spPr>
          <a:xfrm>
            <a:off x="4055112" y="4605622"/>
            <a:ext cx="198483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6" name="Google Shape;516;p22"/>
          <p:cNvSpPr txBox="1"/>
          <p:nvPr/>
        </p:nvSpPr>
        <p:spPr>
          <a:xfrm>
            <a:off x="4061011" y="4845520"/>
            <a:ext cx="198483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7" name="Google Shape;517;p22"/>
          <p:cNvSpPr/>
          <p:nvPr/>
        </p:nvSpPr>
        <p:spPr>
          <a:xfrm rot="-9460043">
            <a:off x="2376300" y="3437352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 rot="-459689">
            <a:off x="1607074" y="3955321"/>
            <a:ext cx="300308" cy="397042"/>
          </a:xfrm>
          <a:prstGeom prst="arc">
            <a:avLst>
              <a:gd fmla="val 16200000" name="adj1"/>
              <a:gd fmla="val 20728431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 rot="10800000">
            <a:off x="1581947" y="4016117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 rot="2519022">
            <a:off x="613469" y="4557799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 rot="-384228">
            <a:off x="568485" y="4503564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 rot="7633978">
            <a:off x="568485" y="4498756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541673" y="5531498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 rot="-8477142">
            <a:off x="1490778" y="4986004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 rot="-4511388">
            <a:off x="1607074" y="5001719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 rot="1955930">
            <a:off x="817396" y="5548062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 rot="-8026897">
            <a:off x="2367748" y="5443399"/>
            <a:ext cx="300308" cy="397042"/>
          </a:xfrm>
          <a:prstGeom prst="arc">
            <a:avLst>
              <a:gd fmla="val 16200000" name="adj1"/>
              <a:gd fmla="val 2031359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 txBox="1"/>
          <p:nvPr/>
        </p:nvSpPr>
        <p:spPr>
          <a:xfrm>
            <a:off x="4128349" y="3296479"/>
            <a:ext cx="1869423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9" name="Google Shape;529;p22"/>
          <p:cNvSpPr txBox="1"/>
          <p:nvPr/>
        </p:nvSpPr>
        <p:spPr>
          <a:xfrm>
            <a:off x="4048584" y="7899984"/>
            <a:ext cx="1923925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0" name="Google Shape;530;p22"/>
          <p:cNvSpPr txBox="1"/>
          <p:nvPr/>
        </p:nvSpPr>
        <p:spPr>
          <a:xfrm>
            <a:off x="4070643" y="8299350"/>
            <a:ext cx="1904689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1" name="Google Shape;531;p22"/>
          <p:cNvSpPr txBox="1"/>
          <p:nvPr/>
        </p:nvSpPr>
        <p:spPr>
          <a:xfrm>
            <a:off x="4093083" y="8704750"/>
            <a:ext cx="1818126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2" name="Google Shape;532;p22"/>
          <p:cNvSpPr txBox="1"/>
          <p:nvPr/>
        </p:nvSpPr>
        <p:spPr>
          <a:xfrm>
            <a:off x="4104874" y="9050987"/>
            <a:ext cx="1776448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718639" y="7043830"/>
            <a:ext cx="171360" cy="1577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2655101" y="7051130"/>
            <a:ext cx="171360" cy="1577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2655101" y="8995216"/>
            <a:ext cx="171360" cy="1577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718639" y="8988782"/>
            <a:ext cx="171360" cy="1577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1780127" y="7041093"/>
            <a:ext cx="171360" cy="1577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 rot="-3515929">
            <a:off x="2457838" y="5415041"/>
            <a:ext cx="497010" cy="397042"/>
          </a:xfrm>
          <a:prstGeom prst="arc">
            <a:avLst>
              <a:gd fmla="val 14317542" name="adj1"/>
              <a:gd fmla="val 212373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 rot="-9719905">
            <a:off x="2492276" y="3645559"/>
            <a:ext cx="497010" cy="397042"/>
          </a:xfrm>
          <a:prstGeom prst="arc">
            <a:avLst>
              <a:gd fmla="val 14317542" name="adj1"/>
              <a:gd fmla="val 212373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 txBox="1"/>
          <p:nvPr/>
        </p:nvSpPr>
        <p:spPr>
          <a:xfrm>
            <a:off x="4100305" y="5801248"/>
            <a:ext cx="1795684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1" name="Google Shape;541;p22"/>
          <p:cNvSpPr txBox="1"/>
          <p:nvPr/>
        </p:nvSpPr>
        <p:spPr>
          <a:xfrm>
            <a:off x="4085193" y="5998889"/>
            <a:ext cx="1808508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2" name="Google Shape;542;p2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7" name="Google Shape;547;p23"/>
          <p:cNvGraphicFramePr/>
          <p:nvPr/>
        </p:nvGraphicFramePr>
        <p:xfrm>
          <a:off x="101224" y="1971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27775"/>
                <a:gridCol w="3327775"/>
              </a:tblGrid>
              <a:tr h="2732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Mark any obtuse angles in the square below, then use correct angle notation to describe them.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5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following questions refer to the shape below: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1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f) Write down the two lines that meet to form the reflex angle.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72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ED and CD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1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g) Write down the line that meets AB to form an obtuse angle.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72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AE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1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h) Write down the line that meets ED to form an acute angle.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72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AE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548" name="Google Shape;5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555" y="632452"/>
            <a:ext cx="2945343" cy="2743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rregular Polygon | Definition, Characteristics &amp; Examples - Video &amp; Lesson  Transcript | Study.com" id="549" name="Google Shape;549;p23"/>
          <p:cNvPicPr preferRelativeResize="0"/>
          <p:nvPr/>
        </p:nvPicPr>
        <p:blipFill rotWithShape="1">
          <a:blip r:embed="rId4">
            <a:alphaModFix/>
          </a:blip>
          <a:srcRect b="0" l="0" r="6434" t="0"/>
          <a:stretch/>
        </p:blipFill>
        <p:spPr>
          <a:xfrm>
            <a:off x="513348" y="3674301"/>
            <a:ext cx="2021150" cy="194055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3"/>
          <p:cNvSpPr txBox="1"/>
          <p:nvPr/>
        </p:nvSpPr>
        <p:spPr>
          <a:xfrm>
            <a:off x="4081684" y="798427"/>
            <a:ext cx="1955985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1" name="Google Shape;551;p23"/>
          <p:cNvSpPr txBox="1"/>
          <p:nvPr/>
        </p:nvSpPr>
        <p:spPr>
          <a:xfrm>
            <a:off x="4067256" y="1194221"/>
            <a:ext cx="1837362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2" name="Google Shape;552;p23"/>
          <p:cNvSpPr txBox="1"/>
          <p:nvPr/>
        </p:nvSpPr>
        <p:spPr>
          <a:xfrm>
            <a:off x="4029963" y="1602138"/>
            <a:ext cx="179247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4052022" y="2001504"/>
            <a:ext cx="180209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 rot="4259133">
            <a:off x="1469055" y="1266618"/>
            <a:ext cx="576343" cy="514951"/>
          </a:xfrm>
          <a:prstGeom prst="arc">
            <a:avLst>
              <a:gd fmla="val 16200000" name="adj1"/>
              <a:gd fmla="val 82722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 rot="903909">
            <a:off x="1445279" y="2257723"/>
            <a:ext cx="576343" cy="514951"/>
          </a:xfrm>
          <a:prstGeom prst="arc">
            <a:avLst>
              <a:gd fmla="val 16200000" name="adj1"/>
              <a:gd fmla="val 82722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 rot="-5705507">
            <a:off x="1469054" y="1375614"/>
            <a:ext cx="576343" cy="514951"/>
          </a:xfrm>
          <a:prstGeom prst="arc">
            <a:avLst>
              <a:gd fmla="val 16200000" name="adj1"/>
              <a:gd fmla="val 82722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 rot="7814896">
            <a:off x="1482795" y="2257722"/>
            <a:ext cx="576343" cy="514951"/>
          </a:xfrm>
          <a:prstGeom prst="arc">
            <a:avLst>
              <a:gd fmla="val 16200000" name="adj1"/>
              <a:gd fmla="val 82722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4"/>
          <p:cNvSpPr/>
          <p:nvPr/>
        </p:nvSpPr>
        <p:spPr>
          <a:xfrm>
            <a:off x="101224" y="166077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Angles as turns</a:t>
            </a:r>
            <a:endParaRPr/>
          </a:p>
        </p:txBody>
      </p:sp>
      <p:graphicFrame>
        <p:nvGraphicFramePr>
          <p:cNvPr id="565" name="Google Shape;565;p24"/>
          <p:cNvGraphicFramePr/>
          <p:nvPr/>
        </p:nvGraphicFramePr>
        <p:xfrm>
          <a:off x="113924" y="5454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1652775"/>
                <a:gridCol w="1652775"/>
                <a:gridCol w="1652775"/>
                <a:gridCol w="1652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Quarter turn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Half turn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Three quarter turn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Full turn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90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180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270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360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566" name="Google Shape;566;p24"/>
          <p:cNvPicPr preferRelativeResize="0"/>
          <p:nvPr/>
        </p:nvPicPr>
        <p:blipFill rotWithShape="1">
          <a:blip r:embed="rId3">
            <a:alphaModFix/>
          </a:blip>
          <a:srcRect b="7009" l="77500" r="2347" t="53942"/>
          <a:stretch/>
        </p:blipFill>
        <p:spPr>
          <a:xfrm>
            <a:off x="5224875" y="2308555"/>
            <a:ext cx="1382117" cy="1294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4"/>
          <p:cNvPicPr preferRelativeResize="0"/>
          <p:nvPr/>
        </p:nvPicPr>
        <p:blipFill rotWithShape="1">
          <a:blip r:embed="rId3">
            <a:alphaModFix/>
          </a:blip>
          <a:srcRect b="53205" l="1846" r="75669" t="8830"/>
          <a:stretch/>
        </p:blipFill>
        <p:spPr>
          <a:xfrm>
            <a:off x="133016" y="977146"/>
            <a:ext cx="1542082" cy="125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4"/>
          <p:cNvPicPr preferRelativeResize="0"/>
          <p:nvPr/>
        </p:nvPicPr>
        <p:blipFill rotWithShape="1">
          <a:blip r:embed="rId3">
            <a:alphaModFix/>
          </a:blip>
          <a:srcRect b="53247" l="52945" r="25360" t="9341"/>
          <a:stretch/>
        </p:blipFill>
        <p:spPr>
          <a:xfrm>
            <a:off x="203001" y="2385890"/>
            <a:ext cx="1487839" cy="1239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4"/>
          <p:cNvPicPr preferRelativeResize="0"/>
          <p:nvPr/>
        </p:nvPicPr>
        <p:blipFill rotWithShape="1">
          <a:blip r:embed="rId3">
            <a:alphaModFix/>
          </a:blip>
          <a:srcRect b="52527" l="77500" r="1066" t="9126"/>
          <a:stretch/>
        </p:blipFill>
        <p:spPr>
          <a:xfrm>
            <a:off x="1865194" y="2354893"/>
            <a:ext cx="1469940" cy="1270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4"/>
          <p:cNvPicPr preferRelativeResize="0"/>
          <p:nvPr/>
        </p:nvPicPr>
        <p:blipFill rotWithShape="1">
          <a:blip r:embed="rId3">
            <a:alphaModFix/>
          </a:blip>
          <a:srcRect b="53151" l="26881" r="51649" t="9710"/>
          <a:stretch/>
        </p:blipFill>
        <p:spPr>
          <a:xfrm>
            <a:off x="1865194" y="977146"/>
            <a:ext cx="1472339" cy="12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4"/>
          <p:cNvPicPr preferRelativeResize="0"/>
          <p:nvPr/>
        </p:nvPicPr>
        <p:blipFill rotWithShape="1">
          <a:blip r:embed="rId3">
            <a:alphaModFix/>
          </a:blip>
          <a:srcRect b="7164" l="51928" r="25473" t="53553"/>
          <a:stretch/>
        </p:blipFill>
        <p:spPr>
          <a:xfrm>
            <a:off x="3480227" y="2323895"/>
            <a:ext cx="1549831" cy="1301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4"/>
          <p:cNvPicPr preferRelativeResize="0"/>
          <p:nvPr/>
        </p:nvPicPr>
        <p:blipFill rotWithShape="1">
          <a:blip r:embed="rId3">
            <a:alphaModFix/>
          </a:blip>
          <a:srcRect b="9197" l="1345" r="77186" t="53397"/>
          <a:stretch/>
        </p:blipFill>
        <p:spPr>
          <a:xfrm>
            <a:off x="3449617" y="995698"/>
            <a:ext cx="1472338" cy="123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4"/>
          <p:cNvPicPr preferRelativeResize="0"/>
          <p:nvPr/>
        </p:nvPicPr>
        <p:blipFill rotWithShape="1">
          <a:blip r:embed="rId3">
            <a:alphaModFix/>
          </a:blip>
          <a:srcRect b="9594" l="25939" r="52818" t="53084"/>
          <a:stretch/>
        </p:blipFill>
        <p:spPr>
          <a:xfrm>
            <a:off x="5150152" y="971132"/>
            <a:ext cx="1456840" cy="12368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4" name="Google Shape;574;p24"/>
          <p:cNvGraphicFramePr/>
          <p:nvPr/>
        </p:nvGraphicFramePr>
        <p:xfrm>
          <a:off x="152451" y="42741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915900"/>
                <a:gridCol w="1885550"/>
                <a:gridCol w="1885550"/>
                <a:gridCol w="1885550"/>
              </a:tblGrid>
              <a:tr h="2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10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11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12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shape below has turned one quarter turn clockwise. Draw the new shape below.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shape below has turned half turn anticlockwise. Draw the new shape below.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shape below has turned three quarter turn anticlockwise. Draw the new shape below.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Determine how many degrees the shape has turned.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Carry out the turn and draw the new shape.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575" name="Google Shape;5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9325" y="5534023"/>
            <a:ext cx="10953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5134" y="5500949"/>
            <a:ext cx="1095375" cy="10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4994" y="5534025"/>
            <a:ext cx="111517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462396" y="7494878"/>
            <a:ext cx="111517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312536" y="7408780"/>
            <a:ext cx="1095375" cy="10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203633" y="7398731"/>
            <a:ext cx="10953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4"/>
          <p:cNvSpPr txBox="1"/>
          <p:nvPr/>
        </p:nvSpPr>
        <p:spPr>
          <a:xfrm>
            <a:off x="1729677" y="6732871"/>
            <a:ext cx="58060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2" name="Google Shape;582;p24"/>
          <p:cNvSpPr txBox="1"/>
          <p:nvPr/>
        </p:nvSpPr>
        <p:spPr>
          <a:xfrm>
            <a:off x="3546294" y="6732871"/>
            <a:ext cx="70884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3" name="Google Shape;583;p24"/>
          <p:cNvSpPr txBox="1"/>
          <p:nvPr/>
        </p:nvSpPr>
        <p:spPr>
          <a:xfrm>
            <a:off x="5492162" y="6756248"/>
            <a:ext cx="70884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4" name="Google Shape;584;p2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"/>
          <p:cNvSpPr/>
          <p:nvPr/>
        </p:nvSpPr>
        <p:spPr>
          <a:xfrm>
            <a:off x="113923" y="163000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590" name="Google Shape;590;p25"/>
          <p:cNvSpPr txBox="1"/>
          <p:nvPr/>
        </p:nvSpPr>
        <p:spPr>
          <a:xfrm>
            <a:off x="1251877" y="314244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10. Tick the correct answer for each turn:</a:t>
            </a:r>
            <a:endParaRPr/>
          </a:p>
        </p:txBody>
      </p:sp>
      <p:graphicFrame>
        <p:nvGraphicFramePr>
          <p:cNvPr id="591" name="Google Shape;591;p25"/>
          <p:cNvGraphicFramePr/>
          <p:nvPr/>
        </p:nvGraphicFramePr>
        <p:xfrm>
          <a:off x="113923" y="637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4000"/>
                <a:gridCol w="972000"/>
                <a:gridCol w="792000"/>
                <a:gridCol w="1134000"/>
                <a:gridCol w="1134000"/>
                <a:gridCol w="1134000"/>
                <a:gridCol w="1134000"/>
              </a:tblGrid>
              <a:tr h="22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Original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Turn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Tick the correct answer: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Half turn 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Quarter turn anti-clockwise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Quarter turn 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Three quarter turn 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Half turn anti-clockwise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Quarter turn anti-clockwise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Three quarter turn 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Full turn anti-clockwise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92" name="Google Shape;592;p25"/>
          <p:cNvGrpSpPr/>
          <p:nvPr/>
        </p:nvGrpSpPr>
        <p:grpSpPr>
          <a:xfrm>
            <a:off x="469900" y="1017764"/>
            <a:ext cx="6111528" cy="928234"/>
            <a:chOff x="469900" y="1347248"/>
            <a:chExt cx="6111528" cy="928234"/>
          </a:xfrm>
        </p:grpSpPr>
        <p:pic>
          <p:nvPicPr>
            <p:cNvPr id="593" name="Google Shape;593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>
              <a:off x="469900" y="1367912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4" name="Google Shape;594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>
              <a:off x="4627849" y="1378518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-5400000">
              <a:off x="3461655" y="1357580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10800000">
              <a:off x="2295461" y="1347248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7" name="Google Shape;597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5400000">
              <a:off x="5694796" y="1357580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8" name="Google Shape;598;p25"/>
          <p:cNvGrpSpPr/>
          <p:nvPr/>
        </p:nvGrpSpPr>
        <p:grpSpPr>
          <a:xfrm>
            <a:off x="501272" y="2057806"/>
            <a:ext cx="6111528" cy="928234"/>
            <a:chOff x="469900" y="1347248"/>
            <a:chExt cx="6111528" cy="928234"/>
          </a:xfrm>
        </p:grpSpPr>
        <p:pic>
          <p:nvPicPr>
            <p:cNvPr id="599" name="Google Shape;599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>
              <a:off x="469900" y="1367912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>
              <a:off x="4627849" y="1378518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-5400000">
              <a:off x="3461655" y="1357580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10800000">
              <a:off x="2295461" y="1347248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3" name="Google Shape;603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5400000">
              <a:off x="5694796" y="1357580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4" name="Google Shape;604;p25"/>
          <p:cNvGrpSpPr/>
          <p:nvPr/>
        </p:nvGrpSpPr>
        <p:grpSpPr>
          <a:xfrm>
            <a:off x="501272" y="3048345"/>
            <a:ext cx="6111528" cy="928234"/>
            <a:chOff x="469900" y="1347248"/>
            <a:chExt cx="6111528" cy="928234"/>
          </a:xfrm>
        </p:grpSpPr>
        <p:pic>
          <p:nvPicPr>
            <p:cNvPr id="605" name="Google Shape;605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>
              <a:off x="469900" y="1367912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>
              <a:off x="4627849" y="1378518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7" name="Google Shape;607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-5400000">
              <a:off x="3461655" y="1357580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10800000">
              <a:off x="2295461" y="1347248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25"/>
            <p:cNvPicPr preferRelativeResize="0"/>
            <p:nvPr/>
          </p:nvPicPr>
          <p:blipFill rotWithShape="1">
            <a:blip r:embed="rId3">
              <a:alphaModFix/>
            </a:blip>
            <a:srcRect b="0" l="12577" r="10133" t="8103"/>
            <a:stretch/>
          </p:blipFill>
          <p:spPr>
            <a:xfrm rot="5400000">
              <a:off x="5694796" y="1357580"/>
              <a:ext cx="876300" cy="8969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0" name="Google Shape;610;p25"/>
          <p:cNvGrpSpPr/>
          <p:nvPr/>
        </p:nvGrpSpPr>
        <p:grpSpPr>
          <a:xfrm>
            <a:off x="494210" y="4095198"/>
            <a:ext cx="6164137" cy="941399"/>
            <a:chOff x="469900" y="4382796"/>
            <a:chExt cx="6164137" cy="941399"/>
          </a:xfrm>
        </p:grpSpPr>
        <p:pic>
          <p:nvPicPr>
            <p:cNvPr id="611" name="Google Shape;611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>
              <a:off x="469900" y="4382796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 rot="5400000">
              <a:off x="2317160" y="4418333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 rot="-5400000">
              <a:off x="3481011" y="4404496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 rot="10800000">
              <a:off x="4623162" y="4404495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>
              <a:off x="5757737" y="4382796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6" name="Google Shape;616;p25"/>
          <p:cNvGrpSpPr/>
          <p:nvPr/>
        </p:nvGrpSpPr>
        <p:grpSpPr>
          <a:xfrm>
            <a:off x="501272" y="5176915"/>
            <a:ext cx="6164137" cy="941399"/>
            <a:chOff x="501272" y="5577651"/>
            <a:chExt cx="6164137" cy="941399"/>
          </a:xfrm>
        </p:grpSpPr>
        <p:pic>
          <p:nvPicPr>
            <p:cNvPr id="617" name="Google Shape;617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>
              <a:off x="501272" y="5577651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 rot="5400000">
              <a:off x="2348532" y="5613188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 rot="-5400000">
              <a:off x="3512383" y="5599351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 rot="10800000">
              <a:off x="4654534" y="5599350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1" name="Google Shape;621;p25"/>
            <p:cNvPicPr preferRelativeResize="0"/>
            <p:nvPr/>
          </p:nvPicPr>
          <p:blipFill rotWithShape="1">
            <a:blip r:embed="rId4">
              <a:alphaModFix/>
            </a:blip>
            <a:srcRect b="0" l="9725" r="11695" t="2469"/>
            <a:stretch/>
          </p:blipFill>
          <p:spPr>
            <a:xfrm>
              <a:off x="5789109" y="5577651"/>
              <a:ext cx="876300" cy="91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2" name="Google Shape;622;p25"/>
          <p:cNvGrpSpPr/>
          <p:nvPr/>
        </p:nvGrpSpPr>
        <p:grpSpPr>
          <a:xfrm>
            <a:off x="478321" y="6125856"/>
            <a:ext cx="6259602" cy="1098089"/>
            <a:chOff x="469900" y="6591393"/>
            <a:chExt cx="6259602" cy="1098089"/>
          </a:xfrm>
        </p:grpSpPr>
        <p:pic>
          <p:nvPicPr>
            <p:cNvPr id="623" name="Google Shape;623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>
              <a:off x="469900" y="6648594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>
              <a:off x="2348532" y="6670308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 rot="5400000">
              <a:off x="3462646" y="6598871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 rot="10800000">
              <a:off x="4614739" y="6591393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 rot="-5400000">
              <a:off x="5781765" y="6659743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8" name="Google Shape;628;p25"/>
          <p:cNvGrpSpPr/>
          <p:nvPr/>
        </p:nvGrpSpPr>
        <p:grpSpPr>
          <a:xfrm>
            <a:off x="469900" y="7137263"/>
            <a:ext cx="6259602" cy="1105855"/>
            <a:chOff x="469900" y="6992885"/>
            <a:chExt cx="6259602" cy="1105855"/>
          </a:xfrm>
        </p:grpSpPr>
        <p:pic>
          <p:nvPicPr>
            <p:cNvPr id="629" name="Google Shape;629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>
              <a:off x="469900" y="7057852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0" name="Google Shape;630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>
              <a:off x="2348532" y="7079566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1" name="Google Shape;631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 rot="5400000">
              <a:off x="3462646" y="7008129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 rot="10800000">
              <a:off x="4623160" y="6992885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25"/>
            <p:cNvPicPr preferRelativeResize="0"/>
            <p:nvPr/>
          </p:nvPicPr>
          <p:blipFill rotWithShape="1">
            <a:blip r:embed="rId5">
              <a:alphaModFix/>
            </a:blip>
            <a:srcRect b="-10816" l="0" r="9778" t="0"/>
            <a:stretch/>
          </p:blipFill>
          <p:spPr>
            <a:xfrm rot="-5400000">
              <a:off x="5781765" y="7069001"/>
              <a:ext cx="876300" cy="10191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4" name="Google Shape;634;p25"/>
          <p:cNvPicPr preferRelativeResize="0"/>
          <p:nvPr/>
        </p:nvPicPr>
        <p:blipFill rotWithShape="1">
          <a:blip r:embed="rId6">
            <a:alphaModFix/>
          </a:blip>
          <a:srcRect b="2154" l="0" r="4663" t="8569"/>
          <a:stretch/>
        </p:blipFill>
        <p:spPr>
          <a:xfrm>
            <a:off x="469900" y="8258314"/>
            <a:ext cx="876300" cy="1167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25"/>
          <p:cNvPicPr preferRelativeResize="0"/>
          <p:nvPr/>
        </p:nvPicPr>
        <p:blipFill rotWithShape="1">
          <a:blip r:embed="rId6">
            <a:alphaModFix/>
          </a:blip>
          <a:srcRect b="2154" l="0" r="4663" t="8569"/>
          <a:stretch/>
        </p:blipFill>
        <p:spPr>
          <a:xfrm>
            <a:off x="2340111" y="8248984"/>
            <a:ext cx="876300" cy="1167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25"/>
          <p:cNvPicPr preferRelativeResize="0"/>
          <p:nvPr/>
        </p:nvPicPr>
        <p:blipFill rotWithShape="1">
          <a:blip r:embed="rId6">
            <a:alphaModFix/>
          </a:blip>
          <a:srcRect b="2154" l="0" r="4663" t="8569"/>
          <a:stretch/>
        </p:blipFill>
        <p:spPr>
          <a:xfrm rot="10800000">
            <a:off x="3503359" y="8235352"/>
            <a:ext cx="876300" cy="1167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5"/>
          <p:cNvPicPr preferRelativeResize="0"/>
          <p:nvPr/>
        </p:nvPicPr>
        <p:blipFill rotWithShape="1">
          <a:blip r:embed="rId6">
            <a:alphaModFix/>
          </a:blip>
          <a:srcRect b="-1100" l="-2249" r="4664" t="8569"/>
          <a:stretch/>
        </p:blipFill>
        <p:spPr>
          <a:xfrm rot="5400000">
            <a:off x="4624428" y="8215784"/>
            <a:ext cx="828000" cy="111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5"/>
          <p:cNvPicPr preferRelativeResize="0"/>
          <p:nvPr/>
        </p:nvPicPr>
        <p:blipFill rotWithShape="1">
          <a:blip r:embed="rId6">
            <a:alphaModFix/>
          </a:blip>
          <a:srcRect b="-1100" l="-2249" r="4664" t="8569"/>
          <a:stretch/>
        </p:blipFill>
        <p:spPr>
          <a:xfrm rot="-5400000">
            <a:off x="5769484" y="8257283"/>
            <a:ext cx="828000" cy="1117299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5"/>
          <p:cNvSpPr/>
          <p:nvPr/>
        </p:nvSpPr>
        <p:spPr>
          <a:xfrm>
            <a:off x="2134504" y="936355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3332071" y="1966662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5584378" y="3058282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3300699" y="4074940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4520537" y="5154078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5624834" y="6170925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5624834" y="7195848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2133859" y="8243118"/>
            <a:ext cx="1198212" cy="100877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2" name="Google Shape;652;p26"/>
          <p:cNvGraphicFramePr/>
          <p:nvPr/>
        </p:nvGraphicFramePr>
        <p:xfrm>
          <a:off x="142733" y="241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1570575"/>
                <a:gridCol w="1597800"/>
                <a:gridCol w="1713300"/>
                <a:gridCol w="1690875"/>
              </a:tblGrid>
              <a:tr h="23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13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14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15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Sam starts by facing North. 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She turns clockwise to face West.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many degrees has she turned through?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Sam starts by facing East. She makes a quarter turn clockwise.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Where is she now facing?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Sam starts by facing West. She turns anticlockwise to face East.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many degrees has she turned through?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6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Use your knowledge of how much of a full turn North, East, South and West are to answer these questions.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53" name="Google Shape;6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81" y="812272"/>
            <a:ext cx="796508" cy="827241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6"/>
          <p:cNvSpPr/>
          <p:nvPr/>
        </p:nvSpPr>
        <p:spPr>
          <a:xfrm>
            <a:off x="133935" y="3489536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1271889" y="3609199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11. Answer the following questions:</a:t>
            </a:r>
            <a:endParaRPr/>
          </a:p>
        </p:txBody>
      </p:sp>
      <p:graphicFrame>
        <p:nvGraphicFramePr>
          <p:cNvPr id="656" name="Google Shape;656;p26"/>
          <p:cNvGraphicFramePr/>
          <p:nvPr/>
        </p:nvGraphicFramePr>
        <p:xfrm>
          <a:off x="117892" y="3978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98675"/>
                <a:gridCol w="3298675"/>
              </a:tblGrid>
              <a:tr h="82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The arrow on a spinner points North. The spinner turns clockwise to point East. How many degrees has the spinner turned?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The arrow on a spinner points North. The spinner turns anti-clockwise to point East. How many degrees has the spinner turned?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7" name="Google Shape;657;p26"/>
          <p:cNvGraphicFramePr/>
          <p:nvPr/>
        </p:nvGraphicFramePr>
        <p:xfrm>
          <a:off x="117892" y="5549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98675"/>
                <a:gridCol w="3298675"/>
              </a:tblGrid>
              <a:tr h="43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Harry starts by facing East. He makes a quarter turn anti-clockwise. Where is he now facing?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Harry starts by facing South. He makes a half turn clockwise. Where is he now facing?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Mustafa starts by facing South. He turns anti-clockwise through 270°. Which direction is he now facing?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Mustafa starts by facing West. He turns clockwise through 90°. Which direction is he now facing?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The arrow on a spinner points North. The spinner turns clockwise to point West. How many degrees has the spinner turned?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The arrow on a spinner points North. The spinner turns anti-clockwise to point West. How many degrees has the spinner turned?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58" name="Google Shape;658;p26"/>
          <p:cNvSpPr txBox="1"/>
          <p:nvPr/>
        </p:nvSpPr>
        <p:spPr>
          <a:xfrm>
            <a:off x="2006815" y="1944497"/>
            <a:ext cx="737701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9" name="Google Shape;659;p26"/>
          <p:cNvSpPr txBox="1"/>
          <p:nvPr/>
        </p:nvSpPr>
        <p:spPr>
          <a:xfrm>
            <a:off x="3975315" y="1944497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South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 txBox="1"/>
          <p:nvPr/>
        </p:nvSpPr>
        <p:spPr>
          <a:xfrm>
            <a:off x="5842215" y="1944497"/>
            <a:ext cx="73770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1430792" y="4788973"/>
            <a:ext cx="59984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2" name="Google Shape;662;p26"/>
          <p:cNvSpPr txBox="1"/>
          <p:nvPr/>
        </p:nvSpPr>
        <p:spPr>
          <a:xfrm>
            <a:off x="4843463" y="4788973"/>
            <a:ext cx="73770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3" name="Google Shape;663;p26"/>
          <p:cNvSpPr txBox="1"/>
          <p:nvPr/>
        </p:nvSpPr>
        <p:spPr>
          <a:xfrm>
            <a:off x="1430792" y="5990822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North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 txBox="1"/>
          <p:nvPr/>
        </p:nvSpPr>
        <p:spPr>
          <a:xfrm>
            <a:off x="4636089" y="5990822"/>
            <a:ext cx="670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West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6"/>
          <p:cNvSpPr txBox="1"/>
          <p:nvPr/>
        </p:nvSpPr>
        <p:spPr>
          <a:xfrm>
            <a:off x="1514132" y="7426207"/>
            <a:ext cx="670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West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719429" y="742620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North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1430792" y="8980990"/>
            <a:ext cx="737702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8" name="Google Shape;668;p26"/>
          <p:cNvSpPr txBox="1"/>
          <p:nvPr/>
        </p:nvSpPr>
        <p:spPr>
          <a:xfrm>
            <a:off x="4843463" y="8980990"/>
            <a:ext cx="59984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9" name="Google Shape;669;p2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4" name="Google Shape;674;p27"/>
          <p:cNvGraphicFramePr/>
          <p:nvPr/>
        </p:nvGraphicFramePr>
        <p:xfrm>
          <a:off x="212006" y="4245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12. The arrow on a spinner started in this position: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After making a turn it ended in this position: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Jack says “The arrow has moved two right-angles anti-clockwise.”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Alex says “The arrow has moved half a turn clockwise”.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Who do you agree with – Jack, Alex, both of them or neither of them?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Both of them. A half turn is the same as two right angles, which is 180 degrees. When turning 180 degrees, the direction doesn’t matter, as you end up in the same place.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75" name="Google Shape;675;p27"/>
          <p:cNvPicPr preferRelativeResize="0"/>
          <p:nvPr/>
        </p:nvPicPr>
        <p:blipFill rotWithShape="1">
          <a:blip r:embed="rId3">
            <a:alphaModFix/>
          </a:blip>
          <a:srcRect b="38384" l="19487" r="64139" t="37487"/>
          <a:stretch/>
        </p:blipFill>
        <p:spPr>
          <a:xfrm>
            <a:off x="3157954" y="882658"/>
            <a:ext cx="971181" cy="9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27"/>
          <p:cNvPicPr preferRelativeResize="0"/>
          <p:nvPr/>
        </p:nvPicPr>
        <p:blipFill rotWithShape="1">
          <a:blip r:embed="rId3">
            <a:alphaModFix/>
          </a:blip>
          <a:srcRect b="65790" l="19136" r="65192" t="10598"/>
          <a:stretch/>
        </p:blipFill>
        <p:spPr>
          <a:xfrm>
            <a:off x="4129135" y="445666"/>
            <a:ext cx="949899" cy="9702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7" name="Google Shape;677;p27"/>
          <p:cNvGraphicFramePr/>
          <p:nvPr/>
        </p:nvGraphicFramePr>
        <p:xfrm>
          <a:off x="212006" y="5136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13. The arrow on a spinner started in this position: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After making a turn it ended in this position: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Jack says “The arrow has moved a quarter turn anti-clockwise.”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Alex says “The arrow has moved a three-quarter turn clockwise”.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Who do you agree with – Jack, Alex, both of them or neither of them?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Both of them. A quarter turn anti-clockwise is the same as a three-quarter turn clockwise.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78" name="Google Shape;678;p27"/>
          <p:cNvPicPr preferRelativeResize="0"/>
          <p:nvPr/>
        </p:nvPicPr>
        <p:blipFill rotWithShape="1">
          <a:blip r:embed="rId3">
            <a:alphaModFix/>
          </a:blip>
          <a:srcRect b="38384" l="19487" r="64139" t="37487"/>
          <a:stretch/>
        </p:blipFill>
        <p:spPr>
          <a:xfrm rot="5400000">
            <a:off x="3169979" y="5720206"/>
            <a:ext cx="971181" cy="9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27"/>
          <p:cNvPicPr preferRelativeResize="0"/>
          <p:nvPr/>
        </p:nvPicPr>
        <p:blipFill rotWithShape="1">
          <a:blip r:embed="rId3">
            <a:alphaModFix/>
          </a:blip>
          <a:srcRect b="65790" l="19136" r="65192" t="10598"/>
          <a:stretch/>
        </p:blipFill>
        <p:spPr>
          <a:xfrm>
            <a:off x="4129134" y="5144648"/>
            <a:ext cx="949899" cy="970238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27"/>
          <p:cNvSpPr txBox="1"/>
          <p:nvPr>
            <p:ph idx="12" type="sldNum"/>
          </p:nvPr>
        </p:nvSpPr>
        <p:spPr>
          <a:xfrm>
            <a:off x="5114899" y="-679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5" name="Google Shape;685;p28"/>
          <p:cNvGraphicFramePr/>
          <p:nvPr/>
        </p:nvGraphicFramePr>
        <p:xfrm>
          <a:off x="212006" y="3940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14. A ship is sailing North. It turns to face east. Mo and Rosie are discussing how far the ship has turned.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Mo says “I think the ship has turned one quarter clockwise.”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Rosie says “I think the ship has turned 270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”.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Who do you agree with – Mo, Rosie, both of them or neither of them?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Mo is definitely correct, but Rosie could be correct if she meant that the ship was turning 270 degrees anti-clockwise.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6" name="Google Shape;686;p28"/>
          <p:cNvGraphicFramePr/>
          <p:nvPr/>
        </p:nvGraphicFramePr>
        <p:xfrm>
          <a:off x="212006" y="4167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15. Me and my friend start in the same position. If I make a quarter turn anti-clockwise and my friend makes a half turn clockwise, will we end in the same position?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No. A quarter turn anti-clockwise is the same as three quarters clockwise.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7" name="Google Shape;687;p28"/>
          <p:cNvGraphicFramePr/>
          <p:nvPr/>
        </p:nvGraphicFramePr>
        <p:xfrm>
          <a:off x="212006" y="7021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16. I want to make a whole turn in my gymnastics jump. How many quarters do I need to turn?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Four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8" name="Google Shape;688;p28"/>
          <p:cNvGraphicFramePr/>
          <p:nvPr/>
        </p:nvGraphicFramePr>
        <p:xfrm>
          <a:off x="212006" y="8400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17. Asif is facing East. He turns anticlockwise through 540°. Which direction is he now facing?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540 degrees = 1 full turn and a half turn. Asif would now be facing West.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89" name="Google Shape;689;p28"/>
          <p:cNvSpPr txBox="1"/>
          <p:nvPr>
            <p:ph idx="12" type="sldNum"/>
          </p:nvPr>
        </p:nvSpPr>
        <p:spPr>
          <a:xfrm>
            <a:off x="5269230" y="-3985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9"/>
          <p:cNvSpPr/>
          <p:nvPr/>
        </p:nvSpPr>
        <p:spPr>
          <a:xfrm>
            <a:off x="101224" y="166077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Parallel and Perpendicular Lines</a:t>
            </a:r>
            <a:endParaRPr/>
          </a:p>
        </p:txBody>
      </p:sp>
      <p:graphicFrame>
        <p:nvGraphicFramePr>
          <p:cNvPr id="696" name="Google Shape;696;p29"/>
          <p:cNvGraphicFramePr/>
          <p:nvPr/>
        </p:nvGraphicFramePr>
        <p:xfrm>
          <a:off x="89192" y="36648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932125"/>
                <a:gridCol w="1918925"/>
                <a:gridCol w="1918925"/>
                <a:gridCol w="1918925"/>
              </a:tblGrid>
              <a:tr h="2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16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17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18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down the lines that are parallel in the shape below.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Write down the lines that are parallel in the shape below.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Write down the lines that are parallel in the shape below.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3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pair(s) of lines that are parallel.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Describe them using correct line notation.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7" name="Google Shape;697;p29"/>
          <p:cNvSpPr/>
          <p:nvPr/>
        </p:nvSpPr>
        <p:spPr>
          <a:xfrm>
            <a:off x="85182" y="548132"/>
            <a:ext cx="6714996" cy="28836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8" name="Google Shape;698;p29"/>
          <p:cNvCxnSpPr/>
          <p:nvPr/>
        </p:nvCxnSpPr>
        <p:spPr>
          <a:xfrm>
            <a:off x="92171" y="2011193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9" name="Google Shape;699;p29"/>
          <p:cNvCxnSpPr>
            <a:stCxn id="697" idx="2"/>
            <a:endCxn id="697" idx="0"/>
          </p:cNvCxnSpPr>
          <p:nvPr/>
        </p:nvCxnSpPr>
        <p:spPr>
          <a:xfrm rot="10800000">
            <a:off x="3442680" y="548219"/>
            <a:ext cx="0" cy="288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0" name="Google Shape;700;p29"/>
          <p:cNvSpPr txBox="1"/>
          <p:nvPr/>
        </p:nvSpPr>
        <p:spPr>
          <a:xfrm>
            <a:off x="89720" y="52772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9"/>
          <p:cNvSpPr txBox="1"/>
          <p:nvPr/>
        </p:nvSpPr>
        <p:spPr>
          <a:xfrm>
            <a:off x="85771" y="201611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9"/>
          <p:cNvSpPr txBox="1"/>
          <p:nvPr/>
        </p:nvSpPr>
        <p:spPr>
          <a:xfrm>
            <a:off x="5653031" y="203315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9"/>
          <p:cNvSpPr txBox="1"/>
          <p:nvPr/>
        </p:nvSpPr>
        <p:spPr>
          <a:xfrm>
            <a:off x="2588649" y="1810048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Lines</a:t>
            </a:r>
            <a:endParaRPr/>
          </a:p>
        </p:txBody>
      </p:sp>
      <p:sp>
        <p:nvSpPr>
          <p:cNvPr id="704" name="Google Shape;704;p29"/>
          <p:cNvSpPr txBox="1"/>
          <p:nvPr/>
        </p:nvSpPr>
        <p:spPr>
          <a:xfrm>
            <a:off x="5677895" y="520635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9"/>
          <p:cNvSpPr txBox="1"/>
          <p:nvPr/>
        </p:nvSpPr>
        <p:spPr>
          <a:xfrm>
            <a:off x="73149" y="798180"/>
            <a:ext cx="33755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Lines that are the same distance apart along their whole length.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9"/>
          <p:cNvSpPr txBox="1"/>
          <p:nvPr/>
        </p:nvSpPr>
        <p:spPr>
          <a:xfrm>
            <a:off x="3503189" y="764741"/>
            <a:ext cx="34587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lines never meet.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Shown by placing arrows on the lines that are parallel:</a:t>
            </a:r>
            <a:endParaRPr/>
          </a:p>
        </p:txBody>
      </p:sp>
      <p:pic>
        <p:nvPicPr>
          <p:cNvPr id="707" name="Google Shape;707;p29"/>
          <p:cNvPicPr preferRelativeResize="0"/>
          <p:nvPr/>
        </p:nvPicPr>
        <p:blipFill rotWithShape="1">
          <a:blip r:embed="rId3">
            <a:alphaModFix/>
          </a:blip>
          <a:srcRect b="15008" l="16761" r="0" t="0"/>
          <a:stretch/>
        </p:blipFill>
        <p:spPr>
          <a:xfrm>
            <a:off x="5274284" y="1206501"/>
            <a:ext cx="1112229" cy="73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31" y="2283636"/>
            <a:ext cx="1957669" cy="1097849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29"/>
          <p:cNvSpPr/>
          <p:nvPr/>
        </p:nvSpPr>
        <p:spPr>
          <a:xfrm>
            <a:off x="817581" y="3076687"/>
            <a:ext cx="500231" cy="2097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29"/>
          <p:cNvPicPr preferRelativeResize="0"/>
          <p:nvPr/>
        </p:nvPicPr>
        <p:blipFill rotWithShape="1">
          <a:blip r:embed="rId5">
            <a:alphaModFix/>
          </a:blip>
          <a:srcRect b="10700" l="0" r="0" t="0"/>
          <a:stretch/>
        </p:blipFill>
        <p:spPr>
          <a:xfrm>
            <a:off x="3503189" y="2521546"/>
            <a:ext cx="2045677" cy="893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0185" y="2244182"/>
            <a:ext cx="824520" cy="5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8883" y="2791111"/>
            <a:ext cx="861060" cy="634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and Perpendicular Lines - Polygons | Shmoop" id="713" name="Google Shape;713;p29"/>
          <p:cNvPicPr preferRelativeResize="0"/>
          <p:nvPr/>
        </p:nvPicPr>
        <p:blipFill rotWithShape="1">
          <a:blip r:embed="rId8">
            <a:alphaModFix/>
          </a:blip>
          <a:srcRect b="56446" l="0" r="59268" t="0"/>
          <a:stretch/>
        </p:blipFill>
        <p:spPr>
          <a:xfrm>
            <a:off x="5749775" y="2501844"/>
            <a:ext cx="872927" cy="813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29"/>
          <p:cNvPicPr preferRelativeResize="0"/>
          <p:nvPr/>
        </p:nvPicPr>
        <p:blipFill rotWithShape="1">
          <a:blip r:embed="rId9">
            <a:alphaModFix/>
          </a:blip>
          <a:srcRect b="30488" l="21642" r="21993" t="6355"/>
          <a:stretch/>
        </p:blipFill>
        <p:spPr>
          <a:xfrm rot="1904904">
            <a:off x="4851014" y="2118253"/>
            <a:ext cx="536034" cy="62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Sides &amp; Parallel Shapes" id="715" name="Google Shape;715;p29"/>
          <p:cNvPicPr preferRelativeResize="0"/>
          <p:nvPr/>
        </p:nvPicPr>
        <p:blipFill rotWithShape="1">
          <a:blip r:embed="rId10">
            <a:alphaModFix/>
          </a:blip>
          <a:srcRect b="31807" l="17369" r="46842" t="31125"/>
          <a:stretch/>
        </p:blipFill>
        <p:spPr>
          <a:xfrm>
            <a:off x="2993662" y="4599946"/>
            <a:ext cx="1733579" cy="1009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Sides" id="716" name="Google Shape;716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65716" y="4645125"/>
            <a:ext cx="1729363" cy="849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aw and label the following: A quadrilateral with at least one pair of  sides parallel. Make sure to label your vertices and write the name of your  quadrilateral below it. | Homework.Study.com" id="717" name="Google Shape;717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59842" y="4645125"/>
            <a:ext cx="1595345" cy="1043543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9"/>
          <p:cNvSpPr/>
          <p:nvPr/>
        </p:nvSpPr>
        <p:spPr>
          <a:xfrm rot="-8105909">
            <a:off x="1929882" y="4719186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 rot="-8105909">
            <a:off x="1933431" y="5559158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101224" y="7258441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21" name="Google Shape;721;p29"/>
          <p:cNvSpPr txBox="1"/>
          <p:nvPr/>
        </p:nvSpPr>
        <p:spPr>
          <a:xfrm>
            <a:off x="1239178" y="7242461"/>
            <a:ext cx="57759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18. Write down the lines that are parallel, if there are any, in the following shapes:</a:t>
            </a:r>
            <a:endParaRPr/>
          </a:p>
        </p:txBody>
      </p:sp>
      <p:graphicFrame>
        <p:nvGraphicFramePr>
          <p:cNvPr id="722" name="Google Shape;722;p29"/>
          <p:cNvGraphicFramePr/>
          <p:nvPr/>
        </p:nvGraphicFramePr>
        <p:xfrm>
          <a:off x="101224" y="770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38425"/>
                <a:gridCol w="3338425"/>
              </a:tblGrid>
              <a:tr h="1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Parallel Lines Worksheet" id="723" name="Google Shape;723;p29"/>
          <p:cNvPicPr preferRelativeResize="0"/>
          <p:nvPr/>
        </p:nvPicPr>
        <p:blipFill rotWithShape="1">
          <a:blip r:embed="rId13">
            <a:alphaModFix/>
          </a:blip>
          <a:srcRect b="24020" l="13992" r="60124" t="54253"/>
          <a:stretch/>
        </p:blipFill>
        <p:spPr>
          <a:xfrm>
            <a:off x="243680" y="8021290"/>
            <a:ext cx="1424634" cy="13788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29"/>
          <p:cNvGrpSpPr/>
          <p:nvPr/>
        </p:nvGrpSpPr>
        <p:grpSpPr>
          <a:xfrm>
            <a:off x="486470" y="8331134"/>
            <a:ext cx="809736" cy="657431"/>
            <a:chOff x="486470" y="8331134"/>
            <a:chExt cx="809736" cy="657431"/>
          </a:xfrm>
        </p:grpSpPr>
        <p:sp>
          <p:nvSpPr>
            <p:cNvPr id="725" name="Google Shape;725;p29"/>
            <p:cNvSpPr/>
            <p:nvPr/>
          </p:nvSpPr>
          <p:spPr>
            <a:xfrm rot="-10596364">
              <a:off x="672181" y="8335230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9"/>
            <p:cNvSpPr/>
            <p:nvPr/>
          </p:nvSpPr>
          <p:spPr>
            <a:xfrm rot="-10596364">
              <a:off x="1075018" y="8917936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7" name="Google Shape;727;p29"/>
            <p:cNvGrpSpPr/>
            <p:nvPr/>
          </p:nvGrpSpPr>
          <p:grpSpPr>
            <a:xfrm>
              <a:off x="1180058" y="8331134"/>
              <a:ext cx="116148" cy="116788"/>
              <a:chOff x="1174264" y="8311206"/>
              <a:chExt cx="116148" cy="116788"/>
            </a:xfrm>
          </p:grpSpPr>
          <p:sp>
            <p:nvSpPr>
              <p:cNvPr id="728" name="Google Shape;728;p29"/>
              <p:cNvSpPr/>
              <p:nvPr/>
            </p:nvSpPr>
            <p:spPr>
              <a:xfrm rot="-5166119">
                <a:off x="1178821" y="8311005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 rot="-5400000">
                <a:off x="1224079" y="8361660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>
              <a:off x="486470" y="8817114"/>
              <a:ext cx="116148" cy="116788"/>
              <a:chOff x="1326664" y="8463606"/>
              <a:chExt cx="116148" cy="116788"/>
            </a:xfrm>
          </p:grpSpPr>
          <p:sp>
            <p:nvSpPr>
              <p:cNvPr id="731" name="Google Shape;731;p29"/>
              <p:cNvSpPr/>
              <p:nvPr/>
            </p:nvSpPr>
            <p:spPr>
              <a:xfrm rot="-5166119">
                <a:off x="1331221" y="8463405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 rot="-5400000">
                <a:off x="1376479" y="8514060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3" name="Google Shape;733;p29"/>
          <p:cNvGrpSpPr/>
          <p:nvPr/>
        </p:nvGrpSpPr>
        <p:grpSpPr>
          <a:xfrm>
            <a:off x="3597970" y="8060483"/>
            <a:ext cx="1634582" cy="1236561"/>
            <a:chOff x="3597970" y="8060483"/>
            <a:chExt cx="1634582" cy="1236561"/>
          </a:xfrm>
        </p:grpSpPr>
        <p:pic>
          <p:nvPicPr>
            <p:cNvPr descr="Parallel Lines Worksheet" id="734" name="Google Shape;734;p29"/>
            <p:cNvPicPr preferRelativeResize="0"/>
            <p:nvPr/>
          </p:nvPicPr>
          <p:blipFill rotWithShape="1">
            <a:blip r:embed="rId13">
              <a:alphaModFix/>
            </a:blip>
            <a:srcRect b="69131" l="63519" r="13816" t="15999"/>
            <a:stretch/>
          </p:blipFill>
          <p:spPr>
            <a:xfrm>
              <a:off x="3597970" y="8060483"/>
              <a:ext cx="1634582" cy="12365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5" name="Google Shape;735;p29"/>
            <p:cNvSpPr/>
            <p:nvPr/>
          </p:nvSpPr>
          <p:spPr>
            <a:xfrm rot="-8384834">
              <a:off x="4383327" y="8219964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9"/>
            <p:cNvSpPr/>
            <p:nvPr/>
          </p:nvSpPr>
          <p:spPr>
            <a:xfrm rot="-8384834">
              <a:off x="4383325" y="9124788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7" name="Google Shape;737;p29"/>
          <p:cNvSpPr txBox="1"/>
          <p:nvPr/>
        </p:nvSpPr>
        <p:spPr>
          <a:xfrm>
            <a:off x="1400503" y="5763423"/>
            <a:ext cx="1188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 and AB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9"/>
          <p:cNvSpPr txBox="1"/>
          <p:nvPr/>
        </p:nvSpPr>
        <p:spPr>
          <a:xfrm>
            <a:off x="3230244" y="5763423"/>
            <a:ext cx="11624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 and 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9"/>
          <p:cNvSpPr txBox="1"/>
          <p:nvPr/>
        </p:nvSpPr>
        <p:spPr>
          <a:xfrm>
            <a:off x="5127922" y="5715481"/>
            <a:ext cx="12057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DC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 and BC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9"/>
          <p:cNvSpPr txBox="1"/>
          <p:nvPr/>
        </p:nvSpPr>
        <p:spPr>
          <a:xfrm>
            <a:off x="1926646" y="8331053"/>
            <a:ext cx="1217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AZ and FW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FZ and AW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9"/>
          <p:cNvSpPr txBox="1"/>
          <p:nvPr/>
        </p:nvSpPr>
        <p:spPr>
          <a:xfrm>
            <a:off x="5285370" y="8445880"/>
            <a:ext cx="10615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 and JK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0"/>
          <p:cNvSpPr txBox="1"/>
          <p:nvPr/>
        </p:nvSpPr>
        <p:spPr>
          <a:xfrm>
            <a:off x="70131" y="133083"/>
            <a:ext cx="65126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18 continued.</a:t>
            </a:r>
            <a:endParaRPr/>
          </a:p>
        </p:txBody>
      </p:sp>
      <p:graphicFrame>
        <p:nvGraphicFramePr>
          <p:cNvPr id="748" name="Google Shape;748;p30"/>
          <p:cNvGraphicFramePr/>
          <p:nvPr/>
        </p:nvGraphicFramePr>
        <p:xfrm>
          <a:off x="117266" y="457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38425"/>
                <a:gridCol w="3338425"/>
              </a:tblGrid>
              <a:tr h="1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Parallel Lines Worksheet" id="749" name="Google Shape;749;p30"/>
          <p:cNvPicPr preferRelativeResize="0"/>
          <p:nvPr/>
        </p:nvPicPr>
        <p:blipFill rotWithShape="1">
          <a:blip r:embed="rId3">
            <a:alphaModFix/>
          </a:blip>
          <a:srcRect b="0" l="11987" r="65428" t="79838"/>
          <a:stretch/>
        </p:blipFill>
        <p:spPr>
          <a:xfrm>
            <a:off x="3542791" y="2513821"/>
            <a:ext cx="1379402" cy="1419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Lines Worksheet" id="750" name="Google Shape;750;p30"/>
          <p:cNvPicPr preferRelativeResize="0"/>
          <p:nvPr/>
        </p:nvPicPr>
        <p:blipFill rotWithShape="1">
          <a:blip r:embed="rId3">
            <a:alphaModFix/>
          </a:blip>
          <a:srcRect b="24359" l="64055" r="9040" t="53366"/>
          <a:stretch/>
        </p:blipFill>
        <p:spPr>
          <a:xfrm>
            <a:off x="3576783" y="4362281"/>
            <a:ext cx="1379403" cy="1316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Lines Worksheet" id="751" name="Google Shape;751;p30"/>
          <p:cNvPicPr preferRelativeResize="0"/>
          <p:nvPr/>
        </p:nvPicPr>
        <p:blipFill rotWithShape="1">
          <a:blip r:embed="rId3">
            <a:alphaModFix/>
          </a:blip>
          <a:srcRect b="46056" l="12158" r="65770" t="33137"/>
          <a:stretch/>
        </p:blipFill>
        <p:spPr>
          <a:xfrm>
            <a:off x="213855" y="770186"/>
            <a:ext cx="1285007" cy="1396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Lines Worksheet" id="752" name="Google Shape;752;p30"/>
          <p:cNvPicPr preferRelativeResize="0"/>
          <p:nvPr/>
        </p:nvPicPr>
        <p:blipFill rotWithShape="1">
          <a:blip r:embed="rId3">
            <a:alphaModFix/>
          </a:blip>
          <a:srcRect b="49433" l="61435" r="14440" t="38990"/>
          <a:stretch/>
        </p:blipFill>
        <p:spPr>
          <a:xfrm>
            <a:off x="3589992" y="1092200"/>
            <a:ext cx="1445999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045" y="4406542"/>
            <a:ext cx="1155817" cy="10929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4" name="Google Shape;754;p30"/>
          <p:cNvGrpSpPr/>
          <p:nvPr/>
        </p:nvGrpSpPr>
        <p:grpSpPr>
          <a:xfrm>
            <a:off x="213855" y="2621080"/>
            <a:ext cx="1844394" cy="1254709"/>
            <a:chOff x="213855" y="2621080"/>
            <a:chExt cx="1844394" cy="1254709"/>
          </a:xfrm>
        </p:grpSpPr>
        <p:pic>
          <p:nvPicPr>
            <p:cNvPr descr="Parallel Lines Worksheet" id="755" name="Google Shape;755;p30"/>
            <p:cNvPicPr preferRelativeResize="0"/>
            <p:nvPr/>
          </p:nvPicPr>
          <p:blipFill rotWithShape="1">
            <a:blip r:embed="rId3">
              <a:alphaModFix/>
            </a:blip>
            <a:srcRect b="69131" l="12665" r="62132" t="15999"/>
            <a:stretch/>
          </p:blipFill>
          <p:spPr>
            <a:xfrm>
              <a:off x="213855" y="2621080"/>
              <a:ext cx="1844394" cy="1254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30"/>
            <p:cNvSpPr/>
            <p:nvPr/>
          </p:nvSpPr>
          <p:spPr>
            <a:xfrm>
              <a:off x="920953" y="2663811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882394" y="2885659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959512" y="3414881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920953" y="3636729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0" name="Google Shape;760;p30"/>
          <p:cNvSpPr/>
          <p:nvPr/>
        </p:nvSpPr>
        <p:spPr>
          <a:xfrm rot="2504614">
            <a:off x="1041419" y="2824853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0"/>
          <p:cNvSpPr/>
          <p:nvPr/>
        </p:nvSpPr>
        <p:spPr>
          <a:xfrm rot="2504614">
            <a:off x="1033248" y="3565587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0"/>
          <p:cNvSpPr/>
          <p:nvPr/>
        </p:nvSpPr>
        <p:spPr>
          <a:xfrm rot="6183593">
            <a:off x="3817491" y="3394129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0"/>
          <p:cNvSpPr/>
          <p:nvPr/>
        </p:nvSpPr>
        <p:spPr>
          <a:xfrm rot="6183593">
            <a:off x="4617177" y="2963941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4" name="Google Shape;764;p30"/>
          <p:cNvGrpSpPr/>
          <p:nvPr/>
        </p:nvGrpSpPr>
        <p:grpSpPr>
          <a:xfrm>
            <a:off x="4588436" y="3408989"/>
            <a:ext cx="113786" cy="143845"/>
            <a:chOff x="4588436" y="3408989"/>
            <a:chExt cx="113786" cy="143845"/>
          </a:xfrm>
        </p:grpSpPr>
        <p:sp>
          <p:nvSpPr>
            <p:cNvPr id="765" name="Google Shape;765;p30"/>
            <p:cNvSpPr/>
            <p:nvPr/>
          </p:nvSpPr>
          <p:spPr>
            <a:xfrm rot="9032073">
              <a:off x="4601226" y="3472776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0"/>
            <p:cNvSpPr/>
            <p:nvPr/>
          </p:nvSpPr>
          <p:spPr>
            <a:xfrm rot="9032073">
              <a:off x="4625563" y="3420248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7" name="Google Shape;767;p30"/>
          <p:cNvGrpSpPr/>
          <p:nvPr/>
        </p:nvGrpSpPr>
        <p:grpSpPr>
          <a:xfrm>
            <a:off x="3789156" y="2965299"/>
            <a:ext cx="113786" cy="143845"/>
            <a:chOff x="4588436" y="3408989"/>
            <a:chExt cx="113786" cy="143845"/>
          </a:xfrm>
        </p:grpSpPr>
        <p:sp>
          <p:nvSpPr>
            <p:cNvPr id="768" name="Google Shape;768;p30"/>
            <p:cNvSpPr/>
            <p:nvPr/>
          </p:nvSpPr>
          <p:spPr>
            <a:xfrm rot="9032073">
              <a:off x="4601226" y="3472776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0"/>
            <p:cNvSpPr/>
            <p:nvPr/>
          </p:nvSpPr>
          <p:spPr>
            <a:xfrm rot="9032073">
              <a:off x="4625563" y="3420248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0" name="Google Shape;770;p30"/>
          <p:cNvGrpSpPr/>
          <p:nvPr/>
        </p:nvGrpSpPr>
        <p:grpSpPr>
          <a:xfrm>
            <a:off x="4133317" y="2690939"/>
            <a:ext cx="220733" cy="157891"/>
            <a:chOff x="4133317" y="2690939"/>
            <a:chExt cx="220733" cy="157891"/>
          </a:xfrm>
        </p:grpSpPr>
        <p:grpSp>
          <p:nvGrpSpPr>
            <p:cNvPr id="771" name="Google Shape;771;p30"/>
            <p:cNvGrpSpPr/>
            <p:nvPr/>
          </p:nvGrpSpPr>
          <p:grpSpPr>
            <a:xfrm rot="4135844">
              <a:off x="4209591" y="2697962"/>
              <a:ext cx="113786" cy="143845"/>
              <a:chOff x="4588436" y="3408989"/>
              <a:chExt cx="113786" cy="143845"/>
            </a:xfrm>
          </p:grpSpPr>
          <p:sp>
            <p:nvSpPr>
              <p:cNvPr id="772" name="Google Shape;772;p30"/>
              <p:cNvSpPr/>
              <p:nvPr/>
            </p:nvSpPr>
            <p:spPr>
              <a:xfrm rot="9032073">
                <a:off x="4601226" y="3472776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0"/>
              <p:cNvSpPr/>
              <p:nvPr/>
            </p:nvSpPr>
            <p:spPr>
              <a:xfrm rot="9032073">
                <a:off x="4625563" y="3420248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4" name="Google Shape;774;p30"/>
            <p:cNvSpPr/>
            <p:nvPr/>
          </p:nvSpPr>
          <p:spPr>
            <a:xfrm rot="-8432083">
              <a:off x="4147901" y="2737398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5" name="Google Shape;775;p30"/>
          <p:cNvGrpSpPr/>
          <p:nvPr/>
        </p:nvGrpSpPr>
        <p:grpSpPr>
          <a:xfrm>
            <a:off x="4133394" y="3615178"/>
            <a:ext cx="220733" cy="157891"/>
            <a:chOff x="4133317" y="2690939"/>
            <a:chExt cx="220733" cy="157891"/>
          </a:xfrm>
        </p:grpSpPr>
        <p:grpSp>
          <p:nvGrpSpPr>
            <p:cNvPr id="776" name="Google Shape;776;p30"/>
            <p:cNvGrpSpPr/>
            <p:nvPr/>
          </p:nvGrpSpPr>
          <p:grpSpPr>
            <a:xfrm rot="4135844">
              <a:off x="4209591" y="2697962"/>
              <a:ext cx="113786" cy="143845"/>
              <a:chOff x="4588436" y="3408989"/>
              <a:chExt cx="113786" cy="143845"/>
            </a:xfrm>
          </p:grpSpPr>
          <p:sp>
            <p:nvSpPr>
              <p:cNvPr id="777" name="Google Shape;777;p30"/>
              <p:cNvSpPr/>
              <p:nvPr/>
            </p:nvSpPr>
            <p:spPr>
              <a:xfrm rot="9032073">
                <a:off x="4601226" y="3472776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0"/>
              <p:cNvSpPr/>
              <p:nvPr/>
            </p:nvSpPr>
            <p:spPr>
              <a:xfrm rot="9032073">
                <a:off x="4625563" y="3420248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9" name="Google Shape;779;p30"/>
            <p:cNvSpPr/>
            <p:nvPr/>
          </p:nvSpPr>
          <p:spPr>
            <a:xfrm rot="-8432083">
              <a:off x="4147901" y="2737398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0" name="Google Shape;780;p30"/>
          <p:cNvGrpSpPr/>
          <p:nvPr/>
        </p:nvGrpSpPr>
        <p:grpSpPr>
          <a:xfrm>
            <a:off x="192235" y="6030210"/>
            <a:ext cx="1336489" cy="1379725"/>
            <a:chOff x="192235" y="6030210"/>
            <a:chExt cx="1336489" cy="1379725"/>
          </a:xfrm>
        </p:grpSpPr>
        <p:pic>
          <p:nvPicPr>
            <p:cNvPr descr="Introduction to Geometry | SkillsYouNeed" id="781" name="Google Shape;781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918" y="6030210"/>
              <a:ext cx="1261944" cy="137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2" name="Google Shape;782;p30"/>
            <p:cNvSpPr/>
            <p:nvPr/>
          </p:nvSpPr>
          <p:spPr>
            <a:xfrm rot="5400000">
              <a:off x="270990" y="6868105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0"/>
            <p:cNvSpPr/>
            <p:nvPr/>
          </p:nvSpPr>
          <p:spPr>
            <a:xfrm rot="-5400000">
              <a:off x="78970" y="6833336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0"/>
            <p:cNvSpPr/>
            <p:nvPr/>
          </p:nvSpPr>
          <p:spPr>
            <a:xfrm rot="5400000">
              <a:off x="1260070" y="6874025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0"/>
            <p:cNvSpPr/>
            <p:nvPr/>
          </p:nvSpPr>
          <p:spPr>
            <a:xfrm rot="-5400000">
              <a:off x="1068049" y="6868104"/>
              <a:ext cx="381918" cy="1553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6" name="Google Shape;786;p30"/>
            <p:cNvGrpSpPr/>
            <p:nvPr/>
          </p:nvGrpSpPr>
          <p:grpSpPr>
            <a:xfrm>
              <a:off x="354999" y="6146130"/>
              <a:ext cx="483278" cy="439712"/>
              <a:chOff x="354999" y="6146130"/>
              <a:chExt cx="483278" cy="439712"/>
            </a:xfrm>
          </p:grpSpPr>
          <p:sp>
            <p:nvSpPr>
              <p:cNvPr id="787" name="Google Shape;787;p30"/>
              <p:cNvSpPr/>
              <p:nvPr/>
            </p:nvSpPr>
            <p:spPr>
              <a:xfrm rot="3266332">
                <a:off x="593572" y="6369607"/>
                <a:ext cx="229519" cy="155389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0"/>
              <p:cNvSpPr/>
              <p:nvPr/>
            </p:nvSpPr>
            <p:spPr>
              <a:xfrm rot="3266332">
                <a:off x="370184" y="6206977"/>
                <a:ext cx="229519" cy="155389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30"/>
            <p:cNvGrpSpPr/>
            <p:nvPr/>
          </p:nvGrpSpPr>
          <p:grpSpPr>
            <a:xfrm rot="4416703">
              <a:off x="953070" y="6151351"/>
              <a:ext cx="428060" cy="486493"/>
              <a:chOff x="410217" y="6099349"/>
              <a:chExt cx="428060" cy="486493"/>
            </a:xfrm>
          </p:grpSpPr>
          <p:sp>
            <p:nvSpPr>
              <p:cNvPr id="790" name="Google Shape;790;p30"/>
              <p:cNvSpPr/>
              <p:nvPr/>
            </p:nvSpPr>
            <p:spPr>
              <a:xfrm rot="3266332">
                <a:off x="593572" y="6369607"/>
                <a:ext cx="229519" cy="155389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 rot="3266332">
                <a:off x="425402" y="6160196"/>
                <a:ext cx="229519" cy="155389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2" name="Google Shape;792;p30"/>
          <p:cNvSpPr/>
          <p:nvPr/>
        </p:nvSpPr>
        <p:spPr>
          <a:xfrm rot="8121056">
            <a:off x="339885" y="6878091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0"/>
          <p:cNvSpPr/>
          <p:nvPr/>
        </p:nvSpPr>
        <p:spPr>
          <a:xfrm rot="8121056">
            <a:off x="1320743" y="6864484"/>
            <a:ext cx="63868" cy="68799"/>
          </a:xfrm>
          <a:prstGeom prst="rtTriangl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0"/>
          <p:cNvSpPr txBox="1"/>
          <p:nvPr/>
        </p:nvSpPr>
        <p:spPr>
          <a:xfrm>
            <a:off x="578386" y="4216650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95" name="Google Shape;795;p30"/>
          <p:cNvSpPr txBox="1"/>
          <p:nvPr/>
        </p:nvSpPr>
        <p:spPr>
          <a:xfrm>
            <a:off x="1013254" y="4216649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796" name="Google Shape;796;p30"/>
          <p:cNvSpPr txBox="1"/>
          <p:nvPr/>
        </p:nvSpPr>
        <p:spPr>
          <a:xfrm>
            <a:off x="1363945" y="4593963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797" name="Google Shape;797;p30"/>
          <p:cNvSpPr txBox="1"/>
          <p:nvPr/>
        </p:nvSpPr>
        <p:spPr>
          <a:xfrm>
            <a:off x="1373334" y="5020563"/>
            <a:ext cx="279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798" name="Google Shape;798;p30"/>
          <p:cNvSpPr txBox="1"/>
          <p:nvPr/>
        </p:nvSpPr>
        <p:spPr>
          <a:xfrm>
            <a:off x="1048765" y="5392502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799" name="Google Shape;799;p30"/>
          <p:cNvSpPr txBox="1"/>
          <p:nvPr/>
        </p:nvSpPr>
        <p:spPr>
          <a:xfrm>
            <a:off x="578962" y="5392501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800" name="Google Shape;800;p30"/>
          <p:cNvSpPr txBox="1"/>
          <p:nvPr/>
        </p:nvSpPr>
        <p:spPr>
          <a:xfrm>
            <a:off x="221348" y="5020563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801" name="Google Shape;801;p30"/>
          <p:cNvSpPr txBox="1"/>
          <p:nvPr/>
        </p:nvSpPr>
        <p:spPr>
          <a:xfrm>
            <a:off x="221348" y="4605793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802" name="Google Shape;802;p30"/>
          <p:cNvSpPr txBox="1"/>
          <p:nvPr/>
        </p:nvSpPr>
        <p:spPr>
          <a:xfrm>
            <a:off x="4274753" y="7356393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pSp>
        <p:nvGrpSpPr>
          <p:cNvPr id="803" name="Google Shape;803;p30"/>
          <p:cNvGrpSpPr/>
          <p:nvPr/>
        </p:nvGrpSpPr>
        <p:grpSpPr>
          <a:xfrm>
            <a:off x="3410552" y="5989437"/>
            <a:ext cx="1919751" cy="1487055"/>
            <a:chOff x="3410552" y="5989437"/>
            <a:chExt cx="1919751" cy="1487055"/>
          </a:xfrm>
        </p:grpSpPr>
        <p:pic>
          <p:nvPicPr>
            <p:cNvPr descr="How many parallel sides does a quadrilateral have? - Quora" id="804" name="Google Shape;804;p30"/>
            <p:cNvPicPr preferRelativeResize="0"/>
            <p:nvPr/>
          </p:nvPicPr>
          <p:blipFill rotWithShape="1">
            <a:blip r:embed="rId6">
              <a:alphaModFix/>
            </a:blip>
            <a:srcRect b="16672" l="6146" r="77746" t="55694"/>
            <a:stretch/>
          </p:blipFill>
          <p:spPr>
            <a:xfrm>
              <a:off x="3501116" y="5989437"/>
              <a:ext cx="1793178" cy="14870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p30"/>
            <p:cNvSpPr txBox="1"/>
            <p:nvPr/>
          </p:nvSpPr>
          <p:spPr>
            <a:xfrm>
              <a:off x="3410552" y="6824991"/>
              <a:ext cx="3209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endParaRPr/>
            </a:p>
          </p:txBody>
        </p:sp>
        <p:sp>
          <p:nvSpPr>
            <p:cNvPr id="806" name="Google Shape;806;p30"/>
            <p:cNvSpPr txBox="1"/>
            <p:nvPr/>
          </p:nvSpPr>
          <p:spPr>
            <a:xfrm>
              <a:off x="5065487" y="6820906"/>
              <a:ext cx="2648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</p:grpSp>
      <p:sp>
        <p:nvSpPr>
          <p:cNvPr id="807" name="Google Shape;807;p30"/>
          <p:cNvSpPr txBox="1"/>
          <p:nvPr/>
        </p:nvSpPr>
        <p:spPr>
          <a:xfrm>
            <a:off x="4284120" y="5899134"/>
            <a:ext cx="256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808" name="Google Shape;808;p30"/>
          <p:cNvGrpSpPr/>
          <p:nvPr/>
        </p:nvGrpSpPr>
        <p:grpSpPr>
          <a:xfrm>
            <a:off x="110806" y="7810295"/>
            <a:ext cx="1497715" cy="1476341"/>
            <a:chOff x="110806" y="7810295"/>
            <a:chExt cx="1497715" cy="1476341"/>
          </a:xfrm>
        </p:grpSpPr>
        <p:pic>
          <p:nvPicPr>
            <p:cNvPr id="809" name="Google Shape;809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9859" y="7914027"/>
              <a:ext cx="1321170" cy="1327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30"/>
            <p:cNvSpPr txBox="1"/>
            <p:nvPr/>
          </p:nvSpPr>
          <p:spPr>
            <a:xfrm>
              <a:off x="110806" y="8662270"/>
              <a:ext cx="25519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sp>
          <p:nvSpPr>
            <p:cNvPr id="811" name="Google Shape;811;p30"/>
            <p:cNvSpPr txBox="1"/>
            <p:nvPr/>
          </p:nvSpPr>
          <p:spPr>
            <a:xfrm>
              <a:off x="771134" y="9009637"/>
              <a:ext cx="2600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  <p:sp>
          <p:nvSpPr>
            <p:cNvPr id="812" name="Google Shape;812;p30"/>
            <p:cNvSpPr txBox="1"/>
            <p:nvPr/>
          </p:nvSpPr>
          <p:spPr>
            <a:xfrm>
              <a:off x="926573" y="8563587"/>
              <a:ext cx="2840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/>
            </a:p>
          </p:txBody>
        </p:sp>
        <p:sp>
          <p:nvSpPr>
            <p:cNvPr id="813" name="Google Shape;813;p30"/>
            <p:cNvSpPr txBox="1"/>
            <p:nvPr/>
          </p:nvSpPr>
          <p:spPr>
            <a:xfrm>
              <a:off x="1337293" y="8372904"/>
              <a:ext cx="2712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sp>
          <p:nvSpPr>
            <p:cNvPr id="814" name="Google Shape;814;p30"/>
            <p:cNvSpPr txBox="1"/>
            <p:nvPr/>
          </p:nvSpPr>
          <p:spPr>
            <a:xfrm>
              <a:off x="1013254" y="7810295"/>
              <a:ext cx="3209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endParaRPr/>
            </a:p>
          </p:txBody>
        </p:sp>
      </p:grpSp>
      <p:sp>
        <p:nvSpPr>
          <p:cNvPr id="815" name="Google Shape;815;p30"/>
          <p:cNvSpPr txBox="1"/>
          <p:nvPr/>
        </p:nvSpPr>
        <p:spPr>
          <a:xfrm>
            <a:off x="3409203" y="8385271"/>
            <a:ext cx="2231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grpSp>
        <p:nvGrpSpPr>
          <p:cNvPr id="816" name="Google Shape;816;p30"/>
          <p:cNvGrpSpPr/>
          <p:nvPr/>
        </p:nvGrpSpPr>
        <p:grpSpPr>
          <a:xfrm>
            <a:off x="3474849" y="7840028"/>
            <a:ext cx="1876993" cy="1376240"/>
            <a:chOff x="3474849" y="7840028"/>
            <a:chExt cx="1876993" cy="1376240"/>
          </a:xfrm>
        </p:grpSpPr>
        <p:pic>
          <p:nvPicPr>
            <p:cNvPr descr="How many parallel sides does a quadrilateral have? - Quora" id="817" name="Google Shape;817;p30"/>
            <p:cNvPicPr preferRelativeResize="0"/>
            <p:nvPr/>
          </p:nvPicPr>
          <p:blipFill rotWithShape="1">
            <a:blip r:embed="rId8">
              <a:alphaModFix/>
            </a:blip>
            <a:srcRect b="18955" l="29142" r="53302" t="59854"/>
            <a:stretch/>
          </p:blipFill>
          <p:spPr>
            <a:xfrm>
              <a:off x="3474849" y="8033990"/>
              <a:ext cx="1764631" cy="1029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30"/>
            <p:cNvSpPr/>
            <p:nvPr/>
          </p:nvSpPr>
          <p:spPr>
            <a:xfrm rot="4928402">
              <a:off x="3911734" y="8702903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9" name="Google Shape;819;p30"/>
            <p:cNvGrpSpPr/>
            <p:nvPr/>
          </p:nvGrpSpPr>
          <p:grpSpPr>
            <a:xfrm rot="1747914">
              <a:off x="4712644" y="8680125"/>
              <a:ext cx="113786" cy="143845"/>
              <a:chOff x="4588436" y="3408989"/>
              <a:chExt cx="113786" cy="143845"/>
            </a:xfrm>
          </p:grpSpPr>
          <p:sp>
            <p:nvSpPr>
              <p:cNvPr id="820" name="Google Shape;820;p30"/>
              <p:cNvSpPr/>
              <p:nvPr/>
            </p:nvSpPr>
            <p:spPr>
              <a:xfrm rot="9032073">
                <a:off x="4601226" y="3472776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0"/>
              <p:cNvSpPr/>
              <p:nvPr/>
            </p:nvSpPr>
            <p:spPr>
              <a:xfrm rot="9032073">
                <a:off x="4625563" y="3420248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2" name="Google Shape;822;p30"/>
            <p:cNvGrpSpPr/>
            <p:nvPr/>
          </p:nvGrpSpPr>
          <p:grpSpPr>
            <a:xfrm rot="1747914">
              <a:off x="3901314" y="8264552"/>
              <a:ext cx="113786" cy="143845"/>
              <a:chOff x="4588436" y="3408989"/>
              <a:chExt cx="113786" cy="143845"/>
            </a:xfrm>
          </p:grpSpPr>
          <p:sp>
            <p:nvSpPr>
              <p:cNvPr id="823" name="Google Shape;823;p30"/>
              <p:cNvSpPr/>
              <p:nvPr/>
            </p:nvSpPr>
            <p:spPr>
              <a:xfrm rot="9032073">
                <a:off x="4601226" y="3472776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0"/>
              <p:cNvSpPr/>
              <p:nvPr/>
            </p:nvSpPr>
            <p:spPr>
              <a:xfrm rot="9032073">
                <a:off x="4625563" y="3420248"/>
                <a:ext cx="63868" cy="68799"/>
              </a:xfrm>
              <a:prstGeom prst="rtTriangl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5" name="Google Shape;825;p30"/>
            <p:cNvSpPr/>
            <p:nvPr/>
          </p:nvSpPr>
          <p:spPr>
            <a:xfrm rot="4928402">
              <a:off x="4727810" y="8294866"/>
              <a:ext cx="63868" cy="68799"/>
            </a:xfrm>
            <a:prstGeom prst="rtTriangl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0"/>
            <p:cNvSpPr txBox="1"/>
            <p:nvPr/>
          </p:nvSpPr>
          <p:spPr>
            <a:xfrm>
              <a:off x="4239984" y="8939269"/>
              <a:ext cx="2343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endParaRPr/>
            </a:p>
          </p:txBody>
        </p:sp>
        <p:sp>
          <p:nvSpPr>
            <p:cNvPr id="827" name="Google Shape;827;p30"/>
            <p:cNvSpPr txBox="1"/>
            <p:nvPr/>
          </p:nvSpPr>
          <p:spPr>
            <a:xfrm>
              <a:off x="5087026" y="8385270"/>
              <a:ext cx="2648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828" name="Google Shape;828;p30"/>
            <p:cNvSpPr txBox="1"/>
            <p:nvPr/>
          </p:nvSpPr>
          <p:spPr>
            <a:xfrm>
              <a:off x="4247089" y="7840028"/>
              <a:ext cx="2487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endParaRPr/>
            </a:p>
          </p:txBody>
        </p:sp>
      </p:grpSp>
      <p:sp>
        <p:nvSpPr>
          <p:cNvPr id="829" name="Google Shape;829;p30"/>
          <p:cNvSpPr txBox="1"/>
          <p:nvPr/>
        </p:nvSpPr>
        <p:spPr>
          <a:xfrm>
            <a:off x="1785073" y="1092489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0"/>
          <p:cNvSpPr txBox="1"/>
          <p:nvPr/>
        </p:nvSpPr>
        <p:spPr>
          <a:xfrm>
            <a:off x="5330303" y="1122918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0"/>
          <p:cNvSpPr txBox="1"/>
          <p:nvPr/>
        </p:nvSpPr>
        <p:spPr>
          <a:xfrm>
            <a:off x="2118288" y="2918842"/>
            <a:ext cx="11881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CD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 and BD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0"/>
          <p:cNvSpPr txBox="1"/>
          <p:nvPr/>
        </p:nvSpPr>
        <p:spPr>
          <a:xfrm>
            <a:off x="5312387" y="2621080"/>
            <a:ext cx="12005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and RQ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 and 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PQ and ST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0"/>
          <p:cNvSpPr txBox="1"/>
          <p:nvPr/>
        </p:nvSpPr>
        <p:spPr>
          <a:xfrm>
            <a:off x="1919501" y="4355148"/>
            <a:ext cx="12121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 and FG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 and AH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 and GH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0"/>
          <p:cNvSpPr txBox="1"/>
          <p:nvPr/>
        </p:nvSpPr>
        <p:spPr>
          <a:xfrm>
            <a:off x="5332797" y="4491682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0"/>
          <p:cNvSpPr txBox="1"/>
          <p:nvPr/>
        </p:nvSpPr>
        <p:spPr>
          <a:xfrm>
            <a:off x="1862712" y="6359241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ED</a:t>
            </a:r>
            <a:endParaRPr/>
          </a:p>
        </p:txBody>
      </p:sp>
      <p:sp>
        <p:nvSpPr>
          <p:cNvPr id="836" name="Google Shape;836;p30"/>
          <p:cNvSpPr txBox="1"/>
          <p:nvPr/>
        </p:nvSpPr>
        <p:spPr>
          <a:xfrm>
            <a:off x="5434075" y="6150437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837" name="Google Shape;837;p30"/>
          <p:cNvSpPr txBox="1"/>
          <p:nvPr/>
        </p:nvSpPr>
        <p:spPr>
          <a:xfrm>
            <a:off x="2102361" y="8074850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838" name="Google Shape;838;p30"/>
          <p:cNvSpPr txBox="1"/>
          <p:nvPr/>
        </p:nvSpPr>
        <p:spPr>
          <a:xfrm>
            <a:off x="5644240" y="8074850"/>
            <a:ext cx="10134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IL and JK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IJ and KL</a:t>
            </a:r>
            <a:endParaRPr/>
          </a:p>
        </p:txBody>
      </p:sp>
      <p:sp>
        <p:nvSpPr>
          <p:cNvPr id="839" name="Google Shape;839;p3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5" name="Google Shape;845;p31"/>
          <p:cNvGraphicFramePr/>
          <p:nvPr/>
        </p:nvGraphicFramePr>
        <p:xfrm>
          <a:off x="89191" y="3533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1070875"/>
                <a:gridCol w="1872675"/>
                <a:gridCol w="1872675"/>
                <a:gridCol w="1872675"/>
              </a:tblGrid>
              <a:tr h="2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19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20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21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down the lines that are perpendicular in the shape below.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Write down the lines that are perpendicular in the shape below.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Write down the lines that are perpendicular in the shape below.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3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pair(s) of lines that are perpendicular.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Describe them using correct line notation.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46" name="Google Shape;846;p31"/>
          <p:cNvSpPr/>
          <p:nvPr/>
        </p:nvSpPr>
        <p:spPr>
          <a:xfrm>
            <a:off x="63094" y="414603"/>
            <a:ext cx="6714996" cy="28836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31"/>
          <p:cNvCxnSpPr/>
          <p:nvPr/>
        </p:nvCxnSpPr>
        <p:spPr>
          <a:xfrm>
            <a:off x="70083" y="1877664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8" name="Google Shape;848;p31"/>
          <p:cNvCxnSpPr>
            <a:stCxn id="846" idx="2"/>
            <a:endCxn id="846" idx="0"/>
          </p:cNvCxnSpPr>
          <p:nvPr/>
        </p:nvCxnSpPr>
        <p:spPr>
          <a:xfrm rot="10800000">
            <a:off x="3420592" y="414690"/>
            <a:ext cx="0" cy="288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9" name="Google Shape;849;p31"/>
          <p:cNvSpPr txBox="1"/>
          <p:nvPr/>
        </p:nvSpPr>
        <p:spPr>
          <a:xfrm>
            <a:off x="67632" y="394192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1"/>
          <p:cNvSpPr txBox="1"/>
          <p:nvPr/>
        </p:nvSpPr>
        <p:spPr>
          <a:xfrm>
            <a:off x="63683" y="1882589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1"/>
          <p:cNvSpPr txBox="1"/>
          <p:nvPr/>
        </p:nvSpPr>
        <p:spPr>
          <a:xfrm>
            <a:off x="5630943" y="189962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1"/>
          <p:cNvSpPr txBox="1"/>
          <p:nvPr/>
        </p:nvSpPr>
        <p:spPr>
          <a:xfrm>
            <a:off x="2386795" y="1677127"/>
            <a:ext cx="211876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Perpendicular Lines</a:t>
            </a:r>
            <a:endParaRPr/>
          </a:p>
        </p:txBody>
      </p:sp>
      <p:sp>
        <p:nvSpPr>
          <p:cNvPr id="853" name="Google Shape;853;p31"/>
          <p:cNvSpPr txBox="1"/>
          <p:nvPr/>
        </p:nvSpPr>
        <p:spPr>
          <a:xfrm>
            <a:off x="5655807" y="387106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1"/>
          <p:cNvSpPr txBox="1"/>
          <p:nvPr/>
        </p:nvSpPr>
        <p:spPr>
          <a:xfrm>
            <a:off x="51061" y="664651"/>
            <a:ext cx="3375546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21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5" name="Google Shape;855;p31"/>
          <p:cNvSpPr txBox="1"/>
          <p:nvPr/>
        </p:nvSpPr>
        <p:spPr>
          <a:xfrm>
            <a:off x="3481101" y="631212"/>
            <a:ext cx="34587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lines that meet or intersect each other at right angles.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shown with this symbol</a:t>
            </a:r>
            <a:endParaRPr/>
          </a:p>
        </p:txBody>
      </p:sp>
      <p:sp>
        <p:nvSpPr>
          <p:cNvPr id="856" name="Google Shape;856;p31"/>
          <p:cNvSpPr/>
          <p:nvPr/>
        </p:nvSpPr>
        <p:spPr>
          <a:xfrm>
            <a:off x="101224" y="7324209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857" name="Google Shape;857;p31"/>
          <p:cNvSpPr txBox="1"/>
          <p:nvPr/>
        </p:nvSpPr>
        <p:spPr>
          <a:xfrm>
            <a:off x="1239178" y="7308229"/>
            <a:ext cx="57006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19. Write down the lines that are perpendicular, if there are any, in the following shapes:</a:t>
            </a:r>
            <a:endParaRPr/>
          </a:p>
        </p:txBody>
      </p:sp>
      <p:graphicFrame>
        <p:nvGraphicFramePr>
          <p:cNvPr id="858" name="Google Shape;858;p31"/>
          <p:cNvGraphicFramePr/>
          <p:nvPr/>
        </p:nvGraphicFramePr>
        <p:xfrm>
          <a:off x="87976" y="77891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38425"/>
                <a:gridCol w="3338425"/>
              </a:tblGrid>
              <a:tr h="1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59" name="Google Shape;859;p31"/>
          <p:cNvPicPr preferRelativeResize="0"/>
          <p:nvPr/>
        </p:nvPicPr>
        <p:blipFill rotWithShape="1">
          <a:blip r:embed="rId4">
            <a:alphaModFix/>
          </a:blip>
          <a:srcRect b="51707" l="0" r="0" t="0"/>
          <a:stretch/>
        </p:blipFill>
        <p:spPr>
          <a:xfrm>
            <a:off x="4343799" y="2066870"/>
            <a:ext cx="842876" cy="63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31"/>
          <p:cNvPicPr preferRelativeResize="0"/>
          <p:nvPr/>
        </p:nvPicPr>
        <p:blipFill rotWithShape="1">
          <a:blip r:embed="rId4">
            <a:alphaModFix/>
          </a:blip>
          <a:srcRect b="0" l="0" r="0" t="57006"/>
          <a:stretch/>
        </p:blipFill>
        <p:spPr>
          <a:xfrm>
            <a:off x="3426607" y="2671715"/>
            <a:ext cx="896494" cy="602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1"/>
          <p:cNvPicPr preferRelativeResize="0"/>
          <p:nvPr/>
        </p:nvPicPr>
        <p:blipFill rotWithShape="1">
          <a:blip r:embed="rId5">
            <a:alphaModFix/>
          </a:blip>
          <a:srcRect b="0" l="0" r="0" t="52271"/>
          <a:stretch/>
        </p:blipFill>
        <p:spPr>
          <a:xfrm>
            <a:off x="5963271" y="2150867"/>
            <a:ext cx="746960" cy="7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31"/>
          <p:cNvPicPr preferRelativeResize="0"/>
          <p:nvPr/>
        </p:nvPicPr>
        <p:blipFill rotWithShape="1">
          <a:blip r:embed="rId5">
            <a:alphaModFix/>
          </a:blip>
          <a:srcRect b="55142" l="0" r="0" t="0"/>
          <a:stretch/>
        </p:blipFill>
        <p:spPr>
          <a:xfrm>
            <a:off x="5219405" y="2597724"/>
            <a:ext cx="671983" cy="63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31"/>
          <p:cNvPicPr preferRelativeResize="0"/>
          <p:nvPr/>
        </p:nvPicPr>
        <p:blipFill rotWithShape="1">
          <a:blip r:embed="rId6">
            <a:alphaModFix/>
          </a:blip>
          <a:srcRect b="55012" l="0" r="0" t="0"/>
          <a:stretch/>
        </p:blipFill>
        <p:spPr>
          <a:xfrm>
            <a:off x="2469360" y="2097070"/>
            <a:ext cx="918502" cy="629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31"/>
          <p:cNvPicPr preferRelativeResize="0"/>
          <p:nvPr/>
        </p:nvPicPr>
        <p:blipFill rotWithShape="1">
          <a:blip r:embed="rId6">
            <a:alphaModFix/>
          </a:blip>
          <a:srcRect b="2068" l="14769" r="14897" t="53820"/>
          <a:stretch/>
        </p:blipFill>
        <p:spPr>
          <a:xfrm>
            <a:off x="135915" y="2667274"/>
            <a:ext cx="643699" cy="614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31"/>
          <p:cNvPicPr preferRelativeResize="0"/>
          <p:nvPr/>
        </p:nvPicPr>
        <p:blipFill rotWithShape="1">
          <a:blip r:embed="rId7">
            <a:alphaModFix/>
          </a:blip>
          <a:srcRect b="53000" l="0" r="0" t="0"/>
          <a:stretch/>
        </p:blipFill>
        <p:spPr>
          <a:xfrm>
            <a:off x="1573056" y="2565261"/>
            <a:ext cx="865738" cy="727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31"/>
          <p:cNvPicPr preferRelativeResize="0"/>
          <p:nvPr/>
        </p:nvPicPr>
        <p:blipFill rotWithShape="1">
          <a:blip r:embed="rId7">
            <a:alphaModFix/>
          </a:blip>
          <a:srcRect b="0" l="0" r="0" t="51864"/>
          <a:stretch/>
        </p:blipFill>
        <p:spPr>
          <a:xfrm>
            <a:off x="782289" y="1935066"/>
            <a:ext cx="849525" cy="731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31"/>
          <p:cNvPicPr preferRelativeResize="0"/>
          <p:nvPr/>
        </p:nvPicPr>
        <p:blipFill rotWithShape="1">
          <a:blip r:embed="rId8">
            <a:alphaModFix/>
          </a:blip>
          <a:srcRect b="19077" l="0" r="21993" t="6354"/>
          <a:stretch/>
        </p:blipFill>
        <p:spPr>
          <a:xfrm>
            <a:off x="5889204" y="1105858"/>
            <a:ext cx="741847" cy="735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8" name="Google Shape;868;p31"/>
          <p:cNvCxnSpPr/>
          <p:nvPr/>
        </p:nvCxnSpPr>
        <p:spPr>
          <a:xfrm>
            <a:off x="5664666" y="1214124"/>
            <a:ext cx="693270" cy="2687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9" name="Google Shape;869;p31"/>
          <p:cNvSpPr/>
          <p:nvPr/>
        </p:nvSpPr>
        <p:spPr>
          <a:xfrm rot="10800000">
            <a:off x="3453323" y="4637670"/>
            <a:ext cx="869778" cy="898366"/>
          </a:xfrm>
          <a:prstGeom prst="rtTriangl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0" name="Google Shape;870;p31"/>
          <p:cNvGrpSpPr/>
          <p:nvPr/>
        </p:nvGrpSpPr>
        <p:grpSpPr>
          <a:xfrm>
            <a:off x="1715847" y="4530009"/>
            <a:ext cx="722947" cy="1115176"/>
            <a:chOff x="1715847" y="4331889"/>
            <a:chExt cx="722947" cy="1115176"/>
          </a:xfrm>
        </p:grpSpPr>
        <p:pic>
          <p:nvPicPr>
            <p:cNvPr id="871" name="Google Shape;871;p31"/>
            <p:cNvPicPr preferRelativeResize="0"/>
            <p:nvPr/>
          </p:nvPicPr>
          <p:blipFill rotWithShape="1">
            <a:blip r:embed="rId9">
              <a:alphaModFix/>
            </a:blip>
            <a:srcRect b="4164" l="8746" r="79413" t="61900"/>
            <a:stretch/>
          </p:blipFill>
          <p:spPr>
            <a:xfrm>
              <a:off x="1715847" y="4331889"/>
              <a:ext cx="722947" cy="1115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31"/>
            <p:cNvSpPr/>
            <p:nvPr/>
          </p:nvSpPr>
          <p:spPr>
            <a:xfrm>
              <a:off x="1837289" y="4427518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1"/>
            <p:cNvSpPr/>
            <p:nvPr/>
          </p:nvSpPr>
          <p:spPr>
            <a:xfrm>
              <a:off x="2128745" y="4427518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1"/>
            <p:cNvSpPr/>
            <p:nvPr/>
          </p:nvSpPr>
          <p:spPr>
            <a:xfrm>
              <a:off x="1845177" y="5157979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1"/>
            <p:cNvSpPr/>
            <p:nvPr/>
          </p:nvSpPr>
          <p:spPr>
            <a:xfrm>
              <a:off x="2136633" y="5157979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6" name="Google Shape;876;p31"/>
          <p:cNvSpPr/>
          <p:nvPr/>
        </p:nvSpPr>
        <p:spPr>
          <a:xfrm>
            <a:off x="4145577" y="4649702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7" name="Google Shape;877;p31"/>
          <p:cNvGrpSpPr/>
          <p:nvPr/>
        </p:nvGrpSpPr>
        <p:grpSpPr>
          <a:xfrm rot="2418332">
            <a:off x="5445102" y="4677077"/>
            <a:ext cx="782197" cy="898366"/>
            <a:chOff x="5477931" y="4323348"/>
            <a:chExt cx="782197" cy="898366"/>
          </a:xfrm>
        </p:grpSpPr>
        <p:pic>
          <p:nvPicPr>
            <p:cNvPr id="878" name="Google Shape;878;p31"/>
            <p:cNvPicPr preferRelativeResize="0"/>
            <p:nvPr/>
          </p:nvPicPr>
          <p:blipFill rotWithShape="1">
            <a:blip r:embed="rId9">
              <a:alphaModFix/>
            </a:blip>
            <a:srcRect b="4574" l="24705" r="62483" t="68088"/>
            <a:stretch/>
          </p:blipFill>
          <p:spPr>
            <a:xfrm>
              <a:off x="5477931" y="4323348"/>
              <a:ext cx="782197" cy="8983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31"/>
            <p:cNvSpPr/>
            <p:nvPr/>
          </p:nvSpPr>
          <p:spPr>
            <a:xfrm>
              <a:off x="5552781" y="4433535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6041676" y="4434928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5552781" y="4947395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6041676" y="4948787"/>
              <a:ext cx="162126" cy="14448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3" name="Google Shape;883;p31"/>
          <p:cNvSpPr txBox="1"/>
          <p:nvPr/>
        </p:nvSpPr>
        <p:spPr>
          <a:xfrm>
            <a:off x="1631814" y="4420880"/>
            <a:ext cx="25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884" name="Google Shape;884;p31"/>
          <p:cNvSpPr txBox="1"/>
          <p:nvPr/>
        </p:nvSpPr>
        <p:spPr>
          <a:xfrm>
            <a:off x="2240668" y="4418029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885" name="Google Shape;885;p31"/>
          <p:cNvSpPr txBox="1"/>
          <p:nvPr/>
        </p:nvSpPr>
        <p:spPr>
          <a:xfrm>
            <a:off x="2244614" y="5414688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886" name="Google Shape;886;p31"/>
          <p:cNvSpPr txBox="1"/>
          <p:nvPr/>
        </p:nvSpPr>
        <p:spPr>
          <a:xfrm>
            <a:off x="1649602" y="5414687"/>
            <a:ext cx="2231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887" name="Google Shape;887;p31"/>
          <p:cNvSpPr txBox="1"/>
          <p:nvPr/>
        </p:nvSpPr>
        <p:spPr>
          <a:xfrm>
            <a:off x="3185801" y="4493121"/>
            <a:ext cx="3161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888" name="Google Shape;888;p31"/>
          <p:cNvSpPr txBox="1"/>
          <p:nvPr/>
        </p:nvSpPr>
        <p:spPr>
          <a:xfrm>
            <a:off x="4201773" y="5512783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889" name="Google Shape;889;p31"/>
          <p:cNvSpPr txBox="1"/>
          <p:nvPr/>
        </p:nvSpPr>
        <p:spPr>
          <a:xfrm>
            <a:off x="4280623" y="4511202"/>
            <a:ext cx="2872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890" name="Google Shape;890;p31"/>
          <p:cNvSpPr txBox="1"/>
          <p:nvPr/>
        </p:nvSpPr>
        <p:spPr>
          <a:xfrm>
            <a:off x="5150195" y="5005709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891" name="Google Shape;891;p31"/>
          <p:cNvSpPr txBox="1"/>
          <p:nvPr/>
        </p:nvSpPr>
        <p:spPr>
          <a:xfrm>
            <a:off x="5724506" y="5529297"/>
            <a:ext cx="288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892" name="Google Shape;892;p31"/>
          <p:cNvSpPr txBox="1"/>
          <p:nvPr/>
        </p:nvSpPr>
        <p:spPr>
          <a:xfrm>
            <a:off x="6264499" y="4910217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893" name="Google Shape;893;p31"/>
          <p:cNvSpPr txBox="1"/>
          <p:nvPr/>
        </p:nvSpPr>
        <p:spPr>
          <a:xfrm>
            <a:off x="5699467" y="4410101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pic>
        <p:nvPicPr>
          <p:cNvPr descr="Parallel and Perpendicular Lines - ppt download" id="894" name="Google Shape;894;p31"/>
          <p:cNvPicPr preferRelativeResize="0"/>
          <p:nvPr/>
        </p:nvPicPr>
        <p:blipFill rotWithShape="1">
          <a:blip r:embed="rId10">
            <a:alphaModFix/>
          </a:blip>
          <a:srcRect b="29613" l="29191" r="56688" t="60930"/>
          <a:stretch/>
        </p:blipFill>
        <p:spPr>
          <a:xfrm>
            <a:off x="159619" y="8367174"/>
            <a:ext cx="1715582" cy="861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and Perpendicular Lines - ppt download" id="895" name="Google Shape;895;p31"/>
          <p:cNvPicPr preferRelativeResize="0"/>
          <p:nvPr/>
        </p:nvPicPr>
        <p:blipFill rotWithShape="1">
          <a:blip r:embed="rId10">
            <a:alphaModFix/>
          </a:blip>
          <a:srcRect b="12591" l="65190" r="24659" t="74705"/>
          <a:stretch/>
        </p:blipFill>
        <p:spPr>
          <a:xfrm>
            <a:off x="3590006" y="8178946"/>
            <a:ext cx="1239255" cy="1163217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31"/>
          <p:cNvSpPr txBox="1"/>
          <p:nvPr/>
        </p:nvSpPr>
        <p:spPr>
          <a:xfrm>
            <a:off x="135915" y="8281151"/>
            <a:ext cx="2487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897" name="Google Shape;897;p31"/>
          <p:cNvSpPr txBox="1"/>
          <p:nvPr/>
        </p:nvSpPr>
        <p:spPr>
          <a:xfrm>
            <a:off x="1649602" y="8281151"/>
            <a:ext cx="3161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898" name="Google Shape;898;p31"/>
          <p:cNvSpPr txBox="1"/>
          <p:nvPr/>
        </p:nvSpPr>
        <p:spPr>
          <a:xfrm>
            <a:off x="1662792" y="9094273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899" name="Google Shape;899;p31"/>
          <p:cNvSpPr txBox="1"/>
          <p:nvPr/>
        </p:nvSpPr>
        <p:spPr>
          <a:xfrm>
            <a:off x="116679" y="9090413"/>
            <a:ext cx="2872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00" name="Google Shape;900;p31"/>
          <p:cNvSpPr txBox="1"/>
          <p:nvPr/>
        </p:nvSpPr>
        <p:spPr>
          <a:xfrm>
            <a:off x="3471659" y="8077145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01" name="Google Shape;901;p31"/>
          <p:cNvSpPr txBox="1"/>
          <p:nvPr/>
        </p:nvSpPr>
        <p:spPr>
          <a:xfrm>
            <a:off x="3465298" y="9190476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02" name="Google Shape;902;p31"/>
          <p:cNvSpPr txBox="1"/>
          <p:nvPr/>
        </p:nvSpPr>
        <p:spPr>
          <a:xfrm>
            <a:off x="4662128" y="9190476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03" name="Google Shape;903;p31"/>
          <p:cNvSpPr/>
          <p:nvPr/>
        </p:nvSpPr>
        <p:spPr>
          <a:xfrm>
            <a:off x="306153" y="8973944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303638" y="8526929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1"/>
          <p:cNvSpPr/>
          <p:nvPr/>
        </p:nvSpPr>
        <p:spPr>
          <a:xfrm>
            <a:off x="1600221" y="8969995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1"/>
          <p:cNvSpPr/>
          <p:nvPr/>
        </p:nvSpPr>
        <p:spPr>
          <a:xfrm>
            <a:off x="1597706" y="8522980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1"/>
          <p:cNvSpPr/>
          <p:nvPr/>
        </p:nvSpPr>
        <p:spPr>
          <a:xfrm>
            <a:off x="3658669" y="9118235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1"/>
          <p:cNvSpPr txBox="1"/>
          <p:nvPr/>
        </p:nvSpPr>
        <p:spPr>
          <a:xfrm>
            <a:off x="1530696" y="5733232"/>
            <a:ext cx="11960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FG and FI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FG and 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 and FI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 and GH</a:t>
            </a:r>
            <a:endParaRPr/>
          </a:p>
        </p:txBody>
      </p:sp>
      <p:sp>
        <p:nvSpPr>
          <p:cNvPr id="909" name="Google Shape;909;p31"/>
          <p:cNvSpPr txBox="1"/>
          <p:nvPr/>
        </p:nvSpPr>
        <p:spPr>
          <a:xfrm>
            <a:off x="3340910" y="5830022"/>
            <a:ext cx="13163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 and NO</a:t>
            </a:r>
            <a:endParaRPr/>
          </a:p>
        </p:txBody>
      </p:sp>
      <p:sp>
        <p:nvSpPr>
          <p:cNvPr id="910" name="Google Shape;910;p31"/>
          <p:cNvSpPr txBox="1"/>
          <p:nvPr/>
        </p:nvSpPr>
        <p:spPr>
          <a:xfrm>
            <a:off x="5225585" y="5761998"/>
            <a:ext cx="12218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 and SP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 and QR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PQ and 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PQ and QR</a:t>
            </a:r>
            <a:endParaRPr/>
          </a:p>
        </p:txBody>
      </p:sp>
      <p:sp>
        <p:nvSpPr>
          <p:cNvPr id="911" name="Google Shape;911;p31"/>
          <p:cNvSpPr txBox="1"/>
          <p:nvPr/>
        </p:nvSpPr>
        <p:spPr>
          <a:xfrm>
            <a:off x="2056602" y="8238257"/>
            <a:ext cx="13051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 and MN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 and 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and 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and MN</a:t>
            </a:r>
            <a:endParaRPr/>
          </a:p>
        </p:txBody>
      </p:sp>
      <p:sp>
        <p:nvSpPr>
          <p:cNvPr id="912" name="Google Shape;912;p31"/>
          <p:cNvSpPr txBox="1"/>
          <p:nvPr/>
        </p:nvSpPr>
        <p:spPr>
          <a:xfrm>
            <a:off x="5090818" y="8207311"/>
            <a:ext cx="1172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BC</a:t>
            </a:r>
            <a:endParaRPr/>
          </a:p>
        </p:txBody>
      </p:sp>
      <p:sp>
        <p:nvSpPr>
          <p:cNvPr id="913" name="Google Shape;913;p31"/>
          <p:cNvSpPr txBox="1"/>
          <p:nvPr>
            <p:ph idx="12" type="sldNum"/>
          </p:nvPr>
        </p:nvSpPr>
        <p:spPr>
          <a:xfrm>
            <a:off x="5209371" y="-762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2"/>
          <p:cNvSpPr txBox="1"/>
          <p:nvPr/>
        </p:nvSpPr>
        <p:spPr>
          <a:xfrm>
            <a:off x="70131" y="133083"/>
            <a:ext cx="65126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19 continued.</a:t>
            </a:r>
            <a:endParaRPr/>
          </a:p>
        </p:txBody>
      </p:sp>
      <p:graphicFrame>
        <p:nvGraphicFramePr>
          <p:cNvPr id="919" name="Google Shape;919;p32"/>
          <p:cNvGraphicFramePr/>
          <p:nvPr/>
        </p:nvGraphicFramePr>
        <p:xfrm>
          <a:off x="117266" y="457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338425"/>
                <a:gridCol w="3338425"/>
              </a:tblGrid>
              <a:tr h="1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7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Parallel and Perpendicular Lines - ppt download" id="920" name="Google Shape;920;p32"/>
          <p:cNvPicPr preferRelativeResize="0"/>
          <p:nvPr/>
        </p:nvPicPr>
        <p:blipFill rotWithShape="1">
          <a:blip r:embed="rId3">
            <a:alphaModFix/>
          </a:blip>
          <a:srcRect b="60695" l="30312" r="58694" t="26829"/>
          <a:stretch/>
        </p:blipFill>
        <p:spPr>
          <a:xfrm>
            <a:off x="3642577" y="4405741"/>
            <a:ext cx="1093268" cy="930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2"/>
          <p:cNvPicPr preferRelativeResize="0"/>
          <p:nvPr/>
        </p:nvPicPr>
        <p:blipFill rotWithShape="1">
          <a:blip r:embed="rId4">
            <a:alphaModFix/>
          </a:blip>
          <a:srcRect b="8852" l="51838" r="30821" t="66739"/>
          <a:stretch/>
        </p:blipFill>
        <p:spPr>
          <a:xfrm>
            <a:off x="3677066" y="1026695"/>
            <a:ext cx="1058779" cy="80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2"/>
          <p:cNvPicPr preferRelativeResize="0"/>
          <p:nvPr/>
        </p:nvPicPr>
        <p:blipFill rotWithShape="1">
          <a:blip r:embed="rId4">
            <a:alphaModFix/>
          </a:blip>
          <a:srcRect b="60190" l="62413" r="16141" t="20283"/>
          <a:stretch/>
        </p:blipFill>
        <p:spPr>
          <a:xfrm>
            <a:off x="401054" y="985334"/>
            <a:ext cx="1721103" cy="843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and Perpendicular Lines - ppt download" id="923" name="Google Shape;923;p32"/>
          <p:cNvPicPr preferRelativeResize="0"/>
          <p:nvPr/>
        </p:nvPicPr>
        <p:blipFill rotWithShape="1">
          <a:blip r:embed="rId3">
            <a:alphaModFix/>
          </a:blip>
          <a:srcRect b="28102" l="63645" r="26062" t="58798"/>
          <a:stretch/>
        </p:blipFill>
        <p:spPr>
          <a:xfrm>
            <a:off x="401054" y="2635570"/>
            <a:ext cx="1176418" cy="1122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and Perpendicular Lines - ppt download" id="924" name="Google Shape;924;p32"/>
          <p:cNvPicPr preferRelativeResize="0"/>
          <p:nvPr/>
        </p:nvPicPr>
        <p:blipFill rotWithShape="1">
          <a:blip r:embed="rId5">
            <a:alphaModFix/>
          </a:blip>
          <a:srcRect b="44321" l="29961" r="57875" t="41644"/>
          <a:stretch/>
        </p:blipFill>
        <p:spPr>
          <a:xfrm>
            <a:off x="3567958" y="2653428"/>
            <a:ext cx="1276993" cy="1105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 and Perpendicular Lines - ppt download" id="925" name="Google Shape;925;p32"/>
          <p:cNvPicPr preferRelativeResize="0"/>
          <p:nvPr/>
        </p:nvPicPr>
        <p:blipFill rotWithShape="1">
          <a:blip r:embed="rId3">
            <a:alphaModFix/>
          </a:blip>
          <a:srcRect b="13131" l="29493" r="56706" t="75329"/>
          <a:stretch/>
        </p:blipFill>
        <p:spPr>
          <a:xfrm>
            <a:off x="279962" y="4474825"/>
            <a:ext cx="1524988" cy="9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32"/>
          <p:cNvPicPr preferRelativeResize="0"/>
          <p:nvPr/>
        </p:nvPicPr>
        <p:blipFill rotWithShape="1">
          <a:blip r:embed="rId6">
            <a:alphaModFix/>
          </a:blip>
          <a:srcRect b="0" l="4491" r="76125" t="82841"/>
          <a:stretch/>
        </p:blipFill>
        <p:spPr>
          <a:xfrm>
            <a:off x="459467" y="6147482"/>
            <a:ext cx="1176418" cy="137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32"/>
          <p:cNvPicPr preferRelativeResize="0"/>
          <p:nvPr/>
        </p:nvPicPr>
        <p:blipFill rotWithShape="1">
          <a:blip r:embed="rId6">
            <a:alphaModFix/>
          </a:blip>
          <a:srcRect b="2279" l="71542" r="8755" t="82121"/>
          <a:stretch/>
        </p:blipFill>
        <p:spPr>
          <a:xfrm>
            <a:off x="3609711" y="6095461"/>
            <a:ext cx="1209284" cy="1268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32"/>
          <p:cNvPicPr preferRelativeResize="0"/>
          <p:nvPr/>
        </p:nvPicPr>
        <p:blipFill rotWithShape="1">
          <a:blip r:embed="rId7">
            <a:alphaModFix/>
          </a:blip>
          <a:srcRect b="25031" l="12577" r="63357" t="62703"/>
          <a:stretch/>
        </p:blipFill>
        <p:spPr>
          <a:xfrm>
            <a:off x="279962" y="8081250"/>
            <a:ext cx="1524988" cy="1059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32"/>
          <p:cNvPicPr preferRelativeResize="0"/>
          <p:nvPr/>
        </p:nvPicPr>
        <p:blipFill rotWithShape="1">
          <a:blip r:embed="rId8">
            <a:alphaModFix/>
          </a:blip>
          <a:srcRect b="4267" l="53533" r="32485" t="84641"/>
          <a:stretch/>
        </p:blipFill>
        <p:spPr>
          <a:xfrm>
            <a:off x="3609711" y="7945318"/>
            <a:ext cx="1058779" cy="1112533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32"/>
          <p:cNvSpPr txBox="1"/>
          <p:nvPr/>
        </p:nvSpPr>
        <p:spPr>
          <a:xfrm>
            <a:off x="401054" y="849390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31" name="Google Shape;931;p32"/>
          <p:cNvSpPr txBox="1"/>
          <p:nvPr/>
        </p:nvSpPr>
        <p:spPr>
          <a:xfrm>
            <a:off x="234147" y="1704196"/>
            <a:ext cx="279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932" name="Google Shape;932;p32"/>
          <p:cNvSpPr txBox="1"/>
          <p:nvPr/>
        </p:nvSpPr>
        <p:spPr>
          <a:xfrm>
            <a:off x="1834448" y="1738197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933" name="Google Shape;933;p32"/>
          <p:cNvSpPr txBox="1"/>
          <p:nvPr/>
        </p:nvSpPr>
        <p:spPr>
          <a:xfrm>
            <a:off x="2033866" y="888195"/>
            <a:ext cx="25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934" name="Google Shape;934;p32"/>
          <p:cNvSpPr txBox="1"/>
          <p:nvPr/>
        </p:nvSpPr>
        <p:spPr>
          <a:xfrm>
            <a:off x="3716399" y="840298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935" name="Google Shape;935;p32"/>
          <p:cNvSpPr txBox="1"/>
          <p:nvPr/>
        </p:nvSpPr>
        <p:spPr>
          <a:xfrm>
            <a:off x="3544658" y="1617152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936" name="Google Shape;936;p32"/>
          <p:cNvSpPr txBox="1"/>
          <p:nvPr/>
        </p:nvSpPr>
        <p:spPr>
          <a:xfrm>
            <a:off x="4475837" y="1599697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37" name="Google Shape;937;p32"/>
          <p:cNvSpPr txBox="1"/>
          <p:nvPr/>
        </p:nvSpPr>
        <p:spPr>
          <a:xfrm>
            <a:off x="4623145" y="838798"/>
            <a:ext cx="256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938" name="Google Shape;938;p32"/>
          <p:cNvSpPr txBox="1"/>
          <p:nvPr/>
        </p:nvSpPr>
        <p:spPr>
          <a:xfrm>
            <a:off x="338858" y="2625493"/>
            <a:ext cx="234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</p:txBody>
      </p:sp>
      <p:sp>
        <p:nvSpPr>
          <p:cNvPr id="939" name="Google Shape;939;p32"/>
          <p:cNvSpPr txBox="1"/>
          <p:nvPr/>
        </p:nvSpPr>
        <p:spPr>
          <a:xfrm>
            <a:off x="1407744" y="2620492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940" name="Google Shape;940;p32"/>
          <p:cNvSpPr txBox="1"/>
          <p:nvPr/>
        </p:nvSpPr>
        <p:spPr>
          <a:xfrm>
            <a:off x="1415759" y="3587471"/>
            <a:ext cx="2487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941" name="Google Shape;941;p32"/>
          <p:cNvSpPr txBox="1"/>
          <p:nvPr/>
        </p:nvSpPr>
        <p:spPr>
          <a:xfrm>
            <a:off x="292017" y="3585872"/>
            <a:ext cx="3161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942" name="Google Shape;942;p32"/>
          <p:cNvSpPr txBox="1"/>
          <p:nvPr/>
        </p:nvSpPr>
        <p:spPr>
          <a:xfrm>
            <a:off x="4037321" y="2481992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943" name="Google Shape;943;p32"/>
          <p:cNvSpPr txBox="1"/>
          <p:nvPr/>
        </p:nvSpPr>
        <p:spPr>
          <a:xfrm>
            <a:off x="3533437" y="3529416"/>
            <a:ext cx="2872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44" name="Google Shape;944;p32"/>
          <p:cNvSpPr txBox="1"/>
          <p:nvPr/>
        </p:nvSpPr>
        <p:spPr>
          <a:xfrm>
            <a:off x="4554179" y="3505467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945" name="Google Shape;945;p32"/>
          <p:cNvSpPr txBox="1"/>
          <p:nvPr/>
        </p:nvSpPr>
        <p:spPr>
          <a:xfrm>
            <a:off x="247522" y="5163054"/>
            <a:ext cx="288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946" name="Google Shape;946;p32"/>
          <p:cNvSpPr txBox="1"/>
          <p:nvPr/>
        </p:nvSpPr>
        <p:spPr>
          <a:xfrm>
            <a:off x="257942" y="4789841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947" name="Google Shape;947;p32"/>
          <p:cNvSpPr txBox="1"/>
          <p:nvPr/>
        </p:nvSpPr>
        <p:spPr>
          <a:xfrm>
            <a:off x="1228141" y="4412797"/>
            <a:ext cx="25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948" name="Google Shape;948;p32"/>
          <p:cNvSpPr txBox="1"/>
          <p:nvPr/>
        </p:nvSpPr>
        <p:spPr>
          <a:xfrm>
            <a:off x="1635885" y="5114122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949" name="Google Shape;949;p32"/>
          <p:cNvSpPr txBox="1"/>
          <p:nvPr/>
        </p:nvSpPr>
        <p:spPr>
          <a:xfrm>
            <a:off x="3782549" y="4274297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/>
          </a:p>
        </p:txBody>
      </p:sp>
      <p:sp>
        <p:nvSpPr>
          <p:cNvPr id="950" name="Google Shape;950;p32"/>
          <p:cNvSpPr txBox="1"/>
          <p:nvPr/>
        </p:nvSpPr>
        <p:spPr>
          <a:xfrm>
            <a:off x="4298207" y="4264744"/>
            <a:ext cx="271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951" name="Google Shape;951;p32"/>
          <p:cNvSpPr txBox="1"/>
          <p:nvPr/>
        </p:nvSpPr>
        <p:spPr>
          <a:xfrm>
            <a:off x="4605841" y="4771530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952" name="Google Shape;952;p32"/>
          <p:cNvSpPr txBox="1"/>
          <p:nvPr/>
        </p:nvSpPr>
        <p:spPr>
          <a:xfrm>
            <a:off x="4343429" y="5253808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953" name="Google Shape;953;p32"/>
          <p:cNvSpPr txBox="1"/>
          <p:nvPr/>
        </p:nvSpPr>
        <p:spPr>
          <a:xfrm>
            <a:off x="3784663" y="5253808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54" name="Google Shape;954;p32"/>
          <p:cNvSpPr txBox="1"/>
          <p:nvPr/>
        </p:nvSpPr>
        <p:spPr>
          <a:xfrm>
            <a:off x="3514176" y="4764995"/>
            <a:ext cx="256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955" name="Google Shape;955;p32"/>
          <p:cNvSpPr txBox="1"/>
          <p:nvPr/>
        </p:nvSpPr>
        <p:spPr>
          <a:xfrm>
            <a:off x="1462576" y="6070472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56" name="Google Shape;956;p32"/>
          <p:cNvSpPr txBox="1"/>
          <p:nvPr/>
        </p:nvSpPr>
        <p:spPr>
          <a:xfrm>
            <a:off x="1462576" y="6376045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57" name="Google Shape;957;p32"/>
          <p:cNvSpPr txBox="1"/>
          <p:nvPr/>
        </p:nvSpPr>
        <p:spPr>
          <a:xfrm>
            <a:off x="802617" y="6479213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58" name="Google Shape;958;p32"/>
          <p:cNvSpPr txBox="1"/>
          <p:nvPr/>
        </p:nvSpPr>
        <p:spPr>
          <a:xfrm>
            <a:off x="791395" y="6860637"/>
            <a:ext cx="279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959" name="Google Shape;959;p32"/>
          <p:cNvSpPr txBox="1"/>
          <p:nvPr/>
        </p:nvSpPr>
        <p:spPr>
          <a:xfrm>
            <a:off x="940635" y="6932444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960" name="Google Shape;960;p32"/>
          <p:cNvSpPr txBox="1"/>
          <p:nvPr/>
        </p:nvSpPr>
        <p:spPr>
          <a:xfrm>
            <a:off x="952667" y="7182864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961" name="Google Shape;961;p32"/>
          <p:cNvSpPr txBox="1"/>
          <p:nvPr/>
        </p:nvSpPr>
        <p:spPr>
          <a:xfrm>
            <a:off x="304074" y="7209443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962" name="Google Shape;962;p32"/>
          <p:cNvSpPr txBox="1"/>
          <p:nvPr/>
        </p:nvSpPr>
        <p:spPr>
          <a:xfrm>
            <a:off x="314813" y="6065554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963" name="Google Shape;963;p32"/>
          <p:cNvSpPr txBox="1"/>
          <p:nvPr/>
        </p:nvSpPr>
        <p:spPr>
          <a:xfrm>
            <a:off x="3835031" y="6303540"/>
            <a:ext cx="2231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964" name="Google Shape;964;p32"/>
          <p:cNvSpPr txBox="1"/>
          <p:nvPr/>
        </p:nvSpPr>
        <p:spPr>
          <a:xfrm>
            <a:off x="4072031" y="6443542"/>
            <a:ext cx="234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</p:txBody>
      </p:sp>
      <p:sp>
        <p:nvSpPr>
          <p:cNvPr id="965" name="Google Shape;965;p32"/>
          <p:cNvSpPr txBox="1"/>
          <p:nvPr/>
        </p:nvSpPr>
        <p:spPr>
          <a:xfrm>
            <a:off x="4394306" y="6003851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966" name="Google Shape;966;p32"/>
          <p:cNvSpPr txBox="1"/>
          <p:nvPr/>
        </p:nvSpPr>
        <p:spPr>
          <a:xfrm>
            <a:off x="4702118" y="6237545"/>
            <a:ext cx="2487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967" name="Google Shape;967;p32"/>
          <p:cNvSpPr txBox="1"/>
          <p:nvPr/>
        </p:nvSpPr>
        <p:spPr>
          <a:xfrm>
            <a:off x="3990279" y="7171723"/>
            <a:ext cx="3161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968" name="Google Shape;968;p32"/>
          <p:cNvSpPr txBox="1"/>
          <p:nvPr/>
        </p:nvSpPr>
        <p:spPr>
          <a:xfrm>
            <a:off x="3455699" y="6756212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969" name="Google Shape;969;p32"/>
          <p:cNvSpPr txBox="1"/>
          <p:nvPr/>
        </p:nvSpPr>
        <p:spPr>
          <a:xfrm>
            <a:off x="136333" y="8363084"/>
            <a:ext cx="2872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70" name="Google Shape;970;p32"/>
          <p:cNvSpPr txBox="1"/>
          <p:nvPr/>
        </p:nvSpPr>
        <p:spPr>
          <a:xfrm>
            <a:off x="820259" y="7919982"/>
            <a:ext cx="264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971" name="Google Shape;971;p32"/>
          <p:cNvSpPr txBox="1"/>
          <p:nvPr/>
        </p:nvSpPr>
        <p:spPr>
          <a:xfrm>
            <a:off x="1586167" y="8029303"/>
            <a:ext cx="288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972" name="Google Shape;972;p32"/>
          <p:cNvSpPr txBox="1"/>
          <p:nvPr/>
        </p:nvSpPr>
        <p:spPr>
          <a:xfrm>
            <a:off x="136333" y="9033340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973" name="Google Shape;973;p32"/>
          <p:cNvSpPr txBox="1"/>
          <p:nvPr/>
        </p:nvSpPr>
        <p:spPr>
          <a:xfrm>
            <a:off x="3485082" y="8269297"/>
            <a:ext cx="25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974" name="Google Shape;974;p32"/>
          <p:cNvSpPr txBox="1"/>
          <p:nvPr/>
        </p:nvSpPr>
        <p:spPr>
          <a:xfrm>
            <a:off x="3860275" y="8740805"/>
            <a:ext cx="260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975" name="Google Shape;975;p32"/>
          <p:cNvSpPr txBox="1"/>
          <p:nvPr/>
        </p:nvSpPr>
        <p:spPr>
          <a:xfrm>
            <a:off x="4418066" y="8905088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/>
          </a:p>
        </p:txBody>
      </p:sp>
      <p:sp>
        <p:nvSpPr>
          <p:cNvPr id="976" name="Google Shape;976;p32"/>
          <p:cNvSpPr txBox="1"/>
          <p:nvPr/>
        </p:nvSpPr>
        <p:spPr>
          <a:xfrm>
            <a:off x="4427115" y="8306302"/>
            <a:ext cx="271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977" name="Google Shape;977;p32"/>
          <p:cNvSpPr txBox="1"/>
          <p:nvPr/>
        </p:nvSpPr>
        <p:spPr>
          <a:xfrm>
            <a:off x="4000451" y="7845962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978" name="Google Shape;978;p32"/>
          <p:cNvSpPr/>
          <p:nvPr/>
        </p:nvSpPr>
        <p:spPr>
          <a:xfrm>
            <a:off x="549154" y="2786654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2"/>
          <p:cNvSpPr/>
          <p:nvPr/>
        </p:nvSpPr>
        <p:spPr>
          <a:xfrm>
            <a:off x="559052" y="3502961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2"/>
          <p:cNvSpPr/>
          <p:nvPr/>
        </p:nvSpPr>
        <p:spPr>
          <a:xfrm>
            <a:off x="1279949" y="2794474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2"/>
          <p:cNvSpPr/>
          <p:nvPr/>
        </p:nvSpPr>
        <p:spPr>
          <a:xfrm>
            <a:off x="1289847" y="3510781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2"/>
          <p:cNvSpPr/>
          <p:nvPr/>
        </p:nvSpPr>
        <p:spPr>
          <a:xfrm>
            <a:off x="467521" y="5082459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2"/>
          <p:cNvSpPr/>
          <p:nvPr/>
        </p:nvSpPr>
        <p:spPr>
          <a:xfrm>
            <a:off x="1371854" y="6395114"/>
            <a:ext cx="108000" cy="10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2"/>
          <p:cNvSpPr/>
          <p:nvPr/>
        </p:nvSpPr>
        <p:spPr>
          <a:xfrm>
            <a:off x="1368568" y="6216044"/>
            <a:ext cx="108000" cy="10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2"/>
          <p:cNvSpPr/>
          <p:nvPr/>
        </p:nvSpPr>
        <p:spPr>
          <a:xfrm>
            <a:off x="564134" y="7210454"/>
            <a:ext cx="108000" cy="10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2"/>
          <p:cNvSpPr/>
          <p:nvPr/>
        </p:nvSpPr>
        <p:spPr>
          <a:xfrm>
            <a:off x="565708" y="6193931"/>
            <a:ext cx="108000" cy="10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2"/>
          <p:cNvSpPr/>
          <p:nvPr/>
        </p:nvSpPr>
        <p:spPr>
          <a:xfrm>
            <a:off x="913990" y="7245250"/>
            <a:ext cx="72000" cy="7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2"/>
          <p:cNvSpPr/>
          <p:nvPr/>
        </p:nvSpPr>
        <p:spPr>
          <a:xfrm>
            <a:off x="913687" y="7101069"/>
            <a:ext cx="72000" cy="7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2"/>
          <p:cNvSpPr/>
          <p:nvPr/>
        </p:nvSpPr>
        <p:spPr>
          <a:xfrm rot="2260704">
            <a:off x="3921013" y="6595989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2"/>
          <p:cNvSpPr/>
          <p:nvPr/>
        </p:nvSpPr>
        <p:spPr>
          <a:xfrm rot="2260704">
            <a:off x="4019353" y="7009020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2"/>
          <p:cNvSpPr/>
          <p:nvPr/>
        </p:nvSpPr>
        <p:spPr>
          <a:xfrm rot="2260704">
            <a:off x="3748345" y="6814683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2"/>
          <p:cNvSpPr/>
          <p:nvPr/>
        </p:nvSpPr>
        <p:spPr>
          <a:xfrm rot="2260704">
            <a:off x="4500286" y="6285963"/>
            <a:ext cx="72000" cy="7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2"/>
          <p:cNvSpPr/>
          <p:nvPr/>
        </p:nvSpPr>
        <p:spPr>
          <a:xfrm rot="2260704">
            <a:off x="4632489" y="6384995"/>
            <a:ext cx="72000" cy="7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2"/>
          <p:cNvSpPr/>
          <p:nvPr/>
        </p:nvSpPr>
        <p:spPr>
          <a:xfrm rot="2947075">
            <a:off x="3779212" y="8364314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2"/>
          <p:cNvSpPr/>
          <p:nvPr/>
        </p:nvSpPr>
        <p:spPr>
          <a:xfrm rot="2970891">
            <a:off x="4049957" y="8127967"/>
            <a:ext cx="162126" cy="1444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2"/>
          <p:cNvSpPr txBox="1"/>
          <p:nvPr/>
        </p:nvSpPr>
        <p:spPr>
          <a:xfrm>
            <a:off x="2438905" y="1217234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997" name="Google Shape;997;p32"/>
          <p:cNvSpPr txBox="1"/>
          <p:nvPr/>
        </p:nvSpPr>
        <p:spPr>
          <a:xfrm>
            <a:off x="5424617" y="1166030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998" name="Google Shape;998;p32"/>
          <p:cNvSpPr txBox="1"/>
          <p:nvPr/>
        </p:nvSpPr>
        <p:spPr>
          <a:xfrm>
            <a:off x="5469926" y="3012378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999" name="Google Shape;999;p32"/>
          <p:cNvSpPr txBox="1"/>
          <p:nvPr/>
        </p:nvSpPr>
        <p:spPr>
          <a:xfrm>
            <a:off x="5480204" y="4605175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1000" name="Google Shape;1000;p32"/>
          <p:cNvSpPr txBox="1"/>
          <p:nvPr/>
        </p:nvSpPr>
        <p:spPr>
          <a:xfrm>
            <a:off x="2283370" y="8160132"/>
            <a:ext cx="69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/>
          </a:p>
        </p:txBody>
      </p:sp>
      <p:sp>
        <p:nvSpPr>
          <p:cNvPr id="1001" name="Google Shape;1001;p32"/>
          <p:cNvSpPr txBox="1"/>
          <p:nvPr/>
        </p:nvSpPr>
        <p:spPr>
          <a:xfrm>
            <a:off x="1884025" y="2620491"/>
            <a:ext cx="12298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JK and KL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JK and JM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 and KL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 and JM</a:t>
            </a:r>
            <a:endParaRPr/>
          </a:p>
        </p:txBody>
      </p:sp>
      <p:sp>
        <p:nvSpPr>
          <p:cNvPr id="1002" name="Google Shape;1002;p32"/>
          <p:cNvSpPr txBox="1"/>
          <p:nvPr/>
        </p:nvSpPr>
        <p:spPr>
          <a:xfrm>
            <a:off x="1967646" y="4853107"/>
            <a:ext cx="12054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RQ and QT</a:t>
            </a:r>
            <a:endParaRPr/>
          </a:p>
        </p:txBody>
      </p:sp>
      <p:sp>
        <p:nvSpPr>
          <p:cNvPr id="1003" name="Google Shape;1003;p32"/>
          <p:cNvSpPr txBox="1"/>
          <p:nvPr/>
        </p:nvSpPr>
        <p:spPr>
          <a:xfrm>
            <a:off x="2003264" y="5897791"/>
            <a:ext cx="122982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AH and AB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AH and 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 and BC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 and 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EF and FG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FG and GH</a:t>
            </a:r>
            <a:endParaRPr/>
          </a:p>
        </p:txBody>
      </p:sp>
      <p:sp>
        <p:nvSpPr>
          <p:cNvPr id="1004" name="Google Shape;1004;p32"/>
          <p:cNvSpPr txBox="1"/>
          <p:nvPr/>
        </p:nvSpPr>
        <p:spPr>
          <a:xfrm>
            <a:off x="5291427" y="5981877"/>
            <a:ext cx="13051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KL and JK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KL and 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and IJ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and MN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MN and LM</a:t>
            </a:r>
            <a:endParaRPr/>
          </a:p>
        </p:txBody>
      </p:sp>
      <p:sp>
        <p:nvSpPr>
          <p:cNvPr id="1005" name="Google Shape;1005;p32"/>
          <p:cNvSpPr txBox="1"/>
          <p:nvPr/>
        </p:nvSpPr>
        <p:spPr>
          <a:xfrm>
            <a:off x="5292814" y="8084630"/>
            <a:ext cx="12298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SW and 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 and VW</a:t>
            </a:r>
            <a:endParaRPr/>
          </a:p>
        </p:txBody>
      </p:sp>
      <p:sp>
        <p:nvSpPr>
          <p:cNvPr id="1006" name="Google Shape;1006;p3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3"/>
          <p:cNvSpPr/>
          <p:nvPr/>
        </p:nvSpPr>
        <p:spPr>
          <a:xfrm>
            <a:off x="177424" y="166077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 Practice</a:t>
            </a:r>
            <a:endParaRPr/>
          </a:p>
        </p:txBody>
      </p:sp>
      <p:sp>
        <p:nvSpPr>
          <p:cNvPr id="1012" name="Google Shape;1012;p33"/>
          <p:cNvSpPr txBox="1"/>
          <p:nvPr/>
        </p:nvSpPr>
        <p:spPr>
          <a:xfrm>
            <a:off x="113684" y="453625"/>
            <a:ext cx="5775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20. Complete the following table:</a:t>
            </a:r>
            <a:endParaRPr/>
          </a:p>
        </p:txBody>
      </p:sp>
      <p:graphicFrame>
        <p:nvGraphicFramePr>
          <p:cNvPr id="1013" name="Google Shape;1013;p33"/>
          <p:cNvGraphicFramePr/>
          <p:nvPr/>
        </p:nvGraphicFramePr>
        <p:xfrm>
          <a:off x="177424" y="7010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94075"/>
                <a:gridCol w="1485900"/>
                <a:gridCol w="1295400"/>
                <a:gridCol w="1638300"/>
                <a:gridCol w="1638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Shape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Shape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pairs of parallel lines?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pairs of perpendicular lines?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Square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Rectangle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Two pairs of parallel lines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Parallelogram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2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None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Parallelogram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No perpendicular lines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Trapezium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None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Kite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None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14" name="Google Shape;1014;p33"/>
          <p:cNvSpPr/>
          <p:nvPr/>
        </p:nvSpPr>
        <p:spPr>
          <a:xfrm>
            <a:off x="776904" y="2428812"/>
            <a:ext cx="1085850" cy="491182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3"/>
          <p:cNvSpPr/>
          <p:nvPr/>
        </p:nvSpPr>
        <p:spPr>
          <a:xfrm>
            <a:off x="1023525" y="3341826"/>
            <a:ext cx="592607" cy="647700"/>
          </a:xfrm>
          <a:prstGeom prst="flowChartInputOutpu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3"/>
          <p:cNvSpPr/>
          <p:nvPr/>
        </p:nvSpPr>
        <p:spPr>
          <a:xfrm>
            <a:off x="776904" y="4442932"/>
            <a:ext cx="1033215" cy="491181"/>
          </a:xfrm>
          <a:prstGeom prst="flowChartInputOutpu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3"/>
          <p:cNvSpPr/>
          <p:nvPr/>
        </p:nvSpPr>
        <p:spPr>
          <a:xfrm>
            <a:off x="776904" y="5416060"/>
            <a:ext cx="1033215" cy="491181"/>
          </a:xfrm>
          <a:prstGeom prst="trapezoid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ite Shape Icons - Free SVG &amp; PNG Kite Shape Images - Noun Project" id="1018" name="Google Shape;10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71048" y="6099719"/>
            <a:ext cx="1244926" cy="12449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9" name="Google Shape;1019;p33"/>
          <p:cNvGraphicFramePr/>
          <p:nvPr/>
        </p:nvGraphicFramePr>
        <p:xfrm>
          <a:off x="177424" y="73446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21. Satkiran says the lines can’t be perpendicular because they don’t cross. Do you agree? You must explain your answer.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Satkiran could be wrong. If you extend the lines, they might meet at a right angle. Without drawing this and measuring, we are unable to tell.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20" name="Google Shape;1020;p33"/>
          <p:cNvPicPr preferRelativeResize="0"/>
          <p:nvPr/>
        </p:nvPicPr>
        <p:blipFill rotWithShape="1">
          <a:blip r:embed="rId4">
            <a:alphaModFix/>
          </a:blip>
          <a:srcRect b="-1" l="57756" r="0" t="39613"/>
          <a:stretch/>
        </p:blipFill>
        <p:spPr>
          <a:xfrm>
            <a:off x="2463295" y="7622263"/>
            <a:ext cx="1931410" cy="51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33"/>
          <p:cNvSpPr/>
          <p:nvPr/>
        </p:nvSpPr>
        <p:spPr>
          <a:xfrm>
            <a:off x="976626" y="1331362"/>
            <a:ext cx="686403" cy="63012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3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" name="Google Shape;1027;p34"/>
          <p:cNvGraphicFramePr/>
          <p:nvPr/>
        </p:nvGraphicFramePr>
        <p:xfrm>
          <a:off x="186418" y="3217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434000"/>
              </a:tblGrid>
              <a:tr h="24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Label angle AED on the diagram.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Write down the name of the line segment that is perpendicular to BC.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AB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28" name="Google Shape;1028;p34"/>
          <p:cNvGrpSpPr/>
          <p:nvPr/>
        </p:nvGrpSpPr>
        <p:grpSpPr>
          <a:xfrm>
            <a:off x="290606" y="628520"/>
            <a:ext cx="2402898" cy="2198184"/>
            <a:chOff x="290606" y="628520"/>
            <a:chExt cx="2402898" cy="2198184"/>
          </a:xfrm>
        </p:grpSpPr>
        <p:pic>
          <p:nvPicPr>
            <p:cNvPr id="1029" name="Google Shape;1029;p34"/>
            <p:cNvPicPr preferRelativeResize="0"/>
            <p:nvPr/>
          </p:nvPicPr>
          <p:blipFill rotWithShape="1">
            <a:blip r:embed="rId3">
              <a:alphaModFix/>
            </a:blip>
            <a:srcRect b="33107" l="4236" r="31853" t="0"/>
            <a:stretch/>
          </p:blipFill>
          <p:spPr>
            <a:xfrm>
              <a:off x="290606" y="638459"/>
              <a:ext cx="2005333" cy="21882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34"/>
            <p:cNvSpPr/>
            <p:nvPr/>
          </p:nvSpPr>
          <p:spPr>
            <a:xfrm>
              <a:off x="2047461" y="628520"/>
              <a:ext cx="646043" cy="8225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1" name="Google Shape;1031;p34"/>
          <p:cNvSpPr txBox="1"/>
          <p:nvPr/>
        </p:nvSpPr>
        <p:spPr>
          <a:xfrm>
            <a:off x="93806" y="64598"/>
            <a:ext cx="5775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22.</a:t>
            </a:r>
            <a:endParaRPr/>
          </a:p>
        </p:txBody>
      </p:sp>
      <p:sp>
        <p:nvSpPr>
          <p:cNvPr id="1032" name="Google Shape;1032;p34"/>
          <p:cNvSpPr txBox="1"/>
          <p:nvPr/>
        </p:nvSpPr>
        <p:spPr>
          <a:xfrm>
            <a:off x="113076" y="4442963"/>
            <a:ext cx="66318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23. For each question, write the relationship between the line segments indicated by the arrows  (parallel/perpendicular).</a:t>
            </a:r>
            <a:endParaRPr/>
          </a:p>
        </p:txBody>
      </p:sp>
      <p:graphicFrame>
        <p:nvGraphicFramePr>
          <p:cNvPr id="1033" name="Google Shape;1033;p34"/>
          <p:cNvGraphicFramePr/>
          <p:nvPr/>
        </p:nvGraphicFramePr>
        <p:xfrm>
          <a:off x="183696" y="49420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2146475"/>
                <a:gridCol w="2146475"/>
                <a:gridCol w="2146475"/>
              </a:tblGrid>
              <a:tr h="12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aseline="3000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34" name="Google Shape;1034;p34"/>
          <p:cNvPicPr preferRelativeResize="0"/>
          <p:nvPr/>
        </p:nvPicPr>
        <p:blipFill rotWithShape="1">
          <a:blip r:embed="rId4">
            <a:alphaModFix/>
          </a:blip>
          <a:srcRect b="62577" l="39981" r="32928" t="10215"/>
          <a:stretch/>
        </p:blipFill>
        <p:spPr>
          <a:xfrm>
            <a:off x="2492560" y="5394898"/>
            <a:ext cx="1878321" cy="115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34"/>
          <p:cNvPicPr preferRelativeResize="0"/>
          <p:nvPr/>
        </p:nvPicPr>
        <p:blipFill rotWithShape="1">
          <a:blip r:embed="rId4">
            <a:alphaModFix/>
          </a:blip>
          <a:srcRect b="60497" l="9458" r="75512" t="9051"/>
          <a:stretch/>
        </p:blipFill>
        <p:spPr>
          <a:xfrm>
            <a:off x="710910" y="5279947"/>
            <a:ext cx="1084515" cy="135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34"/>
          <p:cNvPicPr preferRelativeResize="0"/>
          <p:nvPr/>
        </p:nvPicPr>
        <p:blipFill rotWithShape="1">
          <a:blip r:embed="rId4">
            <a:alphaModFix/>
          </a:blip>
          <a:srcRect b="62826" l="79035" r="0" t="11963"/>
          <a:stretch/>
        </p:blipFill>
        <p:spPr>
          <a:xfrm>
            <a:off x="4810470" y="5366824"/>
            <a:ext cx="1644726" cy="1215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34"/>
          <p:cNvPicPr preferRelativeResize="0"/>
          <p:nvPr/>
        </p:nvPicPr>
        <p:blipFill rotWithShape="1">
          <a:blip r:embed="rId4">
            <a:alphaModFix/>
          </a:blip>
          <a:srcRect b="14402" l="43914" r="34902" t="59638"/>
          <a:stretch/>
        </p:blipFill>
        <p:spPr>
          <a:xfrm>
            <a:off x="2600788" y="7340864"/>
            <a:ext cx="1661863" cy="1251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34"/>
          <p:cNvPicPr preferRelativeResize="0"/>
          <p:nvPr/>
        </p:nvPicPr>
        <p:blipFill rotWithShape="1">
          <a:blip r:embed="rId4">
            <a:alphaModFix/>
          </a:blip>
          <a:srcRect b="13071" l="5930" r="70758" t="60787"/>
          <a:stretch/>
        </p:blipFill>
        <p:spPr>
          <a:xfrm>
            <a:off x="293327" y="7371520"/>
            <a:ext cx="1828800" cy="126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34"/>
          <p:cNvPicPr preferRelativeResize="0"/>
          <p:nvPr/>
        </p:nvPicPr>
        <p:blipFill rotWithShape="1">
          <a:blip r:embed="rId4">
            <a:alphaModFix/>
          </a:blip>
          <a:srcRect b="12119" l="81591" r="3686" t="58258"/>
          <a:stretch/>
        </p:blipFill>
        <p:spPr>
          <a:xfrm>
            <a:off x="4902366" y="7268138"/>
            <a:ext cx="1155032" cy="1427843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34"/>
          <p:cNvSpPr/>
          <p:nvPr/>
        </p:nvSpPr>
        <p:spPr>
          <a:xfrm rot="-4674929">
            <a:off x="1764260" y="2407679"/>
            <a:ext cx="514831" cy="450733"/>
          </a:xfrm>
          <a:prstGeom prst="arc">
            <a:avLst>
              <a:gd fmla="val 15144680" name="adj1"/>
              <a:gd fmla="val 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4"/>
          <p:cNvSpPr txBox="1"/>
          <p:nvPr/>
        </p:nvSpPr>
        <p:spPr>
          <a:xfrm>
            <a:off x="507030" y="6598667"/>
            <a:ext cx="1514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4"/>
          <p:cNvSpPr txBox="1"/>
          <p:nvPr/>
        </p:nvSpPr>
        <p:spPr>
          <a:xfrm>
            <a:off x="2944024" y="6576340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4"/>
          <p:cNvSpPr txBox="1"/>
          <p:nvPr/>
        </p:nvSpPr>
        <p:spPr>
          <a:xfrm>
            <a:off x="4764834" y="6576340"/>
            <a:ext cx="1514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4"/>
          <p:cNvSpPr txBox="1"/>
          <p:nvPr/>
        </p:nvSpPr>
        <p:spPr>
          <a:xfrm>
            <a:off x="710910" y="8752322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4"/>
          <p:cNvSpPr txBox="1"/>
          <p:nvPr/>
        </p:nvSpPr>
        <p:spPr>
          <a:xfrm>
            <a:off x="2600788" y="8752322"/>
            <a:ext cx="1514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4"/>
          <p:cNvSpPr txBox="1"/>
          <p:nvPr/>
        </p:nvSpPr>
        <p:spPr>
          <a:xfrm>
            <a:off x="5034055" y="8744249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35"/>
          <p:cNvSpPr txBox="1"/>
          <p:nvPr/>
        </p:nvSpPr>
        <p:spPr>
          <a:xfrm>
            <a:off x="113076" y="101664"/>
            <a:ext cx="66318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23 continued.</a:t>
            </a:r>
            <a:endParaRPr/>
          </a:p>
        </p:txBody>
      </p:sp>
      <p:graphicFrame>
        <p:nvGraphicFramePr>
          <p:cNvPr id="1053" name="Google Shape;1053;p35"/>
          <p:cNvGraphicFramePr/>
          <p:nvPr/>
        </p:nvGraphicFramePr>
        <p:xfrm>
          <a:off x="209283" y="365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2146475"/>
                <a:gridCol w="2146475"/>
                <a:gridCol w="2146475"/>
              </a:tblGrid>
              <a:tr h="12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baseline="3000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54" name="Google Shape;1054;p35"/>
          <p:cNvPicPr preferRelativeResize="0"/>
          <p:nvPr/>
        </p:nvPicPr>
        <p:blipFill rotWithShape="1">
          <a:blip r:embed="rId3">
            <a:alphaModFix/>
          </a:blip>
          <a:srcRect b="37750" l="3806" r="72709" t="38578"/>
          <a:stretch/>
        </p:blipFill>
        <p:spPr>
          <a:xfrm>
            <a:off x="2822972" y="721796"/>
            <a:ext cx="1212055" cy="129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35"/>
          <p:cNvPicPr preferRelativeResize="0"/>
          <p:nvPr/>
        </p:nvPicPr>
        <p:blipFill rotWithShape="1">
          <a:blip r:embed="rId3">
            <a:alphaModFix/>
          </a:blip>
          <a:srcRect b="74486" l="3031" r="71791" t="4031"/>
          <a:stretch/>
        </p:blipFill>
        <p:spPr>
          <a:xfrm>
            <a:off x="517358" y="721796"/>
            <a:ext cx="1431758" cy="129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35"/>
          <p:cNvPicPr preferRelativeResize="0"/>
          <p:nvPr/>
        </p:nvPicPr>
        <p:blipFill rotWithShape="1">
          <a:blip r:embed="rId3">
            <a:alphaModFix/>
          </a:blip>
          <a:srcRect b="35963" l="40199" r="41182" t="37981"/>
          <a:stretch/>
        </p:blipFill>
        <p:spPr>
          <a:xfrm>
            <a:off x="5149516" y="666078"/>
            <a:ext cx="957755" cy="142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35"/>
          <p:cNvPicPr preferRelativeResize="0"/>
          <p:nvPr/>
        </p:nvPicPr>
        <p:blipFill rotWithShape="1">
          <a:blip r:embed="rId3">
            <a:alphaModFix/>
          </a:blip>
          <a:srcRect b="2519" l="72218" r="2680" t="76837"/>
          <a:stretch/>
        </p:blipFill>
        <p:spPr>
          <a:xfrm>
            <a:off x="4959119" y="2795964"/>
            <a:ext cx="1427394" cy="124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35"/>
          <p:cNvPicPr preferRelativeResize="0"/>
          <p:nvPr/>
        </p:nvPicPr>
        <p:blipFill rotWithShape="1">
          <a:blip r:embed="rId3">
            <a:alphaModFix/>
          </a:blip>
          <a:srcRect b="2520" l="37801" r="37444" t="74317"/>
          <a:stretch/>
        </p:blipFill>
        <p:spPr>
          <a:xfrm>
            <a:off x="2725150" y="2719764"/>
            <a:ext cx="1407695" cy="140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35"/>
          <p:cNvPicPr preferRelativeResize="0"/>
          <p:nvPr/>
        </p:nvPicPr>
        <p:blipFill rotWithShape="1">
          <a:blip r:embed="rId3">
            <a:alphaModFix/>
          </a:blip>
          <a:srcRect b="36358" l="72571" r="2680" t="38180"/>
          <a:stretch/>
        </p:blipFill>
        <p:spPr>
          <a:xfrm>
            <a:off x="666483" y="2719764"/>
            <a:ext cx="1407341" cy="15400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35"/>
          <p:cNvSpPr txBox="1"/>
          <p:nvPr/>
        </p:nvSpPr>
        <p:spPr>
          <a:xfrm>
            <a:off x="123007" y="4673249"/>
            <a:ext cx="66318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24. Complete the sentences below:</a:t>
            </a:r>
            <a:endParaRPr/>
          </a:p>
        </p:txBody>
      </p:sp>
      <p:graphicFrame>
        <p:nvGraphicFramePr>
          <p:cNvPr id="1061" name="Google Shape;1061;p35"/>
          <p:cNvGraphicFramePr/>
          <p:nvPr/>
        </p:nvGraphicFramePr>
        <p:xfrm>
          <a:off x="215678" y="4928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3223250"/>
                <a:gridCol w="3223250"/>
              </a:tblGrid>
              <a:tr h="15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1 is parallel to line __________ 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3 is _______________ to line 2.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1 is _____________ to line 4 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3 is parallel to line ____________.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7 is parallel to line _______ and line ______.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4 is ___________ to line 6 and __________ to line 1.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3 is perpendicular to line _______ and to line ______.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Line 2 is ___________ to line 6 and __________ to line 5.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62" name="Google Shape;1062;p35"/>
          <p:cNvPicPr preferRelativeResize="0"/>
          <p:nvPr/>
        </p:nvPicPr>
        <p:blipFill rotWithShape="1">
          <a:blip r:embed="rId4">
            <a:alphaModFix/>
          </a:blip>
          <a:srcRect b="48731" l="56373" r="6231" t="34185"/>
          <a:stretch/>
        </p:blipFill>
        <p:spPr>
          <a:xfrm>
            <a:off x="4118032" y="5225332"/>
            <a:ext cx="1915532" cy="1192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35"/>
          <p:cNvPicPr preferRelativeResize="0"/>
          <p:nvPr/>
        </p:nvPicPr>
        <p:blipFill rotWithShape="1">
          <a:blip r:embed="rId4">
            <a:alphaModFix/>
          </a:blip>
          <a:srcRect b="47830" l="4614" r="54931" t="34126"/>
          <a:stretch/>
        </p:blipFill>
        <p:spPr>
          <a:xfrm>
            <a:off x="666483" y="5225332"/>
            <a:ext cx="2156489" cy="131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35"/>
          <p:cNvPicPr preferRelativeResize="0"/>
          <p:nvPr/>
        </p:nvPicPr>
        <p:blipFill rotWithShape="1">
          <a:blip r:embed="rId5">
            <a:alphaModFix/>
          </a:blip>
          <a:srcRect b="45605" l="54092" r="7911" t="39392"/>
          <a:stretch/>
        </p:blipFill>
        <p:spPr>
          <a:xfrm>
            <a:off x="4153374" y="7412678"/>
            <a:ext cx="2038143" cy="10659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5" name="Google Shape;1065;p35"/>
          <p:cNvGrpSpPr/>
          <p:nvPr/>
        </p:nvGrpSpPr>
        <p:grpSpPr>
          <a:xfrm>
            <a:off x="627311" y="7432836"/>
            <a:ext cx="2285250" cy="1204131"/>
            <a:chOff x="-3893591" y="8131129"/>
            <a:chExt cx="3619500" cy="1760767"/>
          </a:xfrm>
        </p:grpSpPr>
        <p:pic>
          <p:nvPicPr>
            <p:cNvPr id="1066" name="Google Shape;1066;p35"/>
            <p:cNvPicPr preferRelativeResize="0"/>
            <p:nvPr/>
          </p:nvPicPr>
          <p:blipFill rotWithShape="1">
            <a:blip r:embed="rId5">
              <a:alphaModFix/>
            </a:blip>
            <a:srcRect b="44218" l="2015" r="53283" t="39364"/>
            <a:stretch/>
          </p:blipFill>
          <p:spPr>
            <a:xfrm>
              <a:off x="-3893591" y="8131129"/>
              <a:ext cx="3619500" cy="1760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35"/>
            <p:cNvSpPr/>
            <p:nvPr/>
          </p:nvSpPr>
          <p:spPr>
            <a:xfrm>
              <a:off x="-3893591" y="9494583"/>
              <a:ext cx="274091" cy="36054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8" name="Google Shape;1068;p35"/>
          <p:cNvSpPr txBox="1"/>
          <p:nvPr/>
        </p:nvSpPr>
        <p:spPr>
          <a:xfrm>
            <a:off x="924326" y="4202876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5"/>
          <p:cNvSpPr txBox="1"/>
          <p:nvPr/>
        </p:nvSpPr>
        <p:spPr>
          <a:xfrm>
            <a:off x="3051058" y="4192118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5"/>
          <p:cNvSpPr txBox="1"/>
          <p:nvPr/>
        </p:nvSpPr>
        <p:spPr>
          <a:xfrm>
            <a:off x="4871868" y="4192118"/>
            <a:ext cx="1514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5"/>
          <p:cNvSpPr txBox="1"/>
          <p:nvPr/>
        </p:nvSpPr>
        <p:spPr>
          <a:xfrm>
            <a:off x="816829" y="1983465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5"/>
          <p:cNvSpPr txBox="1"/>
          <p:nvPr/>
        </p:nvSpPr>
        <p:spPr>
          <a:xfrm>
            <a:off x="2975281" y="2024004"/>
            <a:ext cx="891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5"/>
          <p:cNvSpPr txBox="1"/>
          <p:nvPr/>
        </p:nvSpPr>
        <p:spPr>
          <a:xfrm>
            <a:off x="4796091" y="2024004"/>
            <a:ext cx="1514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5"/>
          <p:cNvSpPr txBox="1"/>
          <p:nvPr/>
        </p:nvSpPr>
        <p:spPr>
          <a:xfrm>
            <a:off x="1949116" y="638688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5"/>
          <p:cNvSpPr txBox="1"/>
          <p:nvPr/>
        </p:nvSpPr>
        <p:spPr>
          <a:xfrm>
            <a:off x="758286" y="6807462"/>
            <a:ext cx="12237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5"/>
          <p:cNvSpPr txBox="1"/>
          <p:nvPr/>
        </p:nvSpPr>
        <p:spPr>
          <a:xfrm>
            <a:off x="3951260" y="6446088"/>
            <a:ext cx="12237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5"/>
          <p:cNvSpPr txBox="1"/>
          <p:nvPr/>
        </p:nvSpPr>
        <p:spPr>
          <a:xfrm>
            <a:off x="5277375" y="6768766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5"/>
          <p:cNvSpPr txBox="1"/>
          <p:nvPr/>
        </p:nvSpPr>
        <p:spPr>
          <a:xfrm>
            <a:off x="1844000" y="8590450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5"/>
          <p:cNvSpPr txBox="1"/>
          <p:nvPr/>
        </p:nvSpPr>
        <p:spPr>
          <a:xfrm>
            <a:off x="2917295" y="858182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5"/>
          <p:cNvSpPr txBox="1"/>
          <p:nvPr/>
        </p:nvSpPr>
        <p:spPr>
          <a:xfrm>
            <a:off x="891785" y="8990980"/>
            <a:ext cx="7417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5"/>
          <p:cNvSpPr txBox="1"/>
          <p:nvPr/>
        </p:nvSpPr>
        <p:spPr>
          <a:xfrm>
            <a:off x="2437749" y="9005810"/>
            <a:ext cx="12266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5"/>
          <p:cNvSpPr txBox="1"/>
          <p:nvPr/>
        </p:nvSpPr>
        <p:spPr>
          <a:xfrm>
            <a:off x="5490374" y="8594050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5"/>
          <p:cNvSpPr txBox="1"/>
          <p:nvPr/>
        </p:nvSpPr>
        <p:spPr>
          <a:xfrm>
            <a:off x="3852571" y="8832986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5"/>
          <p:cNvSpPr txBox="1"/>
          <p:nvPr/>
        </p:nvSpPr>
        <p:spPr>
          <a:xfrm>
            <a:off x="3916304" y="9090945"/>
            <a:ext cx="12266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5"/>
          <p:cNvSpPr txBox="1"/>
          <p:nvPr/>
        </p:nvSpPr>
        <p:spPr>
          <a:xfrm>
            <a:off x="5726802" y="9206671"/>
            <a:ext cx="7417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1" name="Google Shape;1091;p36"/>
          <p:cNvGraphicFramePr/>
          <p:nvPr/>
        </p:nvGraphicFramePr>
        <p:xfrm>
          <a:off x="136435" y="57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585125"/>
              </a:tblGrid>
              <a:tr h="33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type of angle is shown below?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This shape contains four _______ angles.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This shape has 4 interior angles. How many of them are obtuse?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9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 angle measures 212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 This means it is…</a:t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 following is a correct way to describe the marked angle?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92" name="Google Shape;1092;p36"/>
          <p:cNvPicPr preferRelativeResize="0"/>
          <p:nvPr/>
        </p:nvPicPr>
        <p:blipFill rotWithShape="1">
          <a:blip r:embed="rId3">
            <a:alphaModFix/>
          </a:blip>
          <a:srcRect b="45536" l="54046" r="1399" t="5415"/>
          <a:stretch/>
        </p:blipFill>
        <p:spPr>
          <a:xfrm>
            <a:off x="2847975" y="8080775"/>
            <a:ext cx="1263904" cy="91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7" y="1607245"/>
            <a:ext cx="4248142" cy="6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36"/>
          <p:cNvPicPr preferRelativeResize="0"/>
          <p:nvPr/>
        </p:nvPicPr>
        <p:blipFill rotWithShape="1">
          <a:blip r:embed="rId5">
            <a:alphaModFix/>
          </a:blip>
          <a:srcRect b="39165" l="32741" r="43295" t="24483"/>
          <a:stretch/>
        </p:blipFill>
        <p:spPr>
          <a:xfrm>
            <a:off x="2985446" y="721209"/>
            <a:ext cx="887105" cy="886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36"/>
          <p:cNvSpPr txBox="1"/>
          <p:nvPr/>
        </p:nvSpPr>
        <p:spPr>
          <a:xfrm>
            <a:off x="1241948" y="2081929"/>
            <a:ext cx="829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small angle</a:t>
            </a:r>
            <a:endParaRPr/>
          </a:p>
        </p:txBody>
      </p:sp>
      <p:sp>
        <p:nvSpPr>
          <p:cNvPr id="1096" name="Google Shape;1096;p36"/>
          <p:cNvSpPr txBox="1"/>
          <p:nvPr/>
        </p:nvSpPr>
        <p:spPr>
          <a:xfrm>
            <a:off x="2412597" y="2085231"/>
            <a:ext cx="829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acute angle</a:t>
            </a:r>
            <a:endParaRPr/>
          </a:p>
        </p:txBody>
      </p:sp>
      <p:sp>
        <p:nvSpPr>
          <p:cNvPr id="1097" name="Google Shape;1097;p36"/>
          <p:cNvSpPr txBox="1"/>
          <p:nvPr/>
        </p:nvSpPr>
        <p:spPr>
          <a:xfrm>
            <a:off x="3615933" y="2085231"/>
            <a:ext cx="829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obtuse angle</a:t>
            </a:r>
            <a:endParaRPr/>
          </a:p>
        </p:txBody>
      </p:sp>
      <p:sp>
        <p:nvSpPr>
          <p:cNvPr id="1098" name="Google Shape;1098;p36"/>
          <p:cNvSpPr txBox="1"/>
          <p:nvPr/>
        </p:nvSpPr>
        <p:spPr>
          <a:xfrm>
            <a:off x="4819269" y="2081928"/>
            <a:ext cx="829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right angle</a:t>
            </a:r>
            <a:endParaRPr/>
          </a:p>
        </p:txBody>
      </p:sp>
      <p:pic>
        <p:nvPicPr>
          <p:cNvPr id="1099" name="Google Shape;10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770" y="3676996"/>
            <a:ext cx="4248142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36"/>
          <p:cNvSpPr txBox="1"/>
          <p:nvPr/>
        </p:nvSpPr>
        <p:spPr>
          <a:xfrm>
            <a:off x="1269791" y="4151680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Obtuse</a:t>
            </a:r>
            <a:endParaRPr/>
          </a:p>
        </p:txBody>
      </p:sp>
      <p:sp>
        <p:nvSpPr>
          <p:cNvPr id="1101" name="Google Shape;1101;p36"/>
          <p:cNvSpPr txBox="1"/>
          <p:nvPr/>
        </p:nvSpPr>
        <p:spPr>
          <a:xfrm>
            <a:off x="2440440" y="4154982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Acute</a:t>
            </a:r>
            <a:endParaRPr/>
          </a:p>
        </p:txBody>
      </p:sp>
      <p:sp>
        <p:nvSpPr>
          <p:cNvPr id="1102" name="Google Shape;1102;p36"/>
          <p:cNvSpPr txBox="1"/>
          <p:nvPr/>
        </p:nvSpPr>
        <p:spPr>
          <a:xfrm>
            <a:off x="3643776" y="4154982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/>
          </a:p>
        </p:txBody>
      </p:sp>
      <p:sp>
        <p:nvSpPr>
          <p:cNvPr id="1103" name="Google Shape;1103;p36"/>
          <p:cNvSpPr txBox="1"/>
          <p:nvPr/>
        </p:nvSpPr>
        <p:spPr>
          <a:xfrm>
            <a:off x="4847112" y="4151679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/>
          </a:p>
        </p:txBody>
      </p:sp>
      <p:pic>
        <p:nvPicPr>
          <p:cNvPr id="1104" name="Google Shape;1104;p36"/>
          <p:cNvPicPr preferRelativeResize="0"/>
          <p:nvPr/>
        </p:nvPicPr>
        <p:blipFill rotWithShape="1">
          <a:blip r:embed="rId6">
            <a:alphaModFix/>
          </a:blip>
          <a:srcRect b="44029" l="26442" r="36201" t="29847"/>
          <a:stretch/>
        </p:blipFill>
        <p:spPr>
          <a:xfrm>
            <a:off x="2687271" y="2903101"/>
            <a:ext cx="1675619" cy="75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36"/>
          <p:cNvPicPr preferRelativeResize="0"/>
          <p:nvPr/>
        </p:nvPicPr>
        <p:blipFill rotWithShape="1">
          <a:blip r:embed="rId7">
            <a:alphaModFix/>
          </a:blip>
          <a:srcRect b="54550" l="50762" r="11062" t="11335"/>
          <a:stretch/>
        </p:blipFill>
        <p:spPr>
          <a:xfrm>
            <a:off x="2690311" y="4729871"/>
            <a:ext cx="1440483" cy="795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7906" y="5489004"/>
            <a:ext cx="4248142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36"/>
          <p:cNvSpPr txBox="1"/>
          <p:nvPr/>
        </p:nvSpPr>
        <p:spPr>
          <a:xfrm>
            <a:off x="1304927" y="5963688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08" name="Google Shape;1108;p36"/>
          <p:cNvSpPr txBox="1"/>
          <p:nvPr/>
        </p:nvSpPr>
        <p:spPr>
          <a:xfrm>
            <a:off x="2475576" y="5966990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9" name="Google Shape;1109;p36"/>
          <p:cNvSpPr txBox="1"/>
          <p:nvPr/>
        </p:nvSpPr>
        <p:spPr>
          <a:xfrm>
            <a:off x="3678912" y="5966990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10" name="Google Shape;1110;p36"/>
          <p:cNvSpPr txBox="1"/>
          <p:nvPr/>
        </p:nvSpPr>
        <p:spPr>
          <a:xfrm>
            <a:off x="4882248" y="5963687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id="1111" name="Google Shape;11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469" y="6826329"/>
            <a:ext cx="4248142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36"/>
          <p:cNvSpPr txBox="1"/>
          <p:nvPr/>
        </p:nvSpPr>
        <p:spPr>
          <a:xfrm>
            <a:off x="1338490" y="7301013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Obtuse</a:t>
            </a:r>
            <a:endParaRPr/>
          </a:p>
        </p:txBody>
      </p:sp>
      <p:sp>
        <p:nvSpPr>
          <p:cNvPr id="1113" name="Google Shape;1113;p36"/>
          <p:cNvSpPr txBox="1"/>
          <p:nvPr/>
        </p:nvSpPr>
        <p:spPr>
          <a:xfrm>
            <a:off x="2509139" y="7304315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Acute</a:t>
            </a:r>
            <a:endParaRPr/>
          </a:p>
        </p:txBody>
      </p:sp>
      <p:sp>
        <p:nvSpPr>
          <p:cNvPr id="1114" name="Google Shape;1114;p36"/>
          <p:cNvSpPr txBox="1"/>
          <p:nvPr/>
        </p:nvSpPr>
        <p:spPr>
          <a:xfrm>
            <a:off x="3712475" y="7304315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/>
          </a:p>
        </p:txBody>
      </p:sp>
      <p:sp>
        <p:nvSpPr>
          <p:cNvPr id="1115" name="Google Shape;1115;p36"/>
          <p:cNvSpPr txBox="1"/>
          <p:nvPr/>
        </p:nvSpPr>
        <p:spPr>
          <a:xfrm>
            <a:off x="4915811" y="7301012"/>
            <a:ext cx="829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right angle</a:t>
            </a:r>
            <a:endParaRPr/>
          </a:p>
        </p:txBody>
      </p:sp>
      <p:pic>
        <p:nvPicPr>
          <p:cNvPr id="1116" name="Google Shape;111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167" y="8952289"/>
            <a:ext cx="4248142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36"/>
          <p:cNvSpPr txBox="1"/>
          <p:nvPr/>
        </p:nvSpPr>
        <p:spPr>
          <a:xfrm>
            <a:off x="1359188" y="9388873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PQR</a:t>
            </a:r>
            <a:endParaRPr/>
          </a:p>
        </p:txBody>
      </p:sp>
      <p:sp>
        <p:nvSpPr>
          <p:cNvPr id="1118" name="Google Shape;1118;p36"/>
          <p:cNvSpPr txBox="1"/>
          <p:nvPr/>
        </p:nvSpPr>
        <p:spPr>
          <a:xfrm>
            <a:off x="2529837" y="9392175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PQRS</a:t>
            </a:r>
            <a:endParaRPr/>
          </a:p>
        </p:txBody>
      </p:sp>
      <p:sp>
        <p:nvSpPr>
          <p:cNvPr id="1119" name="Google Shape;1119;p36"/>
          <p:cNvSpPr txBox="1"/>
          <p:nvPr/>
        </p:nvSpPr>
        <p:spPr>
          <a:xfrm>
            <a:off x="3719525" y="9392175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1120" name="Google Shape;1120;p36"/>
          <p:cNvSpPr txBox="1"/>
          <p:nvPr/>
        </p:nvSpPr>
        <p:spPr>
          <a:xfrm>
            <a:off x="4922861" y="9388872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</a:t>
            </a:r>
            <a:endParaRPr/>
          </a:p>
        </p:txBody>
      </p:sp>
      <p:sp>
        <p:nvSpPr>
          <p:cNvPr id="1121" name="Google Shape;1121;p36"/>
          <p:cNvSpPr/>
          <p:nvPr/>
        </p:nvSpPr>
        <p:spPr>
          <a:xfrm>
            <a:off x="2381109" y="1623668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6"/>
          <p:cNvSpPr/>
          <p:nvPr/>
        </p:nvSpPr>
        <p:spPr>
          <a:xfrm>
            <a:off x="4790452" y="3545795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6"/>
          <p:cNvSpPr/>
          <p:nvPr/>
        </p:nvSpPr>
        <p:spPr>
          <a:xfrm>
            <a:off x="2440440" y="5390520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6"/>
          <p:cNvSpPr/>
          <p:nvPr/>
        </p:nvSpPr>
        <p:spPr>
          <a:xfrm>
            <a:off x="3683658" y="6858663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6"/>
          <p:cNvSpPr/>
          <p:nvPr/>
        </p:nvSpPr>
        <p:spPr>
          <a:xfrm>
            <a:off x="1333322" y="8859209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37"/>
          <p:cNvGrpSpPr/>
          <p:nvPr/>
        </p:nvGrpSpPr>
        <p:grpSpPr>
          <a:xfrm>
            <a:off x="0" y="80210"/>
            <a:ext cx="6779619" cy="9591040"/>
            <a:chOff x="0" y="0"/>
            <a:chExt cx="6779619" cy="9591040"/>
          </a:xfrm>
        </p:grpSpPr>
        <p:grpSp>
          <p:nvGrpSpPr>
            <p:cNvPr id="1132" name="Google Shape;1132;p37"/>
            <p:cNvGrpSpPr/>
            <p:nvPr/>
          </p:nvGrpSpPr>
          <p:grpSpPr>
            <a:xfrm>
              <a:off x="0" y="0"/>
              <a:ext cx="6779619" cy="9591040"/>
              <a:chOff x="0" y="0"/>
              <a:chExt cx="6779619" cy="9591040"/>
            </a:xfrm>
          </p:grpSpPr>
          <p:grpSp>
            <p:nvGrpSpPr>
              <p:cNvPr id="1133" name="Google Shape;1133;p37"/>
              <p:cNvGrpSpPr/>
              <p:nvPr/>
            </p:nvGrpSpPr>
            <p:grpSpPr>
              <a:xfrm>
                <a:off x="0" y="0"/>
                <a:ext cx="6779619" cy="9591040"/>
                <a:chOff x="0" y="0"/>
                <a:chExt cx="6779619" cy="9591040"/>
              </a:xfrm>
            </p:grpSpPr>
            <p:pic>
              <p:nvPicPr>
                <p:cNvPr id="1134" name="Google Shape;1134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3452" l="3025" r="4130" t="4979"/>
                <a:stretch/>
              </p:blipFill>
              <p:spPr>
                <a:xfrm>
                  <a:off x="0" y="0"/>
                  <a:ext cx="4984291" cy="63532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35" name="Google Shape;1135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7240" l="3025" r="4130" t="5293"/>
                <a:stretch/>
              </p:blipFill>
              <p:spPr>
                <a:xfrm>
                  <a:off x="0" y="6297642"/>
                  <a:ext cx="4984291" cy="32933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36" name="Google Shape;1136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3762" l="7910" r="58113" t="4980"/>
                <a:stretch/>
              </p:blipFill>
              <p:spPr>
                <a:xfrm>
                  <a:off x="4955623" y="6024363"/>
                  <a:ext cx="1823994" cy="3556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37" name="Google Shape;1137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410" l="7910" r="58113" t="5294"/>
                <a:stretch/>
              </p:blipFill>
              <p:spPr>
                <a:xfrm>
                  <a:off x="4955623" y="21772"/>
                  <a:ext cx="1823996" cy="61956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1138" name="Google Shape;1138;p37"/>
              <p:cNvCxnSpPr/>
              <p:nvPr/>
            </p:nvCxnSpPr>
            <p:spPr>
              <a:xfrm flipH="1">
                <a:off x="3749040" y="16476"/>
                <a:ext cx="3175" cy="95644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p37"/>
              <p:cNvCxnSpPr/>
              <p:nvPr/>
            </p:nvCxnSpPr>
            <p:spPr>
              <a:xfrm flipH="1">
                <a:off x="3474720" y="16476"/>
                <a:ext cx="17897" cy="9574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0" name="Google Shape;1140;p37"/>
              <p:cNvCxnSpPr/>
              <p:nvPr/>
            </p:nvCxnSpPr>
            <p:spPr>
              <a:xfrm>
                <a:off x="289103" y="24219"/>
                <a:ext cx="5537" cy="956682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141" name="Google Shape;1141;p37"/>
            <p:cNvSpPr/>
            <p:nvPr/>
          </p:nvSpPr>
          <p:spPr>
            <a:xfrm>
              <a:off x="0" y="11613"/>
              <a:ext cx="6779617" cy="479700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42" name="Google Shape;1142;p37"/>
          <p:cNvGraphicFramePr/>
          <p:nvPr/>
        </p:nvGraphicFramePr>
        <p:xfrm>
          <a:off x="136435" y="57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{DB7ECC27-C16B-49DC-B39A-55E039FCDDCE}</a:tableStyleId>
              </a:tblPr>
              <a:tblGrid>
                <a:gridCol w="6585125"/>
              </a:tblGrid>
              <a:tr h="33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degrees are there in three-quarters of a turn?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Line segments AD and CF are: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43" name="Google Shape;114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770" y="926844"/>
            <a:ext cx="4248142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37"/>
          <p:cNvSpPr txBox="1"/>
          <p:nvPr/>
        </p:nvSpPr>
        <p:spPr>
          <a:xfrm>
            <a:off x="1269791" y="1401528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1145" name="Google Shape;1145;p37"/>
          <p:cNvSpPr txBox="1"/>
          <p:nvPr/>
        </p:nvSpPr>
        <p:spPr>
          <a:xfrm>
            <a:off x="2440440" y="1404830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1146" name="Google Shape;1146;p37"/>
          <p:cNvSpPr txBox="1"/>
          <p:nvPr/>
        </p:nvSpPr>
        <p:spPr>
          <a:xfrm>
            <a:off x="3643776" y="1404830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1147" name="Google Shape;1147;p37"/>
          <p:cNvSpPr txBox="1"/>
          <p:nvPr/>
        </p:nvSpPr>
        <p:spPr>
          <a:xfrm>
            <a:off x="4847112" y="1401527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pic>
        <p:nvPicPr>
          <p:cNvPr id="1148" name="Google Shape;11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770" y="3997836"/>
            <a:ext cx="4248142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37"/>
          <p:cNvSpPr txBox="1"/>
          <p:nvPr/>
        </p:nvSpPr>
        <p:spPr>
          <a:xfrm>
            <a:off x="1073165" y="4472519"/>
            <a:ext cx="11848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/>
          </a:p>
        </p:txBody>
      </p:sp>
      <p:sp>
        <p:nvSpPr>
          <p:cNvPr id="1150" name="Google Shape;1150;p37"/>
          <p:cNvSpPr txBox="1"/>
          <p:nvPr/>
        </p:nvSpPr>
        <p:spPr>
          <a:xfrm>
            <a:off x="2099263" y="4475822"/>
            <a:ext cx="15445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Non-intersecting</a:t>
            </a:r>
            <a:endParaRPr/>
          </a:p>
        </p:txBody>
      </p:sp>
      <p:sp>
        <p:nvSpPr>
          <p:cNvPr id="1151" name="Google Shape;1151;p37"/>
          <p:cNvSpPr txBox="1"/>
          <p:nvPr/>
        </p:nvSpPr>
        <p:spPr>
          <a:xfrm>
            <a:off x="3643776" y="4475822"/>
            <a:ext cx="8294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/>
          </a:p>
        </p:txBody>
      </p:sp>
      <p:sp>
        <p:nvSpPr>
          <p:cNvPr id="1152" name="Google Shape;1152;p37"/>
          <p:cNvSpPr txBox="1"/>
          <p:nvPr/>
        </p:nvSpPr>
        <p:spPr>
          <a:xfrm>
            <a:off x="4517468" y="4472519"/>
            <a:ext cx="15002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of the above</a:t>
            </a:r>
            <a:endParaRPr/>
          </a:p>
        </p:txBody>
      </p:sp>
      <p:pic>
        <p:nvPicPr>
          <p:cNvPr id="1153" name="Google Shape;1153;p37"/>
          <p:cNvPicPr preferRelativeResize="0"/>
          <p:nvPr/>
        </p:nvPicPr>
        <p:blipFill rotWithShape="1">
          <a:blip r:embed="rId5">
            <a:alphaModFix/>
          </a:blip>
          <a:srcRect b="29017" l="21125" r="20564" t="10726"/>
          <a:stretch/>
        </p:blipFill>
        <p:spPr>
          <a:xfrm>
            <a:off x="2306656" y="2159815"/>
            <a:ext cx="2300369" cy="1797862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37"/>
          <p:cNvSpPr/>
          <p:nvPr/>
        </p:nvSpPr>
        <p:spPr>
          <a:xfrm>
            <a:off x="4731547" y="882729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7"/>
          <p:cNvSpPr/>
          <p:nvPr/>
        </p:nvSpPr>
        <p:spPr>
          <a:xfrm>
            <a:off x="1257578" y="3957677"/>
            <a:ext cx="887105" cy="9363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