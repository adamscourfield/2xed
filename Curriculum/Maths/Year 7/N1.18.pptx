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9D7A8F-1941-4300-BEF6-ABBBE337308F}">
  <a:tblStyle styleId="{199D7A8F-1941-4300-BEF6-ABBBE33730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8.png"/><Relationship Id="rId12" Type="http://schemas.openxmlformats.org/officeDocument/2006/relationships/image" Target="../media/image27.png"/><Relationship Id="rId9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97348" y="56171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102800"/>
                <a:gridCol w="1860000"/>
                <a:gridCol w="1860000"/>
                <a:gridCol w="18600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following number is written in standard form.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following number is written in standard form.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following number is written in standard form.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8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Is the first number more than or equal to 1, and less than 10?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Is the index an integer?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If the answer is yes to both 1) and 2), the number is written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450826" y="532563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09517" y="533619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22800" y="941050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21224"/>
            <a:ext cx="6679742" cy="14130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833" l="0" r="0" t="-25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0658" y="64527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9272" y="846317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what standard form means.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write positive integers in standard form.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re-write numbers to be in standard form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57999" y="368276"/>
            <a:ext cx="6542013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250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402765" y="681323"/>
            <a:ext cx="1302521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</a:t>
            </a:r>
            <a:endParaRPr/>
          </a:p>
        </p:txBody>
      </p:sp>
      <p:cxnSp>
        <p:nvCxnSpPr>
          <p:cNvPr id="99" name="Google Shape;99;p13"/>
          <p:cNvCxnSpPr/>
          <p:nvPr/>
        </p:nvCxnSpPr>
        <p:spPr>
          <a:xfrm flipH="1" rot="10800000">
            <a:off x="945338" y="4995214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90657" y="3121771"/>
            <a:ext cx="6699219" cy="180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90657" y="4094237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40267" y="3121771"/>
            <a:ext cx="0" cy="180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65548" y="3078906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717523" y="310358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0782" y="409413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71759" y="4084490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3528" y="3271092"/>
            <a:ext cx="3406581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605" l="-179" r="0" t="-9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433854" y="3288892"/>
            <a:ext cx="33669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 is a system for writing numbers.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makes it easier to do calculations with very large or very small numbers.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685023" y="3912996"/>
            <a:ext cx="157017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261431" y="533343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70057" y="4208875"/>
            <a:ext cx="3230335" cy="46378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86108" y="503526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whether a number is written in standard form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522587" y="4210539"/>
            <a:ext cx="3230335" cy="46378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1213" y="1782555"/>
            <a:ext cx="6679742" cy="127360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Writing positive integers in the form a × 10ⁿ is a way of expressing very large or very small numbers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powers of 10, called standard form. is part of standard form This builds on our understanding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place value and powers of 10, and helps us write, compare, and calculate with numbers more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efficiently — especially in science and real-world contexts where such numbers often appear.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/>
        </p:nvSpPr>
        <p:spPr>
          <a:xfrm>
            <a:off x="2097628" y="123314"/>
            <a:ext cx="45430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The following numbers are written in standard form – true or false?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14"/>
          <p:cNvGraphicFramePr/>
          <p:nvPr/>
        </p:nvGraphicFramePr>
        <p:xfrm>
          <a:off x="217334" y="3472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393750"/>
                <a:gridCol w="1686800"/>
                <a:gridCol w="1686800"/>
                <a:gridCol w="1686800"/>
              </a:tblGrid>
              <a:tr h="24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What will the first number be?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520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   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 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38,000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9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What power of 10 does it need to be multiplied by to keep it equal?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21" name="Google Shape;121;p14"/>
          <p:cNvSpPr/>
          <p:nvPr/>
        </p:nvSpPr>
        <p:spPr>
          <a:xfrm>
            <a:off x="217334" y="2976134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ordinary numbers to standard form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217333" y="80451"/>
            <a:ext cx="1868641" cy="27699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813851" y="32316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088202" y="322788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3384682" y="322788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5360236" y="953327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7" name="Google Shape;127;p14"/>
          <p:cNvGraphicFramePr/>
          <p:nvPr/>
        </p:nvGraphicFramePr>
        <p:xfrm>
          <a:off x="217334" y="4203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640500"/>
                <a:gridCol w="1586575"/>
                <a:gridCol w="1613550"/>
                <a:gridCol w="1613550"/>
              </a:tblGrid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4"/>
          <p:cNvSpPr/>
          <p:nvPr/>
        </p:nvSpPr>
        <p:spPr>
          <a:xfrm>
            <a:off x="217333" y="5084582"/>
            <a:ext cx="1768629" cy="31603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29" name="Google Shape;129;p14"/>
          <p:cNvGraphicFramePr/>
          <p:nvPr/>
        </p:nvGraphicFramePr>
        <p:xfrm>
          <a:off x="217334" y="5465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200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2000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20,000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29,000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29,400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29,470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294,700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994,700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1,994,700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19,947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10,000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10,100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10,010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1,001,000,000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" name="Google Shape;130;p14"/>
          <p:cNvSpPr txBox="1"/>
          <p:nvPr/>
        </p:nvSpPr>
        <p:spPr>
          <a:xfrm>
            <a:off x="1985132" y="5149560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670560" y="739618"/>
            <a:ext cx="55264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                         True                      False                    False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705327" y="1581367"/>
            <a:ext cx="54727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                         False                      True                    True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724229" y="2358526"/>
            <a:ext cx="55264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                         True                      False                    False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985132" y="4173600"/>
            <a:ext cx="11618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3711062" y="4116014"/>
            <a:ext cx="1073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360236" y="4116014"/>
            <a:ext cx="12804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6.52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151653" y="5552613"/>
            <a:ext cx="3451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153951" y="5544927"/>
            <a:ext cx="3451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151653" y="6176095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099261" y="6259856"/>
            <a:ext cx="3802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80927" y="6843437"/>
            <a:ext cx="3947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026871" y="6842789"/>
            <a:ext cx="39471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2.947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968773" y="7420431"/>
            <a:ext cx="3985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2.947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026871" y="7483939"/>
            <a:ext cx="3985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1.001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945913" y="8122346"/>
            <a:ext cx="4008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1.9947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004011" y="8107421"/>
            <a:ext cx="4008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1.9947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1151653" y="8727437"/>
            <a:ext cx="4008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206384" y="8661616"/>
            <a:ext cx="4008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20907" y="9311599"/>
            <a:ext cx="4107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1.001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4124517" y="9340414"/>
            <a:ext cx="4107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1.001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15"/>
          <p:cNvGraphicFramePr/>
          <p:nvPr/>
        </p:nvGraphicFramePr>
        <p:xfrm>
          <a:off x="201921" y="465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One million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Nine thousand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Forty thousand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Nine billion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Fifty-seven thousand, four hundred and eleven.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Two hundred and five thousand, six hundred and three.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5"/>
          <p:cNvSpPr txBox="1"/>
          <p:nvPr/>
        </p:nvSpPr>
        <p:spPr>
          <a:xfrm>
            <a:off x="130481" y="188188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5161854" y="941748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58" name="Google Shape;158;p15"/>
          <p:cNvGraphicFramePr/>
          <p:nvPr/>
        </p:nvGraphicFramePr>
        <p:xfrm>
          <a:off x="185967" y="3463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393750"/>
                <a:gridCol w="1686800"/>
                <a:gridCol w="1686800"/>
                <a:gridCol w="1686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in standard form: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What will ‘a’ value be?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678.29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   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   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30256.3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2356.035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5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What power of 10 does it need to be multiplied by to keep it equal?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59" name="Google Shape;159;p15"/>
          <p:cNvSpPr txBox="1"/>
          <p:nvPr/>
        </p:nvSpPr>
        <p:spPr>
          <a:xfrm>
            <a:off x="1782484" y="322226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056835" y="321847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3353315" y="321847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graphicFrame>
        <p:nvGraphicFramePr>
          <p:cNvPr id="162" name="Google Shape;162;p15"/>
          <p:cNvGraphicFramePr/>
          <p:nvPr/>
        </p:nvGraphicFramePr>
        <p:xfrm>
          <a:off x="166917" y="59607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782.35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18000.3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3678.05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92.84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567.3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1786.61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80256.05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789.278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1789.0061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1189.091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23189.32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354001.00001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5"/>
          <p:cNvSpPr/>
          <p:nvPr/>
        </p:nvSpPr>
        <p:spPr>
          <a:xfrm>
            <a:off x="166917" y="5572456"/>
            <a:ext cx="1750222" cy="321179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953765" y="5648656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82484" y="4116430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6.7829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447354" y="4116430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3.02563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5038457" y="4112011"/>
            <a:ext cx="3438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2.356035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-336828" y="6071037"/>
            <a:ext cx="4238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7.8235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2929581" y="6103057"/>
            <a:ext cx="44100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1.80003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-422553" y="6745215"/>
            <a:ext cx="44100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3.67805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2891481" y="6713195"/>
            <a:ext cx="4448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9.284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-546378" y="7378179"/>
            <a:ext cx="4448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5.673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2891481" y="7318914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1.78661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-551663" y="7950624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8.025605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2781032" y="7891359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7.89278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-411018" y="8561706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1.7890061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2891481" y="8502441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1.189091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-474941" y="9189950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2.318932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2858143" y="9170017"/>
            <a:ext cx="4514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3.5400100001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1143309" y="839171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572309" y="818094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1215081" y="165644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4572041" y="1674546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891231" y="2635939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5.7411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baseline="30000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4218879" y="2645589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2.05603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idx="12" type="sldNum"/>
          </p:nvPr>
        </p:nvSpPr>
        <p:spPr>
          <a:xfrm>
            <a:off x="5116338" y="939475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939230" y="361430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graphicFrame>
        <p:nvGraphicFramePr>
          <p:cNvPr id="192" name="Google Shape;192;p16"/>
          <p:cNvGraphicFramePr/>
          <p:nvPr/>
        </p:nvGraphicFramePr>
        <p:xfrm>
          <a:off x="205230" y="38646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604275"/>
                <a:gridCol w="1604275"/>
                <a:gridCol w="1604275"/>
                <a:gridCol w="1604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as an ordinary number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as an ordinary number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as an ordinary number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Look at the index. This is the number of times we are multiplying the ‘a’ value by 10.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Carry out the multiplication.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16"/>
          <p:cNvSpPr txBox="1"/>
          <p:nvPr/>
        </p:nvSpPr>
        <p:spPr>
          <a:xfrm>
            <a:off x="5005442" y="361075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3406586" y="361430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205230" y="330755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numbers as ordinary numbers from standard form.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48020" y="188981"/>
            <a:ext cx="23426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Answer the following questions: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6"/>
          <p:cNvGraphicFramePr/>
          <p:nvPr/>
        </p:nvGraphicFramePr>
        <p:xfrm>
          <a:off x="205230" y="4659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6454150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The distance between London and New York is 5,567,000 metres. Write this number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32,010 people attend a football match between West Ham and Southampton. Write this number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The distance from the Sun to Pluto is 3.67 billion miles. Write this number in standard form.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16"/>
          <p:cNvSpPr/>
          <p:nvPr/>
        </p:nvSpPr>
        <p:spPr>
          <a:xfrm>
            <a:off x="205230" y="6019638"/>
            <a:ext cx="1137954" cy="45606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343184" y="6202927"/>
            <a:ext cx="51741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Write each of the following as an ordinary number</a:t>
            </a:r>
            <a:endParaRPr/>
          </a:p>
        </p:txBody>
      </p:sp>
      <p:graphicFrame>
        <p:nvGraphicFramePr>
          <p:cNvPr id="200" name="Google Shape;200;p16"/>
          <p:cNvGraphicFramePr/>
          <p:nvPr/>
        </p:nvGraphicFramePr>
        <p:xfrm>
          <a:off x="219858" y="6544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16"/>
          <p:cNvSpPr txBox="1"/>
          <p:nvPr/>
        </p:nvSpPr>
        <p:spPr>
          <a:xfrm>
            <a:off x="2037263" y="4697397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3751763" y="4697397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48200000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5405794" y="4697397"/>
            <a:ext cx="35890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655734" y="6695647"/>
            <a:ext cx="4495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2300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4610100" y="6695647"/>
            <a:ext cx="4495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1625254" y="7417048"/>
            <a:ext cx="4556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3370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4610100" y="7417048"/>
            <a:ext cx="4556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3370000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1564294" y="7993470"/>
            <a:ext cx="4587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3378000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4887143" y="8053723"/>
            <a:ext cx="4587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1337800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1546332" y="8784685"/>
            <a:ext cx="4739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1337800000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4488180" y="8827786"/>
            <a:ext cx="4739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1033780000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774207" y="795836"/>
            <a:ext cx="3429000" cy="375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-216549" y="1804300"/>
            <a:ext cx="3429000" cy="3748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-286938" y="2576948"/>
            <a:ext cx="3429000" cy="37555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5147190" y="92074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20" name="Google Shape;220;p17"/>
          <p:cNvGraphicFramePr/>
          <p:nvPr/>
        </p:nvGraphicFramePr>
        <p:xfrm>
          <a:off x="193218" y="5249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Twenty-two and five tenths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Twenty-two and three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Two hundred and four thousandths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One hundred and thirteen and twelve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Twenty-seven thousand and eighteen hundredths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Fifteen thousands and thirty-three thousandths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17"/>
          <p:cNvSpPr txBox="1"/>
          <p:nvPr/>
        </p:nvSpPr>
        <p:spPr>
          <a:xfrm>
            <a:off x="121778" y="4972054"/>
            <a:ext cx="2799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Write these numbers in standard form: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17"/>
          <p:cNvGraphicFramePr/>
          <p:nvPr/>
        </p:nvGraphicFramePr>
        <p:xfrm>
          <a:off x="207506" y="8281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6454150"/>
              </a:tblGrid>
              <a:tr h="90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17"/>
          <p:cNvGraphicFramePr/>
          <p:nvPr/>
        </p:nvGraphicFramePr>
        <p:xfrm>
          <a:off x="236082" y="289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27075"/>
                <a:gridCol w="3227075"/>
              </a:tblGrid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7"/>
          <p:cNvSpPr txBox="1"/>
          <p:nvPr/>
        </p:nvSpPr>
        <p:spPr>
          <a:xfrm>
            <a:off x="147498" y="1757762"/>
            <a:ext cx="163903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Complete the tables: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7"/>
          <p:cNvGraphicFramePr/>
          <p:nvPr/>
        </p:nvGraphicFramePr>
        <p:xfrm>
          <a:off x="236082" y="2013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596450"/>
                <a:gridCol w="1596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Ordinary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630000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17"/>
          <p:cNvGraphicFramePr/>
          <p:nvPr/>
        </p:nvGraphicFramePr>
        <p:xfrm>
          <a:off x="3497322" y="2013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596450"/>
                <a:gridCol w="15964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Ordinary 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Standard Form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850000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17"/>
          <p:cNvSpPr txBox="1"/>
          <p:nvPr/>
        </p:nvSpPr>
        <p:spPr>
          <a:xfrm>
            <a:off x="967017" y="359948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900000000000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408352" y="533094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900337800000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204215" y="1243844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21435.78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939286" y="125346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2065.1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586861" y="2922689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501136" y="3395161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134000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708014" y="4442575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944278" y="3918135"/>
            <a:ext cx="3429000" cy="375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967017" y="2370579"/>
            <a:ext cx="3429000" cy="3796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4159935" y="2330977"/>
            <a:ext cx="3429000" cy="37965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3965564" y="2903877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4015861" y="3399830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4015861" y="4426859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4204215" y="3918135"/>
            <a:ext cx="3429000" cy="3796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2836800" y="8662156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651000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-8703" y="5498423"/>
            <a:ext cx="3429000" cy="37555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3317876" y="5550242"/>
            <a:ext cx="3429000" cy="37555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11925" y="6512182"/>
            <a:ext cx="3429000" cy="37555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3316829" y="6552057"/>
            <a:ext cx="3429000" cy="37555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44735" y="7435899"/>
            <a:ext cx="3429000" cy="37484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3346056" y="7486085"/>
            <a:ext cx="3429000" cy="37484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/>
          <p:nvPr/>
        </p:nvSpPr>
        <p:spPr>
          <a:xfrm>
            <a:off x="1732202" y="12059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graphicFrame>
        <p:nvGraphicFramePr>
          <p:cNvPr id="253" name="Google Shape;253;p18"/>
          <p:cNvGraphicFramePr/>
          <p:nvPr/>
        </p:nvGraphicFramePr>
        <p:xfrm>
          <a:off x="154485" y="3918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345700"/>
                <a:gridCol w="1742250"/>
                <a:gridCol w="1742250"/>
                <a:gridCol w="1742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following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the following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the following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Look for the smallest power of 10. This number will come first.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Repeat this step. If two powers of 10 are the same, look for the smallest ‘a’.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18"/>
          <p:cNvSpPr txBox="1"/>
          <p:nvPr/>
        </p:nvSpPr>
        <p:spPr>
          <a:xfrm>
            <a:off x="5107521" y="12059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3393311" y="12059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140197" y="282647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57" name="Google Shape;257;p18"/>
          <p:cNvGraphicFramePr/>
          <p:nvPr/>
        </p:nvGraphicFramePr>
        <p:xfrm>
          <a:off x="140197" y="32364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86250"/>
                <a:gridCol w="3286250"/>
              </a:tblGrid>
              <a:tr h="110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18"/>
          <p:cNvSpPr txBox="1"/>
          <p:nvPr>
            <p:ph idx="12" type="sldNum"/>
          </p:nvPr>
        </p:nvSpPr>
        <p:spPr>
          <a:xfrm>
            <a:off x="5250740" y="939586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249575" y="2967556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 Write each of the following in ascending order: 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46278" y="6584620"/>
            <a:ext cx="58401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11.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number of visits to some tourist attractions is shown in the table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below.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140197" y="6861619"/>
            <a:ext cx="6560551" cy="265249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the number of visitors to the Theme Park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an ordinary number.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the number of visitors to the Castle in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form.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the attractions in ascending order of the number of visitors. </a:t>
            </a:r>
            <a:endParaRPr/>
          </a:p>
        </p:txBody>
      </p:sp>
      <p:pic>
        <p:nvPicPr>
          <p:cNvPr id="262" name="Google Shape;2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5707" y="6931452"/>
            <a:ext cx="2644369" cy="106689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 txBox="1"/>
          <p:nvPr/>
        </p:nvSpPr>
        <p:spPr>
          <a:xfrm>
            <a:off x="556707" y="1564205"/>
            <a:ext cx="3429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3593391" y="1610447"/>
            <a:ext cx="3429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5265981" y="1599998"/>
            <a:ext cx="35128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556707" y="3643972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3634691" y="3647737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7.8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9.2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1.3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289455" y="4746458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2.4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2.5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2.3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3673238" y="4724530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1.2 x 10 , 1.3 x 10, 1.1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289455" y="5888040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8.8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8.7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8.6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3280066" y="5871650"/>
            <a:ext cx="4389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3.589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, 3.76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3.872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-436349" y="7316246"/>
            <a:ext cx="3429000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-436349" y="8220190"/>
            <a:ext cx="3429000" cy="37965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458160" y="8984448"/>
            <a:ext cx="6171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Castle, Science Museum, The King’s Palace, Theme Park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/>
        </p:nvSpPr>
        <p:spPr>
          <a:xfrm>
            <a:off x="1478242" y="46942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graphicFrame>
        <p:nvGraphicFramePr>
          <p:cNvPr id="280" name="Google Shape;280;p19"/>
          <p:cNvGraphicFramePr/>
          <p:nvPr/>
        </p:nvGraphicFramePr>
        <p:xfrm>
          <a:off x="128282" y="7063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1171875"/>
                <a:gridCol w="1800200"/>
                <a:gridCol w="1800200"/>
                <a:gridCol w="1800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in standard form: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in standard form: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in standard form: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2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What does the ‘a’ value need to be?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How many more times do you need to multiply by 10 to keep it equal?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19"/>
          <p:cNvSpPr txBox="1"/>
          <p:nvPr/>
        </p:nvSpPr>
        <p:spPr>
          <a:xfrm>
            <a:off x="4983274" y="46031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3208636" y="46942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113994" y="155519"/>
            <a:ext cx="6014442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Re-writing numbers to be written in standard form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>
            <p:ph idx="12" type="sldNum"/>
          </p:nvPr>
        </p:nvSpPr>
        <p:spPr>
          <a:xfrm>
            <a:off x="5171998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128282" y="2982098"/>
            <a:ext cx="1137954" cy="45606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280524" y="3165387"/>
            <a:ext cx="51741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12. Write in standard form:</a:t>
            </a:r>
            <a:endParaRPr/>
          </a:p>
        </p:txBody>
      </p:sp>
      <p:graphicFrame>
        <p:nvGraphicFramePr>
          <p:cNvPr id="287" name="Google Shape;287;p19"/>
          <p:cNvGraphicFramePr/>
          <p:nvPr/>
        </p:nvGraphicFramePr>
        <p:xfrm>
          <a:off x="142910" y="3507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3278925"/>
                <a:gridCol w="3278925"/>
              </a:tblGrid>
              <a:tr h="73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19"/>
          <p:cNvSpPr txBox="1"/>
          <p:nvPr/>
        </p:nvSpPr>
        <p:spPr>
          <a:xfrm>
            <a:off x="45734" y="7232946"/>
            <a:ext cx="5174139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000" l="-1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123280" y="7509945"/>
            <a:ext cx="6560551" cy="204839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the mistake Noah has made and write the correct answer.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was the original number Noah was trying to write?</a:t>
            </a:r>
            <a:endParaRPr/>
          </a:p>
        </p:txBody>
      </p:sp>
      <p:graphicFrame>
        <p:nvGraphicFramePr>
          <p:cNvPr id="290" name="Google Shape;290;p19"/>
          <p:cNvGraphicFramePr/>
          <p:nvPr/>
        </p:nvGraphicFramePr>
        <p:xfrm>
          <a:off x="142909" y="7828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6540925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9"/>
          <p:cNvSpPr txBox="1"/>
          <p:nvPr/>
        </p:nvSpPr>
        <p:spPr>
          <a:xfrm>
            <a:off x="1660144" y="1522642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3540038" y="1549935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5318028" y="1586538"/>
            <a:ext cx="3486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298014" y="3775349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7.2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3505373" y="3805661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298014" y="450773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3505373" y="4538045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2.1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298014" y="5268296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3505373" y="5298608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298014" y="5983021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3505373" y="601333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319410" y="6736553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3526769" y="6766865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2.933 x 10</a:t>
            </a:r>
            <a:r>
              <a:rPr b="1" baseline="3000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190794" y="7844317"/>
            <a:ext cx="6367700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151" l="-766" r="-383" t="-56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1226820" y="9054779"/>
            <a:ext cx="4404360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/>
          <p:nvPr/>
        </p:nvSpPr>
        <p:spPr>
          <a:xfrm>
            <a:off x="185739" y="5808654"/>
            <a:ext cx="6372225" cy="36326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20"/>
          <p:cNvGraphicFramePr/>
          <p:nvPr/>
        </p:nvGraphicFramePr>
        <p:xfrm>
          <a:off x="200027" y="578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{199D7A8F-1941-4300-BEF6-ABBBE337308F}</a:tableStyleId>
              </a:tblPr>
              <a:tblGrid>
                <a:gridCol w="971550"/>
                <a:gridCol w="1795475"/>
                <a:gridCol w="1795475"/>
                <a:gridCol w="17954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Prediction/ Explanation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Answer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Prediction/ Explanation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Answer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5.6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Prediction/ Explanation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Answer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3.2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3.2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rgbClr val="FF0000"/>
                          </a:solidFill>
                        </a:rPr>
                        <a:t>3.2 x 10</a:t>
                      </a:r>
                      <a:r>
                        <a:rPr b="1" baseline="30000" lang="en-GB" sz="1350">
                          <a:solidFill>
                            <a:srgbClr val="FF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20"/>
          <p:cNvSpPr txBox="1"/>
          <p:nvPr/>
        </p:nvSpPr>
        <p:spPr>
          <a:xfrm>
            <a:off x="115184" y="116808"/>
            <a:ext cx="65713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Re-write the following in standard form. As you work along each row, predict how it will differ from the previous question before you work out the answer.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>
            <p:ph idx="12" type="sldNum"/>
          </p:nvPr>
        </p:nvSpPr>
        <p:spPr>
          <a:xfrm>
            <a:off x="5114758" y="935510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14066" t="0"/>
          <a:stretch/>
        </p:blipFill>
        <p:spPr>
          <a:xfrm>
            <a:off x="200027" y="5828934"/>
            <a:ext cx="3114673" cy="206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995" y="5827029"/>
            <a:ext cx="3158768" cy="174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2643" y="7870063"/>
            <a:ext cx="3612713" cy="1551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 txBox="1"/>
          <p:nvPr/>
        </p:nvSpPr>
        <p:spPr>
          <a:xfrm>
            <a:off x="185739" y="5459900"/>
            <a:ext cx="6372225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0"/>
          <p:cNvCxnSpPr/>
          <p:nvPr/>
        </p:nvCxnSpPr>
        <p:spPr>
          <a:xfrm>
            <a:off x="204785" y="7825952"/>
            <a:ext cx="63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0" name="Google Shape;320;p20"/>
          <p:cNvCxnSpPr/>
          <p:nvPr/>
        </p:nvCxnSpPr>
        <p:spPr>
          <a:xfrm flipH="1">
            <a:off x="3333751" y="5808654"/>
            <a:ext cx="1" cy="20172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20"/>
          <p:cNvSpPr/>
          <p:nvPr/>
        </p:nvSpPr>
        <p:spPr>
          <a:xfrm>
            <a:off x="320237" y="6572485"/>
            <a:ext cx="978196" cy="40308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4047122" y="6746235"/>
            <a:ext cx="824255" cy="8212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2576611" y="8562029"/>
            <a:ext cx="824255" cy="8212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