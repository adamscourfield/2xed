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9906000" cx="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1410E0A-0287-48C3-8D68-3144BCCFB089}">
  <a:tblStyle styleId="{61410E0A-0287-48C3-8D68-3144BCCFB089}"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7: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18: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19: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20: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21: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2: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3: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24:notes"/>
          <p:cNvSpPr/>
          <p:nvPr>
            <p:ph idx="2" type="sldImg"/>
          </p:nvPr>
        </p:nvSpPr>
        <p:spPr>
          <a:xfrm>
            <a:off x="2360613" y="1143000"/>
            <a:ext cx="2136775"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514350" y="1621191"/>
            <a:ext cx="5829300" cy="3448756"/>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857250" y="5202944"/>
            <a:ext cx="5143500" cy="2391656"/>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8" name="Google Shape;18;p2"/>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 name="Shape 21"/>
        <p:cNvGrpSpPr/>
        <p:nvPr/>
      </p:nvGrpSpPr>
      <p:grpSpPr>
        <a:xfrm>
          <a:off x="0" y="0"/>
          <a:ext cx="0" cy="0"/>
          <a:chOff x="0" y="0"/>
          <a:chExt cx="0" cy="0"/>
        </a:xfrm>
      </p:grpSpPr>
      <p:sp>
        <p:nvSpPr>
          <p:cNvPr id="22" name="Google Shape;22;p3"/>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4"/>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
          <p:cNvSpPr txBox="1"/>
          <p:nvPr>
            <p:ph idx="1" type="body"/>
          </p:nvPr>
        </p:nvSpPr>
        <p:spPr>
          <a:xfrm>
            <a:off x="471488" y="2637014"/>
            <a:ext cx="5915025"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9" name="Google Shape;29;p4"/>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2" name="Shape 32"/>
        <p:cNvGrpSpPr/>
        <p:nvPr/>
      </p:nvGrpSpPr>
      <p:grpSpPr>
        <a:xfrm>
          <a:off x="0" y="0"/>
          <a:ext cx="0" cy="0"/>
          <a:chOff x="0" y="0"/>
          <a:chExt cx="0" cy="0"/>
        </a:xfrm>
      </p:grpSpPr>
      <p:sp>
        <p:nvSpPr>
          <p:cNvPr id="33" name="Google Shape;33;p5"/>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6"/>
          <p:cNvSpPr txBox="1"/>
          <p:nvPr>
            <p:ph type="title"/>
          </p:nvPr>
        </p:nvSpPr>
        <p:spPr>
          <a:xfrm>
            <a:off x="467916" y="2469624"/>
            <a:ext cx="5915025" cy="412062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467916" y="6629226"/>
            <a:ext cx="5915025" cy="216693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sz="1800">
                <a:solidFill>
                  <a:schemeClr val="dk1"/>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39" name="Google Shape;39;p6"/>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7"/>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7"/>
          <p:cNvSpPr txBox="1"/>
          <p:nvPr>
            <p:ph idx="1" type="body"/>
          </p:nvPr>
        </p:nvSpPr>
        <p:spPr>
          <a:xfrm>
            <a:off x="471488" y="2637014"/>
            <a:ext cx="2914650"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5" name="Google Shape;45;p7"/>
          <p:cNvSpPr txBox="1"/>
          <p:nvPr>
            <p:ph idx="2" type="body"/>
          </p:nvPr>
        </p:nvSpPr>
        <p:spPr>
          <a:xfrm>
            <a:off x="3471863" y="2637014"/>
            <a:ext cx="2914650" cy="62852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6" name="Google Shape;46;p7"/>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8"/>
          <p:cNvSpPr txBox="1"/>
          <p:nvPr>
            <p:ph type="title"/>
          </p:nvPr>
        </p:nvSpPr>
        <p:spPr>
          <a:xfrm>
            <a:off x="472381"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 type="body"/>
          </p:nvPr>
        </p:nvSpPr>
        <p:spPr>
          <a:xfrm>
            <a:off x="472381" y="2428347"/>
            <a:ext cx="2901255" cy="119009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2" name="Google Shape;52;p8"/>
          <p:cNvSpPr txBox="1"/>
          <p:nvPr>
            <p:ph idx="2" type="body"/>
          </p:nvPr>
        </p:nvSpPr>
        <p:spPr>
          <a:xfrm>
            <a:off x="472381" y="3618442"/>
            <a:ext cx="2901255" cy="53221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3" name="Google Shape;53;p8"/>
          <p:cNvSpPr txBox="1"/>
          <p:nvPr>
            <p:ph idx="3" type="body"/>
          </p:nvPr>
        </p:nvSpPr>
        <p:spPr>
          <a:xfrm>
            <a:off x="3471863" y="2428347"/>
            <a:ext cx="2915543" cy="119009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54" name="Google Shape;54;p8"/>
          <p:cNvSpPr txBox="1"/>
          <p:nvPr>
            <p:ph idx="4" type="body"/>
          </p:nvPr>
        </p:nvSpPr>
        <p:spPr>
          <a:xfrm>
            <a:off x="3471863" y="3618442"/>
            <a:ext cx="2915543" cy="532218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5" name="Google Shape;55;p8"/>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72381" y="660400"/>
            <a:ext cx="2211884" cy="2311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2915543" y="1426283"/>
            <a:ext cx="3471863" cy="7039681"/>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1" name="Google Shape;61;p9"/>
          <p:cNvSpPr txBox="1"/>
          <p:nvPr>
            <p:ph idx="2" type="body"/>
          </p:nvPr>
        </p:nvSpPr>
        <p:spPr>
          <a:xfrm>
            <a:off x="472381" y="2971800"/>
            <a:ext cx="2211884" cy="550562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2" name="Google Shape;62;p9"/>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472381" y="660400"/>
            <a:ext cx="2211884" cy="2311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2915543" y="1426283"/>
            <a:ext cx="3471863" cy="7039681"/>
          </a:xfrm>
          <a:prstGeom prst="rect">
            <a:avLst/>
          </a:prstGeom>
          <a:noFill/>
          <a:ln>
            <a:noFill/>
          </a:ln>
        </p:spPr>
      </p:sp>
      <p:sp>
        <p:nvSpPr>
          <p:cNvPr id="68" name="Google Shape;68;p10"/>
          <p:cNvSpPr txBox="1"/>
          <p:nvPr>
            <p:ph idx="1" type="body"/>
          </p:nvPr>
        </p:nvSpPr>
        <p:spPr>
          <a:xfrm>
            <a:off x="472381" y="2971800"/>
            <a:ext cx="2211884" cy="550562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9" name="Google Shape;69;p10"/>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86367" y="2822135"/>
            <a:ext cx="6285266" cy="59150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5" name="Google Shape;75;p11"/>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1449696" y="3985464"/>
            <a:ext cx="8394877" cy="1478756"/>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550679" y="2549570"/>
            <a:ext cx="8394877" cy="43505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1" name="Google Shape;81;p12"/>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71488" y="527405"/>
            <a:ext cx="5915025" cy="1914702"/>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71488" y="2637014"/>
            <a:ext cx="5915025" cy="6285266"/>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71488" y="9181397"/>
            <a:ext cx="1543050" cy="527403"/>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2271713" y="9181397"/>
            <a:ext cx="2314575" cy="527403"/>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3"/>
          <p:cNvSpPr txBox="1"/>
          <p:nvPr>
            <p:ph idx="12" type="sldNum"/>
          </p:nvPr>
        </p:nvSpPr>
        <p:spPr>
          <a:xfrm>
            <a:off x="5294911" y="9458602"/>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solidFill>
                  <a:schemeClr val="dk1"/>
                </a:solidFill>
              </a:rPr>
              <a:t>‹#›</a:t>
            </a:fld>
            <a:endParaRPr>
              <a:solidFill>
                <a:schemeClr val="dk1"/>
              </a:solidFill>
            </a:endParaRPr>
          </a:p>
        </p:txBody>
      </p:sp>
      <p:graphicFrame>
        <p:nvGraphicFramePr>
          <p:cNvPr id="90" name="Google Shape;90;p13"/>
          <p:cNvGraphicFramePr/>
          <p:nvPr/>
        </p:nvGraphicFramePr>
        <p:xfrm>
          <a:off x="101756" y="5363212"/>
          <a:ext cx="3000000" cy="3000000"/>
        </p:xfrm>
        <a:graphic>
          <a:graphicData uri="http://schemas.openxmlformats.org/drawingml/2006/table">
            <a:tbl>
              <a:tblPr bandRow="1" firstRow="1">
                <a:noFill/>
                <a:tableStyleId>{61410E0A-0287-48C3-8D68-3144BCCFB089}</a:tableStyleId>
              </a:tblPr>
              <a:tblGrid>
                <a:gridCol w="1955725"/>
                <a:gridCol w="1569450"/>
                <a:gridCol w="1569450"/>
                <a:gridCol w="1569450"/>
              </a:tblGrid>
              <a:tr h="186150">
                <a:tc>
                  <a:txBody>
                    <a:bodyPr/>
                    <a:lstStyle/>
                    <a:p>
                      <a:pPr indent="0" lvl="0" marL="0" marR="0" rtl="0" algn="l">
                        <a:spcBef>
                          <a:spcPts val="0"/>
                        </a:spcBef>
                        <a:spcAft>
                          <a:spcPts val="0"/>
                        </a:spcAft>
                        <a:buNone/>
                      </a:pPr>
                      <a:r>
                        <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FF0000"/>
                        </a:buClr>
                        <a:buSzPts val="1200"/>
                        <a:buFont typeface="Calibri"/>
                        <a:buNone/>
                      </a:pPr>
                      <a:r>
                        <a:rPr b="1" i="1" lang="en-GB" sz="1200">
                          <a:solidFill>
                            <a:srgbClr val="FF0000"/>
                          </a:solidFill>
                        </a:rPr>
                        <a:t>Example 1 - I do…</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accent2"/>
                        </a:buClr>
                        <a:buSzPts val="1200"/>
                        <a:buFont typeface="Calibri"/>
                        <a:buNone/>
                      </a:pPr>
                      <a:r>
                        <a:rPr b="1" i="1" lang="en-GB" sz="1200">
                          <a:solidFill>
                            <a:schemeClr val="accent2"/>
                          </a:solidFill>
                        </a:rPr>
                        <a:t>Example 2 – We do…</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B050"/>
                        </a:buClr>
                        <a:buSzPts val="1200"/>
                        <a:buFont typeface="Calibri"/>
                        <a:buNone/>
                      </a:pPr>
                      <a:r>
                        <a:rPr b="1" i="1" lang="en-GB" sz="1200">
                          <a:solidFill>
                            <a:srgbClr val="00B050"/>
                          </a:solidFill>
                        </a:rPr>
                        <a:t>Example 3 – You do…</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575250">
                <a:tc>
                  <a:txBody>
                    <a:bodyPr/>
                    <a:lstStyle/>
                    <a:p>
                      <a:pPr indent="0" lvl="0" marL="0" marR="0" rtl="0" algn="l">
                        <a:spcBef>
                          <a:spcPts val="0"/>
                        </a:spcBef>
                        <a:spcAft>
                          <a:spcPts val="0"/>
                        </a:spcAft>
                        <a:buNone/>
                      </a:pPr>
                      <a:r>
                        <a:rPr b="1" lang="en-GB" sz="1200">
                          <a:solidFill>
                            <a:schemeClr val="dk1"/>
                          </a:solidFill>
                        </a:rPr>
                        <a:t>Steps</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1" lang="en-GB" sz="1200">
                          <a:solidFill>
                            <a:schemeClr val="dk1"/>
                          </a:solidFill>
                        </a:rPr>
                        <a:t>True or false?: </a:t>
                      </a:r>
                      <a:r>
                        <a:rPr b="0" lang="en-GB" sz="1200">
                          <a:solidFill>
                            <a:schemeClr val="dk1"/>
                          </a:solidFill>
                        </a:rPr>
                        <a:t>The following inequality shows that 512 is greater than 502. </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512 &gt; 502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1" lang="en-GB" sz="1200">
                          <a:solidFill>
                            <a:schemeClr val="dk1"/>
                          </a:solidFill>
                        </a:rPr>
                        <a:t>True or false?: </a:t>
                      </a:r>
                      <a:r>
                        <a:rPr b="0" lang="en-GB" sz="1200">
                          <a:solidFill>
                            <a:schemeClr val="dk1"/>
                          </a:solidFill>
                        </a:rPr>
                        <a:t>The following inequality shows that 85 is greater than 83. </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85 &lt; 83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1" lang="en-GB" sz="1200">
                          <a:solidFill>
                            <a:schemeClr val="dk1"/>
                          </a:solidFill>
                        </a:rPr>
                        <a:t>True or false?: </a:t>
                      </a:r>
                      <a:r>
                        <a:rPr b="0" lang="en-GB" sz="1200">
                          <a:solidFill>
                            <a:schemeClr val="dk1"/>
                          </a:solidFill>
                        </a:rPr>
                        <a:t>The following inequality shows that 746 is greater than 739. </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739 &lt; 746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94875">
                <a:tc>
                  <a:txBody>
                    <a:bodyPr/>
                    <a:lstStyle/>
                    <a:p>
                      <a:pPr indent="0" lvl="0" marL="0" marR="0" rtl="0" algn="l">
                        <a:spcBef>
                          <a:spcPts val="0"/>
                        </a:spcBef>
                        <a:spcAft>
                          <a:spcPts val="0"/>
                        </a:spcAft>
                        <a:buClr>
                          <a:schemeClr val="dk1"/>
                        </a:buClr>
                        <a:buSzPts val="1200"/>
                        <a:buFont typeface="Calibri"/>
                        <a:buNone/>
                      </a:pPr>
                      <a:r>
                        <a:rPr lang="en-GB" sz="1200">
                          <a:solidFill>
                            <a:schemeClr val="dk1"/>
                          </a:solidFill>
                        </a:rPr>
                        <a:t>Look at the largest side of the symbol. This should be next to the largest number.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91" name="Google Shape;91;p13"/>
          <p:cNvSpPr/>
          <p:nvPr/>
        </p:nvSpPr>
        <p:spPr>
          <a:xfrm>
            <a:off x="86108" y="320544"/>
            <a:ext cx="6679742" cy="1413008"/>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900">
              <a:solidFill>
                <a:srgbClr val="000000"/>
              </a:solidFill>
              <a:latin typeface="Calibri"/>
              <a:ea typeface="Calibri"/>
              <a:cs typeface="Calibri"/>
              <a:sym typeface="Calibri"/>
            </a:endParaRPr>
          </a:p>
        </p:txBody>
      </p:sp>
      <p:sp>
        <p:nvSpPr>
          <p:cNvPr id="92" name="Google Shape;92;p13"/>
          <p:cNvSpPr/>
          <p:nvPr/>
        </p:nvSpPr>
        <p:spPr>
          <a:xfrm>
            <a:off x="0" y="0"/>
            <a:ext cx="6858000" cy="291917"/>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800">
                <a:solidFill>
                  <a:schemeClr val="lt1"/>
                </a:solidFill>
                <a:latin typeface="Calibri"/>
                <a:ea typeface="Calibri"/>
                <a:cs typeface="Calibri"/>
                <a:sym typeface="Calibri"/>
              </a:rPr>
              <a:t>Subtopic N1.3 – Compare integers using  =, ≠, &lt;, &gt;, ≤, ≥</a:t>
            </a:r>
            <a:endParaRPr/>
          </a:p>
        </p:txBody>
      </p:sp>
      <p:sp>
        <p:nvSpPr>
          <p:cNvPr id="93" name="Google Shape;93;p13"/>
          <p:cNvSpPr txBox="1"/>
          <p:nvPr/>
        </p:nvSpPr>
        <p:spPr>
          <a:xfrm>
            <a:off x="136949" y="651826"/>
            <a:ext cx="139976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Objectives:</a:t>
            </a:r>
            <a:endParaRPr/>
          </a:p>
        </p:txBody>
      </p:sp>
      <p:sp>
        <p:nvSpPr>
          <p:cNvPr id="94" name="Google Shape;94;p13"/>
          <p:cNvSpPr txBox="1"/>
          <p:nvPr/>
        </p:nvSpPr>
        <p:spPr>
          <a:xfrm>
            <a:off x="156727" y="936904"/>
            <a:ext cx="4667990" cy="46166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To understand the symbols =, ≠, &lt;, &gt;, ≤, ≥ </a:t>
            </a:r>
            <a:endParaRPr/>
          </a:p>
          <a:p>
            <a:pPr indent="-342900" lvl="0" marL="342900" marR="0" rtl="0" algn="l">
              <a:spcBef>
                <a:spcPts val="0"/>
              </a:spcBef>
              <a:spcAft>
                <a:spcPts val="0"/>
              </a:spcAft>
              <a:buClr>
                <a:schemeClr val="dk1"/>
              </a:buClr>
              <a:buSzPts val="1200"/>
              <a:buFont typeface="Calibri"/>
              <a:buAutoNum type="arabicPeriod"/>
            </a:pPr>
            <a:r>
              <a:rPr lang="en-GB" sz="1200">
                <a:solidFill>
                  <a:schemeClr val="dk1"/>
                </a:solidFill>
                <a:latin typeface="Calibri"/>
                <a:ea typeface="Calibri"/>
                <a:cs typeface="Calibri"/>
                <a:sym typeface="Calibri"/>
              </a:rPr>
              <a:t>To use these symbols to compare integers</a:t>
            </a:r>
            <a:endParaRPr/>
          </a:p>
        </p:txBody>
      </p:sp>
      <p:sp>
        <p:nvSpPr>
          <p:cNvPr id="95" name="Google Shape;95;p13"/>
          <p:cNvSpPr txBox="1"/>
          <p:nvPr/>
        </p:nvSpPr>
        <p:spPr>
          <a:xfrm>
            <a:off x="204768" y="362865"/>
            <a:ext cx="6402861" cy="276999"/>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chemeClr val="dk1"/>
                </a:solidFill>
                <a:latin typeface="Calibri"/>
                <a:ea typeface="Calibri"/>
                <a:cs typeface="Calibri"/>
                <a:sym typeface="Calibri"/>
              </a:rPr>
              <a:t>LEARNING OUTCOME: To compare integers using =, ≠, &lt;, &gt;, ≤, ≥ </a:t>
            </a:r>
            <a:endParaRPr/>
          </a:p>
        </p:txBody>
      </p:sp>
      <p:sp>
        <p:nvSpPr>
          <p:cNvPr id="96" name="Google Shape;96;p13"/>
          <p:cNvSpPr txBox="1"/>
          <p:nvPr/>
        </p:nvSpPr>
        <p:spPr>
          <a:xfrm>
            <a:off x="5574638" y="668161"/>
            <a:ext cx="1155766" cy="1015663"/>
          </a:xfrm>
          <a:prstGeom prst="rect">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u="sng">
                <a:solidFill>
                  <a:schemeClr val="dk1"/>
                </a:solidFill>
                <a:latin typeface="Calibri"/>
                <a:ea typeface="Calibri"/>
                <a:cs typeface="Calibri"/>
                <a:sym typeface="Calibri"/>
              </a:rPr>
              <a:t>Keywords:</a:t>
            </a:r>
            <a:endParaRPr sz="1200">
              <a:solidFill>
                <a:schemeClr val="dk1"/>
              </a:solidFill>
              <a:latin typeface="Calibri"/>
              <a:ea typeface="Calibri"/>
              <a:cs typeface="Calibri"/>
              <a:sym typeface="Calibri"/>
            </a:endParaRPr>
          </a:p>
          <a:p>
            <a:pPr indent="-171450" lvl="0" marL="171450" marR="0" rtl="0" algn="l">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Integer</a:t>
            </a:r>
            <a:endParaRPr/>
          </a:p>
          <a:p>
            <a:pPr indent="-171450" lvl="0" marL="171450" marR="0" rtl="0" algn="l">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Greater than</a:t>
            </a:r>
            <a:endParaRPr/>
          </a:p>
          <a:p>
            <a:pPr indent="-171450" lvl="0" marL="171450" marR="0" rtl="0" algn="l">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Less than</a:t>
            </a:r>
            <a:endParaRPr/>
          </a:p>
          <a:p>
            <a:pPr indent="-171450" lvl="0" marL="171450" marR="0" rtl="0" algn="l">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Inequality</a:t>
            </a:r>
            <a:endParaRPr/>
          </a:p>
        </p:txBody>
      </p:sp>
      <p:sp>
        <p:nvSpPr>
          <p:cNvPr id="97" name="Google Shape;97;p13"/>
          <p:cNvSpPr/>
          <p:nvPr/>
        </p:nvSpPr>
        <p:spPr>
          <a:xfrm>
            <a:off x="98653" y="4993783"/>
            <a:ext cx="6014442" cy="305726"/>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1200">
                <a:solidFill>
                  <a:schemeClr val="lt1"/>
                </a:solidFill>
                <a:latin typeface="Calibri"/>
                <a:ea typeface="Calibri"/>
                <a:cs typeface="Calibri"/>
                <a:sym typeface="Calibri"/>
              </a:rPr>
              <a:t>Understanding the ‘Greater than’ and ‘Less than’ symbols</a:t>
            </a:r>
            <a:endParaRPr/>
          </a:p>
        </p:txBody>
      </p:sp>
      <p:grpSp>
        <p:nvGrpSpPr>
          <p:cNvPr id="98" name="Google Shape;98;p13"/>
          <p:cNvGrpSpPr/>
          <p:nvPr/>
        </p:nvGrpSpPr>
        <p:grpSpPr>
          <a:xfrm>
            <a:off x="42654" y="2790045"/>
            <a:ext cx="7051584" cy="2678276"/>
            <a:chOff x="33071" y="1931453"/>
            <a:chExt cx="7051584" cy="2678276"/>
          </a:xfrm>
        </p:grpSpPr>
        <p:cxnSp>
          <p:nvCxnSpPr>
            <p:cNvPr id="99" name="Google Shape;99;p13"/>
            <p:cNvCxnSpPr/>
            <p:nvPr/>
          </p:nvCxnSpPr>
          <p:spPr>
            <a:xfrm flipH="1" rot="10800000">
              <a:off x="931051" y="3894707"/>
              <a:ext cx="5541513" cy="22822"/>
            </a:xfrm>
            <a:prstGeom prst="straightConnector1">
              <a:avLst/>
            </a:prstGeom>
            <a:noFill/>
            <a:ln cap="flat" cmpd="sng" w="9525">
              <a:solidFill>
                <a:schemeClr val="lt1"/>
              </a:solidFill>
              <a:prstDash val="solid"/>
              <a:miter lim="800000"/>
              <a:headEnd len="sm" w="sm" type="none"/>
              <a:tailEnd len="sm" w="sm" type="none"/>
            </a:ln>
          </p:spPr>
        </p:cxnSp>
        <p:sp>
          <p:nvSpPr>
            <p:cNvPr id="100" name="Google Shape;100;p13"/>
            <p:cNvSpPr/>
            <p:nvPr/>
          </p:nvSpPr>
          <p:spPr>
            <a:xfrm>
              <a:off x="76370" y="1964111"/>
              <a:ext cx="6699219" cy="2072569"/>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cxnSp>
          <p:nvCxnSpPr>
            <p:cNvPr id="101" name="Google Shape;101;p13"/>
            <p:cNvCxnSpPr/>
            <p:nvPr/>
          </p:nvCxnSpPr>
          <p:spPr>
            <a:xfrm>
              <a:off x="76370" y="3241278"/>
              <a:ext cx="6699219" cy="0"/>
            </a:xfrm>
            <a:prstGeom prst="straightConnector1">
              <a:avLst/>
            </a:prstGeom>
            <a:noFill/>
            <a:ln cap="flat" cmpd="sng" w="9525">
              <a:solidFill>
                <a:schemeClr val="dk1"/>
              </a:solidFill>
              <a:prstDash val="solid"/>
              <a:miter lim="800000"/>
              <a:headEnd len="sm" w="sm" type="none"/>
              <a:tailEnd len="sm" w="sm" type="none"/>
            </a:ln>
          </p:spPr>
        </p:cxnSp>
        <p:cxnSp>
          <p:nvCxnSpPr>
            <p:cNvPr id="102" name="Google Shape;102;p13"/>
            <p:cNvCxnSpPr>
              <a:stCxn id="100" idx="2"/>
              <a:endCxn id="100" idx="0"/>
            </p:cNvCxnSpPr>
            <p:nvPr/>
          </p:nvCxnSpPr>
          <p:spPr>
            <a:xfrm rot="10800000">
              <a:off x="3425980" y="1963980"/>
              <a:ext cx="0" cy="2072700"/>
            </a:xfrm>
            <a:prstGeom prst="straightConnector1">
              <a:avLst/>
            </a:prstGeom>
            <a:noFill/>
            <a:ln cap="flat" cmpd="sng" w="9525">
              <a:solidFill>
                <a:schemeClr val="dk1"/>
              </a:solidFill>
              <a:prstDash val="solid"/>
              <a:miter lim="800000"/>
              <a:headEnd len="sm" w="sm" type="none"/>
              <a:tailEnd len="sm" w="sm" type="none"/>
            </a:ln>
          </p:spPr>
        </p:cxnSp>
        <p:sp>
          <p:nvSpPr>
            <p:cNvPr id="103" name="Google Shape;103;p13"/>
            <p:cNvSpPr txBox="1"/>
            <p:nvPr/>
          </p:nvSpPr>
          <p:spPr>
            <a:xfrm>
              <a:off x="50581" y="1931453"/>
              <a:ext cx="82471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Definition</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04" name="Google Shape;104;p13"/>
            <p:cNvSpPr txBox="1"/>
            <p:nvPr/>
          </p:nvSpPr>
          <p:spPr>
            <a:xfrm>
              <a:off x="5716150" y="1931725"/>
              <a:ext cx="111222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Characteristics</a:t>
              </a:r>
              <a:endParaRPr b="1" sz="1200">
                <a:solidFill>
                  <a:schemeClr val="dk1"/>
                </a:solidFill>
                <a:latin typeface="Calibri"/>
                <a:ea typeface="Calibri"/>
                <a:cs typeface="Calibri"/>
                <a:sym typeface="Calibri"/>
              </a:endParaRPr>
            </a:p>
          </p:txBody>
        </p:sp>
        <p:sp>
          <p:nvSpPr>
            <p:cNvPr id="105" name="Google Shape;105;p13"/>
            <p:cNvSpPr txBox="1"/>
            <p:nvPr/>
          </p:nvSpPr>
          <p:spPr>
            <a:xfrm>
              <a:off x="33071" y="3211233"/>
              <a:ext cx="78816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Examples</a:t>
              </a:r>
              <a:endParaRPr b="1" sz="1200">
                <a:solidFill>
                  <a:schemeClr val="dk1"/>
                </a:solidFill>
                <a:latin typeface="Calibri"/>
                <a:ea typeface="Calibri"/>
                <a:cs typeface="Calibri"/>
                <a:sym typeface="Calibri"/>
              </a:endParaRPr>
            </a:p>
          </p:txBody>
        </p:sp>
        <p:sp>
          <p:nvSpPr>
            <p:cNvPr id="106" name="Google Shape;106;p13"/>
            <p:cNvSpPr txBox="1"/>
            <p:nvPr/>
          </p:nvSpPr>
          <p:spPr>
            <a:xfrm>
              <a:off x="5685115" y="3208620"/>
              <a:ext cx="117288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Non - Examples</a:t>
              </a:r>
              <a:endParaRPr b="1" sz="1200">
                <a:solidFill>
                  <a:schemeClr val="dk1"/>
                </a:solidFill>
                <a:latin typeface="Calibri"/>
                <a:ea typeface="Calibri"/>
                <a:cs typeface="Calibri"/>
                <a:sym typeface="Calibri"/>
              </a:endParaRPr>
            </a:p>
          </p:txBody>
        </p:sp>
        <p:sp>
          <p:nvSpPr>
            <p:cNvPr id="107" name="Google Shape;107;p13"/>
            <p:cNvSpPr txBox="1"/>
            <p:nvPr/>
          </p:nvSpPr>
          <p:spPr>
            <a:xfrm>
              <a:off x="42564" y="2130041"/>
              <a:ext cx="351877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A relationship between two numbers or expressions that are not exactly equal.</a:t>
              </a:r>
              <a:endParaRPr/>
            </a:p>
          </p:txBody>
        </p:sp>
        <p:sp>
          <p:nvSpPr>
            <p:cNvPr id="108" name="Google Shape;108;p13"/>
            <p:cNvSpPr txBox="1"/>
            <p:nvPr/>
          </p:nvSpPr>
          <p:spPr>
            <a:xfrm>
              <a:off x="4996591" y="2090541"/>
              <a:ext cx="1797121" cy="1200329"/>
            </a:xfrm>
            <a:prstGeom prst="rect">
              <a:avLst/>
            </a:prstGeom>
            <a:noFill/>
            <a:ln>
              <a:noFill/>
            </a:ln>
          </p:spPr>
          <p:txBody>
            <a:bodyPr anchorCtr="0" anchor="t" bIns="45700" lIns="91425" spcFirstLastPara="1" rIns="91425" wrap="square" tIns="45700">
              <a:spAutoFit/>
            </a:bodyPr>
            <a:lstStyle/>
            <a:p>
              <a:pPr indent="-95250" lvl="0" marL="171450" marR="0" rtl="0" algn="l">
                <a:spcBef>
                  <a:spcPts val="0"/>
                </a:spcBef>
                <a:spcAft>
                  <a:spcPts val="0"/>
                </a:spcAft>
                <a:buClr>
                  <a:schemeClr val="dk1"/>
                </a:buClr>
                <a:buSzPts val="1200"/>
                <a:buFont typeface="Arial"/>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&gt; Greater than</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Greater than or equal to </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&lt; Less than</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Less than or equal to</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Not equal to</a:t>
              </a:r>
              <a:endParaRPr/>
            </a:p>
          </p:txBody>
        </p:sp>
        <p:sp>
          <p:nvSpPr>
            <p:cNvPr id="109" name="Google Shape;109;p13"/>
            <p:cNvSpPr txBox="1"/>
            <p:nvPr/>
          </p:nvSpPr>
          <p:spPr>
            <a:xfrm>
              <a:off x="2870961" y="3038933"/>
              <a:ext cx="1120820" cy="369332"/>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Inequality</a:t>
              </a:r>
              <a:endParaRPr sz="1800">
                <a:solidFill>
                  <a:schemeClr val="dk1"/>
                </a:solidFill>
                <a:latin typeface="Calibri"/>
                <a:ea typeface="Calibri"/>
                <a:cs typeface="Calibri"/>
                <a:sym typeface="Calibri"/>
              </a:endParaRPr>
            </a:p>
          </p:txBody>
        </p:sp>
        <p:sp>
          <p:nvSpPr>
            <p:cNvPr id="110" name="Google Shape;110;p13"/>
            <p:cNvSpPr txBox="1"/>
            <p:nvPr/>
          </p:nvSpPr>
          <p:spPr>
            <a:xfrm>
              <a:off x="385436" y="3409400"/>
              <a:ext cx="3230335"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5 &gt; -2</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x ≤ 12</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-3 &lt; y ≤ 5</a:t>
              </a:r>
              <a:br>
                <a:rPr lang="en-GB"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x &lt; -1,  x ≥ 8</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4 ≠ 7</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2x – 7 &lt; x + 6</a:t>
              </a:r>
              <a:endParaRPr/>
            </a:p>
          </p:txBody>
        </p:sp>
        <p:sp>
          <p:nvSpPr>
            <p:cNvPr id="111" name="Google Shape;111;p13"/>
            <p:cNvSpPr txBox="1"/>
            <p:nvPr/>
          </p:nvSpPr>
          <p:spPr>
            <a:xfrm>
              <a:off x="3854320" y="3417300"/>
              <a:ext cx="3230335"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x = 5                                           4x = 2x + 5</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95250" lvl="0" marL="171450" marR="0" rtl="0" algn="l">
                <a:spcBef>
                  <a:spcPts val="0"/>
                </a:spcBef>
                <a:spcAft>
                  <a:spcPts val="0"/>
                </a:spcAft>
                <a:buClr>
                  <a:schemeClr val="dk1"/>
                </a:buClr>
                <a:buSzPts val="1200"/>
                <a:buFont typeface="Arial"/>
                <a:buNone/>
              </a:pPr>
              <a:r>
                <a:t/>
              </a:r>
              <a:endParaRPr sz="1200">
                <a:solidFill>
                  <a:schemeClr val="dk1"/>
                </a:solidFill>
                <a:latin typeface="Calibri"/>
                <a:ea typeface="Calibri"/>
                <a:cs typeface="Calibri"/>
                <a:sym typeface="Calibri"/>
              </a:endParaRPr>
            </a:p>
          </p:txBody>
        </p:sp>
        <p:sp>
          <p:nvSpPr>
            <p:cNvPr id="112" name="Google Shape;112;p13"/>
            <p:cNvSpPr txBox="1"/>
            <p:nvPr/>
          </p:nvSpPr>
          <p:spPr>
            <a:xfrm>
              <a:off x="3361015" y="2014028"/>
              <a:ext cx="2211976" cy="646331"/>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chemeClr val="dk1"/>
                </a:buClr>
                <a:buSzPts val="1200"/>
                <a:buFont typeface="Arial"/>
                <a:buChar char="•"/>
              </a:pPr>
              <a:r>
                <a:rPr lang="en-GB" sz="1200">
                  <a:solidFill>
                    <a:schemeClr val="dk1"/>
                  </a:solidFill>
                  <a:latin typeface="Calibri"/>
                  <a:ea typeface="Calibri"/>
                  <a:cs typeface="Calibri"/>
                  <a:sym typeface="Calibri"/>
                </a:rPr>
                <a:t>Numbers and expressions can be connected with the following signs:</a:t>
              </a:r>
              <a:endParaRPr/>
            </a:p>
          </p:txBody>
        </p:sp>
      </p:grpSp>
      <p:sp>
        <p:nvSpPr>
          <p:cNvPr id="113" name="Google Shape;113;p13"/>
          <p:cNvSpPr/>
          <p:nvPr/>
        </p:nvSpPr>
        <p:spPr>
          <a:xfrm>
            <a:off x="91213" y="1794817"/>
            <a:ext cx="6679742" cy="976404"/>
          </a:xfrm>
          <a:prstGeom prst="rect">
            <a:avLst/>
          </a:prstGeom>
          <a:no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en-GB" sz="1200" u="sng">
                <a:solidFill>
                  <a:srgbClr val="000000"/>
                </a:solidFill>
                <a:latin typeface="Calibri"/>
                <a:ea typeface="Calibri"/>
                <a:cs typeface="Calibri"/>
                <a:sym typeface="Calibri"/>
              </a:rPr>
              <a:t>Introduction – Read and annotate:</a:t>
            </a:r>
            <a:endParaRPr/>
          </a:p>
          <a:p>
            <a:pPr indent="0" lvl="0" marL="0" marR="0" rtl="0" algn="l">
              <a:spcBef>
                <a:spcPts val="0"/>
              </a:spcBef>
              <a:spcAft>
                <a:spcPts val="0"/>
              </a:spcAft>
              <a:buNone/>
            </a:pPr>
            <a:r>
              <a:t/>
            </a:r>
            <a:endParaRPr b="1" sz="600" u="sng">
              <a:solidFill>
                <a:srgbClr val="000000"/>
              </a:solidFill>
              <a:latin typeface="Calibri"/>
              <a:ea typeface="Calibri"/>
              <a:cs typeface="Calibri"/>
              <a:sym typeface="Calibri"/>
            </a:endParaRPr>
          </a:p>
          <a:p>
            <a:pPr indent="-228600" lvl="0" marL="228600" marR="0" rtl="0" algn="l">
              <a:spcBef>
                <a:spcPts val="0"/>
              </a:spcBef>
              <a:spcAft>
                <a:spcPts val="0"/>
              </a:spcAft>
              <a:buClr>
                <a:srgbClr val="000000"/>
              </a:buClr>
              <a:buSzPts val="1200"/>
              <a:buFont typeface="Calibri"/>
              <a:buAutoNum type="arabicPeriod"/>
            </a:pPr>
            <a:r>
              <a:rPr lang="en-GB" sz="1200">
                <a:solidFill>
                  <a:srgbClr val="000000"/>
                </a:solidFill>
                <a:latin typeface="Calibri"/>
                <a:ea typeface="Calibri"/>
                <a:cs typeface="Calibri"/>
                <a:sym typeface="Calibri"/>
              </a:rPr>
              <a:t>Comparing integers helps us understand which numbers are greater or smaller, especially when</a:t>
            </a:r>
            <a:endParaRPr/>
          </a:p>
          <a:p>
            <a:pPr indent="-228600" lvl="0" marL="228600" marR="0" rtl="0" algn="l">
              <a:spcBef>
                <a:spcPts val="0"/>
              </a:spcBef>
              <a:spcAft>
                <a:spcPts val="0"/>
              </a:spcAft>
              <a:buClr>
                <a:srgbClr val="000000"/>
              </a:buClr>
              <a:buSzPts val="1200"/>
              <a:buFont typeface="Calibri"/>
              <a:buAutoNum type="arabicPeriod"/>
            </a:pPr>
            <a:r>
              <a:rPr lang="en-GB" sz="1200">
                <a:solidFill>
                  <a:srgbClr val="000000"/>
                </a:solidFill>
                <a:latin typeface="Calibri"/>
                <a:ea typeface="Calibri"/>
                <a:cs typeface="Calibri"/>
                <a:sym typeface="Calibri"/>
              </a:rPr>
              <a:t>working with data or solving problems. We use inequality symbols like &lt;, &gt;, and = to show these</a:t>
            </a:r>
            <a:endParaRPr/>
          </a:p>
          <a:p>
            <a:pPr indent="-228600" lvl="0" marL="228600" marR="0" rtl="0" algn="l">
              <a:spcBef>
                <a:spcPts val="0"/>
              </a:spcBef>
              <a:spcAft>
                <a:spcPts val="0"/>
              </a:spcAft>
              <a:buClr>
                <a:srgbClr val="000000"/>
              </a:buClr>
              <a:buSzPts val="1200"/>
              <a:buFont typeface="Calibri"/>
              <a:buAutoNum type="arabicPeriod"/>
            </a:pPr>
            <a:r>
              <a:rPr lang="en-GB" sz="1200">
                <a:solidFill>
                  <a:srgbClr val="000000"/>
                </a:solidFill>
                <a:latin typeface="Calibri"/>
                <a:ea typeface="Calibri"/>
                <a:cs typeface="Calibri"/>
                <a:sym typeface="Calibri"/>
              </a:rPr>
              <a:t>relationships clearly and efficiently.</a:t>
            </a:r>
            <a:endParaRPr sz="1200">
              <a:solidFill>
                <a:srgbClr val="000000"/>
              </a:solidFill>
              <a:latin typeface="Calibri"/>
              <a:ea typeface="Calibri"/>
              <a:cs typeface="Calibri"/>
              <a:sym typeface="Calibri"/>
            </a:endParaRPr>
          </a:p>
        </p:txBody>
      </p:sp>
      <p:graphicFrame>
        <p:nvGraphicFramePr>
          <p:cNvPr id="114" name="Google Shape;114;p13"/>
          <p:cNvGraphicFramePr/>
          <p:nvPr/>
        </p:nvGraphicFramePr>
        <p:xfrm>
          <a:off x="98653" y="7474659"/>
          <a:ext cx="3000000" cy="3000000"/>
        </p:xfrm>
        <a:graphic>
          <a:graphicData uri="http://schemas.openxmlformats.org/drawingml/2006/table">
            <a:tbl>
              <a:tblPr bandRow="1" firstRow="1">
                <a:noFill/>
                <a:tableStyleId>{61410E0A-0287-48C3-8D68-3144BCCFB089}</a:tableStyleId>
              </a:tblPr>
              <a:tblGrid>
                <a:gridCol w="1955725"/>
                <a:gridCol w="1569450"/>
                <a:gridCol w="1569450"/>
                <a:gridCol w="1569450"/>
              </a:tblGrid>
              <a:tr h="186150">
                <a:tc>
                  <a:txBody>
                    <a:bodyPr/>
                    <a:lstStyle/>
                    <a:p>
                      <a:pPr indent="0" lvl="0" marL="0" marR="0" rtl="0" algn="l">
                        <a:spcBef>
                          <a:spcPts val="0"/>
                        </a:spcBef>
                        <a:spcAft>
                          <a:spcPts val="0"/>
                        </a:spcAft>
                        <a:buNone/>
                      </a:pPr>
                      <a:r>
                        <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FF0000"/>
                        </a:buClr>
                        <a:buSzPts val="1200"/>
                        <a:buFont typeface="Calibri"/>
                        <a:buNone/>
                      </a:pPr>
                      <a:r>
                        <a:rPr b="1" i="1" lang="en-GB" sz="1200">
                          <a:solidFill>
                            <a:srgbClr val="FF0000"/>
                          </a:solidFill>
                        </a:rPr>
                        <a:t>Example 4 - I do…</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accent2"/>
                        </a:buClr>
                        <a:buSzPts val="1200"/>
                        <a:buFont typeface="Calibri"/>
                        <a:buNone/>
                      </a:pPr>
                      <a:r>
                        <a:rPr b="1" i="1" lang="en-GB" sz="1200">
                          <a:solidFill>
                            <a:schemeClr val="accent2"/>
                          </a:solidFill>
                        </a:rPr>
                        <a:t>Example 5 – We do…</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B050"/>
                        </a:buClr>
                        <a:buSzPts val="1200"/>
                        <a:buFont typeface="Calibri"/>
                        <a:buNone/>
                      </a:pPr>
                      <a:r>
                        <a:rPr b="1" i="1" lang="en-GB" sz="1200">
                          <a:solidFill>
                            <a:srgbClr val="00B050"/>
                          </a:solidFill>
                        </a:rPr>
                        <a:t>Example 6 – You do…</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575250">
                <a:tc>
                  <a:txBody>
                    <a:bodyPr/>
                    <a:lstStyle/>
                    <a:p>
                      <a:pPr indent="0" lvl="0" marL="0" marR="0" rtl="0" algn="l">
                        <a:spcBef>
                          <a:spcPts val="0"/>
                        </a:spcBef>
                        <a:spcAft>
                          <a:spcPts val="0"/>
                        </a:spcAft>
                        <a:buNone/>
                      </a:pPr>
                      <a:r>
                        <a:rPr b="1" lang="en-GB" sz="1200">
                          <a:solidFill>
                            <a:schemeClr val="dk1"/>
                          </a:solidFill>
                        </a:rPr>
                        <a:t>Steps</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The following inequality shows that 273 is less than 298. </a:t>
                      </a:r>
                      <a:endParaRPr/>
                    </a:p>
                    <a:p>
                      <a:pPr indent="0" lvl="0" marL="0" marR="0" rtl="0" algn="ctr">
                        <a:lnSpc>
                          <a:spcPct val="100000"/>
                        </a:lnSpc>
                        <a:spcBef>
                          <a:spcPts val="0"/>
                        </a:spcBef>
                        <a:spcAft>
                          <a:spcPts val="0"/>
                        </a:spcAft>
                        <a:buClr>
                          <a:schemeClr val="dk1"/>
                        </a:buClr>
                        <a:buSzPts val="1200"/>
                        <a:buFont typeface="Calibri"/>
                        <a:buNone/>
                      </a:pPr>
                      <a:r>
                        <a:rPr b="1" lang="en-GB" sz="1200">
                          <a:solidFill>
                            <a:schemeClr val="dk1"/>
                          </a:solidFill>
                        </a:rPr>
                        <a:t>True or false? </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298 &lt; 273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The following inequality shows that 4586 is less than 4813. </a:t>
                      </a:r>
                      <a:r>
                        <a:rPr b="1" lang="en-GB" sz="1200">
                          <a:solidFill>
                            <a:schemeClr val="dk1"/>
                          </a:solidFill>
                        </a:rPr>
                        <a:t>True or false? </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4813 &gt; 4586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The following inequality shows that 5016 is less than 5076. </a:t>
                      </a:r>
                      <a:r>
                        <a:rPr b="1" lang="en-GB" sz="1200">
                          <a:solidFill>
                            <a:schemeClr val="dk1"/>
                          </a:solidFill>
                        </a:rPr>
                        <a:t>True or false? </a:t>
                      </a:r>
                      <a:endParaRPr/>
                    </a:p>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5016 &lt; 5076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494875">
                <a:tc>
                  <a:txBody>
                    <a:bodyPr/>
                    <a:lstStyle/>
                    <a:p>
                      <a:pPr indent="0" lvl="0" marL="0" marR="0" rtl="0" algn="l">
                        <a:spcBef>
                          <a:spcPts val="0"/>
                        </a:spcBef>
                        <a:spcAft>
                          <a:spcPts val="0"/>
                        </a:spcAft>
                        <a:buClr>
                          <a:schemeClr val="dk1"/>
                        </a:buClr>
                        <a:buSzPts val="1200"/>
                        <a:buFont typeface="Calibri"/>
                        <a:buNone/>
                      </a:pPr>
                      <a:r>
                        <a:rPr lang="en-GB" sz="1200">
                          <a:solidFill>
                            <a:schemeClr val="dk1"/>
                          </a:solidFill>
                        </a:rPr>
                        <a:t>Look at the smallest side of the symbol. This should be next to the smallest number.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115" name="Google Shape;115;p13"/>
          <p:cNvSpPr txBox="1"/>
          <p:nvPr/>
        </p:nvSpPr>
        <p:spPr>
          <a:xfrm>
            <a:off x="2576935" y="6701090"/>
            <a:ext cx="60721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True</a:t>
            </a:r>
            <a:endParaRPr/>
          </a:p>
        </p:txBody>
      </p:sp>
      <p:sp>
        <p:nvSpPr>
          <p:cNvPr id="116" name="Google Shape;116;p13"/>
          <p:cNvSpPr txBox="1"/>
          <p:nvPr/>
        </p:nvSpPr>
        <p:spPr>
          <a:xfrm>
            <a:off x="4146142" y="6702200"/>
            <a:ext cx="66088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False</a:t>
            </a:r>
            <a:endParaRPr/>
          </a:p>
        </p:txBody>
      </p:sp>
      <p:sp>
        <p:nvSpPr>
          <p:cNvPr id="117" name="Google Shape;117;p13"/>
          <p:cNvSpPr txBox="1"/>
          <p:nvPr/>
        </p:nvSpPr>
        <p:spPr>
          <a:xfrm>
            <a:off x="5747415" y="6712254"/>
            <a:ext cx="60721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True</a:t>
            </a:r>
            <a:endParaRPr/>
          </a:p>
        </p:txBody>
      </p:sp>
      <p:sp>
        <p:nvSpPr>
          <p:cNvPr id="118" name="Google Shape;118;p13"/>
          <p:cNvSpPr txBox="1"/>
          <p:nvPr/>
        </p:nvSpPr>
        <p:spPr>
          <a:xfrm>
            <a:off x="2523266" y="8784430"/>
            <a:ext cx="66088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False</a:t>
            </a:r>
            <a:endParaRPr/>
          </a:p>
        </p:txBody>
      </p:sp>
      <p:sp>
        <p:nvSpPr>
          <p:cNvPr id="119" name="Google Shape;119;p13"/>
          <p:cNvSpPr txBox="1"/>
          <p:nvPr/>
        </p:nvSpPr>
        <p:spPr>
          <a:xfrm>
            <a:off x="4145135" y="8872945"/>
            <a:ext cx="60721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True</a:t>
            </a:r>
            <a:endParaRPr/>
          </a:p>
        </p:txBody>
      </p:sp>
      <p:sp>
        <p:nvSpPr>
          <p:cNvPr id="120" name="Google Shape;120;p13"/>
          <p:cNvSpPr txBox="1"/>
          <p:nvPr/>
        </p:nvSpPr>
        <p:spPr>
          <a:xfrm>
            <a:off x="5713335" y="8872945"/>
            <a:ext cx="60721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FF0000"/>
                </a:solidFill>
                <a:latin typeface="Calibri"/>
                <a:ea typeface="Calibri"/>
                <a:cs typeface="Calibri"/>
                <a:sym typeface="Calibri"/>
              </a:rPr>
              <a:t>True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4"/>
          <p:cNvSpPr txBox="1"/>
          <p:nvPr/>
        </p:nvSpPr>
        <p:spPr>
          <a:xfrm>
            <a:off x="5285586" y="9461493"/>
            <a:ext cx="1543050" cy="527403"/>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900">
                <a:solidFill>
                  <a:srgbClr val="888888"/>
                </a:solidFill>
                <a:latin typeface="Calibri"/>
                <a:ea typeface="Calibri"/>
                <a:cs typeface="Calibri"/>
                <a:sym typeface="Calibri"/>
              </a:rPr>
              <a:t>‹#›</a:t>
            </a:fld>
            <a:endParaRPr sz="900">
              <a:solidFill>
                <a:srgbClr val="888888"/>
              </a:solidFill>
              <a:latin typeface="Calibri"/>
              <a:ea typeface="Calibri"/>
              <a:cs typeface="Calibri"/>
              <a:sym typeface="Calibri"/>
            </a:endParaRPr>
          </a:p>
        </p:txBody>
      </p:sp>
      <p:graphicFrame>
        <p:nvGraphicFramePr>
          <p:cNvPr id="126" name="Google Shape;126;p14"/>
          <p:cNvGraphicFramePr/>
          <p:nvPr/>
        </p:nvGraphicFramePr>
        <p:xfrm>
          <a:off x="130217" y="937570"/>
          <a:ext cx="3000000" cy="3000000"/>
        </p:xfrm>
        <a:graphic>
          <a:graphicData uri="http://schemas.openxmlformats.org/drawingml/2006/table">
            <a:tbl>
              <a:tblPr bandRow="1" firstRow="1">
                <a:noFill/>
                <a:tableStyleId>{61410E0A-0287-48C3-8D68-3144BCCFB089}</a:tableStyleId>
              </a:tblPr>
              <a:tblGrid>
                <a:gridCol w="1911950"/>
                <a:gridCol w="1352900"/>
                <a:gridCol w="1632425"/>
                <a:gridCol w="1632425"/>
              </a:tblGrid>
              <a:tr h="457200">
                <a:tc>
                  <a:txBody>
                    <a:bodyPr/>
                    <a:lstStyle/>
                    <a:p>
                      <a:pPr indent="0" lvl="0" marL="0" marR="0" rtl="0" algn="ctr">
                        <a:spcBef>
                          <a:spcPts val="0"/>
                        </a:spcBef>
                        <a:spcAft>
                          <a:spcPts val="0"/>
                        </a:spcAft>
                        <a:buNone/>
                      </a:pPr>
                      <a:r>
                        <a:rPr lang="en-GB" sz="1200">
                          <a:solidFill>
                            <a:schemeClr val="dk1"/>
                          </a:solidFill>
                        </a:rPr>
                        <a:t>Statement</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GB" sz="1200">
                          <a:solidFill>
                            <a:schemeClr val="dk1"/>
                          </a:solidFill>
                        </a:rPr>
                        <a:t>True or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GB" sz="1200">
                          <a:solidFill>
                            <a:schemeClr val="dk1"/>
                          </a:solidFill>
                        </a:rPr>
                        <a:t>Rewritten to make true (if false)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GB" sz="1200">
                          <a:solidFill>
                            <a:schemeClr val="dk1"/>
                          </a:solidFill>
                        </a:rPr>
                        <a:t>Alternative way</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24000">
                <a:tc>
                  <a:txBody>
                    <a:bodyPr/>
                    <a:lstStyle/>
                    <a:p>
                      <a:pPr indent="0" lvl="0" marL="0" marR="0" rtl="0" algn="l">
                        <a:spcBef>
                          <a:spcPts val="0"/>
                        </a:spcBef>
                        <a:spcAft>
                          <a:spcPts val="0"/>
                        </a:spcAft>
                        <a:buNone/>
                      </a:pPr>
                      <a:r>
                        <a:rPr lang="en-GB" sz="1200">
                          <a:solidFill>
                            <a:schemeClr val="dk1"/>
                          </a:solidFill>
                        </a:rPr>
                        <a:t>a) 3 &lt; 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GB" sz="1350">
                          <a:solidFill>
                            <a:srgbClr val="FF0000"/>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200">
                          <a:solidFill>
                            <a:srgbClr val="FF0000"/>
                          </a:solidFill>
                        </a:rPr>
                        <a: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100">
                          <a:solidFill>
                            <a:srgbClr val="FF0000"/>
                          </a:solidFill>
                        </a:rPr>
                        <a:t>5 &gt; 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24000">
                <a:tc>
                  <a:txBody>
                    <a:bodyPr/>
                    <a:lstStyle/>
                    <a:p>
                      <a:pPr indent="0" lvl="0" marL="0" marR="0" rtl="0" algn="l">
                        <a:spcBef>
                          <a:spcPts val="0"/>
                        </a:spcBef>
                        <a:spcAft>
                          <a:spcPts val="0"/>
                        </a:spcAft>
                        <a:buNone/>
                      </a:pPr>
                      <a:r>
                        <a:rPr lang="en-GB" sz="1200">
                          <a:solidFill>
                            <a:schemeClr val="dk1"/>
                          </a:solidFill>
                        </a:rPr>
                        <a:t>b) 1 &lt; 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GB" sz="1350">
                          <a:solidFill>
                            <a:srgbClr val="FF0000"/>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200">
                          <a:solidFill>
                            <a:srgbClr val="FF0000"/>
                          </a:solidFill>
                        </a:rPr>
                        <a:t>1 &gt; 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100">
                          <a:solidFill>
                            <a:srgbClr val="FF0000"/>
                          </a:solidFill>
                        </a:rPr>
                        <a:t>0 &lt; 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24000">
                <a:tc>
                  <a:txBody>
                    <a:bodyPr/>
                    <a:lstStyle/>
                    <a:p>
                      <a:pPr indent="0" lvl="0" marL="0" marR="0" rtl="0" algn="l">
                        <a:lnSpc>
                          <a:spcPct val="100000"/>
                        </a:lnSpc>
                        <a:spcBef>
                          <a:spcPts val="0"/>
                        </a:spcBef>
                        <a:spcAft>
                          <a:spcPts val="0"/>
                        </a:spcAft>
                        <a:buClr>
                          <a:schemeClr val="dk1"/>
                        </a:buClr>
                        <a:buSzPts val="1200"/>
                        <a:buFont typeface="Calibri"/>
                        <a:buNone/>
                      </a:pPr>
                      <a:r>
                        <a:rPr lang="en-GB" sz="1200">
                          <a:solidFill>
                            <a:schemeClr val="dk1"/>
                          </a:solidFill>
                        </a:rPr>
                        <a:t>c) 902 &lt; 93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GB" sz="1350">
                          <a:solidFill>
                            <a:srgbClr val="FF0000"/>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200">
                          <a:solidFill>
                            <a:srgbClr val="FF0000"/>
                          </a:solidFill>
                        </a:rPr>
                        <a:t>902 &gt; 93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100">
                          <a:solidFill>
                            <a:srgbClr val="FF0000"/>
                          </a:solidFill>
                        </a:rPr>
                        <a:t>93 &lt; 902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24000">
                <a:tc>
                  <a:txBody>
                    <a:bodyPr/>
                    <a:lstStyle/>
                    <a:p>
                      <a:pPr indent="0" lvl="0" marL="0" marR="0" rtl="0" algn="l">
                        <a:spcBef>
                          <a:spcPts val="0"/>
                        </a:spcBef>
                        <a:spcAft>
                          <a:spcPts val="0"/>
                        </a:spcAft>
                        <a:buNone/>
                      </a:pPr>
                      <a:r>
                        <a:rPr lang="en-GB" sz="1200">
                          <a:solidFill>
                            <a:schemeClr val="dk1"/>
                          </a:solidFill>
                        </a:rPr>
                        <a:t>d) 8106 &gt; 8099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GB" sz="1350">
                          <a:solidFill>
                            <a:srgbClr val="FF0000"/>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200">
                          <a:solidFill>
                            <a:srgbClr val="FF0000"/>
                          </a:solidFill>
                        </a:rPr>
                        <a: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100">
                          <a:solidFill>
                            <a:srgbClr val="FF0000"/>
                          </a:solidFill>
                        </a:rPr>
                        <a:t> 8099 &lt; 8106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24000">
                <a:tc>
                  <a:txBody>
                    <a:bodyPr/>
                    <a:lstStyle/>
                    <a:p>
                      <a:pPr indent="0" lvl="0" marL="0" marR="0" rtl="0" algn="l">
                        <a:spcBef>
                          <a:spcPts val="0"/>
                        </a:spcBef>
                        <a:spcAft>
                          <a:spcPts val="0"/>
                        </a:spcAft>
                        <a:buNone/>
                      </a:pPr>
                      <a:r>
                        <a:rPr lang="en-GB" sz="1200">
                          <a:solidFill>
                            <a:schemeClr val="dk1"/>
                          </a:solidFill>
                        </a:rPr>
                        <a:t>e) 3751 &lt; 3699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GB" sz="1350">
                          <a:solidFill>
                            <a:srgbClr val="FF0000"/>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200">
                          <a:solidFill>
                            <a:srgbClr val="FF0000"/>
                          </a:solidFill>
                        </a:rPr>
                        <a:t>3751 &gt; 3699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100">
                          <a:solidFill>
                            <a:srgbClr val="FF0000"/>
                          </a:solidFill>
                        </a:rPr>
                        <a:t>3699 &lt; 3751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24000">
                <a:tc>
                  <a:txBody>
                    <a:bodyPr/>
                    <a:lstStyle/>
                    <a:p>
                      <a:pPr indent="0" lvl="0" marL="0" marR="0" rtl="0" algn="l">
                        <a:spcBef>
                          <a:spcPts val="0"/>
                        </a:spcBef>
                        <a:spcAft>
                          <a:spcPts val="0"/>
                        </a:spcAft>
                        <a:buNone/>
                      </a:pPr>
                      <a:r>
                        <a:rPr lang="en-GB" sz="1200">
                          <a:solidFill>
                            <a:schemeClr val="dk1"/>
                          </a:solidFill>
                        </a:rPr>
                        <a:t>f) 809 &gt; 820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GB" sz="1350">
                          <a:solidFill>
                            <a:srgbClr val="FF0000"/>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200">
                          <a:solidFill>
                            <a:srgbClr val="FF0000"/>
                          </a:solidFill>
                        </a:rPr>
                        <a:t>809 &lt; 820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100">
                          <a:solidFill>
                            <a:srgbClr val="FF0000"/>
                          </a:solidFill>
                        </a:rPr>
                        <a:t>820 &gt; 809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24000">
                <a:tc>
                  <a:txBody>
                    <a:bodyPr/>
                    <a:lstStyle/>
                    <a:p>
                      <a:pPr indent="0" lvl="0" marL="0" marR="0" rtl="0" algn="l">
                        <a:spcBef>
                          <a:spcPts val="0"/>
                        </a:spcBef>
                        <a:spcAft>
                          <a:spcPts val="0"/>
                        </a:spcAft>
                        <a:buNone/>
                      </a:pPr>
                      <a:r>
                        <a:rPr lang="en-GB" sz="1200">
                          <a:solidFill>
                            <a:schemeClr val="dk1"/>
                          </a:solidFill>
                        </a:rPr>
                        <a:t>g) 203 000 &lt; 199 987</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GB" sz="1350">
                          <a:solidFill>
                            <a:srgbClr val="FF0000"/>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200">
                          <a:solidFill>
                            <a:srgbClr val="FF0000"/>
                          </a:solidFill>
                        </a:rPr>
                        <a:t>203 000 &gt; 199 987</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100">
                          <a:solidFill>
                            <a:srgbClr val="FF0000"/>
                          </a:solidFill>
                        </a:rPr>
                        <a:t>199 987 &lt; 203 000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24000">
                <a:tc>
                  <a:txBody>
                    <a:bodyPr/>
                    <a:lstStyle/>
                    <a:p>
                      <a:pPr indent="0" lvl="0" marL="0" marR="0" rtl="0" algn="l">
                        <a:spcBef>
                          <a:spcPts val="0"/>
                        </a:spcBef>
                        <a:spcAft>
                          <a:spcPts val="0"/>
                        </a:spcAft>
                        <a:buNone/>
                      </a:pPr>
                      <a:r>
                        <a:rPr lang="en-GB" sz="1200">
                          <a:solidFill>
                            <a:schemeClr val="dk1"/>
                          </a:solidFill>
                        </a:rPr>
                        <a:t>h) 32 150 &lt; 31 205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GB" sz="1350">
                          <a:solidFill>
                            <a:srgbClr val="FF0000"/>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200">
                          <a:solidFill>
                            <a:srgbClr val="FF0000"/>
                          </a:solidFill>
                        </a:rPr>
                        <a:t>32 150 &gt; 31 205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100">
                          <a:solidFill>
                            <a:srgbClr val="FF0000"/>
                          </a:solidFill>
                        </a:rPr>
                        <a:t>31 205 &lt; 32 150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24000">
                <a:tc>
                  <a:txBody>
                    <a:bodyPr/>
                    <a:lstStyle/>
                    <a:p>
                      <a:pPr indent="0" lvl="0" marL="0" marR="0" rtl="0" algn="l">
                        <a:spcBef>
                          <a:spcPts val="0"/>
                        </a:spcBef>
                        <a:spcAft>
                          <a:spcPts val="0"/>
                        </a:spcAft>
                        <a:buNone/>
                      </a:pPr>
                      <a:r>
                        <a:rPr lang="en-GB" sz="1200">
                          <a:solidFill>
                            <a:schemeClr val="dk1"/>
                          </a:solidFill>
                        </a:rPr>
                        <a:t>i) 1494 &gt; two thousand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GB" sz="1350">
                          <a:solidFill>
                            <a:srgbClr val="FF0000"/>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200">
                          <a:solidFill>
                            <a:srgbClr val="FF0000"/>
                          </a:solidFill>
                        </a:rPr>
                        <a:t>1494 &lt; two thousand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100">
                          <a:solidFill>
                            <a:srgbClr val="FF0000"/>
                          </a:solidFill>
                        </a:rPr>
                        <a:t>Two thousand &gt; 1494</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24000">
                <a:tc>
                  <a:txBody>
                    <a:bodyPr/>
                    <a:lstStyle/>
                    <a:p>
                      <a:pPr indent="0" lvl="0" marL="0" marR="0" rtl="0" algn="l">
                        <a:spcBef>
                          <a:spcPts val="0"/>
                        </a:spcBef>
                        <a:spcAft>
                          <a:spcPts val="0"/>
                        </a:spcAft>
                        <a:buNone/>
                      </a:pPr>
                      <a:r>
                        <a:rPr lang="en-GB" sz="1200">
                          <a:solidFill>
                            <a:schemeClr val="dk1"/>
                          </a:solidFill>
                        </a:rPr>
                        <a:t>j) One million &lt; 214 380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GB" sz="1350">
                          <a:solidFill>
                            <a:srgbClr val="FF0000"/>
                          </a:solidFill>
                        </a:rPr>
                        <a:t>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200">
                          <a:solidFill>
                            <a:srgbClr val="FF0000"/>
                          </a:solidFill>
                        </a:rPr>
                        <a:t>One million &gt; 214 380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100">
                          <a:solidFill>
                            <a:srgbClr val="FF0000"/>
                          </a:solidFill>
                        </a:rPr>
                        <a:t>214 380 &lt; one million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24000">
                <a:tc>
                  <a:txBody>
                    <a:bodyPr/>
                    <a:lstStyle/>
                    <a:p>
                      <a:pPr indent="0" lvl="0" marL="0" marR="0" rtl="0" algn="l">
                        <a:spcBef>
                          <a:spcPts val="0"/>
                        </a:spcBef>
                        <a:spcAft>
                          <a:spcPts val="0"/>
                        </a:spcAft>
                        <a:buNone/>
                      </a:pPr>
                      <a:r>
                        <a:rPr lang="en-GB" sz="1200">
                          <a:solidFill>
                            <a:schemeClr val="dk1"/>
                          </a:solidFill>
                        </a:rPr>
                        <a:t>k) 3  849 000 &gt; one million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lang="en-GB" sz="1350">
                          <a:solidFill>
                            <a:srgbClr val="FF0000"/>
                          </a:solidFill>
                        </a:rPr>
                        <a:t>True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200">
                          <a:solidFill>
                            <a:srgbClr val="FF0000"/>
                          </a:solidFill>
                        </a:rPr>
                        <a: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GB" sz="1100">
                          <a:solidFill>
                            <a:srgbClr val="FF0000"/>
                          </a:solidFill>
                        </a:rPr>
                        <a:t>One million &lt; 3 849 000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127" name="Google Shape;127;p14"/>
          <p:cNvSpPr/>
          <p:nvPr/>
        </p:nvSpPr>
        <p:spPr>
          <a:xfrm>
            <a:off x="161816" y="327486"/>
            <a:ext cx="1137954" cy="426767"/>
          </a:xfrm>
          <a:prstGeom prst="rect">
            <a:avLst/>
          </a:prstGeom>
          <a:solidFill>
            <a:srgbClr val="0070C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Calibri"/>
                <a:ea typeface="Calibri"/>
                <a:cs typeface="Calibri"/>
                <a:sym typeface="Calibri"/>
              </a:rPr>
              <a:t>Independent Practice</a:t>
            </a:r>
            <a:endParaRPr/>
          </a:p>
        </p:txBody>
      </p:sp>
      <p:sp>
        <p:nvSpPr>
          <p:cNvPr id="128" name="Google Shape;128;p14"/>
          <p:cNvSpPr txBox="1"/>
          <p:nvPr/>
        </p:nvSpPr>
        <p:spPr>
          <a:xfrm>
            <a:off x="1299770" y="144168"/>
            <a:ext cx="555823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Question 1. For each of the following questions, decide which statements are true and which statements are false. Rewrite the false statements to make them true. Can you write each true statement in a different way such that it remains true? E.g. 86 &lt; 101 and 101 &gt; 86 are both true. </a:t>
            </a:r>
            <a:endParaRPr/>
          </a:p>
        </p:txBody>
      </p:sp>
      <p:graphicFrame>
        <p:nvGraphicFramePr>
          <p:cNvPr id="129" name="Google Shape;129;p14"/>
          <p:cNvGraphicFramePr/>
          <p:nvPr/>
        </p:nvGraphicFramePr>
        <p:xfrm>
          <a:off x="130217" y="5065887"/>
          <a:ext cx="3000000" cy="3000000"/>
        </p:xfrm>
        <a:graphic>
          <a:graphicData uri="http://schemas.openxmlformats.org/drawingml/2006/table">
            <a:tbl>
              <a:tblPr bandRow="1" firstRow="1">
                <a:noFill/>
                <a:tableStyleId>{61410E0A-0287-48C3-8D68-3144BCCFB089}</a:tableStyleId>
              </a:tblPr>
              <a:tblGrid>
                <a:gridCol w="6529650"/>
              </a:tblGrid>
              <a:tr h="864000">
                <a:tc>
                  <a:txBody>
                    <a:bodyPr/>
                    <a:lstStyle/>
                    <a:p>
                      <a:pPr indent="0" lvl="0" marL="0" marR="0" rtl="0" algn="l">
                        <a:spcBef>
                          <a:spcPts val="0"/>
                        </a:spcBef>
                        <a:spcAft>
                          <a:spcPts val="0"/>
                        </a:spcAft>
                        <a:buNone/>
                      </a:pPr>
                      <a:r>
                        <a:rPr b="0" lang="en-GB" sz="1200">
                          <a:solidFill>
                            <a:schemeClr val="dk1"/>
                          </a:solidFill>
                        </a:rPr>
                        <a:t>Question 2. Circle the statement that means 5 is greater than 3</a:t>
                      </a:r>
                      <a:endParaRPr/>
                    </a:p>
                    <a:p>
                      <a:pPr indent="0" lvl="0" marL="0" marR="0" rtl="0" algn="l">
                        <a:spcBef>
                          <a:spcPts val="0"/>
                        </a:spcBef>
                        <a:spcAft>
                          <a:spcPts val="0"/>
                        </a:spcAft>
                        <a:buNone/>
                      </a:pPr>
                      <a:r>
                        <a:rPr b="0" lang="en-GB" sz="1200">
                          <a:solidFill>
                            <a:schemeClr val="dk1"/>
                          </a:solidFill>
                        </a:rPr>
                        <a:t> </a:t>
                      </a:r>
                      <a:endParaRPr/>
                    </a:p>
                    <a:p>
                      <a:pPr indent="0" lvl="0" marL="0" marR="0" rtl="0" algn="ctr">
                        <a:spcBef>
                          <a:spcPts val="0"/>
                        </a:spcBef>
                        <a:spcAft>
                          <a:spcPts val="0"/>
                        </a:spcAft>
                        <a:buNone/>
                      </a:pPr>
                      <a:r>
                        <a:rPr b="0" lang="en-GB" sz="1200">
                          <a:solidFill>
                            <a:schemeClr val="dk1"/>
                          </a:solidFill>
                        </a:rPr>
                        <a:t>a) 5 &gt; 3                             b) 5 &lt; 3                              c) 5 = 3                             d) 5/3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864000">
                <a:tc>
                  <a:txBody>
                    <a:bodyPr/>
                    <a:lstStyle/>
                    <a:p>
                      <a:pPr indent="0" lvl="0" marL="0" marR="0" rtl="0" algn="l">
                        <a:spcBef>
                          <a:spcPts val="0"/>
                        </a:spcBef>
                        <a:spcAft>
                          <a:spcPts val="0"/>
                        </a:spcAft>
                        <a:buNone/>
                      </a:pPr>
                      <a:r>
                        <a:rPr b="0" lang="en-GB" sz="1200">
                          <a:solidFill>
                            <a:schemeClr val="dk1"/>
                          </a:solidFill>
                        </a:rPr>
                        <a:t>Question 3. </a:t>
                      </a:r>
                      <a:r>
                        <a:rPr lang="en-GB" sz="1200"/>
                        <a:t>Which of the following is the same as 1 &lt; 2?</a:t>
                      </a:r>
                      <a:endParaRPr/>
                    </a:p>
                    <a:p>
                      <a:pPr indent="0" lvl="0" marL="0" marR="0" rtl="0" algn="l">
                        <a:spcBef>
                          <a:spcPts val="0"/>
                        </a:spcBef>
                        <a:spcAft>
                          <a:spcPts val="0"/>
                        </a:spcAft>
                        <a:buNone/>
                      </a:pPr>
                      <a:r>
                        <a:rPr lang="en-GB" sz="1200"/>
                        <a:t> </a:t>
                      </a:r>
                      <a:endParaRPr/>
                    </a:p>
                    <a:p>
                      <a:pPr indent="0" lvl="0" marL="0" marR="0" rtl="0" algn="ctr">
                        <a:spcBef>
                          <a:spcPts val="0"/>
                        </a:spcBef>
                        <a:spcAft>
                          <a:spcPts val="0"/>
                        </a:spcAft>
                        <a:buNone/>
                      </a:pPr>
                      <a:r>
                        <a:rPr lang="en-GB" sz="1200"/>
                        <a:t>a) 1 &gt; 2                             b) 2 &gt; 1                             c) 2 &lt; 1                             d) None of these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864000">
                <a:tc>
                  <a:txBody>
                    <a:bodyPr/>
                    <a:lstStyle/>
                    <a:p>
                      <a:pPr indent="0" lvl="0" marL="0" marR="0" rtl="0" algn="l">
                        <a:spcBef>
                          <a:spcPts val="0"/>
                        </a:spcBef>
                        <a:spcAft>
                          <a:spcPts val="0"/>
                        </a:spcAft>
                        <a:buNone/>
                      </a:pPr>
                      <a:r>
                        <a:rPr b="0" lang="en-GB" sz="1200">
                          <a:solidFill>
                            <a:schemeClr val="dk1"/>
                          </a:solidFill>
                        </a:rPr>
                        <a:t>Question 4. </a:t>
                      </a:r>
                      <a:r>
                        <a:rPr lang="en-GB" sz="1200"/>
                        <a:t>True or false?: a = 8  satisfies the inequality a &gt; 5.  Circle the correct answer.</a:t>
                      </a:r>
                      <a:endParaRPr/>
                    </a:p>
                    <a:p>
                      <a:pPr indent="0" lvl="0" marL="0" marR="0" rtl="0" algn="l">
                        <a:spcBef>
                          <a:spcPts val="0"/>
                        </a:spcBef>
                        <a:spcAft>
                          <a:spcPts val="0"/>
                        </a:spcAft>
                        <a:buNone/>
                      </a:pPr>
                      <a:r>
                        <a:rPr lang="en-GB" sz="1200"/>
                        <a:t> </a:t>
                      </a:r>
                      <a:endParaRPr/>
                    </a:p>
                    <a:p>
                      <a:pPr indent="0" lvl="0" marL="0" marR="0" rtl="0" algn="ctr">
                        <a:spcBef>
                          <a:spcPts val="0"/>
                        </a:spcBef>
                        <a:spcAft>
                          <a:spcPts val="0"/>
                        </a:spcAft>
                        <a:buNone/>
                      </a:pPr>
                      <a:r>
                        <a:rPr lang="en-GB" sz="1200"/>
                        <a:t>True                False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48000">
                <a:tc>
                  <a:txBody>
                    <a:bodyPr/>
                    <a:lstStyle/>
                    <a:p>
                      <a:pPr indent="0" lvl="0" marL="0" marR="0" rtl="0" algn="l">
                        <a:spcBef>
                          <a:spcPts val="0"/>
                        </a:spcBef>
                        <a:spcAft>
                          <a:spcPts val="0"/>
                        </a:spcAft>
                        <a:buNone/>
                      </a:pPr>
                      <a:r>
                        <a:rPr b="0" lang="en-GB" sz="1200">
                          <a:solidFill>
                            <a:schemeClr val="dk1"/>
                          </a:solidFill>
                        </a:rPr>
                        <a:t>Question 5. </a:t>
                      </a:r>
                      <a:endParaRPr/>
                    </a:p>
                    <a:p>
                      <a:pPr indent="0" lvl="0" marL="0" marR="0" rtl="0" algn="ctr">
                        <a:spcBef>
                          <a:spcPts val="0"/>
                        </a:spcBef>
                        <a:spcAft>
                          <a:spcPts val="0"/>
                        </a:spcAft>
                        <a:buNone/>
                      </a:pPr>
                      <a:r>
                        <a:rPr b="1" lang="en-GB" sz="1200"/>
                        <a:t>46 000 &lt; 400 010 </a:t>
                      </a:r>
                      <a:endParaRPr/>
                    </a:p>
                    <a:p>
                      <a:pPr indent="0" lvl="0" marL="0" marR="0" rtl="0" algn="l">
                        <a:spcBef>
                          <a:spcPts val="0"/>
                        </a:spcBef>
                        <a:spcAft>
                          <a:spcPts val="0"/>
                        </a:spcAft>
                        <a:buNone/>
                      </a:pPr>
                      <a:r>
                        <a:rPr lang="en-GB" sz="1200"/>
                        <a:t>    </a:t>
                      </a:r>
                      <a:endParaRPr/>
                    </a:p>
                    <a:p>
                      <a:pPr indent="0" lvl="0" marL="0" marR="0" rtl="0" algn="l">
                        <a:spcBef>
                          <a:spcPts val="0"/>
                        </a:spcBef>
                        <a:spcAft>
                          <a:spcPts val="0"/>
                        </a:spcAft>
                        <a:buNone/>
                      </a:pPr>
                      <a:r>
                        <a:rPr lang="en-GB" sz="1200"/>
                        <a:t>    Joe says the statement says “46 000 is less than 400 010”. </a:t>
                      </a:r>
                      <a:endParaRPr/>
                    </a:p>
                    <a:p>
                      <a:pPr indent="0" lvl="0" marL="0" marR="0" rtl="0" algn="l">
                        <a:spcBef>
                          <a:spcPts val="0"/>
                        </a:spcBef>
                        <a:spcAft>
                          <a:spcPts val="0"/>
                        </a:spcAft>
                        <a:buNone/>
                      </a:pPr>
                      <a:r>
                        <a:rPr lang="en-GB" sz="1200"/>
                        <a:t>    Jay says the statement says “400 010 is greater than 46 000”. </a:t>
                      </a:r>
                      <a:endParaRPr/>
                    </a:p>
                    <a:p>
                      <a:pPr indent="0" lvl="0" marL="0" marR="0" rtl="0" algn="l">
                        <a:spcBef>
                          <a:spcPts val="0"/>
                        </a:spcBef>
                        <a:spcAft>
                          <a:spcPts val="0"/>
                        </a:spcAft>
                        <a:buNone/>
                      </a:pPr>
                      <a:r>
                        <a:rPr lang="en-GB" sz="1200"/>
                        <a:t>    Who do you agree with?  Give a reason for your answer.</a:t>
                      </a:r>
                      <a:br>
                        <a:rPr lang="en-GB" sz="1200"/>
                      </a:b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b="0"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graphicFrame>
        <p:nvGraphicFramePr>
          <p:cNvPr id="130" name="Google Shape;130;p14"/>
          <p:cNvGraphicFramePr/>
          <p:nvPr/>
        </p:nvGraphicFramePr>
        <p:xfrm>
          <a:off x="130217" y="8843757"/>
          <a:ext cx="3000000" cy="3000000"/>
        </p:xfrm>
        <a:graphic>
          <a:graphicData uri="http://schemas.openxmlformats.org/drawingml/2006/table">
            <a:tbl>
              <a:tblPr bandRow="1" firstRow="1">
                <a:noFill/>
                <a:tableStyleId>{61410E0A-0287-48C3-8D68-3144BCCFB089}</a:tableStyleId>
              </a:tblPr>
              <a:tblGrid>
                <a:gridCol w="6529650"/>
              </a:tblGrid>
              <a:tr h="370850">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70850">
                <a:tc>
                  <a:txBody>
                    <a:bodyPr/>
                    <a:lstStyle/>
                    <a:p>
                      <a:pPr indent="0" lvl="0" marL="0" marR="0" rtl="0" algn="l">
                        <a:spcBef>
                          <a:spcPts val="0"/>
                        </a:spcBef>
                        <a:spcAft>
                          <a:spcPts val="0"/>
                        </a:spcAft>
                        <a:buNone/>
                      </a:pPr>
                      <a:r>
                        <a:t/>
                      </a:r>
                      <a:endParaRPr sz="135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131" name="Google Shape;131;p14"/>
          <p:cNvSpPr/>
          <p:nvPr/>
        </p:nvSpPr>
        <p:spPr>
          <a:xfrm>
            <a:off x="747607" y="5362425"/>
            <a:ext cx="871315" cy="336767"/>
          </a:xfrm>
          <a:prstGeom prst="ellipse">
            <a:avLst/>
          </a:prstGeom>
          <a:no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2" name="Google Shape;132;p14"/>
          <p:cNvSpPr/>
          <p:nvPr/>
        </p:nvSpPr>
        <p:spPr>
          <a:xfrm>
            <a:off x="1948519" y="6269062"/>
            <a:ext cx="871315" cy="336767"/>
          </a:xfrm>
          <a:prstGeom prst="ellipse">
            <a:avLst/>
          </a:prstGeom>
          <a:no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3" name="Google Shape;133;p14"/>
          <p:cNvSpPr/>
          <p:nvPr/>
        </p:nvSpPr>
        <p:spPr>
          <a:xfrm>
            <a:off x="2384176" y="7103091"/>
            <a:ext cx="871315" cy="336767"/>
          </a:xfrm>
          <a:prstGeom prst="ellipse">
            <a:avLst/>
          </a:prstGeom>
          <a:no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4" name="Google Shape;134;p14"/>
          <p:cNvSpPr txBox="1"/>
          <p:nvPr/>
        </p:nvSpPr>
        <p:spPr>
          <a:xfrm>
            <a:off x="198122" y="8829460"/>
            <a:ext cx="6461755"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FF0000"/>
                </a:solidFill>
                <a:latin typeface="Calibri"/>
                <a:ea typeface="Calibri"/>
                <a:cs typeface="Calibri"/>
                <a:sym typeface="Calibri"/>
              </a:rPr>
              <a:t>They are both correct. The 4 in 46,000 represents 40,000 whereas the 4 is 400,010 is 400,000.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5"/>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140" name="Google Shape;140;p15"/>
          <p:cNvGraphicFramePr/>
          <p:nvPr/>
        </p:nvGraphicFramePr>
        <p:xfrm>
          <a:off x="142761" y="164544"/>
          <a:ext cx="3000000" cy="3000000"/>
        </p:xfrm>
        <a:graphic>
          <a:graphicData uri="http://schemas.openxmlformats.org/drawingml/2006/table">
            <a:tbl>
              <a:tblPr bandRow="1" firstRow="1">
                <a:noFill/>
                <a:tableStyleId>{61410E0A-0287-48C3-8D68-3144BCCFB089}</a:tableStyleId>
              </a:tblPr>
              <a:tblGrid>
                <a:gridCol w="1503150"/>
                <a:gridCol w="1689775"/>
                <a:gridCol w="1689775"/>
                <a:gridCol w="1689775"/>
              </a:tblGrid>
              <a:tr h="152400">
                <a:tc>
                  <a:txBody>
                    <a:bodyPr/>
                    <a:lstStyle/>
                    <a:p>
                      <a:pPr indent="0" lvl="0" marL="0" marR="0" rtl="0" algn="l">
                        <a:spcBef>
                          <a:spcPts val="0"/>
                        </a:spcBef>
                        <a:spcAft>
                          <a:spcPts val="0"/>
                        </a:spcAft>
                        <a:buNone/>
                      </a:pPr>
                      <a:r>
                        <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FF0000"/>
                        </a:buClr>
                        <a:buSzPts val="1200"/>
                        <a:buFont typeface="Calibri"/>
                        <a:buNone/>
                      </a:pPr>
                      <a:r>
                        <a:rPr b="1" i="1" lang="en-GB" sz="1200">
                          <a:solidFill>
                            <a:srgbClr val="FF0000"/>
                          </a:solidFill>
                        </a:rPr>
                        <a:t>Example 7- I do…</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accent2"/>
                        </a:buClr>
                        <a:buSzPts val="1200"/>
                        <a:buFont typeface="Calibri"/>
                        <a:buNone/>
                      </a:pPr>
                      <a:r>
                        <a:rPr b="1" i="1" lang="en-GB" sz="1200">
                          <a:solidFill>
                            <a:schemeClr val="accent2"/>
                          </a:solidFill>
                        </a:rPr>
                        <a:t>Example 8– We do…</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B050"/>
                        </a:buClr>
                        <a:buSzPts val="1200"/>
                        <a:buFont typeface="Calibri"/>
                        <a:buNone/>
                      </a:pPr>
                      <a:r>
                        <a:rPr b="1" i="1" lang="en-GB" sz="1200">
                          <a:solidFill>
                            <a:srgbClr val="00B050"/>
                          </a:solidFill>
                        </a:rPr>
                        <a:t>Example 9 – You do…</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396325">
                <a:tc>
                  <a:txBody>
                    <a:bodyPr/>
                    <a:lstStyle/>
                    <a:p>
                      <a:pPr indent="0" lvl="0" marL="0" marR="0" rtl="0" algn="l">
                        <a:spcBef>
                          <a:spcPts val="0"/>
                        </a:spcBef>
                        <a:spcAft>
                          <a:spcPts val="0"/>
                        </a:spcAft>
                        <a:buNone/>
                      </a:pPr>
                      <a:r>
                        <a:rPr b="1" lang="en-GB" sz="1200">
                          <a:solidFill>
                            <a:schemeClr val="dk1"/>
                          </a:solidFill>
                        </a:rPr>
                        <a:t>Steps</a:t>
                      </a:r>
                      <a:endParaRPr b="1" sz="12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Place the correct symbol between the numbers (&lt; or &gt;)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Place the correct symbol between the numbers (&lt; or &gt;)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Place the correct symbol between the numbers (&lt; or &gt;)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165700">
                <a:tc>
                  <a:txBody>
                    <a:bodyPr/>
                    <a:lstStyle/>
                    <a:p>
                      <a:pPr indent="0" lvl="0" marL="0" marR="0" rtl="0" algn="l">
                        <a:spcBef>
                          <a:spcPts val="0"/>
                        </a:spcBef>
                        <a:spcAft>
                          <a:spcPts val="0"/>
                        </a:spcAft>
                        <a:buClr>
                          <a:schemeClr val="dk1"/>
                        </a:buClr>
                        <a:buSzPts val="1200"/>
                        <a:buFont typeface="Calibri"/>
                        <a:buNone/>
                      </a:pPr>
                      <a:r>
                        <a:rPr lang="en-GB" sz="1200">
                          <a:solidFill>
                            <a:schemeClr val="dk1"/>
                          </a:solidFill>
                        </a:rPr>
                        <a:t>1) The smallest side of the symbol should be next to the smallest number. </a:t>
                      </a:r>
                      <a:endParaRPr/>
                    </a:p>
                    <a:p>
                      <a:pPr indent="0" lvl="0" marL="0" marR="0" rtl="0" algn="l">
                        <a:spcBef>
                          <a:spcPts val="0"/>
                        </a:spcBef>
                        <a:spcAft>
                          <a:spcPts val="0"/>
                        </a:spcAft>
                        <a:buClr>
                          <a:schemeClr val="dk1"/>
                        </a:buClr>
                        <a:buSzPts val="1200"/>
                        <a:buFont typeface="Calibri"/>
                        <a:buNone/>
                      </a:pPr>
                      <a:br>
                        <a:rPr lang="en-GB" sz="1200">
                          <a:solidFill>
                            <a:schemeClr val="dk1"/>
                          </a:solidFill>
                        </a:rPr>
                      </a:br>
                      <a:r>
                        <a:rPr lang="en-GB" sz="1200">
                          <a:solidFill>
                            <a:schemeClr val="dk1"/>
                          </a:solidFill>
                        </a:rPr>
                        <a:t>2) The largest side of the symbol should be next to the smallest number.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600">
                        <a:solidFill>
                          <a:schemeClr val="dk1"/>
                        </a:solidFill>
                      </a:endParaRPr>
                    </a:p>
                    <a:p>
                      <a:pPr indent="0" lvl="0" marL="0" marR="0" rtl="0" algn="l">
                        <a:spcBef>
                          <a:spcPts val="0"/>
                        </a:spcBef>
                        <a:spcAft>
                          <a:spcPts val="0"/>
                        </a:spcAft>
                        <a:buNone/>
                      </a:pPr>
                      <a:r>
                        <a:t/>
                      </a:r>
                      <a:endParaRPr sz="1600">
                        <a:solidFill>
                          <a:schemeClr val="dk1"/>
                        </a:solidFill>
                      </a:endParaRPr>
                    </a:p>
                    <a:p>
                      <a:pPr indent="0" lvl="0" marL="0" marR="0" rtl="0" algn="ctr">
                        <a:spcBef>
                          <a:spcPts val="0"/>
                        </a:spcBef>
                        <a:spcAft>
                          <a:spcPts val="0"/>
                        </a:spcAft>
                        <a:buNone/>
                      </a:pPr>
                      <a:r>
                        <a:rPr lang="en-GB" sz="1600">
                          <a:solidFill>
                            <a:schemeClr val="dk1"/>
                          </a:solidFill>
                        </a:rPr>
                        <a:t>740                 470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600">
                        <a:solidFill>
                          <a:schemeClr val="dk1"/>
                        </a:solidFill>
                      </a:endParaRPr>
                    </a:p>
                    <a:p>
                      <a:pPr indent="0" lvl="0" marL="0" marR="0" rtl="0" algn="l">
                        <a:spcBef>
                          <a:spcPts val="0"/>
                        </a:spcBef>
                        <a:spcAft>
                          <a:spcPts val="0"/>
                        </a:spcAft>
                        <a:buNone/>
                      </a:pPr>
                      <a:r>
                        <a:t/>
                      </a:r>
                      <a:endParaRPr sz="1600">
                        <a:solidFill>
                          <a:schemeClr val="dk1"/>
                        </a:solidFill>
                      </a:endParaRPr>
                    </a:p>
                    <a:p>
                      <a:pPr indent="0" lvl="0" marL="0" marR="0" rtl="0" algn="ctr">
                        <a:spcBef>
                          <a:spcPts val="0"/>
                        </a:spcBef>
                        <a:spcAft>
                          <a:spcPts val="0"/>
                        </a:spcAft>
                        <a:buNone/>
                      </a:pPr>
                      <a:r>
                        <a:rPr lang="en-GB" sz="1600">
                          <a:solidFill>
                            <a:schemeClr val="dk1"/>
                          </a:solidFill>
                        </a:rPr>
                        <a:t>3744              3470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chemeClr val="dk1"/>
                        </a:buClr>
                        <a:buSzPts val="1600"/>
                        <a:buFont typeface="Calibri"/>
                        <a:buNone/>
                      </a:pPr>
                      <a:r>
                        <a:t/>
                      </a:r>
                      <a:endParaRPr b="0" i="0" sz="16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600"/>
                        <a:buFont typeface="Calibri"/>
                        <a:buNone/>
                      </a:pPr>
                      <a:r>
                        <a:rPr b="0" i="0" lang="en-GB" sz="1600" u="none" cap="none" strike="noStrike">
                          <a:solidFill>
                            <a:srgbClr val="000000"/>
                          </a:solidFill>
                          <a:latin typeface="Calibri"/>
                          <a:ea typeface="Calibri"/>
                          <a:cs typeface="Calibri"/>
                          <a:sym typeface="Calibri"/>
                        </a:rPr>
                        <a:t>740                 744</a:t>
                      </a:r>
                      <a:endParaRPr/>
                    </a:p>
                    <a:p>
                      <a:pPr indent="0" lvl="0" marL="0" marR="0" rtl="0" algn="l">
                        <a:spcBef>
                          <a:spcPts val="0"/>
                        </a:spcBef>
                        <a:spcAft>
                          <a:spcPts val="0"/>
                        </a:spcAft>
                        <a:buNone/>
                      </a:pPr>
                      <a:r>
                        <a:t/>
                      </a:r>
                      <a:endParaRPr sz="16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141" name="Google Shape;141;p15"/>
          <p:cNvSpPr/>
          <p:nvPr/>
        </p:nvSpPr>
        <p:spPr>
          <a:xfrm>
            <a:off x="2215151" y="1439040"/>
            <a:ext cx="540000" cy="540000"/>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42" name="Google Shape;142;p15"/>
          <p:cNvSpPr/>
          <p:nvPr/>
        </p:nvSpPr>
        <p:spPr>
          <a:xfrm>
            <a:off x="3925195" y="1425678"/>
            <a:ext cx="540000" cy="540000"/>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43" name="Google Shape;143;p15"/>
          <p:cNvSpPr/>
          <p:nvPr/>
        </p:nvSpPr>
        <p:spPr>
          <a:xfrm>
            <a:off x="5577695" y="1425678"/>
            <a:ext cx="540000" cy="540000"/>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44" name="Google Shape;144;p15"/>
          <p:cNvSpPr/>
          <p:nvPr/>
        </p:nvSpPr>
        <p:spPr>
          <a:xfrm>
            <a:off x="142761" y="2976372"/>
            <a:ext cx="1137954" cy="416745"/>
          </a:xfrm>
          <a:prstGeom prst="rect">
            <a:avLst/>
          </a:prstGeom>
          <a:solidFill>
            <a:srgbClr val="0070C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Calibri"/>
                <a:ea typeface="Calibri"/>
                <a:cs typeface="Calibri"/>
                <a:sym typeface="Calibri"/>
              </a:rPr>
              <a:t>Independent Practice</a:t>
            </a:r>
            <a:endParaRPr/>
          </a:p>
        </p:txBody>
      </p:sp>
      <p:sp>
        <p:nvSpPr>
          <p:cNvPr id="145" name="Google Shape;145;p15"/>
          <p:cNvSpPr txBox="1"/>
          <p:nvPr/>
        </p:nvSpPr>
        <p:spPr>
          <a:xfrm>
            <a:off x="1295521" y="3161838"/>
            <a:ext cx="495288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7. Complete these statements using the symbols &gt; or &lt;</a:t>
            </a:r>
            <a:endParaRPr/>
          </a:p>
        </p:txBody>
      </p:sp>
      <p:sp>
        <p:nvSpPr>
          <p:cNvPr id="146" name="Google Shape;146;p15"/>
          <p:cNvSpPr txBox="1"/>
          <p:nvPr/>
        </p:nvSpPr>
        <p:spPr>
          <a:xfrm>
            <a:off x="5233149" y="9421126"/>
            <a:ext cx="1543050" cy="527403"/>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900">
                <a:solidFill>
                  <a:srgbClr val="888888"/>
                </a:solidFill>
                <a:latin typeface="Calibri"/>
                <a:ea typeface="Calibri"/>
                <a:cs typeface="Calibri"/>
                <a:sym typeface="Calibri"/>
              </a:rPr>
              <a:t>‹#›</a:t>
            </a:fld>
            <a:endParaRPr sz="900">
              <a:solidFill>
                <a:srgbClr val="888888"/>
              </a:solidFill>
              <a:latin typeface="Calibri"/>
              <a:ea typeface="Calibri"/>
              <a:cs typeface="Calibri"/>
              <a:sym typeface="Calibri"/>
            </a:endParaRPr>
          </a:p>
        </p:txBody>
      </p:sp>
      <p:graphicFrame>
        <p:nvGraphicFramePr>
          <p:cNvPr id="147" name="Google Shape;147;p15"/>
          <p:cNvGraphicFramePr/>
          <p:nvPr/>
        </p:nvGraphicFramePr>
        <p:xfrm>
          <a:off x="121374" y="3499796"/>
          <a:ext cx="3000000" cy="3000000"/>
        </p:xfrm>
        <a:graphic>
          <a:graphicData uri="http://schemas.openxmlformats.org/drawingml/2006/table">
            <a:tbl>
              <a:tblPr bandRow="1" firstRow="1">
                <a:noFill/>
                <a:tableStyleId>{61410E0A-0287-48C3-8D68-3144BCCFB089}</a:tableStyleId>
              </a:tblPr>
              <a:tblGrid>
                <a:gridCol w="3296925"/>
                <a:gridCol w="3296925"/>
              </a:tblGrid>
              <a:tr h="294225">
                <a:tc>
                  <a:txBody>
                    <a:bodyPr/>
                    <a:lstStyle/>
                    <a:p>
                      <a:pPr indent="0" lvl="0" marL="0" marR="0" rtl="0" algn="l">
                        <a:spcBef>
                          <a:spcPts val="0"/>
                        </a:spcBef>
                        <a:spcAft>
                          <a:spcPts val="0"/>
                        </a:spcAft>
                        <a:buNone/>
                      </a:pPr>
                      <a:r>
                        <a:rPr b="0" lang="en-GB" sz="1200">
                          <a:solidFill>
                            <a:schemeClr val="dk1"/>
                          </a:solidFill>
                        </a:rPr>
                        <a:t>a)</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b)</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9505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4225">
                <a:tc>
                  <a:txBody>
                    <a:bodyPr/>
                    <a:lstStyle/>
                    <a:p>
                      <a:pPr indent="0" lvl="0" marL="0" marR="0" rtl="0" algn="l">
                        <a:spcBef>
                          <a:spcPts val="0"/>
                        </a:spcBef>
                        <a:spcAft>
                          <a:spcPts val="0"/>
                        </a:spcAft>
                        <a:buNone/>
                      </a:pPr>
                      <a:r>
                        <a:rPr b="0" lang="en-GB" sz="1200">
                          <a:solidFill>
                            <a:schemeClr val="dk1"/>
                          </a:solidFill>
                        </a:rPr>
                        <a:t>c)</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9505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4225">
                <a:tc>
                  <a:txBody>
                    <a:bodyPr/>
                    <a:lstStyle/>
                    <a:p>
                      <a:pPr indent="0" lvl="0" marL="0" marR="0" rtl="0" algn="l">
                        <a:spcBef>
                          <a:spcPts val="0"/>
                        </a:spcBef>
                        <a:spcAft>
                          <a:spcPts val="0"/>
                        </a:spcAft>
                        <a:buNone/>
                      </a:pPr>
                      <a:r>
                        <a:rPr b="0" lang="en-GB" sz="1200">
                          <a:solidFill>
                            <a:schemeClr val="dk1"/>
                          </a:solidFill>
                        </a:rPr>
                        <a:t>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f)</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9505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4225">
                <a:tc>
                  <a:txBody>
                    <a:bodyPr/>
                    <a:lstStyle/>
                    <a:p>
                      <a:pPr indent="0" lvl="0" marL="0" marR="0" rtl="0" algn="l">
                        <a:spcBef>
                          <a:spcPts val="0"/>
                        </a:spcBef>
                        <a:spcAft>
                          <a:spcPts val="0"/>
                        </a:spcAft>
                        <a:buNone/>
                      </a:pPr>
                      <a:r>
                        <a:rPr b="0" lang="en-GB" sz="1200">
                          <a:solidFill>
                            <a:schemeClr val="dk1"/>
                          </a:solidFill>
                        </a:rPr>
                        <a:t>g)</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h)</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784625">
                <a:tc>
                  <a:txBody>
                    <a:bodyPr/>
                    <a:lstStyle/>
                    <a:p>
                      <a:pPr indent="0" lvl="0" marL="0" marR="0" rtl="0" algn="l">
                        <a:spcBef>
                          <a:spcPts val="0"/>
                        </a:spcBef>
                        <a:spcAft>
                          <a:spcPts val="0"/>
                        </a:spcAft>
                        <a:buNone/>
                      </a:pPr>
                      <a:r>
                        <a:rPr b="0" i="0" lang="en-GB" sz="1400">
                          <a:solidFill>
                            <a:schemeClr val="dk1"/>
                          </a:solidFill>
                          <a:latin typeface="Calibri"/>
                          <a:ea typeface="Calibri"/>
                          <a:cs typeface="Calibri"/>
                          <a:sym typeface="Calibri"/>
                        </a:rPr>
                        <a:t>Two thousand, </a:t>
                      </a:r>
                      <a:br>
                        <a:rPr b="0" i="0" lang="en-GB" sz="1400">
                          <a:solidFill>
                            <a:schemeClr val="dk1"/>
                          </a:solidFill>
                          <a:latin typeface="Calibri"/>
                          <a:ea typeface="Calibri"/>
                          <a:cs typeface="Calibri"/>
                          <a:sym typeface="Calibri"/>
                        </a:rPr>
                      </a:br>
                      <a:r>
                        <a:rPr b="0" i="0" lang="en-GB" sz="1400">
                          <a:solidFill>
                            <a:schemeClr val="dk1"/>
                          </a:solidFill>
                          <a:latin typeface="Calibri"/>
                          <a:ea typeface="Calibri"/>
                          <a:cs typeface="Calibri"/>
                          <a:sym typeface="Calibri"/>
                        </a:rPr>
                        <a:t>three hundred </a:t>
                      </a:r>
                      <a:br>
                        <a:rPr b="0" i="0" lang="en-GB" sz="1400">
                          <a:solidFill>
                            <a:schemeClr val="dk1"/>
                          </a:solidFill>
                          <a:latin typeface="Calibri"/>
                          <a:ea typeface="Calibri"/>
                          <a:cs typeface="Calibri"/>
                          <a:sym typeface="Calibri"/>
                        </a:rPr>
                      </a:br>
                      <a:r>
                        <a:rPr b="0" i="0" lang="en-GB" sz="1400">
                          <a:solidFill>
                            <a:schemeClr val="dk1"/>
                          </a:solidFill>
                          <a:latin typeface="Calibri"/>
                          <a:ea typeface="Calibri"/>
                          <a:cs typeface="Calibri"/>
                          <a:sym typeface="Calibri"/>
                        </a:rPr>
                        <a:t>and fifty</a:t>
                      </a:r>
                      <a:endParaRPr b="0" sz="12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400" u="none" cap="none" strike="noStrike">
                          <a:solidFill>
                            <a:srgbClr val="000000"/>
                          </a:solidFill>
                        </a:rPr>
                        <a:t>Fourteen thousand,</a:t>
                      </a:r>
                      <a:br>
                        <a:rPr b="0" lang="en-GB" sz="1400" u="none" cap="none" strike="noStrike">
                          <a:solidFill>
                            <a:srgbClr val="000000"/>
                          </a:solidFill>
                        </a:rPr>
                      </a:br>
                      <a:r>
                        <a:rPr b="0" lang="en-GB" sz="1400" u="none" cap="none" strike="noStrike">
                          <a:solidFill>
                            <a:srgbClr val="000000"/>
                          </a:solidFill>
                        </a:rPr>
                        <a:t>five hundred and </a:t>
                      </a:r>
                      <a:endParaRPr/>
                    </a:p>
                    <a:p>
                      <a:pPr indent="0" lvl="0" marL="0" marR="0" rtl="0" algn="l">
                        <a:spcBef>
                          <a:spcPts val="0"/>
                        </a:spcBef>
                        <a:spcAft>
                          <a:spcPts val="0"/>
                        </a:spcAft>
                        <a:buNone/>
                      </a:pPr>
                      <a:r>
                        <a:rPr b="0" lang="en-GB" sz="1400" u="none" cap="none" strike="noStrike">
                          <a:solidFill>
                            <a:srgbClr val="000000"/>
                          </a:solidFill>
                        </a:rPr>
                        <a:t>eight</a:t>
                      </a:r>
                      <a:endParaRPr b="0" sz="12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94225">
                <a:tc>
                  <a:txBody>
                    <a:bodyPr/>
                    <a:lstStyle/>
                    <a:p>
                      <a:pPr indent="0" lvl="0" marL="0" marR="0" rtl="0" algn="l">
                        <a:spcBef>
                          <a:spcPts val="0"/>
                        </a:spcBef>
                        <a:spcAft>
                          <a:spcPts val="0"/>
                        </a:spcAft>
                        <a:buNone/>
                      </a:pPr>
                      <a:r>
                        <a:rPr b="0" lang="en-GB" sz="1200">
                          <a:solidFill>
                            <a:schemeClr val="dk1"/>
                          </a:solidFill>
                        </a:rPr>
                        <a:t>i)</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j)</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9505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94225">
                <a:tc>
                  <a:txBody>
                    <a:bodyPr/>
                    <a:lstStyle/>
                    <a:p>
                      <a:pPr indent="0" lvl="0" marL="0" marR="0" rtl="0" algn="l">
                        <a:spcBef>
                          <a:spcPts val="0"/>
                        </a:spcBef>
                        <a:spcAft>
                          <a:spcPts val="0"/>
                        </a:spcAft>
                        <a:buNone/>
                      </a:pPr>
                      <a:r>
                        <a:rPr b="0" lang="en-GB" sz="1200">
                          <a:solidFill>
                            <a:schemeClr val="dk1"/>
                          </a:solidFill>
                        </a:rPr>
                        <a:t>k)</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l)</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69505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48" name="Google Shape;148;p15"/>
          <p:cNvSpPr/>
          <p:nvPr/>
        </p:nvSpPr>
        <p:spPr>
          <a:xfrm>
            <a:off x="1559135" y="3867222"/>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9" name="Google Shape;149;p15"/>
          <p:cNvSpPr/>
          <p:nvPr/>
        </p:nvSpPr>
        <p:spPr>
          <a:xfrm>
            <a:off x="4858617" y="3867221"/>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0" name="Google Shape;150;p15"/>
          <p:cNvSpPr/>
          <p:nvPr/>
        </p:nvSpPr>
        <p:spPr>
          <a:xfrm>
            <a:off x="1559135" y="4917787"/>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1" name="Google Shape;151;p15"/>
          <p:cNvSpPr/>
          <p:nvPr/>
        </p:nvSpPr>
        <p:spPr>
          <a:xfrm>
            <a:off x="4858615" y="4917786"/>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2" name="Google Shape;152;p15"/>
          <p:cNvSpPr/>
          <p:nvPr/>
        </p:nvSpPr>
        <p:spPr>
          <a:xfrm>
            <a:off x="1559135" y="5895960"/>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3" name="Google Shape;153;p15"/>
          <p:cNvSpPr/>
          <p:nvPr/>
        </p:nvSpPr>
        <p:spPr>
          <a:xfrm>
            <a:off x="4858615" y="5895959"/>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4" name="Google Shape;154;p15"/>
          <p:cNvSpPr/>
          <p:nvPr/>
        </p:nvSpPr>
        <p:spPr>
          <a:xfrm>
            <a:off x="1559135" y="6891253"/>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 name="Google Shape;155;p15"/>
          <p:cNvSpPr/>
          <p:nvPr/>
        </p:nvSpPr>
        <p:spPr>
          <a:xfrm>
            <a:off x="4995775" y="6936973"/>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 name="Google Shape;156;p15"/>
          <p:cNvSpPr/>
          <p:nvPr/>
        </p:nvSpPr>
        <p:spPr>
          <a:xfrm>
            <a:off x="1559135" y="7937134"/>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7" name="Google Shape;157;p15"/>
          <p:cNvSpPr/>
          <p:nvPr/>
        </p:nvSpPr>
        <p:spPr>
          <a:xfrm>
            <a:off x="4812895" y="7937133"/>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8" name="Google Shape;158;p15"/>
          <p:cNvSpPr/>
          <p:nvPr/>
        </p:nvSpPr>
        <p:spPr>
          <a:xfrm>
            <a:off x="1513415" y="8993994"/>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9" name="Google Shape;159;p15"/>
          <p:cNvSpPr/>
          <p:nvPr/>
        </p:nvSpPr>
        <p:spPr>
          <a:xfrm>
            <a:off x="4858615" y="8963514"/>
            <a:ext cx="423180"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0" name="Google Shape;160;p15"/>
          <p:cNvSpPr txBox="1"/>
          <p:nvPr/>
        </p:nvSpPr>
        <p:spPr>
          <a:xfrm>
            <a:off x="1638466" y="6996118"/>
            <a:ext cx="1823959" cy="307777"/>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161" name="Google Shape;161;p15"/>
          <p:cNvSpPr txBox="1"/>
          <p:nvPr/>
        </p:nvSpPr>
        <p:spPr>
          <a:xfrm>
            <a:off x="2755151" y="6999043"/>
            <a:ext cx="6454140" cy="307777"/>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162" name="Google Shape;162;p15"/>
          <p:cNvSpPr txBox="1"/>
          <p:nvPr/>
        </p:nvSpPr>
        <p:spPr>
          <a:xfrm>
            <a:off x="2357725" y="1430285"/>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&gt;</a:t>
            </a:r>
            <a:endParaRPr/>
          </a:p>
        </p:txBody>
      </p:sp>
      <p:sp>
        <p:nvSpPr>
          <p:cNvPr id="163" name="Google Shape;163;p15"/>
          <p:cNvSpPr txBox="1"/>
          <p:nvPr/>
        </p:nvSpPr>
        <p:spPr>
          <a:xfrm>
            <a:off x="4100993" y="1441728"/>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&gt;</a:t>
            </a:r>
            <a:endParaRPr/>
          </a:p>
        </p:txBody>
      </p:sp>
      <p:sp>
        <p:nvSpPr>
          <p:cNvPr id="164" name="Google Shape;164;p15"/>
          <p:cNvSpPr txBox="1"/>
          <p:nvPr/>
        </p:nvSpPr>
        <p:spPr>
          <a:xfrm rot="10800000">
            <a:off x="5577695" y="1441728"/>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&gt;</a:t>
            </a:r>
            <a:endParaRPr/>
          </a:p>
        </p:txBody>
      </p:sp>
      <p:sp>
        <p:nvSpPr>
          <p:cNvPr id="165" name="Google Shape;165;p15"/>
          <p:cNvSpPr txBox="1"/>
          <p:nvPr/>
        </p:nvSpPr>
        <p:spPr>
          <a:xfrm>
            <a:off x="1618113" y="3823087"/>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&gt;</a:t>
            </a:r>
            <a:endParaRPr/>
          </a:p>
        </p:txBody>
      </p:sp>
      <p:sp>
        <p:nvSpPr>
          <p:cNvPr id="166" name="Google Shape;166;p15"/>
          <p:cNvSpPr txBox="1"/>
          <p:nvPr/>
        </p:nvSpPr>
        <p:spPr>
          <a:xfrm rot="10800000">
            <a:off x="4843463" y="3867221"/>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&gt;</a:t>
            </a:r>
            <a:endParaRPr/>
          </a:p>
        </p:txBody>
      </p:sp>
      <p:sp>
        <p:nvSpPr>
          <p:cNvPr id="167" name="Google Shape;167;p15"/>
          <p:cNvSpPr txBox="1"/>
          <p:nvPr/>
        </p:nvSpPr>
        <p:spPr>
          <a:xfrm>
            <a:off x="1618113" y="4863169"/>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&gt;</a:t>
            </a:r>
            <a:endParaRPr/>
          </a:p>
        </p:txBody>
      </p:sp>
      <p:sp>
        <p:nvSpPr>
          <p:cNvPr id="168" name="Google Shape;168;p15"/>
          <p:cNvSpPr txBox="1"/>
          <p:nvPr/>
        </p:nvSpPr>
        <p:spPr>
          <a:xfrm rot="10800000">
            <a:off x="4842384" y="4904911"/>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&gt;</a:t>
            </a:r>
            <a:endParaRPr/>
          </a:p>
        </p:txBody>
      </p:sp>
      <p:sp>
        <p:nvSpPr>
          <p:cNvPr id="169" name="Google Shape;169;p15"/>
          <p:cNvSpPr txBox="1"/>
          <p:nvPr/>
        </p:nvSpPr>
        <p:spPr>
          <a:xfrm rot="10800000">
            <a:off x="1513415" y="5869542"/>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&gt;</a:t>
            </a:r>
            <a:endParaRPr/>
          </a:p>
        </p:txBody>
      </p:sp>
      <p:sp>
        <p:nvSpPr>
          <p:cNvPr id="170" name="Google Shape;170;p15"/>
          <p:cNvSpPr txBox="1"/>
          <p:nvPr/>
        </p:nvSpPr>
        <p:spPr>
          <a:xfrm>
            <a:off x="4899896" y="5838272"/>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&gt;</a:t>
            </a:r>
            <a:endParaRPr/>
          </a:p>
        </p:txBody>
      </p:sp>
      <p:sp>
        <p:nvSpPr>
          <p:cNvPr id="171" name="Google Shape;171;p15"/>
          <p:cNvSpPr txBox="1"/>
          <p:nvPr/>
        </p:nvSpPr>
        <p:spPr>
          <a:xfrm rot="10800000">
            <a:off x="1618113" y="6842911"/>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&gt;</a:t>
            </a:r>
            <a:endParaRPr/>
          </a:p>
        </p:txBody>
      </p:sp>
      <p:sp>
        <p:nvSpPr>
          <p:cNvPr id="172" name="Google Shape;172;p15"/>
          <p:cNvSpPr txBox="1"/>
          <p:nvPr/>
        </p:nvSpPr>
        <p:spPr>
          <a:xfrm rot="10800000">
            <a:off x="5024484" y="6923894"/>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&gt;</a:t>
            </a:r>
            <a:endParaRPr/>
          </a:p>
        </p:txBody>
      </p:sp>
      <p:sp>
        <p:nvSpPr>
          <p:cNvPr id="173" name="Google Shape;173;p15"/>
          <p:cNvSpPr txBox="1"/>
          <p:nvPr/>
        </p:nvSpPr>
        <p:spPr>
          <a:xfrm>
            <a:off x="1648593" y="7877305"/>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&gt;</a:t>
            </a:r>
            <a:endParaRPr/>
          </a:p>
        </p:txBody>
      </p:sp>
      <p:sp>
        <p:nvSpPr>
          <p:cNvPr id="174" name="Google Shape;174;p15"/>
          <p:cNvSpPr txBox="1"/>
          <p:nvPr/>
        </p:nvSpPr>
        <p:spPr>
          <a:xfrm rot="10800000">
            <a:off x="4842383" y="7951165"/>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&gt;</a:t>
            </a:r>
            <a:endParaRPr/>
          </a:p>
        </p:txBody>
      </p:sp>
      <p:sp>
        <p:nvSpPr>
          <p:cNvPr id="175" name="Google Shape;175;p15"/>
          <p:cNvSpPr txBox="1"/>
          <p:nvPr/>
        </p:nvSpPr>
        <p:spPr>
          <a:xfrm>
            <a:off x="1559135" y="8939315"/>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&gt;</a:t>
            </a:r>
            <a:endParaRPr/>
          </a:p>
        </p:txBody>
      </p:sp>
      <p:sp>
        <p:nvSpPr>
          <p:cNvPr id="176" name="Google Shape;176;p15"/>
          <p:cNvSpPr txBox="1"/>
          <p:nvPr/>
        </p:nvSpPr>
        <p:spPr>
          <a:xfrm rot="10800000">
            <a:off x="4869021" y="8960587"/>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&gt;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graphicFrame>
        <p:nvGraphicFramePr>
          <p:cNvPr id="182" name="Google Shape;182;p16"/>
          <p:cNvGraphicFramePr/>
          <p:nvPr/>
        </p:nvGraphicFramePr>
        <p:xfrm>
          <a:off x="244304" y="444850"/>
          <a:ext cx="3000000" cy="3000000"/>
        </p:xfrm>
        <a:graphic>
          <a:graphicData uri="http://schemas.openxmlformats.org/drawingml/2006/table">
            <a:tbl>
              <a:tblPr bandRow="1" firstRow="1">
                <a:noFill/>
                <a:tableStyleId>{61410E0A-0287-48C3-8D68-3144BCCFB089}</a:tableStyleId>
              </a:tblPr>
              <a:tblGrid>
                <a:gridCol w="4074725"/>
                <a:gridCol w="2269975"/>
              </a:tblGrid>
              <a:tr h="432000">
                <a:tc>
                  <a:txBody>
                    <a:bodyPr/>
                    <a:lstStyle/>
                    <a:p>
                      <a:pPr indent="0" lvl="0" marL="0" marR="0" rtl="0" algn="ctr">
                        <a:spcBef>
                          <a:spcPts val="0"/>
                        </a:spcBef>
                        <a:spcAft>
                          <a:spcPts val="0"/>
                        </a:spcAft>
                        <a:buNone/>
                      </a:pPr>
                      <a:r>
                        <a:rPr b="0" lang="en-GB" sz="1600">
                          <a:solidFill>
                            <a:schemeClr val="dk1"/>
                          </a:solidFill>
                        </a:rPr>
                        <a:t>______ &lt; 100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lang="en-GB" sz="1600">
                          <a:solidFill>
                            <a:srgbClr val="FF0000"/>
                          </a:solidFill>
                        </a:rPr>
                        <a:t>99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600"/>
                        <a:buFont typeface="Calibri"/>
                        <a:buNone/>
                      </a:pPr>
                      <a:r>
                        <a:rPr b="0" lang="en-GB" sz="1600">
                          <a:solidFill>
                            <a:schemeClr val="dk1"/>
                          </a:solidFill>
                        </a:rPr>
                        <a:t>______ &lt; 500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lang="en-GB" sz="1600">
                          <a:solidFill>
                            <a:srgbClr val="FF0000"/>
                          </a:solidFill>
                        </a:rPr>
                        <a:t>499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600"/>
                        <a:buFont typeface="Calibri"/>
                        <a:buNone/>
                      </a:pPr>
                      <a:r>
                        <a:rPr b="0" lang="en-GB" sz="1600">
                          <a:solidFill>
                            <a:schemeClr val="dk1"/>
                          </a:solidFill>
                        </a:rPr>
                        <a:t>______ &lt; 1000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lang="en-GB" sz="1600">
                          <a:solidFill>
                            <a:srgbClr val="FF0000"/>
                          </a:solidFill>
                        </a:rPr>
                        <a:t>999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600"/>
                        <a:buFont typeface="Calibri"/>
                        <a:buNone/>
                      </a:pPr>
                      <a:r>
                        <a:rPr b="0" lang="en-GB" sz="1600">
                          <a:solidFill>
                            <a:schemeClr val="dk1"/>
                          </a:solidFill>
                        </a:rPr>
                        <a:t>______ &lt; 1500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lang="en-GB" sz="1600">
                          <a:solidFill>
                            <a:srgbClr val="FF0000"/>
                          </a:solidFill>
                        </a:rPr>
                        <a:t>1499</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83" name="Google Shape;183;p16"/>
          <p:cNvSpPr txBox="1"/>
          <p:nvPr/>
        </p:nvSpPr>
        <p:spPr>
          <a:xfrm>
            <a:off x="152362" y="2277351"/>
            <a:ext cx="6177706"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9. What is the </a:t>
            </a:r>
            <a:r>
              <a:rPr b="1" lang="en-GB" sz="1200">
                <a:solidFill>
                  <a:schemeClr val="dk1"/>
                </a:solidFill>
                <a:latin typeface="Calibri"/>
                <a:ea typeface="Calibri"/>
                <a:cs typeface="Calibri"/>
                <a:sym typeface="Calibri"/>
              </a:rPr>
              <a:t>smallest</a:t>
            </a:r>
            <a:r>
              <a:rPr lang="en-GB" sz="1200">
                <a:solidFill>
                  <a:schemeClr val="dk1"/>
                </a:solidFill>
                <a:latin typeface="Calibri"/>
                <a:ea typeface="Calibri"/>
                <a:cs typeface="Calibri"/>
                <a:sym typeface="Calibri"/>
              </a:rPr>
              <a:t> integer that makes each statement true?</a:t>
            </a:r>
            <a:endParaRPr/>
          </a:p>
        </p:txBody>
      </p:sp>
      <p:graphicFrame>
        <p:nvGraphicFramePr>
          <p:cNvPr id="184" name="Google Shape;184;p16"/>
          <p:cNvGraphicFramePr/>
          <p:nvPr/>
        </p:nvGraphicFramePr>
        <p:xfrm>
          <a:off x="237604" y="2611941"/>
          <a:ext cx="3000000" cy="3000000"/>
        </p:xfrm>
        <a:graphic>
          <a:graphicData uri="http://schemas.openxmlformats.org/drawingml/2006/table">
            <a:tbl>
              <a:tblPr bandRow="1" firstRow="1">
                <a:noFill/>
                <a:tableStyleId>{61410E0A-0287-48C3-8D68-3144BCCFB089}</a:tableStyleId>
              </a:tblPr>
              <a:tblGrid>
                <a:gridCol w="4078400"/>
                <a:gridCol w="2266275"/>
              </a:tblGrid>
              <a:tr h="432000">
                <a:tc>
                  <a:txBody>
                    <a:bodyPr/>
                    <a:lstStyle/>
                    <a:p>
                      <a:pPr indent="0" lvl="0" marL="0" marR="0" rtl="0" algn="ctr">
                        <a:spcBef>
                          <a:spcPts val="0"/>
                        </a:spcBef>
                        <a:spcAft>
                          <a:spcPts val="0"/>
                        </a:spcAft>
                        <a:buNone/>
                      </a:pPr>
                      <a:r>
                        <a:rPr b="0" lang="en-GB" sz="1600">
                          <a:solidFill>
                            <a:schemeClr val="dk1"/>
                          </a:solidFill>
                        </a:rPr>
                        <a:t>489 &lt; _____</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lang="en-GB" sz="1600">
                          <a:solidFill>
                            <a:srgbClr val="FF0000"/>
                          </a:solidFill>
                        </a:rPr>
                        <a:t>490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600"/>
                        <a:buFont typeface="Calibri"/>
                        <a:buNone/>
                      </a:pPr>
                      <a:r>
                        <a:rPr b="0" lang="en-GB" sz="1600">
                          <a:solidFill>
                            <a:schemeClr val="dk1"/>
                          </a:solidFill>
                        </a:rPr>
                        <a:t>3800 &lt; _____</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lang="en-GB" sz="1600">
                          <a:solidFill>
                            <a:srgbClr val="FF0000"/>
                          </a:solidFill>
                        </a:rPr>
                        <a:t>3801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spcBef>
                          <a:spcPts val="0"/>
                        </a:spcBef>
                        <a:spcAft>
                          <a:spcPts val="0"/>
                        </a:spcAft>
                        <a:buNone/>
                      </a:pPr>
                      <a:r>
                        <a:rPr b="0" lang="en-GB" sz="1600">
                          <a:solidFill>
                            <a:schemeClr val="dk1"/>
                          </a:solidFill>
                        </a:rPr>
                        <a:t>10 000 &lt; _____</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lang="en-GB" sz="1600">
                          <a:solidFill>
                            <a:srgbClr val="FF0000"/>
                          </a:solidFill>
                        </a:rPr>
                        <a:t>10 001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600"/>
                        <a:buFont typeface="Calibri"/>
                        <a:buNone/>
                      </a:pPr>
                      <a:r>
                        <a:rPr b="0" lang="en-GB" sz="1600">
                          <a:solidFill>
                            <a:schemeClr val="dk1"/>
                          </a:solidFill>
                        </a:rPr>
                        <a:t>Six hundred and ninety nine &lt; _____</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b="0" lang="en-GB" sz="1600">
                          <a:solidFill>
                            <a:srgbClr val="FF0000"/>
                          </a:solidFill>
                        </a:rPr>
                        <a:t>700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85" name="Google Shape;185;p16"/>
          <p:cNvSpPr txBox="1"/>
          <p:nvPr>
            <p:ph idx="12" type="sldNum"/>
          </p:nvPr>
        </p:nvSpPr>
        <p:spPr>
          <a:xfrm>
            <a:off x="4843463" y="9181397"/>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186" name="Google Shape;186;p16"/>
          <p:cNvSpPr txBox="1"/>
          <p:nvPr/>
        </p:nvSpPr>
        <p:spPr>
          <a:xfrm>
            <a:off x="178112" y="140050"/>
            <a:ext cx="6177706"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8. What is the </a:t>
            </a:r>
            <a:r>
              <a:rPr b="1" lang="en-GB" sz="1200">
                <a:solidFill>
                  <a:schemeClr val="dk1"/>
                </a:solidFill>
                <a:latin typeface="Calibri"/>
                <a:ea typeface="Calibri"/>
                <a:cs typeface="Calibri"/>
                <a:sym typeface="Calibri"/>
              </a:rPr>
              <a:t>largest</a:t>
            </a:r>
            <a:r>
              <a:rPr lang="en-GB" sz="1200">
                <a:solidFill>
                  <a:schemeClr val="dk1"/>
                </a:solidFill>
                <a:latin typeface="Calibri"/>
                <a:ea typeface="Calibri"/>
                <a:cs typeface="Calibri"/>
                <a:sym typeface="Calibri"/>
              </a:rPr>
              <a:t> integer that makes each statement true?</a:t>
            </a:r>
            <a:endParaRPr/>
          </a:p>
        </p:txBody>
      </p:sp>
      <p:graphicFrame>
        <p:nvGraphicFramePr>
          <p:cNvPr id="187" name="Google Shape;187;p16"/>
          <p:cNvGraphicFramePr/>
          <p:nvPr/>
        </p:nvGraphicFramePr>
        <p:xfrm>
          <a:off x="244304" y="5293200"/>
          <a:ext cx="3000000" cy="3000000"/>
        </p:xfrm>
        <a:graphic>
          <a:graphicData uri="http://schemas.openxmlformats.org/drawingml/2006/table">
            <a:tbl>
              <a:tblPr bandRow="1" firstRow="1">
                <a:noFill/>
                <a:tableStyleId>{61410E0A-0287-48C3-8D68-3144BCCFB089}</a:tableStyleId>
              </a:tblPr>
              <a:tblGrid>
                <a:gridCol w="917750"/>
                <a:gridCol w="1724250"/>
                <a:gridCol w="1851350"/>
                <a:gridCol w="1851350"/>
              </a:tblGrid>
              <a:tr h="396325">
                <a:tc>
                  <a:txBody>
                    <a:bodyPr/>
                    <a:lstStyle/>
                    <a:p>
                      <a:pPr indent="0" lvl="0" marL="0" marR="0" rtl="0" algn="l">
                        <a:spcBef>
                          <a:spcPts val="0"/>
                        </a:spcBef>
                        <a:spcAft>
                          <a:spcPts val="0"/>
                        </a:spcAft>
                        <a:buNone/>
                      </a:pPr>
                      <a:r>
                        <a:rPr b="1" lang="en-GB" sz="1100">
                          <a:solidFill>
                            <a:schemeClr val="dk1"/>
                          </a:solidFill>
                        </a:rPr>
                        <a:t>Steps</a:t>
                      </a:r>
                      <a:endParaRPr b="1" sz="11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List the smallest five integers that satisfy the following inequality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List the smallest five integers that satisfy the following inequality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List the smallest five integers that satisfy the following inequality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733125">
                <a:tc>
                  <a:txBody>
                    <a:bodyPr/>
                    <a:lstStyle/>
                    <a:p>
                      <a:pPr indent="0" lvl="0" marL="0" marR="0" rtl="0" algn="ctr">
                        <a:spcBef>
                          <a:spcPts val="0"/>
                        </a:spcBef>
                        <a:spcAft>
                          <a:spcPts val="0"/>
                        </a:spcAft>
                        <a:buClr>
                          <a:schemeClr val="dk1"/>
                        </a:buClr>
                        <a:buSzPts val="1200"/>
                        <a:buFont typeface="Calibri"/>
                        <a:buNone/>
                      </a:pPr>
                      <a:r>
                        <a:rPr lang="en-GB" sz="1200">
                          <a:solidFill>
                            <a:schemeClr val="dk1"/>
                          </a:solidFill>
                        </a:rPr>
                        <a:t>Look at the number and the symbol.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l">
                        <a:spcBef>
                          <a:spcPts val="0"/>
                        </a:spcBef>
                        <a:spcAft>
                          <a:spcPts val="0"/>
                        </a:spcAft>
                        <a:buNone/>
                      </a:pPr>
                      <a:r>
                        <a:t/>
                      </a:r>
                      <a:endParaRPr sz="1100">
                        <a:solidFill>
                          <a:schemeClr val="dk1"/>
                        </a:solidFill>
                      </a:endParaRPr>
                    </a:p>
                    <a:p>
                      <a:pPr indent="0" lvl="0" marL="0" marR="0" rtl="0" algn="ctr">
                        <a:lnSpc>
                          <a:spcPct val="100000"/>
                        </a:lnSpc>
                        <a:spcBef>
                          <a:spcPts val="0"/>
                        </a:spcBef>
                        <a:spcAft>
                          <a:spcPts val="0"/>
                        </a:spcAft>
                        <a:buClr>
                          <a:schemeClr val="dk1"/>
                        </a:buClr>
                        <a:buSzPts val="1100"/>
                        <a:buFont typeface="Calibri"/>
                        <a:buNone/>
                      </a:pPr>
                      <a:r>
                        <a:rPr b="0" lang="en-GB" sz="1100">
                          <a:solidFill>
                            <a:schemeClr val="dk1"/>
                          </a:solidFill>
                        </a:rPr>
                        <a:t>______ ≥ 12</a:t>
                      </a:r>
                      <a:endParaRPr/>
                    </a:p>
                    <a:p>
                      <a:pPr indent="0" lvl="0" marL="0" marR="0" rtl="0" algn="l">
                        <a:spcBef>
                          <a:spcPts val="0"/>
                        </a:spcBef>
                        <a:spcAft>
                          <a:spcPts val="0"/>
                        </a:spcAft>
                        <a:buNone/>
                      </a:pPr>
                      <a:r>
                        <a:t/>
                      </a:r>
                      <a:endParaRPr sz="1100">
                        <a:solidFill>
                          <a:schemeClr val="dk1"/>
                        </a:solidFill>
                      </a:endParaRPr>
                    </a:p>
                    <a:p>
                      <a:pPr indent="0" lvl="0" marL="0" marR="0" rtl="0" algn="ctr">
                        <a:spcBef>
                          <a:spcPts val="0"/>
                        </a:spcBef>
                        <a:spcAft>
                          <a:spcPts val="0"/>
                        </a:spcAft>
                        <a:buNone/>
                      </a:pPr>
                      <a:r>
                        <a:rPr b="1" lang="en-GB" sz="1100">
                          <a:solidFill>
                            <a:srgbClr val="FF0000"/>
                          </a:solidFill>
                        </a:rPr>
                        <a:t>12, 13, 14, 15, 16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l">
                        <a:spcBef>
                          <a:spcPts val="0"/>
                        </a:spcBef>
                        <a:spcAft>
                          <a:spcPts val="0"/>
                        </a:spcAft>
                        <a:buNone/>
                      </a:pPr>
                      <a:r>
                        <a:t/>
                      </a:r>
                      <a:endParaRPr sz="1100">
                        <a:solidFill>
                          <a:schemeClr val="dk1"/>
                        </a:solidFill>
                      </a:endParaRPr>
                    </a:p>
                    <a:p>
                      <a:pPr indent="0" lvl="0" marL="0" marR="0" rtl="0" algn="ctr">
                        <a:lnSpc>
                          <a:spcPct val="100000"/>
                        </a:lnSpc>
                        <a:spcBef>
                          <a:spcPts val="0"/>
                        </a:spcBef>
                        <a:spcAft>
                          <a:spcPts val="0"/>
                        </a:spcAft>
                        <a:buClr>
                          <a:schemeClr val="dk1"/>
                        </a:buClr>
                        <a:buSzPts val="1100"/>
                        <a:buFont typeface="Calibri"/>
                        <a:buNone/>
                      </a:pPr>
                      <a:r>
                        <a:rPr b="0" lang="en-GB" sz="1100">
                          <a:solidFill>
                            <a:schemeClr val="dk1"/>
                          </a:solidFill>
                        </a:rPr>
                        <a:t>______ ≥ 806</a:t>
                      </a:r>
                      <a:endParaRPr/>
                    </a:p>
                    <a:p>
                      <a:pPr indent="0" lvl="0" marL="0" marR="0" rtl="0" algn="l">
                        <a:spcBef>
                          <a:spcPts val="0"/>
                        </a:spcBef>
                        <a:spcAft>
                          <a:spcPts val="0"/>
                        </a:spcAft>
                        <a:buNone/>
                      </a:pPr>
                      <a:r>
                        <a:t/>
                      </a:r>
                      <a:endParaRPr sz="1100">
                        <a:solidFill>
                          <a:schemeClr val="dk1"/>
                        </a:solidFill>
                      </a:endParaRPr>
                    </a:p>
                    <a:p>
                      <a:pPr indent="0" lvl="0" marL="0" marR="0" rtl="0" algn="ctr">
                        <a:lnSpc>
                          <a:spcPct val="100000"/>
                        </a:lnSpc>
                        <a:spcBef>
                          <a:spcPts val="0"/>
                        </a:spcBef>
                        <a:spcAft>
                          <a:spcPts val="0"/>
                        </a:spcAft>
                        <a:buClr>
                          <a:srgbClr val="FF0000"/>
                        </a:buClr>
                        <a:buSzPts val="1100"/>
                        <a:buFont typeface="Calibri"/>
                        <a:buNone/>
                      </a:pPr>
                      <a:r>
                        <a:rPr b="1" i="0" lang="en-GB" sz="1100" u="none" cap="none" strike="noStrike">
                          <a:solidFill>
                            <a:srgbClr val="FF0000"/>
                          </a:solidFill>
                          <a:latin typeface="Calibri"/>
                          <a:ea typeface="Calibri"/>
                          <a:cs typeface="Calibri"/>
                          <a:sym typeface="Calibri"/>
                        </a:rPr>
                        <a:t>806, 807, 808, 809, 810</a:t>
                      </a:r>
                      <a:endParaRPr/>
                    </a:p>
                    <a:p>
                      <a:pPr indent="0" lvl="0" marL="0" marR="0" rtl="0" algn="l">
                        <a:spcBef>
                          <a:spcPts val="0"/>
                        </a:spcBef>
                        <a:spcAft>
                          <a:spcPts val="0"/>
                        </a:spcAft>
                        <a:buNone/>
                      </a:pPr>
                      <a:r>
                        <a:t/>
                      </a:r>
                      <a:endParaRPr sz="11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l">
                        <a:spcBef>
                          <a:spcPts val="0"/>
                        </a:spcBef>
                        <a:spcAft>
                          <a:spcPts val="0"/>
                        </a:spcAft>
                        <a:buNone/>
                      </a:pPr>
                      <a:r>
                        <a:t/>
                      </a:r>
                      <a:endParaRPr sz="1100">
                        <a:solidFill>
                          <a:schemeClr val="dk1"/>
                        </a:solidFill>
                      </a:endParaRPr>
                    </a:p>
                    <a:p>
                      <a:pPr indent="0" lvl="0" marL="0" marR="0" rtl="0" algn="ctr">
                        <a:lnSpc>
                          <a:spcPct val="100000"/>
                        </a:lnSpc>
                        <a:spcBef>
                          <a:spcPts val="0"/>
                        </a:spcBef>
                        <a:spcAft>
                          <a:spcPts val="0"/>
                        </a:spcAft>
                        <a:buClr>
                          <a:schemeClr val="dk1"/>
                        </a:buClr>
                        <a:buSzPts val="1100"/>
                        <a:buFont typeface="Calibri"/>
                        <a:buNone/>
                      </a:pPr>
                      <a:r>
                        <a:rPr b="0" lang="en-GB" sz="1100">
                          <a:solidFill>
                            <a:schemeClr val="dk1"/>
                          </a:solidFill>
                        </a:rPr>
                        <a:t>______ ≥ 114</a:t>
                      </a:r>
                      <a:endParaRPr/>
                    </a:p>
                    <a:p>
                      <a:pPr indent="0" lvl="0" marL="0" marR="0" rtl="0" algn="l">
                        <a:spcBef>
                          <a:spcPts val="0"/>
                        </a:spcBef>
                        <a:spcAft>
                          <a:spcPts val="0"/>
                        </a:spcAft>
                        <a:buNone/>
                      </a:pPr>
                      <a:r>
                        <a:t/>
                      </a:r>
                      <a:endParaRPr sz="1100">
                        <a:solidFill>
                          <a:schemeClr val="dk1"/>
                        </a:solidFill>
                      </a:endParaRPr>
                    </a:p>
                    <a:p>
                      <a:pPr indent="0" lvl="0" marL="0" marR="0" rtl="0" algn="ctr">
                        <a:lnSpc>
                          <a:spcPct val="100000"/>
                        </a:lnSpc>
                        <a:spcBef>
                          <a:spcPts val="0"/>
                        </a:spcBef>
                        <a:spcAft>
                          <a:spcPts val="0"/>
                        </a:spcAft>
                        <a:buClr>
                          <a:srgbClr val="FF0000"/>
                        </a:buClr>
                        <a:buSzPts val="1100"/>
                        <a:buFont typeface="Calibri"/>
                        <a:buNone/>
                      </a:pPr>
                      <a:r>
                        <a:rPr b="1" lang="en-GB" sz="1100">
                          <a:solidFill>
                            <a:srgbClr val="FF0000"/>
                          </a:solidFill>
                        </a:rPr>
                        <a:t>114, 115, 116, 117, 118</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165700">
                <a:tc>
                  <a:txBody>
                    <a:bodyPr/>
                    <a:lstStyle/>
                    <a:p>
                      <a:pPr indent="0" lvl="0" marL="0" marR="0" rtl="0" algn="ctr">
                        <a:spcBef>
                          <a:spcPts val="0"/>
                        </a:spcBef>
                        <a:spcAft>
                          <a:spcPts val="0"/>
                        </a:spcAft>
                        <a:buNone/>
                      </a:pPr>
                      <a:r>
                        <a:rPr lang="en-GB" sz="1200">
                          <a:solidFill>
                            <a:schemeClr val="dk1"/>
                          </a:solidFill>
                        </a:rPr>
                        <a:t>Use the symbol to decide whether you are listing numbers great than or equal to, or less than or equal to that number.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vMerge="1"/>
                <a:tc vMerge="1"/>
                <a:tc vMerge="1"/>
              </a:tr>
            </a:tbl>
          </a:graphicData>
        </a:graphic>
      </p:graphicFrame>
      <p:sp>
        <p:nvSpPr>
          <p:cNvPr id="188" name="Google Shape;188;p16"/>
          <p:cNvSpPr txBox="1"/>
          <p:nvPr/>
        </p:nvSpPr>
        <p:spPr>
          <a:xfrm>
            <a:off x="1311763" y="5003973"/>
            <a:ext cx="141070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FF0000"/>
                </a:solidFill>
                <a:latin typeface="Calibri"/>
                <a:ea typeface="Calibri"/>
                <a:cs typeface="Calibri"/>
                <a:sym typeface="Calibri"/>
              </a:rPr>
              <a:t>Example 10 - I do…</a:t>
            </a:r>
            <a:endParaRPr/>
          </a:p>
        </p:txBody>
      </p:sp>
      <p:sp>
        <p:nvSpPr>
          <p:cNvPr id="189" name="Google Shape;189;p16"/>
          <p:cNvSpPr txBox="1"/>
          <p:nvPr/>
        </p:nvSpPr>
        <p:spPr>
          <a:xfrm>
            <a:off x="5054657" y="4997152"/>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00B050"/>
                </a:solidFill>
                <a:latin typeface="Calibri"/>
                <a:ea typeface="Calibri"/>
                <a:cs typeface="Calibri"/>
                <a:sym typeface="Calibri"/>
              </a:rPr>
              <a:t>Example 12 – You do…</a:t>
            </a:r>
            <a:endParaRPr/>
          </a:p>
        </p:txBody>
      </p:sp>
      <p:sp>
        <p:nvSpPr>
          <p:cNvPr id="190" name="Google Shape;190;p16"/>
          <p:cNvSpPr txBox="1"/>
          <p:nvPr/>
        </p:nvSpPr>
        <p:spPr>
          <a:xfrm>
            <a:off x="3155090" y="4998681"/>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chemeClr val="accent2"/>
                </a:solidFill>
                <a:latin typeface="Calibri"/>
                <a:ea typeface="Calibri"/>
                <a:cs typeface="Calibri"/>
                <a:sym typeface="Calibri"/>
              </a:rPr>
              <a:t>Example 11 – We do…</a:t>
            </a:r>
            <a:endParaRPr/>
          </a:p>
        </p:txBody>
      </p:sp>
      <p:sp>
        <p:nvSpPr>
          <p:cNvPr id="191" name="Google Shape;191;p16"/>
          <p:cNvSpPr/>
          <p:nvPr/>
        </p:nvSpPr>
        <p:spPr>
          <a:xfrm>
            <a:off x="244304" y="4521630"/>
            <a:ext cx="6337992" cy="387218"/>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1200">
                <a:solidFill>
                  <a:schemeClr val="lt1"/>
                </a:solidFill>
                <a:latin typeface="Calibri"/>
                <a:ea typeface="Calibri"/>
                <a:cs typeface="Calibri"/>
                <a:sym typeface="Calibri"/>
              </a:rPr>
              <a:t>Understanding the ‘Greater than or equal to’ and ‘Less than or equal to ’ symbols to compare positive integers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7"/>
          <p:cNvSpPr txBox="1"/>
          <p:nvPr>
            <p:ph idx="12" type="sldNum"/>
          </p:nvPr>
        </p:nvSpPr>
        <p:spPr>
          <a:xfrm>
            <a:off x="5215508" y="9261487"/>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198" name="Google Shape;198;p17"/>
          <p:cNvGraphicFramePr/>
          <p:nvPr/>
        </p:nvGraphicFramePr>
        <p:xfrm>
          <a:off x="142761" y="476250"/>
          <a:ext cx="3000000" cy="3000000"/>
        </p:xfrm>
        <a:graphic>
          <a:graphicData uri="http://schemas.openxmlformats.org/drawingml/2006/table">
            <a:tbl>
              <a:tblPr bandRow="1" firstRow="1">
                <a:noFill/>
                <a:tableStyleId>{61410E0A-0287-48C3-8D68-3144BCCFB089}</a:tableStyleId>
              </a:tblPr>
              <a:tblGrid>
                <a:gridCol w="1266950"/>
                <a:gridCol w="1768525"/>
                <a:gridCol w="1768525"/>
                <a:gridCol w="1768525"/>
              </a:tblGrid>
              <a:tr h="396325">
                <a:tc>
                  <a:txBody>
                    <a:bodyPr/>
                    <a:lstStyle/>
                    <a:p>
                      <a:pPr indent="0" lvl="0" marL="0" marR="0" rtl="0" algn="l">
                        <a:spcBef>
                          <a:spcPts val="0"/>
                        </a:spcBef>
                        <a:spcAft>
                          <a:spcPts val="0"/>
                        </a:spcAft>
                        <a:buNone/>
                      </a:pPr>
                      <a:r>
                        <a:rPr b="1" lang="en-GB" sz="1100">
                          <a:solidFill>
                            <a:schemeClr val="dk1"/>
                          </a:solidFill>
                        </a:rPr>
                        <a:t>Steps</a:t>
                      </a:r>
                      <a:endParaRPr b="1" sz="11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List the largest five integers that satisfy the following inequality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List the largest five integers that satisfy the following inequality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List the largest five integers that satisfy the following inequality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709725">
                <a:tc>
                  <a:txBody>
                    <a:bodyPr/>
                    <a:lstStyle/>
                    <a:p>
                      <a:pPr indent="0" lvl="0" marL="0" marR="0" rtl="0" algn="ctr">
                        <a:spcBef>
                          <a:spcPts val="0"/>
                        </a:spcBef>
                        <a:spcAft>
                          <a:spcPts val="0"/>
                        </a:spcAft>
                        <a:buClr>
                          <a:schemeClr val="dk1"/>
                        </a:buClr>
                        <a:buSzPts val="1200"/>
                        <a:buFont typeface="Calibri"/>
                        <a:buNone/>
                      </a:pPr>
                      <a:r>
                        <a:rPr lang="en-GB" sz="1200">
                          <a:solidFill>
                            <a:schemeClr val="dk1"/>
                          </a:solidFill>
                        </a:rPr>
                        <a:t>Look at the number and the symbol.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l">
                        <a:spcBef>
                          <a:spcPts val="0"/>
                        </a:spcBef>
                        <a:spcAft>
                          <a:spcPts val="0"/>
                        </a:spcAft>
                        <a:buNone/>
                      </a:pPr>
                      <a:r>
                        <a:t/>
                      </a:r>
                      <a:endParaRPr sz="1100">
                        <a:solidFill>
                          <a:schemeClr val="dk1"/>
                        </a:solidFill>
                      </a:endParaRPr>
                    </a:p>
                    <a:p>
                      <a:pPr indent="0" lvl="0" marL="0" marR="0" rtl="0" algn="ctr">
                        <a:lnSpc>
                          <a:spcPct val="100000"/>
                        </a:lnSpc>
                        <a:spcBef>
                          <a:spcPts val="0"/>
                        </a:spcBef>
                        <a:spcAft>
                          <a:spcPts val="0"/>
                        </a:spcAft>
                        <a:buClr>
                          <a:schemeClr val="dk1"/>
                        </a:buClr>
                        <a:buSzPts val="1100"/>
                        <a:buFont typeface="Calibri"/>
                        <a:buNone/>
                      </a:pPr>
                      <a:r>
                        <a:rPr b="0" lang="en-GB" sz="1100">
                          <a:solidFill>
                            <a:schemeClr val="dk1"/>
                          </a:solidFill>
                        </a:rPr>
                        <a:t>______ ≤ 12</a:t>
                      </a:r>
                      <a:endParaRPr/>
                    </a:p>
                    <a:p>
                      <a:pPr indent="0" lvl="0" marL="0" marR="0" rtl="0" algn="l">
                        <a:spcBef>
                          <a:spcPts val="0"/>
                        </a:spcBef>
                        <a:spcAft>
                          <a:spcPts val="0"/>
                        </a:spcAft>
                        <a:buNone/>
                      </a:pPr>
                      <a:r>
                        <a:t/>
                      </a:r>
                      <a:endParaRPr sz="1100">
                        <a:solidFill>
                          <a:schemeClr val="dk1"/>
                        </a:solidFill>
                      </a:endParaRPr>
                    </a:p>
                    <a:p>
                      <a:pPr indent="0" lvl="0" marL="0" marR="0" rtl="0" algn="l">
                        <a:spcBef>
                          <a:spcPts val="0"/>
                        </a:spcBef>
                        <a:spcAft>
                          <a:spcPts val="0"/>
                        </a:spcAft>
                        <a:buNone/>
                      </a:pPr>
                      <a:r>
                        <a:t/>
                      </a:r>
                      <a:endParaRPr sz="11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l">
                        <a:spcBef>
                          <a:spcPts val="0"/>
                        </a:spcBef>
                        <a:spcAft>
                          <a:spcPts val="0"/>
                        </a:spcAft>
                        <a:buNone/>
                      </a:pPr>
                      <a:r>
                        <a:t/>
                      </a:r>
                      <a:endParaRPr sz="1100">
                        <a:solidFill>
                          <a:schemeClr val="dk1"/>
                        </a:solidFill>
                      </a:endParaRPr>
                    </a:p>
                    <a:p>
                      <a:pPr indent="0" lvl="0" marL="0" marR="0" rtl="0" algn="ctr">
                        <a:lnSpc>
                          <a:spcPct val="100000"/>
                        </a:lnSpc>
                        <a:spcBef>
                          <a:spcPts val="0"/>
                        </a:spcBef>
                        <a:spcAft>
                          <a:spcPts val="0"/>
                        </a:spcAft>
                        <a:buClr>
                          <a:schemeClr val="dk1"/>
                        </a:buClr>
                        <a:buSzPts val="1100"/>
                        <a:buFont typeface="Calibri"/>
                        <a:buNone/>
                      </a:pPr>
                      <a:r>
                        <a:rPr b="0" lang="en-GB" sz="1100">
                          <a:solidFill>
                            <a:schemeClr val="dk1"/>
                          </a:solidFill>
                        </a:rPr>
                        <a:t>______ ≤ 806</a:t>
                      </a:r>
                      <a:endParaRPr/>
                    </a:p>
                    <a:p>
                      <a:pPr indent="0" lvl="0" marL="0" marR="0" rtl="0" algn="l">
                        <a:spcBef>
                          <a:spcPts val="0"/>
                        </a:spcBef>
                        <a:spcAft>
                          <a:spcPts val="0"/>
                        </a:spcAft>
                        <a:buNone/>
                      </a:pPr>
                      <a:r>
                        <a:t/>
                      </a:r>
                      <a:endParaRPr sz="1100">
                        <a:solidFill>
                          <a:schemeClr val="dk1"/>
                        </a:solidFill>
                      </a:endParaRPr>
                    </a:p>
                    <a:p>
                      <a:pPr indent="0" lvl="0" marL="0" marR="0" rtl="0" algn="l">
                        <a:spcBef>
                          <a:spcPts val="0"/>
                        </a:spcBef>
                        <a:spcAft>
                          <a:spcPts val="0"/>
                        </a:spcAft>
                        <a:buNone/>
                      </a:pPr>
                      <a:r>
                        <a:t/>
                      </a:r>
                      <a:endParaRPr sz="11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l">
                        <a:spcBef>
                          <a:spcPts val="0"/>
                        </a:spcBef>
                        <a:spcAft>
                          <a:spcPts val="0"/>
                        </a:spcAft>
                        <a:buNone/>
                      </a:pPr>
                      <a:r>
                        <a:t/>
                      </a:r>
                      <a:endParaRPr sz="1100">
                        <a:solidFill>
                          <a:schemeClr val="dk1"/>
                        </a:solidFill>
                      </a:endParaRPr>
                    </a:p>
                    <a:p>
                      <a:pPr indent="0" lvl="0" marL="0" marR="0" rtl="0" algn="ctr">
                        <a:lnSpc>
                          <a:spcPct val="100000"/>
                        </a:lnSpc>
                        <a:spcBef>
                          <a:spcPts val="0"/>
                        </a:spcBef>
                        <a:spcAft>
                          <a:spcPts val="0"/>
                        </a:spcAft>
                        <a:buClr>
                          <a:schemeClr val="dk1"/>
                        </a:buClr>
                        <a:buSzPts val="1100"/>
                        <a:buFont typeface="Calibri"/>
                        <a:buNone/>
                      </a:pPr>
                      <a:r>
                        <a:rPr b="0" lang="en-GB" sz="1100">
                          <a:solidFill>
                            <a:schemeClr val="dk1"/>
                          </a:solidFill>
                        </a:rPr>
                        <a:t>______ ≤ 114</a:t>
                      </a:r>
                      <a:endParaRPr/>
                    </a:p>
                    <a:p>
                      <a:pPr indent="0" lvl="0" marL="0" marR="0" rtl="0" algn="l">
                        <a:spcBef>
                          <a:spcPts val="0"/>
                        </a:spcBef>
                        <a:spcAft>
                          <a:spcPts val="0"/>
                        </a:spcAft>
                        <a:buNone/>
                      </a:pPr>
                      <a:r>
                        <a:t/>
                      </a:r>
                      <a:endParaRPr sz="1100">
                        <a:solidFill>
                          <a:schemeClr val="dk1"/>
                        </a:solidFill>
                      </a:endParaRPr>
                    </a:p>
                    <a:p>
                      <a:pPr indent="0" lvl="0" marL="0" marR="0" rtl="0" algn="l">
                        <a:spcBef>
                          <a:spcPts val="0"/>
                        </a:spcBef>
                        <a:spcAft>
                          <a:spcPts val="0"/>
                        </a:spcAft>
                        <a:buNone/>
                      </a:pPr>
                      <a:r>
                        <a:t/>
                      </a:r>
                      <a:endParaRPr sz="11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165700">
                <a:tc>
                  <a:txBody>
                    <a:bodyPr/>
                    <a:lstStyle/>
                    <a:p>
                      <a:pPr indent="0" lvl="0" marL="0" marR="0" rtl="0" algn="ctr">
                        <a:spcBef>
                          <a:spcPts val="0"/>
                        </a:spcBef>
                        <a:spcAft>
                          <a:spcPts val="0"/>
                        </a:spcAft>
                        <a:buNone/>
                      </a:pPr>
                      <a:r>
                        <a:rPr lang="en-GB" sz="1200">
                          <a:solidFill>
                            <a:schemeClr val="dk1"/>
                          </a:solidFill>
                        </a:rPr>
                        <a:t>Use the symbol to decide whether you are listing numbers great than or equal to, or less than or equal to that number.</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vMerge="1"/>
                <a:tc vMerge="1"/>
                <a:tc vMerge="1"/>
              </a:tr>
            </a:tbl>
          </a:graphicData>
        </a:graphic>
      </p:graphicFrame>
      <p:sp>
        <p:nvSpPr>
          <p:cNvPr id="199" name="Google Shape;199;p17"/>
          <p:cNvSpPr txBox="1"/>
          <p:nvPr/>
        </p:nvSpPr>
        <p:spPr>
          <a:xfrm>
            <a:off x="1571912" y="199251"/>
            <a:ext cx="141070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FF0000"/>
                </a:solidFill>
                <a:latin typeface="Calibri"/>
                <a:ea typeface="Calibri"/>
                <a:cs typeface="Calibri"/>
                <a:sym typeface="Calibri"/>
              </a:rPr>
              <a:t>Example 13 - I do…</a:t>
            </a:r>
            <a:endParaRPr/>
          </a:p>
        </p:txBody>
      </p:sp>
      <p:sp>
        <p:nvSpPr>
          <p:cNvPr id="200" name="Google Shape;200;p17"/>
          <p:cNvSpPr txBox="1"/>
          <p:nvPr/>
        </p:nvSpPr>
        <p:spPr>
          <a:xfrm>
            <a:off x="5010264" y="192914"/>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00B050"/>
                </a:solidFill>
                <a:latin typeface="Calibri"/>
                <a:ea typeface="Calibri"/>
                <a:cs typeface="Calibri"/>
                <a:sym typeface="Calibri"/>
              </a:rPr>
              <a:t>Example 15 – You do…</a:t>
            </a:r>
            <a:endParaRPr/>
          </a:p>
        </p:txBody>
      </p:sp>
      <p:sp>
        <p:nvSpPr>
          <p:cNvPr id="201" name="Google Shape;201;p17"/>
          <p:cNvSpPr txBox="1"/>
          <p:nvPr/>
        </p:nvSpPr>
        <p:spPr>
          <a:xfrm>
            <a:off x="3244047" y="192915"/>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chemeClr val="accent2"/>
                </a:solidFill>
                <a:latin typeface="Calibri"/>
                <a:ea typeface="Calibri"/>
                <a:cs typeface="Calibri"/>
                <a:sym typeface="Calibri"/>
              </a:rPr>
              <a:t>Example 14 – We do…</a:t>
            </a:r>
            <a:endParaRPr/>
          </a:p>
        </p:txBody>
      </p:sp>
      <p:sp>
        <p:nvSpPr>
          <p:cNvPr id="202" name="Google Shape;202;p17"/>
          <p:cNvSpPr/>
          <p:nvPr/>
        </p:nvSpPr>
        <p:spPr>
          <a:xfrm>
            <a:off x="142761" y="3468268"/>
            <a:ext cx="1137954" cy="456032"/>
          </a:xfrm>
          <a:prstGeom prst="rect">
            <a:avLst/>
          </a:prstGeom>
          <a:solidFill>
            <a:srgbClr val="0070C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Calibri"/>
                <a:ea typeface="Calibri"/>
                <a:cs typeface="Calibri"/>
                <a:sym typeface="Calibri"/>
              </a:rPr>
              <a:t>Independent Practice</a:t>
            </a:r>
            <a:endParaRPr/>
          </a:p>
        </p:txBody>
      </p:sp>
      <p:graphicFrame>
        <p:nvGraphicFramePr>
          <p:cNvPr id="203" name="Google Shape;203;p17"/>
          <p:cNvGraphicFramePr/>
          <p:nvPr/>
        </p:nvGraphicFramePr>
        <p:xfrm>
          <a:off x="142761" y="4077487"/>
          <a:ext cx="3000000" cy="3000000"/>
        </p:xfrm>
        <a:graphic>
          <a:graphicData uri="http://schemas.openxmlformats.org/drawingml/2006/table">
            <a:tbl>
              <a:tblPr bandRow="1" firstRow="1">
                <a:noFill/>
                <a:tableStyleId>{61410E0A-0287-48C3-8D68-3144BCCFB089}</a:tableStyleId>
              </a:tblPr>
              <a:tblGrid>
                <a:gridCol w="3956650"/>
                <a:gridCol w="2615825"/>
              </a:tblGrid>
              <a:tr h="432000">
                <a:tc>
                  <a:txBody>
                    <a:bodyPr/>
                    <a:lstStyle/>
                    <a:p>
                      <a:pPr indent="0" lvl="0" marL="0" marR="0" rtl="0" algn="ctr">
                        <a:spcBef>
                          <a:spcPts val="0"/>
                        </a:spcBef>
                        <a:spcAft>
                          <a:spcPts val="0"/>
                        </a:spcAft>
                        <a:buNone/>
                      </a:pPr>
                      <a:r>
                        <a:rPr b="0" lang="en-GB" sz="1600">
                          <a:solidFill>
                            <a:schemeClr val="dk1"/>
                          </a:solidFill>
                        </a:rPr>
                        <a:t>______  ≤ 16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b="1" sz="1400">
                        <a:solidFill>
                          <a:srgbClr val="FF0000"/>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600"/>
                        <a:buFont typeface="Calibri"/>
                        <a:buNone/>
                      </a:pPr>
                      <a:r>
                        <a:rPr b="0" lang="en-GB" sz="1600">
                          <a:solidFill>
                            <a:schemeClr val="dk1"/>
                          </a:solidFill>
                        </a:rPr>
                        <a:t>______ ≥ 52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b="1" sz="1400">
                        <a:solidFill>
                          <a:srgbClr val="FF0000"/>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600"/>
                        <a:buFont typeface="Calibri"/>
                        <a:buNone/>
                      </a:pPr>
                      <a:r>
                        <a:rPr b="0" lang="en-GB" sz="1600">
                          <a:solidFill>
                            <a:schemeClr val="dk1"/>
                          </a:solidFill>
                        </a:rPr>
                        <a:t>______ &lt; 13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b="1" sz="1400">
                        <a:solidFill>
                          <a:srgbClr val="FF0000"/>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600"/>
                        <a:buFont typeface="Calibri"/>
                        <a:buNone/>
                      </a:pPr>
                      <a:r>
                        <a:rPr b="0" lang="en-GB" sz="1600">
                          <a:solidFill>
                            <a:schemeClr val="dk1"/>
                          </a:solidFill>
                        </a:rPr>
                        <a:t>______ ≤ 13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b="1" sz="1400">
                        <a:solidFill>
                          <a:srgbClr val="FF0000"/>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600"/>
                        <a:buFont typeface="Calibri"/>
                        <a:buNone/>
                      </a:pPr>
                      <a:r>
                        <a:rPr b="0" lang="en-GB" sz="1600">
                          <a:solidFill>
                            <a:schemeClr val="dk1"/>
                          </a:solidFill>
                        </a:rPr>
                        <a:t>______  &gt; 13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b="1" sz="1400">
                        <a:solidFill>
                          <a:srgbClr val="FF0000"/>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600"/>
                        <a:buFont typeface="Calibri"/>
                        <a:buNone/>
                      </a:pPr>
                      <a:r>
                        <a:rPr b="0" lang="en-GB" sz="1600">
                          <a:solidFill>
                            <a:schemeClr val="dk1"/>
                          </a:solidFill>
                        </a:rPr>
                        <a:t>______  ≥ 13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b="1" sz="1400">
                        <a:solidFill>
                          <a:srgbClr val="FF0000"/>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600"/>
                        <a:buFont typeface="Calibri"/>
                        <a:buNone/>
                      </a:pPr>
                      <a:r>
                        <a:rPr b="0" lang="en-GB" sz="1600">
                          <a:solidFill>
                            <a:schemeClr val="dk1"/>
                          </a:solidFill>
                        </a:rPr>
                        <a:t>796  ≥ ______</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b="1" sz="1400">
                        <a:solidFill>
                          <a:srgbClr val="FF0000"/>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600"/>
                        <a:buFont typeface="Calibri"/>
                        <a:buNone/>
                      </a:pPr>
                      <a:r>
                        <a:rPr b="0" lang="en-GB" sz="1600">
                          <a:solidFill>
                            <a:schemeClr val="dk1"/>
                          </a:solidFill>
                        </a:rPr>
                        <a:t>1080 ≤ ______</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b="1" sz="1400">
                        <a:solidFill>
                          <a:srgbClr val="FF0000"/>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Three thousand and sixteen  </a:t>
                      </a:r>
                      <a:r>
                        <a:rPr b="0" lang="en-GB" sz="1600">
                          <a:solidFill>
                            <a:schemeClr val="dk1"/>
                          </a:solidFill>
                        </a:rPr>
                        <a:t>≤ ______</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b="1" sz="1400">
                        <a:solidFill>
                          <a:srgbClr val="FF0000"/>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Ten thousand, four hundred and eighty nine </a:t>
                      </a:r>
                      <a:r>
                        <a:rPr b="0" lang="en-GB" sz="1600">
                          <a:solidFill>
                            <a:schemeClr val="dk1"/>
                          </a:solidFill>
                        </a:rPr>
                        <a:t>≥</a:t>
                      </a:r>
                      <a:r>
                        <a:rPr b="0" lang="en-GB" sz="1200">
                          <a:solidFill>
                            <a:schemeClr val="dk1"/>
                          </a:solidFill>
                        </a:rPr>
                        <a:t> </a:t>
                      </a:r>
                      <a:r>
                        <a:rPr b="0" lang="en-GB" sz="1600">
                          <a:solidFill>
                            <a:schemeClr val="dk1"/>
                          </a:solidFill>
                        </a:rPr>
                        <a:t>______</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b="1" sz="1100">
                        <a:solidFill>
                          <a:srgbClr val="FF0000"/>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600"/>
                        <a:buFont typeface="Calibri"/>
                        <a:buNone/>
                      </a:pPr>
                      <a:r>
                        <a:rPr b="0" lang="en-GB" sz="1600">
                          <a:solidFill>
                            <a:schemeClr val="dk1"/>
                          </a:solidFill>
                        </a:rPr>
                        <a:t>______  &gt; 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b="1" sz="1400">
                        <a:solidFill>
                          <a:srgbClr val="FF0000"/>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432000">
                <a:tc>
                  <a:txBody>
                    <a:bodyPr/>
                    <a:lstStyle/>
                    <a:p>
                      <a:pPr indent="0" lvl="0" marL="0" marR="0" rtl="0" algn="ctr">
                        <a:lnSpc>
                          <a:spcPct val="100000"/>
                        </a:lnSpc>
                        <a:spcBef>
                          <a:spcPts val="0"/>
                        </a:spcBef>
                        <a:spcAft>
                          <a:spcPts val="0"/>
                        </a:spcAft>
                        <a:buClr>
                          <a:schemeClr val="dk1"/>
                        </a:buClr>
                        <a:buSzPts val="1600"/>
                        <a:buFont typeface="Calibri"/>
                        <a:buNone/>
                      </a:pPr>
                      <a:r>
                        <a:rPr b="0" lang="en-GB" sz="1600">
                          <a:solidFill>
                            <a:schemeClr val="dk1"/>
                          </a:solidFill>
                        </a:rPr>
                        <a:t>______  ≥ 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b="1" sz="1400">
                        <a:solidFill>
                          <a:srgbClr val="FF0000"/>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04" name="Google Shape;204;p17"/>
          <p:cNvSpPr txBox="1"/>
          <p:nvPr/>
        </p:nvSpPr>
        <p:spPr>
          <a:xfrm>
            <a:off x="1280715" y="3688236"/>
            <a:ext cx="617770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GB" sz="1200">
                <a:solidFill>
                  <a:schemeClr val="dk1"/>
                </a:solidFill>
                <a:latin typeface="Calibri"/>
                <a:ea typeface="Calibri"/>
                <a:cs typeface="Calibri"/>
                <a:sym typeface="Calibri"/>
              </a:rPr>
              <a:t>10. List the first five integers that satisfy each of the following inequalities</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graphicFrame>
        <p:nvGraphicFramePr>
          <p:cNvPr id="210" name="Google Shape;210;p18"/>
          <p:cNvGraphicFramePr/>
          <p:nvPr/>
        </p:nvGraphicFramePr>
        <p:xfrm>
          <a:off x="164169" y="197200"/>
          <a:ext cx="3000000" cy="3000000"/>
        </p:xfrm>
        <a:graphic>
          <a:graphicData uri="http://schemas.openxmlformats.org/drawingml/2006/table">
            <a:tbl>
              <a:tblPr bandRow="1" firstRow="1">
                <a:noFill/>
                <a:tableStyleId>{61410E0A-0287-48C3-8D68-3144BCCFB089}</a:tableStyleId>
              </a:tblPr>
              <a:tblGrid>
                <a:gridCol w="6529650"/>
              </a:tblGrid>
              <a:tr h="1098200">
                <a:tc>
                  <a:txBody>
                    <a:bodyPr/>
                    <a:lstStyle/>
                    <a:p>
                      <a:pPr indent="0" lvl="0" marL="0" marR="0" rtl="0" algn="l">
                        <a:spcBef>
                          <a:spcPts val="0"/>
                        </a:spcBef>
                        <a:spcAft>
                          <a:spcPts val="0"/>
                        </a:spcAft>
                        <a:buNone/>
                      </a:pPr>
                      <a:r>
                        <a:rPr b="0" lang="en-GB" sz="1200">
                          <a:solidFill>
                            <a:schemeClr val="dk1"/>
                          </a:solidFill>
                        </a:rPr>
                        <a:t>11. Which of the following is equivalent to 5 ≥ ?</a:t>
                      </a:r>
                      <a:endParaRPr/>
                    </a:p>
                    <a:p>
                      <a:pPr indent="0" lvl="0" marL="0" marR="0" rtl="0" algn="l">
                        <a:spcBef>
                          <a:spcPts val="0"/>
                        </a:spcBef>
                        <a:spcAft>
                          <a:spcPts val="0"/>
                        </a:spcAft>
                        <a:buNone/>
                      </a:pPr>
                      <a:r>
                        <a:rPr b="0" lang="en-GB" sz="1200">
                          <a:solidFill>
                            <a:schemeClr val="dk1"/>
                          </a:solidFill>
                        </a:rPr>
                        <a:t> </a:t>
                      </a:r>
                      <a:endParaRPr/>
                    </a:p>
                    <a:p>
                      <a:pPr indent="0" lvl="0" marL="0" marR="0" rtl="0" algn="l">
                        <a:spcBef>
                          <a:spcPts val="0"/>
                        </a:spcBef>
                        <a:spcAft>
                          <a:spcPts val="0"/>
                        </a:spcAft>
                        <a:buNone/>
                      </a:pPr>
                      <a:r>
                        <a:t/>
                      </a:r>
                      <a:endParaRPr b="0" sz="1200">
                        <a:solidFill>
                          <a:schemeClr val="dk1"/>
                        </a:solidFill>
                      </a:endParaRPr>
                    </a:p>
                    <a:p>
                      <a:pPr indent="0" lvl="0" marL="0" marR="0" rtl="0" algn="ctr">
                        <a:spcBef>
                          <a:spcPts val="0"/>
                        </a:spcBef>
                        <a:spcAft>
                          <a:spcPts val="0"/>
                        </a:spcAft>
                        <a:buNone/>
                      </a:pPr>
                      <a:r>
                        <a:rPr b="0" lang="en-GB" sz="1200">
                          <a:solidFill>
                            <a:schemeClr val="dk1"/>
                          </a:solidFill>
                        </a:rPr>
                        <a:t>a) ? ≥ 5                             b) ? &gt; 5                              c) ? ≤ 5                             d) 5 ≤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084900">
                <a:tc>
                  <a:txBody>
                    <a:bodyPr/>
                    <a:lstStyle/>
                    <a:p>
                      <a:pPr indent="0" lvl="0" marL="0" marR="0" rtl="0" algn="l">
                        <a:spcBef>
                          <a:spcPts val="0"/>
                        </a:spcBef>
                        <a:spcAft>
                          <a:spcPts val="0"/>
                        </a:spcAft>
                        <a:buNone/>
                      </a:pPr>
                      <a:r>
                        <a:rPr lang="en-GB" sz="1200"/>
                        <a:t>12. Which of the following says that the missing number, ?,  is at least 7?</a:t>
                      </a:r>
                      <a:endParaRPr/>
                    </a:p>
                    <a:p>
                      <a:pPr indent="0" lvl="0" marL="0" marR="0" rtl="0" algn="l">
                        <a:spcBef>
                          <a:spcPts val="0"/>
                        </a:spcBef>
                        <a:spcAft>
                          <a:spcPts val="0"/>
                        </a:spcAft>
                        <a:buNone/>
                      </a:pPr>
                      <a:r>
                        <a:rPr lang="en-GB" sz="1200"/>
                        <a:t> </a:t>
                      </a:r>
                      <a:endParaRPr/>
                    </a:p>
                    <a:p>
                      <a:pPr indent="0" lvl="0" marL="0" marR="0" rtl="0" algn="l">
                        <a:spcBef>
                          <a:spcPts val="0"/>
                        </a:spcBef>
                        <a:spcAft>
                          <a:spcPts val="0"/>
                        </a:spcAft>
                        <a:buNone/>
                      </a:pPr>
                      <a:r>
                        <a:t/>
                      </a:r>
                      <a:endParaRPr sz="1200"/>
                    </a:p>
                    <a:p>
                      <a:pPr indent="0" lvl="0" marL="0" marR="0" rtl="0" algn="ctr">
                        <a:spcBef>
                          <a:spcPts val="0"/>
                        </a:spcBef>
                        <a:spcAft>
                          <a:spcPts val="0"/>
                        </a:spcAft>
                        <a:buNone/>
                      </a:pPr>
                      <a:r>
                        <a:rPr lang="en-GB" sz="1200"/>
                        <a:t>a) ? &lt; 7                             b) ? &gt; 7                              c) ? ≤ 7                             d) ? ≥ 7</a:t>
                      </a:r>
                      <a:endParaRPr/>
                    </a:p>
                    <a:p>
                      <a:pPr indent="0" lvl="0" marL="0" marR="0" rtl="0" algn="l">
                        <a:spcBef>
                          <a:spcPts val="0"/>
                        </a:spcBef>
                        <a:spcAft>
                          <a:spcPts val="0"/>
                        </a:spcAft>
                        <a:buNone/>
                      </a:pPr>
                      <a:r>
                        <a:t/>
                      </a:r>
                      <a:endParaRPr sz="1200"/>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211" name="Google Shape;211;p18"/>
          <p:cNvSpPr/>
          <p:nvPr/>
        </p:nvSpPr>
        <p:spPr>
          <a:xfrm>
            <a:off x="3829050" y="719220"/>
            <a:ext cx="795528" cy="308733"/>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2" name="Google Shape;212;p18"/>
          <p:cNvSpPr/>
          <p:nvPr/>
        </p:nvSpPr>
        <p:spPr>
          <a:xfrm>
            <a:off x="3856482" y="1778437"/>
            <a:ext cx="795528" cy="308733"/>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3" name="Google Shape;213;p18"/>
          <p:cNvSpPr txBox="1"/>
          <p:nvPr>
            <p:ph idx="12" type="sldNum"/>
          </p:nvPr>
        </p:nvSpPr>
        <p:spPr>
          <a:xfrm>
            <a:off x="5253990" y="9378597"/>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14" name="Google Shape;214;p18"/>
          <p:cNvSpPr txBox="1"/>
          <p:nvPr/>
        </p:nvSpPr>
        <p:spPr>
          <a:xfrm>
            <a:off x="91440" y="2400962"/>
            <a:ext cx="617770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GB" sz="1200">
                <a:solidFill>
                  <a:schemeClr val="dk1"/>
                </a:solidFill>
                <a:latin typeface="Calibri"/>
                <a:ea typeface="Calibri"/>
                <a:cs typeface="Calibri"/>
                <a:sym typeface="Calibri"/>
              </a:rPr>
              <a:t>1</a:t>
            </a:r>
            <a:r>
              <a:rPr lang="en-GB" sz="1200">
                <a:solidFill>
                  <a:schemeClr val="dk1"/>
                </a:solidFill>
                <a:latin typeface="Calibri"/>
                <a:ea typeface="Calibri"/>
                <a:cs typeface="Calibri"/>
                <a:sym typeface="Calibri"/>
              </a:rPr>
              <a:t>3</a:t>
            </a:r>
            <a:r>
              <a:rPr b="0" lang="en-GB" sz="1200">
                <a:solidFill>
                  <a:schemeClr val="dk1"/>
                </a:solidFill>
                <a:latin typeface="Calibri"/>
                <a:ea typeface="Calibri"/>
                <a:cs typeface="Calibri"/>
                <a:sym typeface="Calibri"/>
              </a:rPr>
              <a:t>. Fill in the missing symbol ( &gt;, &lt;,  ≤,  ≥), based on the first five integers that have been listed to satisfy the inequality. </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graphicFrame>
        <p:nvGraphicFramePr>
          <p:cNvPr id="215" name="Google Shape;215;p18"/>
          <p:cNvGraphicFramePr/>
          <p:nvPr/>
        </p:nvGraphicFramePr>
        <p:xfrm>
          <a:off x="164169" y="2850120"/>
          <a:ext cx="3000000" cy="3000000"/>
        </p:xfrm>
        <a:graphic>
          <a:graphicData uri="http://schemas.openxmlformats.org/drawingml/2006/table">
            <a:tbl>
              <a:tblPr bandRow="1" firstRow="1">
                <a:noFill/>
                <a:tableStyleId>{61410E0A-0287-48C3-8D68-3144BCCFB089}</a:tableStyleId>
              </a:tblPr>
              <a:tblGrid>
                <a:gridCol w="1482250"/>
                <a:gridCol w="818150"/>
                <a:gridCol w="1519125"/>
                <a:gridCol w="2525150"/>
              </a:tblGrid>
              <a:tr h="228350">
                <a:tc gridSpan="3">
                  <a:txBody>
                    <a:bodyPr/>
                    <a:lstStyle/>
                    <a:p>
                      <a:pPr indent="0" lvl="0" marL="0" marR="0" rtl="0" algn="ctr">
                        <a:spcBef>
                          <a:spcPts val="0"/>
                        </a:spcBef>
                        <a:spcAft>
                          <a:spcPts val="0"/>
                        </a:spcAft>
                        <a:buNone/>
                      </a:pPr>
                      <a:r>
                        <a:rPr b="1" lang="en-GB" sz="1200">
                          <a:solidFill>
                            <a:schemeClr val="dk1"/>
                          </a:solidFill>
                        </a:rPr>
                        <a:t>Inequality</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hMerge="1"/>
                <a:tc>
                  <a:txBody>
                    <a:bodyPr/>
                    <a:lstStyle/>
                    <a:p>
                      <a:pPr indent="0" lvl="0" marL="0" marR="0" rtl="0" algn="ctr">
                        <a:spcBef>
                          <a:spcPts val="0"/>
                        </a:spcBef>
                        <a:spcAft>
                          <a:spcPts val="0"/>
                        </a:spcAft>
                        <a:buNone/>
                      </a:pPr>
                      <a:r>
                        <a:rPr lang="en-GB" sz="1200">
                          <a:solidFill>
                            <a:schemeClr val="dk1"/>
                          </a:solidFill>
                        </a:rPr>
                        <a:t>First five integers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r">
                        <a:spcBef>
                          <a:spcPts val="0"/>
                        </a:spcBef>
                        <a:spcAft>
                          <a:spcPts val="0"/>
                        </a:spcAft>
                        <a:buNone/>
                      </a:pPr>
                      <a:r>
                        <a:rPr b="0" lang="en-GB" sz="1200">
                          <a:solidFill>
                            <a:schemeClr val="dk1"/>
                          </a:solidFill>
                        </a:rPr>
                        <a:t>_____</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t/>
                      </a:r>
                      <a:endParaRPr b="0" sz="12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lang="en-GB" sz="1200">
                          <a:solidFill>
                            <a:schemeClr val="dk1"/>
                          </a:solidFill>
                        </a:rPr>
                        <a:t>7</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chemeClr val="dk1"/>
                          </a:solidFill>
                        </a:rPr>
                        <a:t>8, 9, 10, 11, 12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r">
                        <a:lnSpc>
                          <a:spcPct val="100000"/>
                        </a:lnSpc>
                        <a:spcBef>
                          <a:spcPts val="0"/>
                        </a:spcBef>
                        <a:spcAft>
                          <a:spcPts val="0"/>
                        </a:spcAft>
                        <a:buClr>
                          <a:schemeClr val="dk1"/>
                        </a:buClr>
                        <a:buSzPts val="1200"/>
                        <a:buFont typeface="Calibri"/>
                        <a:buNone/>
                      </a:pPr>
                      <a:r>
                        <a:rPr b="0" lang="en-GB" sz="1200">
                          <a:solidFill>
                            <a:schemeClr val="dk1"/>
                          </a:solidFill>
                        </a:rPr>
                        <a:t>_____</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114</a:t>
                      </a:r>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chemeClr val="dk1"/>
                          </a:solidFill>
                        </a:rPr>
                        <a:t>114, 113, 112, 111, 110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r">
                        <a:lnSpc>
                          <a:spcPct val="100000"/>
                        </a:lnSpc>
                        <a:spcBef>
                          <a:spcPts val="0"/>
                        </a:spcBef>
                        <a:spcAft>
                          <a:spcPts val="0"/>
                        </a:spcAft>
                        <a:buClr>
                          <a:schemeClr val="dk1"/>
                        </a:buClr>
                        <a:buSzPts val="1200"/>
                        <a:buFont typeface="Calibri"/>
                        <a:buNone/>
                      </a:pPr>
                      <a:r>
                        <a:rPr b="0" lang="en-GB" sz="1200">
                          <a:solidFill>
                            <a:schemeClr val="dk1"/>
                          </a:solidFill>
                        </a:rPr>
                        <a:t>_____</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71</a:t>
                      </a:r>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chemeClr val="dk1"/>
                          </a:solidFill>
                        </a:rPr>
                        <a:t>70, 69, 68, 67, 66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r">
                        <a:lnSpc>
                          <a:spcPct val="100000"/>
                        </a:lnSpc>
                        <a:spcBef>
                          <a:spcPts val="0"/>
                        </a:spcBef>
                        <a:spcAft>
                          <a:spcPts val="0"/>
                        </a:spcAft>
                        <a:buClr>
                          <a:schemeClr val="dk1"/>
                        </a:buClr>
                        <a:buSzPts val="1200"/>
                        <a:buFont typeface="Calibri"/>
                        <a:buNone/>
                      </a:pPr>
                      <a:r>
                        <a:rPr b="0" lang="en-GB" sz="1200">
                          <a:solidFill>
                            <a:schemeClr val="dk1"/>
                          </a:solidFill>
                        </a:rPr>
                        <a:t>1080</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_____</a:t>
                      </a:r>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chemeClr val="dk1"/>
                          </a:solidFill>
                        </a:rPr>
                        <a:t>1080, 1079, 1078, 1077, 1076</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r">
                        <a:lnSpc>
                          <a:spcPct val="100000"/>
                        </a:lnSpc>
                        <a:spcBef>
                          <a:spcPts val="0"/>
                        </a:spcBef>
                        <a:spcAft>
                          <a:spcPts val="0"/>
                        </a:spcAft>
                        <a:buClr>
                          <a:schemeClr val="dk1"/>
                        </a:buClr>
                        <a:buSzPts val="1200"/>
                        <a:buFont typeface="Calibri"/>
                        <a:buNone/>
                      </a:pPr>
                      <a:r>
                        <a:rPr b="0" lang="en-GB" sz="1200">
                          <a:solidFill>
                            <a:schemeClr val="dk1"/>
                          </a:solidFill>
                        </a:rPr>
                        <a:t>6008</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_____</a:t>
                      </a:r>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chemeClr val="dk1"/>
                          </a:solidFill>
                        </a:rPr>
                        <a:t>6008, 6009, 6010, 6011, 6012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r">
                        <a:lnSpc>
                          <a:spcPct val="100000"/>
                        </a:lnSpc>
                        <a:spcBef>
                          <a:spcPts val="0"/>
                        </a:spcBef>
                        <a:spcAft>
                          <a:spcPts val="0"/>
                        </a:spcAft>
                        <a:buClr>
                          <a:schemeClr val="dk1"/>
                        </a:buClr>
                        <a:buSzPts val="1200"/>
                        <a:buFont typeface="Calibri"/>
                        <a:buNone/>
                      </a:pPr>
                      <a:r>
                        <a:rPr b="0" lang="en-GB" sz="1200">
                          <a:solidFill>
                            <a:schemeClr val="dk1"/>
                          </a:solidFill>
                        </a:rPr>
                        <a:t>_____</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Five thousand</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chemeClr val="dk1"/>
                          </a:solidFill>
                        </a:rPr>
                        <a:t>4999, 4998, 4997, 4996, 4995</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r">
                        <a:lnSpc>
                          <a:spcPct val="100000"/>
                        </a:lnSpc>
                        <a:spcBef>
                          <a:spcPts val="0"/>
                        </a:spcBef>
                        <a:spcAft>
                          <a:spcPts val="0"/>
                        </a:spcAft>
                        <a:buClr>
                          <a:schemeClr val="dk1"/>
                        </a:buClr>
                        <a:buSzPts val="1200"/>
                        <a:buFont typeface="Calibri"/>
                        <a:buNone/>
                      </a:pPr>
                      <a:r>
                        <a:rPr b="0" lang="en-GB" sz="1200">
                          <a:solidFill>
                            <a:schemeClr val="dk1"/>
                          </a:solidFill>
                        </a:rPr>
                        <a:t>Five thousand</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_____</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chemeClr val="dk1"/>
                          </a:solidFill>
                        </a:rPr>
                        <a:t>5000, 5001, 5002, 5003, 5004</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r">
                        <a:lnSpc>
                          <a:spcPct val="100000"/>
                        </a:lnSpc>
                        <a:spcBef>
                          <a:spcPts val="0"/>
                        </a:spcBef>
                        <a:spcAft>
                          <a:spcPts val="0"/>
                        </a:spcAft>
                        <a:buClr>
                          <a:schemeClr val="dk1"/>
                        </a:buClr>
                        <a:buSzPts val="1200"/>
                        <a:buFont typeface="Calibri"/>
                        <a:buNone/>
                      </a:pPr>
                      <a:r>
                        <a:rPr b="0" lang="en-GB" sz="1200">
                          <a:solidFill>
                            <a:schemeClr val="dk1"/>
                          </a:solidFill>
                        </a:rPr>
                        <a:t>_____</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2 000 000</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chemeClr val="dk1"/>
                          </a:solidFill>
                        </a:rPr>
                        <a:t>Two million, two million and one, two million and two, two million and three, two million and four</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r">
                        <a:lnSpc>
                          <a:spcPct val="100000"/>
                        </a:lnSpc>
                        <a:spcBef>
                          <a:spcPts val="0"/>
                        </a:spcBef>
                        <a:spcAft>
                          <a:spcPts val="0"/>
                        </a:spcAft>
                        <a:buClr>
                          <a:schemeClr val="dk1"/>
                        </a:buClr>
                        <a:buSzPts val="1200"/>
                        <a:buFont typeface="Calibri"/>
                        <a:buNone/>
                      </a:pPr>
                      <a:r>
                        <a:rPr b="0" lang="en-GB" sz="1200">
                          <a:solidFill>
                            <a:schemeClr val="dk1"/>
                          </a:solidFill>
                        </a:rPr>
                        <a:t>_____</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600 285</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chemeClr val="dk1"/>
                          </a:solidFill>
                        </a:rPr>
                        <a:t>Six hundred thousand two hundred and eighty four, six hundred thousand two hundred and eighty three, six hundred thousand two hundred and eighty two, six hundred thousand two hundred and eighty one, six hundred thousand two hundred and eighty</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r">
                        <a:lnSpc>
                          <a:spcPct val="100000"/>
                        </a:lnSpc>
                        <a:spcBef>
                          <a:spcPts val="0"/>
                        </a:spcBef>
                        <a:spcAft>
                          <a:spcPts val="0"/>
                        </a:spcAft>
                        <a:buClr>
                          <a:schemeClr val="dk1"/>
                        </a:buClr>
                        <a:buSzPts val="1200"/>
                        <a:buFont typeface="Calibri"/>
                        <a:buNone/>
                      </a:pPr>
                      <a:r>
                        <a:rPr b="0" lang="en-GB" sz="1200">
                          <a:solidFill>
                            <a:schemeClr val="dk1"/>
                          </a:solidFill>
                        </a:rPr>
                        <a:t>0</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_____</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chemeClr val="dk1"/>
                          </a:solidFill>
                        </a:rPr>
                        <a:t>Zero, one, two, three, four</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04000">
                <a:tc>
                  <a:txBody>
                    <a:bodyPr/>
                    <a:lstStyle/>
                    <a:p>
                      <a:pPr indent="0" lvl="0" marL="0" marR="0" rtl="0" algn="r">
                        <a:lnSpc>
                          <a:spcPct val="100000"/>
                        </a:lnSpc>
                        <a:spcBef>
                          <a:spcPts val="0"/>
                        </a:spcBef>
                        <a:spcAft>
                          <a:spcPts val="0"/>
                        </a:spcAft>
                        <a:buClr>
                          <a:schemeClr val="dk1"/>
                        </a:buClr>
                        <a:buSzPts val="1200"/>
                        <a:buFont typeface="Calibri"/>
                        <a:buNone/>
                      </a:pPr>
                      <a:r>
                        <a:rPr b="0" lang="en-GB" sz="1200">
                          <a:solidFill>
                            <a:schemeClr val="dk1"/>
                          </a:solidFill>
                        </a:rPr>
                        <a:t>0</a:t>
                      </a:r>
                      <a:endParaRPr/>
                    </a:p>
                  </a:txBody>
                  <a:tcPr marT="45725" marB="45725" marR="91450" marL="9145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Calibri"/>
                        <a:buNone/>
                      </a:pPr>
                      <a:r>
                        <a:t/>
                      </a:r>
                      <a:endParaRPr b="0" sz="1200">
                        <a:solidFill>
                          <a:schemeClr val="dk1"/>
                        </a:solidFil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200"/>
                        <a:buFont typeface="Calibri"/>
                        <a:buNone/>
                      </a:pPr>
                      <a:r>
                        <a:rPr b="0" lang="en-GB" sz="1200">
                          <a:solidFill>
                            <a:schemeClr val="dk1"/>
                          </a:solidFill>
                        </a:rPr>
                        <a:t>_____</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GB" sz="1200">
                          <a:solidFill>
                            <a:schemeClr val="dk1"/>
                          </a:solidFill>
                        </a:rPr>
                        <a:t>One, two, three, four, five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grpSp>
        <p:nvGrpSpPr>
          <p:cNvPr id="216" name="Google Shape;216;p18"/>
          <p:cNvGrpSpPr/>
          <p:nvPr/>
        </p:nvGrpSpPr>
        <p:grpSpPr>
          <a:xfrm>
            <a:off x="1851671" y="3129939"/>
            <a:ext cx="429820" cy="6552431"/>
            <a:chOff x="1832621" y="1958798"/>
            <a:chExt cx="429820" cy="6552431"/>
          </a:xfrm>
        </p:grpSpPr>
        <p:sp>
          <p:nvSpPr>
            <p:cNvPr id="217" name="Google Shape;217;p18"/>
            <p:cNvSpPr/>
            <p:nvPr/>
          </p:nvSpPr>
          <p:spPr>
            <a:xfrm>
              <a:off x="1832621" y="1997132"/>
              <a:ext cx="429316"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8" name="Google Shape;218;p18"/>
            <p:cNvSpPr/>
            <p:nvPr/>
          </p:nvSpPr>
          <p:spPr>
            <a:xfrm>
              <a:off x="1832621" y="2544545"/>
              <a:ext cx="429316"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9" name="Google Shape;219;p18"/>
            <p:cNvSpPr/>
            <p:nvPr/>
          </p:nvSpPr>
          <p:spPr>
            <a:xfrm>
              <a:off x="1832621" y="2996263"/>
              <a:ext cx="429316"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0" name="Google Shape;220;p18"/>
            <p:cNvSpPr/>
            <p:nvPr/>
          </p:nvSpPr>
          <p:spPr>
            <a:xfrm>
              <a:off x="1832621" y="3521119"/>
              <a:ext cx="429316"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1" name="Google Shape;221;p18"/>
            <p:cNvSpPr/>
            <p:nvPr/>
          </p:nvSpPr>
          <p:spPr>
            <a:xfrm>
              <a:off x="1832621" y="4020775"/>
              <a:ext cx="429316"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2" name="Google Shape;222;p18"/>
            <p:cNvSpPr/>
            <p:nvPr/>
          </p:nvSpPr>
          <p:spPr>
            <a:xfrm>
              <a:off x="1832621" y="4524365"/>
              <a:ext cx="429316"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3" name="Google Shape;223;p18"/>
            <p:cNvSpPr/>
            <p:nvPr/>
          </p:nvSpPr>
          <p:spPr>
            <a:xfrm>
              <a:off x="1832621" y="5046488"/>
              <a:ext cx="429316"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4" name="Google Shape;224;p18"/>
            <p:cNvSpPr/>
            <p:nvPr/>
          </p:nvSpPr>
          <p:spPr>
            <a:xfrm>
              <a:off x="1832621" y="5631208"/>
              <a:ext cx="429316"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5" name="Google Shape;225;p18"/>
            <p:cNvSpPr/>
            <p:nvPr/>
          </p:nvSpPr>
          <p:spPr>
            <a:xfrm>
              <a:off x="1832621" y="6604648"/>
              <a:ext cx="429316"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6" name="Google Shape;226;p18"/>
            <p:cNvSpPr/>
            <p:nvPr/>
          </p:nvSpPr>
          <p:spPr>
            <a:xfrm>
              <a:off x="1832621" y="7544322"/>
              <a:ext cx="429316"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7" name="Google Shape;227;p18"/>
            <p:cNvSpPr/>
            <p:nvPr/>
          </p:nvSpPr>
          <p:spPr>
            <a:xfrm>
              <a:off x="1832621" y="8065310"/>
              <a:ext cx="429316" cy="393141"/>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8" name="Google Shape;228;p18"/>
            <p:cNvSpPr txBox="1"/>
            <p:nvPr/>
          </p:nvSpPr>
          <p:spPr>
            <a:xfrm rot="10800000">
              <a:off x="1865178" y="1958798"/>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&gt;</a:t>
              </a:r>
              <a:endParaRPr/>
            </a:p>
          </p:txBody>
        </p:sp>
        <p:sp>
          <p:nvSpPr>
            <p:cNvPr id="229" name="Google Shape;229;p18"/>
            <p:cNvSpPr txBox="1"/>
            <p:nvPr/>
          </p:nvSpPr>
          <p:spPr>
            <a:xfrm>
              <a:off x="1865177" y="2448958"/>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a:t>
              </a:r>
              <a:endParaRPr/>
            </a:p>
          </p:txBody>
        </p:sp>
        <p:sp>
          <p:nvSpPr>
            <p:cNvPr id="230" name="Google Shape;230;p18"/>
            <p:cNvSpPr txBox="1"/>
            <p:nvPr/>
          </p:nvSpPr>
          <p:spPr>
            <a:xfrm rot="10800000">
              <a:off x="1849150" y="2942675"/>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&gt;</a:t>
              </a:r>
              <a:endParaRPr/>
            </a:p>
          </p:txBody>
        </p:sp>
        <p:sp>
          <p:nvSpPr>
            <p:cNvPr id="231" name="Google Shape;231;p18"/>
            <p:cNvSpPr txBox="1"/>
            <p:nvPr/>
          </p:nvSpPr>
          <p:spPr>
            <a:xfrm>
              <a:off x="1873443" y="3465896"/>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a:t>
              </a:r>
              <a:endParaRPr/>
            </a:p>
          </p:txBody>
        </p:sp>
        <p:sp>
          <p:nvSpPr>
            <p:cNvPr id="232" name="Google Shape;232;p18"/>
            <p:cNvSpPr txBox="1"/>
            <p:nvPr/>
          </p:nvSpPr>
          <p:spPr>
            <a:xfrm>
              <a:off x="1849654" y="3955735"/>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a:t>
              </a:r>
              <a:endParaRPr/>
            </a:p>
          </p:txBody>
        </p:sp>
        <p:sp>
          <p:nvSpPr>
            <p:cNvPr id="233" name="Google Shape;233;p18"/>
            <p:cNvSpPr txBox="1"/>
            <p:nvPr/>
          </p:nvSpPr>
          <p:spPr>
            <a:xfrm>
              <a:off x="1861549" y="4470532"/>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&lt;</a:t>
              </a:r>
              <a:endParaRPr/>
            </a:p>
          </p:txBody>
        </p:sp>
        <p:sp>
          <p:nvSpPr>
            <p:cNvPr id="234" name="Google Shape;234;p18"/>
            <p:cNvSpPr txBox="1"/>
            <p:nvPr/>
          </p:nvSpPr>
          <p:spPr>
            <a:xfrm>
              <a:off x="1861549" y="4958564"/>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a:t>
              </a:r>
              <a:endParaRPr/>
            </a:p>
          </p:txBody>
        </p:sp>
        <p:sp>
          <p:nvSpPr>
            <p:cNvPr id="235" name="Google Shape;235;p18"/>
            <p:cNvSpPr txBox="1"/>
            <p:nvPr/>
          </p:nvSpPr>
          <p:spPr>
            <a:xfrm>
              <a:off x="1898239" y="5538863"/>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a:t>
              </a:r>
              <a:endParaRPr/>
            </a:p>
          </p:txBody>
        </p:sp>
        <p:sp>
          <p:nvSpPr>
            <p:cNvPr id="236" name="Google Shape;236;p18"/>
            <p:cNvSpPr txBox="1"/>
            <p:nvPr/>
          </p:nvSpPr>
          <p:spPr>
            <a:xfrm>
              <a:off x="1843765" y="6537994"/>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&lt;</a:t>
              </a:r>
              <a:endParaRPr/>
            </a:p>
          </p:txBody>
        </p:sp>
        <p:sp>
          <p:nvSpPr>
            <p:cNvPr id="237" name="Google Shape;237;p18"/>
            <p:cNvSpPr txBox="1"/>
            <p:nvPr/>
          </p:nvSpPr>
          <p:spPr>
            <a:xfrm>
              <a:off x="1868058" y="7479563"/>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a:t>
              </a:r>
              <a:endParaRPr/>
            </a:p>
          </p:txBody>
        </p:sp>
        <p:sp>
          <p:nvSpPr>
            <p:cNvPr id="238" name="Google Shape;238;p18"/>
            <p:cNvSpPr txBox="1"/>
            <p:nvPr/>
          </p:nvSpPr>
          <p:spPr>
            <a:xfrm>
              <a:off x="1853529" y="7988009"/>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&lt;</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graphicFrame>
        <p:nvGraphicFramePr>
          <p:cNvPr id="244" name="Google Shape;244;p19"/>
          <p:cNvGraphicFramePr/>
          <p:nvPr/>
        </p:nvGraphicFramePr>
        <p:xfrm>
          <a:off x="75861" y="560445"/>
          <a:ext cx="3000000" cy="3000000"/>
        </p:xfrm>
        <a:graphic>
          <a:graphicData uri="http://schemas.openxmlformats.org/drawingml/2006/table">
            <a:tbl>
              <a:tblPr bandRow="1" firstRow="1">
                <a:noFill/>
                <a:tableStyleId>{61410E0A-0287-48C3-8D68-3144BCCFB089}</a:tableStyleId>
              </a:tblPr>
              <a:tblGrid>
                <a:gridCol w="839975"/>
                <a:gridCol w="1966900"/>
                <a:gridCol w="1966900"/>
                <a:gridCol w="1966900"/>
              </a:tblGrid>
              <a:tr h="396325">
                <a:tc>
                  <a:txBody>
                    <a:bodyPr/>
                    <a:lstStyle/>
                    <a:p>
                      <a:pPr indent="0" lvl="0" marL="0" marR="0" rtl="0" algn="l">
                        <a:spcBef>
                          <a:spcPts val="0"/>
                        </a:spcBef>
                        <a:spcAft>
                          <a:spcPts val="0"/>
                        </a:spcAft>
                        <a:buNone/>
                      </a:pPr>
                      <a:r>
                        <a:rPr b="1" lang="en-GB" sz="1100">
                          <a:solidFill>
                            <a:schemeClr val="dk1"/>
                          </a:solidFill>
                        </a:rPr>
                        <a:t>Steps</a:t>
                      </a:r>
                      <a:endParaRPr b="1" sz="11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Complete the following using = or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Complete the following using = or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200"/>
                        <a:buFont typeface="Calibri"/>
                        <a:buNone/>
                      </a:pPr>
                      <a:r>
                        <a:rPr b="0" lang="en-GB" sz="1200">
                          <a:solidFill>
                            <a:schemeClr val="dk1"/>
                          </a:solidFill>
                        </a:rPr>
                        <a:t>Complete the following using = or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988875">
                <a:tc>
                  <a:txBody>
                    <a:bodyPr/>
                    <a:lstStyle/>
                    <a:p>
                      <a:pPr indent="0" lvl="0" marL="0" marR="0" rtl="0" algn="ctr">
                        <a:spcBef>
                          <a:spcPts val="0"/>
                        </a:spcBef>
                        <a:spcAft>
                          <a:spcPts val="0"/>
                        </a:spcAft>
                        <a:buClr>
                          <a:schemeClr val="dk1"/>
                        </a:buClr>
                        <a:buSzPts val="1200"/>
                        <a:buFont typeface="Calibri"/>
                        <a:buNone/>
                      </a:pPr>
                      <a:r>
                        <a:rPr lang="en-GB" sz="1200">
                          <a:solidFill>
                            <a:schemeClr val="dk1"/>
                          </a:solidFill>
                        </a:rPr>
                        <a:t>Decide whether the two values are equal or not.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l">
                        <a:spcBef>
                          <a:spcPts val="0"/>
                        </a:spcBef>
                        <a:spcAft>
                          <a:spcPts val="0"/>
                        </a:spcAft>
                        <a:buNone/>
                      </a:pPr>
                      <a:r>
                        <a:t/>
                      </a:r>
                      <a:endParaRPr sz="1100">
                        <a:solidFill>
                          <a:schemeClr val="dk1"/>
                        </a:solidFill>
                      </a:endParaRPr>
                    </a:p>
                    <a:p>
                      <a:pPr indent="0" lvl="0" marL="0" marR="0" rtl="0" algn="l">
                        <a:spcBef>
                          <a:spcPts val="0"/>
                        </a:spcBef>
                        <a:spcAft>
                          <a:spcPts val="0"/>
                        </a:spcAft>
                        <a:buNone/>
                      </a:pPr>
                      <a:r>
                        <a:t/>
                      </a:r>
                      <a:endParaRPr sz="1100">
                        <a:solidFill>
                          <a:schemeClr val="dk1"/>
                        </a:solidFill>
                      </a:endParaRPr>
                    </a:p>
                    <a:p>
                      <a:pPr indent="0" lvl="0" marL="0" marR="0" rtl="0" algn="l">
                        <a:spcBef>
                          <a:spcPts val="0"/>
                        </a:spcBef>
                        <a:spcAft>
                          <a:spcPts val="0"/>
                        </a:spcAft>
                        <a:buNone/>
                      </a:pPr>
                      <a:r>
                        <a:t/>
                      </a:r>
                      <a:endParaRPr sz="11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l">
                        <a:spcBef>
                          <a:spcPts val="0"/>
                        </a:spcBef>
                        <a:spcAft>
                          <a:spcPts val="0"/>
                        </a:spcAft>
                        <a:buNone/>
                      </a:pPr>
                      <a:r>
                        <a:t/>
                      </a:r>
                      <a:endParaRPr sz="11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rowSpan="2">
                  <a:txBody>
                    <a:bodyPr/>
                    <a:lstStyle/>
                    <a:p>
                      <a:pPr indent="0" lvl="0" marL="0" marR="0" rtl="0" algn="l">
                        <a:spcBef>
                          <a:spcPts val="0"/>
                        </a:spcBef>
                        <a:spcAft>
                          <a:spcPts val="0"/>
                        </a:spcAft>
                        <a:buNone/>
                      </a:pPr>
                      <a:r>
                        <a:t/>
                      </a:r>
                      <a:endParaRPr sz="1100">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165700">
                <a:tc>
                  <a:txBody>
                    <a:bodyPr/>
                    <a:lstStyle/>
                    <a:p>
                      <a:pPr indent="0" lvl="0" marL="0" marR="0" rtl="0" algn="ctr">
                        <a:spcBef>
                          <a:spcPts val="0"/>
                        </a:spcBef>
                        <a:spcAft>
                          <a:spcPts val="0"/>
                        </a:spcAft>
                        <a:buNone/>
                      </a:pPr>
                      <a:r>
                        <a:rPr lang="en-GB" sz="1200">
                          <a:solidFill>
                            <a:schemeClr val="dk1"/>
                          </a:solidFill>
                        </a:rPr>
                        <a:t>If they are equal, use the ‘=‘ sign. If they aren’t, use the ≠ sign</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vMerge="1"/>
                <a:tc vMerge="1"/>
                <a:tc vMerge="1"/>
              </a:tr>
            </a:tbl>
          </a:graphicData>
        </a:graphic>
      </p:graphicFrame>
      <p:sp>
        <p:nvSpPr>
          <p:cNvPr id="245" name="Google Shape;245;p19"/>
          <p:cNvSpPr txBox="1"/>
          <p:nvPr/>
        </p:nvSpPr>
        <p:spPr>
          <a:xfrm>
            <a:off x="1273368" y="321405"/>
            <a:ext cx="141070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FF0000"/>
                </a:solidFill>
                <a:latin typeface="Calibri"/>
                <a:ea typeface="Calibri"/>
                <a:cs typeface="Calibri"/>
                <a:sym typeface="Calibri"/>
              </a:rPr>
              <a:t>Example 16 - I do…</a:t>
            </a:r>
            <a:endParaRPr/>
          </a:p>
        </p:txBody>
      </p:sp>
      <p:sp>
        <p:nvSpPr>
          <p:cNvPr id="246" name="Google Shape;246;p19"/>
          <p:cNvSpPr txBox="1"/>
          <p:nvPr/>
        </p:nvSpPr>
        <p:spPr>
          <a:xfrm>
            <a:off x="5016262" y="314584"/>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rgbClr val="00B050"/>
                </a:solidFill>
                <a:latin typeface="Calibri"/>
                <a:ea typeface="Calibri"/>
                <a:cs typeface="Calibri"/>
                <a:sym typeface="Calibri"/>
              </a:rPr>
              <a:t>Example 18 – You do…</a:t>
            </a:r>
            <a:endParaRPr/>
          </a:p>
        </p:txBody>
      </p:sp>
      <p:sp>
        <p:nvSpPr>
          <p:cNvPr id="247" name="Google Shape;247;p19"/>
          <p:cNvSpPr txBox="1"/>
          <p:nvPr/>
        </p:nvSpPr>
        <p:spPr>
          <a:xfrm>
            <a:off x="3116695" y="316113"/>
            <a:ext cx="16434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GB" sz="1200">
                <a:solidFill>
                  <a:schemeClr val="accent2"/>
                </a:solidFill>
                <a:latin typeface="Calibri"/>
                <a:ea typeface="Calibri"/>
                <a:cs typeface="Calibri"/>
                <a:sym typeface="Calibri"/>
              </a:rPr>
              <a:t>Example 17 – We do…</a:t>
            </a:r>
            <a:endParaRPr/>
          </a:p>
        </p:txBody>
      </p:sp>
      <p:sp>
        <p:nvSpPr>
          <p:cNvPr id="248" name="Google Shape;248;p19"/>
          <p:cNvSpPr/>
          <p:nvPr/>
        </p:nvSpPr>
        <p:spPr>
          <a:xfrm>
            <a:off x="1675213" y="1212614"/>
            <a:ext cx="497159" cy="473696"/>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9" name="Google Shape;249;p19"/>
          <p:cNvSpPr/>
          <p:nvPr/>
        </p:nvSpPr>
        <p:spPr>
          <a:xfrm>
            <a:off x="3833082" y="1212614"/>
            <a:ext cx="497159" cy="473696"/>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0" name="Google Shape;250;p19"/>
          <p:cNvSpPr/>
          <p:nvPr/>
        </p:nvSpPr>
        <p:spPr>
          <a:xfrm>
            <a:off x="5613869" y="1223765"/>
            <a:ext cx="497159" cy="473696"/>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1" name="Google Shape;251;p19"/>
          <p:cNvSpPr txBox="1"/>
          <p:nvPr/>
        </p:nvSpPr>
        <p:spPr>
          <a:xfrm>
            <a:off x="815436" y="1142968"/>
            <a:ext cx="107148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chemeClr val="dk1"/>
                </a:solidFill>
                <a:latin typeface="Calibri"/>
                <a:ea typeface="Calibri"/>
                <a:cs typeface="Calibri"/>
                <a:sym typeface="Calibri"/>
              </a:rPr>
              <a:t>Two and </a:t>
            </a:r>
            <a:endParaRPr/>
          </a:p>
          <a:p>
            <a:pPr indent="0" lvl="0" marL="0" marR="0" rtl="0" algn="ctr">
              <a:spcBef>
                <a:spcPts val="0"/>
              </a:spcBef>
              <a:spcAft>
                <a:spcPts val="0"/>
              </a:spcAft>
              <a:buNone/>
            </a:pPr>
            <a:r>
              <a:rPr lang="en-GB" sz="1200">
                <a:solidFill>
                  <a:schemeClr val="dk1"/>
                </a:solidFill>
                <a:latin typeface="Calibri"/>
                <a:ea typeface="Calibri"/>
                <a:cs typeface="Calibri"/>
                <a:sym typeface="Calibri"/>
              </a:rPr>
              <a:t>a half </a:t>
            </a:r>
            <a:endParaRPr/>
          </a:p>
          <a:p>
            <a:pPr indent="0" lvl="0" marL="0" marR="0" rtl="0" algn="ctr">
              <a:spcBef>
                <a:spcPts val="0"/>
              </a:spcBef>
              <a:spcAft>
                <a:spcPts val="0"/>
              </a:spcAft>
              <a:buNone/>
            </a:pPr>
            <a:r>
              <a:rPr lang="en-GB" sz="1200">
                <a:solidFill>
                  <a:schemeClr val="dk1"/>
                </a:solidFill>
                <a:latin typeface="Calibri"/>
                <a:ea typeface="Calibri"/>
                <a:cs typeface="Calibri"/>
                <a:sym typeface="Calibri"/>
              </a:rPr>
              <a:t>million</a:t>
            </a:r>
            <a:endParaRPr/>
          </a:p>
        </p:txBody>
      </p:sp>
      <p:sp>
        <p:nvSpPr>
          <p:cNvPr id="252" name="Google Shape;252;p19"/>
          <p:cNvSpPr txBox="1"/>
          <p:nvPr/>
        </p:nvSpPr>
        <p:spPr>
          <a:xfrm>
            <a:off x="2164527" y="1327635"/>
            <a:ext cx="109888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2 500 000 </a:t>
            </a:r>
            <a:endParaRPr/>
          </a:p>
        </p:txBody>
      </p:sp>
      <p:sp>
        <p:nvSpPr>
          <p:cNvPr id="253" name="Google Shape;253;p19"/>
          <p:cNvSpPr txBox="1"/>
          <p:nvPr/>
        </p:nvSpPr>
        <p:spPr>
          <a:xfrm>
            <a:off x="2839285" y="1341085"/>
            <a:ext cx="107148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chemeClr val="dk1"/>
                </a:solidFill>
                <a:latin typeface="Calibri"/>
                <a:ea typeface="Calibri"/>
                <a:cs typeface="Calibri"/>
                <a:sym typeface="Calibri"/>
              </a:rPr>
              <a:t>300 000 000</a:t>
            </a:r>
            <a:endParaRPr/>
          </a:p>
        </p:txBody>
      </p:sp>
      <p:sp>
        <p:nvSpPr>
          <p:cNvPr id="254" name="Google Shape;254;p19"/>
          <p:cNvSpPr txBox="1"/>
          <p:nvPr/>
        </p:nvSpPr>
        <p:spPr>
          <a:xfrm>
            <a:off x="4209532" y="1248751"/>
            <a:ext cx="76707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chemeClr val="dk1"/>
                </a:solidFill>
                <a:latin typeface="Calibri"/>
                <a:ea typeface="Calibri"/>
                <a:cs typeface="Calibri"/>
                <a:sym typeface="Calibri"/>
              </a:rPr>
              <a:t>Three billion</a:t>
            </a:r>
            <a:endParaRPr/>
          </a:p>
        </p:txBody>
      </p:sp>
      <p:sp>
        <p:nvSpPr>
          <p:cNvPr id="255" name="Google Shape;255;p19"/>
          <p:cNvSpPr txBox="1"/>
          <p:nvPr/>
        </p:nvSpPr>
        <p:spPr>
          <a:xfrm>
            <a:off x="4784735" y="1142968"/>
            <a:ext cx="887192"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GB" sz="1200">
                <a:solidFill>
                  <a:schemeClr val="dk1"/>
                </a:solidFill>
                <a:latin typeface="Calibri"/>
                <a:ea typeface="Calibri"/>
                <a:cs typeface="Calibri"/>
                <a:sym typeface="Calibri"/>
              </a:rPr>
              <a:t>Six thousand and eighty</a:t>
            </a:r>
            <a:endParaRPr/>
          </a:p>
        </p:txBody>
      </p:sp>
      <p:sp>
        <p:nvSpPr>
          <p:cNvPr id="256" name="Google Shape;256;p19"/>
          <p:cNvSpPr txBox="1"/>
          <p:nvPr/>
        </p:nvSpPr>
        <p:spPr>
          <a:xfrm>
            <a:off x="6181951" y="1327635"/>
            <a:ext cx="109888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68 000</a:t>
            </a:r>
            <a:endParaRPr/>
          </a:p>
        </p:txBody>
      </p:sp>
      <p:sp>
        <p:nvSpPr>
          <p:cNvPr id="257" name="Google Shape;257;p19"/>
          <p:cNvSpPr/>
          <p:nvPr/>
        </p:nvSpPr>
        <p:spPr>
          <a:xfrm>
            <a:off x="30141" y="57628"/>
            <a:ext cx="6014442" cy="252000"/>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GB" sz="1200">
                <a:solidFill>
                  <a:schemeClr val="lt1"/>
                </a:solidFill>
                <a:latin typeface="Calibri"/>
                <a:ea typeface="Calibri"/>
                <a:cs typeface="Calibri"/>
                <a:sym typeface="Calibri"/>
              </a:rPr>
              <a:t>Understanding the ‘not equal to’ symbol to compare integers</a:t>
            </a:r>
            <a:endParaRPr/>
          </a:p>
        </p:txBody>
      </p:sp>
      <p:sp>
        <p:nvSpPr>
          <p:cNvPr id="258" name="Google Shape;258;p19"/>
          <p:cNvSpPr txBox="1"/>
          <p:nvPr>
            <p:ph idx="12" type="sldNum"/>
          </p:nvPr>
        </p:nvSpPr>
        <p:spPr>
          <a:xfrm>
            <a:off x="5258242" y="9280148"/>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
        <p:nvSpPr>
          <p:cNvPr id="259" name="Google Shape;259;p19"/>
          <p:cNvSpPr txBox="1"/>
          <p:nvPr/>
        </p:nvSpPr>
        <p:spPr>
          <a:xfrm>
            <a:off x="1749964" y="1172606"/>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a:t>
            </a:r>
            <a:endParaRPr/>
          </a:p>
        </p:txBody>
      </p:sp>
      <p:sp>
        <p:nvSpPr>
          <p:cNvPr id="260" name="Google Shape;260;p19"/>
          <p:cNvSpPr txBox="1"/>
          <p:nvPr/>
        </p:nvSpPr>
        <p:spPr>
          <a:xfrm>
            <a:off x="3907309" y="1181247"/>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a:t>
            </a:r>
            <a:endParaRPr/>
          </a:p>
        </p:txBody>
      </p:sp>
      <p:sp>
        <p:nvSpPr>
          <p:cNvPr id="261" name="Google Shape;261;p19"/>
          <p:cNvSpPr txBox="1"/>
          <p:nvPr/>
        </p:nvSpPr>
        <p:spPr>
          <a:xfrm>
            <a:off x="5691423" y="1199003"/>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a:t>
            </a:r>
            <a:endParaRPr/>
          </a:p>
        </p:txBody>
      </p:sp>
      <p:sp>
        <p:nvSpPr>
          <p:cNvPr id="262" name="Google Shape;262;p19"/>
          <p:cNvSpPr/>
          <p:nvPr/>
        </p:nvSpPr>
        <p:spPr>
          <a:xfrm>
            <a:off x="69069" y="3829658"/>
            <a:ext cx="1137954" cy="340453"/>
          </a:xfrm>
          <a:prstGeom prst="rect">
            <a:avLst/>
          </a:prstGeom>
          <a:solidFill>
            <a:srgbClr val="0070C0"/>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Calibri"/>
                <a:ea typeface="Calibri"/>
                <a:cs typeface="Calibri"/>
                <a:sym typeface="Calibri"/>
              </a:rPr>
              <a:t>Independent Practice</a:t>
            </a:r>
            <a:endParaRPr/>
          </a:p>
        </p:txBody>
      </p:sp>
      <p:graphicFrame>
        <p:nvGraphicFramePr>
          <p:cNvPr id="263" name="Google Shape;263;p19"/>
          <p:cNvGraphicFramePr/>
          <p:nvPr/>
        </p:nvGraphicFramePr>
        <p:xfrm>
          <a:off x="71106" y="4246204"/>
          <a:ext cx="3000000" cy="3000000"/>
        </p:xfrm>
        <a:graphic>
          <a:graphicData uri="http://schemas.openxmlformats.org/drawingml/2006/table">
            <a:tbl>
              <a:tblPr bandRow="1" firstRow="1">
                <a:noFill/>
                <a:tableStyleId>{61410E0A-0287-48C3-8D68-3144BCCFB089}</a:tableStyleId>
              </a:tblPr>
              <a:tblGrid>
                <a:gridCol w="3365100"/>
                <a:gridCol w="3365100"/>
              </a:tblGrid>
              <a:tr h="274325">
                <a:tc>
                  <a:txBody>
                    <a:bodyPr/>
                    <a:lstStyle/>
                    <a:p>
                      <a:pPr indent="0" lvl="0" marL="0" marR="0" rtl="0" algn="l">
                        <a:spcBef>
                          <a:spcPts val="0"/>
                        </a:spcBef>
                        <a:spcAft>
                          <a:spcPts val="0"/>
                        </a:spcAft>
                        <a:buNone/>
                      </a:pPr>
                      <a:r>
                        <a:rPr b="0" lang="en-GB" sz="1200">
                          <a:solidFill>
                            <a:schemeClr val="dk1"/>
                          </a:solidFill>
                        </a:rPr>
                        <a:t>a)</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b)</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916125">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74325">
                <a:tc>
                  <a:txBody>
                    <a:bodyPr/>
                    <a:lstStyle/>
                    <a:p>
                      <a:pPr indent="0" lvl="0" marL="0" marR="0" rtl="0" algn="l">
                        <a:spcBef>
                          <a:spcPts val="0"/>
                        </a:spcBef>
                        <a:spcAft>
                          <a:spcPts val="0"/>
                        </a:spcAft>
                        <a:buNone/>
                      </a:pPr>
                      <a:r>
                        <a:rPr b="0" lang="en-GB" sz="1200">
                          <a:solidFill>
                            <a:schemeClr val="dk1"/>
                          </a:solidFill>
                        </a:rPr>
                        <a:t>c)</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d)</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916125">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74325">
                <a:tc>
                  <a:txBody>
                    <a:bodyPr/>
                    <a:lstStyle/>
                    <a:p>
                      <a:pPr indent="0" lvl="0" marL="0" marR="0" rtl="0" algn="l">
                        <a:spcBef>
                          <a:spcPts val="0"/>
                        </a:spcBef>
                        <a:spcAft>
                          <a:spcPts val="0"/>
                        </a:spcAft>
                        <a:buNone/>
                      </a:pPr>
                      <a:r>
                        <a:rPr b="0" lang="en-GB" sz="1200">
                          <a:solidFill>
                            <a:schemeClr val="dk1"/>
                          </a:solidFill>
                        </a:rPr>
                        <a:t>e)</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f)</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916125">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74325">
                <a:tc>
                  <a:txBody>
                    <a:bodyPr/>
                    <a:lstStyle/>
                    <a:p>
                      <a:pPr indent="0" lvl="0" marL="0" marR="0" rtl="0" algn="l">
                        <a:spcBef>
                          <a:spcPts val="0"/>
                        </a:spcBef>
                        <a:spcAft>
                          <a:spcPts val="0"/>
                        </a:spcAft>
                        <a:buNone/>
                      </a:pPr>
                      <a:r>
                        <a:rPr b="0" lang="en-GB" sz="1200">
                          <a:solidFill>
                            <a:schemeClr val="dk1"/>
                          </a:solidFill>
                        </a:rPr>
                        <a:t>g)</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b="0" lang="en-GB" sz="1200">
                          <a:solidFill>
                            <a:schemeClr val="dk1"/>
                          </a:solidFill>
                        </a:rPr>
                        <a:t>h)</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1034200">
                <a:tc>
                  <a:txBody>
                    <a:bodyPr/>
                    <a:lstStyle/>
                    <a:p>
                      <a:pPr indent="0" lvl="0" marL="0" marR="0" rtl="0" algn="l">
                        <a:spcBef>
                          <a:spcPts val="0"/>
                        </a:spcBef>
                        <a:spcAft>
                          <a:spcPts val="0"/>
                        </a:spcAft>
                        <a:buNone/>
                      </a:pPr>
                      <a:r>
                        <a:t/>
                      </a:r>
                      <a:endParaRPr sz="135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b="0" lang="en-GB" sz="1200" u="none" cap="none" strike="noStrike">
                          <a:solidFill>
                            <a:schemeClr val="dk1"/>
                          </a:solidFill>
                        </a:rPr>
                        <a:t>      1562 – 450                               1112</a:t>
                      </a:r>
                      <a:endParaRPr b="0" sz="1200">
                        <a:solidFill>
                          <a:schemeClr val="dk1"/>
                        </a:solidFill>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264" name="Google Shape;264;p19"/>
          <p:cNvSpPr txBox="1"/>
          <p:nvPr/>
        </p:nvSpPr>
        <p:spPr>
          <a:xfrm>
            <a:off x="192970" y="5873608"/>
            <a:ext cx="1467003"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Nine thousand, five hundred and thirty−seven</a:t>
            </a:r>
            <a:endParaRPr sz="1200">
              <a:solidFill>
                <a:schemeClr val="dk1"/>
              </a:solidFill>
              <a:latin typeface="Calibri"/>
              <a:ea typeface="Calibri"/>
              <a:cs typeface="Calibri"/>
              <a:sym typeface="Calibri"/>
            </a:endParaRPr>
          </a:p>
        </p:txBody>
      </p:sp>
      <p:sp>
        <p:nvSpPr>
          <p:cNvPr id="265" name="Google Shape;265;p19"/>
          <p:cNvSpPr txBox="1"/>
          <p:nvPr/>
        </p:nvSpPr>
        <p:spPr>
          <a:xfrm>
            <a:off x="3494359" y="4776896"/>
            <a:ext cx="146700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Eight thousand </a:t>
            </a:r>
            <a:br>
              <a:rPr lang="en-GB" sz="1200">
                <a:solidFill>
                  <a:schemeClr val="dk1"/>
                </a:solidFill>
                <a:latin typeface="Calibri"/>
                <a:ea typeface="Calibri"/>
                <a:cs typeface="Calibri"/>
                <a:sym typeface="Calibri"/>
              </a:rPr>
            </a:br>
            <a:r>
              <a:rPr lang="en-GB" sz="1200">
                <a:solidFill>
                  <a:schemeClr val="dk1"/>
                </a:solidFill>
                <a:latin typeface="Calibri"/>
                <a:ea typeface="Calibri"/>
                <a:cs typeface="Calibri"/>
                <a:sym typeface="Calibri"/>
              </a:rPr>
              <a:t>and thirty</a:t>
            </a:r>
            <a:endParaRPr/>
          </a:p>
        </p:txBody>
      </p:sp>
      <p:sp>
        <p:nvSpPr>
          <p:cNvPr id="266" name="Google Shape;266;p19"/>
          <p:cNvSpPr txBox="1"/>
          <p:nvPr/>
        </p:nvSpPr>
        <p:spPr>
          <a:xfrm>
            <a:off x="2149287" y="4786779"/>
            <a:ext cx="146700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Five thousand four hundred</a:t>
            </a:r>
            <a:endParaRPr/>
          </a:p>
        </p:txBody>
      </p:sp>
      <p:sp>
        <p:nvSpPr>
          <p:cNvPr id="267" name="Google Shape;267;p19"/>
          <p:cNvSpPr txBox="1"/>
          <p:nvPr/>
        </p:nvSpPr>
        <p:spPr>
          <a:xfrm>
            <a:off x="5334289" y="5965940"/>
            <a:ext cx="163917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Twelve thousand, two hundred and four</a:t>
            </a:r>
            <a:endParaRPr sz="1200">
              <a:solidFill>
                <a:schemeClr val="dk1"/>
              </a:solidFill>
              <a:latin typeface="Calibri"/>
              <a:ea typeface="Calibri"/>
              <a:cs typeface="Calibri"/>
              <a:sym typeface="Calibri"/>
            </a:endParaRPr>
          </a:p>
        </p:txBody>
      </p:sp>
      <p:sp>
        <p:nvSpPr>
          <p:cNvPr id="268" name="Google Shape;268;p19"/>
          <p:cNvSpPr txBox="1"/>
          <p:nvPr/>
        </p:nvSpPr>
        <p:spPr>
          <a:xfrm>
            <a:off x="192969" y="6918445"/>
            <a:ext cx="1467003"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Seventy-nine thousand, six hundred and twenty-six </a:t>
            </a:r>
            <a:endParaRPr sz="1200">
              <a:solidFill>
                <a:schemeClr val="dk1"/>
              </a:solidFill>
              <a:latin typeface="Calibri"/>
              <a:ea typeface="Calibri"/>
              <a:cs typeface="Calibri"/>
              <a:sym typeface="Calibri"/>
            </a:endParaRPr>
          </a:p>
        </p:txBody>
      </p:sp>
      <p:sp>
        <p:nvSpPr>
          <p:cNvPr id="269" name="Google Shape;269;p19"/>
          <p:cNvSpPr txBox="1"/>
          <p:nvPr/>
        </p:nvSpPr>
        <p:spPr>
          <a:xfrm>
            <a:off x="5420375" y="7154984"/>
            <a:ext cx="146700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One million, four hundred and eight.</a:t>
            </a:r>
            <a:endParaRPr sz="1200">
              <a:solidFill>
                <a:schemeClr val="dk1"/>
              </a:solidFill>
              <a:latin typeface="Calibri"/>
              <a:ea typeface="Calibri"/>
              <a:cs typeface="Calibri"/>
              <a:sym typeface="Calibri"/>
            </a:endParaRPr>
          </a:p>
        </p:txBody>
      </p:sp>
      <p:sp>
        <p:nvSpPr>
          <p:cNvPr id="270" name="Google Shape;270;p19"/>
          <p:cNvSpPr/>
          <p:nvPr/>
        </p:nvSpPr>
        <p:spPr>
          <a:xfrm>
            <a:off x="1468215" y="4730475"/>
            <a:ext cx="544712" cy="508086"/>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1" name="Google Shape;271;p19"/>
          <p:cNvSpPr/>
          <p:nvPr/>
        </p:nvSpPr>
        <p:spPr>
          <a:xfrm>
            <a:off x="4736410" y="4739792"/>
            <a:ext cx="544712" cy="508086"/>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2" name="Google Shape;272;p19"/>
          <p:cNvSpPr/>
          <p:nvPr/>
        </p:nvSpPr>
        <p:spPr>
          <a:xfrm>
            <a:off x="1484689" y="5902329"/>
            <a:ext cx="544712" cy="508086"/>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3" name="Google Shape;273;p19"/>
          <p:cNvSpPr/>
          <p:nvPr/>
        </p:nvSpPr>
        <p:spPr>
          <a:xfrm>
            <a:off x="4765126" y="5927973"/>
            <a:ext cx="544712" cy="508086"/>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4" name="Google Shape;274;p19"/>
          <p:cNvSpPr/>
          <p:nvPr/>
        </p:nvSpPr>
        <p:spPr>
          <a:xfrm>
            <a:off x="1415970" y="7075547"/>
            <a:ext cx="544712" cy="508086"/>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5" name="Google Shape;275;p19"/>
          <p:cNvSpPr/>
          <p:nvPr/>
        </p:nvSpPr>
        <p:spPr>
          <a:xfrm>
            <a:off x="4779763" y="7090039"/>
            <a:ext cx="544712" cy="508086"/>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6" name="Google Shape;276;p19"/>
          <p:cNvSpPr/>
          <p:nvPr/>
        </p:nvSpPr>
        <p:spPr>
          <a:xfrm>
            <a:off x="1573486" y="8326193"/>
            <a:ext cx="544712" cy="508086"/>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7" name="Google Shape;277;p19"/>
          <p:cNvSpPr/>
          <p:nvPr/>
        </p:nvSpPr>
        <p:spPr>
          <a:xfrm>
            <a:off x="4736410" y="8278960"/>
            <a:ext cx="544712" cy="508086"/>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8" name="Google Shape;278;p19"/>
          <p:cNvSpPr txBox="1"/>
          <p:nvPr/>
        </p:nvSpPr>
        <p:spPr>
          <a:xfrm>
            <a:off x="1557012" y="4695974"/>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a:t>
            </a:r>
            <a:endParaRPr/>
          </a:p>
        </p:txBody>
      </p:sp>
      <p:sp>
        <p:nvSpPr>
          <p:cNvPr id="279" name="Google Shape;279;p19"/>
          <p:cNvSpPr txBox="1"/>
          <p:nvPr/>
        </p:nvSpPr>
        <p:spPr>
          <a:xfrm>
            <a:off x="4825207" y="4711600"/>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a:t>
            </a:r>
            <a:endParaRPr/>
          </a:p>
        </p:txBody>
      </p:sp>
      <p:sp>
        <p:nvSpPr>
          <p:cNvPr id="280" name="Google Shape;280;p19"/>
          <p:cNvSpPr txBox="1"/>
          <p:nvPr/>
        </p:nvSpPr>
        <p:spPr>
          <a:xfrm>
            <a:off x="1567863" y="5877977"/>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a:t>
            </a:r>
            <a:endParaRPr/>
          </a:p>
        </p:txBody>
      </p:sp>
      <p:sp>
        <p:nvSpPr>
          <p:cNvPr id="281" name="Google Shape;281;p19"/>
          <p:cNvSpPr txBox="1"/>
          <p:nvPr/>
        </p:nvSpPr>
        <p:spPr>
          <a:xfrm>
            <a:off x="4855381" y="5889487"/>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a:t>
            </a:r>
            <a:endParaRPr/>
          </a:p>
        </p:txBody>
      </p:sp>
      <p:sp>
        <p:nvSpPr>
          <p:cNvPr id="282" name="Google Shape;282;p19"/>
          <p:cNvSpPr txBox="1"/>
          <p:nvPr/>
        </p:nvSpPr>
        <p:spPr>
          <a:xfrm>
            <a:off x="1499144" y="7071052"/>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a:t>
            </a:r>
            <a:endParaRPr/>
          </a:p>
        </p:txBody>
      </p:sp>
      <p:sp>
        <p:nvSpPr>
          <p:cNvPr id="283" name="Google Shape;283;p19"/>
          <p:cNvSpPr txBox="1"/>
          <p:nvPr/>
        </p:nvSpPr>
        <p:spPr>
          <a:xfrm>
            <a:off x="4876345" y="7054316"/>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a:t>
            </a:r>
            <a:endParaRPr/>
          </a:p>
        </p:txBody>
      </p:sp>
      <p:sp>
        <p:nvSpPr>
          <p:cNvPr id="284" name="Google Shape;284;p19"/>
          <p:cNvSpPr txBox="1"/>
          <p:nvPr/>
        </p:nvSpPr>
        <p:spPr>
          <a:xfrm>
            <a:off x="1665199" y="8321094"/>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a:t>
            </a:r>
            <a:endParaRPr/>
          </a:p>
        </p:txBody>
      </p:sp>
      <p:sp>
        <p:nvSpPr>
          <p:cNvPr id="285" name="Google Shape;285;p19"/>
          <p:cNvSpPr txBox="1"/>
          <p:nvPr/>
        </p:nvSpPr>
        <p:spPr>
          <a:xfrm>
            <a:off x="4834401" y="8252105"/>
            <a:ext cx="36420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FF0000"/>
                </a:solidFill>
                <a:latin typeface="Calibri"/>
                <a:ea typeface="Calibri"/>
                <a:cs typeface="Calibri"/>
                <a:sym typeface="Calibri"/>
              </a:rPr>
              <a: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grpSp>
        <p:nvGrpSpPr>
          <p:cNvPr id="290" name="Google Shape;290;p20"/>
          <p:cNvGrpSpPr/>
          <p:nvPr/>
        </p:nvGrpSpPr>
        <p:grpSpPr>
          <a:xfrm>
            <a:off x="309527" y="4200510"/>
            <a:ext cx="6227700" cy="5358464"/>
            <a:chOff x="325500" y="4397829"/>
            <a:chExt cx="6227700" cy="5358464"/>
          </a:xfrm>
        </p:grpSpPr>
        <p:pic>
          <p:nvPicPr>
            <p:cNvPr descr="A picture containing chart&#10;&#10;Description automatically generated" id="291" name="Google Shape;291;p20"/>
            <p:cNvPicPr preferRelativeResize="0"/>
            <p:nvPr/>
          </p:nvPicPr>
          <p:blipFill rotWithShape="1">
            <a:blip r:embed="rId3">
              <a:alphaModFix/>
            </a:blip>
            <a:srcRect b="0" l="0" r="0" t="0"/>
            <a:stretch/>
          </p:blipFill>
          <p:spPr>
            <a:xfrm>
              <a:off x="325500" y="4416862"/>
              <a:ext cx="6206999" cy="5339431"/>
            </a:xfrm>
            <a:prstGeom prst="rect">
              <a:avLst/>
            </a:prstGeom>
            <a:noFill/>
            <a:ln>
              <a:noFill/>
            </a:ln>
          </p:spPr>
        </p:pic>
        <p:sp>
          <p:nvSpPr>
            <p:cNvPr id="292" name="Google Shape;292;p20"/>
            <p:cNvSpPr/>
            <p:nvPr/>
          </p:nvSpPr>
          <p:spPr>
            <a:xfrm>
              <a:off x="326571" y="4397829"/>
              <a:ext cx="6226629" cy="1867757"/>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293" name="Google Shape;293;p20"/>
          <p:cNvSpPr txBox="1"/>
          <p:nvPr/>
        </p:nvSpPr>
        <p:spPr>
          <a:xfrm>
            <a:off x="130812" y="149707"/>
            <a:ext cx="6585130" cy="338554"/>
          </a:xfrm>
          <a:prstGeom prst="rect">
            <a:avLst/>
          </a:prstGeom>
          <a:solidFill>
            <a:srgbClr val="7E2341"/>
          </a:solid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1600"/>
              <a:buFont typeface="Calibri"/>
              <a:buNone/>
            </a:pPr>
            <a:r>
              <a:rPr b="1" lang="en-GB" sz="1600">
                <a:solidFill>
                  <a:srgbClr val="FFFFFF"/>
                </a:solidFill>
                <a:latin typeface="Calibri"/>
                <a:ea typeface="Calibri"/>
                <a:cs typeface="Calibri"/>
                <a:sym typeface="Calibri"/>
              </a:rPr>
              <a:t>Skills Check</a:t>
            </a:r>
            <a:endParaRPr b="1" i="0" sz="1600" u="none" cap="none" strike="noStrike">
              <a:solidFill>
                <a:srgbClr val="FFFFFF"/>
              </a:solidFill>
              <a:latin typeface="Calibri"/>
              <a:ea typeface="Calibri"/>
              <a:cs typeface="Calibri"/>
              <a:sym typeface="Calibri"/>
            </a:endParaRPr>
          </a:p>
        </p:txBody>
      </p:sp>
      <p:sp>
        <p:nvSpPr>
          <p:cNvPr id="294" name="Google Shape;294;p20"/>
          <p:cNvSpPr txBox="1"/>
          <p:nvPr>
            <p:ph idx="12" type="sldNum"/>
          </p:nvPr>
        </p:nvSpPr>
        <p:spPr>
          <a:xfrm>
            <a:off x="5258423" y="9421094"/>
            <a:ext cx="1543050" cy="527403"/>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graphicFrame>
        <p:nvGraphicFramePr>
          <p:cNvPr id="295" name="Google Shape;295;p20"/>
          <p:cNvGraphicFramePr/>
          <p:nvPr/>
        </p:nvGraphicFramePr>
        <p:xfrm>
          <a:off x="197769" y="580784"/>
          <a:ext cx="3000000" cy="3000000"/>
        </p:xfrm>
        <a:graphic>
          <a:graphicData uri="http://schemas.openxmlformats.org/drawingml/2006/table">
            <a:tbl>
              <a:tblPr bandRow="1" firstRow="1">
                <a:noFill/>
                <a:tableStyleId>{61410E0A-0287-48C3-8D68-3144BCCFB089}</a:tableStyleId>
              </a:tblPr>
              <a:tblGrid>
                <a:gridCol w="6499850"/>
              </a:tblGrid>
              <a:tr h="152400">
                <a:tc>
                  <a:txBody>
                    <a:bodyPr/>
                    <a:lstStyle/>
                    <a:p>
                      <a:pPr indent="0" lvl="0" marL="0" marR="0" rtl="0" algn="ctr">
                        <a:spcBef>
                          <a:spcPts val="0"/>
                        </a:spcBef>
                        <a:spcAft>
                          <a:spcPts val="0"/>
                        </a:spcAft>
                        <a:buNone/>
                      </a:pPr>
                      <a:r>
                        <a:rPr b="0" lang="en-GB" sz="1200">
                          <a:solidFill>
                            <a:srgbClr val="000000"/>
                          </a:solidFill>
                        </a:rPr>
                        <a:t>Here is an inequality: 3 &gt; t. How could we say this in words?</a:t>
                      </a:r>
                      <a:endParaRPr/>
                    </a:p>
                    <a:p>
                      <a:pPr indent="0" lvl="0" marL="0" marR="0" rtl="0" algn="ctr">
                        <a:spcBef>
                          <a:spcPts val="0"/>
                        </a:spcBef>
                        <a:spcAft>
                          <a:spcPts val="0"/>
                        </a:spcAft>
                        <a:buNone/>
                      </a:pPr>
                      <a:r>
                        <a:t/>
                      </a:r>
                      <a:endParaRPr b="0" sz="1200">
                        <a:solidFill>
                          <a:srgbClr val="000000"/>
                        </a:solidFill>
                      </a:endParaRPr>
                    </a:p>
                    <a:p>
                      <a:pPr indent="0" lvl="3" marL="1028700" marR="0" rtl="0" algn="l">
                        <a:spcBef>
                          <a:spcPts val="0"/>
                        </a:spcBef>
                        <a:spcAft>
                          <a:spcPts val="0"/>
                        </a:spcAft>
                        <a:buNone/>
                      </a:pPr>
                      <a:r>
                        <a:rPr b="0" lang="en-GB" sz="1200" u="none" cap="none" strike="noStrike">
                          <a:solidFill>
                            <a:srgbClr val="000000"/>
                          </a:solidFill>
                        </a:rPr>
                        <a:t>A. t is greater than 3                                                    B. t is smaller than 3</a:t>
                      </a:r>
                      <a:br>
                        <a:rPr b="0" lang="en-GB" sz="1200" u="none" cap="none" strike="noStrike">
                          <a:solidFill>
                            <a:srgbClr val="000000"/>
                          </a:solidFill>
                        </a:rPr>
                      </a:br>
                      <a:r>
                        <a:rPr b="0" lang="en-GB" sz="1200" u="none" cap="none" strike="noStrike">
                          <a:solidFill>
                            <a:srgbClr val="000000"/>
                          </a:solidFill>
                        </a:rPr>
                        <a:t>     </a:t>
                      </a:r>
                      <a:endParaRPr/>
                    </a:p>
                    <a:p>
                      <a:pPr indent="0" lvl="3" marL="1028700" marR="0" rtl="0" algn="l">
                        <a:spcBef>
                          <a:spcPts val="0"/>
                        </a:spcBef>
                        <a:spcAft>
                          <a:spcPts val="0"/>
                        </a:spcAft>
                        <a:buNone/>
                      </a:pPr>
                      <a:r>
                        <a:rPr b="0" lang="en-GB" sz="1200" u="none" cap="none" strike="noStrike">
                          <a:solidFill>
                            <a:srgbClr val="000000"/>
                          </a:solidFill>
                        </a:rPr>
                        <a:t>C. Both A and B are correct.                                      D. Both A and B are incorrect.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b="0" lang="en-GB" sz="1200">
                          <a:solidFill>
                            <a:srgbClr val="000000"/>
                          </a:solidFill>
                        </a:rPr>
                        <a:t>If you know that a &gt; 4, which one can </a:t>
                      </a:r>
                      <a:r>
                        <a:rPr b="0" lang="en-GB" sz="1200" u="sng">
                          <a:solidFill>
                            <a:srgbClr val="000000"/>
                          </a:solidFill>
                        </a:rPr>
                        <a:t>not</a:t>
                      </a:r>
                      <a:r>
                        <a:rPr b="0" lang="en-GB" sz="1200">
                          <a:solidFill>
                            <a:srgbClr val="000000"/>
                          </a:solidFill>
                        </a:rPr>
                        <a:t> be true?</a:t>
                      </a:r>
                      <a:endParaRPr/>
                    </a:p>
                    <a:p>
                      <a:pPr indent="0" lvl="0" marL="0" marR="0" rtl="0" algn="ctr">
                        <a:spcBef>
                          <a:spcPts val="0"/>
                        </a:spcBef>
                        <a:spcAft>
                          <a:spcPts val="0"/>
                        </a:spcAft>
                        <a:buNone/>
                      </a:pPr>
                      <a:r>
                        <a:rPr b="0" lang="en-GB" sz="1200">
                          <a:solidFill>
                            <a:srgbClr val="000000"/>
                          </a:solidFill>
                        </a:rPr>
                        <a:t> </a:t>
                      </a:r>
                      <a:endParaRPr/>
                    </a:p>
                    <a:p>
                      <a:pPr indent="0" lvl="3" marL="1028700" marR="0" rtl="0" algn="l">
                        <a:spcBef>
                          <a:spcPts val="0"/>
                        </a:spcBef>
                        <a:spcAft>
                          <a:spcPts val="0"/>
                        </a:spcAft>
                        <a:buNone/>
                      </a:pPr>
                      <a:r>
                        <a:rPr b="0" lang="en-GB" sz="1200" u="none" cap="none" strike="noStrike">
                          <a:solidFill>
                            <a:srgbClr val="000000"/>
                          </a:solidFill>
                        </a:rPr>
                        <a:t>A. a is greater than 4                                                 B. a is less than 4 </a:t>
                      </a:r>
                      <a:br>
                        <a:rPr b="0" lang="en-GB" sz="1200" u="none" cap="none" strike="noStrike">
                          <a:solidFill>
                            <a:srgbClr val="000000"/>
                          </a:solidFill>
                        </a:rPr>
                      </a:br>
                      <a:r>
                        <a:rPr b="0" lang="en-GB" sz="1200" u="none" cap="none" strike="noStrike">
                          <a:solidFill>
                            <a:srgbClr val="000000"/>
                          </a:solidFill>
                        </a:rPr>
                        <a:t>     </a:t>
                      </a:r>
                      <a:endParaRPr/>
                    </a:p>
                    <a:p>
                      <a:pPr indent="0" lvl="3" marL="1028700" marR="0" rtl="0" algn="l">
                        <a:spcBef>
                          <a:spcPts val="0"/>
                        </a:spcBef>
                        <a:spcAft>
                          <a:spcPts val="0"/>
                        </a:spcAft>
                        <a:buNone/>
                      </a:pPr>
                      <a:r>
                        <a:rPr b="0" lang="en-GB" sz="1200" u="none" cap="none" strike="noStrike">
                          <a:solidFill>
                            <a:srgbClr val="000000"/>
                          </a:solidFill>
                        </a:rPr>
                        <a:t>C. 3 is less than a                                                       D. a is greater than 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b="0" lang="en-GB" sz="1200">
                          <a:solidFill>
                            <a:srgbClr val="000000"/>
                          </a:solidFill>
                        </a:rPr>
                        <a:t>In which of the following inequalities could d = 5?</a:t>
                      </a:r>
                      <a:endParaRPr/>
                    </a:p>
                    <a:p>
                      <a:pPr indent="0" lvl="0" marL="0" marR="0" rtl="0" algn="ctr">
                        <a:spcBef>
                          <a:spcPts val="0"/>
                        </a:spcBef>
                        <a:spcAft>
                          <a:spcPts val="0"/>
                        </a:spcAft>
                        <a:buNone/>
                      </a:pPr>
                      <a:r>
                        <a:t/>
                      </a:r>
                      <a:endParaRPr b="0" sz="1200">
                        <a:solidFill>
                          <a:srgbClr val="000000"/>
                        </a:solidFill>
                      </a:endParaRPr>
                    </a:p>
                    <a:p>
                      <a:pPr indent="0" lvl="0" marL="0" marR="0" rtl="0" algn="ctr">
                        <a:spcBef>
                          <a:spcPts val="0"/>
                        </a:spcBef>
                        <a:spcAft>
                          <a:spcPts val="0"/>
                        </a:spcAft>
                        <a:buNone/>
                      </a:pPr>
                      <a:r>
                        <a:rPr b="0" lang="en-GB" sz="1200">
                          <a:solidFill>
                            <a:srgbClr val="000000"/>
                          </a:solidFill>
                        </a:rPr>
                        <a:t>Inequality 1:  d &gt; 5                     Inequality 2: d ≤ 5 </a:t>
                      </a:r>
                      <a:br>
                        <a:rPr b="0" lang="en-GB" sz="1200">
                          <a:solidFill>
                            <a:srgbClr val="000000"/>
                          </a:solidFill>
                        </a:rPr>
                      </a:br>
                      <a:r>
                        <a:rPr b="0" lang="en-GB" sz="1200">
                          <a:solidFill>
                            <a:srgbClr val="000000"/>
                          </a:solidFill>
                        </a:rPr>
                        <a:t>     </a:t>
                      </a:r>
                      <a:endParaRPr/>
                    </a:p>
                    <a:p>
                      <a:pPr indent="0" lvl="3" marL="1028700" marR="0" rtl="0" algn="l">
                        <a:spcBef>
                          <a:spcPts val="0"/>
                        </a:spcBef>
                        <a:spcAft>
                          <a:spcPts val="0"/>
                        </a:spcAft>
                        <a:buNone/>
                      </a:pPr>
                      <a:r>
                        <a:rPr b="0" lang="en-GB" sz="1200" u="none" cap="none" strike="noStrike">
                          <a:solidFill>
                            <a:srgbClr val="000000"/>
                          </a:solidFill>
                        </a:rPr>
                        <a:t>A. Only Inequality 1                                                 B. Only Inequality 2</a:t>
                      </a:r>
                      <a:br>
                        <a:rPr b="0" lang="en-GB" sz="1200" u="none" cap="none" strike="noStrike">
                          <a:solidFill>
                            <a:srgbClr val="000000"/>
                          </a:solidFill>
                        </a:rPr>
                      </a:br>
                      <a:r>
                        <a:rPr b="0" lang="en-GB" sz="1200" u="none" cap="none" strike="noStrike">
                          <a:solidFill>
                            <a:srgbClr val="000000"/>
                          </a:solidFill>
                        </a:rPr>
                        <a:t>     </a:t>
                      </a:r>
                      <a:endParaRPr/>
                    </a:p>
                    <a:p>
                      <a:pPr indent="0" lvl="3" marL="1028700" marR="0" rtl="0" algn="l">
                        <a:spcBef>
                          <a:spcPts val="0"/>
                        </a:spcBef>
                        <a:spcAft>
                          <a:spcPts val="0"/>
                        </a:spcAft>
                        <a:buNone/>
                      </a:pPr>
                      <a:r>
                        <a:rPr b="0" lang="en-GB" sz="1200" u="none" cap="none" strike="noStrike">
                          <a:solidFill>
                            <a:srgbClr val="000000"/>
                          </a:solidFill>
                        </a:rPr>
                        <a:t>C. Both Inequalities 1 and 2                                   D. Neither </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b="0" lang="en-GB" sz="1200">
                          <a:solidFill>
                            <a:srgbClr val="000000"/>
                          </a:solidFill>
                        </a:rPr>
                        <a:t>Which of the following says that ? has a minimum value of 5?</a:t>
                      </a:r>
                      <a:endParaRPr/>
                    </a:p>
                    <a:p>
                      <a:pPr indent="0" lvl="0" marL="0" marR="0" rtl="0" algn="ctr">
                        <a:spcBef>
                          <a:spcPts val="0"/>
                        </a:spcBef>
                        <a:spcAft>
                          <a:spcPts val="0"/>
                        </a:spcAft>
                        <a:buNone/>
                      </a:pPr>
                      <a:r>
                        <a:t/>
                      </a:r>
                      <a:endParaRPr b="0" sz="1200">
                        <a:solidFill>
                          <a:srgbClr val="000000"/>
                        </a:solidFill>
                      </a:endParaRPr>
                    </a:p>
                    <a:p>
                      <a:pPr indent="0" lvl="3" marL="1028700" marR="0" rtl="0" algn="l">
                        <a:spcBef>
                          <a:spcPts val="0"/>
                        </a:spcBef>
                        <a:spcAft>
                          <a:spcPts val="0"/>
                        </a:spcAft>
                        <a:buNone/>
                      </a:pPr>
                      <a:r>
                        <a:rPr b="0" lang="en-GB" sz="1200" u="none" cap="none" strike="noStrike">
                          <a:solidFill>
                            <a:srgbClr val="000000"/>
                          </a:solidFill>
                        </a:rPr>
                        <a:t>A. ? &lt; 5                                                                      B. ? &gt; 5</a:t>
                      </a:r>
                      <a:br>
                        <a:rPr b="0" lang="en-GB" sz="1200" u="none" cap="none" strike="noStrike">
                          <a:solidFill>
                            <a:srgbClr val="000000"/>
                          </a:solidFill>
                        </a:rPr>
                      </a:br>
                      <a:r>
                        <a:rPr b="0" lang="en-GB" sz="1200" u="none" cap="none" strike="noStrike">
                          <a:solidFill>
                            <a:srgbClr val="000000"/>
                          </a:solidFill>
                        </a:rPr>
                        <a:t>     </a:t>
                      </a:r>
                      <a:endParaRPr/>
                    </a:p>
                    <a:p>
                      <a:pPr indent="0" lvl="3" marL="1028700" marR="0" rtl="0" algn="l">
                        <a:spcBef>
                          <a:spcPts val="0"/>
                        </a:spcBef>
                        <a:spcAft>
                          <a:spcPts val="0"/>
                        </a:spcAft>
                        <a:buNone/>
                      </a:pPr>
                      <a:r>
                        <a:rPr b="0" lang="en-GB" sz="1200" u="none" cap="none" strike="noStrike">
                          <a:solidFill>
                            <a:srgbClr val="000000"/>
                          </a:solidFill>
                        </a:rPr>
                        <a:t>C. ? ≤ 5                                                                      D. ? ≥ 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70850">
                <a:tc>
                  <a:txBody>
                    <a:bodyPr/>
                    <a:lstStyle/>
                    <a:p>
                      <a:pPr indent="0" lvl="0" marL="0" marR="0" rtl="0" algn="ctr">
                        <a:spcBef>
                          <a:spcPts val="0"/>
                        </a:spcBef>
                        <a:spcAft>
                          <a:spcPts val="0"/>
                        </a:spcAft>
                        <a:buNone/>
                      </a:pPr>
                      <a:r>
                        <a:rPr lang="en-GB" sz="1200"/>
                        <a:t>Which </a:t>
                      </a:r>
                      <a:r>
                        <a:rPr b="1" lang="en-GB" sz="1200"/>
                        <a:t>one</a:t>
                      </a:r>
                      <a:r>
                        <a:rPr lang="en-GB" sz="1200"/>
                        <a:t> of the following statements is correct?</a:t>
                      </a:r>
                      <a:endParaRPr/>
                    </a:p>
                    <a:p>
                      <a:pPr indent="0" lvl="0" marL="0" marR="0" rtl="0" algn="ctr">
                        <a:spcBef>
                          <a:spcPts val="0"/>
                        </a:spcBef>
                        <a:spcAft>
                          <a:spcPts val="0"/>
                        </a:spcAft>
                        <a:buNone/>
                      </a:pPr>
                      <a:r>
                        <a:t/>
                      </a:r>
                      <a:endParaRPr sz="1200"/>
                    </a:p>
                    <a:p>
                      <a:pPr indent="0" lvl="1" marL="342900" marR="0" rtl="0" algn="l">
                        <a:spcBef>
                          <a:spcPts val="0"/>
                        </a:spcBef>
                        <a:spcAft>
                          <a:spcPts val="0"/>
                        </a:spcAft>
                        <a:buNone/>
                      </a:pPr>
                      <a:r>
                        <a:rPr b="0" lang="en-GB" sz="1200" u="none" cap="none" strike="noStrike">
                          <a:solidFill>
                            <a:srgbClr val="000000"/>
                          </a:solidFill>
                        </a:rPr>
                        <a:t>A. 17050 ≠ seventeen thousand and five                                B. 32 + 55 = 88</a:t>
                      </a:r>
                      <a:br>
                        <a:rPr b="0" lang="en-GB" sz="1200" u="none" cap="none" strike="noStrike">
                          <a:solidFill>
                            <a:srgbClr val="000000"/>
                          </a:solidFill>
                        </a:rPr>
                      </a:br>
                      <a:r>
                        <a:rPr b="0" lang="en-GB" sz="1200" u="none" cap="none" strike="noStrike">
                          <a:solidFill>
                            <a:srgbClr val="000000"/>
                          </a:solidFill>
                        </a:rPr>
                        <a:t>     </a:t>
                      </a:r>
                      <a:endParaRPr/>
                    </a:p>
                    <a:p>
                      <a:pPr indent="0" lvl="1" marL="342900" marR="0" rtl="0" algn="l">
                        <a:spcBef>
                          <a:spcPts val="0"/>
                        </a:spcBef>
                        <a:spcAft>
                          <a:spcPts val="0"/>
                        </a:spcAft>
                        <a:buNone/>
                      </a:pPr>
                      <a:r>
                        <a:rPr b="0" lang="en-GB" sz="1200" u="none" cap="none" strike="noStrike">
                          <a:solidFill>
                            <a:srgbClr val="000000"/>
                          </a:solidFill>
                        </a:rPr>
                        <a:t>C. Eleven thousand and one  ≠  11 001                                   D. Two hundred and eighty six = 20086</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296" name="Google Shape;296;p20"/>
          <p:cNvSpPr/>
          <p:nvPr/>
        </p:nvSpPr>
        <p:spPr>
          <a:xfrm>
            <a:off x="4309882" y="932688"/>
            <a:ext cx="1545336" cy="329184"/>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7" name="Google Shape;297;p20"/>
          <p:cNvSpPr/>
          <p:nvPr/>
        </p:nvSpPr>
        <p:spPr>
          <a:xfrm>
            <a:off x="4069090" y="1926336"/>
            <a:ext cx="1545336" cy="329184"/>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8" name="Google Shape;298;p20"/>
          <p:cNvSpPr/>
          <p:nvPr/>
        </p:nvSpPr>
        <p:spPr>
          <a:xfrm>
            <a:off x="4069090" y="3307016"/>
            <a:ext cx="1545336" cy="329184"/>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9" name="Google Shape;299;p20"/>
          <p:cNvSpPr/>
          <p:nvPr/>
        </p:nvSpPr>
        <p:spPr>
          <a:xfrm>
            <a:off x="795538" y="4687824"/>
            <a:ext cx="1545336" cy="329184"/>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0" name="Google Shape;300;p20"/>
          <p:cNvSpPr/>
          <p:nvPr/>
        </p:nvSpPr>
        <p:spPr>
          <a:xfrm>
            <a:off x="418732" y="5331784"/>
            <a:ext cx="2790811" cy="329184"/>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