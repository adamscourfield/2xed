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embeddedFontLs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C61345-4A03-41AB-9D1A-C9E05733526F}">
  <a:tblStyle styleId="{31C61345-4A03-41AB-9D1A-C9E0573352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22852" y="64913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988300"/>
                <a:gridCol w="1861400"/>
                <a:gridCol w="1861400"/>
                <a:gridCol w="1861400"/>
              </a:tblGrid>
              <a:tr h="3963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2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83 – 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96 – 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45 – 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FF0000"/>
                          </a:solidFill>
                        </a:rPr>
                        <a:t>       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72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360599" y="667802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35204" y="667985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152281" y="941240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64088"/>
            <a:ext cx="6679742" cy="122418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N2.6 – Use Formal Methods for Subtraction of Integers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2852" y="66598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34141" y="884023"/>
            <a:ext cx="50472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the column method for simple subtraction.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the column method for subtraction involving exchanging.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88597" y="402469"/>
            <a:ext cx="4090736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how to subtract integers.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674138" y="413294"/>
            <a:ext cx="1002839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196960" y="667496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64423" y="6143294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 subtraction (no exchanging required)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7638" y="2790717"/>
            <a:ext cx="6699219" cy="32459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3"/>
          <p:cNvCxnSpPr/>
          <p:nvPr/>
        </p:nvCxnSpPr>
        <p:spPr>
          <a:xfrm>
            <a:off x="84356" y="3888534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3"/>
          <p:cNvCxnSpPr>
            <a:stCxn id="101" idx="2"/>
          </p:cNvCxnSpPr>
          <p:nvPr/>
        </p:nvCxnSpPr>
        <p:spPr>
          <a:xfrm rot="10800000">
            <a:off x="3427248" y="2790683"/>
            <a:ext cx="0" cy="324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3"/>
          <p:cNvSpPr txBox="1"/>
          <p:nvPr/>
        </p:nvSpPr>
        <p:spPr>
          <a:xfrm>
            <a:off x="95393" y="2790716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19444" y="2758330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4423" y="390894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636485" y="388179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89447" y="3029469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 mathematical operation in which the difference between two numbers or quantities is calculated</a:t>
            </a:r>
            <a:r>
              <a:rPr b="0" i="0" lang="en-GB" sz="12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.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492275" y="2943550"/>
            <a:ext cx="33023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involve positive or negative integers, fractions, decimals, percentages or algebraic terms.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Linked words include minus, difference.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747964" y="3729258"/>
            <a:ext cx="126733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5180" y="4152048"/>
            <a:ext cx="3230335" cy="13663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7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508251" y="4097690"/>
            <a:ext cx="328805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 that aren’t linked to subtraction: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</a:t>
            </a: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um: When you're asked to find the "sum" of numbers, you're being asked to add them, not subtract. For example, the sum of 8 and 6 is 14, which is not a subtraction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Compare: When comparing numbers to determine which is larger or smaller, you are not performing a subtraction. For example, comparing 10 and 5, you know that 10 is greater, but this doesn't involve a subtraction operation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66601" y="1652805"/>
            <a:ext cx="6679742" cy="107338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Column subtraction is a written method used to subtract one whole number from another by lining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the digits according to place value. Like with 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column addition, i</a:t>
            </a: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 is important to keep the columns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straight so that each digit is subtracted from the correct place, starting from the right and using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exchanges when needed.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14"/>
          <p:cNvGraphicFramePr/>
          <p:nvPr/>
        </p:nvGraphicFramePr>
        <p:xfrm>
          <a:off x="150248" y="1740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199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79 – 22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89 – 22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89 – 11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89 – 17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19 – 17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99 – 17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197 – 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297 – 12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297 – 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5197824" y="9483871"/>
            <a:ext cx="1599549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1" name="Google Shape;121;p14"/>
          <p:cNvGraphicFramePr/>
          <p:nvPr/>
        </p:nvGraphicFramePr>
        <p:xfrm>
          <a:off x="142739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26325"/>
                <a:gridCol w="1482050"/>
                <a:gridCol w="1482050"/>
                <a:gridCol w="1482050"/>
              </a:tblGrid>
              <a:tr h="19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5183 – 52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4782 – 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3494 - 23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5131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4741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3471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22" name="Google Shape;122;p14"/>
          <p:cNvSpPr txBox="1"/>
          <p:nvPr/>
        </p:nvSpPr>
        <p:spPr>
          <a:xfrm>
            <a:off x="2408083" y="2108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214595" y="3396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3676004" y="2098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154006" y="1705262"/>
            <a:ext cx="1838834" cy="24603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descr="A screenshot of a computer&#10;&#10;Description automatically generated" id="126" name="Google Shape;126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3218" y="230135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7" name="Google Shape;12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76965" y="230135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8" name="Google Shape;12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0712" y="230135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29" name="Google Shape;129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3218" y="382944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0" name="Google Shape;130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76965" y="382944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1" name="Google Shape;131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0712" y="382944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2" name="Google Shape;132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63218" y="535753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3" name="Google Shape;133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76965" y="535753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4" name="Google Shape;134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90712" y="5357532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2026707" y="1702916"/>
            <a:ext cx="54383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Use the column method to work out the subtraction problems:</a:t>
            </a:r>
            <a:endParaRPr/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142739" y="65869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298 – 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298 – 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497 – 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m) 785 – 512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n) 859 – 132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o) 559 – 319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37" name="Google Shape;137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74558" y="688579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8" name="Google Shape;138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88254" y="687433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39" name="Google Shape;139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79474" y="687450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0" name="Google Shape;140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07154" y="843646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1" name="Google Shape;141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20850" y="842500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2" name="Google Shape;142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2070" y="8425173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954819" y="2641517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57                   77                   78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54819" y="4203319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72                     2                    82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825831" y="5731408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185                  285                 236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850947" y="7248537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207                 227                 </a:t>
            </a: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825831" y="8849618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273                 727                 240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5303384" y="925638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54" name="Google Shape;154;p15"/>
          <p:cNvGraphicFramePr/>
          <p:nvPr/>
        </p:nvGraphicFramePr>
        <p:xfrm>
          <a:off x="142761" y="2301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7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p) 946 – 230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q) 4854 – 1132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r) 4871 – 1540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s) 5792 – 4431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t) 4781 – 1650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u) 48832 – 14501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55" name="Google Shape;155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52489" y="5038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6" name="Google Shape;156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66236" y="5038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7" name="Google Shape;157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79983" y="50382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8" name="Google Shape;158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52489" y="207758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9" name="Google Shape;159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2275" y="207758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0" name="Google Shape;160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18099" y="2077581"/>
            <a:ext cx="1838834" cy="11949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" name="Google Shape;161;p15"/>
          <p:cNvGraphicFramePr/>
          <p:nvPr/>
        </p:nvGraphicFramePr>
        <p:xfrm>
          <a:off x="142760" y="3669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1654500"/>
                <a:gridCol w="1639325"/>
                <a:gridCol w="1639325"/>
                <a:gridCol w="1639325"/>
              </a:tblGrid>
              <a:tr h="4809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88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94 - 36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62 - 28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53 - 39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7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8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Exchange where appropriate.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62" name="Google Shape;162;p15"/>
          <p:cNvSpPr txBox="1"/>
          <p:nvPr/>
        </p:nvSpPr>
        <p:spPr>
          <a:xfrm>
            <a:off x="1968139" y="390066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138029" y="389830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3560817" y="389830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graphicFrame>
        <p:nvGraphicFramePr>
          <p:cNvPr id="165" name="Google Shape;165;p15"/>
          <p:cNvGraphicFramePr/>
          <p:nvPr/>
        </p:nvGraphicFramePr>
        <p:xfrm>
          <a:off x="142760" y="6472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1651625"/>
                <a:gridCol w="1640275"/>
                <a:gridCol w="1640275"/>
                <a:gridCol w="1640275"/>
              </a:tblGrid>
              <a:tr h="4836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419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3417 - 58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6423 – 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7342 - 95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in columns, ensuring that they are lined up correctly.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ones column, complete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5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Exchange where appropriate.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66" name="Google Shape;166;p15"/>
          <p:cNvSpPr txBox="1"/>
          <p:nvPr/>
        </p:nvSpPr>
        <p:spPr>
          <a:xfrm>
            <a:off x="1920604" y="668331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5106001" y="66833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491766" y="66833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142761" y="3455668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Column subtraction (exchanging required)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788523" y="866199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736                 3722               3331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843401" y="2639962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1361              3131               34331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2406815" y="4435373"/>
            <a:ext cx="34480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3942696" y="4448965"/>
            <a:ext cx="34480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5684728" y="4481776"/>
            <a:ext cx="7090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2188998" y="7395579"/>
            <a:ext cx="34480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3359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760589" y="7366753"/>
            <a:ext cx="34480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6384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5484614" y="7353161"/>
            <a:ext cx="1361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7247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5255988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64471" y="304611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302425" y="304611"/>
            <a:ext cx="56661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For the following questions, use the column method to work out the subtraction problems:</a:t>
            </a:r>
            <a:endParaRPr/>
          </a:p>
        </p:txBody>
      </p:sp>
      <p:graphicFrame>
        <p:nvGraphicFramePr>
          <p:cNvPr id="186" name="Google Shape;186;p16"/>
          <p:cNvGraphicFramePr/>
          <p:nvPr/>
        </p:nvGraphicFramePr>
        <p:xfrm>
          <a:off x="164471" y="8227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5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64 – 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78 – 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92 - 38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105 – 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123 – 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150 - 62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87" name="Google Shape;187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83008" y="116509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88" name="Google Shape;188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42794" y="116509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89" name="Google Shape;189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48618" y="116509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0" name="Google Shape;19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66966" y="276369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1" name="Google Shape;19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26752" y="27636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2" name="Google Shape;192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32576" y="2763689"/>
            <a:ext cx="1838834" cy="11949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16"/>
          <p:cNvGraphicFramePr/>
          <p:nvPr/>
        </p:nvGraphicFramePr>
        <p:xfrm>
          <a:off x="164471" y="4115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6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156 - 74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187 – 105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249 - 173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267 – 194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k) 312 – 187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l) 398 - 256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m) 1452 - 898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n) 3249 - 1675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194" name="Google Shape;19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42662" y="775268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5" name="Google Shape;19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49630" y="448009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6" name="Google Shape;196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63377" y="448009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7" name="Google Shape;197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69204" y="448009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8" name="Google Shape;198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374746" y="614847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99" name="Google Shape;199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63377" y="614847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0" name="Google Shape;20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669204" y="614847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1" name="Google Shape;20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31293" y="7764941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918113" y="1393323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37                    49                    </a:t>
            </a: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892997" y="2994404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22                    34                    88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778896" y="4731592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82                    82                    76 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833774" y="6505355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73                   125                 142   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695994" y="8156132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554                1574      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idx="12" type="sldNum"/>
          </p:nvPr>
        </p:nvSpPr>
        <p:spPr>
          <a:xfrm>
            <a:off x="5178068" y="94518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13" name="Google Shape;213;p17"/>
          <p:cNvGraphicFramePr/>
          <p:nvPr/>
        </p:nvGraphicFramePr>
        <p:xfrm>
          <a:off x="152400" y="195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3284350"/>
                <a:gridCol w="3284350"/>
              </a:tblGrid>
              <a:tr h="152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Sarah buys an apple for 41p and a banana for 27p. How much more expensive is an apple than a banana? 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 Kelly has 76 marbles and Hannah has 102 marbles.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more marble does Hannah have than Kelly?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5. At a football match there are 2942 Rovers fans and 9381 City fans. How many more fans did City have?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6. Theo wants to buy a laptop that costs £425. Theo has saved £267 so far. How much more money does Theo need to save?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17"/>
          <p:cNvGraphicFramePr/>
          <p:nvPr/>
        </p:nvGraphicFramePr>
        <p:xfrm>
          <a:off x="142761" y="32605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2190825"/>
                <a:gridCol w="2190825"/>
                <a:gridCol w="2190825"/>
              </a:tblGrid>
              <a:tr h="2556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 For the following questions, fill in the missing numbers.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63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836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</a:t>
                      </a:r>
                      <a:r>
                        <a:rPr lang="en-GB" sz="1200"/>
                        <a:t>This table shows the number of people living in various cities in England. How many more people live in Birmingham than Preston?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576" y="3639632"/>
            <a:ext cx="1086002" cy="122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6802" y="3593783"/>
            <a:ext cx="1419423" cy="122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2877" y="3696789"/>
            <a:ext cx="1524213" cy="11717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17"/>
          <p:cNvGraphicFramePr/>
          <p:nvPr/>
        </p:nvGraphicFramePr>
        <p:xfrm>
          <a:off x="142761" y="6979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6572475"/>
              </a:tblGrid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9. Work out the difference between 234,789 and 502,113 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19" name="Google Shape;21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3267" y="5293529"/>
            <a:ext cx="2540200" cy="16192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" name="Google Shape;220;p17"/>
          <p:cNvGraphicFramePr/>
          <p:nvPr/>
        </p:nvGraphicFramePr>
        <p:xfrm>
          <a:off x="142329" y="81265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3286250"/>
                <a:gridCol w="3286250"/>
              </a:tblGrid>
              <a:tr h="2795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 For the following questions, fill in the missing numbers.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1" name="Google Shape;22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3605" y="8611517"/>
            <a:ext cx="2695951" cy="57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44606" y="8563886"/>
            <a:ext cx="2934109" cy="66684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1113627" y="408012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11941" y="449367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5662933" y="39973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5352103" y="400768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5014034" y="44336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3512042" y="37695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3201212" y="44542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2775383" y="378665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265559" y="585111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1265559" y="2581212"/>
            <a:ext cx="57754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6439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4596802" y="765654"/>
            <a:ext cx="25986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4596802" y="2383388"/>
            <a:ext cx="18819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£158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955390" y="5983248"/>
            <a:ext cx="28002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1,033,449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1220738" y="8645798"/>
            <a:ext cx="1967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4596802" y="8645954"/>
            <a:ext cx="1967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2572211" y="7323059"/>
            <a:ext cx="19447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267, 324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5212998" y="94274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45" name="Google Shape;245;p18"/>
          <p:cNvGraphicFramePr/>
          <p:nvPr/>
        </p:nvGraphicFramePr>
        <p:xfrm>
          <a:off x="183570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3286250"/>
                <a:gridCol w="3286250"/>
              </a:tblGrid>
              <a:tr h="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10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10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 A B is a 2-digit number etc.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three different digits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3 solutions B ≠ 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3 solutions B ≠ 0    C ≠ 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/>
          </a:blip>
          <a:srcRect b="2639" l="29184" r="44634" t="64176"/>
          <a:stretch/>
        </p:blipFill>
        <p:spPr>
          <a:xfrm>
            <a:off x="4406176" y="645729"/>
            <a:ext cx="1345122" cy="1954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/>
          <p:cNvPicPr preferRelativeResize="0"/>
          <p:nvPr/>
        </p:nvPicPr>
        <p:blipFill rotWithShape="1">
          <a:blip r:embed="rId3">
            <a:alphaModFix/>
          </a:blip>
          <a:srcRect b="50349" l="26504" r="44577" t="17515"/>
          <a:stretch/>
        </p:blipFill>
        <p:spPr>
          <a:xfrm>
            <a:off x="966017" y="759917"/>
            <a:ext cx="1485808" cy="189296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204048" y="4191848"/>
            <a:ext cx="6552000" cy="348942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200198" y="4520013"/>
            <a:ext cx="6543302" cy="36795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962" y="4540790"/>
            <a:ext cx="5089688" cy="35052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p18"/>
          <p:cNvGraphicFramePr/>
          <p:nvPr/>
        </p:nvGraphicFramePr>
        <p:xfrm>
          <a:off x="128173" y="2560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{31C61345-4A03-41AB-9D1A-C9E05733526F}</a:tableStyleId>
              </a:tblPr>
              <a:tblGrid>
                <a:gridCol w="3286250"/>
                <a:gridCol w="3286250"/>
              </a:tblGrid>
              <a:tr h="120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</a:t>
                      </a: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= 9, B = 3, C = 5                                                     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A = 8, B = 2, C = 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A = 7, B = 1, C = 5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= 6, B = 2, C = 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A = 7, B = 4, C =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A = 8, B = 6, C = 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18"/>
          <p:cNvSpPr/>
          <p:nvPr/>
        </p:nvSpPr>
        <p:spPr>
          <a:xfrm>
            <a:off x="1420517" y="6608329"/>
            <a:ext cx="1892808" cy="147014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