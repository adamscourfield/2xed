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D01CB2-A308-4624-9FC7-7F23692437BB}">
  <a:tblStyle styleId="{EBD01CB2-A308-4624-9FC7-7F23692437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0.png"/><Relationship Id="rId13" Type="http://schemas.openxmlformats.org/officeDocument/2006/relationships/image" Target="../media/image23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Relationship Id="rId15" Type="http://schemas.openxmlformats.org/officeDocument/2006/relationships/image" Target="../media/image29.png"/><Relationship Id="rId14" Type="http://schemas.openxmlformats.org/officeDocument/2006/relationships/image" Target="../media/image24.png"/><Relationship Id="rId17" Type="http://schemas.openxmlformats.org/officeDocument/2006/relationships/image" Target="../media/image40.png"/><Relationship Id="rId16" Type="http://schemas.openxmlformats.org/officeDocument/2006/relationships/image" Target="../media/image4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22" Type="http://schemas.openxmlformats.org/officeDocument/2006/relationships/image" Target="../media/image38.png"/><Relationship Id="rId21" Type="http://schemas.openxmlformats.org/officeDocument/2006/relationships/image" Target="../media/image47.png"/><Relationship Id="rId24" Type="http://schemas.openxmlformats.org/officeDocument/2006/relationships/image" Target="../media/image42.png"/><Relationship Id="rId23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Relationship Id="rId26" Type="http://schemas.openxmlformats.org/officeDocument/2006/relationships/image" Target="../media/image55.png"/><Relationship Id="rId25" Type="http://schemas.openxmlformats.org/officeDocument/2006/relationships/image" Target="../media/image52.png"/><Relationship Id="rId28" Type="http://schemas.openxmlformats.org/officeDocument/2006/relationships/image" Target="../media/image50.png"/><Relationship Id="rId27" Type="http://schemas.openxmlformats.org/officeDocument/2006/relationships/image" Target="../media/image4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29" Type="http://schemas.openxmlformats.org/officeDocument/2006/relationships/image" Target="../media/image54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31" Type="http://schemas.openxmlformats.org/officeDocument/2006/relationships/image" Target="../media/image48.png"/><Relationship Id="rId30" Type="http://schemas.openxmlformats.org/officeDocument/2006/relationships/image" Target="../media/image51.png"/><Relationship Id="rId11" Type="http://schemas.openxmlformats.org/officeDocument/2006/relationships/image" Target="../media/image33.png"/><Relationship Id="rId10" Type="http://schemas.openxmlformats.org/officeDocument/2006/relationships/image" Target="../media/image41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5" Type="http://schemas.openxmlformats.org/officeDocument/2006/relationships/image" Target="../media/image32.png"/><Relationship Id="rId14" Type="http://schemas.openxmlformats.org/officeDocument/2006/relationships/image" Target="../media/image46.png"/><Relationship Id="rId17" Type="http://schemas.openxmlformats.org/officeDocument/2006/relationships/image" Target="../media/image49.png"/><Relationship Id="rId16" Type="http://schemas.openxmlformats.org/officeDocument/2006/relationships/image" Target="../media/image56.png"/><Relationship Id="rId19" Type="http://schemas.openxmlformats.org/officeDocument/2006/relationships/image" Target="../media/image34.png"/><Relationship Id="rId1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81909" y="942133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138530" y="55097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568350"/>
                <a:gridCol w="1690750"/>
                <a:gridCol w="1690750"/>
                <a:gridCol w="1690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Start with the positive powers.  How many times has 10 been multiplied by itself? Multiply the base by this amount.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1911071" y="527365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94583" y="526556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484389" y="526891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84025" y="5012001"/>
            <a:ext cx="4437369" cy="24061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Investigating negative numbers through pattern spotting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02787" y="305984"/>
            <a:ext cx="6679742" cy="12944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439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N1.19 – Investigate Negative Powers of 10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2787" y="65867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174596" y="715310"/>
            <a:ext cx="1399768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3049" y="2692614"/>
            <a:ext cx="6699219" cy="226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93049" y="3922516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3"/>
          <p:cNvCxnSpPr>
            <a:stCxn id="99" idx="2"/>
            <a:endCxn id="99" idx="0"/>
          </p:cNvCxnSpPr>
          <p:nvPr/>
        </p:nvCxnSpPr>
        <p:spPr>
          <a:xfrm rot="10800000">
            <a:off x="3442659" y="2692614"/>
            <a:ext cx="0" cy="226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 txBox="1"/>
          <p:nvPr/>
        </p:nvSpPr>
        <p:spPr>
          <a:xfrm>
            <a:off x="70196" y="268154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716928" y="267646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7550" y="386641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723035" y="393818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70196" y="2857172"/>
            <a:ext cx="33724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 are a way of showing that a number is multiplied by itself several times. It's like a shortcut for writing repeated multiplication. We use small numbers, called indices, to show how many times the number is multiplied by itself.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3421575" y="2681011"/>
            <a:ext cx="3453104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base is the number you're multiplying by itself.  </a:t>
            </a: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index tells you how many times to multiply the base by itself. </a:t>
            </a: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base and the index together (10</a:t>
            </a:r>
            <a:r>
              <a:rPr baseline="3000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power).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978136" y="3736139"/>
            <a:ext cx="86401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-15944" y="4021060"/>
            <a:ext cx="3230335" cy="1015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6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850875" y="3971047"/>
            <a:ext cx="3230335" cy="10294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1" name="Google Shape;111;p13"/>
          <p:cNvCxnSpPr/>
          <p:nvPr/>
        </p:nvCxnSpPr>
        <p:spPr>
          <a:xfrm flipH="1" rot="10800000">
            <a:off x="4866571" y="3782972"/>
            <a:ext cx="416132" cy="17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" name="Google Shape;112;p13"/>
          <p:cNvCxnSpPr/>
          <p:nvPr/>
        </p:nvCxnSpPr>
        <p:spPr>
          <a:xfrm flipH="1">
            <a:off x="5552066" y="3615073"/>
            <a:ext cx="329610" cy="9448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" name="Google Shape;113;p13"/>
          <p:cNvSpPr txBox="1"/>
          <p:nvPr/>
        </p:nvSpPr>
        <p:spPr>
          <a:xfrm>
            <a:off x="3859173" y="3633496"/>
            <a:ext cx="12272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is the base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5816841" y="3474168"/>
            <a:ext cx="10100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is the index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3564749" y="3669261"/>
            <a:ext cx="3429000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106955" y="1624243"/>
            <a:ext cx="6672205" cy="10420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Standard form with negative powers of 10 is used to represent very small numbers in a clear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 way. In this format, a × 10ⁿ, a is a number between 1 and 10, and n is a negative integer that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shows how many times we divide by 10. This extends our understanding of place value and powers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10, helping us work confidently with decimals and very small values in both maths and science.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53771" y="950717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what negative powers of 10 mean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multiply by negative powers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turn numbers less than 0 into standard form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06669" y="355499"/>
            <a:ext cx="626400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gain an understanding of negative powers of 10 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138531" y="7597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568350"/>
                <a:gridCol w="1691650"/>
                <a:gridCol w="1691650"/>
                <a:gridCol w="16951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Decimal Notation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Index notation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tenth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hundredth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thousandth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millionth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0.000 001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billionth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0.000 000 001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3"/>
          <p:cNvSpPr txBox="1"/>
          <p:nvPr/>
        </p:nvSpPr>
        <p:spPr>
          <a:xfrm>
            <a:off x="2511085" y="580423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629935" y="611579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2731044" y="637468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2832153" y="664597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2832153" y="6894003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2832153" y="7186707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222945" y="580423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5300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4341795" y="611579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442904" y="637468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544013" y="664597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5.3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544013" y="6894003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4544013" y="7186707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0.053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5966416" y="580423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6085266" y="6115792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6201615" y="637468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6287484" y="6645970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3.1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6287484" y="6894003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6287484" y="7186707"/>
            <a:ext cx="8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0.031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524908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4" name="Google Shape;144;p14"/>
          <p:cNvGraphicFramePr/>
          <p:nvPr/>
        </p:nvGraphicFramePr>
        <p:xfrm>
          <a:off x="269429" y="3849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2121350"/>
                <a:gridCol w="2121350"/>
                <a:gridCol w="21213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14"/>
          <p:cNvSpPr txBox="1"/>
          <p:nvPr/>
        </p:nvSpPr>
        <p:spPr>
          <a:xfrm>
            <a:off x="698233" y="13688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810025" y="13231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757014" y="13231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256471" y="2366192"/>
            <a:ext cx="1008786" cy="40734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-1" r="38238" t="0"/>
          <a:stretch/>
        </p:blipFill>
        <p:spPr>
          <a:xfrm>
            <a:off x="285493" y="692383"/>
            <a:ext cx="1186726" cy="149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/>
          </a:blip>
          <a:srcRect b="0" l="9873" r="36836" t="0"/>
          <a:stretch/>
        </p:blipFill>
        <p:spPr>
          <a:xfrm>
            <a:off x="2432374" y="673348"/>
            <a:ext cx="1186726" cy="149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5">
            <a:alphaModFix/>
          </a:blip>
          <a:srcRect b="0" l="9392" r="0" t="0"/>
          <a:stretch/>
        </p:blipFill>
        <p:spPr>
          <a:xfrm>
            <a:off x="4546688" y="692382"/>
            <a:ext cx="1186726" cy="1529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245" y="3104287"/>
            <a:ext cx="1403222" cy="150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10" y="5076277"/>
            <a:ext cx="1579492" cy="1361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5192" y="3104287"/>
            <a:ext cx="1721354" cy="150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35547" y="5088729"/>
            <a:ext cx="1727753" cy="138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99252" y="3248121"/>
            <a:ext cx="1721354" cy="139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56901" y="4996610"/>
            <a:ext cx="1737672" cy="15204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4"/>
          <p:cNvGraphicFramePr/>
          <p:nvPr/>
        </p:nvGraphicFramePr>
        <p:xfrm>
          <a:off x="253265" y="2867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2126725"/>
                <a:gridCol w="2126725"/>
                <a:gridCol w="2126725"/>
              </a:tblGrid>
              <a:tr h="183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4"/>
          <p:cNvSpPr txBox="1"/>
          <p:nvPr/>
        </p:nvSpPr>
        <p:spPr>
          <a:xfrm>
            <a:off x="1309551" y="2569862"/>
            <a:ext cx="24833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Complete the following: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238949" y="6594896"/>
            <a:ext cx="4444992" cy="25821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standard form with negative powers to ordinary numbers</a:t>
            </a:r>
            <a:endParaRPr/>
          </a:p>
        </p:txBody>
      </p:sp>
      <p:graphicFrame>
        <p:nvGraphicFramePr>
          <p:cNvPr id="161" name="Google Shape;161;p14"/>
          <p:cNvGraphicFramePr/>
          <p:nvPr/>
        </p:nvGraphicFramePr>
        <p:xfrm>
          <a:off x="253266" y="7099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381500"/>
                <a:gridCol w="1666225"/>
                <a:gridCol w="1666225"/>
                <a:gridCol w="16662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as an ordinary number: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as an ordinary number: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as an ordinary number: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Multiply the decimal number by the negative power of 10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4"/>
          <p:cNvSpPr txBox="1"/>
          <p:nvPr/>
        </p:nvSpPr>
        <p:spPr>
          <a:xfrm>
            <a:off x="1756093" y="685310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5010780" y="685020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3347829" y="685206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4223014" y="8371560"/>
            <a:ext cx="639036" cy="9097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1376328" y="722655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1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0.1 = 0.1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0.01 = 0.01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0.001 = 0.001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0.0001 = 0.0001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3507164" y="752463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1 =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0.1 = 0.2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0.01 = 0.02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0.001 = 0.002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0.0001 = 0.0002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5481672" y="789815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1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0.1 = 0.3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0.01 = 0.03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0.001 = 0.003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0.0001 = 0.0003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1312933" y="3139949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1 =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0.1 = 0.4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0.01 = 0.04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0.001 = 0.004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0.0001 = 0.0004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3379704" y="3147503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1 =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0.1 = 0.6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0.01 = 0.06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0.001 = 0.006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0.0001 = 0.0006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5526012" y="3228564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1 =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0.1 = 0.7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0.01 = 0.07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0.001 = 0.007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0.0001 = 0.0007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1185069" y="5023048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1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0.1 = 0.5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0.01 = 0.05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0.001 = 0.005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0.0001 = 0.0005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3379705" y="5002674"/>
            <a:ext cx="124730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1 =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0.1 = 0.8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0.01 = 0.08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0.001 = 0.008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0.0001 = 0.0008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5568646" y="5054678"/>
            <a:ext cx="1344522" cy="1408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1 =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0.1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0.01 = 0.1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0.001 = 0.01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0.0001 = 0.001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1993954" y="7794137"/>
            <a:ext cx="3459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0.09441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3751932" y="7765216"/>
            <a:ext cx="3459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5395802" y="7794137"/>
            <a:ext cx="3596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idx="12" type="sldNum"/>
          </p:nvPr>
        </p:nvSpPr>
        <p:spPr>
          <a:xfrm>
            <a:off x="5147310" y="94547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161796" y="115397"/>
            <a:ext cx="984437" cy="38364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146233" y="290483"/>
            <a:ext cx="32301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Write the following in ordinary form:</a:t>
            </a:r>
            <a:endParaRPr/>
          </a:p>
        </p:txBody>
      </p:sp>
      <p:graphicFrame>
        <p:nvGraphicFramePr>
          <p:cNvPr id="186" name="Google Shape;186;p15"/>
          <p:cNvGraphicFramePr/>
          <p:nvPr/>
        </p:nvGraphicFramePr>
        <p:xfrm>
          <a:off x="174890" y="593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3257725"/>
                <a:gridCol w="3257725"/>
              </a:tblGrid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15"/>
          <p:cNvSpPr txBox="1"/>
          <p:nvPr/>
        </p:nvSpPr>
        <p:spPr>
          <a:xfrm>
            <a:off x="161796" y="5926831"/>
            <a:ext cx="73607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and Katie are discussing standard form.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says 8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8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                 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Katie says 8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9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is correct?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Only Tom                 B. Only Katie                     C. Both Tom and Katie                    D. Neither of them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71629" y="7227117"/>
            <a:ext cx="65034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and Katie are discussing standard form.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says 7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6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-5             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Katie says 7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6.59 x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is correct?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Only Tom                 B. Only Katie                     C. Both Tom and Katie                    D. Neither of them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98690" y="5671953"/>
            <a:ext cx="9411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74890" y="5898038"/>
            <a:ext cx="6515470" cy="106780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00836" y="6982596"/>
            <a:ext cx="9411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161796" y="7223921"/>
            <a:ext cx="6515470" cy="10666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171629" y="8573845"/>
            <a:ext cx="65034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 these numbers in order from smallest to biggest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4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 x 10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x 10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8.1 x 10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803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100836" y="8329324"/>
            <a:ext cx="9411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5. 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161796" y="8570649"/>
            <a:ext cx="6515470" cy="10666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373380" y="793567"/>
            <a:ext cx="3764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0.007568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842176" y="825217"/>
            <a:ext cx="3764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0.098914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335280" y="1500680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0.08397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3804076" y="1500680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0.065661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335280" y="2228193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0.023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5147310" y="2210650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-73667" y="2956876"/>
            <a:ext cx="4472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0.0087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273418" y="2949293"/>
            <a:ext cx="451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0.0047876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-111767" y="3687246"/>
            <a:ext cx="451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0.007847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3265798" y="3648482"/>
            <a:ext cx="452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0.00761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1579036" y="4394077"/>
            <a:ext cx="1421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5259416" y="4427233"/>
            <a:ext cx="452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1579036" y="5098232"/>
            <a:ext cx="4945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5049866" y="5186035"/>
            <a:ext cx="4945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0.06899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2836513" y="6586739"/>
            <a:ext cx="1935126" cy="37213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2836513" y="7925325"/>
            <a:ext cx="1935126" cy="37213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1579036" y="9179078"/>
            <a:ext cx="5052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10</a:t>
            </a:r>
            <a:r>
              <a:rPr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803, 8.1 x 10</a:t>
            </a:r>
            <a:r>
              <a:rPr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82 x 10</a:t>
            </a:r>
            <a:r>
              <a:rPr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5196337" y="938190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238949" y="178856"/>
            <a:ext cx="4444992" cy="25821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numbers in standard form</a:t>
            </a:r>
            <a:endParaRPr/>
          </a:p>
        </p:txBody>
      </p:sp>
      <p:graphicFrame>
        <p:nvGraphicFramePr>
          <p:cNvPr id="219" name="Google Shape;219;p16"/>
          <p:cNvGraphicFramePr/>
          <p:nvPr/>
        </p:nvGraphicFramePr>
        <p:xfrm>
          <a:off x="238949" y="763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381500"/>
                <a:gridCol w="1666225"/>
                <a:gridCol w="1666225"/>
                <a:gridCol w="16662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What will the first number be?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What power of 10 does it need to be multiplied by to keep it equal?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16"/>
          <p:cNvSpPr txBox="1"/>
          <p:nvPr/>
        </p:nvSpPr>
        <p:spPr>
          <a:xfrm>
            <a:off x="1741776" y="48568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4996463" y="48278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3333512" y="48464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238949" y="2542061"/>
            <a:ext cx="984437" cy="38364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1223386" y="2717147"/>
            <a:ext cx="32530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Write the following in standard form:</a:t>
            </a:r>
            <a:endParaRPr/>
          </a:p>
        </p:txBody>
      </p:sp>
      <p:graphicFrame>
        <p:nvGraphicFramePr>
          <p:cNvPr id="225" name="Google Shape;225;p16"/>
          <p:cNvGraphicFramePr/>
          <p:nvPr/>
        </p:nvGraphicFramePr>
        <p:xfrm>
          <a:off x="236803" y="3065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3198800"/>
                <a:gridCol w="3198800"/>
              </a:tblGrid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16"/>
          <p:cNvSpPr txBox="1"/>
          <p:nvPr/>
        </p:nvSpPr>
        <p:spPr>
          <a:xfrm>
            <a:off x="152668" y="7458047"/>
            <a:ext cx="16390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Complete the tables: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16"/>
          <p:cNvGraphicFramePr/>
          <p:nvPr/>
        </p:nvGraphicFramePr>
        <p:xfrm>
          <a:off x="241252" y="7713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596450"/>
                <a:gridCol w="1596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Ordinary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0.000901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16"/>
          <p:cNvGraphicFramePr/>
          <p:nvPr/>
        </p:nvGraphicFramePr>
        <p:xfrm>
          <a:off x="3502492" y="7713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1596450"/>
                <a:gridCol w="1596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Ordinary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0.0015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16"/>
          <p:cNvSpPr txBox="1"/>
          <p:nvPr/>
        </p:nvSpPr>
        <p:spPr>
          <a:xfrm>
            <a:off x="792665" y="1401299"/>
            <a:ext cx="342900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2507165" y="1401299"/>
            <a:ext cx="3429000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155214" y="1385038"/>
            <a:ext cx="3429000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23211" y="3275470"/>
            <a:ext cx="3429000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3384451" y="3270071"/>
            <a:ext cx="3429000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52668" y="3962572"/>
            <a:ext cx="3429000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3351338" y="4009639"/>
            <a:ext cx="3429000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152668" y="4694667"/>
            <a:ext cx="342900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3351338" y="4741734"/>
            <a:ext cx="3429000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152668" y="5394781"/>
            <a:ext cx="3429000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3351338" y="5441848"/>
            <a:ext cx="3429000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123211" y="6184831"/>
            <a:ext cx="3429000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3321881" y="6231898"/>
            <a:ext cx="3429000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185781" y="6884945"/>
            <a:ext cx="3429000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6"/>
          <p:cNvSpPr txBox="1"/>
          <p:nvPr/>
        </p:nvSpPr>
        <p:spPr>
          <a:xfrm>
            <a:off x="3384451" y="6932012"/>
            <a:ext cx="3429000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5186363" y="935453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49" name="Google Shape;249;p17"/>
          <p:cNvGraphicFramePr/>
          <p:nvPr/>
        </p:nvGraphicFramePr>
        <p:xfrm>
          <a:off x="210714" y="397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3227075"/>
                <a:gridCol w="3227075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Five tenths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Three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Four thousandths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Twelve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Eighteen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Thirty-three thousandths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17"/>
          <p:cNvSpPr txBox="1"/>
          <p:nvPr/>
        </p:nvSpPr>
        <p:spPr>
          <a:xfrm>
            <a:off x="154514" y="90520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17"/>
          <p:cNvGraphicFramePr/>
          <p:nvPr/>
        </p:nvGraphicFramePr>
        <p:xfrm>
          <a:off x="210714" y="3451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3227075"/>
                <a:gridCol w="3227075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17"/>
          <p:cNvSpPr txBox="1"/>
          <p:nvPr/>
        </p:nvSpPr>
        <p:spPr>
          <a:xfrm>
            <a:off x="149754" y="3157748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90714" y="6225364"/>
            <a:ext cx="6469398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 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17"/>
          <p:cNvGraphicFramePr/>
          <p:nvPr/>
        </p:nvGraphicFramePr>
        <p:xfrm>
          <a:off x="200996" y="6547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{EBD01CB2-A308-4624-9FC7-7F23692437BB}</a:tableStyleId>
              </a:tblPr>
              <a:tblGrid>
                <a:gridCol w="3229550"/>
                <a:gridCol w="3229550"/>
              </a:tblGrid>
              <a:tr h="121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9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seven thousandths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829" y="6672674"/>
            <a:ext cx="3114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165" y="7020868"/>
            <a:ext cx="1418928" cy="648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4770" y="7020868"/>
            <a:ext cx="1396042" cy="648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9061" y="6676154"/>
            <a:ext cx="3114675" cy="240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98126" y="6948899"/>
            <a:ext cx="8382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6363" y="6966352"/>
            <a:ext cx="857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83985" y="7400657"/>
            <a:ext cx="6762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86363" y="7378457"/>
            <a:ext cx="6667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0829" y="8331542"/>
            <a:ext cx="1276679" cy="37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88716" y="8331541"/>
            <a:ext cx="1280613" cy="37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7385" y="8899374"/>
            <a:ext cx="1276679" cy="36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77612" y="8911014"/>
            <a:ext cx="1489236" cy="31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493367" y="7804000"/>
            <a:ext cx="2113625" cy="282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98298" y="8114434"/>
            <a:ext cx="2409128" cy="35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93367" y="8479771"/>
            <a:ext cx="1656000" cy="33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442602" y="8819107"/>
            <a:ext cx="1620000" cy="35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7"/>
          <p:cNvPicPr preferRelativeResize="0"/>
          <p:nvPr/>
        </p:nvPicPr>
        <p:blipFill rotWithShape="1">
          <a:blip r:embed="rId19">
            <a:alphaModFix/>
          </a:blip>
          <a:srcRect b="3193" l="0" r="0" t="1"/>
          <a:stretch/>
        </p:blipFill>
        <p:spPr>
          <a:xfrm>
            <a:off x="3465462" y="9170076"/>
            <a:ext cx="2059038" cy="34510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/>
          <p:nvPr/>
        </p:nvSpPr>
        <p:spPr>
          <a:xfrm>
            <a:off x="488720" y="717893"/>
            <a:ext cx="2577784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3860475" y="673024"/>
            <a:ext cx="2577784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488720" y="1646307"/>
            <a:ext cx="2577784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3860475" y="1601438"/>
            <a:ext cx="2577784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392201" y="2560061"/>
            <a:ext cx="2577784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3773710" y="2560061"/>
            <a:ext cx="2577784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584266" y="3781754"/>
            <a:ext cx="2577784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3956021" y="3736885"/>
            <a:ext cx="2577784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584266" y="4710168"/>
            <a:ext cx="2577784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3956021" y="4665299"/>
            <a:ext cx="2577784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487747" y="5623922"/>
            <a:ext cx="2577784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3869256" y="5623922"/>
            <a:ext cx="2577784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1065686" y="7057655"/>
            <a:ext cx="609939" cy="6948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5057512" y="6903660"/>
            <a:ext cx="1015685" cy="447096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81165" y="8810238"/>
            <a:ext cx="1520693" cy="55839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345573" y="8819979"/>
            <a:ext cx="1943306" cy="35843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