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947D6E-39A2-4ACA-B267-9FF147E16AE4}">
  <a:tblStyle styleId="{84947D6E-39A2-4ACA-B267-9FF147E16A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7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0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6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2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6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3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6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6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5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4.png"/><Relationship Id="rId13" Type="http://schemas.openxmlformats.org/officeDocument/2006/relationships/image" Target="../media/image28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2.png"/><Relationship Id="rId1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4.png"/><Relationship Id="rId13" Type="http://schemas.openxmlformats.org/officeDocument/2006/relationships/image" Target="../media/image1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9" Type="http://schemas.openxmlformats.org/officeDocument/2006/relationships/image" Target="../media/image7.png"/><Relationship Id="rId14" Type="http://schemas.openxmlformats.org/officeDocument/2006/relationships/image" Target="../media/image34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Relationship Id="rId8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2.png"/><Relationship Id="rId11" Type="http://schemas.openxmlformats.org/officeDocument/2006/relationships/image" Target="../media/image29.png"/><Relationship Id="rId10" Type="http://schemas.openxmlformats.org/officeDocument/2006/relationships/image" Target="../media/image36.png"/><Relationship Id="rId13" Type="http://schemas.openxmlformats.org/officeDocument/2006/relationships/image" Target="../media/image43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Relationship Id="rId15" Type="http://schemas.openxmlformats.org/officeDocument/2006/relationships/image" Target="../media/image44.png"/><Relationship Id="rId14" Type="http://schemas.openxmlformats.org/officeDocument/2006/relationships/image" Target="../media/image50.png"/><Relationship Id="rId17" Type="http://schemas.openxmlformats.org/officeDocument/2006/relationships/image" Target="../media/image38.png"/><Relationship Id="rId16" Type="http://schemas.openxmlformats.org/officeDocument/2006/relationships/image" Target="../media/image41.png"/><Relationship Id="rId5" Type="http://schemas.openxmlformats.org/officeDocument/2006/relationships/image" Target="../media/image49.png"/><Relationship Id="rId19" Type="http://schemas.openxmlformats.org/officeDocument/2006/relationships/image" Target="../media/image45.png"/><Relationship Id="rId6" Type="http://schemas.openxmlformats.org/officeDocument/2006/relationships/image" Target="../media/image25.png"/><Relationship Id="rId18" Type="http://schemas.openxmlformats.org/officeDocument/2006/relationships/image" Target="../media/image42.png"/><Relationship Id="rId7" Type="http://schemas.openxmlformats.org/officeDocument/2006/relationships/image" Target="../media/image46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Relationship Id="rId5" Type="http://schemas.openxmlformats.org/officeDocument/2006/relationships/image" Target="../media/image40.png"/><Relationship Id="rId6" Type="http://schemas.openxmlformats.org/officeDocument/2006/relationships/image" Target="../media/image56.png"/><Relationship Id="rId7" Type="http://schemas.openxmlformats.org/officeDocument/2006/relationships/image" Target="../media/image68.png"/><Relationship Id="rId8" Type="http://schemas.openxmlformats.org/officeDocument/2006/relationships/image" Target="../media/image72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82.png"/><Relationship Id="rId11" Type="http://schemas.openxmlformats.org/officeDocument/2006/relationships/image" Target="../media/image63.png"/><Relationship Id="rId10" Type="http://schemas.openxmlformats.org/officeDocument/2006/relationships/image" Target="../media/image61.png"/><Relationship Id="rId13" Type="http://schemas.openxmlformats.org/officeDocument/2006/relationships/image" Target="../media/image70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9" Type="http://schemas.openxmlformats.org/officeDocument/2006/relationships/image" Target="../media/image71.png"/><Relationship Id="rId15" Type="http://schemas.openxmlformats.org/officeDocument/2006/relationships/image" Target="../media/image66.png"/><Relationship Id="rId14" Type="http://schemas.openxmlformats.org/officeDocument/2006/relationships/image" Target="../media/image74.png"/><Relationship Id="rId17" Type="http://schemas.openxmlformats.org/officeDocument/2006/relationships/image" Target="../media/image76.png"/><Relationship Id="rId16" Type="http://schemas.openxmlformats.org/officeDocument/2006/relationships/image" Target="../media/image67.png"/><Relationship Id="rId5" Type="http://schemas.openxmlformats.org/officeDocument/2006/relationships/image" Target="../media/image48.png"/><Relationship Id="rId19" Type="http://schemas.openxmlformats.org/officeDocument/2006/relationships/image" Target="../media/image75.png"/><Relationship Id="rId6" Type="http://schemas.openxmlformats.org/officeDocument/2006/relationships/image" Target="../media/image64.png"/><Relationship Id="rId18" Type="http://schemas.openxmlformats.org/officeDocument/2006/relationships/image" Target="../media/image65.png"/><Relationship Id="rId7" Type="http://schemas.openxmlformats.org/officeDocument/2006/relationships/image" Target="../media/image47.png"/><Relationship Id="rId8" Type="http://schemas.openxmlformats.org/officeDocument/2006/relationships/image" Target="../media/image6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2.png"/><Relationship Id="rId4" Type="http://schemas.openxmlformats.org/officeDocument/2006/relationships/image" Target="../media/image83.png"/><Relationship Id="rId5" Type="http://schemas.openxmlformats.org/officeDocument/2006/relationships/image" Target="../media/image7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80.png"/><Relationship Id="rId13" Type="http://schemas.openxmlformats.org/officeDocument/2006/relationships/image" Target="../media/image91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3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Relationship Id="rId15" Type="http://schemas.openxmlformats.org/officeDocument/2006/relationships/image" Target="../media/image96.png"/><Relationship Id="rId14" Type="http://schemas.openxmlformats.org/officeDocument/2006/relationships/image" Target="../media/image81.png"/><Relationship Id="rId5" Type="http://schemas.openxmlformats.org/officeDocument/2006/relationships/image" Target="../media/image79.png"/><Relationship Id="rId6" Type="http://schemas.openxmlformats.org/officeDocument/2006/relationships/image" Target="../media/image97.png"/><Relationship Id="rId7" Type="http://schemas.openxmlformats.org/officeDocument/2006/relationships/image" Target="../media/image77.png"/><Relationship Id="rId8" Type="http://schemas.openxmlformats.org/officeDocument/2006/relationships/image" Target="../media/image10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3.png"/><Relationship Id="rId10" Type="http://schemas.openxmlformats.org/officeDocument/2006/relationships/image" Target="../media/image86.png"/><Relationship Id="rId13" Type="http://schemas.openxmlformats.org/officeDocument/2006/relationships/image" Target="../media/image90.png"/><Relationship Id="rId1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101.png"/><Relationship Id="rId15" Type="http://schemas.openxmlformats.org/officeDocument/2006/relationships/image" Target="../media/image102.png"/><Relationship Id="rId14" Type="http://schemas.openxmlformats.org/officeDocument/2006/relationships/image" Target="../media/image105.png"/><Relationship Id="rId17" Type="http://schemas.openxmlformats.org/officeDocument/2006/relationships/image" Target="../media/image104.png"/><Relationship Id="rId16" Type="http://schemas.openxmlformats.org/officeDocument/2006/relationships/image" Target="../media/image87.png"/><Relationship Id="rId5" Type="http://schemas.openxmlformats.org/officeDocument/2006/relationships/image" Target="../media/image89.png"/><Relationship Id="rId6" Type="http://schemas.openxmlformats.org/officeDocument/2006/relationships/image" Target="../media/image93.png"/><Relationship Id="rId7" Type="http://schemas.openxmlformats.org/officeDocument/2006/relationships/image" Target="../media/image106.png"/><Relationship Id="rId8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76370" y="57046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1399725"/>
                <a:gridCol w="1619525"/>
                <a:gridCol w="1866900"/>
                <a:gridCol w="1803325"/>
              </a:tblGrid>
              <a:tr h="20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2075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Draw on a perpendicular line to one of the edges to help give a sense of perspective.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Use this to estimate how large your angle is.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/>
          <p:nvPr/>
        </p:nvSpPr>
        <p:spPr>
          <a:xfrm>
            <a:off x="86108" y="309496"/>
            <a:ext cx="6679742" cy="16116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G1.3 – Estimating Angles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8584" y="80445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97853" y="1033766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estimate the size of acute angles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estimate the size of obtuse angles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estimate the size of reflex angles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42969" y="356923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estimate the size of angles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817304" y="812148"/>
            <a:ext cx="85151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Acute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Obtuse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31051" y="389470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76370" y="1964111"/>
            <a:ext cx="6699219" cy="32414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>
            <a:stCxn id="97" idx="1"/>
            <a:endCxn id="97" idx="3"/>
          </p:cNvCxnSpPr>
          <p:nvPr/>
        </p:nvCxnSpPr>
        <p:spPr>
          <a:xfrm>
            <a:off x="76370" y="3584841"/>
            <a:ext cx="669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5980" y="1964070"/>
            <a:ext cx="0" cy="3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91414" y="197844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563625" y="2026475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9689" y="361770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547987" y="3610271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06425" y="2356024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amount of turn from one straight line to another straight line connected at a point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491007" y="2116945"/>
            <a:ext cx="3230335" cy="1256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connected straight lines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measured using the unit “degree”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measured using a protractor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∙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called “acute”, </a:t>
            </a: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“obtuse”, “reflex” and “right”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080524" y="3399268"/>
            <a:ext cx="71686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66206" y="536711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estimate the size of acute angles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35" y="3887270"/>
            <a:ext cx="986433" cy="121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0422" y="3668889"/>
            <a:ext cx="708396" cy="57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9614" y="3784937"/>
            <a:ext cx="764690" cy="69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9344" y="4547248"/>
            <a:ext cx="738976" cy="5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3789" y="3887270"/>
            <a:ext cx="1847245" cy="857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8843" y="4118721"/>
            <a:ext cx="931171" cy="897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74101" y="6514502"/>
            <a:ext cx="1464533" cy="1301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1481608" y="7867401"/>
            <a:ext cx="938254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6" name="Google Shape;116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62531" y="6824477"/>
            <a:ext cx="1693861" cy="105339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3329688" y="7877873"/>
            <a:ext cx="938254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13">
            <a:alphaModFix/>
          </a:blip>
          <a:srcRect b="6430" l="9121" r="13339" t="0"/>
          <a:stretch/>
        </p:blipFill>
        <p:spPr>
          <a:xfrm>
            <a:off x="5110611" y="6629748"/>
            <a:ext cx="1590484" cy="141376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5169970" y="8000470"/>
            <a:ext cx="93825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5244745" y="-10649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4"/>
          <p:cNvGraphicFramePr/>
          <p:nvPr/>
        </p:nvGraphicFramePr>
        <p:xfrm>
          <a:off x="120853" y="5455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73300"/>
                <a:gridCol w="2173300"/>
                <a:gridCol w="2173300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90491">
            <a:off x="4905878" y="3512391"/>
            <a:ext cx="1371791" cy="1695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/>
          <p:nvPr/>
        </p:nvSpPr>
        <p:spPr>
          <a:xfrm>
            <a:off x="97503" y="91656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>
            <a:off x="138955" y="560686"/>
            <a:ext cx="1845500" cy="2379959"/>
            <a:chOff x="73632" y="4606593"/>
            <a:chExt cx="1845500" cy="2379959"/>
          </a:xfrm>
        </p:grpSpPr>
        <p:sp>
          <p:nvSpPr>
            <p:cNvPr id="129" name="Google Shape;129;p14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4"/>
            <p:cNvSpPr txBox="1"/>
            <p:nvPr/>
          </p:nvSpPr>
          <p:spPr>
            <a:xfrm>
              <a:off x="73632" y="460659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 </a:t>
              </a:r>
              <a:endParaRPr/>
            </a:p>
          </p:txBody>
        </p:sp>
      </p:grpSp>
      <p:sp>
        <p:nvSpPr>
          <p:cNvPr id="131" name="Google Shape;131;p14"/>
          <p:cNvSpPr txBox="1"/>
          <p:nvPr/>
        </p:nvSpPr>
        <p:spPr>
          <a:xfrm>
            <a:off x="624625" y="2505170"/>
            <a:ext cx="93825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2320508" y="560686"/>
            <a:ext cx="1945515" cy="2379959"/>
            <a:chOff x="-26383" y="4606593"/>
            <a:chExt cx="1945515" cy="2379959"/>
          </a:xfrm>
        </p:grpSpPr>
        <p:sp>
          <p:nvSpPr>
            <p:cNvPr id="133" name="Google Shape;133;p14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-26383" y="460659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 </a:t>
              </a:r>
              <a:endParaRPr/>
            </a:p>
          </p:txBody>
        </p:sp>
      </p:grpSp>
      <p:sp>
        <p:nvSpPr>
          <p:cNvPr id="135" name="Google Shape;135;p14"/>
          <p:cNvSpPr txBox="1"/>
          <p:nvPr/>
        </p:nvSpPr>
        <p:spPr>
          <a:xfrm>
            <a:off x="2983406" y="2505170"/>
            <a:ext cx="93825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36" name="Google Shape;136;p14"/>
          <p:cNvGrpSpPr/>
          <p:nvPr/>
        </p:nvGrpSpPr>
        <p:grpSpPr>
          <a:xfrm>
            <a:off x="4468997" y="560686"/>
            <a:ext cx="1959801" cy="2379959"/>
            <a:chOff x="-40669" y="4606593"/>
            <a:chExt cx="1959801" cy="2379959"/>
          </a:xfrm>
        </p:grpSpPr>
        <p:sp>
          <p:nvSpPr>
            <p:cNvPr id="137" name="Google Shape;137;p14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-40669" y="460659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 </a:t>
              </a:r>
              <a:endParaRPr/>
            </a:p>
          </p:txBody>
        </p:sp>
      </p:grpSp>
      <p:sp>
        <p:nvSpPr>
          <p:cNvPr id="139" name="Google Shape;139;p14"/>
          <p:cNvSpPr txBox="1"/>
          <p:nvPr/>
        </p:nvSpPr>
        <p:spPr>
          <a:xfrm>
            <a:off x="5146181" y="2505170"/>
            <a:ext cx="93825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40" name="Google Shape;140;p14"/>
          <p:cNvGrpSpPr/>
          <p:nvPr/>
        </p:nvGrpSpPr>
        <p:grpSpPr>
          <a:xfrm>
            <a:off x="113172" y="2985606"/>
            <a:ext cx="1892207" cy="2579794"/>
            <a:chOff x="-12091" y="4549441"/>
            <a:chExt cx="1892207" cy="2579794"/>
          </a:xfrm>
        </p:grpSpPr>
        <p:sp>
          <p:nvSpPr>
            <p:cNvPr id="141" name="Google Shape;141;p14"/>
            <p:cNvSpPr/>
            <p:nvPr/>
          </p:nvSpPr>
          <p:spPr>
            <a:xfrm>
              <a:off x="206069" y="6627617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4"/>
            <p:cNvSpPr txBox="1"/>
            <p:nvPr/>
          </p:nvSpPr>
          <p:spPr>
            <a:xfrm>
              <a:off x="-12091" y="4549441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 </a:t>
              </a:r>
              <a:endParaRPr/>
            </a:p>
          </p:txBody>
        </p:sp>
      </p:grpSp>
      <p:sp>
        <p:nvSpPr>
          <p:cNvPr id="143" name="Google Shape;143;p14"/>
          <p:cNvSpPr txBox="1"/>
          <p:nvPr/>
        </p:nvSpPr>
        <p:spPr>
          <a:xfrm>
            <a:off x="684565" y="5158695"/>
            <a:ext cx="93825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44" name="Google Shape;144;p14"/>
          <p:cNvGrpSpPr/>
          <p:nvPr/>
        </p:nvGrpSpPr>
        <p:grpSpPr>
          <a:xfrm>
            <a:off x="2309010" y="3014182"/>
            <a:ext cx="1948289" cy="2565511"/>
            <a:chOff x="-97821" y="4578017"/>
            <a:chExt cx="1948289" cy="2565511"/>
          </a:xfrm>
        </p:grpSpPr>
        <p:sp>
          <p:nvSpPr>
            <p:cNvPr id="145" name="Google Shape;145;p14"/>
            <p:cNvSpPr/>
            <p:nvPr/>
          </p:nvSpPr>
          <p:spPr>
            <a:xfrm>
              <a:off x="176421" y="6641910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-97821" y="4578017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e) </a:t>
              </a:r>
              <a:endParaRPr/>
            </a:p>
          </p:txBody>
        </p:sp>
      </p:grpSp>
      <p:sp>
        <p:nvSpPr>
          <p:cNvPr id="147" name="Google Shape;147;p14"/>
          <p:cNvSpPr txBox="1"/>
          <p:nvPr/>
        </p:nvSpPr>
        <p:spPr>
          <a:xfrm>
            <a:off x="3043346" y="5158695"/>
            <a:ext cx="93825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4486075" y="3014182"/>
            <a:ext cx="2002645" cy="2551218"/>
            <a:chOff x="-83531" y="4578017"/>
            <a:chExt cx="2002645" cy="2551218"/>
          </a:xfrm>
        </p:grpSpPr>
        <p:sp>
          <p:nvSpPr>
            <p:cNvPr id="149" name="Google Shape;149;p14"/>
            <p:cNvSpPr/>
            <p:nvPr/>
          </p:nvSpPr>
          <p:spPr>
            <a:xfrm>
              <a:off x="245067" y="6627617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4"/>
            <p:cNvSpPr txBox="1"/>
            <p:nvPr/>
          </p:nvSpPr>
          <p:spPr>
            <a:xfrm>
              <a:off x="-83531" y="4578017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f) </a:t>
              </a:r>
              <a:endParaRPr/>
            </a:p>
          </p:txBody>
        </p:sp>
      </p:grpSp>
      <p:sp>
        <p:nvSpPr>
          <p:cNvPr id="151" name="Google Shape;151;p14"/>
          <p:cNvSpPr txBox="1"/>
          <p:nvPr/>
        </p:nvSpPr>
        <p:spPr>
          <a:xfrm>
            <a:off x="5206121" y="5158695"/>
            <a:ext cx="93825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74438" y="1112757"/>
            <a:ext cx="1629002" cy="65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70" y="900472"/>
            <a:ext cx="1427348" cy="1394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05852" y="939798"/>
            <a:ext cx="1571844" cy="114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86821" y="3421870"/>
            <a:ext cx="1639142" cy="120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5245" y="3421870"/>
            <a:ext cx="1600423" cy="1009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 txBox="1"/>
          <p:nvPr/>
        </p:nvSpPr>
        <p:spPr>
          <a:xfrm>
            <a:off x="1229891" y="237927"/>
            <a:ext cx="49352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Estimate the size of the angles shown below:</a:t>
            </a:r>
            <a:endParaRPr/>
          </a:p>
        </p:txBody>
      </p:sp>
      <p:graphicFrame>
        <p:nvGraphicFramePr>
          <p:cNvPr id="158" name="Google Shape;158;p14"/>
          <p:cNvGraphicFramePr/>
          <p:nvPr/>
        </p:nvGraphicFramePr>
        <p:xfrm>
          <a:off x="124667" y="6075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67275"/>
                <a:gridCol w="2167275"/>
                <a:gridCol w="2167275"/>
              </a:tblGrid>
              <a:tr h="3384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In the spaces below, </a:t>
                      </a:r>
                      <a:r>
                        <a:rPr b="1" lang="en-GB" sz="1200"/>
                        <a:t>without a protractor, </a:t>
                      </a:r>
                      <a:r>
                        <a:rPr b="0" lang="en-GB" sz="1200"/>
                        <a:t>sketch the following angles:</a:t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5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4941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Now go back and measure the angles </a:t>
                      </a:r>
                      <a:r>
                        <a:rPr b="1" lang="en-GB" sz="1200"/>
                        <a:t>with a protractor</a:t>
                      </a:r>
                      <a:r>
                        <a:rPr b="0" lang="en-GB" sz="1200"/>
                        <a:t>. How close were you to the exact value?</a:t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sp>
        <p:nvSpPr>
          <p:cNvPr id="159" name="Google Shape;159;p14"/>
          <p:cNvSpPr txBox="1"/>
          <p:nvPr/>
        </p:nvSpPr>
        <p:spPr>
          <a:xfrm>
            <a:off x="47076" y="5787223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</a:t>
            </a:r>
            <a:endParaRPr/>
          </a:p>
        </p:txBody>
      </p:sp>
      <p:sp>
        <p:nvSpPr>
          <p:cNvPr id="160" name="Google Shape;160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15"/>
          <p:cNvGraphicFramePr/>
          <p:nvPr/>
        </p:nvGraphicFramePr>
        <p:xfrm>
          <a:off x="203270" y="4383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46775"/>
                <a:gridCol w="2146775"/>
                <a:gridCol w="2146775"/>
              </a:tblGrid>
              <a:tr h="35622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16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16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6400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186905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____________________________________________________________________________________________________________________________________________________________________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166" name="Google Shape;166;p15"/>
          <p:cNvGrpSpPr/>
          <p:nvPr/>
        </p:nvGrpSpPr>
        <p:grpSpPr>
          <a:xfrm>
            <a:off x="1013568" y="508722"/>
            <a:ext cx="4962125" cy="3456931"/>
            <a:chOff x="792222" y="3641058"/>
            <a:chExt cx="4962125" cy="3456931"/>
          </a:xfrm>
        </p:grpSpPr>
        <p:grpSp>
          <p:nvGrpSpPr>
            <p:cNvPr id="167" name="Google Shape;167;p15"/>
            <p:cNvGrpSpPr/>
            <p:nvPr/>
          </p:nvGrpSpPr>
          <p:grpSpPr>
            <a:xfrm>
              <a:off x="1084081" y="3919935"/>
              <a:ext cx="4339038" cy="2902271"/>
              <a:chOff x="1084081" y="3919935"/>
              <a:chExt cx="4339038" cy="2902271"/>
            </a:xfrm>
          </p:grpSpPr>
          <p:grpSp>
            <p:nvGrpSpPr>
              <p:cNvPr id="168" name="Google Shape;168;p15"/>
              <p:cNvGrpSpPr/>
              <p:nvPr/>
            </p:nvGrpSpPr>
            <p:grpSpPr>
              <a:xfrm>
                <a:off x="1084081" y="3919935"/>
                <a:ext cx="4339038" cy="2902271"/>
                <a:chOff x="407891" y="3967643"/>
                <a:chExt cx="4339038" cy="2902271"/>
              </a:xfrm>
            </p:grpSpPr>
            <p:cxnSp>
              <p:nvCxnSpPr>
                <p:cNvPr id="169" name="Google Shape;169;p15"/>
                <p:cNvCxnSpPr/>
                <p:nvPr/>
              </p:nvCxnSpPr>
              <p:spPr>
                <a:xfrm>
                  <a:off x="2395705" y="4322776"/>
                  <a:ext cx="2351224" cy="106101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 flipH="1" rot="10800000">
                  <a:off x="4469958" y="4428877"/>
                  <a:ext cx="276971" cy="64002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 flipH="1">
                  <a:off x="3335572" y="4659464"/>
                  <a:ext cx="210710" cy="95365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2201186" y="4928483"/>
                  <a:ext cx="1134386" cy="68463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 rot="10800000">
                  <a:off x="2209138" y="4928483"/>
                  <a:ext cx="34458" cy="74659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2243596" y="5660827"/>
                  <a:ext cx="509213" cy="36510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 rot="10800000">
                  <a:off x="3854621" y="6112725"/>
                  <a:ext cx="735931" cy="67039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 flipH="1">
                  <a:off x="1683028" y="6783124"/>
                  <a:ext cx="2930055" cy="8679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 flipH="1">
                  <a:off x="1693629" y="6283518"/>
                  <a:ext cx="230587" cy="5863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 rot="10800000">
                  <a:off x="407891" y="5551156"/>
                  <a:ext cx="1516325" cy="74659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407891" y="4273826"/>
                  <a:ext cx="0" cy="127467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407891" y="4259811"/>
                  <a:ext cx="791431" cy="52677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" name="Google Shape;181;p15"/>
                <p:cNvCxnSpPr/>
                <p:nvPr/>
              </p:nvCxnSpPr>
              <p:spPr>
                <a:xfrm>
                  <a:off x="1193742" y="3967643"/>
                  <a:ext cx="2128" cy="833179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" name="Google Shape;182;p15"/>
                <p:cNvCxnSpPr/>
                <p:nvPr/>
              </p:nvCxnSpPr>
              <p:spPr>
                <a:xfrm>
                  <a:off x="1199322" y="3967643"/>
                  <a:ext cx="671346" cy="3981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15"/>
                <p:cNvCxnSpPr/>
                <p:nvPr/>
              </p:nvCxnSpPr>
              <p:spPr>
                <a:xfrm rot="10800000">
                  <a:off x="1870668" y="3995656"/>
                  <a:ext cx="521585" cy="32506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4" name="Google Shape;184;p15"/>
                <p:cNvCxnSpPr/>
                <p:nvPr/>
              </p:nvCxnSpPr>
              <p:spPr>
                <a:xfrm>
                  <a:off x="3546282" y="4659464"/>
                  <a:ext cx="923676" cy="40944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85" name="Google Shape;185;p15"/>
              <p:cNvCxnSpPr/>
              <p:nvPr/>
            </p:nvCxnSpPr>
            <p:spPr>
              <a:xfrm>
                <a:off x="3428999" y="5980282"/>
                <a:ext cx="1101812" cy="84735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6" name="Google Shape;186;p15"/>
            <p:cNvSpPr txBox="1"/>
            <p:nvPr/>
          </p:nvSpPr>
          <p:spPr>
            <a:xfrm>
              <a:off x="2941305" y="3891730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87" name="Google Shape;187;p15"/>
            <p:cNvSpPr txBox="1"/>
            <p:nvPr/>
          </p:nvSpPr>
          <p:spPr>
            <a:xfrm>
              <a:off x="2403547" y="3641058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88" name="Google Shape;188;p15"/>
            <p:cNvSpPr txBox="1"/>
            <p:nvPr/>
          </p:nvSpPr>
          <p:spPr>
            <a:xfrm>
              <a:off x="5359900" y="4110923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5056036" y="4926017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3969745" y="4342169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191" name="Google Shape;191;p15"/>
            <p:cNvSpPr txBox="1"/>
            <p:nvPr/>
          </p:nvSpPr>
          <p:spPr>
            <a:xfrm>
              <a:off x="3894285" y="5492438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2688104" y="4596839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193" name="Google Shape;193;p15"/>
            <p:cNvSpPr txBox="1"/>
            <p:nvPr/>
          </p:nvSpPr>
          <p:spPr>
            <a:xfrm>
              <a:off x="2654759" y="5471862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sp>
          <p:nvSpPr>
            <p:cNvPr id="194" name="Google Shape;194;p15"/>
            <p:cNvSpPr txBox="1"/>
            <p:nvPr/>
          </p:nvSpPr>
          <p:spPr>
            <a:xfrm>
              <a:off x="3278435" y="5927395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/>
            </a:p>
          </p:txBody>
        </p:sp>
        <p:sp>
          <p:nvSpPr>
            <p:cNvPr id="195" name="Google Shape;195;p15"/>
            <p:cNvSpPr txBox="1"/>
            <p:nvPr/>
          </p:nvSpPr>
          <p:spPr>
            <a:xfrm>
              <a:off x="4474390" y="5742729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5233840" y="6561117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endParaRPr/>
            </a:p>
          </p:txBody>
        </p:sp>
        <p:sp>
          <p:nvSpPr>
            <p:cNvPr id="197" name="Google Shape;197;p15"/>
            <p:cNvSpPr txBox="1"/>
            <p:nvPr/>
          </p:nvSpPr>
          <p:spPr>
            <a:xfrm>
              <a:off x="2090665" y="6728657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sp>
          <p:nvSpPr>
            <p:cNvPr id="198" name="Google Shape;198;p15"/>
            <p:cNvSpPr txBox="1"/>
            <p:nvPr/>
          </p:nvSpPr>
          <p:spPr>
            <a:xfrm>
              <a:off x="2553746" y="6063377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199" name="Google Shape;199;p15"/>
            <p:cNvSpPr txBox="1"/>
            <p:nvPr/>
          </p:nvSpPr>
          <p:spPr>
            <a:xfrm>
              <a:off x="792222" y="5423175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/>
            </a:p>
          </p:txBody>
        </p:sp>
        <p:sp>
          <p:nvSpPr>
            <p:cNvPr id="200" name="Google Shape;200;p15"/>
            <p:cNvSpPr txBox="1"/>
            <p:nvPr/>
          </p:nvSpPr>
          <p:spPr>
            <a:xfrm>
              <a:off x="832945" y="3898611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/>
            </a:p>
          </p:txBody>
        </p:sp>
        <p:sp>
          <p:nvSpPr>
            <p:cNvPr id="201" name="Google Shape;201;p15"/>
            <p:cNvSpPr txBox="1"/>
            <p:nvPr/>
          </p:nvSpPr>
          <p:spPr>
            <a:xfrm>
              <a:off x="1742999" y="4664030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202" name="Google Shape;202;p15"/>
            <p:cNvSpPr txBox="1"/>
            <p:nvPr/>
          </p:nvSpPr>
          <p:spPr>
            <a:xfrm>
              <a:off x="1618246" y="3656780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</p:grpSp>
      <p:sp>
        <p:nvSpPr>
          <p:cNvPr id="203" name="Google Shape;203;p15"/>
          <p:cNvSpPr txBox="1"/>
          <p:nvPr/>
        </p:nvSpPr>
        <p:spPr>
          <a:xfrm>
            <a:off x="125161" y="142865"/>
            <a:ext cx="53858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Look at the shape below. Estimate the following angles: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326571" y="7916091"/>
            <a:ext cx="621792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882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326571" y="4558937"/>
            <a:ext cx="1764707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2477520" y="4646085"/>
            <a:ext cx="176470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4687952" y="4669382"/>
            <a:ext cx="176470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292684" y="6048906"/>
            <a:ext cx="1764707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2468401" y="6046062"/>
            <a:ext cx="1764707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4698892" y="6096422"/>
            <a:ext cx="1764707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16"/>
          <p:cNvGraphicFramePr/>
          <p:nvPr/>
        </p:nvGraphicFramePr>
        <p:xfrm>
          <a:off x="93703" y="4621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229825"/>
                <a:gridCol w="2229825"/>
                <a:gridCol w="222982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Google Shape;218;p16"/>
          <p:cNvGraphicFramePr/>
          <p:nvPr/>
        </p:nvGraphicFramePr>
        <p:xfrm>
          <a:off x="94580" y="308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1219875"/>
                <a:gridCol w="1823200"/>
                <a:gridCol w="1823200"/>
                <a:gridCol w="1823200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the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16"/>
          <p:cNvSpPr/>
          <p:nvPr/>
        </p:nvSpPr>
        <p:spPr>
          <a:xfrm>
            <a:off x="94580" y="413756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232533" y="4301084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Estimate the size of the angles shown below: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estimate the size of obtuse angles</a:t>
            </a:r>
            <a:endParaRPr/>
          </a:p>
        </p:txBody>
      </p:sp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0701" y="1224121"/>
            <a:ext cx="1668876" cy="96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1336923" y="2428353"/>
            <a:ext cx="93825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24" name="Google Shape;2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050" y="1329669"/>
            <a:ext cx="1557701" cy="773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 txBox="1"/>
          <p:nvPr/>
        </p:nvSpPr>
        <p:spPr>
          <a:xfrm>
            <a:off x="3382894" y="2292263"/>
            <a:ext cx="93825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3258" y="1329669"/>
            <a:ext cx="1557701" cy="310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6"/>
          <p:cNvSpPr txBox="1"/>
          <p:nvPr/>
        </p:nvSpPr>
        <p:spPr>
          <a:xfrm>
            <a:off x="5267090" y="1918330"/>
            <a:ext cx="938254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28" name="Google Shape;228;p16"/>
          <p:cNvGrpSpPr/>
          <p:nvPr/>
        </p:nvGrpSpPr>
        <p:grpSpPr>
          <a:xfrm>
            <a:off x="120688" y="4600143"/>
            <a:ext cx="1860844" cy="2343545"/>
            <a:chOff x="58288" y="4600143"/>
            <a:chExt cx="1860844" cy="2343545"/>
          </a:xfrm>
        </p:grpSpPr>
        <p:sp>
          <p:nvSpPr>
            <p:cNvPr id="229" name="Google Shape;229;p16"/>
            <p:cNvSpPr/>
            <p:nvPr/>
          </p:nvSpPr>
          <p:spPr>
            <a:xfrm>
              <a:off x="245085" y="6442070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6"/>
            <p:cNvSpPr txBox="1"/>
            <p:nvPr/>
          </p:nvSpPr>
          <p:spPr>
            <a:xfrm>
              <a:off x="58288" y="460014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 </a:t>
              </a:r>
              <a:endParaRPr/>
            </a:p>
          </p:txBody>
        </p:sp>
      </p:grpSp>
      <p:sp>
        <p:nvSpPr>
          <p:cNvPr id="231" name="Google Shape;231;p16"/>
          <p:cNvSpPr txBox="1"/>
          <p:nvPr/>
        </p:nvSpPr>
        <p:spPr>
          <a:xfrm>
            <a:off x="621702" y="6522501"/>
            <a:ext cx="93825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32" name="Google Shape;2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4390" y="5181705"/>
            <a:ext cx="1674544" cy="5673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6"/>
          <p:cNvGrpSpPr/>
          <p:nvPr/>
        </p:nvGrpSpPr>
        <p:grpSpPr>
          <a:xfrm>
            <a:off x="2317586" y="4620881"/>
            <a:ext cx="1945514" cy="2322807"/>
            <a:chOff x="-26382" y="4620881"/>
            <a:chExt cx="1945514" cy="2322807"/>
          </a:xfrm>
        </p:grpSpPr>
        <p:sp>
          <p:nvSpPr>
            <p:cNvPr id="234" name="Google Shape;234;p16"/>
            <p:cNvSpPr/>
            <p:nvPr/>
          </p:nvSpPr>
          <p:spPr>
            <a:xfrm>
              <a:off x="245085" y="6442070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6"/>
            <p:cNvSpPr txBox="1"/>
            <p:nvPr/>
          </p:nvSpPr>
          <p:spPr>
            <a:xfrm>
              <a:off x="-26382" y="4620881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 </a:t>
              </a:r>
              <a:endParaRPr/>
            </a:p>
          </p:txBody>
        </p:sp>
      </p:grpSp>
      <p:sp>
        <p:nvSpPr>
          <p:cNvPr id="236" name="Google Shape;236;p16"/>
          <p:cNvSpPr txBox="1"/>
          <p:nvPr/>
        </p:nvSpPr>
        <p:spPr>
          <a:xfrm>
            <a:off x="2980483" y="6522501"/>
            <a:ext cx="938254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37" name="Google Shape;237;p16"/>
          <p:cNvGrpSpPr/>
          <p:nvPr/>
        </p:nvGrpSpPr>
        <p:grpSpPr>
          <a:xfrm>
            <a:off x="4566087" y="4606593"/>
            <a:ext cx="1859788" cy="2308519"/>
            <a:chOff x="59344" y="4606593"/>
            <a:chExt cx="1859788" cy="2308519"/>
          </a:xfrm>
        </p:grpSpPr>
        <p:sp>
          <p:nvSpPr>
            <p:cNvPr id="238" name="Google Shape;238;p16"/>
            <p:cNvSpPr/>
            <p:nvPr/>
          </p:nvSpPr>
          <p:spPr>
            <a:xfrm>
              <a:off x="245085" y="641349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59344" y="460659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 </a:t>
              </a:r>
              <a:endParaRPr/>
            </a:p>
          </p:txBody>
        </p:sp>
      </p:grpSp>
      <p:sp>
        <p:nvSpPr>
          <p:cNvPr id="240" name="Google Shape;240;p16"/>
          <p:cNvSpPr txBox="1"/>
          <p:nvPr/>
        </p:nvSpPr>
        <p:spPr>
          <a:xfrm>
            <a:off x="5143258" y="6522501"/>
            <a:ext cx="938254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41" name="Google Shape;241;p16"/>
          <p:cNvGrpSpPr/>
          <p:nvPr/>
        </p:nvGrpSpPr>
        <p:grpSpPr>
          <a:xfrm>
            <a:off x="110245" y="7045801"/>
            <a:ext cx="1931227" cy="2422823"/>
            <a:chOff x="-12095" y="4563729"/>
            <a:chExt cx="1931227" cy="2422823"/>
          </a:xfrm>
        </p:grpSpPr>
        <p:sp>
          <p:nvSpPr>
            <p:cNvPr id="242" name="Google Shape;242;p16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6"/>
            <p:cNvSpPr txBox="1"/>
            <p:nvPr/>
          </p:nvSpPr>
          <p:spPr>
            <a:xfrm>
              <a:off x="-12095" y="4563729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 </a:t>
              </a:r>
              <a:endParaRPr/>
            </a:p>
          </p:txBody>
        </p:sp>
      </p:grpSp>
      <p:sp>
        <p:nvSpPr>
          <p:cNvPr id="244" name="Google Shape;244;p16"/>
          <p:cNvSpPr txBox="1"/>
          <p:nvPr/>
        </p:nvSpPr>
        <p:spPr>
          <a:xfrm>
            <a:off x="681642" y="9033149"/>
            <a:ext cx="938254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45" name="Google Shape;245;p16"/>
          <p:cNvGrpSpPr/>
          <p:nvPr/>
        </p:nvGrpSpPr>
        <p:grpSpPr>
          <a:xfrm>
            <a:off x="2348951" y="7060089"/>
            <a:ext cx="1974089" cy="2408535"/>
            <a:chOff x="-54957" y="4578017"/>
            <a:chExt cx="1974089" cy="2408535"/>
          </a:xfrm>
        </p:grpSpPr>
        <p:sp>
          <p:nvSpPr>
            <p:cNvPr id="246" name="Google Shape;246;p16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 txBox="1"/>
            <p:nvPr/>
          </p:nvSpPr>
          <p:spPr>
            <a:xfrm>
              <a:off x="-54957" y="4578017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e) </a:t>
              </a:r>
              <a:endParaRPr/>
            </a:p>
          </p:txBody>
        </p:sp>
      </p:grpSp>
      <p:sp>
        <p:nvSpPr>
          <p:cNvPr id="248" name="Google Shape;248;p16"/>
          <p:cNvSpPr txBox="1"/>
          <p:nvPr/>
        </p:nvSpPr>
        <p:spPr>
          <a:xfrm>
            <a:off x="3040423" y="9033149"/>
            <a:ext cx="93825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49" name="Google Shape;249;p16"/>
          <p:cNvGrpSpPr/>
          <p:nvPr/>
        </p:nvGrpSpPr>
        <p:grpSpPr>
          <a:xfrm>
            <a:off x="4568877" y="7060089"/>
            <a:ext cx="1916938" cy="2408535"/>
            <a:chOff x="2194" y="4578017"/>
            <a:chExt cx="1916938" cy="2408535"/>
          </a:xfrm>
        </p:grpSpPr>
        <p:sp>
          <p:nvSpPr>
            <p:cNvPr id="250" name="Google Shape;250;p16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6"/>
            <p:cNvSpPr txBox="1"/>
            <p:nvPr/>
          </p:nvSpPr>
          <p:spPr>
            <a:xfrm>
              <a:off x="2194" y="4578017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f) </a:t>
              </a:r>
              <a:endParaRPr/>
            </a:p>
          </p:txBody>
        </p:sp>
      </p:grpSp>
      <p:sp>
        <p:nvSpPr>
          <p:cNvPr id="252" name="Google Shape;252;p16"/>
          <p:cNvSpPr txBox="1"/>
          <p:nvPr/>
        </p:nvSpPr>
        <p:spPr>
          <a:xfrm>
            <a:off x="5203198" y="9033149"/>
            <a:ext cx="938254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53" name="Google Shape;25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48993" y="4964044"/>
            <a:ext cx="1632897" cy="1163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957367" y="4936356"/>
            <a:ext cx="1412234" cy="1191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4063" y="7426100"/>
            <a:ext cx="1716941" cy="1255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374084" y="7652603"/>
            <a:ext cx="2109832" cy="64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94691" y="7436953"/>
            <a:ext cx="1689246" cy="105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3" name="Google Shape;263;p17"/>
          <p:cNvGraphicFramePr/>
          <p:nvPr/>
        </p:nvGraphicFramePr>
        <p:xfrm>
          <a:off x="208828" y="4643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68375"/>
                <a:gridCol w="2168375"/>
                <a:gridCol w="2168375"/>
              </a:tblGrid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Question 5. In the spaces below, </a:t>
                      </a:r>
                      <a:r>
                        <a:rPr b="1" lang="en-GB" sz="1200"/>
                        <a:t>without a protractor, </a:t>
                      </a:r>
                      <a:r>
                        <a:rPr b="0" lang="en-GB" sz="1200"/>
                        <a:t>sketch the following angles:</a:t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316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2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Now go back and measure the angles </a:t>
                      </a:r>
                      <a:r>
                        <a:rPr b="1" lang="en-GB" sz="1200"/>
                        <a:t>with a protractor</a:t>
                      </a:r>
                      <a:r>
                        <a:rPr b="0" lang="en-GB" sz="1200"/>
                        <a:t>. How close were you to the exact value?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311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5544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Without measuring, how can we tell Musa is incorrect?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656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b) What is a more suitable estimate for this angle?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4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264" name="Google Shape;2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705" y="5125151"/>
            <a:ext cx="2924583" cy="113363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7"/>
          <p:cNvSpPr txBox="1"/>
          <p:nvPr/>
        </p:nvSpPr>
        <p:spPr>
          <a:xfrm>
            <a:off x="2959869" y="8703988"/>
            <a:ext cx="93825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347972" y="6714309"/>
            <a:ext cx="6301200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8"/>
          <p:cNvGraphicFramePr/>
          <p:nvPr/>
        </p:nvGraphicFramePr>
        <p:xfrm>
          <a:off x="235730" y="7638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46775"/>
                <a:gridCol w="2146775"/>
                <a:gridCol w="2146775"/>
              </a:tblGrid>
              <a:tr h="424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6400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g) Evan says “if the lines are longer, that means the angle will be bigger too”.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     Do you agree?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/>
                        <a:t>     Justify your answer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  <a:tr h="15033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274" name="Google Shape;274;p18"/>
          <p:cNvGrpSpPr/>
          <p:nvPr/>
        </p:nvGrpSpPr>
        <p:grpSpPr>
          <a:xfrm>
            <a:off x="874805" y="795863"/>
            <a:ext cx="5219786" cy="4226029"/>
            <a:chOff x="646137" y="718044"/>
            <a:chExt cx="5219786" cy="4226029"/>
          </a:xfrm>
        </p:grpSpPr>
        <p:cxnSp>
          <p:nvCxnSpPr>
            <p:cNvPr id="275" name="Google Shape;275;p18"/>
            <p:cNvCxnSpPr/>
            <p:nvPr/>
          </p:nvCxnSpPr>
          <p:spPr>
            <a:xfrm>
              <a:off x="1884459" y="1057523"/>
              <a:ext cx="217070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8"/>
            <p:cNvCxnSpPr/>
            <p:nvPr/>
          </p:nvCxnSpPr>
          <p:spPr>
            <a:xfrm rot="10800000">
              <a:off x="4055165" y="1052390"/>
              <a:ext cx="1421958" cy="90512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" name="Google Shape;277;p18"/>
            <p:cNvCxnSpPr/>
            <p:nvPr/>
          </p:nvCxnSpPr>
          <p:spPr>
            <a:xfrm flipH="1">
              <a:off x="4667416" y="1957514"/>
              <a:ext cx="809707" cy="57657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18"/>
            <p:cNvCxnSpPr/>
            <p:nvPr/>
          </p:nvCxnSpPr>
          <p:spPr>
            <a:xfrm flipH="1" rot="10800000">
              <a:off x="4196620" y="2519378"/>
              <a:ext cx="470796" cy="104324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" name="Google Shape;279;p18"/>
            <p:cNvCxnSpPr/>
            <p:nvPr/>
          </p:nvCxnSpPr>
          <p:spPr>
            <a:xfrm>
              <a:off x="1933664" y="3205993"/>
              <a:ext cx="1011922" cy="49724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" name="Google Shape;280;p18"/>
            <p:cNvCxnSpPr/>
            <p:nvPr/>
          </p:nvCxnSpPr>
          <p:spPr>
            <a:xfrm>
              <a:off x="1717481" y="2351607"/>
              <a:ext cx="239461" cy="85438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1" name="Google Shape;281;p18"/>
            <p:cNvCxnSpPr/>
            <p:nvPr/>
          </p:nvCxnSpPr>
          <p:spPr>
            <a:xfrm flipH="1">
              <a:off x="871706" y="1062657"/>
              <a:ext cx="1018341" cy="747591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" name="Google Shape;282;p18"/>
            <p:cNvCxnSpPr/>
            <p:nvPr/>
          </p:nvCxnSpPr>
          <p:spPr>
            <a:xfrm>
              <a:off x="886253" y="1793574"/>
              <a:ext cx="855937" cy="57692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3" name="Google Shape;283;p18"/>
            <p:cNvCxnSpPr/>
            <p:nvPr/>
          </p:nvCxnSpPr>
          <p:spPr>
            <a:xfrm flipH="1">
              <a:off x="3331597" y="3527291"/>
              <a:ext cx="882594" cy="1133599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" name="Google Shape;284;p18"/>
            <p:cNvCxnSpPr/>
            <p:nvPr/>
          </p:nvCxnSpPr>
          <p:spPr>
            <a:xfrm>
              <a:off x="2945586" y="3703241"/>
              <a:ext cx="386011" cy="92899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5" name="Google Shape;285;p18"/>
            <p:cNvSpPr txBox="1"/>
            <p:nvPr/>
          </p:nvSpPr>
          <p:spPr>
            <a:xfrm>
              <a:off x="1717481" y="718044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4005798" y="723519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5471476" y="1738890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88" name="Google Shape;288;p18"/>
            <p:cNvSpPr txBox="1"/>
            <p:nvPr/>
          </p:nvSpPr>
          <p:spPr>
            <a:xfrm>
              <a:off x="4664593" y="2409468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  <p:sp>
          <p:nvSpPr>
            <p:cNvPr id="289" name="Google Shape;289;p18"/>
            <p:cNvSpPr txBox="1"/>
            <p:nvPr/>
          </p:nvSpPr>
          <p:spPr>
            <a:xfrm>
              <a:off x="4240788" y="3377952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290" name="Google Shape;290;p18"/>
            <p:cNvSpPr txBox="1"/>
            <p:nvPr/>
          </p:nvSpPr>
          <p:spPr>
            <a:xfrm>
              <a:off x="3230327" y="4574741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2886515" y="3465672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292" name="Google Shape;292;p18"/>
            <p:cNvSpPr txBox="1"/>
            <p:nvPr/>
          </p:nvSpPr>
          <p:spPr>
            <a:xfrm>
              <a:off x="1668537" y="3144774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sp>
          <p:nvSpPr>
            <p:cNvPr id="293" name="Google Shape;293;p18"/>
            <p:cNvSpPr txBox="1"/>
            <p:nvPr/>
          </p:nvSpPr>
          <p:spPr>
            <a:xfrm>
              <a:off x="1713964" y="2110965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/>
            </a:p>
          </p:txBody>
        </p:sp>
        <p:sp>
          <p:nvSpPr>
            <p:cNvPr id="294" name="Google Shape;294;p18"/>
            <p:cNvSpPr txBox="1"/>
            <p:nvPr/>
          </p:nvSpPr>
          <p:spPr>
            <a:xfrm>
              <a:off x="646137" y="1591516"/>
              <a:ext cx="39444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</p:grpSp>
      <p:sp>
        <p:nvSpPr>
          <p:cNvPr id="295" name="Google Shape;295;p18"/>
          <p:cNvSpPr txBox="1"/>
          <p:nvPr/>
        </p:nvSpPr>
        <p:spPr>
          <a:xfrm>
            <a:off x="151447" y="414447"/>
            <a:ext cx="74960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 Look at the shape below. Which of the angles in the shape are likely to be the following size?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379600" y="5459208"/>
            <a:ext cx="1591258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2516777" y="5478446"/>
            <a:ext cx="159125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4797824" y="5503882"/>
            <a:ext cx="1591258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351374" y="6774381"/>
            <a:ext cx="1591258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2571630" y="6809136"/>
            <a:ext cx="1591258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4716488" y="6870220"/>
            <a:ext cx="1591258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379600" y="8247102"/>
            <a:ext cx="62539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No, angles are a measure of turn, this isn’t affected by the length of the lines. </a:t>
            </a:r>
            <a:endParaRPr/>
          </a:p>
        </p:txBody>
      </p:sp>
      <p:sp>
        <p:nvSpPr>
          <p:cNvPr id="303" name="Google Shape;303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19"/>
          <p:cNvGraphicFramePr/>
          <p:nvPr/>
        </p:nvGraphicFramePr>
        <p:xfrm>
          <a:off x="93703" y="4758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229825"/>
                <a:gridCol w="2229825"/>
                <a:gridCol w="222982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10" name="Google Shape;310;p19"/>
          <p:cNvPicPr preferRelativeResize="0"/>
          <p:nvPr/>
        </p:nvPicPr>
        <p:blipFill rotWithShape="1">
          <a:blip r:embed="rId3">
            <a:alphaModFix/>
          </a:blip>
          <a:srcRect b="0" l="0" r="7116" t="0"/>
          <a:stretch/>
        </p:blipFill>
        <p:spPr>
          <a:xfrm rot="-5400000">
            <a:off x="2487847" y="7799598"/>
            <a:ext cx="1717009" cy="13259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19"/>
          <p:cNvGraphicFramePr/>
          <p:nvPr/>
        </p:nvGraphicFramePr>
        <p:xfrm>
          <a:off x="94580" y="445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1291300"/>
                <a:gridCol w="1799400"/>
                <a:gridCol w="1799400"/>
                <a:gridCol w="1799400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Estimate the size of angle shown.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19"/>
          <p:cNvSpPr/>
          <p:nvPr/>
        </p:nvSpPr>
        <p:spPr>
          <a:xfrm>
            <a:off x="94580" y="427472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1232534" y="4284280"/>
            <a:ext cx="71263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8. Estimate the size of the angles shown below: 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30141" y="19478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Estimating the size of reflex angles</a:t>
            </a:r>
            <a:endParaRPr/>
          </a:p>
        </p:txBody>
      </p:sp>
      <p:pic>
        <p:nvPicPr>
          <p:cNvPr id="315" name="Google Shape;3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3952" y="1291329"/>
            <a:ext cx="1462352" cy="132866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9"/>
          <p:cNvSpPr txBox="1"/>
          <p:nvPr/>
        </p:nvSpPr>
        <p:spPr>
          <a:xfrm>
            <a:off x="1427383" y="2796818"/>
            <a:ext cx="93825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263" y="1367247"/>
            <a:ext cx="1702205" cy="70236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9"/>
          <p:cNvSpPr txBox="1"/>
          <p:nvPr/>
        </p:nvSpPr>
        <p:spPr>
          <a:xfrm>
            <a:off x="3335745" y="2333311"/>
            <a:ext cx="93825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30609" y="1343745"/>
            <a:ext cx="1610142" cy="98956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5298044" y="2427486"/>
            <a:ext cx="938254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3341" y="5116124"/>
            <a:ext cx="1842214" cy="13052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19"/>
          <p:cNvGrpSpPr/>
          <p:nvPr/>
        </p:nvGrpSpPr>
        <p:grpSpPr>
          <a:xfrm>
            <a:off x="105989" y="4775651"/>
            <a:ext cx="1875543" cy="2348061"/>
            <a:chOff x="43589" y="4638491"/>
            <a:chExt cx="1875543" cy="2348061"/>
          </a:xfrm>
        </p:grpSpPr>
        <p:sp>
          <p:nvSpPr>
            <p:cNvPr id="323" name="Google Shape;323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43589" y="4638491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 </a:t>
              </a:r>
              <a:endParaRPr/>
            </a:p>
          </p:txBody>
        </p:sp>
      </p:grpSp>
      <p:sp>
        <p:nvSpPr>
          <p:cNvPr id="325" name="Google Shape;325;p19"/>
          <p:cNvSpPr txBox="1"/>
          <p:nvPr/>
        </p:nvSpPr>
        <p:spPr>
          <a:xfrm>
            <a:off x="621702" y="6688237"/>
            <a:ext cx="938254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26" name="Google Shape;326;p19"/>
          <p:cNvGrpSpPr/>
          <p:nvPr/>
        </p:nvGrpSpPr>
        <p:grpSpPr>
          <a:xfrm>
            <a:off x="2331143" y="4759158"/>
            <a:ext cx="1931957" cy="2364554"/>
            <a:chOff x="-12825" y="4621998"/>
            <a:chExt cx="1931957" cy="2364554"/>
          </a:xfrm>
        </p:grpSpPr>
        <p:sp>
          <p:nvSpPr>
            <p:cNvPr id="327" name="Google Shape;327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-12825" y="4621998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 </a:t>
              </a:r>
              <a:endParaRPr/>
            </a:p>
          </p:txBody>
        </p:sp>
      </p:grpSp>
      <p:pic>
        <p:nvPicPr>
          <p:cNvPr id="329" name="Google Shape;32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19222" y="5116123"/>
            <a:ext cx="1333588" cy="130521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9"/>
          <p:cNvSpPr txBox="1"/>
          <p:nvPr/>
        </p:nvSpPr>
        <p:spPr>
          <a:xfrm>
            <a:off x="2980483" y="6688237"/>
            <a:ext cx="938254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31" name="Google Shape;331;p19"/>
          <p:cNvGrpSpPr/>
          <p:nvPr/>
        </p:nvGrpSpPr>
        <p:grpSpPr>
          <a:xfrm>
            <a:off x="4588336" y="4774030"/>
            <a:ext cx="1837539" cy="2349682"/>
            <a:chOff x="81593" y="4636870"/>
            <a:chExt cx="1837539" cy="2349682"/>
          </a:xfrm>
        </p:grpSpPr>
        <p:sp>
          <p:nvSpPr>
            <p:cNvPr id="332" name="Google Shape;332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9"/>
            <p:cNvSpPr txBox="1"/>
            <p:nvPr/>
          </p:nvSpPr>
          <p:spPr>
            <a:xfrm>
              <a:off x="81593" y="4636870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 </a:t>
              </a:r>
              <a:endParaRPr/>
            </a:p>
          </p:txBody>
        </p:sp>
      </p:grpSp>
      <p:sp>
        <p:nvSpPr>
          <p:cNvPr id="334" name="Google Shape;334;p19"/>
          <p:cNvSpPr txBox="1"/>
          <p:nvPr/>
        </p:nvSpPr>
        <p:spPr>
          <a:xfrm>
            <a:off x="5143258" y="6688237"/>
            <a:ext cx="93825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40468" y="5224537"/>
            <a:ext cx="1607268" cy="8706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9"/>
          <p:cNvGrpSpPr/>
          <p:nvPr/>
        </p:nvGrpSpPr>
        <p:grpSpPr>
          <a:xfrm>
            <a:off x="105989" y="7211875"/>
            <a:ext cx="1935483" cy="2393909"/>
            <a:chOff x="-16351" y="4592643"/>
            <a:chExt cx="1935483" cy="2393909"/>
          </a:xfrm>
        </p:grpSpPr>
        <p:sp>
          <p:nvSpPr>
            <p:cNvPr id="337" name="Google Shape;337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-16351" y="4592643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 </a:t>
              </a:r>
              <a:endParaRPr/>
            </a:p>
          </p:txBody>
        </p:sp>
      </p:grpSp>
      <p:sp>
        <p:nvSpPr>
          <p:cNvPr id="339" name="Google Shape;339;p19"/>
          <p:cNvSpPr txBox="1"/>
          <p:nvPr/>
        </p:nvSpPr>
        <p:spPr>
          <a:xfrm>
            <a:off x="681642" y="9170309"/>
            <a:ext cx="938254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40" name="Google Shape;340;p19"/>
          <p:cNvGrpSpPr/>
          <p:nvPr/>
        </p:nvGrpSpPr>
        <p:grpSpPr>
          <a:xfrm>
            <a:off x="2365637" y="7185793"/>
            <a:ext cx="1957403" cy="2419991"/>
            <a:chOff x="-38271" y="4566561"/>
            <a:chExt cx="1957403" cy="2419991"/>
          </a:xfrm>
        </p:grpSpPr>
        <p:sp>
          <p:nvSpPr>
            <p:cNvPr id="341" name="Google Shape;341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9"/>
            <p:cNvSpPr txBox="1"/>
            <p:nvPr/>
          </p:nvSpPr>
          <p:spPr>
            <a:xfrm>
              <a:off x="-38271" y="4566561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e) </a:t>
              </a:r>
              <a:endParaRPr/>
            </a:p>
          </p:txBody>
        </p:sp>
      </p:grpSp>
      <p:sp>
        <p:nvSpPr>
          <p:cNvPr id="343" name="Google Shape;343;p19"/>
          <p:cNvSpPr txBox="1"/>
          <p:nvPr/>
        </p:nvSpPr>
        <p:spPr>
          <a:xfrm>
            <a:off x="3040423" y="9170309"/>
            <a:ext cx="938254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44" name="Google Shape;344;p19"/>
          <p:cNvGrpSpPr/>
          <p:nvPr/>
        </p:nvGrpSpPr>
        <p:grpSpPr>
          <a:xfrm>
            <a:off x="4613449" y="7190487"/>
            <a:ext cx="1872366" cy="2415297"/>
            <a:chOff x="46766" y="4571255"/>
            <a:chExt cx="1872366" cy="2415297"/>
          </a:xfrm>
        </p:grpSpPr>
        <p:sp>
          <p:nvSpPr>
            <p:cNvPr id="345" name="Google Shape;345;p19"/>
            <p:cNvSpPr/>
            <p:nvPr/>
          </p:nvSpPr>
          <p:spPr>
            <a:xfrm>
              <a:off x="245085" y="6484934"/>
              <a:ext cx="1674047" cy="50161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46766" y="4571255"/>
              <a:ext cx="4363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f) </a:t>
              </a:r>
              <a:endParaRPr/>
            </a:p>
          </p:txBody>
        </p:sp>
      </p:grpSp>
      <p:sp>
        <p:nvSpPr>
          <p:cNvPr id="347" name="Google Shape;347;p19"/>
          <p:cNvSpPr txBox="1"/>
          <p:nvPr/>
        </p:nvSpPr>
        <p:spPr>
          <a:xfrm>
            <a:off x="5203198" y="9170309"/>
            <a:ext cx="938254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48" name="Google Shape;348;p19"/>
          <p:cNvPicPr preferRelativeResize="0"/>
          <p:nvPr/>
        </p:nvPicPr>
        <p:blipFill rotWithShape="1">
          <a:blip r:embed="rId19">
            <a:alphaModFix/>
          </a:blip>
          <a:srcRect b="6751" l="0" r="3262" t="0"/>
          <a:stretch/>
        </p:blipFill>
        <p:spPr>
          <a:xfrm>
            <a:off x="669775" y="7508857"/>
            <a:ext cx="950121" cy="149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 rot="8614004">
            <a:off x="4973293" y="7975344"/>
            <a:ext cx="1494600" cy="742318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9"/>
          <p:cNvSpPr txBox="1"/>
          <p:nvPr>
            <p:ph idx="12" type="sldNum"/>
          </p:nvPr>
        </p:nvSpPr>
        <p:spPr>
          <a:xfrm>
            <a:off x="5209223" y="13716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678" y="5021938"/>
            <a:ext cx="2326638" cy="135993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0"/>
          <p:cNvSpPr txBox="1"/>
          <p:nvPr/>
        </p:nvSpPr>
        <p:spPr>
          <a:xfrm>
            <a:off x="2959870" y="8818288"/>
            <a:ext cx="93825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357" name="Google Shape;357;p20"/>
          <p:cNvGraphicFramePr/>
          <p:nvPr/>
        </p:nvGraphicFramePr>
        <p:xfrm>
          <a:off x="176436" y="436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2168375"/>
                <a:gridCol w="2168375"/>
                <a:gridCol w="2168375"/>
              </a:tblGrid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Question 9. In the spaces below, </a:t>
                      </a:r>
                      <a:r>
                        <a:rPr b="1" lang="en-GB" sz="1200"/>
                        <a:t>without a protractor, </a:t>
                      </a:r>
                      <a:r>
                        <a:rPr b="0" lang="en-GB" sz="1200"/>
                        <a:t>sketch the following angles:</a:t>
                      </a:r>
                      <a:endParaRPr sz="1200"/>
                    </a:p>
                  </a:txBody>
                  <a:tcPr marT="45725" marB="45725" marR="91450" marL="91450"/>
                </a:tc>
                <a:tc hMerge="1"/>
                <a:tc hMerge="1"/>
              </a:tr>
              <a:tr h="316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25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Now go back and measure the angles </a:t>
                      </a:r>
                      <a:r>
                        <a:rPr b="1" lang="en-GB" sz="1200"/>
                        <a:t>with a protractor</a:t>
                      </a:r>
                      <a:r>
                        <a:rPr b="0" lang="en-GB" sz="1200"/>
                        <a:t>. How close were you to the exact value?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311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5544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Without measuring, how can we tell Tariq is incorrect?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656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__________________________________________________________________________________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b) What is a more suitable estimate for this angle?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4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358" name="Google Shape;358;p20"/>
          <p:cNvSpPr txBox="1"/>
          <p:nvPr/>
        </p:nvSpPr>
        <p:spPr>
          <a:xfrm>
            <a:off x="391886" y="6609806"/>
            <a:ext cx="574765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9" name="Google Shape;359;p2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21"/>
          <p:cNvGrpSpPr/>
          <p:nvPr/>
        </p:nvGrpSpPr>
        <p:grpSpPr>
          <a:xfrm>
            <a:off x="611742" y="522122"/>
            <a:ext cx="5634516" cy="6411269"/>
            <a:chOff x="231503" y="970033"/>
            <a:chExt cx="5634516" cy="6411269"/>
          </a:xfrm>
        </p:grpSpPr>
        <p:pic>
          <p:nvPicPr>
            <p:cNvPr descr="A picture containing chart&#10;&#10;Description automatically generated" id="366" name="Google Shape;366;p21"/>
            <p:cNvPicPr preferRelativeResize="0"/>
            <p:nvPr/>
          </p:nvPicPr>
          <p:blipFill rotWithShape="1">
            <a:blip r:embed="rId3">
              <a:alphaModFix/>
            </a:blip>
            <a:srcRect b="22216" l="0" r="49875" t="9000"/>
            <a:stretch/>
          </p:blipFill>
          <p:spPr>
            <a:xfrm>
              <a:off x="231503" y="970034"/>
              <a:ext cx="5431167" cy="64112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7" name="Google Shape;367;p21"/>
            <p:cNvGrpSpPr/>
            <p:nvPr/>
          </p:nvGrpSpPr>
          <p:grpSpPr>
            <a:xfrm>
              <a:off x="438941" y="970033"/>
              <a:ext cx="5427078" cy="6165609"/>
              <a:chOff x="438941" y="970033"/>
              <a:chExt cx="5427078" cy="6165609"/>
            </a:xfrm>
          </p:grpSpPr>
          <p:grpSp>
            <p:nvGrpSpPr>
              <p:cNvPr id="368" name="Google Shape;368;p21"/>
              <p:cNvGrpSpPr/>
              <p:nvPr/>
            </p:nvGrpSpPr>
            <p:grpSpPr>
              <a:xfrm>
                <a:off x="4461760" y="1794560"/>
                <a:ext cx="583894" cy="504948"/>
                <a:chOff x="4098270" y="2200348"/>
                <a:chExt cx="583894" cy="504948"/>
              </a:xfrm>
            </p:grpSpPr>
            <p:sp>
              <p:nvSpPr>
                <p:cNvPr id="369" name="Google Shape;369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/>
                </a:p>
              </p:txBody>
            </p:sp>
          </p:grpSp>
          <p:grpSp>
            <p:nvGrpSpPr>
              <p:cNvPr id="371" name="Google Shape;371;p21"/>
              <p:cNvGrpSpPr/>
              <p:nvPr/>
            </p:nvGrpSpPr>
            <p:grpSpPr>
              <a:xfrm>
                <a:off x="4415853" y="2607903"/>
                <a:ext cx="583894" cy="504948"/>
                <a:chOff x="4098270" y="2200348"/>
                <a:chExt cx="583894" cy="504948"/>
              </a:xfrm>
            </p:grpSpPr>
            <p:sp>
              <p:nvSpPr>
                <p:cNvPr id="372" name="Google Shape;372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/>
                </a:p>
              </p:txBody>
            </p:sp>
          </p:grpSp>
          <p:grpSp>
            <p:nvGrpSpPr>
              <p:cNvPr id="374" name="Google Shape;374;p21"/>
              <p:cNvGrpSpPr/>
              <p:nvPr/>
            </p:nvGrpSpPr>
            <p:grpSpPr>
              <a:xfrm>
                <a:off x="2830419" y="2629754"/>
                <a:ext cx="583894" cy="504948"/>
                <a:chOff x="4098270" y="2200348"/>
                <a:chExt cx="583894" cy="504948"/>
              </a:xfrm>
            </p:grpSpPr>
            <p:sp>
              <p:nvSpPr>
                <p:cNvPr id="375" name="Google Shape;375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/>
                </a:p>
              </p:txBody>
            </p:sp>
          </p:grpSp>
          <p:grpSp>
            <p:nvGrpSpPr>
              <p:cNvPr id="377" name="Google Shape;377;p21"/>
              <p:cNvGrpSpPr/>
              <p:nvPr/>
            </p:nvGrpSpPr>
            <p:grpSpPr>
              <a:xfrm>
                <a:off x="4415853" y="3419479"/>
                <a:ext cx="583894" cy="504948"/>
                <a:chOff x="4098270" y="2200348"/>
                <a:chExt cx="583894" cy="504948"/>
              </a:xfrm>
            </p:grpSpPr>
            <p:sp>
              <p:nvSpPr>
                <p:cNvPr id="378" name="Google Shape;378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</a:t>
                  </a:r>
                  <a:endParaRPr/>
                </a:p>
              </p:txBody>
            </p:sp>
          </p:grpSp>
          <p:grpSp>
            <p:nvGrpSpPr>
              <p:cNvPr id="380" name="Google Shape;380;p21"/>
              <p:cNvGrpSpPr/>
              <p:nvPr/>
            </p:nvGrpSpPr>
            <p:grpSpPr>
              <a:xfrm>
                <a:off x="2830419" y="3441330"/>
                <a:ext cx="583894" cy="504948"/>
                <a:chOff x="4098270" y="2200348"/>
                <a:chExt cx="583894" cy="504948"/>
              </a:xfrm>
            </p:grpSpPr>
            <p:sp>
              <p:nvSpPr>
                <p:cNvPr id="381" name="Google Shape;381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</a:t>
                  </a:r>
                  <a:endParaRPr/>
                </a:p>
              </p:txBody>
            </p:sp>
          </p:grpSp>
          <p:grpSp>
            <p:nvGrpSpPr>
              <p:cNvPr id="383" name="Google Shape;383;p21"/>
              <p:cNvGrpSpPr/>
              <p:nvPr/>
            </p:nvGrpSpPr>
            <p:grpSpPr>
              <a:xfrm>
                <a:off x="2850653" y="1781609"/>
                <a:ext cx="583894" cy="504948"/>
                <a:chOff x="4098270" y="2200348"/>
                <a:chExt cx="583894" cy="504948"/>
              </a:xfrm>
            </p:grpSpPr>
            <p:sp>
              <p:nvSpPr>
                <p:cNvPr id="384" name="Google Shape;384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/>
                </a:p>
              </p:txBody>
            </p:sp>
          </p:grpSp>
          <p:grpSp>
            <p:nvGrpSpPr>
              <p:cNvPr id="386" name="Google Shape;386;p21"/>
              <p:cNvGrpSpPr/>
              <p:nvPr/>
            </p:nvGrpSpPr>
            <p:grpSpPr>
              <a:xfrm>
                <a:off x="5251271" y="2607903"/>
                <a:ext cx="583894" cy="504948"/>
                <a:chOff x="4098270" y="2200348"/>
                <a:chExt cx="583894" cy="504948"/>
              </a:xfrm>
            </p:grpSpPr>
            <p:sp>
              <p:nvSpPr>
                <p:cNvPr id="387" name="Google Shape;387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/>
                </a:p>
              </p:txBody>
            </p:sp>
          </p:grpSp>
          <p:grpSp>
            <p:nvGrpSpPr>
              <p:cNvPr id="389" name="Google Shape;389;p21"/>
              <p:cNvGrpSpPr/>
              <p:nvPr/>
            </p:nvGrpSpPr>
            <p:grpSpPr>
              <a:xfrm>
                <a:off x="2804716" y="970033"/>
                <a:ext cx="583894" cy="504948"/>
                <a:chOff x="4098270" y="2200348"/>
                <a:chExt cx="583894" cy="504948"/>
              </a:xfrm>
            </p:grpSpPr>
            <p:sp>
              <p:nvSpPr>
                <p:cNvPr id="390" name="Google Shape;390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/>
                </a:p>
              </p:txBody>
            </p:sp>
          </p:grpSp>
          <p:grpSp>
            <p:nvGrpSpPr>
              <p:cNvPr id="392" name="Google Shape;392;p21"/>
              <p:cNvGrpSpPr/>
              <p:nvPr/>
            </p:nvGrpSpPr>
            <p:grpSpPr>
              <a:xfrm>
                <a:off x="2804716" y="4146380"/>
                <a:ext cx="583894" cy="504948"/>
                <a:chOff x="4098270" y="2200348"/>
                <a:chExt cx="583894" cy="504948"/>
              </a:xfrm>
            </p:grpSpPr>
            <p:sp>
              <p:nvSpPr>
                <p:cNvPr id="393" name="Google Shape;393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</a:t>
                  </a:r>
                  <a:endParaRPr/>
                </a:p>
              </p:txBody>
            </p:sp>
          </p:grpSp>
          <p:grpSp>
            <p:nvGrpSpPr>
              <p:cNvPr id="395" name="Google Shape;395;p21"/>
              <p:cNvGrpSpPr/>
              <p:nvPr/>
            </p:nvGrpSpPr>
            <p:grpSpPr>
              <a:xfrm>
                <a:off x="2807509" y="5002199"/>
                <a:ext cx="583894" cy="504948"/>
                <a:chOff x="4098270" y="2200348"/>
                <a:chExt cx="583894" cy="504948"/>
              </a:xfrm>
            </p:grpSpPr>
            <p:sp>
              <p:nvSpPr>
                <p:cNvPr id="396" name="Google Shape;396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</a:t>
                  </a:r>
                  <a:endParaRPr/>
                </a:p>
              </p:txBody>
            </p:sp>
          </p:grpSp>
          <p:grpSp>
            <p:nvGrpSpPr>
              <p:cNvPr id="398" name="Google Shape;398;p21"/>
              <p:cNvGrpSpPr/>
              <p:nvPr/>
            </p:nvGrpSpPr>
            <p:grpSpPr>
              <a:xfrm>
                <a:off x="2804716" y="5806101"/>
                <a:ext cx="583894" cy="504948"/>
                <a:chOff x="4098270" y="2200348"/>
                <a:chExt cx="583894" cy="504948"/>
              </a:xfrm>
            </p:grpSpPr>
            <p:sp>
              <p:nvSpPr>
                <p:cNvPr id="399" name="Google Shape;399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401" name="Google Shape;401;p21"/>
              <p:cNvGrpSpPr/>
              <p:nvPr/>
            </p:nvGrpSpPr>
            <p:grpSpPr>
              <a:xfrm>
                <a:off x="2846029" y="6630694"/>
                <a:ext cx="583894" cy="504948"/>
                <a:chOff x="4098270" y="2200348"/>
                <a:chExt cx="583894" cy="504948"/>
              </a:xfrm>
            </p:grpSpPr>
            <p:sp>
              <p:nvSpPr>
                <p:cNvPr id="402" name="Google Shape;402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U</a:t>
                  </a:r>
                  <a:endParaRPr/>
                </a:p>
              </p:txBody>
            </p:sp>
          </p:grpSp>
          <p:grpSp>
            <p:nvGrpSpPr>
              <p:cNvPr id="404" name="Google Shape;404;p21"/>
              <p:cNvGrpSpPr/>
              <p:nvPr/>
            </p:nvGrpSpPr>
            <p:grpSpPr>
              <a:xfrm>
                <a:off x="1635092" y="5348826"/>
                <a:ext cx="583894" cy="504948"/>
                <a:chOff x="4098270" y="2200348"/>
                <a:chExt cx="583894" cy="504948"/>
              </a:xfrm>
            </p:grpSpPr>
            <p:sp>
              <p:nvSpPr>
                <p:cNvPr id="405" name="Google Shape;405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endParaRPr/>
                </a:p>
              </p:txBody>
            </p:sp>
          </p:grpSp>
          <p:grpSp>
            <p:nvGrpSpPr>
              <p:cNvPr id="407" name="Google Shape;407;p21"/>
              <p:cNvGrpSpPr/>
              <p:nvPr/>
            </p:nvGrpSpPr>
            <p:grpSpPr>
              <a:xfrm>
                <a:off x="477741" y="4901356"/>
                <a:ext cx="583894" cy="504948"/>
                <a:chOff x="4098270" y="2200348"/>
                <a:chExt cx="583894" cy="504948"/>
              </a:xfrm>
            </p:grpSpPr>
            <p:sp>
              <p:nvSpPr>
                <p:cNvPr id="408" name="Google Shape;408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O</a:t>
                  </a:r>
                  <a:endParaRPr/>
                </a:p>
              </p:txBody>
            </p:sp>
          </p:grpSp>
          <p:grpSp>
            <p:nvGrpSpPr>
              <p:cNvPr id="410" name="Google Shape;410;p21"/>
              <p:cNvGrpSpPr/>
              <p:nvPr/>
            </p:nvGrpSpPr>
            <p:grpSpPr>
              <a:xfrm>
                <a:off x="5282125" y="4969690"/>
                <a:ext cx="583894" cy="504948"/>
                <a:chOff x="4098270" y="2200348"/>
                <a:chExt cx="583894" cy="504948"/>
              </a:xfrm>
            </p:grpSpPr>
            <p:sp>
              <p:nvSpPr>
                <p:cNvPr id="411" name="Google Shape;411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Q</a:t>
                  </a:r>
                  <a:endParaRPr/>
                </a:p>
              </p:txBody>
            </p:sp>
          </p:grpSp>
          <p:grpSp>
            <p:nvGrpSpPr>
              <p:cNvPr id="413" name="Google Shape;413;p21"/>
              <p:cNvGrpSpPr/>
              <p:nvPr/>
            </p:nvGrpSpPr>
            <p:grpSpPr>
              <a:xfrm>
                <a:off x="4068217" y="5347826"/>
                <a:ext cx="583894" cy="504948"/>
                <a:chOff x="4098270" y="2200348"/>
                <a:chExt cx="583894" cy="504948"/>
              </a:xfrm>
            </p:grpSpPr>
            <p:sp>
              <p:nvSpPr>
                <p:cNvPr id="414" name="Google Shape;414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endParaRPr/>
                </a:p>
              </p:txBody>
            </p:sp>
          </p:grpSp>
          <p:grpSp>
            <p:nvGrpSpPr>
              <p:cNvPr id="416" name="Google Shape;416;p21"/>
              <p:cNvGrpSpPr/>
              <p:nvPr/>
            </p:nvGrpSpPr>
            <p:grpSpPr>
              <a:xfrm>
                <a:off x="1220264" y="2628367"/>
                <a:ext cx="583894" cy="504948"/>
                <a:chOff x="4098270" y="2200348"/>
                <a:chExt cx="583894" cy="504948"/>
              </a:xfrm>
            </p:grpSpPr>
            <p:sp>
              <p:nvSpPr>
                <p:cNvPr id="417" name="Google Shape;417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" name="Google Shape;418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/>
                </a:p>
              </p:txBody>
            </p:sp>
          </p:grpSp>
          <p:grpSp>
            <p:nvGrpSpPr>
              <p:cNvPr id="419" name="Google Shape;419;p21"/>
              <p:cNvGrpSpPr/>
              <p:nvPr/>
            </p:nvGrpSpPr>
            <p:grpSpPr>
              <a:xfrm>
                <a:off x="1220264" y="3439943"/>
                <a:ext cx="583894" cy="504948"/>
                <a:chOff x="4098270" y="2200348"/>
                <a:chExt cx="583894" cy="504948"/>
              </a:xfrm>
            </p:grpSpPr>
            <p:sp>
              <p:nvSpPr>
                <p:cNvPr id="420" name="Google Shape;420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J</a:t>
                  </a:r>
                  <a:endParaRPr/>
                </a:p>
              </p:txBody>
            </p:sp>
          </p:grpSp>
          <p:grpSp>
            <p:nvGrpSpPr>
              <p:cNvPr id="422" name="Google Shape;422;p21"/>
              <p:cNvGrpSpPr/>
              <p:nvPr/>
            </p:nvGrpSpPr>
            <p:grpSpPr>
              <a:xfrm>
                <a:off x="1240498" y="1780222"/>
                <a:ext cx="583894" cy="504948"/>
                <a:chOff x="4098270" y="2200348"/>
                <a:chExt cx="583894" cy="504948"/>
              </a:xfrm>
            </p:grpSpPr>
            <p:sp>
              <p:nvSpPr>
                <p:cNvPr id="423" name="Google Shape;423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/>
                </a:p>
              </p:txBody>
            </p:sp>
          </p:grpSp>
          <p:grpSp>
            <p:nvGrpSpPr>
              <p:cNvPr id="425" name="Google Shape;425;p21"/>
              <p:cNvGrpSpPr/>
              <p:nvPr/>
            </p:nvGrpSpPr>
            <p:grpSpPr>
              <a:xfrm>
                <a:off x="438941" y="2612428"/>
                <a:ext cx="583894" cy="504948"/>
                <a:chOff x="4098270" y="2200348"/>
                <a:chExt cx="583894" cy="504948"/>
              </a:xfrm>
            </p:grpSpPr>
            <p:sp>
              <p:nvSpPr>
                <p:cNvPr id="426" name="Google Shape;426;p21"/>
                <p:cNvSpPr/>
                <p:nvPr/>
              </p:nvSpPr>
              <p:spPr>
                <a:xfrm>
                  <a:off x="4144177" y="2473942"/>
                  <a:ext cx="220337" cy="231354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21"/>
                <p:cNvSpPr txBox="1"/>
                <p:nvPr/>
              </p:nvSpPr>
              <p:spPr>
                <a:xfrm>
                  <a:off x="4098270" y="2200348"/>
                  <a:ext cx="58389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/>
                </a:p>
              </p:txBody>
            </p:sp>
          </p:grpSp>
        </p:grpSp>
      </p:grpSp>
      <p:sp>
        <p:nvSpPr>
          <p:cNvPr id="428" name="Google Shape;428;p21"/>
          <p:cNvSpPr txBox="1"/>
          <p:nvPr/>
        </p:nvSpPr>
        <p:spPr>
          <a:xfrm>
            <a:off x="129812" y="180299"/>
            <a:ext cx="5805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11. Estimate the size of the following angles between the points:</a:t>
            </a:r>
            <a:endParaRPr/>
          </a:p>
        </p:txBody>
      </p:sp>
      <p:graphicFrame>
        <p:nvGraphicFramePr>
          <p:cNvPr id="429" name="Google Shape;429;p21"/>
          <p:cNvGraphicFramePr/>
          <p:nvPr/>
        </p:nvGraphicFramePr>
        <p:xfrm>
          <a:off x="152495" y="168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1619675"/>
                <a:gridCol w="1619675"/>
                <a:gridCol w="1619675"/>
                <a:gridCol w="1619675"/>
              </a:tblGrid>
              <a:tr h="27432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56007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0" name="Google Shape;430;p21"/>
          <p:cNvSpPr txBox="1"/>
          <p:nvPr/>
        </p:nvSpPr>
        <p:spPr>
          <a:xfrm>
            <a:off x="300446" y="7367451"/>
            <a:ext cx="1320291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1917644" y="7376501"/>
            <a:ext cx="132029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2" name="Google Shape;432;p21"/>
          <p:cNvSpPr txBox="1"/>
          <p:nvPr/>
        </p:nvSpPr>
        <p:spPr>
          <a:xfrm>
            <a:off x="3451199" y="7372093"/>
            <a:ext cx="1320291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3" name="Google Shape;433;p21"/>
          <p:cNvSpPr txBox="1"/>
          <p:nvPr/>
        </p:nvSpPr>
        <p:spPr>
          <a:xfrm>
            <a:off x="5088039" y="7392928"/>
            <a:ext cx="1320291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4" name="Google Shape;434;p21"/>
          <p:cNvSpPr txBox="1"/>
          <p:nvPr/>
        </p:nvSpPr>
        <p:spPr>
          <a:xfrm>
            <a:off x="280212" y="8304452"/>
            <a:ext cx="1320291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1897410" y="8313502"/>
            <a:ext cx="1320291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3430965" y="8309094"/>
            <a:ext cx="1320291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5067805" y="8329929"/>
            <a:ext cx="1320291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300446" y="9214152"/>
            <a:ext cx="1320291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9" name="Google Shape;439;p21"/>
          <p:cNvSpPr txBox="1"/>
          <p:nvPr/>
        </p:nvSpPr>
        <p:spPr>
          <a:xfrm>
            <a:off x="1917644" y="9223202"/>
            <a:ext cx="1320291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3451199" y="9218794"/>
            <a:ext cx="1320291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1" name="Google Shape;441;p21"/>
          <p:cNvSpPr txBox="1"/>
          <p:nvPr/>
        </p:nvSpPr>
        <p:spPr>
          <a:xfrm>
            <a:off x="5088039" y="9239629"/>
            <a:ext cx="1320291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2" name="Google Shape;442;p21"/>
          <p:cNvSpPr txBox="1"/>
          <p:nvPr>
            <p:ph idx="12" type="sldNum"/>
          </p:nvPr>
        </p:nvSpPr>
        <p:spPr>
          <a:xfrm>
            <a:off x="5027079" y="1020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" name="Google Shape;447;p22"/>
          <p:cNvGraphicFramePr/>
          <p:nvPr/>
        </p:nvGraphicFramePr>
        <p:xfrm>
          <a:off x="136436" y="153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{84947D6E-39A2-4ACA-B267-9FF147E16AE4}</a:tableStyleId>
              </a:tblPr>
              <a:tblGrid>
                <a:gridCol w="6552475"/>
              </a:tblGrid>
              <a:tr h="38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303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is a suitable estimate for the angle shown?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is a suitable estimate for the angle shown?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3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is a suitable estimate for the angle shown?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48" name="Google Shape;4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683" y="895130"/>
            <a:ext cx="1676634" cy="127652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2"/>
          <p:cNvSpPr txBox="1"/>
          <p:nvPr/>
        </p:nvSpPr>
        <p:spPr>
          <a:xfrm>
            <a:off x="1615859" y="2367419"/>
            <a:ext cx="87682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0" name="Google Shape;450;p22"/>
          <p:cNvSpPr txBox="1"/>
          <p:nvPr/>
        </p:nvSpPr>
        <p:spPr>
          <a:xfrm>
            <a:off x="4152379" y="2367419"/>
            <a:ext cx="87682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1" name="Google Shape;451;p22"/>
          <p:cNvSpPr txBox="1"/>
          <p:nvPr/>
        </p:nvSpPr>
        <p:spPr>
          <a:xfrm>
            <a:off x="1615859" y="2858022"/>
            <a:ext cx="876822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2" name="Google Shape;452;p22"/>
          <p:cNvSpPr txBox="1"/>
          <p:nvPr/>
        </p:nvSpPr>
        <p:spPr>
          <a:xfrm>
            <a:off x="4152379" y="2858022"/>
            <a:ext cx="87682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1440493" y="2797386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1697278" y="5485309"/>
            <a:ext cx="1052187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6" l="-4624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5" name="Google Shape;455;p22"/>
          <p:cNvSpPr txBox="1"/>
          <p:nvPr/>
        </p:nvSpPr>
        <p:spPr>
          <a:xfrm>
            <a:off x="4233798" y="5485309"/>
            <a:ext cx="106750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-5143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1697279" y="5975912"/>
            <a:ext cx="876822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7" name="Google Shape;457;p22"/>
          <p:cNvSpPr txBox="1"/>
          <p:nvPr/>
        </p:nvSpPr>
        <p:spPr>
          <a:xfrm>
            <a:off x="4233799" y="5975912"/>
            <a:ext cx="92692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4589" l="-5921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4152379" y="5915276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76208" y="4247872"/>
            <a:ext cx="3105583" cy="82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74101" y="6912183"/>
            <a:ext cx="1770749" cy="135303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2"/>
          <p:cNvSpPr txBox="1"/>
          <p:nvPr/>
        </p:nvSpPr>
        <p:spPr>
          <a:xfrm>
            <a:off x="1615859" y="8340495"/>
            <a:ext cx="1052187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589" l="-4624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2" name="Google Shape;462;p22"/>
          <p:cNvSpPr txBox="1"/>
          <p:nvPr/>
        </p:nvSpPr>
        <p:spPr>
          <a:xfrm>
            <a:off x="4152379" y="8340495"/>
            <a:ext cx="1067503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24589" l="-4571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1615860" y="8831098"/>
            <a:ext cx="876822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4" name="Google Shape;464;p22"/>
          <p:cNvSpPr txBox="1"/>
          <p:nvPr/>
        </p:nvSpPr>
        <p:spPr>
          <a:xfrm>
            <a:off x="4152380" y="8831098"/>
            <a:ext cx="926922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6666" l="-5263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1538495" y="8764196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