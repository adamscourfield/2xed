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5F53DA7-FC5E-4812-A645-7530E974173A}">
  <a:tblStyle styleId="{15F53DA7-FC5E-4812-A645-7530E97417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4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5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86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87:notes"/>
          <p:cNvSpPr/>
          <p:nvPr>
            <p:ph idx="2" type="sldImg"/>
          </p:nvPr>
        </p:nvSpPr>
        <p:spPr>
          <a:xfrm>
            <a:off x="2360613" y="1143000"/>
            <a:ext cx="213677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2" name="Google Shape;52;p8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8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0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13"/>
          <p:cNvGraphicFramePr/>
          <p:nvPr/>
        </p:nvGraphicFramePr>
        <p:xfrm>
          <a:off x="161837" y="64388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{15F53DA7-FC5E-4812-A645-7530E974173A}</a:tableStyleId>
              </a:tblPr>
              <a:tblGrid>
                <a:gridCol w="1207675"/>
                <a:gridCol w="1804425"/>
                <a:gridCol w="1804425"/>
                <a:gridCol w="1804425"/>
              </a:tblGrid>
              <a:tr h="239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 polygon: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 polygon: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i="0" lang="en-GB" sz="1200" u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 the polygon:</a:t>
                      </a:r>
                      <a:endParaRPr sz="120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078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Check whether all the sides are straight and if it is closed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90" name="Google Shape;90;p13"/>
          <p:cNvSpPr txBox="1"/>
          <p:nvPr/>
        </p:nvSpPr>
        <p:spPr>
          <a:xfrm>
            <a:off x="1329688" y="6203530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1 - I do…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39366" y="617200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3 – You do…</a:t>
            </a:r>
            <a:endParaRPr/>
          </a:p>
        </p:txBody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5265221" y="941225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6108" y="307643"/>
            <a:ext cx="6679742" cy="1377652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0" y="0"/>
            <a:ext cx="6858000" cy="291917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Subtopic N2.9 – Perimeter of Irregular Polygons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4125" y="661966"/>
            <a:ext cx="13997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Objectives: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94125" y="872231"/>
            <a:ext cx="466799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recognise a polygon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the perimeter of a polygon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missing lengths in a polygon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174939" y="359953"/>
            <a:ext cx="5482608" cy="27699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LEARNING OUTCOME: </a:t>
            </a: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solve problems involving  the perimeter of polygons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746378" y="335000"/>
            <a:ext cx="991042" cy="133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Keywords:</a:t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Units</a:t>
            </a:r>
            <a:endParaRPr/>
          </a:p>
          <a:p>
            <a:pPr indent="-171450" lvl="0" marL="1714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-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</p:txBody>
      </p:sp>
      <p:cxnSp>
        <p:nvCxnSpPr>
          <p:cNvPr id="99" name="Google Shape;99;p13"/>
          <p:cNvCxnSpPr/>
          <p:nvPr/>
        </p:nvCxnSpPr>
        <p:spPr>
          <a:xfrm flipH="1" rot="10800000">
            <a:off x="998173" y="5778649"/>
            <a:ext cx="5541513" cy="22822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3"/>
          <p:cNvSpPr/>
          <p:nvPr/>
        </p:nvSpPr>
        <p:spPr>
          <a:xfrm>
            <a:off x="79390" y="4115083"/>
            <a:ext cx="6699219" cy="175698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13"/>
          <p:cNvCxnSpPr/>
          <p:nvPr/>
        </p:nvCxnSpPr>
        <p:spPr>
          <a:xfrm>
            <a:off x="79390" y="4931207"/>
            <a:ext cx="6699219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02" name="Google Shape;102;p13"/>
          <p:cNvCxnSpPr>
            <a:stCxn id="100" idx="2"/>
            <a:endCxn id="100" idx="0"/>
          </p:cNvCxnSpPr>
          <p:nvPr/>
        </p:nvCxnSpPr>
        <p:spPr>
          <a:xfrm rot="10800000">
            <a:off x="3429000" y="4114968"/>
            <a:ext cx="0" cy="175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3"/>
          <p:cNvSpPr txBox="1"/>
          <p:nvPr/>
        </p:nvSpPr>
        <p:spPr>
          <a:xfrm>
            <a:off x="97145" y="4115082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696048" y="4092621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7804" y="4891170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5660567" y="491300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97145" y="4296126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distance all the way around the outside of a 2D shape.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3994710" y="4100210"/>
            <a:ext cx="2813561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we know the lengths of the sides of a 2D shape, we can find the perimeter by adding up the sides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856721" y="4734746"/>
            <a:ext cx="1115690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3163670" y="617200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2 – We do…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408388" y="5596378"/>
            <a:ext cx="35122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4cm + 6cm + 7cm = 17cm</a:t>
            </a:r>
            <a:endParaRPr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901792" y="4938834"/>
            <a:ext cx="1488362" cy="668884"/>
            <a:chOff x="577808" y="3307220"/>
            <a:chExt cx="1488362" cy="668884"/>
          </a:xfrm>
        </p:grpSpPr>
        <p:cxnSp>
          <p:nvCxnSpPr>
            <p:cNvPr id="113" name="Google Shape;113;p13"/>
            <p:cNvCxnSpPr/>
            <p:nvPr/>
          </p:nvCxnSpPr>
          <p:spPr>
            <a:xfrm>
              <a:off x="834887" y="3662700"/>
              <a:ext cx="442434" cy="269701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4" name="Google Shape;114;p13"/>
            <p:cNvCxnSpPr/>
            <p:nvPr/>
          </p:nvCxnSpPr>
          <p:spPr>
            <a:xfrm flipH="1" rot="10800000">
              <a:off x="824108" y="3527482"/>
              <a:ext cx="1128685" cy="12512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5" name="Google Shape;115;p13"/>
            <p:cNvCxnSpPr/>
            <p:nvPr/>
          </p:nvCxnSpPr>
          <p:spPr>
            <a:xfrm flipH="1" rot="10800000">
              <a:off x="1277321" y="3544604"/>
              <a:ext cx="664693" cy="38779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6" name="Google Shape;116;p13"/>
            <p:cNvSpPr txBox="1"/>
            <p:nvPr/>
          </p:nvSpPr>
          <p:spPr>
            <a:xfrm>
              <a:off x="577808" y="3699018"/>
              <a:ext cx="4891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1577027" y="3699105"/>
              <a:ext cx="4891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1063234" y="3307220"/>
              <a:ext cx="48914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3"/>
          <p:cNvSpPr txBox="1"/>
          <p:nvPr/>
        </p:nvSpPr>
        <p:spPr>
          <a:xfrm>
            <a:off x="3661843" y="5428704"/>
            <a:ext cx="30151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this stage, we will only find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perimeters for shapes with straight line edges</a:t>
            </a:r>
            <a:endParaRPr i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165264" y="5926896"/>
            <a:ext cx="2575128" cy="2673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Identify irregular polygons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" name="Google Shape;121;p13"/>
          <p:cNvGrpSpPr/>
          <p:nvPr/>
        </p:nvGrpSpPr>
        <p:grpSpPr>
          <a:xfrm>
            <a:off x="1408244" y="6786762"/>
            <a:ext cx="1626366" cy="880272"/>
            <a:chOff x="1139857" y="7141330"/>
            <a:chExt cx="1626366" cy="880272"/>
          </a:xfrm>
        </p:grpSpPr>
        <p:sp>
          <p:nvSpPr>
            <p:cNvPr id="122" name="Google Shape;122;p13"/>
            <p:cNvSpPr/>
            <p:nvPr/>
          </p:nvSpPr>
          <p:spPr>
            <a:xfrm rot="-2039389">
              <a:off x="1148630" y="7346465"/>
              <a:ext cx="820074" cy="282029"/>
            </a:xfrm>
            <a:prstGeom prst="parallelogram">
              <a:avLst>
                <a:gd fmla="val 25000" name="adj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2019704" y="7300778"/>
              <a:ext cx="746519" cy="720824"/>
            </a:xfrm>
            <a:prstGeom prst="ellipse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3"/>
          <p:cNvSpPr/>
          <p:nvPr/>
        </p:nvSpPr>
        <p:spPr>
          <a:xfrm>
            <a:off x="4278101" y="6822996"/>
            <a:ext cx="514510" cy="805638"/>
          </a:xfrm>
          <a:prstGeom prst="downArrow">
            <a:avLst>
              <a:gd fmla="val 50000" name="adj1"/>
              <a:gd fmla="val 50000" name="adj2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4670069" y="5000057"/>
            <a:ext cx="746519" cy="672245"/>
          </a:xfrm>
          <a:prstGeom prst="blockArc">
            <a:avLst>
              <a:gd fmla="val 10800000" name="adj1"/>
              <a:gd fmla="val 0" name="adj2"/>
              <a:gd fmla="val 25000" name="adj3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13"/>
          <p:cNvGrpSpPr/>
          <p:nvPr/>
        </p:nvGrpSpPr>
        <p:grpSpPr>
          <a:xfrm>
            <a:off x="5230062" y="6831824"/>
            <a:ext cx="1460410" cy="740965"/>
            <a:chOff x="5064745" y="5933166"/>
            <a:chExt cx="1460410" cy="740965"/>
          </a:xfrm>
        </p:grpSpPr>
        <p:sp>
          <p:nvSpPr>
            <p:cNvPr id="127" name="Google Shape;127;p13"/>
            <p:cNvSpPr/>
            <p:nvPr/>
          </p:nvSpPr>
          <p:spPr>
            <a:xfrm>
              <a:off x="5064745" y="6031841"/>
              <a:ext cx="625118" cy="630416"/>
            </a:xfrm>
            <a:prstGeom prst="plaque">
              <a:avLst>
                <a:gd fmla="val 40983" name="adj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5889011" y="5933166"/>
              <a:ext cx="636144" cy="740965"/>
            </a:xfrm>
            <a:prstGeom prst="halfFrame">
              <a:avLst>
                <a:gd fmla="val 33333" name="adj1"/>
                <a:gd fmla="val 29990" name="adj2"/>
              </a:avLst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13"/>
          <p:cNvSpPr txBox="1"/>
          <p:nvPr/>
        </p:nvSpPr>
        <p:spPr>
          <a:xfrm>
            <a:off x="138549" y="8176853"/>
            <a:ext cx="2539387" cy="15388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Tick the shapes that are polygons.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    Complete the sentence:</a:t>
            </a:r>
            <a:endParaRPr/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61837" y="7838481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grpSp>
        <p:nvGrpSpPr>
          <p:cNvPr id="131" name="Google Shape;131;p13"/>
          <p:cNvGrpSpPr/>
          <p:nvPr/>
        </p:nvGrpSpPr>
        <p:grpSpPr>
          <a:xfrm>
            <a:off x="3384584" y="6941853"/>
            <a:ext cx="657510" cy="630936"/>
            <a:chOff x="3246120" y="6272784"/>
            <a:chExt cx="657510" cy="630936"/>
          </a:xfrm>
        </p:grpSpPr>
        <p:cxnSp>
          <p:nvCxnSpPr>
            <p:cNvPr id="132" name="Google Shape;132;p13"/>
            <p:cNvCxnSpPr/>
            <p:nvPr/>
          </p:nvCxnSpPr>
          <p:spPr>
            <a:xfrm flipH="1">
              <a:off x="3246120" y="6272784"/>
              <a:ext cx="633099" cy="96547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3255264" y="6360187"/>
              <a:ext cx="278858" cy="5435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4" name="Google Shape;134;p13"/>
            <p:cNvCxnSpPr/>
            <p:nvPr/>
          </p:nvCxnSpPr>
          <p:spPr>
            <a:xfrm flipH="1" rot="10800000">
              <a:off x="3534122" y="6360187"/>
              <a:ext cx="369508" cy="5435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35" name="Google Shape;135;p13"/>
          <p:cNvSpPr txBox="1"/>
          <p:nvPr/>
        </p:nvSpPr>
        <p:spPr>
          <a:xfrm>
            <a:off x="2175688" y="9383570"/>
            <a:ext cx="4408135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polygon is a _</a:t>
            </a:r>
            <a:r>
              <a:rPr lang="en-GB" sz="13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closed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 shape with _</a:t>
            </a:r>
            <a:r>
              <a:rPr lang="en-GB" sz="13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straight</a:t>
            </a:r>
            <a:r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_ edges.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1735" y="8404619"/>
            <a:ext cx="1155628" cy="83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4650" y="8463275"/>
            <a:ext cx="1159340" cy="835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04054" y="8417542"/>
            <a:ext cx="1171922" cy="792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3"/>
          <p:cNvPicPr preferRelativeResize="0"/>
          <p:nvPr/>
        </p:nvPicPr>
        <p:blipFill rotWithShape="1">
          <a:blip r:embed="rId6">
            <a:alphaModFix/>
          </a:blip>
          <a:srcRect b="0" l="0" r="16260" t="0"/>
          <a:stretch/>
        </p:blipFill>
        <p:spPr>
          <a:xfrm>
            <a:off x="299967" y="8540125"/>
            <a:ext cx="1420305" cy="7582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3"/>
          <p:cNvGrpSpPr/>
          <p:nvPr/>
        </p:nvGrpSpPr>
        <p:grpSpPr>
          <a:xfrm>
            <a:off x="5790643" y="8442486"/>
            <a:ext cx="502290" cy="645184"/>
            <a:chOff x="5720051" y="8068998"/>
            <a:chExt cx="600455" cy="873834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5720051" y="8068999"/>
              <a:ext cx="0" cy="87383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2" name="Google Shape;142;p13"/>
            <p:cNvCxnSpPr/>
            <p:nvPr/>
          </p:nvCxnSpPr>
          <p:spPr>
            <a:xfrm rot="10800000">
              <a:off x="5720051" y="8942832"/>
              <a:ext cx="600113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3" name="Google Shape;143;p13"/>
            <p:cNvCxnSpPr/>
            <p:nvPr/>
          </p:nvCxnSpPr>
          <p:spPr>
            <a:xfrm>
              <a:off x="6320506" y="8068998"/>
              <a:ext cx="0" cy="87383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44" name="Google Shape;144;p13"/>
          <p:cNvSpPr/>
          <p:nvPr/>
        </p:nvSpPr>
        <p:spPr>
          <a:xfrm>
            <a:off x="65530" y="2535663"/>
            <a:ext cx="6699219" cy="150240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13"/>
          <p:cNvCxnSpPr>
            <a:stCxn id="144" idx="1"/>
            <a:endCxn id="144" idx="3"/>
          </p:cNvCxnSpPr>
          <p:nvPr/>
        </p:nvCxnSpPr>
        <p:spPr>
          <a:xfrm>
            <a:off x="65530" y="3286866"/>
            <a:ext cx="6699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6" name="Google Shape;146;p13"/>
          <p:cNvCxnSpPr>
            <a:stCxn id="144" idx="2"/>
            <a:endCxn id="144" idx="0"/>
          </p:cNvCxnSpPr>
          <p:nvPr/>
        </p:nvCxnSpPr>
        <p:spPr>
          <a:xfrm rot="10800000">
            <a:off x="3415139" y="2535668"/>
            <a:ext cx="0" cy="150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p13"/>
          <p:cNvSpPr txBox="1"/>
          <p:nvPr/>
        </p:nvSpPr>
        <p:spPr>
          <a:xfrm>
            <a:off x="83285" y="2535662"/>
            <a:ext cx="8247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5607336" y="2503276"/>
            <a:ext cx="111222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3"/>
          <p:cNvSpPr txBox="1"/>
          <p:nvPr/>
        </p:nvSpPr>
        <p:spPr>
          <a:xfrm>
            <a:off x="98432" y="3308756"/>
            <a:ext cx="7881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5535849" y="3284375"/>
            <a:ext cx="117288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- Examples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3"/>
          <p:cNvSpPr txBox="1"/>
          <p:nvPr/>
        </p:nvSpPr>
        <p:spPr>
          <a:xfrm>
            <a:off x="195585" y="2761316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closed 2D shape where all edges are straight lines</a:t>
            </a:r>
            <a:endParaRPr/>
          </a:p>
        </p:txBody>
      </p:sp>
      <p:sp>
        <p:nvSpPr>
          <p:cNvPr id="152" name="Google Shape;152;p13"/>
          <p:cNvSpPr txBox="1"/>
          <p:nvPr/>
        </p:nvSpPr>
        <p:spPr>
          <a:xfrm>
            <a:off x="3474474" y="2728611"/>
            <a:ext cx="323033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Polygons have properties based on the number of sides they have</a:t>
            </a:r>
            <a:endParaRPr/>
          </a:p>
        </p:txBody>
      </p:sp>
      <p:sp>
        <p:nvSpPr>
          <p:cNvPr id="153" name="Google Shape;153;p13"/>
          <p:cNvSpPr txBox="1"/>
          <p:nvPr/>
        </p:nvSpPr>
        <p:spPr>
          <a:xfrm>
            <a:off x="2951715" y="3115177"/>
            <a:ext cx="925703" cy="36933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Polygon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13"/>
          <p:cNvGrpSpPr/>
          <p:nvPr/>
        </p:nvGrpSpPr>
        <p:grpSpPr>
          <a:xfrm>
            <a:off x="3948541" y="3479612"/>
            <a:ext cx="600455" cy="417878"/>
            <a:chOff x="4162050" y="3716742"/>
            <a:chExt cx="600455" cy="543858"/>
          </a:xfrm>
        </p:grpSpPr>
        <p:cxnSp>
          <p:nvCxnSpPr>
            <p:cNvPr id="155" name="Google Shape;155;p13"/>
            <p:cNvCxnSpPr/>
            <p:nvPr/>
          </p:nvCxnSpPr>
          <p:spPr>
            <a:xfrm flipH="1">
              <a:off x="4162050" y="3748090"/>
              <a:ext cx="46170" cy="51251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6" name="Google Shape;156;p13"/>
            <p:cNvCxnSpPr/>
            <p:nvPr/>
          </p:nvCxnSpPr>
          <p:spPr>
            <a:xfrm rot="10800000">
              <a:off x="4162050" y="4260600"/>
              <a:ext cx="600113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7" name="Google Shape;157;p13"/>
            <p:cNvCxnSpPr/>
            <p:nvPr/>
          </p:nvCxnSpPr>
          <p:spPr>
            <a:xfrm>
              <a:off x="4370278" y="3716742"/>
              <a:ext cx="392227" cy="54385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58" name="Google Shape;158;p13"/>
          <p:cNvSpPr/>
          <p:nvPr/>
        </p:nvSpPr>
        <p:spPr>
          <a:xfrm>
            <a:off x="4935559" y="3519336"/>
            <a:ext cx="834646" cy="380919"/>
          </a:xfrm>
          <a:prstGeom prst="chord">
            <a:avLst>
              <a:gd fmla="val 2700000" name="adj1"/>
              <a:gd fmla="val 1620000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3"/>
          <p:cNvSpPr/>
          <p:nvPr/>
        </p:nvSpPr>
        <p:spPr>
          <a:xfrm rot="-5400000">
            <a:off x="1030787" y="3453391"/>
            <a:ext cx="399539" cy="487237"/>
          </a:xfrm>
          <a:prstGeom prst="flowChartOffpageConnector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/>
          <p:nvPr/>
        </p:nvSpPr>
        <p:spPr>
          <a:xfrm rot="1588728">
            <a:off x="1765166" y="3485626"/>
            <a:ext cx="463046" cy="412082"/>
          </a:xfrm>
          <a:prstGeom prst="chevron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3"/>
          <p:cNvSpPr/>
          <p:nvPr/>
        </p:nvSpPr>
        <p:spPr>
          <a:xfrm rot="-1453088">
            <a:off x="2396714" y="3592680"/>
            <a:ext cx="838165" cy="152255"/>
          </a:xfrm>
          <a:prstGeom prst="triangle">
            <a:avLst>
              <a:gd fmla="val 50000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74695" y="1712552"/>
            <a:ext cx="6679742" cy="79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1" i="0" lang="en-GB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Introduction – Read and annotate: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find the perimeter of an irregular polygon, add the lengths of all its sides, even if they are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different. Unlike regular polygons, irregular polygons do not have equal sides, so each side must be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AutoNum type="arabicPeriod"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measured or given before calculating the total distance around the shape.</a:t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mark with solid fill" id="163" name="Google Shape;163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71305" y="6940513"/>
            <a:ext cx="540860" cy="500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64" name="Google Shape;164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07301" y="6969907"/>
            <a:ext cx="540860" cy="500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65" name="Google Shape;165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82063" y="6849419"/>
            <a:ext cx="540860" cy="500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66" name="Google Shape;166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33538" y="8740163"/>
            <a:ext cx="540860" cy="5005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 with solid fill" id="167" name="Google Shape;16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22342" y="8649727"/>
            <a:ext cx="540860" cy="500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idx="12" type="sldNum"/>
          </p:nvPr>
        </p:nvSpPr>
        <p:spPr>
          <a:xfrm>
            <a:off x="5278096" y="9445343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173" name="Google Shape;173;p14"/>
          <p:cNvGraphicFramePr/>
          <p:nvPr/>
        </p:nvGraphicFramePr>
        <p:xfrm>
          <a:off x="133617" y="61093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{15F53DA7-FC5E-4812-A645-7530E974173A}</a:tableStyleId>
              </a:tblPr>
              <a:tblGrid>
                <a:gridCol w="987600"/>
                <a:gridCol w="1749225"/>
                <a:gridCol w="1917825"/>
                <a:gridCol w="1917825"/>
              </a:tblGrid>
              <a:tr h="361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this shape: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this shape: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perimeter of this shape: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Add together all the side lengths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Include units with your answer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174" name="Google Shape;174;p14"/>
          <p:cNvSpPr txBox="1"/>
          <p:nvPr/>
        </p:nvSpPr>
        <p:spPr>
          <a:xfrm>
            <a:off x="1416841" y="366772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4 - I do…</a:t>
            </a:r>
            <a:endParaRPr/>
          </a:p>
        </p:txBody>
      </p:sp>
      <p:sp>
        <p:nvSpPr>
          <p:cNvPr id="175" name="Google Shape;175;p14"/>
          <p:cNvSpPr txBox="1"/>
          <p:nvPr/>
        </p:nvSpPr>
        <p:spPr>
          <a:xfrm>
            <a:off x="5063801" y="345588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6 – You do…</a:t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3125072" y="357240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5 – We do…</a:t>
            </a:r>
            <a:endParaRPr/>
          </a:p>
        </p:txBody>
      </p:sp>
      <p:sp>
        <p:nvSpPr>
          <p:cNvPr id="177" name="Google Shape;177;p14"/>
          <p:cNvSpPr txBox="1"/>
          <p:nvPr/>
        </p:nvSpPr>
        <p:spPr>
          <a:xfrm>
            <a:off x="1068175" y="1519750"/>
            <a:ext cx="4891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2412082" y="1427429"/>
            <a:ext cx="4891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 txBox="1"/>
          <p:nvPr/>
        </p:nvSpPr>
        <p:spPr>
          <a:xfrm>
            <a:off x="1756123" y="1908972"/>
            <a:ext cx="536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1557318" y="1363078"/>
            <a:ext cx="842735" cy="514523"/>
          </a:xfrm>
          <a:prstGeom prst="flowChartManualInpu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 txBox="1"/>
          <p:nvPr/>
        </p:nvSpPr>
        <p:spPr>
          <a:xfrm>
            <a:off x="1715398" y="1136958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142761" y="285872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76370" y="109150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the perimeter of a polygon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/>
          <p:nvPr/>
        </p:nvSpPr>
        <p:spPr>
          <a:xfrm rot="9543314">
            <a:off x="3355426" y="1503417"/>
            <a:ext cx="889000" cy="615537"/>
          </a:xfrm>
          <a:prstGeom prst="rtTriangle">
            <a:avLst/>
          </a:prstGeom>
          <a:noFill/>
          <a:ln cap="flat" cmpd="sng" w="1905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4"/>
          <p:cNvSpPr txBox="1"/>
          <p:nvPr/>
        </p:nvSpPr>
        <p:spPr>
          <a:xfrm>
            <a:off x="3437121" y="1836699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9.34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4"/>
          <p:cNvSpPr txBox="1"/>
          <p:nvPr/>
        </p:nvSpPr>
        <p:spPr>
          <a:xfrm>
            <a:off x="5435779" y="1836698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4168056" y="1447662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6.1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3389990" y="1274116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7.2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5257136" y="1328147"/>
            <a:ext cx="770329" cy="522632"/>
          </a:xfrm>
          <a:prstGeom prst="snip1Rect">
            <a:avLst>
              <a:gd fmla="val 34322" name="adj"/>
            </a:avLst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 txBox="1"/>
          <p:nvPr/>
        </p:nvSpPr>
        <p:spPr>
          <a:xfrm>
            <a:off x="5966219" y="1545798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5.2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 txBox="1"/>
          <p:nvPr/>
        </p:nvSpPr>
        <p:spPr>
          <a:xfrm>
            <a:off x="4858089" y="1519749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5260944" y="1076858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7.4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4"/>
          <p:cNvSpPr txBox="1"/>
          <p:nvPr/>
        </p:nvSpPr>
        <p:spPr>
          <a:xfrm>
            <a:off x="5851437" y="1213323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4"/>
          <p:cNvPicPr preferRelativeResize="0"/>
          <p:nvPr/>
        </p:nvPicPr>
        <p:blipFill rotWithShape="1">
          <a:blip r:embed="rId3">
            <a:alphaModFix/>
          </a:blip>
          <a:srcRect b="50000" l="0" r="0" t="11033"/>
          <a:stretch/>
        </p:blipFill>
        <p:spPr>
          <a:xfrm>
            <a:off x="0" y="3235771"/>
            <a:ext cx="6373475" cy="127928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4"/>
          <p:cNvSpPr/>
          <p:nvPr/>
        </p:nvSpPr>
        <p:spPr>
          <a:xfrm>
            <a:off x="131875" y="285872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50000"/>
          <a:stretch/>
        </p:blipFill>
        <p:spPr>
          <a:xfrm>
            <a:off x="60278" y="5076519"/>
            <a:ext cx="5833488" cy="15024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7" name="Google Shape;197;p14"/>
          <p:cNvGrpSpPr/>
          <p:nvPr/>
        </p:nvGrpSpPr>
        <p:grpSpPr>
          <a:xfrm>
            <a:off x="153860" y="7186271"/>
            <a:ext cx="2075909" cy="866219"/>
            <a:chOff x="383304" y="7312459"/>
            <a:chExt cx="2075909" cy="866219"/>
          </a:xfrm>
        </p:grpSpPr>
        <p:sp>
          <p:nvSpPr>
            <p:cNvPr id="198" name="Google Shape;198;p14"/>
            <p:cNvSpPr/>
            <p:nvPr/>
          </p:nvSpPr>
          <p:spPr>
            <a:xfrm>
              <a:off x="885062" y="7547473"/>
              <a:ext cx="971550" cy="396170"/>
            </a:xfrm>
            <a:prstGeom prst="parallelogram">
              <a:avLst>
                <a:gd fmla="val 25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1786762" y="7620713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2.3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4"/>
            <p:cNvSpPr txBox="1"/>
            <p:nvPr/>
          </p:nvSpPr>
          <p:spPr>
            <a:xfrm>
              <a:off x="383304" y="7597419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2.3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4"/>
            <p:cNvSpPr txBox="1"/>
            <p:nvPr/>
          </p:nvSpPr>
          <p:spPr>
            <a:xfrm>
              <a:off x="1106317" y="7312459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4.8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4"/>
            <p:cNvSpPr txBox="1"/>
            <p:nvPr/>
          </p:nvSpPr>
          <p:spPr>
            <a:xfrm>
              <a:off x="999687" y="7901679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4.8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3" name="Google Shape;203;p14"/>
          <p:cNvGrpSpPr/>
          <p:nvPr/>
        </p:nvGrpSpPr>
        <p:grpSpPr>
          <a:xfrm>
            <a:off x="3462505" y="7322624"/>
            <a:ext cx="1718464" cy="700420"/>
            <a:chOff x="3518019" y="7449309"/>
            <a:chExt cx="1718464" cy="700420"/>
          </a:xfrm>
        </p:grpSpPr>
        <p:sp>
          <p:nvSpPr>
            <p:cNvPr id="204" name="Google Shape;204;p14"/>
            <p:cNvSpPr/>
            <p:nvPr/>
          </p:nvSpPr>
          <p:spPr>
            <a:xfrm>
              <a:off x="3734559" y="7449309"/>
              <a:ext cx="971550" cy="448403"/>
            </a:xfrm>
            <a:prstGeom prst="triangle">
              <a:avLst>
                <a:gd fmla="val 6503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4"/>
            <p:cNvSpPr txBox="1"/>
            <p:nvPr/>
          </p:nvSpPr>
          <p:spPr>
            <a:xfrm>
              <a:off x="3518019" y="7458919"/>
              <a:ext cx="8191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0.31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4"/>
            <p:cNvSpPr txBox="1"/>
            <p:nvPr/>
          </p:nvSpPr>
          <p:spPr>
            <a:xfrm>
              <a:off x="4489920" y="7490499"/>
              <a:ext cx="7465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0.26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4"/>
            <p:cNvSpPr txBox="1"/>
            <p:nvPr/>
          </p:nvSpPr>
          <p:spPr>
            <a:xfrm>
              <a:off x="4051124" y="7872730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0.7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8" name="Google Shape;208;p14"/>
          <p:cNvGrpSpPr/>
          <p:nvPr/>
        </p:nvGrpSpPr>
        <p:grpSpPr>
          <a:xfrm>
            <a:off x="142761" y="8438068"/>
            <a:ext cx="1979432" cy="1147932"/>
            <a:chOff x="351554" y="8422879"/>
            <a:chExt cx="1979432" cy="1147932"/>
          </a:xfrm>
        </p:grpSpPr>
        <p:sp>
          <p:nvSpPr>
            <p:cNvPr id="209" name="Google Shape;209;p14"/>
            <p:cNvSpPr/>
            <p:nvPr/>
          </p:nvSpPr>
          <p:spPr>
            <a:xfrm>
              <a:off x="839394" y="8635587"/>
              <a:ext cx="819141" cy="678244"/>
            </a:xfrm>
            <a:prstGeom prst="snip1Rect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4"/>
            <p:cNvSpPr txBox="1"/>
            <p:nvPr/>
          </p:nvSpPr>
          <p:spPr>
            <a:xfrm>
              <a:off x="351554" y="8904682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4"/>
            <p:cNvSpPr txBox="1"/>
            <p:nvPr/>
          </p:nvSpPr>
          <p:spPr>
            <a:xfrm>
              <a:off x="1658535" y="9018915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7.5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4"/>
            <p:cNvSpPr txBox="1"/>
            <p:nvPr/>
          </p:nvSpPr>
          <p:spPr>
            <a:xfrm>
              <a:off x="776950" y="8422879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8.8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4"/>
            <p:cNvSpPr txBox="1"/>
            <p:nvPr/>
          </p:nvSpPr>
          <p:spPr>
            <a:xfrm>
              <a:off x="926674" y="9293812"/>
              <a:ext cx="8346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14.8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1404951" y="8584965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6.1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" name="Google Shape;215;p14"/>
          <p:cNvGrpSpPr/>
          <p:nvPr/>
        </p:nvGrpSpPr>
        <p:grpSpPr>
          <a:xfrm>
            <a:off x="3462505" y="8446465"/>
            <a:ext cx="1543158" cy="1049101"/>
            <a:chOff x="3434611" y="8359846"/>
            <a:chExt cx="1543158" cy="1049101"/>
          </a:xfrm>
        </p:grpSpPr>
        <p:sp>
          <p:nvSpPr>
            <p:cNvPr id="216" name="Google Shape;216;p14"/>
            <p:cNvSpPr/>
            <p:nvPr/>
          </p:nvSpPr>
          <p:spPr>
            <a:xfrm>
              <a:off x="3759959" y="8579228"/>
              <a:ext cx="755650" cy="793750"/>
            </a:xfrm>
            <a:prstGeom prst="downArrow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4"/>
            <p:cNvSpPr txBox="1"/>
            <p:nvPr/>
          </p:nvSpPr>
          <p:spPr>
            <a:xfrm>
              <a:off x="3467321" y="8585165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67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4"/>
            <p:cNvSpPr txBox="1"/>
            <p:nvPr/>
          </p:nvSpPr>
          <p:spPr>
            <a:xfrm>
              <a:off x="4267429" y="8593173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67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4"/>
            <p:cNvSpPr txBox="1"/>
            <p:nvPr/>
          </p:nvSpPr>
          <p:spPr>
            <a:xfrm>
              <a:off x="4305318" y="8766182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0.3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4"/>
            <p:cNvSpPr txBox="1"/>
            <p:nvPr/>
          </p:nvSpPr>
          <p:spPr>
            <a:xfrm>
              <a:off x="4273892" y="9109879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1.03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4"/>
            <p:cNvSpPr txBox="1"/>
            <p:nvPr/>
          </p:nvSpPr>
          <p:spPr>
            <a:xfrm>
              <a:off x="3434611" y="9131948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1.03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4"/>
            <p:cNvSpPr txBox="1"/>
            <p:nvPr/>
          </p:nvSpPr>
          <p:spPr>
            <a:xfrm>
              <a:off x="3893314" y="8359846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90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4"/>
            <p:cNvSpPr txBox="1"/>
            <p:nvPr/>
          </p:nvSpPr>
          <p:spPr>
            <a:xfrm>
              <a:off x="3486265" y="8771671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0.3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24" name="Google Shape;224;p14"/>
          <p:cNvGraphicFramePr/>
          <p:nvPr/>
        </p:nvGraphicFramePr>
        <p:xfrm>
          <a:off x="125561" y="32839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{15F53DA7-FC5E-4812-A645-7530E974173A}</a:tableStyleId>
              </a:tblPr>
              <a:tblGrid>
                <a:gridCol w="2176100"/>
                <a:gridCol w="2199450"/>
                <a:gridCol w="2187775"/>
              </a:tblGrid>
              <a:tr h="18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5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14"/>
          <p:cNvSpPr txBox="1"/>
          <p:nvPr/>
        </p:nvSpPr>
        <p:spPr>
          <a:xfrm>
            <a:off x="1258422" y="2985292"/>
            <a:ext cx="34662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 startAt="3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the perimeter of each shape below</a:t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1370837" y="4632030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3583780" y="4629426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5794684" y="4620522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1417729" y="6482031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4"/>
          <p:cNvSpPr/>
          <p:nvPr/>
        </p:nvSpPr>
        <p:spPr>
          <a:xfrm>
            <a:off x="3583780" y="6482031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5822026" y="6490849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2" name="Google Shape;232;p14"/>
          <p:cNvGraphicFramePr/>
          <p:nvPr/>
        </p:nvGraphicFramePr>
        <p:xfrm>
          <a:off x="148137" y="72125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{15F53DA7-FC5E-4812-A645-7530E974173A}</a:tableStyleId>
              </a:tblPr>
              <a:tblGrid>
                <a:gridCol w="3261500"/>
                <a:gridCol w="3296475"/>
              </a:tblGrid>
              <a:tr h="117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7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3" name="Google Shape;233;p14"/>
          <p:cNvSpPr txBox="1"/>
          <p:nvPr/>
        </p:nvSpPr>
        <p:spPr>
          <a:xfrm>
            <a:off x="81587" y="6942447"/>
            <a:ext cx="346621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Find the perimeter of each shape below</a:t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2512790" y="9144354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2497292" y="7955605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5089756" y="9154043"/>
            <a:ext cx="1563674" cy="359643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125244" y="7197666"/>
            <a:ext cx="388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</a:t>
            </a:r>
            <a:endParaRPr/>
          </a:p>
        </p:txBody>
      </p:sp>
      <p:sp>
        <p:nvSpPr>
          <p:cNvPr id="238" name="Google Shape;238;p14"/>
          <p:cNvSpPr txBox="1"/>
          <p:nvPr/>
        </p:nvSpPr>
        <p:spPr>
          <a:xfrm>
            <a:off x="3389548" y="7184965"/>
            <a:ext cx="388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</a:t>
            </a:r>
            <a:endParaRPr/>
          </a:p>
        </p:txBody>
      </p:sp>
      <p:sp>
        <p:nvSpPr>
          <p:cNvPr id="239" name="Google Shape;239;p14"/>
          <p:cNvSpPr txBox="1"/>
          <p:nvPr/>
        </p:nvSpPr>
        <p:spPr>
          <a:xfrm>
            <a:off x="113016" y="8351243"/>
            <a:ext cx="388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</a:t>
            </a:r>
            <a:endParaRPr/>
          </a:p>
        </p:txBody>
      </p:sp>
      <p:sp>
        <p:nvSpPr>
          <p:cNvPr id="240" name="Google Shape;240;p14"/>
          <p:cNvSpPr txBox="1"/>
          <p:nvPr/>
        </p:nvSpPr>
        <p:spPr>
          <a:xfrm>
            <a:off x="3389547" y="8366478"/>
            <a:ext cx="38846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d)</a:t>
            </a:r>
            <a:endParaRPr/>
          </a:p>
        </p:txBody>
      </p:sp>
      <p:sp>
        <p:nvSpPr>
          <p:cNvPr id="241" name="Google Shape;241;p14"/>
          <p:cNvSpPr txBox="1"/>
          <p:nvPr/>
        </p:nvSpPr>
        <p:spPr>
          <a:xfrm>
            <a:off x="1599377" y="2430576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25cm</a:t>
            </a:r>
            <a:endParaRPr/>
          </a:p>
        </p:txBody>
      </p:sp>
      <p:sp>
        <p:nvSpPr>
          <p:cNvPr id="242" name="Google Shape;242;p14"/>
          <p:cNvSpPr txBox="1"/>
          <p:nvPr/>
        </p:nvSpPr>
        <p:spPr>
          <a:xfrm>
            <a:off x="3507805" y="2404295"/>
            <a:ext cx="89479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22.64m</a:t>
            </a:r>
            <a:endParaRPr/>
          </a:p>
        </p:txBody>
      </p:sp>
      <p:sp>
        <p:nvSpPr>
          <p:cNvPr id="243" name="Google Shape;243;p14"/>
          <p:cNvSpPr txBox="1"/>
          <p:nvPr/>
        </p:nvSpPr>
        <p:spPr>
          <a:xfrm>
            <a:off x="5365507" y="2389388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27.6cm</a:t>
            </a:r>
            <a:endParaRPr/>
          </a:p>
        </p:txBody>
      </p:sp>
      <p:sp>
        <p:nvSpPr>
          <p:cNvPr id="244" name="Google Shape;244;p14"/>
          <p:cNvSpPr txBox="1"/>
          <p:nvPr/>
        </p:nvSpPr>
        <p:spPr>
          <a:xfrm>
            <a:off x="6012491" y="6557014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46cm</a:t>
            </a:r>
            <a:endParaRPr/>
          </a:p>
        </p:txBody>
      </p:sp>
      <p:sp>
        <p:nvSpPr>
          <p:cNvPr id="245" name="Google Shape;245;p14"/>
          <p:cNvSpPr txBox="1"/>
          <p:nvPr/>
        </p:nvSpPr>
        <p:spPr>
          <a:xfrm>
            <a:off x="3805569" y="6557014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34cm</a:t>
            </a:r>
            <a:endParaRPr/>
          </a:p>
        </p:txBody>
      </p:sp>
      <p:sp>
        <p:nvSpPr>
          <p:cNvPr id="246" name="Google Shape;246;p14"/>
          <p:cNvSpPr txBox="1"/>
          <p:nvPr/>
        </p:nvSpPr>
        <p:spPr>
          <a:xfrm>
            <a:off x="1582287" y="6544364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24cm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5893936" y="4676028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28cm</a:t>
            </a:r>
            <a:endParaRPr/>
          </a:p>
        </p:txBody>
      </p:sp>
      <p:sp>
        <p:nvSpPr>
          <p:cNvPr id="248" name="Google Shape;248;p14"/>
          <p:cNvSpPr txBox="1"/>
          <p:nvPr/>
        </p:nvSpPr>
        <p:spPr>
          <a:xfrm>
            <a:off x="3678528" y="4692546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24cm</a:t>
            </a:r>
            <a:endParaRPr/>
          </a:p>
        </p:txBody>
      </p:sp>
      <p:sp>
        <p:nvSpPr>
          <p:cNvPr id="249" name="Google Shape;249;p14"/>
          <p:cNvSpPr txBox="1"/>
          <p:nvPr/>
        </p:nvSpPr>
        <p:spPr>
          <a:xfrm>
            <a:off x="1463120" y="4676028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16cm</a:t>
            </a:r>
            <a:endParaRPr/>
          </a:p>
        </p:txBody>
      </p:sp>
      <p:sp>
        <p:nvSpPr>
          <p:cNvPr id="250" name="Google Shape;250;p14"/>
          <p:cNvSpPr/>
          <p:nvPr/>
        </p:nvSpPr>
        <p:spPr>
          <a:xfrm>
            <a:off x="1354916" y="4639145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3567859" y="4636541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778763" y="4627637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1401808" y="6489146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3567859" y="6489146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5806105" y="6497964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 txBox="1"/>
          <p:nvPr/>
        </p:nvSpPr>
        <p:spPr>
          <a:xfrm>
            <a:off x="5159693" y="9189471"/>
            <a:ext cx="158321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490cm = 4.9m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5837510" y="8005276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1.27cm</a:t>
            </a:r>
            <a:endParaRPr/>
          </a:p>
        </p:txBody>
      </p:sp>
      <p:sp>
        <p:nvSpPr>
          <p:cNvPr id="258" name="Google Shape;258;p14"/>
          <p:cNvSpPr txBox="1"/>
          <p:nvPr/>
        </p:nvSpPr>
        <p:spPr>
          <a:xfrm>
            <a:off x="2518979" y="7993808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14.2cm</a:t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5807368" y="7960271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/>
        </p:nvSpPr>
        <p:spPr>
          <a:xfrm>
            <a:off x="2497292" y="9196401"/>
            <a:ext cx="1088424" cy="37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50.2cm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>
            <p:ph idx="12" type="sldNum"/>
          </p:nvPr>
        </p:nvSpPr>
        <p:spPr>
          <a:xfrm>
            <a:off x="5384318" y="9562176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aphicFrame>
        <p:nvGraphicFramePr>
          <p:cNvPr id="266" name="Google Shape;266;p15"/>
          <p:cNvGraphicFramePr/>
          <p:nvPr/>
        </p:nvGraphicFramePr>
        <p:xfrm>
          <a:off x="133617" y="6762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{15F53DA7-FC5E-4812-A645-7530E974173A}</a:tableStyleId>
              </a:tblPr>
              <a:tblGrid>
                <a:gridCol w="965850"/>
                <a:gridCol w="1868875"/>
                <a:gridCol w="1868875"/>
                <a:gridCol w="1868875"/>
              </a:tblGrid>
              <a:tr h="265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</a:rPr>
                        <a:t>Steps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missing length: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missing length: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b="0" lang="en-GB" sz="1200">
                          <a:solidFill>
                            <a:schemeClr val="dk1"/>
                          </a:solidFill>
                        </a:rPr>
                        <a:t>Find the missing length: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1. Add together the known side lengths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88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chemeClr val="dk1"/>
                          </a:solidFill>
                        </a:rPr>
                        <a:t>2. Subtract this total from the perimeter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</a:tr>
            </a:tbl>
          </a:graphicData>
        </a:graphic>
      </p:graphicFrame>
      <p:sp>
        <p:nvSpPr>
          <p:cNvPr id="267" name="Google Shape;267;p15"/>
          <p:cNvSpPr txBox="1"/>
          <p:nvPr/>
        </p:nvSpPr>
        <p:spPr>
          <a:xfrm>
            <a:off x="1367761" y="431659"/>
            <a:ext cx="14107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Example 7 - I do…</a:t>
            </a:r>
            <a:endParaRPr/>
          </a:p>
        </p:txBody>
      </p:sp>
      <p:sp>
        <p:nvSpPr>
          <p:cNvPr id="268" name="Google Shape;268;p15"/>
          <p:cNvSpPr txBox="1"/>
          <p:nvPr/>
        </p:nvSpPr>
        <p:spPr>
          <a:xfrm>
            <a:off x="5060880" y="43605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Example 9 – You do…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3189589" y="434827"/>
            <a:ext cx="164340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GB" sz="1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Example 8 – We do…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1174180" y="1610817"/>
            <a:ext cx="4891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1862128" y="2000039"/>
            <a:ext cx="5369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1663323" y="1454145"/>
            <a:ext cx="842735" cy="514523"/>
          </a:xfrm>
          <a:prstGeom prst="flowChartManualInpu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1821403" y="1228025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109480" y="2749892"/>
            <a:ext cx="1137954" cy="340453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Independent Practice</a:t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162046" y="185865"/>
            <a:ext cx="6014442" cy="23531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a missing side length in a polygon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 rot="9543314">
            <a:off x="3461431" y="1511354"/>
            <a:ext cx="889000" cy="615537"/>
          </a:xfrm>
          <a:prstGeom prst="rtTriangle">
            <a:avLst/>
          </a:prstGeom>
          <a:noFill/>
          <a:ln cap="flat" cmpd="sng" w="1905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3543126" y="1844636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9.3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4274061" y="1455599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3495995" y="1282053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8.2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5727395" y="1665535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4993524" y="1541376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5705257" y="1217208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1213910" y="923714"/>
            <a:ext cx="15761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27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2533894" y="1541376"/>
            <a:ext cx="48914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3117865" y="957130"/>
            <a:ext cx="15761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19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5065998" y="966097"/>
            <a:ext cx="157613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Perimeter = 8.3 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 rot="5400000">
            <a:off x="5628592" y="1290958"/>
            <a:ext cx="475911" cy="810170"/>
          </a:xfrm>
          <a:prstGeom prst="rtTriangle">
            <a:avLst/>
          </a:prstGeom>
          <a:noFill/>
          <a:ln cap="flat" cmpd="sng" w="1905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5"/>
          <p:cNvSpPr txBox="1"/>
          <p:nvPr/>
        </p:nvSpPr>
        <p:spPr>
          <a:xfrm>
            <a:off x="89034" y="3130575"/>
            <a:ext cx="6630241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a)   Perimeter = 56 cm					b)   Perimeter =404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  Perimeter = 28.4 cm				d)   Perimeter = 300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e)   Perimeter = 54 cm					f)   Perimeter = 20.4 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An animal enclosure is made up  of four pieces of fencing.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Two pieces are 5.3 m long. One piece is 6.7 m long.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The perimeter of the enclosure is 22 m.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What is the length of the final piece of fencing?</a:t>
            </a:r>
            <a:endParaRPr/>
          </a:p>
        </p:txBody>
      </p:sp>
      <p:grpSp>
        <p:nvGrpSpPr>
          <p:cNvPr id="289" name="Google Shape;289;p15"/>
          <p:cNvGrpSpPr/>
          <p:nvPr/>
        </p:nvGrpSpPr>
        <p:grpSpPr>
          <a:xfrm>
            <a:off x="187925" y="3504522"/>
            <a:ext cx="1718464" cy="700420"/>
            <a:chOff x="3518019" y="7449309"/>
            <a:chExt cx="1718464" cy="700420"/>
          </a:xfrm>
        </p:grpSpPr>
        <p:sp>
          <p:nvSpPr>
            <p:cNvPr id="290" name="Google Shape;290;p15"/>
            <p:cNvSpPr/>
            <p:nvPr/>
          </p:nvSpPr>
          <p:spPr>
            <a:xfrm>
              <a:off x="3734559" y="7449309"/>
              <a:ext cx="971550" cy="448403"/>
            </a:xfrm>
            <a:prstGeom prst="triangle">
              <a:avLst>
                <a:gd fmla="val 6503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5"/>
            <p:cNvSpPr txBox="1"/>
            <p:nvPr/>
          </p:nvSpPr>
          <p:spPr>
            <a:xfrm>
              <a:off x="3518019" y="7458919"/>
              <a:ext cx="8191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24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5"/>
            <p:cNvSpPr txBox="1"/>
            <p:nvPr/>
          </p:nvSpPr>
          <p:spPr>
            <a:xfrm>
              <a:off x="4489920" y="7490499"/>
              <a:ext cx="7465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17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5"/>
            <p:cNvSpPr txBox="1"/>
            <p:nvPr/>
          </p:nvSpPr>
          <p:spPr>
            <a:xfrm>
              <a:off x="4051124" y="7872730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15"/>
          <p:cNvGrpSpPr/>
          <p:nvPr/>
        </p:nvGrpSpPr>
        <p:grpSpPr>
          <a:xfrm>
            <a:off x="158169" y="6857202"/>
            <a:ext cx="1697794" cy="1049101"/>
            <a:chOff x="3379191" y="8359846"/>
            <a:chExt cx="1697794" cy="1049101"/>
          </a:xfrm>
        </p:grpSpPr>
        <p:sp>
          <p:nvSpPr>
            <p:cNvPr id="295" name="Google Shape;295;p15"/>
            <p:cNvSpPr/>
            <p:nvPr/>
          </p:nvSpPr>
          <p:spPr>
            <a:xfrm>
              <a:off x="3759959" y="8579228"/>
              <a:ext cx="755650" cy="793750"/>
            </a:xfrm>
            <a:prstGeom prst="downArrow">
              <a:avLst>
                <a:gd fmla="val 50000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5"/>
            <p:cNvSpPr txBox="1"/>
            <p:nvPr/>
          </p:nvSpPr>
          <p:spPr>
            <a:xfrm>
              <a:off x="3425756" y="8585165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9.5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5"/>
            <p:cNvSpPr txBox="1"/>
            <p:nvPr/>
          </p:nvSpPr>
          <p:spPr>
            <a:xfrm>
              <a:off x="4267429" y="8593173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9.5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5"/>
            <p:cNvSpPr txBox="1"/>
            <p:nvPr/>
          </p:nvSpPr>
          <p:spPr>
            <a:xfrm>
              <a:off x="4305318" y="8766182"/>
              <a:ext cx="77166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4.8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5"/>
            <p:cNvSpPr txBox="1"/>
            <p:nvPr/>
          </p:nvSpPr>
          <p:spPr>
            <a:xfrm>
              <a:off x="4273892" y="9109880"/>
              <a:ext cx="7531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12.3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5"/>
            <p:cNvSpPr txBox="1"/>
            <p:nvPr/>
          </p:nvSpPr>
          <p:spPr>
            <a:xfrm>
              <a:off x="3379191" y="9131948"/>
              <a:ext cx="7218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12.3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5"/>
            <p:cNvSpPr txBox="1"/>
            <p:nvPr/>
          </p:nvSpPr>
          <p:spPr>
            <a:xfrm>
              <a:off x="3893314" y="8359846"/>
              <a:ext cx="74995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5"/>
            <p:cNvSpPr txBox="1"/>
            <p:nvPr/>
          </p:nvSpPr>
          <p:spPr>
            <a:xfrm>
              <a:off x="3387049" y="8765737"/>
              <a:ext cx="771667" cy="2829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4.8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5"/>
          <p:cNvGrpSpPr/>
          <p:nvPr/>
        </p:nvGrpSpPr>
        <p:grpSpPr>
          <a:xfrm>
            <a:off x="173786" y="5071859"/>
            <a:ext cx="1718464" cy="965034"/>
            <a:chOff x="3518019" y="7449309"/>
            <a:chExt cx="1718464" cy="965034"/>
          </a:xfrm>
        </p:grpSpPr>
        <p:sp>
          <p:nvSpPr>
            <p:cNvPr id="304" name="Google Shape;304;p15"/>
            <p:cNvSpPr/>
            <p:nvPr/>
          </p:nvSpPr>
          <p:spPr>
            <a:xfrm>
              <a:off x="3734559" y="7449309"/>
              <a:ext cx="989016" cy="700420"/>
            </a:xfrm>
            <a:prstGeom prst="triangle">
              <a:avLst>
                <a:gd fmla="val 65033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5"/>
            <p:cNvSpPr txBox="1"/>
            <p:nvPr/>
          </p:nvSpPr>
          <p:spPr>
            <a:xfrm>
              <a:off x="3518019" y="7458919"/>
              <a:ext cx="81914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8.7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5"/>
            <p:cNvSpPr txBox="1"/>
            <p:nvPr/>
          </p:nvSpPr>
          <p:spPr>
            <a:xfrm>
              <a:off x="4489920" y="7490499"/>
              <a:ext cx="746563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5"/>
            <p:cNvSpPr txBox="1"/>
            <p:nvPr/>
          </p:nvSpPr>
          <p:spPr>
            <a:xfrm>
              <a:off x="4010165" y="8137344"/>
              <a:ext cx="79087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10.2 cm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8" name="Google Shape;308;p15"/>
          <p:cNvGrpSpPr/>
          <p:nvPr/>
        </p:nvGrpSpPr>
        <p:grpSpPr>
          <a:xfrm>
            <a:off x="3328705" y="3367783"/>
            <a:ext cx="1979432" cy="1147932"/>
            <a:chOff x="3745816" y="3987528"/>
            <a:chExt cx="1979432" cy="1147932"/>
          </a:xfrm>
        </p:grpSpPr>
        <p:sp>
          <p:nvSpPr>
            <p:cNvPr id="309" name="Google Shape;309;p15"/>
            <p:cNvSpPr/>
            <p:nvPr/>
          </p:nvSpPr>
          <p:spPr>
            <a:xfrm>
              <a:off x="4233656" y="4200236"/>
              <a:ext cx="819141" cy="678244"/>
            </a:xfrm>
            <a:prstGeom prst="snip1Rect">
              <a:avLst>
                <a:gd fmla="val 50000" name="adj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5"/>
            <p:cNvSpPr txBox="1"/>
            <p:nvPr/>
          </p:nvSpPr>
          <p:spPr>
            <a:xfrm>
              <a:off x="3745816" y="4469331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135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5"/>
            <p:cNvSpPr txBox="1"/>
            <p:nvPr/>
          </p:nvSpPr>
          <p:spPr>
            <a:xfrm>
              <a:off x="5052797" y="4583564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5"/>
            <p:cNvSpPr txBox="1"/>
            <p:nvPr/>
          </p:nvSpPr>
          <p:spPr>
            <a:xfrm>
              <a:off x="4171212" y="3987528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50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5"/>
            <p:cNvSpPr txBox="1"/>
            <p:nvPr/>
          </p:nvSpPr>
          <p:spPr>
            <a:xfrm>
              <a:off x="4417921" y="4858461"/>
              <a:ext cx="8346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103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5"/>
            <p:cNvSpPr txBox="1"/>
            <p:nvPr/>
          </p:nvSpPr>
          <p:spPr>
            <a:xfrm>
              <a:off x="4799213" y="4149614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48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5" name="Google Shape;315;p15"/>
          <p:cNvGrpSpPr/>
          <p:nvPr/>
        </p:nvGrpSpPr>
        <p:grpSpPr>
          <a:xfrm>
            <a:off x="3301845" y="5032787"/>
            <a:ext cx="2238208" cy="1080209"/>
            <a:chOff x="3606156" y="5646247"/>
            <a:chExt cx="2238208" cy="1080209"/>
          </a:xfrm>
        </p:grpSpPr>
        <p:sp>
          <p:nvSpPr>
            <p:cNvPr id="316" name="Google Shape;316;p15"/>
            <p:cNvSpPr txBox="1"/>
            <p:nvPr/>
          </p:nvSpPr>
          <p:spPr>
            <a:xfrm>
              <a:off x="3606156" y="6020058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48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5"/>
            <p:cNvSpPr/>
            <p:nvPr/>
          </p:nvSpPr>
          <p:spPr>
            <a:xfrm>
              <a:off x="4064388" y="5801311"/>
              <a:ext cx="1074556" cy="637177"/>
            </a:xfrm>
            <a:prstGeom prst="flowChartManualInput">
              <a:avLst/>
            </a:prstGeom>
            <a:noFill/>
            <a:ln cap="flat" cmpd="sng" w="19050">
              <a:solidFill>
                <a:srgbClr val="2641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5"/>
            <p:cNvSpPr txBox="1"/>
            <p:nvPr/>
          </p:nvSpPr>
          <p:spPr>
            <a:xfrm>
              <a:off x="4295816" y="5646247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5"/>
            <p:cNvSpPr txBox="1"/>
            <p:nvPr/>
          </p:nvSpPr>
          <p:spPr>
            <a:xfrm>
              <a:off x="4295816" y="6449457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90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5"/>
            <p:cNvSpPr txBox="1"/>
            <p:nvPr/>
          </p:nvSpPr>
          <p:spPr>
            <a:xfrm>
              <a:off x="5171913" y="5926640"/>
              <a:ext cx="67245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58.2 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15"/>
          <p:cNvSpPr/>
          <p:nvPr/>
        </p:nvSpPr>
        <p:spPr>
          <a:xfrm rot="9543314">
            <a:off x="3518862" y="7403957"/>
            <a:ext cx="889000" cy="615537"/>
          </a:xfrm>
          <a:prstGeom prst="rtTriangle">
            <a:avLst/>
          </a:prstGeom>
          <a:noFill/>
          <a:ln cap="flat" cmpd="sng" w="19050">
            <a:solidFill>
              <a:srgbClr val="2641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3362998" y="7116260"/>
            <a:ext cx="7226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870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4412209" y="7306827"/>
            <a:ext cx="6245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?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3602032" y="7733823"/>
            <a:ext cx="7226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908 cm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5" name="Google Shape;325;p15"/>
          <p:cNvGraphicFramePr/>
          <p:nvPr/>
        </p:nvGraphicFramePr>
        <p:xfrm>
          <a:off x="117916" y="31329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{15F53DA7-FC5E-4812-A645-7530E974173A}</a:tableStyleId>
              </a:tblPr>
              <a:tblGrid>
                <a:gridCol w="3206475"/>
                <a:gridCol w="3366000"/>
              </a:tblGrid>
              <a:tr h="1641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1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6" name="Google Shape;326;p15"/>
          <p:cNvSpPr/>
          <p:nvPr/>
        </p:nvSpPr>
        <p:spPr>
          <a:xfrm>
            <a:off x="128802" y="8484794"/>
            <a:ext cx="6586437" cy="1245733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5081576" y="9312813"/>
            <a:ext cx="1602015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1239296" y="2855617"/>
            <a:ext cx="550922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5. Find the missing length for each shape below, given their perimeters</a:t>
            </a:r>
            <a:endParaRPr/>
          </a:p>
        </p:txBody>
      </p:sp>
      <p:sp>
        <p:nvSpPr>
          <p:cNvPr id="329" name="Google Shape;329;p15"/>
          <p:cNvSpPr txBox="1"/>
          <p:nvPr/>
        </p:nvSpPr>
        <p:spPr>
          <a:xfrm>
            <a:off x="1280715" y="2314638"/>
            <a:ext cx="12246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6cm</a:t>
            </a:r>
            <a:endParaRPr/>
          </a:p>
        </p:txBody>
      </p:sp>
      <p:sp>
        <p:nvSpPr>
          <p:cNvPr id="330" name="Google Shape;330;p15"/>
          <p:cNvSpPr txBox="1"/>
          <p:nvPr/>
        </p:nvSpPr>
        <p:spPr>
          <a:xfrm>
            <a:off x="3189143" y="2288357"/>
            <a:ext cx="6607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1.5m</a:t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5046845" y="2273450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2.2m</a:t>
            </a:r>
            <a:endParaRPr/>
          </a:p>
        </p:txBody>
      </p:sp>
      <p:sp>
        <p:nvSpPr>
          <p:cNvPr id="332" name="Google Shape;332;p15"/>
          <p:cNvSpPr txBox="1"/>
          <p:nvPr/>
        </p:nvSpPr>
        <p:spPr>
          <a:xfrm>
            <a:off x="6017443" y="4360382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68m</a:t>
            </a:r>
            <a:endParaRPr/>
          </a:p>
        </p:txBody>
      </p:sp>
      <p:sp>
        <p:nvSpPr>
          <p:cNvPr id="333" name="Google Shape;333;p15"/>
          <p:cNvSpPr txBox="1"/>
          <p:nvPr/>
        </p:nvSpPr>
        <p:spPr>
          <a:xfrm>
            <a:off x="2713249" y="4382406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15m</a:t>
            </a:r>
            <a:endParaRPr/>
          </a:p>
        </p:txBody>
      </p:sp>
      <p:sp>
        <p:nvSpPr>
          <p:cNvPr id="334" name="Google Shape;334;p15"/>
          <p:cNvSpPr txBox="1"/>
          <p:nvPr/>
        </p:nvSpPr>
        <p:spPr>
          <a:xfrm>
            <a:off x="2489177" y="6059174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9.5cm</a:t>
            </a:r>
            <a:endParaRPr/>
          </a:p>
        </p:txBody>
      </p:sp>
      <p:sp>
        <p:nvSpPr>
          <p:cNvPr id="335" name="Google Shape;335;p15"/>
          <p:cNvSpPr txBox="1"/>
          <p:nvPr/>
        </p:nvSpPr>
        <p:spPr>
          <a:xfrm>
            <a:off x="5748776" y="6040743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103.8m</a:t>
            </a:r>
            <a:endParaRPr/>
          </a:p>
        </p:txBody>
      </p:sp>
      <p:sp>
        <p:nvSpPr>
          <p:cNvPr id="336" name="Google Shape;336;p15"/>
          <p:cNvSpPr txBox="1"/>
          <p:nvPr/>
        </p:nvSpPr>
        <p:spPr>
          <a:xfrm>
            <a:off x="2559299" y="7675276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0.8cm</a:t>
            </a:r>
            <a:endParaRPr/>
          </a:p>
        </p:txBody>
      </p:sp>
      <p:sp>
        <p:nvSpPr>
          <p:cNvPr id="337" name="Google Shape;337;p15"/>
          <p:cNvSpPr txBox="1"/>
          <p:nvPr/>
        </p:nvSpPr>
        <p:spPr>
          <a:xfrm>
            <a:off x="5071320" y="7670803"/>
            <a:ext cx="172080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2.62m = 262cm</a:t>
            </a: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2445963" y="4391675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785824" y="4404748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2415940" y="6057572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5785824" y="6064352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2431852" y="7651851"/>
            <a:ext cx="846062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5029870" y="7651851"/>
            <a:ext cx="1602015" cy="369332"/>
          </a:xfrm>
          <a:prstGeom prst="rect">
            <a:avLst/>
          </a:prstGeom>
          <a:noFill/>
          <a:ln cap="flat" cmpd="sng" w="12700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 txBox="1"/>
          <p:nvPr/>
        </p:nvSpPr>
        <p:spPr>
          <a:xfrm>
            <a:off x="5994511" y="9310649"/>
            <a:ext cx="9278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4.7m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"/>
          <p:cNvSpPr txBox="1"/>
          <p:nvPr>
            <p:ph idx="12" type="sldNum"/>
          </p:nvPr>
        </p:nvSpPr>
        <p:spPr>
          <a:xfrm>
            <a:off x="5314950" y="9456809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0" name="Google Shape;350;p16"/>
          <p:cNvSpPr txBox="1"/>
          <p:nvPr/>
        </p:nvSpPr>
        <p:spPr>
          <a:xfrm>
            <a:off x="130812" y="162407"/>
            <a:ext cx="6585130" cy="338554"/>
          </a:xfrm>
          <a:prstGeom prst="rect">
            <a:avLst/>
          </a:prstGeom>
          <a:solidFill>
            <a:srgbClr val="7E234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GB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Check</a:t>
            </a:r>
            <a:endParaRPr b="1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6"/>
          <p:cNvSpPr/>
          <p:nvPr/>
        </p:nvSpPr>
        <p:spPr>
          <a:xfrm>
            <a:off x="126999" y="492089"/>
            <a:ext cx="6582146" cy="448721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							  2.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 							 4.</a:t>
            </a:r>
            <a:endParaRPr/>
          </a:p>
        </p:txBody>
      </p:sp>
      <p:pic>
        <p:nvPicPr>
          <p:cNvPr id="352" name="Google Shape;3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030" y="723135"/>
            <a:ext cx="3027934" cy="198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0121" y="723135"/>
            <a:ext cx="2785922" cy="189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16"/>
          <p:cNvPicPr preferRelativeResize="0"/>
          <p:nvPr/>
        </p:nvPicPr>
        <p:blipFill rotWithShape="1">
          <a:blip r:embed="rId5">
            <a:alphaModFix/>
          </a:blip>
          <a:srcRect b="0" l="0" r="1832" t="0"/>
          <a:stretch/>
        </p:blipFill>
        <p:spPr>
          <a:xfrm>
            <a:off x="258568" y="3102099"/>
            <a:ext cx="3027935" cy="17748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5" name="Google Shape;355;p16"/>
          <p:cNvCxnSpPr>
            <a:stCxn id="351" idx="0"/>
            <a:endCxn id="351" idx="2"/>
          </p:cNvCxnSpPr>
          <p:nvPr/>
        </p:nvCxnSpPr>
        <p:spPr>
          <a:xfrm>
            <a:off x="3418072" y="492089"/>
            <a:ext cx="0" cy="4487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6" name="Google Shape;356;p16"/>
          <p:cNvCxnSpPr/>
          <p:nvPr/>
        </p:nvCxnSpPr>
        <p:spPr>
          <a:xfrm rot="10800000">
            <a:off x="126999" y="2833376"/>
            <a:ext cx="6582148" cy="354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16"/>
          <p:cNvSpPr txBox="1"/>
          <p:nvPr/>
        </p:nvSpPr>
        <p:spPr>
          <a:xfrm>
            <a:off x="1702884" y="3317099"/>
            <a:ext cx="609462" cy="276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200cm</a:t>
            </a:r>
            <a:endParaRPr/>
          </a:p>
        </p:txBody>
      </p:sp>
      <p:pic>
        <p:nvPicPr>
          <p:cNvPr id="358" name="Google Shape;3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00290" y="2895522"/>
            <a:ext cx="2926637" cy="20518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9" name="Google Shape;359;p16"/>
          <p:cNvGrpSpPr/>
          <p:nvPr/>
        </p:nvGrpSpPr>
        <p:grpSpPr>
          <a:xfrm>
            <a:off x="148140" y="5142129"/>
            <a:ext cx="6539864" cy="4381500"/>
            <a:chOff x="159068" y="5311167"/>
            <a:chExt cx="6539864" cy="4381500"/>
          </a:xfrm>
        </p:grpSpPr>
        <p:pic>
          <p:nvPicPr>
            <p:cNvPr id="360" name="Google Shape;36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59068" y="5311167"/>
              <a:ext cx="5514975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6"/>
            <p:cNvPicPr preferRelativeResize="0"/>
            <p:nvPr/>
          </p:nvPicPr>
          <p:blipFill rotWithShape="1">
            <a:blip r:embed="rId7">
              <a:alphaModFix/>
            </a:blip>
            <a:srcRect b="0" l="69735" r="3662" t="0"/>
            <a:stretch/>
          </p:blipFill>
          <p:spPr>
            <a:xfrm>
              <a:off x="5231750" y="5311167"/>
              <a:ext cx="1467182" cy="438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6"/>
            <p:cNvPicPr preferRelativeResize="0"/>
            <p:nvPr/>
          </p:nvPicPr>
          <p:blipFill rotWithShape="1">
            <a:blip r:embed="rId7">
              <a:alphaModFix/>
            </a:blip>
            <a:srcRect b="0" l="6619" r="0" t="0"/>
            <a:stretch/>
          </p:blipFill>
          <p:spPr>
            <a:xfrm>
              <a:off x="936852" y="5311167"/>
              <a:ext cx="5149954" cy="43815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3" name="Google Shape;363;p16"/>
          <p:cNvSpPr/>
          <p:nvPr/>
        </p:nvSpPr>
        <p:spPr>
          <a:xfrm>
            <a:off x="2673482" y="2108357"/>
            <a:ext cx="664482" cy="591482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/>
          <p:nvPr/>
        </p:nvSpPr>
        <p:spPr>
          <a:xfrm>
            <a:off x="991089" y="4175513"/>
            <a:ext cx="627976" cy="744544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5207892" y="946838"/>
            <a:ext cx="1131915" cy="70381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3625851" y="4466915"/>
            <a:ext cx="627976" cy="48608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