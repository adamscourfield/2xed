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8401280-FD98-47C0-8D79-9CEFA875C841}">
  <a:tblStyle styleId="{08401280-FD98-47C0-8D79-9CEFA875C84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6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7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8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9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11" Type="http://schemas.openxmlformats.org/officeDocument/2006/relationships/image" Target="../media/image19.png"/><Relationship Id="rId10" Type="http://schemas.openxmlformats.org/officeDocument/2006/relationships/image" Target="../media/image10.png"/><Relationship Id="rId9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6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image" Target="../media/image9.png"/><Relationship Id="rId7" Type="http://schemas.openxmlformats.org/officeDocument/2006/relationships/image" Target="../media/image16.png"/><Relationship Id="rId8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123246" y="338686"/>
            <a:ext cx="6539617" cy="11520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N3.19 - Short Division (decimal answers)</a:t>
            </a:r>
            <a:endParaRPr/>
          </a:p>
        </p:txBody>
      </p:sp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5298728" y="9376494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101153" y="758020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101153" y="948491"/>
            <a:ext cx="46679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use short division where the answer is a decimal.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use short division to solve problems in context.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5574306" y="425147"/>
            <a:ext cx="1072826" cy="101566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Divide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Dividend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Divisor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7368" y="415701"/>
            <a:ext cx="5405775" cy="276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To understand how to apply short division to solve problems.</a:t>
            </a:r>
            <a:endParaRPr/>
          </a:p>
        </p:txBody>
      </p:sp>
      <p:graphicFrame>
        <p:nvGraphicFramePr>
          <p:cNvPr id="96" name="Google Shape;96;p13"/>
          <p:cNvGraphicFramePr/>
          <p:nvPr/>
        </p:nvGraphicFramePr>
        <p:xfrm>
          <a:off x="147368" y="68576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{08401280-FD98-47C0-8D79-9CEFA875C841}</a:tableStyleId>
              </a:tblPr>
              <a:tblGrid>
                <a:gridCol w="1859225"/>
                <a:gridCol w="1560850"/>
                <a:gridCol w="1560850"/>
                <a:gridCol w="15608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48850"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Set out the short division, making sure the divisor is on the outside.</a:t>
                      </a:r>
                      <a:br>
                        <a:rPr lang="en-GB" sz="1200">
                          <a:solidFill>
                            <a:schemeClr val="dk1"/>
                          </a:solidFill>
                        </a:rPr>
                      </a:b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Starting from the left, divide into each digit, carrying where necessary.</a:t>
                      </a:r>
                      <a:br>
                        <a:rPr lang="en-GB" sz="1200">
                          <a:solidFill>
                            <a:schemeClr val="dk1"/>
                          </a:solidFill>
                        </a:rPr>
                      </a:b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3) Where necessary, write additional zeros to continue carrying and give your answer as a decimal.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43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27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7" name="Google Shape;97;p13"/>
          <p:cNvSpPr txBox="1"/>
          <p:nvPr/>
        </p:nvSpPr>
        <p:spPr>
          <a:xfrm>
            <a:off x="2110947" y="6608968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 – I do…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5198373" y="6611892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3 – You do…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3554968" y="6611891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 – We do…</a:t>
            </a:r>
            <a:endParaRPr/>
          </a:p>
        </p:txBody>
      </p:sp>
      <p:sp>
        <p:nvSpPr>
          <p:cNvPr id="100" name="Google Shape;100;p13"/>
          <p:cNvSpPr/>
          <p:nvPr/>
        </p:nvSpPr>
        <p:spPr>
          <a:xfrm>
            <a:off x="123246" y="6267813"/>
            <a:ext cx="2717956" cy="2769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Short division with decimal answers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13"/>
          <p:cNvCxnSpPr/>
          <p:nvPr/>
        </p:nvCxnSpPr>
        <p:spPr>
          <a:xfrm flipH="1" rot="10800000">
            <a:off x="943769" y="6109336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2" name="Google Shape;102;p13"/>
          <p:cNvSpPr/>
          <p:nvPr/>
        </p:nvSpPr>
        <p:spPr>
          <a:xfrm>
            <a:off x="131166" y="3033760"/>
            <a:ext cx="6541769" cy="311810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13"/>
          <p:cNvCxnSpPr/>
          <p:nvPr/>
        </p:nvCxnSpPr>
        <p:spPr>
          <a:xfrm>
            <a:off x="123247" y="4722955"/>
            <a:ext cx="655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" name="Google Shape;104;p13"/>
          <p:cNvCxnSpPr>
            <a:stCxn id="102" idx="2"/>
            <a:endCxn id="102" idx="0"/>
          </p:cNvCxnSpPr>
          <p:nvPr/>
        </p:nvCxnSpPr>
        <p:spPr>
          <a:xfrm rot="10800000">
            <a:off x="3402050" y="3033662"/>
            <a:ext cx="0" cy="311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" name="Google Shape;105;p13"/>
          <p:cNvSpPr txBox="1"/>
          <p:nvPr/>
        </p:nvSpPr>
        <p:spPr>
          <a:xfrm>
            <a:off x="123908" y="3033759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5647959" y="3001373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99235" y="4741412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5564276" y="4691761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3"/>
          <p:cNvSpPr txBox="1"/>
          <p:nvPr/>
        </p:nvSpPr>
        <p:spPr>
          <a:xfrm>
            <a:off x="123247" y="3222086"/>
            <a:ext cx="3230335" cy="2812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Splitting a number into equal parts.​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3521651" y="3224616"/>
            <a:ext cx="3230335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Involves two numbers: dividend and divisor.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result of division is called the quotient.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Division can result in a whole number, a fraction, or a decimal, depending on the numbers involved.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Division is denoted by the symbol "÷" or the fraction bar "⁄"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2963785" y="4557516"/>
            <a:ext cx="923651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Division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/>
        </p:nvSpPr>
        <p:spPr>
          <a:xfrm>
            <a:off x="125950" y="4900066"/>
            <a:ext cx="3230335" cy="11717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÷ 2 = 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÷ 4 = 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 ÷ 7 = 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1.5 ÷ 0.5 = 3 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3463118" y="4951532"/>
            <a:ext cx="323033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Addition and subtraction are not division operations.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Multiplication is the inverse of division but is a different operation.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Ratios and proportions are related concepts but are not division.</a:t>
            </a:r>
            <a:endParaRPr/>
          </a:p>
        </p:txBody>
      </p:sp>
      <p:sp>
        <p:nvSpPr>
          <p:cNvPr id="114" name="Google Shape;114;p13"/>
          <p:cNvSpPr/>
          <p:nvPr/>
        </p:nvSpPr>
        <p:spPr>
          <a:xfrm>
            <a:off x="154302" y="1587631"/>
            <a:ext cx="6549396" cy="137563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3"/>
          <p:cNvSpPr txBox="1"/>
          <p:nvPr/>
        </p:nvSpPr>
        <p:spPr>
          <a:xfrm>
            <a:off x="109242" y="1587630"/>
            <a:ext cx="6668753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that you’ve practised short division with carrying, it’s time to look at what happens when the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division doesn’t work out exactly and you get a </a:t>
            </a: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decimal answer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Instead of stopping with a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remainder, you’ll learn how to continue the division into decimal places to get a more accurate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result. This is a key skill for real-life problems, like </a:t>
            </a: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working with money, measurements, or averages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exact answers matter. It also builds the foundation for more advanced topics like ratio,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proportion, and algebra later on.</a:t>
            </a:r>
            <a:endParaRPr i="0" sz="1200" u="sng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3"/>
          <p:cNvSpPr txBox="1"/>
          <p:nvPr/>
        </p:nvSpPr>
        <p:spPr>
          <a:xfrm>
            <a:off x="2239630" y="7360799"/>
            <a:ext cx="7136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12.25</a:t>
            </a:r>
            <a:endParaRPr/>
          </a:p>
        </p:txBody>
      </p:sp>
      <p:sp>
        <p:nvSpPr>
          <p:cNvPr id="117" name="Google Shape;117;p13"/>
          <p:cNvSpPr txBox="1"/>
          <p:nvPr/>
        </p:nvSpPr>
        <p:spPr>
          <a:xfrm>
            <a:off x="5877651" y="7392433"/>
            <a:ext cx="7136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121.5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3"/>
          <p:cNvSpPr txBox="1"/>
          <p:nvPr/>
        </p:nvSpPr>
        <p:spPr>
          <a:xfrm>
            <a:off x="4082786" y="7384480"/>
            <a:ext cx="8306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321.66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3"/>
          <p:cNvSpPr txBox="1"/>
          <p:nvPr/>
        </p:nvSpPr>
        <p:spPr>
          <a:xfrm>
            <a:off x="2659073" y="8577696"/>
            <a:ext cx="7136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14.75</a:t>
            </a:r>
            <a:endParaRPr/>
          </a:p>
        </p:txBody>
      </p:sp>
      <p:sp>
        <p:nvSpPr>
          <p:cNvPr id="120" name="Google Shape;120;p13"/>
          <p:cNvSpPr txBox="1"/>
          <p:nvPr/>
        </p:nvSpPr>
        <p:spPr>
          <a:xfrm>
            <a:off x="5933475" y="8642093"/>
            <a:ext cx="7136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171.5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3"/>
          <p:cNvSpPr txBox="1"/>
          <p:nvPr/>
        </p:nvSpPr>
        <p:spPr>
          <a:xfrm>
            <a:off x="4311507" y="8577696"/>
            <a:ext cx="8306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258.33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6" name="Google Shape;126;p14"/>
          <p:cNvGraphicFramePr/>
          <p:nvPr/>
        </p:nvGraphicFramePr>
        <p:xfrm>
          <a:off x="134122" y="49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{08401280-FD98-47C0-8D79-9CEFA875C841}</a:tableStyleId>
              </a:tblPr>
              <a:tblGrid>
                <a:gridCol w="2190825"/>
                <a:gridCol w="2190825"/>
                <a:gridCol w="2190825"/>
              </a:tblGrid>
              <a:tr h="468000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11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7" name="Google Shape;127;p14"/>
          <p:cNvSpPr/>
          <p:nvPr/>
        </p:nvSpPr>
        <p:spPr>
          <a:xfrm>
            <a:off x="122172" y="81120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28" name="Google Shape;128;p14"/>
          <p:cNvSpPr txBox="1"/>
          <p:nvPr>
            <p:ph idx="12" type="sldNum"/>
          </p:nvPr>
        </p:nvSpPr>
        <p:spPr>
          <a:xfrm>
            <a:off x="5217200" y="9404153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29" name="Google Shape;129;p14"/>
          <p:cNvSpPr txBox="1"/>
          <p:nvPr/>
        </p:nvSpPr>
        <p:spPr>
          <a:xfrm>
            <a:off x="1260125" y="186555"/>
            <a:ext cx="552725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 1. For the following questions, give your answers as a decimal.</a:t>
            </a:r>
            <a:endParaRPr/>
          </a:p>
        </p:txBody>
      </p:sp>
      <p:graphicFrame>
        <p:nvGraphicFramePr>
          <p:cNvPr id="130" name="Google Shape;130;p14"/>
          <p:cNvGraphicFramePr/>
          <p:nvPr/>
        </p:nvGraphicFramePr>
        <p:xfrm>
          <a:off x="134872" y="40369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{08401280-FD98-47C0-8D79-9CEFA875C841}</a:tableStyleId>
              </a:tblPr>
              <a:tblGrid>
                <a:gridCol w="2196000"/>
                <a:gridCol w="2178000"/>
                <a:gridCol w="2198100"/>
              </a:tblGrid>
              <a:tr h="11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1" name="Google Shape;131;p14"/>
          <p:cNvGraphicFramePr/>
          <p:nvPr/>
        </p:nvGraphicFramePr>
        <p:xfrm>
          <a:off x="134122" y="763568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{08401280-FD98-47C0-8D79-9CEFA875C841}</a:tableStyleId>
              </a:tblPr>
              <a:tblGrid>
                <a:gridCol w="2162925"/>
                <a:gridCol w="2040625"/>
                <a:gridCol w="2368550"/>
              </a:tblGrid>
              <a:tr h="233025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16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a)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32" name="Google Shape;132;p14"/>
          <p:cNvSpPr txBox="1"/>
          <p:nvPr/>
        </p:nvSpPr>
        <p:spPr>
          <a:xfrm>
            <a:off x="68018" y="7637930"/>
            <a:ext cx="621982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 2. For the following questions, fill in the missing blanks.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785649" y="914155"/>
            <a:ext cx="5966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19.6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5268085" y="914155"/>
            <a:ext cx="5966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18.5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4"/>
          <p:cNvSpPr txBox="1"/>
          <p:nvPr/>
        </p:nvSpPr>
        <p:spPr>
          <a:xfrm>
            <a:off x="2984476" y="914155"/>
            <a:ext cx="5966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15.5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4"/>
          <p:cNvSpPr txBox="1"/>
          <p:nvPr/>
        </p:nvSpPr>
        <p:spPr>
          <a:xfrm>
            <a:off x="744257" y="2120414"/>
            <a:ext cx="7136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179.2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5289076" y="2120414"/>
            <a:ext cx="5966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46.5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4"/>
          <p:cNvSpPr txBox="1"/>
          <p:nvPr/>
        </p:nvSpPr>
        <p:spPr>
          <a:xfrm>
            <a:off x="3055755" y="2120414"/>
            <a:ext cx="5966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97.2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4"/>
          <p:cNvSpPr txBox="1"/>
          <p:nvPr/>
        </p:nvSpPr>
        <p:spPr>
          <a:xfrm>
            <a:off x="704062" y="3317917"/>
            <a:ext cx="7136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97.75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5168604" y="3317917"/>
            <a:ext cx="8306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167.75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2902889" y="3317917"/>
            <a:ext cx="8306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235.25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667820" y="4383728"/>
            <a:ext cx="9476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982.875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5150256" y="4383728"/>
            <a:ext cx="10647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1534.125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2866647" y="4383728"/>
            <a:ext cx="10647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1159.125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686473" y="5654182"/>
            <a:ext cx="1013418" cy="37984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>
            <a:off x="2866647" y="5639723"/>
            <a:ext cx="875561" cy="37984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5084409" y="5654182"/>
            <a:ext cx="737701" cy="38542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8" name="Google Shape;148;p14"/>
          <p:cNvSpPr txBox="1"/>
          <p:nvPr/>
        </p:nvSpPr>
        <p:spPr>
          <a:xfrm>
            <a:off x="682196" y="6900588"/>
            <a:ext cx="1013419" cy="379848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9" name="Google Shape;149;p14"/>
          <p:cNvSpPr txBox="1"/>
          <p:nvPr/>
        </p:nvSpPr>
        <p:spPr>
          <a:xfrm>
            <a:off x="2755321" y="6900588"/>
            <a:ext cx="1289135" cy="379848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0" name="Google Shape;150;p14"/>
          <p:cNvSpPr txBox="1"/>
          <p:nvPr/>
        </p:nvSpPr>
        <p:spPr>
          <a:xfrm>
            <a:off x="4697367" y="6900588"/>
            <a:ext cx="1702710" cy="38542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151" name="Google Shape;151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92029" y="8222550"/>
            <a:ext cx="1950598" cy="660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492346" y="8220750"/>
            <a:ext cx="1634074" cy="660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421547" y="8220750"/>
            <a:ext cx="2102013" cy="58588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4"/>
          <p:cNvSpPr txBox="1"/>
          <p:nvPr/>
        </p:nvSpPr>
        <p:spPr>
          <a:xfrm>
            <a:off x="744257" y="8181558"/>
            <a:ext cx="13933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3      4     2   5</a:t>
            </a:r>
            <a:endParaRPr/>
          </a:p>
        </p:txBody>
      </p:sp>
      <p:sp>
        <p:nvSpPr>
          <p:cNvPr id="155" name="Google Shape;155;p14"/>
          <p:cNvSpPr txBox="1"/>
          <p:nvPr/>
        </p:nvSpPr>
        <p:spPr>
          <a:xfrm>
            <a:off x="3036162" y="8451088"/>
            <a:ext cx="11176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4      7     0</a:t>
            </a:r>
            <a:endParaRPr/>
          </a:p>
        </p:txBody>
      </p:sp>
      <p:sp>
        <p:nvSpPr>
          <p:cNvPr id="156" name="Google Shape;156;p14"/>
          <p:cNvSpPr txBox="1"/>
          <p:nvPr/>
        </p:nvSpPr>
        <p:spPr>
          <a:xfrm>
            <a:off x="3261246" y="816291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57" name="Google Shape;157;p14"/>
          <p:cNvSpPr txBox="1"/>
          <p:nvPr/>
        </p:nvSpPr>
        <p:spPr>
          <a:xfrm>
            <a:off x="5607194" y="8162914"/>
            <a:ext cx="9701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6  6  6  6</a:t>
            </a:r>
            <a:endParaRPr/>
          </a:p>
        </p:txBody>
      </p:sp>
      <p:sp>
        <p:nvSpPr>
          <p:cNvPr id="158" name="Google Shape;158;p14"/>
          <p:cNvSpPr txBox="1"/>
          <p:nvPr/>
        </p:nvSpPr>
        <p:spPr>
          <a:xfrm>
            <a:off x="4673109" y="8450607"/>
            <a:ext cx="7473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6  7  2</a:t>
            </a:r>
            <a:endParaRPr/>
          </a:p>
        </p:txBody>
      </p:sp>
      <p:sp>
        <p:nvSpPr>
          <p:cNvPr id="159" name="Google Shape;159;p14"/>
          <p:cNvSpPr txBox="1"/>
          <p:nvPr/>
        </p:nvSpPr>
        <p:spPr>
          <a:xfrm>
            <a:off x="6434394" y="8207441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4" name="Google Shape;164;p15"/>
          <p:cNvGraphicFramePr/>
          <p:nvPr/>
        </p:nvGraphicFramePr>
        <p:xfrm>
          <a:off x="142761" y="58877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{08401280-FD98-47C0-8D79-9CEFA875C841}</a:tableStyleId>
              </a:tblPr>
              <a:tblGrid>
                <a:gridCol w="2190825"/>
                <a:gridCol w="2190825"/>
                <a:gridCol w="2190825"/>
              </a:tblGrid>
              <a:tr h="468000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6. For the following questions, give your answers as a decimal.</a:t>
                      </a:r>
                      <a:endParaRPr/>
                    </a:p>
                  </a:txBody>
                  <a:tcPr marT="45725" marB="45725" marR="91450" marL="914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82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5" name="Google Shape;165;p15"/>
          <p:cNvGraphicFramePr/>
          <p:nvPr/>
        </p:nvGraphicFramePr>
        <p:xfrm>
          <a:off x="142761" y="2009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{08401280-FD98-47C0-8D79-9CEFA875C841}</a:tableStyleId>
              </a:tblPr>
              <a:tblGrid>
                <a:gridCol w="2190825"/>
                <a:gridCol w="2190825"/>
                <a:gridCol w="2190825"/>
              </a:tblGrid>
              <a:tr h="2885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3. A shop has a piece of ribbon that is 225m long.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They need to divide the ribbon into 8 equal pieces.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How long will each piece of ribbon be?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4. If a regular pentagon has a perimeter of 112cm.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is the length of each side of the pentagon? </a:t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5. A coach is travelling from High Wycombe to Rome.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distance is 1931km.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driver wants split the journey equally over 6 days.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How far should he drive each day? </a:t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66" name="Google Shape;166;p15"/>
          <p:cNvSpPr txBox="1"/>
          <p:nvPr>
            <p:ph idx="12" type="sldNum"/>
          </p:nvPr>
        </p:nvSpPr>
        <p:spPr>
          <a:xfrm>
            <a:off x="5246452" y="9479454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2223346" y="3232948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4 – I do…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5196275" y="3240052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6 – You do…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3634050" y="3234221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5 – We do…</a:t>
            </a:r>
            <a:endParaRPr/>
          </a:p>
        </p:txBody>
      </p:sp>
      <p:graphicFrame>
        <p:nvGraphicFramePr>
          <p:cNvPr id="170" name="Google Shape;170;p15"/>
          <p:cNvGraphicFramePr/>
          <p:nvPr/>
        </p:nvGraphicFramePr>
        <p:xfrm>
          <a:off x="142761" y="34975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{08401280-FD98-47C0-8D79-9CEFA875C841}</a:tableStyleId>
              </a:tblPr>
              <a:tblGrid>
                <a:gridCol w="1974175"/>
                <a:gridCol w="1532775"/>
                <a:gridCol w="1532775"/>
                <a:gridCol w="15327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Set out the short division, making sure the divisor is on the outside.</a:t>
                      </a:r>
                      <a:br>
                        <a:rPr lang="en-GB" sz="1200">
                          <a:solidFill>
                            <a:schemeClr val="dk1"/>
                          </a:solidFill>
                        </a:rPr>
                      </a:b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Starting from the left, divide into each digit, carrying where necessary.</a:t>
                      </a:r>
                      <a:br>
                        <a:rPr lang="en-GB" sz="1200">
                          <a:solidFill>
                            <a:schemeClr val="dk1"/>
                          </a:solidFill>
                        </a:rPr>
                      </a:b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3) Where necessary, write additional zeros to continue carrying and give your answer as a decimal.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71" name="Google Shape;171;p15"/>
          <p:cNvSpPr txBox="1"/>
          <p:nvPr/>
        </p:nvSpPr>
        <p:spPr>
          <a:xfrm>
            <a:off x="791805" y="2514036"/>
            <a:ext cx="10182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28.125m</a:t>
            </a:r>
            <a:endParaRPr/>
          </a:p>
        </p:txBody>
      </p:sp>
      <p:sp>
        <p:nvSpPr>
          <p:cNvPr id="172" name="Google Shape;172;p15"/>
          <p:cNvSpPr txBox="1"/>
          <p:nvPr/>
        </p:nvSpPr>
        <p:spPr>
          <a:xfrm>
            <a:off x="2978812" y="2514036"/>
            <a:ext cx="8803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22.4cm</a:t>
            </a:r>
            <a:endParaRPr/>
          </a:p>
        </p:txBody>
      </p:sp>
      <p:sp>
        <p:nvSpPr>
          <p:cNvPr id="173" name="Google Shape;173;p15"/>
          <p:cNvSpPr txBox="1"/>
          <p:nvPr/>
        </p:nvSpPr>
        <p:spPr>
          <a:xfrm>
            <a:off x="4975825" y="2514036"/>
            <a:ext cx="1258678" cy="37984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3810" l="0" r="-3382" t="-476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4" name="Google Shape;174;p15"/>
          <p:cNvSpPr txBox="1"/>
          <p:nvPr/>
        </p:nvSpPr>
        <p:spPr>
          <a:xfrm>
            <a:off x="2382174" y="4044724"/>
            <a:ext cx="5966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0.75</a:t>
            </a:r>
            <a:endParaRPr/>
          </a:p>
        </p:txBody>
      </p:sp>
      <p:sp>
        <p:nvSpPr>
          <p:cNvPr id="175" name="Google Shape;175;p15"/>
          <p:cNvSpPr txBox="1"/>
          <p:nvPr/>
        </p:nvSpPr>
        <p:spPr>
          <a:xfrm>
            <a:off x="5656576" y="4109121"/>
            <a:ext cx="7136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0.625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5"/>
          <p:cNvSpPr txBox="1"/>
          <p:nvPr/>
        </p:nvSpPr>
        <p:spPr>
          <a:xfrm>
            <a:off x="3837369" y="4044724"/>
            <a:ext cx="1271502" cy="37984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7" name="Google Shape;177;p15"/>
          <p:cNvSpPr txBox="1"/>
          <p:nvPr/>
        </p:nvSpPr>
        <p:spPr>
          <a:xfrm>
            <a:off x="5239491" y="7399935"/>
            <a:ext cx="7136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0.875</a:t>
            </a:r>
            <a:endParaRPr/>
          </a:p>
        </p:txBody>
      </p:sp>
      <p:sp>
        <p:nvSpPr>
          <p:cNvPr id="178" name="Google Shape;178;p15"/>
          <p:cNvSpPr txBox="1"/>
          <p:nvPr/>
        </p:nvSpPr>
        <p:spPr>
          <a:xfrm>
            <a:off x="3072171" y="8237969"/>
            <a:ext cx="7136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0.125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5"/>
          <p:cNvSpPr txBox="1"/>
          <p:nvPr/>
        </p:nvSpPr>
        <p:spPr>
          <a:xfrm>
            <a:off x="933840" y="8237969"/>
            <a:ext cx="7136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0.375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5"/>
          <p:cNvSpPr txBox="1"/>
          <p:nvPr/>
        </p:nvSpPr>
        <p:spPr>
          <a:xfrm>
            <a:off x="3130681" y="7399935"/>
            <a:ext cx="5966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0.25</a:t>
            </a:r>
            <a:endParaRPr/>
          </a:p>
        </p:txBody>
      </p:sp>
      <p:sp>
        <p:nvSpPr>
          <p:cNvPr id="181" name="Google Shape;181;p15"/>
          <p:cNvSpPr txBox="1"/>
          <p:nvPr/>
        </p:nvSpPr>
        <p:spPr>
          <a:xfrm>
            <a:off x="5416193" y="6561901"/>
            <a:ext cx="4796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5"/>
          <p:cNvSpPr txBox="1"/>
          <p:nvPr/>
        </p:nvSpPr>
        <p:spPr>
          <a:xfrm>
            <a:off x="3182872" y="6561901"/>
            <a:ext cx="4796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5"/>
          <p:cNvSpPr txBox="1"/>
          <p:nvPr/>
        </p:nvSpPr>
        <p:spPr>
          <a:xfrm>
            <a:off x="937501" y="6544252"/>
            <a:ext cx="4796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0.4</a:t>
            </a:r>
            <a:endParaRPr/>
          </a:p>
        </p:txBody>
      </p:sp>
      <p:sp>
        <p:nvSpPr>
          <p:cNvPr id="184" name="Google Shape;184;p15"/>
          <p:cNvSpPr txBox="1"/>
          <p:nvPr/>
        </p:nvSpPr>
        <p:spPr>
          <a:xfrm>
            <a:off x="5130914" y="8237969"/>
            <a:ext cx="1271502" cy="56451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5" name="Google Shape;185;p15"/>
          <p:cNvSpPr txBox="1"/>
          <p:nvPr/>
        </p:nvSpPr>
        <p:spPr>
          <a:xfrm>
            <a:off x="900849" y="7399935"/>
            <a:ext cx="5966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0.75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5"/>
          <p:cNvSpPr txBox="1"/>
          <p:nvPr/>
        </p:nvSpPr>
        <p:spPr>
          <a:xfrm>
            <a:off x="815804" y="9066700"/>
            <a:ext cx="760144" cy="56451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7" name="Google Shape;187;p15"/>
          <p:cNvSpPr txBox="1"/>
          <p:nvPr/>
        </p:nvSpPr>
        <p:spPr>
          <a:xfrm>
            <a:off x="3081026" y="9093652"/>
            <a:ext cx="8306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0.1785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5"/>
          <p:cNvSpPr txBox="1"/>
          <p:nvPr/>
        </p:nvSpPr>
        <p:spPr>
          <a:xfrm>
            <a:off x="5254230" y="9066700"/>
            <a:ext cx="8306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0.4375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"/>
          <p:cNvSpPr txBox="1"/>
          <p:nvPr>
            <p:ph idx="12" type="sldNum"/>
          </p:nvPr>
        </p:nvSpPr>
        <p:spPr>
          <a:xfrm>
            <a:off x="5226617" y="9345939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94" name="Google Shape;194;p16"/>
          <p:cNvSpPr txBox="1"/>
          <p:nvPr/>
        </p:nvSpPr>
        <p:spPr>
          <a:xfrm>
            <a:off x="174133" y="144678"/>
            <a:ext cx="6541104" cy="338554"/>
          </a:xfrm>
          <a:prstGeom prst="rect">
            <a:avLst/>
          </a:prstGeom>
          <a:solidFill>
            <a:srgbClr val="7E234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GB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Skills Check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6"/>
          <p:cNvSpPr/>
          <p:nvPr/>
        </p:nvSpPr>
        <p:spPr>
          <a:xfrm>
            <a:off x="174133" y="482973"/>
            <a:ext cx="6543302" cy="86125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is 804 divided by 4?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210                  B. 201                        C. 21                   D. 402</a:t>
            </a:r>
            <a:endParaRPr/>
          </a:p>
        </p:txBody>
      </p:sp>
      <p:sp>
        <p:nvSpPr>
          <p:cNvPr id="196" name="Google Shape;196;p16"/>
          <p:cNvSpPr/>
          <p:nvPr/>
        </p:nvSpPr>
        <p:spPr>
          <a:xfrm>
            <a:off x="178012" y="1343111"/>
            <a:ext cx="6543302" cy="136108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number goes in the box?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3                  B. 1                        C. 0                   D. 9</a:t>
            </a:r>
            <a:endParaRPr/>
          </a:p>
        </p:txBody>
      </p:sp>
      <p:grpSp>
        <p:nvGrpSpPr>
          <p:cNvPr id="197" name="Google Shape;197;p16"/>
          <p:cNvGrpSpPr/>
          <p:nvPr/>
        </p:nvGrpSpPr>
        <p:grpSpPr>
          <a:xfrm>
            <a:off x="2670319" y="1585478"/>
            <a:ext cx="1338416" cy="731457"/>
            <a:chOff x="2659433" y="2768915"/>
            <a:chExt cx="1338416" cy="731457"/>
          </a:xfrm>
        </p:grpSpPr>
        <p:pic>
          <p:nvPicPr>
            <p:cNvPr id="198" name="Google Shape;198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08174" y="2768915"/>
              <a:ext cx="1289675" cy="7242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" name="Google Shape;199;p16"/>
            <p:cNvSpPr/>
            <p:nvPr/>
          </p:nvSpPr>
          <p:spPr>
            <a:xfrm>
              <a:off x="3061524" y="2768915"/>
              <a:ext cx="936325" cy="33970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16"/>
            <p:cNvSpPr/>
            <p:nvPr/>
          </p:nvSpPr>
          <p:spPr>
            <a:xfrm>
              <a:off x="2659433" y="3178347"/>
              <a:ext cx="236212" cy="235789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16"/>
            <p:cNvSpPr/>
            <p:nvPr/>
          </p:nvSpPr>
          <p:spPr>
            <a:xfrm>
              <a:off x="3061524" y="3201350"/>
              <a:ext cx="840536" cy="235789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16"/>
            <p:cNvSpPr txBox="1"/>
            <p:nvPr/>
          </p:nvSpPr>
          <p:spPr>
            <a:xfrm>
              <a:off x="2703819" y="3131040"/>
              <a:ext cx="101822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3  6  9 6</a:t>
              </a:r>
              <a:endParaRPr/>
            </a:p>
          </p:txBody>
        </p:sp>
        <p:sp>
          <p:nvSpPr>
            <p:cNvPr id="203" name="Google Shape;203;p16"/>
            <p:cNvSpPr txBox="1"/>
            <p:nvPr/>
          </p:nvSpPr>
          <p:spPr>
            <a:xfrm>
              <a:off x="2911332" y="2872647"/>
              <a:ext cx="101822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2  3 2 0</a:t>
              </a:r>
              <a:endParaRPr/>
            </a:p>
          </p:txBody>
        </p:sp>
        <p:pic>
          <p:nvPicPr>
            <p:cNvPr id="204" name="Google Shape;204;p16"/>
            <p:cNvPicPr preferRelativeResize="0"/>
            <p:nvPr/>
          </p:nvPicPr>
          <p:blipFill rotWithShape="1">
            <a:blip r:embed="rId4">
              <a:alphaModFix/>
            </a:blip>
            <a:srcRect b="12259" l="0" r="-9035" t="-1"/>
            <a:stretch/>
          </p:blipFill>
          <p:spPr>
            <a:xfrm>
              <a:off x="3650335" y="3199820"/>
              <a:ext cx="279224" cy="2344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5" name="Google Shape;205;p16"/>
          <p:cNvSpPr/>
          <p:nvPr/>
        </p:nvSpPr>
        <p:spPr>
          <a:xfrm>
            <a:off x="178011" y="2704195"/>
            <a:ext cx="6539423" cy="116787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06" name="Google Shape;206;p16"/>
          <p:cNvSpPr/>
          <p:nvPr/>
        </p:nvSpPr>
        <p:spPr>
          <a:xfrm>
            <a:off x="175667" y="3867724"/>
            <a:ext cx="6543302" cy="136108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number goes in the box?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2                  B. 0                   C. 4              D. 5</a:t>
            </a:r>
            <a:endParaRPr/>
          </a:p>
        </p:txBody>
      </p:sp>
      <p:grpSp>
        <p:nvGrpSpPr>
          <p:cNvPr id="207" name="Google Shape;207;p16"/>
          <p:cNvGrpSpPr/>
          <p:nvPr/>
        </p:nvGrpSpPr>
        <p:grpSpPr>
          <a:xfrm>
            <a:off x="2693861" y="4146143"/>
            <a:ext cx="1470274" cy="748255"/>
            <a:chOff x="-5058750" y="6872760"/>
            <a:chExt cx="1470274" cy="748255"/>
          </a:xfrm>
        </p:grpSpPr>
        <p:sp>
          <p:nvSpPr>
            <p:cNvPr id="208" name="Google Shape;208;p16"/>
            <p:cNvSpPr/>
            <p:nvPr/>
          </p:nvSpPr>
          <p:spPr>
            <a:xfrm>
              <a:off x="-4737761" y="7166441"/>
              <a:ext cx="962951" cy="454574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16"/>
            <p:cNvSpPr/>
            <p:nvPr/>
          </p:nvSpPr>
          <p:spPr>
            <a:xfrm>
              <a:off x="-4540190" y="7174533"/>
              <a:ext cx="299406" cy="268322"/>
            </a:xfrm>
            <a:prstGeom prst="rect">
              <a:avLst/>
            </a:prstGeom>
            <a:noFill/>
            <a:ln cap="flat" cmpd="sng" w="12700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16"/>
            <p:cNvSpPr txBox="1"/>
            <p:nvPr/>
          </p:nvSpPr>
          <p:spPr>
            <a:xfrm>
              <a:off x="-4805203" y="6872760"/>
              <a:ext cx="11288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1   5   6   6</a:t>
              </a:r>
              <a:endParaRPr/>
            </a:p>
          </p:txBody>
        </p:sp>
        <p:sp>
          <p:nvSpPr>
            <p:cNvPr id="211" name="Google Shape;211;p16"/>
            <p:cNvSpPr txBox="1"/>
            <p:nvPr/>
          </p:nvSpPr>
          <p:spPr>
            <a:xfrm>
              <a:off x="-5058750" y="7102225"/>
              <a:ext cx="147027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4  6  </a:t>
              </a:r>
              <a:r>
                <a:rPr b="1" baseline="30000"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b="1"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</a:t>
              </a:r>
              <a:r>
                <a:rPr b="1" baseline="30000"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b="1"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  </a:t>
              </a:r>
              <a:r>
                <a:rPr b="1" baseline="30000"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b="1"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cxnSp>
          <p:nvCxnSpPr>
            <p:cNvPr id="212" name="Google Shape;212;p16"/>
            <p:cNvCxnSpPr/>
            <p:nvPr/>
          </p:nvCxnSpPr>
          <p:spPr>
            <a:xfrm rot="10800000">
              <a:off x="-4805203" y="7151630"/>
              <a:ext cx="0" cy="24209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3" name="Google Shape;213;p16"/>
            <p:cNvCxnSpPr/>
            <p:nvPr/>
          </p:nvCxnSpPr>
          <p:spPr>
            <a:xfrm>
              <a:off x="-4801166" y="7151630"/>
              <a:ext cx="1116705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14" name="Google Shape;214;p16"/>
          <p:cNvSpPr/>
          <p:nvPr/>
        </p:nvSpPr>
        <p:spPr>
          <a:xfrm>
            <a:off x="175667" y="5201464"/>
            <a:ext cx="6543302" cy="122345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5" name="Google Shape;215;p16"/>
          <p:cNvSpPr/>
          <p:nvPr/>
        </p:nvSpPr>
        <p:spPr>
          <a:xfrm>
            <a:off x="175667" y="6427570"/>
            <a:ext cx="6543302" cy="102372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day, a farmer collects eggs in boxes of 6. One day he collects 172 eggs. How many eggs were in the final box?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  28       B. 6       C.  4      D. 29</a:t>
            </a:r>
            <a:endParaRPr/>
          </a:p>
        </p:txBody>
      </p:sp>
      <p:sp>
        <p:nvSpPr>
          <p:cNvPr id="216" name="Google Shape;216;p16"/>
          <p:cNvSpPr/>
          <p:nvPr/>
        </p:nvSpPr>
        <p:spPr>
          <a:xfrm>
            <a:off x="175667" y="7451293"/>
            <a:ext cx="6543302" cy="1023723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7" name="Google Shape;217;p16"/>
          <p:cNvSpPr/>
          <p:nvPr/>
        </p:nvSpPr>
        <p:spPr>
          <a:xfrm>
            <a:off x="175667" y="8471154"/>
            <a:ext cx="6543302" cy="1023723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8" name="Google Shape;218;p16"/>
          <p:cNvSpPr/>
          <p:nvPr/>
        </p:nvSpPr>
        <p:spPr>
          <a:xfrm>
            <a:off x="3212421" y="8056542"/>
            <a:ext cx="1009934" cy="506347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6"/>
          <p:cNvSpPr/>
          <p:nvPr/>
        </p:nvSpPr>
        <p:spPr>
          <a:xfrm>
            <a:off x="1683927" y="5956562"/>
            <a:ext cx="1009934" cy="527404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6"/>
          <p:cNvSpPr/>
          <p:nvPr/>
        </p:nvSpPr>
        <p:spPr>
          <a:xfrm>
            <a:off x="3492678" y="6819654"/>
            <a:ext cx="485123" cy="506347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6"/>
          <p:cNvSpPr/>
          <p:nvPr/>
        </p:nvSpPr>
        <p:spPr>
          <a:xfrm>
            <a:off x="4228643" y="9135415"/>
            <a:ext cx="1009934" cy="527404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1660385" y="4814042"/>
            <a:ext cx="1009934" cy="527404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6"/>
          <p:cNvSpPr/>
          <p:nvPr/>
        </p:nvSpPr>
        <p:spPr>
          <a:xfrm>
            <a:off x="2352190" y="3352071"/>
            <a:ext cx="1009934" cy="527404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6"/>
          <p:cNvSpPr/>
          <p:nvPr/>
        </p:nvSpPr>
        <p:spPr>
          <a:xfrm>
            <a:off x="2351042" y="790298"/>
            <a:ext cx="1009934" cy="527404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6"/>
          <p:cNvSpPr/>
          <p:nvPr/>
        </p:nvSpPr>
        <p:spPr>
          <a:xfrm>
            <a:off x="3482894" y="2224097"/>
            <a:ext cx="1009934" cy="527404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