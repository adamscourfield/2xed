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027268-FFDD-423D-9A5C-6BA03D1D589F}">
  <a:tblStyle styleId="{8C027268-FFDD-423D-9A5C-6BA03D1D58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54302" y="364088"/>
            <a:ext cx="6556709" cy="114051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N3.8 - Short Division (with carrying)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9243" y="784346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54302" y="997456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short division where carrying is required.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short division to solve problems in context.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604039" y="423848"/>
            <a:ext cx="1053939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Divisor</a:t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5257563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166698" y="6905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1194125"/>
                <a:gridCol w="1792775"/>
                <a:gridCol w="1792775"/>
                <a:gridCol w="17927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3"/>
          <p:cNvSpPr txBox="1"/>
          <p:nvPr/>
        </p:nvSpPr>
        <p:spPr>
          <a:xfrm>
            <a:off x="1558908" y="662862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070366" y="662862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329860" y="662862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51458" y="6311824"/>
            <a:ext cx="2603427" cy="29084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division with carrying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99336" y="431347"/>
            <a:ext cx="536400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apply short division to solve problems.</a:t>
            </a:r>
            <a:endParaRPr/>
          </a:p>
        </p:txBody>
      </p:sp>
      <p:cxnSp>
        <p:nvCxnSpPr>
          <p:cNvPr id="101" name="Google Shape;101;p13"/>
          <p:cNvCxnSpPr/>
          <p:nvPr/>
        </p:nvCxnSpPr>
        <p:spPr>
          <a:xfrm flipH="1" rot="10800000">
            <a:off x="986522" y="581567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/>
          <p:nvPr/>
        </p:nvSpPr>
        <p:spPr>
          <a:xfrm>
            <a:off x="146989" y="3082915"/>
            <a:ext cx="6566782" cy="31181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164082" y="4772110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102" idx="2"/>
            <a:endCxn id="102" idx="0"/>
          </p:cNvCxnSpPr>
          <p:nvPr/>
        </p:nvCxnSpPr>
        <p:spPr>
          <a:xfrm rot="10800000">
            <a:off x="3430380" y="3082817"/>
            <a:ext cx="0" cy="31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164743" y="308291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88794" y="305052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40070" y="479056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605111" y="474091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64082" y="3271241"/>
            <a:ext cx="3230335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Splitting a number into equal parts.​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562486" y="3273771"/>
            <a:ext cx="32303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is denoted by the symbol "÷" or the fraction bar "⁄"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004620" y="4606671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66785" y="4949221"/>
            <a:ext cx="3230335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503953" y="5000687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and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154302" y="1587631"/>
            <a:ext cx="6549396" cy="137563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09242" y="1587630"/>
            <a:ext cx="666875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subtopic, you’ll tackle short division problems that involve carrying. This will help you deepen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understanding of place value and prepare you for more challenging division, including with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remainders or decimal answers.</a:t>
            </a:r>
            <a:endParaRPr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652079" y="809681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3651641" y="810892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632423" y="8083744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4"/>
          <p:cNvGraphicFramePr/>
          <p:nvPr/>
        </p:nvGraphicFramePr>
        <p:xfrm>
          <a:off x="137623" y="2814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2190825"/>
                <a:gridCol w="2190825"/>
                <a:gridCol w="2190825"/>
              </a:tblGrid>
              <a:tr h="3067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73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4"/>
          <p:cNvSpPr/>
          <p:nvPr/>
        </p:nvSpPr>
        <p:spPr>
          <a:xfrm>
            <a:off x="119215" y="269816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25" name="Google Shape;125;p14"/>
          <p:cNvGraphicFramePr/>
          <p:nvPr/>
        </p:nvGraphicFramePr>
        <p:xfrm>
          <a:off x="117361" y="4916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1425900"/>
                <a:gridCol w="1715525"/>
                <a:gridCol w="1715525"/>
                <a:gridCol w="1715525"/>
              </a:tblGrid>
              <a:tr h="29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4"/>
          <p:cNvSpPr txBox="1"/>
          <p:nvPr/>
        </p:nvSpPr>
        <p:spPr>
          <a:xfrm>
            <a:off x="1739601" y="21285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do…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102840" y="1987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3403029" y="2115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5192451" y="9280635"/>
            <a:ext cx="1579194" cy="481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257169" y="2814706"/>
            <a:ext cx="34385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Calculate:</a:t>
            </a:r>
            <a:endParaRPr/>
          </a:p>
        </p:txBody>
      </p:sp>
      <p:graphicFrame>
        <p:nvGraphicFramePr>
          <p:cNvPr id="131" name="Google Shape;131;p14"/>
          <p:cNvGraphicFramePr/>
          <p:nvPr/>
        </p:nvGraphicFramePr>
        <p:xfrm>
          <a:off x="142761" y="82747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2190825"/>
                <a:gridCol w="2190825"/>
                <a:gridCol w="2190825"/>
              </a:tblGrid>
              <a:tr h="74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4"/>
          <p:cNvSpPr txBox="1"/>
          <p:nvPr/>
        </p:nvSpPr>
        <p:spPr>
          <a:xfrm>
            <a:off x="1533572" y="1544112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1525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3533134" y="1556228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5513916" y="1531046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2732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3219648" y="341480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444563" y="341286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947452" y="455385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3219648" y="455385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444563" y="4551911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947452" y="567961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218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3219648" y="567961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219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444563" y="5677674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2319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947452" y="6695401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2313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3219648" y="6695401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1159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444563" y="6693456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1545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930991" y="7816065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1546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203187" y="7816065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129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428102" y="7814120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891157" y="8768505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1569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163353" y="8768505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27647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521618" y="8861810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81533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947452" y="352550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15"/>
          <p:cNvGraphicFramePr/>
          <p:nvPr/>
        </p:nvGraphicFramePr>
        <p:xfrm>
          <a:off x="142761" y="6685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2190825"/>
                <a:gridCol w="2190825"/>
                <a:gridCol w="2190825"/>
              </a:tblGrid>
              <a:tr h="2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school has 5-year groups and 835 students in total.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Each year group has an equal number of students.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students are in each year group?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Miss Jenkins has 18 bags of sweets. Each bag contains 30 sweets.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Miss Jenkins shares as many sweets as possible equally among her 9 classes.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many sweets do each class get?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8.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James hired a holiday cottage for 7 days for £406.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Ben hires the same cottage, at the same price per day, for 10 days.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much will this cost Ben?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" name="Google Shape;158;p15"/>
          <p:cNvGraphicFramePr/>
          <p:nvPr/>
        </p:nvGraphicFramePr>
        <p:xfrm>
          <a:off x="142761" y="4136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2190825"/>
                <a:gridCol w="2190825"/>
                <a:gridCol w="2190825"/>
              </a:tblGrid>
              <a:tr h="255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toy costs £6.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Over a week, a shop makes £162 from selling the toy.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toys were sold?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group of 3 friends take a journey in a taxi.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total cost of the journey is £72.  The friends share the cost equally.  How much does each person pay?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journey lasts 119 days.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weeks is this?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5228232" y="941175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0" y="123541"/>
            <a:ext cx="71532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For the following questions, fill in the blanks.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98853" y="674119"/>
            <a:ext cx="6483323" cy="27835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461" y="543462"/>
            <a:ext cx="1480669" cy="79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1640" y="543462"/>
            <a:ext cx="1480669" cy="76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8858" y="543462"/>
            <a:ext cx="1480669" cy="73672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184737" y="5424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442168" y="87833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2795644" y="910853"/>
            <a:ext cx="112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8    3  6   4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619792" y="5135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890262" y="89685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5109955" y="8699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171" name="Google Shape;17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223" y="2424027"/>
            <a:ext cx="1880533" cy="94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88924" y="2531710"/>
            <a:ext cx="1824281" cy="89706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 txBox="1"/>
          <p:nvPr/>
        </p:nvSpPr>
        <p:spPr>
          <a:xfrm>
            <a:off x="998082" y="29245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049" y="1879997"/>
            <a:ext cx="18573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28017" y="1954033"/>
            <a:ext cx="18383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49974" y="2457990"/>
            <a:ext cx="1962228" cy="96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8858" y="1966443"/>
            <a:ext cx="18383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676683" y="2906357"/>
            <a:ext cx="2810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46880" y="245373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3170793" y="30038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3849394" y="2985615"/>
            <a:ext cx="2810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3519591" y="253298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739419" y="248687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6109206" y="2940376"/>
            <a:ext cx="2810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5380245" y="29794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186" name="Google Shape;186;p15"/>
          <p:cNvGraphicFramePr/>
          <p:nvPr/>
        </p:nvGraphicFramePr>
        <p:xfrm>
          <a:off x="98853" y="-26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{8C027268-FFDD-423D-9A5C-6BA03D1D589F}</a:tableStyleId>
              </a:tblPr>
              <a:tblGrid>
                <a:gridCol w="2190825"/>
                <a:gridCol w="2190825"/>
                <a:gridCol w="2190825"/>
              </a:tblGrid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15"/>
          <p:cNvSpPr txBox="1"/>
          <p:nvPr/>
        </p:nvSpPr>
        <p:spPr>
          <a:xfrm>
            <a:off x="98853" y="126353"/>
            <a:ext cx="71532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For the following questions, fill in the missing blanks.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1172139" y="568476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3547944" y="5684761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£24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5681544" y="568476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1380704" y="886254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167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3756509" y="886254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5890109" y="886254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£58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