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0E34B9-3C3A-4907-A366-0E9BCC919FDB}">
  <a:tblStyle styleId="{2A0E34B9-3C3A-4907-A366-0E9BCC919F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54302" y="364088"/>
            <a:ext cx="6527552" cy="113628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N3.18 - Short Division (remainders)</a:t>
            </a:r>
            <a:endParaRPr/>
          </a:p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5191238" y="934204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136601" y="6878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{2A0E34B9-3C3A-4907-A366-0E9BCC919FDB}</a:tableStyleId>
              </a:tblPr>
              <a:tblGrid>
                <a:gridCol w="1551100"/>
                <a:gridCol w="1666100"/>
                <a:gridCol w="1666100"/>
                <a:gridCol w="1666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885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Set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digit, carrying where necessary.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Leave your answer as a remainder.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3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3"/>
          <p:cNvSpPr txBox="1"/>
          <p:nvPr/>
        </p:nvSpPr>
        <p:spPr>
          <a:xfrm>
            <a:off x="1812490" y="664568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139917" y="662075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458015" y="66397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17945" y="6375764"/>
            <a:ext cx="2375683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Short division with remainders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35645" y="736911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01547" y="978774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short division where there is a remainder.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short division to solve problems in context.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632108" y="424776"/>
            <a:ext cx="1014767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Divisor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76146" y="417151"/>
            <a:ext cx="5405775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apply short division to solve problems.</a:t>
            </a:r>
            <a:endParaRPr/>
          </a:p>
        </p:txBody>
      </p:sp>
      <p:cxnSp>
        <p:nvCxnSpPr>
          <p:cNvPr id="101" name="Google Shape;101;p13"/>
          <p:cNvCxnSpPr/>
          <p:nvPr/>
        </p:nvCxnSpPr>
        <p:spPr>
          <a:xfrm flipH="1" rot="10800000">
            <a:off x="968822" y="5764402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/>
          <p:nvPr/>
        </p:nvSpPr>
        <p:spPr>
          <a:xfrm>
            <a:off x="154301" y="3031644"/>
            <a:ext cx="6541769" cy="31181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>
            <a:off x="146382" y="4720839"/>
            <a:ext cx="655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3"/>
          <p:cNvCxnSpPr>
            <a:stCxn id="102" idx="2"/>
            <a:endCxn id="102" idx="0"/>
          </p:cNvCxnSpPr>
          <p:nvPr/>
        </p:nvCxnSpPr>
        <p:spPr>
          <a:xfrm rot="10800000">
            <a:off x="3425186" y="3031546"/>
            <a:ext cx="0" cy="311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147043" y="3031643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71094" y="2999257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22370" y="4739296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587411" y="468964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46382" y="3219970"/>
            <a:ext cx="3230335" cy="281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Splitting a number into equal parts.​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544786" y="3222500"/>
            <a:ext cx="32303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is denoted by the symbol "÷" or the fraction bar "⁄"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986920" y="4555400"/>
            <a:ext cx="92365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49085" y="4897950"/>
            <a:ext cx="3230335" cy="117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486253" y="4949416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and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154302" y="1617043"/>
            <a:ext cx="6531696" cy="132046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109243" y="1587630"/>
            <a:ext cx="660171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 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 when you divide, the number doesn’t split exactly—and you’re left with a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remainder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lesson, you’ll learn how to write remainders properly and understand what they mean in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contexts. This is an important step before moving on to decimal answers, because it helps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decide whether to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 with a remainder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 dividing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Being confident with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remainders will also help you in problem-solving tasks where you need to interpret what the extra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amount actually represents.</a:t>
            </a:r>
            <a:endParaRPr b="1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2184889" y="7497392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12r1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4019349" y="7512533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121r2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5716103" y="7482646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321r2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2163568" y="8726563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14r3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814404" y="8741704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171r2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5582259" y="8741704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257r4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14"/>
          <p:cNvGraphicFramePr/>
          <p:nvPr/>
        </p:nvGraphicFramePr>
        <p:xfrm>
          <a:off x="142761" y="71507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{2A0E34B9-3C3A-4907-A366-0E9BCC919FDB}</a:tableStyleId>
              </a:tblPr>
              <a:tblGrid>
                <a:gridCol w="2190825"/>
                <a:gridCol w="2190825"/>
                <a:gridCol w="2190825"/>
              </a:tblGrid>
              <a:tr h="5915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2. For the following questions, fill in the missing blanks.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7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14"/>
          <p:cNvGraphicFramePr/>
          <p:nvPr/>
        </p:nvGraphicFramePr>
        <p:xfrm>
          <a:off x="142761" y="1850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{2A0E34B9-3C3A-4907-A366-0E9BCC919FDB}</a:tableStyleId>
              </a:tblPr>
              <a:tblGrid>
                <a:gridCol w="2190825"/>
                <a:gridCol w="2190825"/>
                <a:gridCol w="2190825"/>
              </a:tblGrid>
              <a:tr h="2882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18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4"/>
          <p:cNvSpPr/>
          <p:nvPr/>
        </p:nvSpPr>
        <p:spPr>
          <a:xfrm>
            <a:off x="142761" y="8921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5172189" y="93698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30" name="Google Shape;130;p14"/>
          <p:cNvGraphicFramePr/>
          <p:nvPr/>
        </p:nvGraphicFramePr>
        <p:xfrm>
          <a:off x="142761" y="5242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{2A0E34B9-3C3A-4907-A366-0E9BCC919FDB}</a:tableStyleId>
              </a:tblPr>
              <a:tblGrid>
                <a:gridCol w="2190825"/>
                <a:gridCol w="2190825"/>
                <a:gridCol w="219082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14"/>
          <p:cNvSpPr txBox="1"/>
          <p:nvPr/>
        </p:nvSpPr>
        <p:spPr>
          <a:xfrm>
            <a:off x="1246257" y="160974"/>
            <a:ext cx="5805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For the following questions, leave your answers as a remainder.</a:t>
            </a:r>
            <a:endParaRPr/>
          </a:p>
        </p:txBody>
      </p:sp>
      <p:graphicFrame>
        <p:nvGraphicFramePr>
          <p:cNvPr id="132" name="Google Shape;132;p14"/>
          <p:cNvGraphicFramePr/>
          <p:nvPr/>
        </p:nvGraphicFramePr>
        <p:xfrm>
          <a:off x="142761" y="40572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{2A0E34B9-3C3A-4907-A366-0E9BCC919FDB}</a:tableStyleId>
              </a:tblPr>
              <a:tblGrid>
                <a:gridCol w="2190825"/>
                <a:gridCol w="2190825"/>
                <a:gridCol w="2190825"/>
              </a:tblGrid>
              <a:tr h="118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4"/>
          <p:cNvSpPr txBox="1"/>
          <p:nvPr/>
        </p:nvSpPr>
        <p:spPr>
          <a:xfrm>
            <a:off x="815885" y="879018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19r3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3088955" y="893560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15r3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5324302" y="895411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18r2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47192" y="2017927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179r1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3120262" y="2032469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97r1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5355609" y="2034320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46r4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84704" y="3366475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97r6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3157774" y="3381017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235r1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5393121" y="3382868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167r3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769821" y="4434545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942r7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3042891" y="4449087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1151r5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5278238" y="4450938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1534r1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769821" y="5746282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3092r1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3042891" y="5760824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978r4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278238" y="5762675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98r5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769821" y="6779153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150r5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3042891" y="6793695"/>
            <a:ext cx="968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13657r1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5278238" y="6795546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1084r4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20" y="7968225"/>
            <a:ext cx="1920673" cy="70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2031" y="7968225"/>
            <a:ext cx="1742341" cy="688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5040" y="7968224"/>
            <a:ext cx="1821779" cy="68846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917280" y="7943123"/>
            <a:ext cx="1742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3       4       1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3120288" y="8248117"/>
            <a:ext cx="1742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4       7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3329575" y="7918177"/>
            <a:ext cx="1742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070811" y="8248117"/>
            <a:ext cx="1742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6  7    2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6208332" y="7943123"/>
            <a:ext cx="1742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15"/>
          <p:cNvGraphicFramePr/>
          <p:nvPr/>
        </p:nvGraphicFramePr>
        <p:xfrm>
          <a:off x="145052" y="4196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{2A0E34B9-3C3A-4907-A366-0E9BCC919FDB}</a:tableStyleId>
              </a:tblPr>
              <a:tblGrid>
                <a:gridCol w="2190825"/>
                <a:gridCol w="2190825"/>
                <a:gridCol w="2190825"/>
              </a:tblGrid>
              <a:tr h="343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3.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Simon is sharing 27 marbles equally between 4 friends.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marbles are left over?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Rebecca is selling raffle tickets in booklets of 5.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She has 86 raffle tickets.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booklets can Rebecca sell? 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tickets will be left over?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Eggs are being packed into boxes of 6.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Farmer Richards has 77 eggs.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boxes can he fill?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eggs will be left over?  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4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6. </a:t>
                      </a:r>
                      <a:r>
                        <a:rPr lang="en-GB" sz="1200"/>
                        <a:t>At a wedding there are 125 guests.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 people can sit at each table.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All the tables are filled, except one.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many guests sit at the table that is not filled?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7. </a:t>
                      </a:r>
                      <a:r>
                        <a:rPr lang="en-GB" sz="1200"/>
                        <a:t>A square tile has a perimeter of 180cm.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tiler is going to cut the tile into 6 equal rectangular strips, with some spare left over.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What will the dimensions be of the piece that is left over?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8.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square lawn has a perimeter of 240m.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gardener is going to cut up the lawn into 16 equal rectangular strips, with some spare left over.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will the dimensions be of the piece that is left over?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15"/>
          <p:cNvSpPr txBox="1"/>
          <p:nvPr>
            <p:ph idx="12" type="sldNum"/>
          </p:nvPr>
        </p:nvSpPr>
        <p:spPr>
          <a:xfrm>
            <a:off x="5169126" y="919888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42761" y="7704150"/>
            <a:ext cx="6572478" cy="1494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9. Paul has £10 to buy rulers at 60p each. What change should he get if he buys as many as possible?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291518" y="353203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3667323" y="353203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5800923" y="353203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3667323" y="2444029"/>
            <a:ext cx="547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5811776" y="2437237"/>
            <a:ext cx="547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1419854" y="723993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268816" y="7257202"/>
            <a:ext cx="1314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 x 45cm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5399483" y="7239934"/>
            <a:ext cx="12394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12m x 60m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125187" y="8606317"/>
            <a:ext cx="542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