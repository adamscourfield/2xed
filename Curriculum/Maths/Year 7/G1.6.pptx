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6858000" cy="9945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6DD338-2346-46E7-8170-992BBA26B822}">
  <a:tblStyle styleId="{8C6DD338-2346-46E7-8170-992BBA26B8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7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7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8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8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9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9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0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0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1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1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2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2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3:notes"/>
          <p:cNvSpPr/>
          <p:nvPr>
            <p:ph idx="2" type="sldImg"/>
          </p:nvPr>
        </p:nvSpPr>
        <p:spPr>
          <a:xfrm>
            <a:off x="2266950" y="1243013"/>
            <a:ext cx="2324100" cy="3357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3:notes"/>
          <p:cNvSpPr txBox="1"/>
          <p:nvPr>
            <p:ph idx="1" type="body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3:notes"/>
          <p:cNvSpPr txBox="1"/>
          <p:nvPr>
            <p:ph idx="12" type="sldNum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10" Type="http://schemas.openxmlformats.org/officeDocument/2006/relationships/image" Target="../media/image1.png"/><Relationship Id="rId9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9.png"/><Relationship Id="rId13" Type="http://schemas.openxmlformats.org/officeDocument/2006/relationships/image" Target="../media/image14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25.png"/><Relationship Id="rId15" Type="http://schemas.openxmlformats.org/officeDocument/2006/relationships/image" Target="../media/image11.png"/><Relationship Id="rId14" Type="http://schemas.openxmlformats.org/officeDocument/2006/relationships/image" Target="../media/image12.png"/><Relationship Id="rId17" Type="http://schemas.openxmlformats.org/officeDocument/2006/relationships/image" Target="../media/image28.png"/><Relationship Id="rId16" Type="http://schemas.openxmlformats.org/officeDocument/2006/relationships/image" Target="../media/image22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60.png"/><Relationship Id="rId13" Type="http://schemas.openxmlformats.org/officeDocument/2006/relationships/image" Target="../media/image30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9" Type="http://schemas.openxmlformats.org/officeDocument/2006/relationships/image" Target="../media/image35.png"/><Relationship Id="rId15" Type="http://schemas.openxmlformats.org/officeDocument/2006/relationships/image" Target="../media/image31.png"/><Relationship Id="rId14" Type="http://schemas.openxmlformats.org/officeDocument/2006/relationships/image" Target="../media/image32.png"/><Relationship Id="rId17" Type="http://schemas.openxmlformats.org/officeDocument/2006/relationships/image" Target="../media/image29.png"/><Relationship Id="rId16" Type="http://schemas.openxmlformats.org/officeDocument/2006/relationships/image" Target="../media/image39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3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68.png"/><Relationship Id="rId20" Type="http://schemas.openxmlformats.org/officeDocument/2006/relationships/image" Target="../media/image63.png"/><Relationship Id="rId42" Type="http://schemas.openxmlformats.org/officeDocument/2006/relationships/image" Target="../media/image73.png"/><Relationship Id="rId41" Type="http://schemas.openxmlformats.org/officeDocument/2006/relationships/image" Target="../media/image87.png"/><Relationship Id="rId22" Type="http://schemas.openxmlformats.org/officeDocument/2006/relationships/image" Target="../media/image71.png"/><Relationship Id="rId44" Type="http://schemas.openxmlformats.org/officeDocument/2006/relationships/image" Target="../media/image86.png"/><Relationship Id="rId21" Type="http://schemas.openxmlformats.org/officeDocument/2006/relationships/image" Target="../media/image62.png"/><Relationship Id="rId43" Type="http://schemas.openxmlformats.org/officeDocument/2006/relationships/image" Target="../media/image70.png"/><Relationship Id="rId24" Type="http://schemas.openxmlformats.org/officeDocument/2006/relationships/image" Target="../media/image74.png"/><Relationship Id="rId23" Type="http://schemas.openxmlformats.org/officeDocument/2006/relationships/image" Target="../media/image59.png"/><Relationship Id="rId45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9" Type="http://schemas.openxmlformats.org/officeDocument/2006/relationships/image" Target="../media/image53.png"/><Relationship Id="rId26" Type="http://schemas.openxmlformats.org/officeDocument/2006/relationships/image" Target="../media/image57.png"/><Relationship Id="rId25" Type="http://schemas.openxmlformats.org/officeDocument/2006/relationships/image" Target="../media/image51.png"/><Relationship Id="rId28" Type="http://schemas.openxmlformats.org/officeDocument/2006/relationships/image" Target="../media/image77.png"/><Relationship Id="rId27" Type="http://schemas.openxmlformats.org/officeDocument/2006/relationships/image" Target="../media/image49.png"/><Relationship Id="rId5" Type="http://schemas.openxmlformats.org/officeDocument/2006/relationships/image" Target="../media/image54.png"/><Relationship Id="rId6" Type="http://schemas.openxmlformats.org/officeDocument/2006/relationships/image" Target="../media/image64.png"/><Relationship Id="rId29" Type="http://schemas.openxmlformats.org/officeDocument/2006/relationships/image" Target="../media/image69.png"/><Relationship Id="rId7" Type="http://schemas.openxmlformats.org/officeDocument/2006/relationships/image" Target="../media/image48.png"/><Relationship Id="rId8" Type="http://schemas.openxmlformats.org/officeDocument/2006/relationships/image" Target="../media/image38.png"/><Relationship Id="rId31" Type="http://schemas.openxmlformats.org/officeDocument/2006/relationships/image" Target="../media/image80.png"/><Relationship Id="rId30" Type="http://schemas.openxmlformats.org/officeDocument/2006/relationships/image" Target="../media/image123.png"/><Relationship Id="rId11" Type="http://schemas.openxmlformats.org/officeDocument/2006/relationships/image" Target="../media/image43.jpg"/><Relationship Id="rId33" Type="http://schemas.openxmlformats.org/officeDocument/2006/relationships/image" Target="../media/image67.png"/><Relationship Id="rId10" Type="http://schemas.openxmlformats.org/officeDocument/2006/relationships/image" Target="../media/image78.png"/><Relationship Id="rId32" Type="http://schemas.openxmlformats.org/officeDocument/2006/relationships/image" Target="../media/image61.png"/><Relationship Id="rId13" Type="http://schemas.openxmlformats.org/officeDocument/2006/relationships/image" Target="../media/image45.png"/><Relationship Id="rId35" Type="http://schemas.openxmlformats.org/officeDocument/2006/relationships/image" Target="../media/image76.png"/><Relationship Id="rId12" Type="http://schemas.openxmlformats.org/officeDocument/2006/relationships/image" Target="../media/image56.png"/><Relationship Id="rId34" Type="http://schemas.openxmlformats.org/officeDocument/2006/relationships/image" Target="../media/image75.png"/><Relationship Id="rId15" Type="http://schemas.openxmlformats.org/officeDocument/2006/relationships/image" Target="../media/image46.png"/><Relationship Id="rId37" Type="http://schemas.openxmlformats.org/officeDocument/2006/relationships/image" Target="../media/image66.png"/><Relationship Id="rId14" Type="http://schemas.openxmlformats.org/officeDocument/2006/relationships/image" Target="../media/image50.png"/><Relationship Id="rId36" Type="http://schemas.openxmlformats.org/officeDocument/2006/relationships/image" Target="../media/image79.png"/><Relationship Id="rId17" Type="http://schemas.openxmlformats.org/officeDocument/2006/relationships/image" Target="../media/image55.png"/><Relationship Id="rId39" Type="http://schemas.openxmlformats.org/officeDocument/2006/relationships/image" Target="../media/image99.png"/><Relationship Id="rId16" Type="http://schemas.openxmlformats.org/officeDocument/2006/relationships/image" Target="../media/image47.png"/><Relationship Id="rId38" Type="http://schemas.openxmlformats.org/officeDocument/2006/relationships/image" Target="../media/image65.png"/><Relationship Id="rId19" Type="http://schemas.openxmlformats.org/officeDocument/2006/relationships/image" Target="../media/image58.png"/><Relationship Id="rId18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2.png"/><Relationship Id="rId22" Type="http://schemas.openxmlformats.org/officeDocument/2006/relationships/image" Target="../media/image101.png"/><Relationship Id="rId21" Type="http://schemas.openxmlformats.org/officeDocument/2006/relationships/image" Target="../media/image106.png"/><Relationship Id="rId24" Type="http://schemas.openxmlformats.org/officeDocument/2006/relationships/image" Target="../media/image92.png"/><Relationship Id="rId23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7.png"/><Relationship Id="rId4" Type="http://schemas.openxmlformats.org/officeDocument/2006/relationships/image" Target="../media/image85.png"/><Relationship Id="rId9" Type="http://schemas.openxmlformats.org/officeDocument/2006/relationships/image" Target="../media/image91.png"/><Relationship Id="rId26" Type="http://schemas.openxmlformats.org/officeDocument/2006/relationships/image" Target="../media/image126.png"/><Relationship Id="rId25" Type="http://schemas.openxmlformats.org/officeDocument/2006/relationships/image" Target="../media/image105.png"/><Relationship Id="rId28" Type="http://schemas.openxmlformats.org/officeDocument/2006/relationships/image" Target="../media/image110.png"/><Relationship Id="rId27" Type="http://schemas.openxmlformats.org/officeDocument/2006/relationships/image" Target="../media/image108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Relationship Id="rId29" Type="http://schemas.openxmlformats.org/officeDocument/2006/relationships/image" Target="../media/image104.png"/><Relationship Id="rId7" Type="http://schemas.openxmlformats.org/officeDocument/2006/relationships/image" Target="../media/image93.png"/><Relationship Id="rId8" Type="http://schemas.openxmlformats.org/officeDocument/2006/relationships/image" Target="../media/image95.png"/><Relationship Id="rId30" Type="http://schemas.openxmlformats.org/officeDocument/2006/relationships/image" Target="../media/image102.png"/><Relationship Id="rId11" Type="http://schemas.openxmlformats.org/officeDocument/2006/relationships/image" Target="../media/image90.png"/><Relationship Id="rId10" Type="http://schemas.openxmlformats.org/officeDocument/2006/relationships/image" Target="../media/image81.png"/><Relationship Id="rId13" Type="http://schemas.openxmlformats.org/officeDocument/2006/relationships/image" Target="../media/image98.png"/><Relationship Id="rId12" Type="http://schemas.openxmlformats.org/officeDocument/2006/relationships/image" Target="../media/image113.png"/><Relationship Id="rId15" Type="http://schemas.openxmlformats.org/officeDocument/2006/relationships/image" Target="../media/image94.png"/><Relationship Id="rId14" Type="http://schemas.openxmlformats.org/officeDocument/2006/relationships/image" Target="../media/image100.png"/><Relationship Id="rId17" Type="http://schemas.openxmlformats.org/officeDocument/2006/relationships/image" Target="../media/image89.png"/><Relationship Id="rId16" Type="http://schemas.openxmlformats.org/officeDocument/2006/relationships/image" Target="../media/image88.png"/><Relationship Id="rId19" Type="http://schemas.openxmlformats.org/officeDocument/2006/relationships/image" Target="../media/image96.png"/><Relationship Id="rId18" Type="http://schemas.openxmlformats.org/officeDocument/2006/relationships/image" Target="../media/image10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1.png"/><Relationship Id="rId4" Type="http://schemas.openxmlformats.org/officeDocument/2006/relationships/image" Target="../media/image120.png"/><Relationship Id="rId9" Type="http://schemas.openxmlformats.org/officeDocument/2006/relationships/image" Target="../media/image116.png"/><Relationship Id="rId5" Type="http://schemas.openxmlformats.org/officeDocument/2006/relationships/image" Target="../media/image109.png"/><Relationship Id="rId6" Type="http://schemas.openxmlformats.org/officeDocument/2006/relationships/image" Target="../media/image117.png"/><Relationship Id="rId7" Type="http://schemas.openxmlformats.org/officeDocument/2006/relationships/image" Target="../media/image124.png"/><Relationship Id="rId8" Type="http://schemas.openxmlformats.org/officeDocument/2006/relationships/image" Target="../media/image130.png"/><Relationship Id="rId11" Type="http://schemas.openxmlformats.org/officeDocument/2006/relationships/image" Target="../media/image115.png"/><Relationship Id="rId10" Type="http://schemas.openxmlformats.org/officeDocument/2006/relationships/image" Target="../media/image129.png"/><Relationship Id="rId13" Type="http://schemas.openxmlformats.org/officeDocument/2006/relationships/image" Target="../media/image119.png"/><Relationship Id="rId12" Type="http://schemas.openxmlformats.org/officeDocument/2006/relationships/image" Target="../media/image118.png"/><Relationship Id="rId14" Type="http://schemas.openxmlformats.org/officeDocument/2006/relationships/image" Target="../media/image1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2.png"/><Relationship Id="rId4" Type="http://schemas.openxmlformats.org/officeDocument/2006/relationships/image" Target="../media/image121.png"/><Relationship Id="rId5" Type="http://schemas.openxmlformats.org/officeDocument/2006/relationships/image" Target="../media/image128.png"/><Relationship Id="rId6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G1.6 - Naming, labelling and recognising the features of quadrilaterals </a:t>
            </a:r>
            <a:endParaRPr i="0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6370" y="309496"/>
            <a:ext cx="6716974" cy="14955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94123" y="82178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cxnSp>
        <p:nvCxnSpPr>
          <p:cNvPr id="91" name="Google Shape;91;p13"/>
          <p:cNvCxnSpPr/>
          <p:nvPr/>
        </p:nvCxnSpPr>
        <p:spPr>
          <a:xfrm flipH="1" rot="10800000">
            <a:off x="931051" y="3831207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3"/>
          <p:cNvSpPr/>
          <p:nvPr/>
        </p:nvSpPr>
        <p:spPr>
          <a:xfrm>
            <a:off x="76370" y="1849812"/>
            <a:ext cx="6699219" cy="21860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3"/>
          <p:cNvCxnSpPr/>
          <p:nvPr/>
        </p:nvCxnSpPr>
        <p:spPr>
          <a:xfrm>
            <a:off x="85247" y="2919609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3"/>
          <p:cNvCxnSpPr>
            <a:stCxn id="92" idx="2"/>
            <a:endCxn id="92" idx="0"/>
          </p:cNvCxnSpPr>
          <p:nvPr/>
        </p:nvCxnSpPr>
        <p:spPr>
          <a:xfrm rot="10800000">
            <a:off x="3425980" y="1849781"/>
            <a:ext cx="0" cy="218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3"/>
          <p:cNvSpPr txBox="1"/>
          <p:nvPr/>
        </p:nvSpPr>
        <p:spPr>
          <a:xfrm>
            <a:off x="85059" y="2911678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643909" y="290733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725898" y="2707152"/>
            <a:ext cx="141763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Quadrilateral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68813" y="1048159"/>
            <a:ext cx="541903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a missing interior angle in a quadrilateral.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multi-step angle problems involving quadrilaterals.</a:t>
            </a:r>
            <a:endParaRPr/>
          </a:p>
          <a:p>
            <a:pPr indent="-266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42969" y="356923"/>
            <a:ext cx="6534707" cy="46166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confident identifying quadrilaterals and solving problems related to their angles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5643909" y="887153"/>
            <a:ext cx="1133772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Quadrilateral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Parallel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Perpendicular</a:t>
            </a:r>
            <a:endParaRPr/>
          </a:p>
        </p:txBody>
      </p:sp>
      <p:graphicFrame>
        <p:nvGraphicFramePr>
          <p:cNvPr id="101" name="Google Shape;101;p13"/>
          <p:cNvGraphicFramePr/>
          <p:nvPr/>
        </p:nvGraphicFramePr>
        <p:xfrm>
          <a:off x="111637" y="41646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2206000"/>
                <a:gridCol w="2206000"/>
                <a:gridCol w="2206000"/>
              </a:tblGrid>
              <a:tr h="25877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n-GB" sz="1350">
                          <a:solidFill>
                            <a:schemeClr val="dk1"/>
                          </a:solidFill>
                        </a:rPr>
                        <a:t>TYPES OF SPECIAL QUADRILATERALS</a:t>
                      </a:r>
                      <a:endParaRPr b="1" sz="135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 hMerge="1"/>
                <a:tc hMerge="1"/>
              </a:tr>
              <a:tr h="1333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75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Opposite sides are equal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Adjacent sides are perpendicular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All four sides are equal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Adjacent sides are perpendicular</a:t>
                      </a:r>
                      <a:endParaRPr/>
                    </a:p>
                    <a:p>
                      <a:pPr indent="-20320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One pair of parallel sides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37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_______________________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7580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2 pairs of parallel sides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Opposite sides are equal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2 pairs of parallel sides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lang="en-GB" sz="1300">
                          <a:solidFill>
                            <a:schemeClr val="dk1"/>
                          </a:solidFill>
                        </a:rPr>
                        <a:t>All four sides are equal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0" i="0" lang="en-GB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pairs of equal sides which are adjacent</a:t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  <a:p>
                      <a:pPr indent="-20320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sz="13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02" name="Google Shape;10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557" y="4500903"/>
            <a:ext cx="1721244" cy="10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4271" y="4500903"/>
            <a:ext cx="1083417" cy="10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101" y="7150067"/>
            <a:ext cx="1942433" cy="825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2940" y="7150067"/>
            <a:ext cx="1831427" cy="9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7402" y="4599997"/>
            <a:ext cx="1953013" cy="92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39937" y="7124666"/>
            <a:ext cx="912754" cy="104038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94126" y="1849811"/>
            <a:ext cx="312712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two-dimensional shape made of 4 connected straight lines that create 4 interior angles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545176" y="1807312"/>
            <a:ext cx="3236454" cy="1109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straight sides and 4 angles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dimensional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Angles sum to 360</a:t>
            </a:r>
            <a:r>
              <a:rPr baseline="30000"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defined" id="110" name="Google Shape;11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400000">
            <a:off x="1190155" y="2609450"/>
            <a:ext cx="1004833" cy="1730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553694" y="3120804"/>
            <a:ext cx="2563586" cy="896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459199" y="5562727"/>
            <a:ext cx="536967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Rectangle                        Square                          Trapezium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Parallelogram                  Rhombus                        Kite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>
            <p:ph idx="12" type="sldNum"/>
          </p:nvPr>
        </p:nvSpPr>
        <p:spPr>
          <a:xfrm>
            <a:off x="5363796" y="-17186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2414794">
            <a:off x="813126" y="7819728"/>
            <a:ext cx="715588" cy="101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397345">
            <a:off x="599310" y="6229055"/>
            <a:ext cx="1250041" cy="1111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452281">
            <a:off x="4993411" y="4674889"/>
            <a:ext cx="1238314" cy="11240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4"/>
          <p:cNvGraphicFramePr/>
          <p:nvPr/>
        </p:nvGraphicFramePr>
        <p:xfrm>
          <a:off x="131729" y="74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1384250"/>
                <a:gridCol w="1492350"/>
                <a:gridCol w="1868600"/>
                <a:gridCol w="1868600"/>
              </a:tblGrid>
              <a:tr h="33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200"/>
                        <a:buFont typeface="Calibri"/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do…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70"/>
                        <a:buFont typeface="Calibri"/>
                        <a:buNone/>
                      </a:pPr>
                      <a:r>
                        <a:rPr b="0" lang="en-GB" sz="1170">
                          <a:solidFill>
                            <a:schemeClr val="dk1"/>
                          </a:solidFill>
                        </a:rPr>
                        <a:t>What type of quadrilateral is shown?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8917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Look for a feature of the quadrilateral listed above</a:t>
                      </a:r>
                      <a:endParaRPr/>
                    </a:p>
                    <a:p>
                      <a:pPr indent="-1524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rabicParenR"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Write down which type of quadrilateral it is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22" name="Google Shape;12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43982" y="814525"/>
            <a:ext cx="1193861" cy="107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828796"/>
            <a:ext cx="1193861" cy="1182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14018" y="828796"/>
            <a:ext cx="1314518" cy="99065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/>
          <p:nvPr/>
        </p:nvSpPr>
        <p:spPr>
          <a:xfrm>
            <a:off x="1822124" y="2739244"/>
            <a:ext cx="58289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Identify which type of quadrilateral is shown.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0930" y="4746531"/>
            <a:ext cx="1421499" cy="10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806068" y="3095819"/>
            <a:ext cx="1390545" cy="105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337" y="3095819"/>
            <a:ext cx="1216963" cy="114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 rot="5400000">
            <a:off x="2832727" y="4894307"/>
            <a:ext cx="1173522" cy="844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5744566">
            <a:off x="4914983" y="6341230"/>
            <a:ext cx="977950" cy="93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35381" y="7843646"/>
            <a:ext cx="1136708" cy="98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887314" y="7888099"/>
            <a:ext cx="1308167" cy="93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27323" y="6260727"/>
            <a:ext cx="1003352" cy="104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14018" y="3167651"/>
            <a:ext cx="723937" cy="99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14"/>
          <p:cNvGraphicFramePr/>
          <p:nvPr/>
        </p:nvGraphicFramePr>
        <p:xfrm>
          <a:off x="186913" y="3083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2161400"/>
                <a:gridCol w="2161400"/>
                <a:gridCol w="2161400"/>
              </a:tblGrid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155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j)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k)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l)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_______________________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6" name="Google Shape;136;p14"/>
          <p:cNvSpPr/>
          <p:nvPr/>
        </p:nvSpPr>
        <p:spPr>
          <a:xfrm>
            <a:off x="186913" y="2776710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1506188" y="2060372"/>
            <a:ext cx="4126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Parallelogram         Rectangle                 Kite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09912" y="4158805"/>
            <a:ext cx="5655459" cy="521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Square                              Rhombus                          Trapezium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Trapezium                   Trapezium                       Parallelogram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Square                                 Rhombus                    Kite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Rectangle                     Parallelogram                 Rhombus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0932" y="7710244"/>
            <a:ext cx="1060505" cy="11811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5"/>
          <p:cNvCxnSpPr/>
          <p:nvPr/>
        </p:nvCxnSpPr>
        <p:spPr>
          <a:xfrm>
            <a:off x="874236" y="2336535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6" name="Google Shape;146;p15"/>
          <p:cNvGraphicFramePr/>
          <p:nvPr/>
        </p:nvGraphicFramePr>
        <p:xfrm>
          <a:off x="75977" y="892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1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892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four interior angles of the quadrilateral.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360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5"/>
          <p:cNvSpPr txBox="1"/>
          <p:nvPr/>
        </p:nvSpPr>
        <p:spPr>
          <a:xfrm>
            <a:off x="1941599" y="619746"/>
            <a:ext cx="13145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202795" y="619746"/>
            <a:ext cx="1515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3545176" y="619746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5 - We do…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65310" y="106225"/>
            <a:ext cx="2389417" cy="26525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Angles in a quadrilateral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8576" y="353139"/>
            <a:ext cx="6650101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152" name="Google Shape;152;p15"/>
          <p:cNvGraphicFramePr/>
          <p:nvPr/>
        </p:nvGraphicFramePr>
        <p:xfrm>
          <a:off x="130466" y="35368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2161400"/>
                <a:gridCol w="2161400"/>
                <a:gridCol w="2161400"/>
              </a:tblGrid>
              <a:tr h="20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0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04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3" name="Google Shape;153;p15"/>
          <p:cNvSpPr txBox="1"/>
          <p:nvPr/>
        </p:nvSpPr>
        <p:spPr>
          <a:xfrm>
            <a:off x="1796426" y="3207125"/>
            <a:ext cx="27553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Calculate any missing 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1375978" y="52360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534171" y="52360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692364" y="5236037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383959" y="72519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3542152" y="72519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700345" y="7251974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390855" y="932268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3549048" y="932268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5707241" y="9322681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5"/>
          <p:cNvCxnSpPr/>
          <p:nvPr/>
        </p:nvCxnSpPr>
        <p:spPr>
          <a:xfrm flipH="1" rot="10800000">
            <a:off x="1896177" y="1279086"/>
            <a:ext cx="402784" cy="8804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1896177" y="2159511"/>
            <a:ext cx="990323" cy="22117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15"/>
          <p:cNvCxnSpPr/>
          <p:nvPr/>
        </p:nvCxnSpPr>
        <p:spPr>
          <a:xfrm flipH="1" rot="10800000">
            <a:off x="2847995" y="1371646"/>
            <a:ext cx="376201" cy="101610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15"/>
          <p:cNvCxnSpPr/>
          <p:nvPr/>
        </p:nvCxnSpPr>
        <p:spPr>
          <a:xfrm>
            <a:off x="2298961" y="1274765"/>
            <a:ext cx="944489" cy="844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15"/>
          <p:cNvSpPr txBox="1"/>
          <p:nvPr/>
        </p:nvSpPr>
        <p:spPr>
          <a:xfrm>
            <a:off x="2664246" y="2062794"/>
            <a:ext cx="2632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963016" y="1920335"/>
            <a:ext cx="4283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2172566" y="1289008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107°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2845233" y="1310427"/>
            <a:ext cx="4283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81°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5"/>
          <p:cNvCxnSpPr/>
          <p:nvPr/>
        </p:nvCxnSpPr>
        <p:spPr>
          <a:xfrm flipH="1" rot="10800000">
            <a:off x="5275732" y="1203861"/>
            <a:ext cx="37772" cy="107486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15"/>
          <p:cNvCxnSpPr/>
          <p:nvPr/>
        </p:nvCxnSpPr>
        <p:spPr>
          <a:xfrm>
            <a:off x="5275732" y="2264693"/>
            <a:ext cx="1374629" cy="11262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15"/>
          <p:cNvCxnSpPr/>
          <p:nvPr/>
        </p:nvCxnSpPr>
        <p:spPr>
          <a:xfrm rot="10800000">
            <a:off x="6148888" y="1505899"/>
            <a:ext cx="476044" cy="8818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5313504" y="1212883"/>
            <a:ext cx="857508" cy="30958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5"/>
          <p:cNvSpPr txBox="1"/>
          <p:nvPr/>
        </p:nvSpPr>
        <p:spPr>
          <a:xfrm>
            <a:off x="5967892" y="1461747"/>
            <a:ext cx="2632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5275732" y="1974386"/>
            <a:ext cx="4625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5256173" y="1247910"/>
            <a:ext cx="4283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53°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6178392" y="2079974"/>
            <a:ext cx="4283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3110" y="1249042"/>
            <a:ext cx="1595834" cy="919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/>
          <p:cNvPicPr preferRelativeResize="0"/>
          <p:nvPr/>
        </p:nvPicPr>
        <p:blipFill rotWithShape="1">
          <a:blip r:embed="rId6">
            <a:alphaModFix/>
          </a:blip>
          <a:srcRect b="34348" l="6718" r="72704" t="32920"/>
          <a:stretch/>
        </p:blipFill>
        <p:spPr>
          <a:xfrm>
            <a:off x="485535" y="5649794"/>
            <a:ext cx="1034344" cy="98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/>
          <p:cNvPicPr preferRelativeResize="0"/>
          <p:nvPr/>
        </p:nvPicPr>
        <p:blipFill rotWithShape="1">
          <a:blip r:embed="rId7">
            <a:alphaModFix/>
          </a:blip>
          <a:srcRect b="0" l="83532" r="0" t="19957"/>
          <a:stretch/>
        </p:blipFill>
        <p:spPr>
          <a:xfrm>
            <a:off x="2784583" y="7715902"/>
            <a:ext cx="1106905" cy="913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/>
          <p:cNvPicPr preferRelativeResize="0"/>
          <p:nvPr/>
        </p:nvPicPr>
        <p:blipFill rotWithShape="1">
          <a:blip r:embed="rId6">
            <a:alphaModFix/>
          </a:blip>
          <a:srcRect b="67580" l="74715" r="0" t="5922"/>
          <a:stretch/>
        </p:blipFill>
        <p:spPr>
          <a:xfrm>
            <a:off x="4843046" y="3658879"/>
            <a:ext cx="1270958" cy="797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5"/>
          <p:cNvPicPr preferRelativeResize="0"/>
          <p:nvPr/>
        </p:nvPicPr>
        <p:blipFill rotWithShape="1">
          <a:blip r:embed="rId6">
            <a:alphaModFix/>
          </a:blip>
          <a:srcRect b="67580" l="42252" r="35003" t="0"/>
          <a:stretch/>
        </p:blipFill>
        <p:spPr>
          <a:xfrm>
            <a:off x="2664246" y="3598028"/>
            <a:ext cx="1143287" cy="97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6">
            <a:alphaModFix/>
          </a:blip>
          <a:srcRect b="67580" l="4702" r="70128" t="0"/>
          <a:stretch/>
        </p:blipFill>
        <p:spPr>
          <a:xfrm>
            <a:off x="385010" y="3580174"/>
            <a:ext cx="1265149" cy="97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7">
            <a:alphaModFix/>
          </a:blip>
          <a:srcRect b="0" l="56596" r="25585" t="0"/>
          <a:stretch/>
        </p:blipFill>
        <p:spPr>
          <a:xfrm>
            <a:off x="550184" y="7706225"/>
            <a:ext cx="1106906" cy="1054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7">
            <a:alphaModFix/>
          </a:blip>
          <a:srcRect b="0" l="30281" r="51900" t="14536"/>
          <a:stretch/>
        </p:blipFill>
        <p:spPr>
          <a:xfrm>
            <a:off x="4902004" y="5641286"/>
            <a:ext cx="1106906" cy="9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7">
            <a:alphaModFix/>
          </a:blip>
          <a:srcRect b="0" l="4120" r="76440" t="0"/>
          <a:stretch/>
        </p:blipFill>
        <p:spPr>
          <a:xfrm>
            <a:off x="2624784" y="5622251"/>
            <a:ext cx="1207577" cy="105465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/>
          <p:nvPr/>
        </p:nvSpPr>
        <p:spPr>
          <a:xfrm>
            <a:off x="130466" y="3203336"/>
            <a:ext cx="1635211" cy="2769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891771" y="2638868"/>
            <a:ext cx="5632778" cy="64633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379964" y="5239226"/>
            <a:ext cx="813527" cy="26573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3555956" y="5228537"/>
            <a:ext cx="813527" cy="26573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5694541" y="5228536"/>
            <a:ext cx="813527" cy="265739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1373056" y="7258337"/>
            <a:ext cx="813527" cy="265739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62224" l="0" r="0" t="-3555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549048" y="7247648"/>
            <a:ext cx="813527" cy="265739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5687633" y="7247647"/>
            <a:ext cx="813527" cy="265739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1411024" y="9331913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3587016" y="9321224"/>
            <a:ext cx="813527" cy="26573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5725601" y="9321223"/>
            <a:ext cx="813527" cy="26573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15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16"/>
          <p:cNvGraphicFramePr/>
          <p:nvPr/>
        </p:nvGraphicFramePr>
        <p:xfrm>
          <a:off x="130466" y="30157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2161400"/>
                <a:gridCol w="2161400"/>
                <a:gridCol w="2161400"/>
              </a:tblGrid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5" name="Google Shape;205;p16"/>
          <p:cNvSpPr/>
          <p:nvPr/>
        </p:nvSpPr>
        <p:spPr>
          <a:xfrm>
            <a:off x="1391066" y="489747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3549259" y="489747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707452" y="4897473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427812" y="721999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3586005" y="721999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744198" y="721999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1390855" y="946728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3549048" y="946728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5707241" y="9467286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6"/>
          <p:cNvCxnSpPr/>
          <p:nvPr/>
        </p:nvCxnSpPr>
        <p:spPr>
          <a:xfrm>
            <a:off x="884378" y="1894662"/>
            <a:ext cx="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15" name="Google Shape;215;p16"/>
          <p:cNvGraphicFramePr/>
          <p:nvPr/>
        </p:nvGraphicFramePr>
        <p:xfrm>
          <a:off x="86119" y="450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1670375"/>
                <a:gridCol w="1670375"/>
                <a:gridCol w="1670375"/>
                <a:gridCol w="1670375"/>
              </a:tblGrid>
              <a:tr h="14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Calculate the missing angle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  <a:tr h="1989225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Identify the four interior angles of the quadrilateral.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Subtract from 360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° to find the missing angle in the quadrilateral</a:t>
                      </a:r>
                      <a:endParaRPr/>
                    </a:p>
                    <a:p>
                      <a:pPr indent="-15875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arenR"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other angle facts to find x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16"/>
          <p:cNvSpPr txBox="1"/>
          <p:nvPr/>
        </p:nvSpPr>
        <p:spPr>
          <a:xfrm>
            <a:off x="1951741" y="177873"/>
            <a:ext cx="13145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5212937" y="177873"/>
            <a:ext cx="15158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3555318" y="177873"/>
            <a:ext cx="1510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8 - We do…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1797171" y="2701734"/>
            <a:ext cx="2693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3. Calculate any missing angles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6"/>
          <p:cNvPicPr preferRelativeResize="0"/>
          <p:nvPr/>
        </p:nvPicPr>
        <p:blipFill rotWithShape="1">
          <a:blip r:embed="rId3">
            <a:alphaModFix/>
          </a:blip>
          <a:srcRect b="0" l="82369" r="0" t="0"/>
          <a:stretch/>
        </p:blipFill>
        <p:spPr>
          <a:xfrm>
            <a:off x="676477" y="5477326"/>
            <a:ext cx="1090480" cy="1204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6"/>
          <p:cNvPicPr preferRelativeResize="0"/>
          <p:nvPr/>
        </p:nvPicPr>
        <p:blipFill rotWithShape="1">
          <a:blip r:embed="rId3">
            <a:alphaModFix/>
          </a:blip>
          <a:srcRect b="0" l="41365" r="29380" t="0"/>
          <a:stretch/>
        </p:blipFill>
        <p:spPr>
          <a:xfrm>
            <a:off x="5175952" y="740636"/>
            <a:ext cx="1411656" cy="93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4887" r="67516" t="15718"/>
          <a:stretch/>
        </p:blipFill>
        <p:spPr>
          <a:xfrm>
            <a:off x="1932581" y="833018"/>
            <a:ext cx="1352828" cy="80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782" y="796920"/>
            <a:ext cx="1510406" cy="95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3559" y="7676628"/>
            <a:ext cx="1733639" cy="1543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4806" y="7801370"/>
            <a:ext cx="1715714" cy="98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6356" y="3087237"/>
            <a:ext cx="1665727" cy="1110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16"/>
          <p:cNvGrpSpPr/>
          <p:nvPr/>
        </p:nvGrpSpPr>
        <p:grpSpPr>
          <a:xfrm>
            <a:off x="2662918" y="3109297"/>
            <a:ext cx="1665727" cy="920922"/>
            <a:chOff x="3240481" y="4640031"/>
            <a:chExt cx="3124361" cy="1974951"/>
          </a:xfrm>
        </p:grpSpPr>
        <p:pic>
          <p:nvPicPr>
            <p:cNvPr id="228" name="Google Shape;228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240481" y="4640031"/>
              <a:ext cx="3124361" cy="1974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6"/>
            <p:cNvSpPr/>
            <p:nvPr/>
          </p:nvSpPr>
          <p:spPr>
            <a:xfrm>
              <a:off x="5342479" y="5027657"/>
              <a:ext cx="364762" cy="7523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637761" y="5378318"/>
            <a:ext cx="1690884" cy="1067190"/>
            <a:chOff x="-3930695" y="4223222"/>
            <a:chExt cx="3619686" cy="2419474"/>
          </a:xfrm>
        </p:grpSpPr>
        <p:pic>
          <p:nvPicPr>
            <p:cNvPr id="231" name="Google Shape;231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-3930695" y="4223222"/>
              <a:ext cx="3619686" cy="24194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6"/>
            <p:cNvSpPr/>
            <p:nvPr/>
          </p:nvSpPr>
          <p:spPr>
            <a:xfrm>
              <a:off x="-2972610" y="5215807"/>
              <a:ext cx="364762" cy="7523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3" name="Google Shape;233;p16"/>
          <p:cNvPicPr preferRelativeResize="0"/>
          <p:nvPr/>
        </p:nvPicPr>
        <p:blipFill rotWithShape="1">
          <a:blip r:embed="rId10">
            <a:alphaModFix/>
          </a:blip>
          <a:srcRect b="12953" l="0" r="0" t="0"/>
          <a:stretch/>
        </p:blipFill>
        <p:spPr>
          <a:xfrm>
            <a:off x="4634231" y="3312816"/>
            <a:ext cx="1886537" cy="9001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16"/>
          <p:cNvGrpSpPr/>
          <p:nvPr/>
        </p:nvGrpSpPr>
        <p:grpSpPr>
          <a:xfrm>
            <a:off x="543211" y="7673380"/>
            <a:ext cx="1621231" cy="821742"/>
            <a:chOff x="543211" y="7566700"/>
            <a:chExt cx="1621231" cy="821742"/>
          </a:xfrm>
        </p:grpSpPr>
        <p:pic>
          <p:nvPicPr>
            <p:cNvPr descr="Interior and Exterior Angles with Quadrilaterals worksheet | Live Worksheets" id="235" name="Google Shape;235;p16"/>
            <p:cNvPicPr preferRelativeResize="0"/>
            <p:nvPr/>
          </p:nvPicPr>
          <p:blipFill rotWithShape="1">
            <a:blip r:embed="rId11">
              <a:alphaModFix/>
            </a:blip>
            <a:srcRect b="48822" l="51750" r="12561" t="37166"/>
            <a:stretch/>
          </p:blipFill>
          <p:spPr>
            <a:xfrm>
              <a:off x="543211" y="7566700"/>
              <a:ext cx="1621231" cy="821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6"/>
            <p:cNvSpPr txBox="1"/>
            <p:nvPr/>
          </p:nvSpPr>
          <p:spPr>
            <a:xfrm>
              <a:off x="1471547" y="7595647"/>
              <a:ext cx="326371" cy="307777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pic>
        <p:nvPicPr>
          <p:cNvPr id="237" name="Google Shape;23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67973" y="5361438"/>
            <a:ext cx="1868485" cy="113413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/>
          <p:nvPr/>
        </p:nvSpPr>
        <p:spPr>
          <a:xfrm>
            <a:off x="4873757" y="7219998"/>
            <a:ext cx="813527" cy="2657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131746" y="2721785"/>
            <a:ext cx="1635211" cy="21945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1932581" y="2057605"/>
            <a:ext cx="5632778" cy="646331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1" name="Google Shape;241;p16"/>
          <p:cNvSpPr/>
          <p:nvPr/>
        </p:nvSpPr>
        <p:spPr>
          <a:xfrm>
            <a:off x="1379964" y="4901406"/>
            <a:ext cx="813527" cy="265739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3555956" y="4890717"/>
            <a:ext cx="813527" cy="26573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5694541" y="4890716"/>
            <a:ext cx="813527" cy="265739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1398456" y="7199917"/>
            <a:ext cx="813527" cy="265739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58697" l="0" r="0" t="-326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5" name="Google Shape;245;p16"/>
          <p:cNvSpPr/>
          <p:nvPr/>
        </p:nvSpPr>
        <p:spPr>
          <a:xfrm>
            <a:off x="3574448" y="7189228"/>
            <a:ext cx="813527" cy="26573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5713033" y="7189227"/>
            <a:ext cx="813527" cy="265739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-28261" l="0" r="0" t="-869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1411024" y="9463993"/>
            <a:ext cx="813527" cy="265739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-60871" l="0" r="0" t="-3260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>
            <a:off x="3587016" y="9453304"/>
            <a:ext cx="813527" cy="265739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5725601" y="9453303"/>
            <a:ext cx="813527" cy="265739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-62221" l="0" r="0" t="-333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4899506" y="7227684"/>
            <a:ext cx="813527" cy="265739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-28890" l="0" r="0" t="-88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2480273" y="1276095"/>
            <a:ext cx="435610" cy="276999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2" name="Google Shape;252;p16"/>
          <p:cNvSpPr txBox="1"/>
          <p:nvPr/>
        </p:nvSpPr>
        <p:spPr>
          <a:xfrm>
            <a:off x="4232363" y="1251733"/>
            <a:ext cx="435610" cy="276999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4110840" y="909685"/>
            <a:ext cx="435610" cy="276999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3760246" y="1280202"/>
            <a:ext cx="435610" cy="276999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5620374" y="880147"/>
            <a:ext cx="435610" cy="230832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5715351" y="1420914"/>
            <a:ext cx="435610" cy="230832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1351117" y="3569758"/>
            <a:ext cx="435610" cy="230832"/>
          </a:xfrm>
          <a:prstGeom prst="rect">
            <a:avLst/>
          </a:pr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3265398" y="3739634"/>
            <a:ext cx="435610" cy="230832"/>
          </a:xfrm>
          <a:prstGeom prst="rect">
            <a:avLst/>
          </a:pr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4870659" y="3684913"/>
            <a:ext cx="435610" cy="230832"/>
          </a:xfrm>
          <a:prstGeom prst="rect">
            <a:avLst/>
          </a:pr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5611855" y="3841210"/>
            <a:ext cx="435610" cy="230832"/>
          </a:xfrm>
          <a:prstGeom prst="rect">
            <a:avLst/>
          </a:pr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684841" y="5882459"/>
            <a:ext cx="435610" cy="230832"/>
          </a:xfrm>
          <a:prstGeom prst="rect">
            <a:avLst/>
          </a:pr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2867512" y="6011232"/>
            <a:ext cx="435610" cy="230832"/>
          </a:xfrm>
          <a:prstGeom prst="rect">
            <a:avLst/>
          </a:pr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3698779" y="5555959"/>
            <a:ext cx="435610" cy="230832"/>
          </a:xfrm>
          <a:prstGeom prst="rect">
            <a:avLst/>
          </a:pr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1035937" y="8188940"/>
            <a:ext cx="435610" cy="230832"/>
          </a:xfrm>
          <a:prstGeom prst="rect">
            <a:avLst/>
          </a:pr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2866942" y="8141240"/>
            <a:ext cx="435610" cy="230832"/>
          </a:xfrm>
          <a:prstGeom prst="rect">
            <a:avLst/>
          </a:pr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3220192" y="8207918"/>
            <a:ext cx="435610" cy="230832"/>
          </a:xfrm>
          <a:prstGeom prst="rect">
            <a:avLst/>
          </a:pr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3583283" y="8073524"/>
            <a:ext cx="435610" cy="230832"/>
          </a:xfrm>
          <a:prstGeom prst="rect">
            <a:avLst/>
          </a:pr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5231166" y="8122715"/>
            <a:ext cx="435610" cy="230832"/>
          </a:xfrm>
          <a:prstGeom prst="rect">
            <a:avLst/>
          </a:pr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4906869" y="8522022"/>
            <a:ext cx="435610" cy="230832"/>
          </a:xfrm>
          <a:prstGeom prst="rect">
            <a:avLst/>
          </a:pr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5555789" y="8506188"/>
            <a:ext cx="435610" cy="230832"/>
          </a:xfrm>
          <a:prstGeom prst="rect">
            <a:avLst/>
          </a:pr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5212937" y="8300868"/>
            <a:ext cx="435610" cy="230832"/>
          </a:xfrm>
          <a:prstGeom prst="rect">
            <a:avLst/>
          </a:pr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72" name="Google Shape;272;p16"/>
          <p:cNvSpPr txBox="1"/>
          <p:nvPr>
            <p:ph idx="12" type="sldNum"/>
          </p:nvPr>
        </p:nvSpPr>
        <p:spPr>
          <a:xfrm>
            <a:off x="5274872" y="-12105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7" name="Google Shape;277;p17"/>
          <p:cNvGraphicFramePr/>
          <p:nvPr/>
        </p:nvGraphicFramePr>
        <p:xfrm>
          <a:off x="186913" y="3396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2161400"/>
                <a:gridCol w="2161400"/>
                <a:gridCol w="2161400"/>
              </a:tblGrid>
              <a:tr h="2262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</a:t>
                      </a:r>
                      <a:endParaRPr sz="135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78" name="Google Shape;2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40" y="3848877"/>
            <a:ext cx="2649629" cy="238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7"/>
          <p:cNvPicPr preferRelativeResize="0"/>
          <p:nvPr/>
        </p:nvPicPr>
        <p:blipFill rotWithShape="1">
          <a:blip r:embed="rId4">
            <a:alphaModFix/>
          </a:blip>
          <a:srcRect b="0" l="0" r="48813" t="0"/>
          <a:stretch/>
        </p:blipFill>
        <p:spPr>
          <a:xfrm>
            <a:off x="186913" y="6428212"/>
            <a:ext cx="1538593" cy="1581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823" y="491896"/>
            <a:ext cx="1376577" cy="1594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3205" y="422587"/>
            <a:ext cx="1241996" cy="184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0711" y="491896"/>
            <a:ext cx="1376577" cy="156807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7"/>
          <p:cNvSpPr txBox="1"/>
          <p:nvPr/>
        </p:nvSpPr>
        <p:spPr>
          <a:xfrm>
            <a:off x="-24222" y="27675"/>
            <a:ext cx="3084922" cy="27699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17778" l="0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120440" y="3622679"/>
            <a:ext cx="6550646" cy="27699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15217" l="-9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20439" y="6214714"/>
            <a:ext cx="36019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6. Calculate all the missing angles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7"/>
          <p:cNvPicPr preferRelativeResize="0"/>
          <p:nvPr/>
        </p:nvPicPr>
        <p:blipFill rotWithShape="1">
          <a:blip r:embed="rId4">
            <a:alphaModFix/>
          </a:blip>
          <a:srcRect b="0" l="54097" r="0" t="0"/>
          <a:stretch/>
        </p:blipFill>
        <p:spPr>
          <a:xfrm>
            <a:off x="174213" y="8033728"/>
            <a:ext cx="1538593" cy="176328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7"/>
          <p:cNvSpPr/>
          <p:nvPr/>
        </p:nvSpPr>
        <p:spPr>
          <a:xfrm>
            <a:off x="2900468" y="3899677"/>
            <a:ext cx="3601932" cy="2315037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1791980" y="6519514"/>
            <a:ext cx="4710420" cy="317754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612610" y="2507808"/>
            <a:ext cx="5632778" cy="64633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637208" y="1655992"/>
            <a:ext cx="727449" cy="253916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3497997" y="1039452"/>
            <a:ext cx="727449" cy="253916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2944097" y="565638"/>
            <a:ext cx="727449" cy="25391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5296163" y="1275931"/>
            <a:ext cx="727449" cy="253916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5299506" y="681458"/>
            <a:ext cx="727449" cy="253916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5060478" y="513017"/>
            <a:ext cx="727449" cy="253916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4661876" y="736010"/>
            <a:ext cx="727449" cy="253916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7" name="Google Shape;297;p17"/>
          <p:cNvSpPr txBox="1"/>
          <p:nvPr/>
        </p:nvSpPr>
        <p:spPr>
          <a:xfrm>
            <a:off x="1865088" y="5250132"/>
            <a:ext cx="727449" cy="253916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2140811" y="4925227"/>
            <a:ext cx="727449" cy="253916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99" name="Google Shape;299;p17"/>
          <p:cNvSpPr txBox="1"/>
          <p:nvPr/>
        </p:nvSpPr>
        <p:spPr>
          <a:xfrm>
            <a:off x="1612509" y="5256509"/>
            <a:ext cx="727449" cy="253916"/>
          </a:xfrm>
          <a:prstGeom prst="rect">
            <a:avLst/>
          </a:pr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0" name="Google Shape;300;p17"/>
          <p:cNvSpPr txBox="1"/>
          <p:nvPr/>
        </p:nvSpPr>
        <p:spPr>
          <a:xfrm>
            <a:off x="461724" y="5187865"/>
            <a:ext cx="727449" cy="253916"/>
          </a:xfrm>
          <a:prstGeom prst="rect">
            <a:avLst/>
          </a:pr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1" name="Google Shape;301;p17"/>
          <p:cNvSpPr txBox="1"/>
          <p:nvPr/>
        </p:nvSpPr>
        <p:spPr>
          <a:xfrm>
            <a:off x="818818" y="3811157"/>
            <a:ext cx="727449" cy="253916"/>
          </a:xfrm>
          <a:prstGeom prst="rect">
            <a:avLst/>
          </a:pr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33644" y="4794171"/>
            <a:ext cx="727449" cy="253916"/>
          </a:xfrm>
          <a:prstGeom prst="rect">
            <a:avLst/>
          </a:pr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1942672" y="5529197"/>
            <a:ext cx="727449" cy="253916"/>
          </a:xfrm>
          <a:prstGeom prst="rect">
            <a:avLst/>
          </a:prstGeom>
          <a:blipFill rotWithShape="1">
            <a:blip r:embed="rId2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2465387" y="4849334"/>
            <a:ext cx="727449" cy="253916"/>
          </a:xfrm>
          <a:prstGeom prst="rect">
            <a:avLst/>
          </a:pr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684972" y="6013523"/>
            <a:ext cx="727449" cy="253916"/>
          </a:xfrm>
          <a:prstGeom prst="rect">
            <a:avLst/>
          </a:pr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06" name="Google Shape;306;p17"/>
          <p:cNvCxnSpPr/>
          <p:nvPr/>
        </p:nvCxnSpPr>
        <p:spPr>
          <a:xfrm>
            <a:off x="508000" y="5132484"/>
            <a:ext cx="1659169" cy="380688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p17"/>
          <p:cNvSpPr txBox="1"/>
          <p:nvPr/>
        </p:nvSpPr>
        <p:spPr>
          <a:xfrm>
            <a:off x="1531722" y="5454048"/>
            <a:ext cx="727449" cy="253916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308" name="Google Shape;308;p17"/>
          <p:cNvCxnSpPr/>
          <p:nvPr/>
        </p:nvCxnSpPr>
        <p:spPr>
          <a:xfrm>
            <a:off x="1423979" y="3889656"/>
            <a:ext cx="740222" cy="161105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9" name="Google Shape;309;p17"/>
          <p:cNvCxnSpPr/>
          <p:nvPr/>
        </p:nvCxnSpPr>
        <p:spPr>
          <a:xfrm flipH="1" rot="10800000">
            <a:off x="496360" y="3880962"/>
            <a:ext cx="916061" cy="124877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17"/>
          <p:cNvCxnSpPr/>
          <p:nvPr/>
        </p:nvCxnSpPr>
        <p:spPr>
          <a:xfrm flipH="1" rot="10800000">
            <a:off x="1241395" y="5509940"/>
            <a:ext cx="899415" cy="61515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1" name="Google Shape;311;p17"/>
          <p:cNvCxnSpPr/>
          <p:nvPr/>
        </p:nvCxnSpPr>
        <p:spPr>
          <a:xfrm rot="10800000">
            <a:off x="1412421" y="3885519"/>
            <a:ext cx="1327816" cy="1250611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17"/>
          <p:cNvSpPr txBox="1"/>
          <p:nvPr/>
        </p:nvSpPr>
        <p:spPr>
          <a:xfrm>
            <a:off x="671483" y="5075144"/>
            <a:ext cx="727449" cy="215444"/>
          </a:xfrm>
          <a:prstGeom prst="rect">
            <a:avLst/>
          </a:prstGeom>
          <a:blipFill rotWithShape="1">
            <a:blip r:embed="rId3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3" name="Google Shape;313;p17"/>
          <p:cNvSpPr txBox="1"/>
          <p:nvPr/>
        </p:nvSpPr>
        <p:spPr>
          <a:xfrm>
            <a:off x="1051280" y="5745684"/>
            <a:ext cx="727449" cy="253916"/>
          </a:xfrm>
          <a:prstGeom prst="rect">
            <a:avLst/>
          </a:pr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14" name="Google Shape;314;p17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18"/>
          <p:cNvGraphicFramePr/>
          <p:nvPr/>
        </p:nvGraphicFramePr>
        <p:xfrm>
          <a:off x="117459" y="457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3270250"/>
                <a:gridCol w="3270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320" name="Google Shape;3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4" y="810528"/>
            <a:ext cx="2703815" cy="1375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1848" y="810528"/>
            <a:ext cx="2057578" cy="1524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4" y="3495160"/>
            <a:ext cx="2767838" cy="1518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08003" y="3434200"/>
            <a:ext cx="2385267" cy="1882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/>
          <p:cNvPicPr preferRelativeResize="0"/>
          <p:nvPr/>
        </p:nvPicPr>
        <p:blipFill rotWithShape="1">
          <a:blip r:embed="rId7">
            <a:alphaModFix/>
          </a:blip>
          <a:srcRect b="8953" l="0" r="0" t="0"/>
          <a:stretch/>
        </p:blipFill>
        <p:spPr>
          <a:xfrm>
            <a:off x="782224" y="6139553"/>
            <a:ext cx="1996613" cy="254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9802" y="6139553"/>
            <a:ext cx="3038406" cy="250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8"/>
          <p:cNvSpPr txBox="1"/>
          <p:nvPr/>
        </p:nvSpPr>
        <p:spPr>
          <a:xfrm>
            <a:off x="1242226" y="2459390"/>
            <a:ext cx="117211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4666710" y="2515098"/>
            <a:ext cx="1034257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1323181" y="5316503"/>
            <a:ext cx="1034257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4583507" y="5387725"/>
            <a:ext cx="1034257" cy="36933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1380085" y="8883711"/>
            <a:ext cx="1034257" cy="369332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4583507" y="8879455"/>
            <a:ext cx="1034257" cy="369332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117459" y="100505"/>
            <a:ext cx="1997091" cy="27699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Mixed Practice (CHALLENGE)</a:t>
            </a:r>
            <a:endParaRPr/>
          </a:p>
        </p:txBody>
      </p:sp>
      <p:sp>
        <p:nvSpPr>
          <p:cNvPr id="333" name="Google Shape;333;p18"/>
          <p:cNvSpPr txBox="1"/>
          <p:nvPr/>
        </p:nvSpPr>
        <p:spPr>
          <a:xfrm>
            <a:off x="2071691" y="123745"/>
            <a:ext cx="70947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7. Calculate angle x in each of the following questions: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" name="Google Shape;340;p19"/>
          <p:cNvGraphicFramePr/>
          <p:nvPr/>
        </p:nvGraphicFramePr>
        <p:xfrm>
          <a:off x="136435" y="153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{8C6DD338-2346-46E7-8170-992BBA26B822}</a:tableStyleId>
              </a:tblPr>
              <a:tblGrid>
                <a:gridCol w="6585125"/>
              </a:tblGrid>
              <a:tr h="743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</a:rPr>
                        <a:t>Skills Check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2341"/>
                    </a:solidFill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9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" name="Google Shape;341;p19"/>
          <p:cNvSpPr txBox="1"/>
          <p:nvPr/>
        </p:nvSpPr>
        <p:spPr>
          <a:xfrm>
            <a:off x="136435" y="101504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type of quadrilateral is this?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3147173" y="1685872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Trapezium                     b) Parallelogram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Rectangle                      d) Kite 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339658" y="321066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best describe the features of a kite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496501" y="3582602"/>
            <a:ext cx="6005899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pairs of parallel sides</a:t>
            </a:r>
            <a:endParaRPr/>
          </a:p>
          <a:p>
            <a:pPr indent="-2540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pairs of equal opposite sides</a:t>
            </a:r>
            <a:endParaRPr/>
          </a:p>
          <a:p>
            <a:pPr indent="-2540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pairs of equal adjacent sides</a:t>
            </a:r>
            <a:endParaRPr/>
          </a:p>
          <a:p>
            <a:pPr indent="-2540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arenR"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pair of equal sides </a:t>
            </a:r>
            <a:endParaRPr/>
          </a:p>
        </p:txBody>
      </p:sp>
      <p:sp>
        <p:nvSpPr>
          <p:cNvPr id="345" name="Google Shape;345;p19"/>
          <p:cNvSpPr txBox="1"/>
          <p:nvPr/>
        </p:nvSpPr>
        <p:spPr>
          <a:xfrm>
            <a:off x="167413" y="5339487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3178151" y="6010316"/>
            <a:ext cx="34544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263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b) 112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83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d) 97</a:t>
            </a:r>
            <a:r>
              <a:rPr baseline="3000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288835" y="7475133"/>
            <a:ext cx="636596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missing angle.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3989192" y="7837024"/>
            <a:ext cx="2773987" cy="174406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59" r="0" t="-104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49" name="Google Shape;3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522" y="1417773"/>
            <a:ext cx="2222614" cy="1384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559" y="5310552"/>
            <a:ext cx="1313875" cy="190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00" y="7947494"/>
            <a:ext cx="3130868" cy="96807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9"/>
          <p:cNvSpPr/>
          <p:nvPr/>
        </p:nvSpPr>
        <p:spPr>
          <a:xfrm>
            <a:off x="4791063" y="1451241"/>
            <a:ext cx="1530417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1919617" y="4209304"/>
            <a:ext cx="3228116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870383" y="6444237"/>
            <a:ext cx="1337911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3864268" y="7576025"/>
            <a:ext cx="2070865" cy="827773"/>
          </a:xfrm>
          <a:prstGeom prst="donut">
            <a:avLst>
              <a:gd fmla="val 13372" name="adj"/>
            </a:avLst>
          </a:prstGeom>
          <a:solidFill>
            <a:srgbClr val="FF0000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>
            <p:ph idx="12" type="sldNum"/>
          </p:nvPr>
        </p:nvSpPr>
        <p:spPr>
          <a:xfrm>
            <a:off x="5209223" y="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