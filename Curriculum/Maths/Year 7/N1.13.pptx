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E8D7D7-F086-44A0-9CFD-027950C3744D}">
  <a:tblStyle styleId="{7CE8D7D7-F086-44A0-9CFD-027950C374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0" Type="http://schemas.openxmlformats.org/officeDocument/2006/relationships/image" Target="../media/image11.png"/><Relationship Id="rId9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3"/>
          <p:cNvGraphicFramePr/>
          <p:nvPr/>
        </p:nvGraphicFramePr>
        <p:xfrm>
          <a:off x="156914" y="55447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{7CE8D7D7-F086-44A0-9CFD-027950C3744D}</a:tableStyleId>
              </a:tblPr>
              <a:tblGrid>
                <a:gridCol w="1934350"/>
                <a:gridCol w="4639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negative number closest to zero is the largest. The negative number furthest from zero is the smallest.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Mark -1 on the number line with an x.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Mark -2 on the number line with an x.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Which number is larger?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Mark -4 on the number line with an x.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Mark -3 on the number line with an x.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Which number is smaller?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Mark -5 on the number line with an x.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Mark -2 on the number line with an x.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/>
                        <a:t>Which number is larger?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3"/>
          <p:cNvSpPr/>
          <p:nvPr/>
        </p:nvSpPr>
        <p:spPr>
          <a:xfrm>
            <a:off x="129971" y="326311"/>
            <a:ext cx="6639100" cy="1440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0" y="2347"/>
            <a:ext cx="6858000" cy="30500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N1.13 – Positioning negative numbers on a number line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81522" y="751407"/>
            <a:ext cx="11493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r>
              <a:rPr b="1" lang="en-GB" sz="1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09329" y="1028407"/>
            <a:ext cx="558537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understand the position of negative numbers on a number line.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the distance from zero to understand the value of negative numbers.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read negative numbers using 0 as a symmetry point.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209329" y="391427"/>
            <a:ext cx="6518700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be able to place negative numbers on a number line  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529421" y="705492"/>
            <a:ext cx="1186609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line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Whole number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/>
          </a:p>
        </p:txBody>
      </p:sp>
      <p:cxnSp>
        <p:nvCxnSpPr>
          <p:cNvPr id="95" name="Google Shape;95;p13"/>
          <p:cNvCxnSpPr/>
          <p:nvPr/>
        </p:nvCxnSpPr>
        <p:spPr>
          <a:xfrm flipH="1" rot="10800000">
            <a:off x="928537" y="4900840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3"/>
          <p:cNvSpPr/>
          <p:nvPr/>
        </p:nvSpPr>
        <p:spPr>
          <a:xfrm>
            <a:off x="135918" y="2947785"/>
            <a:ext cx="6642242" cy="223276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129971" y="4414924"/>
            <a:ext cx="662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13"/>
          <p:cNvCxnSpPr>
            <a:stCxn id="96" idx="2"/>
            <a:endCxn id="96" idx="0"/>
          </p:cNvCxnSpPr>
          <p:nvPr/>
        </p:nvCxnSpPr>
        <p:spPr>
          <a:xfrm rot="10800000">
            <a:off x="3457039" y="2947654"/>
            <a:ext cx="0" cy="223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3"/>
          <p:cNvSpPr txBox="1"/>
          <p:nvPr/>
        </p:nvSpPr>
        <p:spPr>
          <a:xfrm>
            <a:off x="113219" y="2934806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738721" y="2913372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71406" y="4414924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647555" y="4400764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2472197" y="4263772"/>
            <a:ext cx="181338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integers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>
            <p:ph idx="12" type="sldNum"/>
          </p:nvPr>
        </p:nvSpPr>
        <p:spPr>
          <a:xfrm>
            <a:off x="5259625" y="9419701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35918" y="3162078"/>
            <a:ext cx="33416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negative integer is a </a:t>
            </a: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whole number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is    smaller than 0.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413745" y="3123464"/>
            <a:ext cx="343720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 smaller than 0 are negative numbers and are represented by adding a “-” before the number.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 numbers are commonly used to represent things like temperature. Any ‘sub – zero- temperature is a negative value. 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85670" y="4665415"/>
            <a:ext cx="5480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1397953" y="4681147"/>
            <a:ext cx="8965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-100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306817" y="4703568"/>
            <a:ext cx="9688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-1549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-212657" y="4665415"/>
            <a:ext cx="9688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-99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436519" y="4656269"/>
            <a:ext cx="5480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-1.5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965257" y="4673567"/>
            <a:ext cx="8965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4775813" y="4681147"/>
            <a:ext cx="9688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-76.33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5747156" y="4624826"/>
            <a:ext cx="968874" cy="358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15" name="Google Shape;11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1977" y="6143166"/>
            <a:ext cx="4437598" cy="520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2325" y="7402866"/>
            <a:ext cx="4518761" cy="52954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3492726" y="6860534"/>
            <a:ext cx="2322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larger because it’s closer to zero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2968150" y="6812268"/>
            <a:ext cx="537836" cy="3064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155331" y="5248639"/>
            <a:ext cx="4173292" cy="24133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Positioning negatives on a number line when the scale is given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129970" y="1833897"/>
            <a:ext cx="6648189" cy="104630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Positioning negative numbers on a number line helps us understand how values extend below zero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how they relate to positive numbers. There are two key things to remember here: Symmetry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around zero, where numbers the same distance from zero have the same size but opposite signs,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that the further away a negative number is from zero, the smaller its value.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2997985" y="8019585"/>
            <a:ext cx="13231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smaller because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2473409" y="7996720"/>
            <a:ext cx="537836" cy="3064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4267811" y="8004870"/>
            <a:ext cx="2202239" cy="3064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4152" y="8593371"/>
            <a:ext cx="4518761" cy="52954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 txBox="1"/>
          <p:nvPr/>
        </p:nvSpPr>
        <p:spPr>
          <a:xfrm>
            <a:off x="2996328" y="9194414"/>
            <a:ext cx="12251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larger because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2471752" y="9171549"/>
            <a:ext cx="537836" cy="3064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4266154" y="9179699"/>
            <a:ext cx="2202239" cy="30642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3064301" y="6756533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3892136" y="6081831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3475765" y="6081831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3029484" y="7341531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2610202" y="7349702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2580615" y="7993744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4298279" y="8001630"/>
            <a:ext cx="22029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 is further away from zero</a:t>
            </a:r>
            <a:endParaRPr/>
          </a:p>
        </p:txBody>
      </p:sp>
      <p:sp>
        <p:nvSpPr>
          <p:cNvPr id="135" name="Google Shape;135;p13"/>
          <p:cNvSpPr txBox="1"/>
          <p:nvPr/>
        </p:nvSpPr>
        <p:spPr>
          <a:xfrm>
            <a:off x="2164253" y="8521622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3424642" y="8544736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2544662" y="9160835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4624537" y="9219330"/>
            <a:ext cx="14854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it is closer to zero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idx="12" type="sldNum"/>
          </p:nvPr>
        </p:nvSpPr>
        <p:spPr>
          <a:xfrm>
            <a:off x="5249636" y="944093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1274385" y="42942"/>
            <a:ext cx="52696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1. Position the negative integers on the number lines and answer the questions: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125545" y="8880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aphicFrame>
        <p:nvGraphicFramePr>
          <p:cNvPr id="146" name="Google Shape;146;p14"/>
          <p:cNvGraphicFramePr/>
          <p:nvPr/>
        </p:nvGraphicFramePr>
        <p:xfrm>
          <a:off x="136430" y="49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{7CE8D7D7-F086-44A0-9CFD-027950C3744D}</a:tableStyleId>
              </a:tblPr>
              <a:tblGrid>
                <a:gridCol w="3240250"/>
                <a:gridCol w="3240250"/>
              </a:tblGrid>
              <a:tr h="11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-1 and -3. Which is larger?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-1 and -5. Which is smaller?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-4 and -5. Which is larger?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-4 and -7. Which is larger?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-4 and -10. Which is larger?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-7 and -10. Which is smaller?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-7 and -8. Which is larger?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-7 and -9. Which is smaller?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1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-9 and -8. Which is smaller?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-1 and -9. Which is smaller?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47" name="Google Shape;14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30" y="876713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30" y="1936038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30" y="3112240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30" y="4221297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30" y="5397499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1530" y="880018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1530" y="1939343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1530" y="3115545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1530" y="4224602"/>
            <a:ext cx="3132550" cy="310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1530" y="5400804"/>
            <a:ext cx="3132550" cy="3108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4"/>
          <p:cNvGraphicFramePr/>
          <p:nvPr/>
        </p:nvGraphicFramePr>
        <p:xfrm>
          <a:off x="130112" y="64002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{7CE8D7D7-F086-44A0-9CFD-027950C3744D}</a:tableStyleId>
              </a:tblPr>
              <a:tblGrid>
                <a:gridCol w="1435150"/>
                <a:gridCol w="51384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1) Consider the midpoint on the scale and estimate where each value would lie in relation to this.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FF0000"/>
                          </a:solidFill>
                        </a:rPr>
                        <a:t>Example 1 – I do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Mark -5, -2 and -9 on the number line.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chemeClr val="accent2"/>
                          </a:solidFill>
                        </a:rPr>
                        <a:t>Example 2 – We do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Mark -8, -13 and -6 on the number line.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chemeClr val="accent2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GB" sz="1200">
                          <a:solidFill>
                            <a:srgbClr val="00B050"/>
                          </a:solidFill>
                        </a:rPr>
                        <a:t>Example 3 – You do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Mark -5, -17 and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-10 on the number line.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200">
                        <a:solidFill>
                          <a:srgbClr val="00B05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4"/>
          <p:cNvSpPr/>
          <p:nvPr/>
        </p:nvSpPr>
        <p:spPr>
          <a:xfrm>
            <a:off x="125545" y="6091830"/>
            <a:ext cx="3768978" cy="28109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Estimate, label and draw negatives on number lines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3014" y="6881459"/>
            <a:ext cx="5079583" cy="487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9408" y="7759823"/>
            <a:ext cx="4977924" cy="386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7923" y="8752440"/>
            <a:ext cx="4977924" cy="38652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4"/>
          <p:cNvSpPr txBox="1"/>
          <p:nvPr/>
        </p:nvSpPr>
        <p:spPr>
          <a:xfrm>
            <a:off x="2713765" y="744393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2146252" y="741347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6005799" y="771765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4839087" y="770886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1854382" y="1805983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1574965" y="1824862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4267073" y="1813563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5129482" y="1822823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1854382" y="2996250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116049" y="3000690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4261243" y="2992124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3391149" y="2999893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989618" y="4122147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694522" y="4122147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4280446" y="4116122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3683946" y="4118563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410223" y="5288951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694522" y="5288951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3684243" y="5270152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6014266" y="5278619"/>
            <a:ext cx="311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2869417" y="1229031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6139461" y="1246577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2869417" y="2328885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6139461" y="2346431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/>
          </a:p>
        </p:txBody>
      </p:sp>
      <p:sp>
        <p:nvSpPr>
          <p:cNvPr id="186" name="Google Shape;186;p14"/>
          <p:cNvSpPr txBox="1"/>
          <p:nvPr/>
        </p:nvSpPr>
        <p:spPr>
          <a:xfrm>
            <a:off x="2901818" y="3446908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6171862" y="3464454"/>
            <a:ext cx="4892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-10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2953585" y="4547620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6223629" y="4565166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2963384" y="5706471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-9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6233428" y="5724017"/>
            <a:ext cx="37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-9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3921410" y="6999370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5289710" y="7010264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1986018" y="6996628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-9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3898540" y="8829553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-10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5289710" y="8841316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2142816" y="8840950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-17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4432937" y="7899043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-8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5106971" y="7881854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-6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3052175" y="7881854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idx="12" type="sldNum"/>
          </p:nvPr>
        </p:nvSpPr>
        <p:spPr>
          <a:xfrm>
            <a:off x="5151440" y="947162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163510" y="154095"/>
            <a:ext cx="1137954" cy="396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207" name="Google Shape;2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141" y="850611"/>
            <a:ext cx="6291944" cy="603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120" y="1810090"/>
            <a:ext cx="6166366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186" y="2716743"/>
            <a:ext cx="6166366" cy="4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120" y="4467451"/>
            <a:ext cx="6273686" cy="5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3289" y="8175070"/>
            <a:ext cx="6226028" cy="5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5"/>
          <p:cNvSpPr txBox="1"/>
          <p:nvPr/>
        </p:nvSpPr>
        <p:spPr>
          <a:xfrm>
            <a:off x="1301464" y="299202"/>
            <a:ext cx="52696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2. Position the negative integers on the number lines: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2893" y="7176972"/>
            <a:ext cx="6239290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8601" y="9020936"/>
            <a:ext cx="6351603" cy="56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6349" y="3574010"/>
            <a:ext cx="6273686" cy="5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3290" y="5381909"/>
            <a:ext cx="6225754" cy="5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2255" y="6307576"/>
            <a:ext cx="6272168" cy="511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8" name="Google Shape;218;p15"/>
          <p:cNvGraphicFramePr/>
          <p:nvPr/>
        </p:nvGraphicFramePr>
        <p:xfrm>
          <a:off x="163510" y="609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{7CE8D7D7-F086-44A0-9CFD-027950C3744D}</a:tableStyleId>
              </a:tblPr>
              <a:tblGrid>
                <a:gridCol w="6509425"/>
              </a:tblGrid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-5, -1 and -8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-10, -4 and -17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-8, -5 and -16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-15, -24 and -7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-10, -27 and -3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-40, -30 and -20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-15, -85 and -30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0, -7 and -5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0, -10 and 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0, -6 and 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15"/>
          <p:cNvSpPr txBox="1"/>
          <p:nvPr/>
        </p:nvSpPr>
        <p:spPr>
          <a:xfrm>
            <a:off x="3182709" y="1055601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/>
          </a:p>
        </p:txBody>
      </p:sp>
      <p:sp>
        <p:nvSpPr>
          <p:cNvPr id="220" name="Google Shape;220;p15"/>
          <p:cNvSpPr txBox="1"/>
          <p:nvPr/>
        </p:nvSpPr>
        <p:spPr>
          <a:xfrm>
            <a:off x="5699770" y="1058011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/>
          </a:p>
        </p:txBody>
      </p:sp>
      <p:sp>
        <p:nvSpPr>
          <p:cNvPr id="221" name="Google Shape;221;p15"/>
          <p:cNvSpPr txBox="1"/>
          <p:nvPr/>
        </p:nvSpPr>
        <p:spPr>
          <a:xfrm>
            <a:off x="1543733" y="1046079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-8</a:t>
            </a:r>
            <a:endParaRPr/>
          </a:p>
        </p:txBody>
      </p:sp>
      <p:sp>
        <p:nvSpPr>
          <p:cNvPr id="222" name="Google Shape;222;p15"/>
          <p:cNvSpPr txBox="1"/>
          <p:nvPr/>
        </p:nvSpPr>
        <p:spPr>
          <a:xfrm>
            <a:off x="3182709" y="1992710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-10</a:t>
            </a:r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5067999" y="1983647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/>
          </a:p>
        </p:txBody>
      </p:sp>
      <p:sp>
        <p:nvSpPr>
          <p:cNvPr id="224" name="Google Shape;224;p15"/>
          <p:cNvSpPr txBox="1"/>
          <p:nvPr/>
        </p:nvSpPr>
        <p:spPr>
          <a:xfrm>
            <a:off x="1126143" y="1950832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-17</a:t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4766903" y="2884050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3875377" y="2884403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-8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1411988" y="2873518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-16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3182709" y="3776357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-15</a:t>
            </a:r>
            <a:endParaRPr/>
          </a:p>
        </p:txBody>
      </p:sp>
      <p:sp>
        <p:nvSpPr>
          <p:cNvPr id="229" name="Google Shape;229;p15"/>
          <p:cNvSpPr txBox="1"/>
          <p:nvPr/>
        </p:nvSpPr>
        <p:spPr>
          <a:xfrm>
            <a:off x="4998381" y="3778824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</a:t>
            </a:r>
            <a:endParaRPr/>
          </a:p>
        </p:txBody>
      </p:sp>
      <p:sp>
        <p:nvSpPr>
          <p:cNvPr id="230" name="Google Shape;230;p15"/>
          <p:cNvSpPr txBox="1"/>
          <p:nvPr/>
        </p:nvSpPr>
        <p:spPr>
          <a:xfrm>
            <a:off x="1301464" y="3770236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4191262" y="4673385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-10</a:t>
            </a:r>
            <a:endParaRPr/>
          </a:p>
        </p:txBody>
      </p:sp>
      <p:sp>
        <p:nvSpPr>
          <p:cNvPr id="232" name="Google Shape;232;p15"/>
          <p:cNvSpPr txBox="1"/>
          <p:nvPr/>
        </p:nvSpPr>
        <p:spPr>
          <a:xfrm>
            <a:off x="5669923" y="4654122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780217" y="4646525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-27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527019" y="5562329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-20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2325433" y="5574480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-30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1123847" y="5548330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-40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5197788" y="6486124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-15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4135132" y="6469426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-30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1227847" y="6443876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-85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1638855" y="7373731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1096102" y="7379497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3392538" y="7357388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3392537" y="8341441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1096102" y="8349338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-10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4881902" y="8340391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4024308" y="9184329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1755618" y="9223772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-6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5329529" y="9202469"/>
            <a:ext cx="631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6"/>
          <p:cNvGrpSpPr/>
          <p:nvPr/>
        </p:nvGrpSpPr>
        <p:grpSpPr>
          <a:xfrm>
            <a:off x="279067" y="4160520"/>
            <a:ext cx="6274133" cy="5370065"/>
            <a:chOff x="279067" y="4160520"/>
            <a:chExt cx="6274133" cy="5370065"/>
          </a:xfrm>
        </p:grpSpPr>
        <p:pic>
          <p:nvPicPr>
            <p:cNvPr descr="A picture containing chart&#10;&#10;Description automatically generated" id="254" name="Google Shape;254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9067" y="4191154"/>
              <a:ext cx="6206999" cy="53394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6"/>
            <p:cNvSpPr/>
            <p:nvPr/>
          </p:nvSpPr>
          <p:spPr>
            <a:xfrm>
              <a:off x="289560" y="4160520"/>
              <a:ext cx="6263640" cy="2558771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6" name="Google Shape;2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8665" y="725317"/>
            <a:ext cx="4160669" cy="30652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16"/>
          <p:cNvGrpSpPr/>
          <p:nvPr/>
        </p:nvGrpSpPr>
        <p:grpSpPr>
          <a:xfrm>
            <a:off x="125004" y="325616"/>
            <a:ext cx="6624000" cy="3347222"/>
            <a:chOff x="162437" y="4623197"/>
            <a:chExt cx="6620908" cy="3704075"/>
          </a:xfrm>
        </p:grpSpPr>
        <p:sp>
          <p:nvSpPr>
            <p:cNvPr id="258" name="Google Shape;258;p16"/>
            <p:cNvSpPr txBox="1"/>
            <p:nvPr/>
          </p:nvSpPr>
          <p:spPr>
            <a:xfrm>
              <a:off x="162437" y="4623197"/>
              <a:ext cx="6620908" cy="408707"/>
            </a:xfrm>
            <a:prstGeom prst="rect">
              <a:avLst/>
            </a:prstGeom>
            <a:solidFill>
              <a:srgbClr val="7E23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1" lang="en-GB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Skills Check</a:t>
              </a:r>
              <a:endParaRPr b="1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164427" y="5026502"/>
              <a:ext cx="6606000" cy="330077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16"/>
          <p:cNvSpPr/>
          <p:nvPr/>
        </p:nvSpPr>
        <p:spPr>
          <a:xfrm>
            <a:off x="128985" y="3678560"/>
            <a:ext cx="6609085" cy="284416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0283" y="3796309"/>
            <a:ext cx="4677434" cy="255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6"/>
          <p:cNvSpPr/>
          <p:nvPr/>
        </p:nvSpPr>
        <p:spPr>
          <a:xfrm>
            <a:off x="4175760" y="2575560"/>
            <a:ext cx="1005840" cy="112764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2376726" y="5311253"/>
            <a:ext cx="1005840" cy="1127647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