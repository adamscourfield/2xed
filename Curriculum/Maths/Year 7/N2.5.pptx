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9906000" cx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B1CEE9F-DC66-4D45-9295-EF97E15F65C3}">
  <a:tblStyle styleId="{0B1CEE9F-DC66-4D45-9295-EF97E15F65C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8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4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49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50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1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5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51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1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5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52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p1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5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53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54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2" name="Google Shape;412;p1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5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1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55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156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8" name="Google Shape;498;p1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15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157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1" name="Google Shape;561;p1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15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2" name="Google Shape;52;p8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4" name="Google Shape;54;p8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4.png"/><Relationship Id="rId10" Type="http://schemas.openxmlformats.org/officeDocument/2006/relationships/image" Target="../media/image11.png"/><Relationship Id="rId13" Type="http://schemas.openxmlformats.org/officeDocument/2006/relationships/image" Target="../media/image5.png"/><Relationship Id="rId1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5" Type="http://schemas.openxmlformats.org/officeDocument/2006/relationships/image" Target="../media/image1.png"/><Relationship Id="rId6" Type="http://schemas.openxmlformats.org/officeDocument/2006/relationships/image" Target="../media/image10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2.png"/><Relationship Id="rId5" Type="http://schemas.openxmlformats.org/officeDocument/2006/relationships/image" Target="../media/image12.png"/><Relationship Id="rId6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2.png"/><Relationship Id="rId5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 txBox="1"/>
          <p:nvPr>
            <p:ph idx="12" type="sldNum"/>
          </p:nvPr>
        </p:nvSpPr>
        <p:spPr>
          <a:xfrm>
            <a:off x="5266991" y="9434169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86108" y="316463"/>
            <a:ext cx="6679742" cy="1206751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0" y="0"/>
            <a:ext cx="6858000" cy="29191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Subtopic N2.5 – Use Formal Methods for Addition of Decimals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132715" y="622402"/>
            <a:ext cx="139976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Objectives: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220278" y="832185"/>
            <a:ext cx="466799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add decimals without exchanging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add decimals with exchanging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solve worded problems involving adding decimals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163938" y="369629"/>
            <a:ext cx="4780669" cy="2769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LEARNING OUTCOME: 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be able to use formal methods to add decimals 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5656506" y="364743"/>
            <a:ext cx="1056403" cy="1015663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Keywords: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Addition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Decimals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Column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Exchange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147383" y="5532241"/>
            <a:ext cx="661030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Adding decimals can be represented in many ways: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3"/>
          <p:cNvSpPr/>
          <p:nvPr/>
        </p:nvSpPr>
        <p:spPr>
          <a:xfrm>
            <a:off x="92920" y="5453361"/>
            <a:ext cx="6699219" cy="4122536"/>
          </a:xfrm>
          <a:prstGeom prst="rect">
            <a:avLst/>
          </a:prstGeom>
          <a:noFill/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2113" y="5994579"/>
            <a:ext cx="2200000" cy="69523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3"/>
          <p:cNvSpPr txBox="1"/>
          <p:nvPr/>
        </p:nvSpPr>
        <p:spPr>
          <a:xfrm>
            <a:off x="700407" y="6727640"/>
            <a:ext cx="122341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11.8 + 2.3 = 14.1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87568" y="5967844"/>
            <a:ext cx="1206681" cy="1199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101" name="Google Shape;101;p13"/>
          <p:cNvPicPr preferRelativeResize="0"/>
          <p:nvPr/>
        </p:nvPicPr>
        <p:blipFill rotWithShape="1">
          <a:blip r:embed="rId5">
            <a:alphaModFix/>
          </a:blip>
          <a:srcRect b="38818" l="45203" r="40592" t="36355"/>
          <a:stretch/>
        </p:blipFill>
        <p:spPr>
          <a:xfrm>
            <a:off x="478612" y="7415716"/>
            <a:ext cx="1414308" cy="138968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3"/>
          <p:cNvSpPr txBox="1"/>
          <p:nvPr/>
        </p:nvSpPr>
        <p:spPr>
          <a:xfrm>
            <a:off x="570739" y="8940209"/>
            <a:ext cx="122341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2.04 + 0.7 = 2.74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screenshot of a computer&#10;&#10;Description automatically generated" id="103" name="Google Shape;103;p13"/>
          <p:cNvPicPr preferRelativeResize="0"/>
          <p:nvPr/>
        </p:nvPicPr>
        <p:blipFill rotWithShape="1">
          <a:blip r:embed="rId6">
            <a:alphaModFix/>
          </a:blip>
          <a:srcRect b="38818" l="37226" r="14414" t="39310"/>
          <a:stretch/>
        </p:blipFill>
        <p:spPr>
          <a:xfrm>
            <a:off x="3969705" y="6122433"/>
            <a:ext cx="2750432" cy="7959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104" name="Google Shape;104;p13"/>
          <p:cNvPicPr preferRelativeResize="0"/>
          <p:nvPr/>
        </p:nvPicPr>
        <p:blipFill rotWithShape="1">
          <a:blip r:embed="rId7">
            <a:alphaModFix/>
          </a:blip>
          <a:srcRect b="26108" l="40882" r="29703" t="28670"/>
          <a:stretch/>
        </p:blipFill>
        <p:spPr>
          <a:xfrm>
            <a:off x="2091524" y="7326273"/>
            <a:ext cx="1957626" cy="1692023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3"/>
          <p:cNvSpPr txBox="1"/>
          <p:nvPr/>
        </p:nvSpPr>
        <p:spPr>
          <a:xfrm>
            <a:off x="2412113" y="9062166"/>
            <a:ext cx="130195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0.53 + 5.27 = 5.80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" name="Google Shape;106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149604" y="7489372"/>
            <a:ext cx="2528312" cy="16920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7" name="Google Shape;107;p13"/>
          <p:cNvCxnSpPr/>
          <p:nvPr/>
        </p:nvCxnSpPr>
        <p:spPr>
          <a:xfrm flipH="1" rot="10800000">
            <a:off x="923034" y="4551880"/>
            <a:ext cx="5541513" cy="22822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8" name="Google Shape;108;p13"/>
          <p:cNvSpPr/>
          <p:nvPr/>
        </p:nvSpPr>
        <p:spPr>
          <a:xfrm>
            <a:off x="108548" y="2646161"/>
            <a:ext cx="6683739" cy="276942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9" name="Google Shape;109;p13"/>
          <p:cNvCxnSpPr/>
          <p:nvPr/>
        </p:nvCxnSpPr>
        <p:spPr>
          <a:xfrm>
            <a:off x="108548" y="3893715"/>
            <a:ext cx="668373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0" name="Google Shape;110;p13"/>
          <p:cNvCxnSpPr>
            <a:stCxn id="108" idx="2"/>
            <a:endCxn id="108" idx="0"/>
          </p:cNvCxnSpPr>
          <p:nvPr/>
        </p:nvCxnSpPr>
        <p:spPr>
          <a:xfrm rot="10800000">
            <a:off x="3450418" y="2646289"/>
            <a:ext cx="0" cy="2769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1" name="Google Shape;111;p13"/>
          <p:cNvSpPr txBox="1"/>
          <p:nvPr/>
        </p:nvSpPr>
        <p:spPr>
          <a:xfrm>
            <a:off x="86108" y="2621284"/>
            <a:ext cx="82471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 txBox="1"/>
          <p:nvPr/>
        </p:nvSpPr>
        <p:spPr>
          <a:xfrm>
            <a:off x="5706348" y="2618542"/>
            <a:ext cx="111222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Characteristics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3"/>
          <p:cNvSpPr txBox="1"/>
          <p:nvPr/>
        </p:nvSpPr>
        <p:spPr>
          <a:xfrm>
            <a:off x="101255" y="3879292"/>
            <a:ext cx="78816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3"/>
          <p:cNvSpPr txBox="1"/>
          <p:nvPr/>
        </p:nvSpPr>
        <p:spPr>
          <a:xfrm>
            <a:off x="5691072" y="3885391"/>
            <a:ext cx="117288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 - 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3"/>
          <p:cNvSpPr txBox="1"/>
          <p:nvPr/>
        </p:nvSpPr>
        <p:spPr>
          <a:xfrm>
            <a:off x="185206" y="2821856"/>
            <a:ext cx="3230335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decimal is a number that is not whole, as it lies between whole numbers.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Consists of a whole and a fraction part.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fractional part is written as digits after a point rather than a fraction.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3"/>
          <p:cNvSpPr txBox="1"/>
          <p:nvPr/>
        </p:nvSpPr>
        <p:spPr>
          <a:xfrm>
            <a:off x="3482574" y="2849440"/>
            <a:ext cx="3230335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whole and fraction parts are separated by a point called the decimal point.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be terminating or recurring.</a:t>
            </a:r>
            <a:endParaRPr/>
          </a:p>
          <a:p>
            <a:pPr indent="-952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3"/>
          <p:cNvSpPr txBox="1"/>
          <p:nvPr/>
        </p:nvSpPr>
        <p:spPr>
          <a:xfrm>
            <a:off x="2773183" y="3741129"/>
            <a:ext cx="1172885" cy="3693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Decimal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3"/>
          <p:cNvSpPr txBox="1"/>
          <p:nvPr/>
        </p:nvSpPr>
        <p:spPr>
          <a:xfrm>
            <a:off x="3428743" y="4046725"/>
            <a:ext cx="3230335" cy="856966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119" name="Google Shape;119;p13"/>
          <p:cNvCxnSpPr/>
          <p:nvPr/>
        </p:nvCxnSpPr>
        <p:spPr>
          <a:xfrm flipH="1" rot="10800000">
            <a:off x="3442678" y="4458897"/>
            <a:ext cx="337519" cy="332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0" name="Google Shape;120;p13"/>
          <p:cNvSpPr txBox="1"/>
          <p:nvPr/>
        </p:nvSpPr>
        <p:spPr>
          <a:xfrm>
            <a:off x="4652709" y="3887066"/>
            <a:ext cx="842456" cy="808555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21" name="Google Shape;121;p13"/>
          <p:cNvSpPr txBox="1"/>
          <p:nvPr/>
        </p:nvSpPr>
        <p:spPr>
          <a:xfrm>
            <a:off x="6178469" y="4183373"/>
            <a:ext cx="84245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240</a:t>
            </a:r>
            <a:endParaRPr/>
          </a:p>
        </p:txBody>
      </p:sp>
      <p:sp>
        <p:nvSpPr>
          <p:cNvPr id="122" name="Google Shape;122;p13"/>
          <p:cNvSpPr txBox="1"/>
          <p:nvPr/>
        </p:nvSpPr>
        <p:spPr>
          <a:xfrm>
            <a:off x="5477065" y="4043852"/>
            <a:ext cx="842456" cy="623248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23" name="Google Shape;123;p13"/>
          <p:cNvSpPr txBox="1"/>
          <p:nvPr/>
        </p:nvSpPr>
        <p:spPr>
          <a:xfrm>
            <a:off x="165930" y="4021618"/>
            <a:ext cx="4909650" cy="1393971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24" name="Google Shape;124;p13"/>
          <p:cNvSpPr txBox="1"/>
          <p:nvPr/>
        </p:nvSpPr>
        <p:spPr>
          <a:xfrm>
            <a:off x="3463814" y="4435455"/>
            <a:ext cx="3230335" cy="823302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25" name="Google Shape;125;p13"/>
          <p:cNvSpPr/>
          <p:nvPr/>
        </p:nvSpPr>
        <p:spPr>
          <a:xfrm>
            <a:off x="86108" y="1549865"/>
            <a:ext cx="6679742" cy="10080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1" i="0" lang="en-GB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Introduction – Read and annotate: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When adding decimals, it is important to line up the decimal points so that digits with the same place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value (ones, tenths, hundredths, etc.) are correctly aligned. This ensures that each digit is added to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correct corresponding digit. You may also add zeros as placeholders to make the numbers the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same length, which makes it easier to line up and add each column correctly.</a:t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4"/>
          <p:cNvSpPr txBox="1"/>
          <p:nvPr>
            <p:ph idx="12" type="sldNum"/>
          </p:nvPr>
        </p:nvSpPr>
        <p:spPr>
          <a:xfrm>
            <a:off x="5384318" y="9562176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1" name="Google Shape;131;p14"/>
          <p:cNvSpPr/>
          <p:nvPr/>
        </p:nvSpPr>
        <p:spPr>
          <a:xfrm>
            <a:off x="139486" y="3827700"/>
            <a:ext cx="1137954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132" name="Google Shape;132;p14"/>
          <p:cNvSpPr txBox="1"/>
          <p:nvPr/>
        </p:nvSpPr>
        <p:spPr>
          <a:xfrm>
            <a:off x="2408679" y="3876877"/>
            <a:ext cx="207614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Calculate the following: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3" name="Google Shape;133;p14"/>
          <p:cNvGrpSpPr/>
          <p:nvPr/>
        </p:nvGrpSpPr>
        <p:grpSpPr>
          <a:xfrm>
            <a:off x="361470" y="4687748"/>
            <a:ext cx="6142542" cy="1199195"/>
            <a:chOff x="280324" y="4331428"/>
            <a:chExt cx="6142542" cy="1199195"/>
          </a:xfrm>
        </p:grpSpPr>
        <p:pic>
          <p:nvPicPr>
            <p:cNvPr descr="A screenshot of a computer&#10;&#10;Description automatically generated" id="134" name="Google Shape;134;p14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80324" y="4331428"/>
              <a:ext cx="1838834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135" name="Google Shape;135;p14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479979" y="4335654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136" name="Google Shape;136;p14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4621077" y="4331429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7" name="Google Shape;137;p14"/>
          <p:cNvGrpSpPr/>
          <p:nvPr/>
        </p:nvGrpSpPr>
        <p:grpSpPr>
          <a:xfrm>
            <a:off x="361470" y="6570803"/>
            <a:ext cx="6142542" cy="1199195"/>
            <a:chOff x="280324" y="4331428"/>
            <a:chExt cx="6142542" cy="1199195"/>
          </a:xfrm>
        </p:grpSpPr>
        <p:pic>
          <p:nvPicPr>
            <p:cNvPr descr="A screenshot of a computer&#10;&#10;Description automatically generated" id="138" name="Google Shape;138;p14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80324" y="4331428"/>
              <a:ext cx="1838834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139" name="Google Shape;139;p14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479979" y="4335654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140" name="Google Shape;140;p14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4621077" y="4331429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1" name="Google Shape;141;p14"/>
          <p:cNvSpPr txBox="1"/>
          <p:nvPr/>
        </p:nvSpPr>
        <p:spPr>
          <a:xfrm>
            <a:off x="914737" y="4316659"/>
            <a:ext cx="72327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1.6 + 1.2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4"/>
          <p:cNvSpPr txBox="1"/>
          <p:nvPr/>
        </p:nvSpPr>
        <p:spPr>
          <a:xfrm>
            <a:off x="3095869" y="4335087"/>
            <a:ext cx="72327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3.4 + 1.3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4"/>
          <p:cNvSpPr txBox="1"/>
          <p:nvPr/>
        </p:nvSpPr>
        <p:spPr>
          <a:xfrm>
            <a:off x="5207689" y="4335087"/>
            <a:ext cx="72327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6.7 + 2.1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4"/>
          <p:cNvSpPr txBox="1"/>
          <p:nvPr/>
        </p:nvSpPr>
        <p:spPr>
          <a:xfrm>
            <a:off x="837255" y="6069083"/>
            <a:ext cx="72327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6.2 + 0.7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5" name="Google Shape;145;p14"/>
          <p:cNvGrpSpPr/>
          <p:nvPr/>
        </p:nvGrpSpPr>
        <p:grpSpPr>
          <a:xfrm>
            <a:off x="361470" y="6508335"/>
            <a:ext cx="6142542" cy="1199195"/>
            <a:chOff x="280324" y="4331428"/>
            <a:chExt cx="6142542" cy="1199195"/>
          </a:xfrm>
        </p:grpSpPr>
        <p:pic>
          <p:nvPicPr>
            <p:cNvPr descr="A screenshot of a computer&#10;&#10;Description automatically generated" id="146" name="Google Shape;146;p14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80324" y="4331428"/>
              <a:ext cx="1838834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147" name="Google Shape;147;p14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479979" y="4335654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148" name="Google Shape;148;p14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4621077" y="4331429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9" name="Google Shape;149;p14"/>
          <p:cNvSpPr txBox="1"/>
          <p:nvPr/>
        </p:nvSpPr>
        <p:spPr>
          <a:xfrm>
            <a:off x="3021834" y="6049195"/>
            <a:ext cx="72327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0.8 + 3.1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4"/>
          <p:cNvSpPr txBox="1"/>
          <p:nvPr/>
        </p:nvSpPr>
        <p:spPr>
          <a:xfrm>
            <a:off x="5207689" y="6044970"/>
            <a:ext cx="88036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12.2 + 10.3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1" name="Google Shape;151;p14"/>
          <p:cNvGrpSpPr/>
          <p:nvPr/>
        </p:nvGrpSpPr>
        <p:grpSpPr>
          <a:xfrm>
            <a:off x="361470" y="8300004"/>
            <a:ext cx="6142542" cy="1199195"/>
            <a:chOff x="280324" y="4331428"/>
            <a:chExt cx="6142542" cy="1199195"/>
          </a:xfrm>
        </p:grpSpPr>
        <p:pic>
          <p:nvPicPr>
            <p:cNvPr descr="A screenshot of a computer&#10;&#10;Description automatically generated" id="152" name="Google Shape;152;p14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80324" y="4331428"/>
              <a:ext cx="1838834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153" name="Google Shape;153;p14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479979" y="4335654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154" name="Google Shape;154;p14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4621077" y="4331429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5" name="Google Shape;155;p14"/>
          <p:cNvSpPr txBox="1"/>
          <p:nvPr/>
        </p:nvSpPr>
        <p:spPr>
          <a:xfrm>
            <a:off x="837254" y="7896097"/>
            <a:ext cx="80182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31.2 + 3.4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4"/>
          <p:cNvSpPr txBox="1"/>
          <p:nvPr/>
        </p:nvSpPr>
        <p:spPr>
          <a:xfrm>
            <a:off x="2949541" y="7893897"/>
            <a:ext cx="91563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73.2 + 16.6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4"/>
          <p:cNvSpPr txBox="1"/>
          <p:nvPr/>
        </p:nvSpPr>
        <p:spPr>
          <a:xfrm>
            <a:off x="5091875" y="7867551"/>
            <a:ext cx="95891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114.7 + 54.2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8" name="Google Shape;158;p14"/>
          <p:cNvGraphicFramePr/>
          <p:nvPr/>
        </p:nvGraphicFramePr>
        <p:xfrm>
          <a:off x="146036" y="8659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{0B1CEE9F-DC66-4D45-9295-EF97E15F65C3}</a:tableStyleId>
              </a:tblPr>
              <a:tblGrid>
                <a:gridCol w="819025"/>
                <a:gridCol w="1917825"/>
                <a:gridCol w="1917825"/>
                <a:gridCol w="1917825"/>
              </a:tblGrid>
              <a:tr h="396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Calculate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Calculate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Calculate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165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Set up the addition with the decimal place aligned vertically.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3.2 + 1.4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2.1 + 0.5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1.2 + 2.7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165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Add the digits in each column.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</a:tbl>
          </a:graphicData>
        </a:graphic>
      </p:graphicFrame>
      <p:sp>
        <p:nvSpPr>
          <p:cNvPr id="159" name="Google Shape;159;p14"/>
          <p:cNvSpPr txBox="1"/>
          <p:nvPr/>
        </p:nvSpPr>
        <p:spPr>
          <a:xfrm>
            <a:off x="1218589" y="605571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1 - I do…</a:t>
            </a:r>
            <a:endParaRPr/>
          </a:p>
        </p:txBody>
      </p:sp>
      <p:sp>
        <p:nvSpPr>
          <p:cNvPr id="160" name="Google Shape;160;p14"/>
          <p:cNvSpPr txBox="1"/>
          <p:nvPr/>
        </p:nvSpPr>
        <p:spPr>
          <a:xfrm>
            <a:off x="5028267" y="574048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3 – You do…</a:t>
            </a:r>
            <a:endParaRPr/>
          </a:p>
        </p:txBody>
      </p:sp>
      <p:sp>
        <p:nvSpPr>
          <p:cNvPr id="161" name="Google Shape;161;p14"/>
          <p:cNvSpPr txBox="1"/>
          <p:nvPr/>
        </p:nvSpPr>
        <p:spPr>
          <a:xfrm>
            <a:off x="3052571" y="574049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2 – We do…</a:t>
            </a:r>
            <a:endParaRPr/>
          </a:p>
        </p:txBody>
      </p:sp>
      <p:sp>
        <p:nvSpPr>
          <p:cNvPr id="162" name="Google Shape;162;p14"/>
          <p:cNvSpPr/>
          <p:nvPr/>
        </p:nvSpPr>
        <p:spPr>
          <a:xfrm>
            <a:off x="27376" y="199654"/>
            <a:ext cx="3068493" cy="22191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Add decimals with no exchanging (tenths only)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screenshot of a computer&#10;&#10;Description automatically generated" id="163" name="Google Shape;163;p14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988961" y="2040890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164" name="Google Shape;164;p14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2938503" y="2045115"/>
            <a:ext cx="1801789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165" name="Google Shape;165;p14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4863031" y="2040890"/>
            <a:ext cx="1801789" cy="119496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4"/>
          <p:cNvSpPr txBox="1"/>
          <p:nvPr/>
        </p:nvSpPr>
        <p:spPr>
          <a:xfrm>
            <a:off x="146036" y="4314254"/>
            <a:ext cx="30489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4"/>
          <p:cNvSpPr txBox="1"/>
          <p:nvPr/>
        </p:nvSpPr>
        <p:spPr>
          <a:xfrm>
            <a:off x="2408679" y="4321791"/>
            <a:ext cx="3113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4"/>
          <p:cNvSpPr txBox="1"/>
          <p:nvPr/>
        </p:nvSpPr>
        <p:spPr>
          <a:xfrm>
            <a:off x="4525288" y="4348702"/>
            <a:ext cx="29687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4"/>
          <p:cNvSpPr txBox="1"/>
          <p:nvPr/>
        </p:nvSpPr>
        <p:spPr>
          <a:xfrm>
            <a:off x="139486" y="6044969"/>
            <a:ext cx="3113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4"/>
          <p:cNvSpPr txBox="1"/>
          <p:nvPr/>
        </p:nvSpPr>
        <p:spPr>
          <a:xfrm>
            <a:off x="2340729" y="6044969"/>
            <a:ext cx="30809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4"/>
          <p:cNvSpPr txBox="1"/>
          <p:nvPr/>
        </p:nvSpPr>
        <p:spPr>
          <a:xfrm>
            <a:off x="4525288" y="6069082"/>
            <a:ext cx="27988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4"/>
          <p:cNvSpPr txBox="1"/>
          <p:nvPr/>
        </p:nvSpPr>
        <p:spPr>
          <a:xfrm>
            <a:off x="4435400" y="7880065"/>
            <a:ext cx="26642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4"/>
          <p:cNvSpPr txBox="1"/>
          <p:nvPr/>
        </p:nvSpPr>
        <p:spPr>
          <a:xfrm>
            <a:off x="2352266" y="7903332"/>
            <a:ext cx="3113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4"/>
          <p:cNvSpPr txBox="1"/>
          <p:nvPr/>
        </p:nvSpPr>
        <p:spPr>
          <a:xfrm>
            <a:off x="139486" y="7893897"/>
            <a:ext cx="30328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4"/>
          <p:cNvSpPr txBox="1"/>
          <p:nvPr/>
        </p:nvSpPr>
        <p:spPr>
          <a:xfrm>
            <a:off x="442774" y="4984234"/>
            <a:ext cx="16236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2.8</a:t>
            </a:r>
            <a:endParaRPr/>
          </a:p>
        </p:txBody>
      </p:sp>
      <p:sp>
        <p:nvSpPr>
          <p:cNvPr id="176" name="Google Shape;176;p14"/>
          <p:cNvSpPr txBox="1"/>
          <p:nvPr/>
        </p:nvSpPr>
        <p:spPr>
          <a:xfrm>
            <a:off x="464539" y="6833005"/>
            <a:ext cx="16236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6.9</a:t>
            </a:r>
            <a:endParaRPr/>
          </a:p>
        </p:txBody>
      </p:sp>
      <p:sp>
        <p:nvSpPr>
          <p:cNvPr id="177" name="Google Shape;177;p14"/>
          <p:cNvSpPr txBox="1"/>
          <p:nvPr/>
        </p:nvSpPr>
        <p:spPr>
          <a:xfrm>
            <a:off x="2629293" y="6839806"/>
            <a:ext cx="16236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3.9</a:t>
            </a:r>
            <a:endParaRPr/>
          </a:p>
        </p:txBody>
      </p:sp>
      <p:sp>
        <p:nvSpPr>
          <p:cNvPr id="178" name="Google Shape;178;p14"/>
          <p:cNvSpPr txBox="1"/>
          <p:nvPr/>
        </p:nvSpPr>
        <p:spPr>
          <a:xfrm>
            <a:off x="4789576" y="6837265"/>
            <a:ext cx="16236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22.5</a:t>
            </a:r>
            <a:endParaRPr/>
          </a:p>
        </p:txBody>
      </p:sp>
      <p:sp>
        <p:nvSpPr>
          <p:cNvPr id="179" name="Google Shape;179;p14"/>
          <p:cNvSpPr txBox="1"/>
          <p:nvPr/>
        </p:nvSpPr>
        <p:spPr>
          <a:xfrm>
            <a:off x="2617165" y="4984233"/>
            <a:ext cx="16236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4.7</a:t>
            </a:r>
            <a:endParaRPr/>
          </a:p>
        </p:txBody>
      </p:sp>
      <p:sp>
        <p:nvSpPr>
          <p:cNvPr id="180" name="Google Shape;180;p14"/>
          <p:cNvSpPr txBox="1"/>
          <p:nvPr/>
        </p:nvSpPr>
        <p:spPr>
          <a:xfrm>
            <a:off x="4789576" y="4980105"/>
            <a:ext cx="16236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8.8</a:t>
            </a:r>
            <a:endParaRPr/>
          </a:p>
        </p:txBody>
      </p:sp>
      <p:sp>
        <p:nvSpPr>
          <p:cNvPr id="181" name="Google Shape;181;p14"/>
          <p:cNvSpPr txBox="1"/>
          <p:nvPr/>
        </p:nvSpPr>
        <p:spPr>
          <a:xfrm>
            <a:off x="442774" y="8573757"/>
            <a:ext cx="16236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34.6</a:t>
            </a:r>
            <a:endParaRPr/>
          </a:p>
        </p:txBody>
      </p:sp>
      <p:sp>
        <p:nvSpPr>
          <p:cNvPr id="182" name="Google Shape;182;p14"/>
          <p:cNvSpPr txBox="1"/>
          <p:nvPr/>
        </p:nvSpPr>
        <p:spPr>
          <a:xfrm>
            <a:off x="2595523" y="8573757"/>
            <a:ext cx="16236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89.8</a:t>
            </a:r>
            <a:endParaRPr/>
          </a:p>
        </p:txBody>
      </p:sp>
      <p:sp>
        <p:nvSpPr>
          <p:cNvPr id="183" name="Google Shape;183;p14"/>
          <p:cNvSpPr txBox="1"/>
          <p:nvPr/>
        </p:nvSpPr>
        <p:spPr>
          <a:xfrm>
            <a:off x="4729353" y="8577988"/>
            <a:ext cx="16236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168.9</a:t>
            </a:r>
            <a:endParaRPr/>
          </a:p>
        </p:txBody>
      </p:sp>
      <p:sp>
        <p:nvSpPr>
          <p:cNvPr id="184" name="Google Shape;184;p14"/>
          <p:cNvSpPr txBox="1"/>
          <p:nvPr/>
        </p:nvSpPr>
        <p:spPr>
          <a:xfrm>
            <a:off x="1096313" y="2393698"/>
            <a:ext cx="16236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4.6</a:t>
            </a:r>
            <a:endParaRPr/>
          </a:p>
        </p:txBody>
      </p:sp>
      <p:sp>
        <p:nvSpPr>
          <p:cNvPr id="185" name="Google Shape;185;p14"/>
          <p:cNvSpPr txBox="1"/>
          <p:nvPr/>
        </p:nvSpPr>
        <p:spPr>
          <a:xfrm>
            <a:off x="3029697" y="2396885"/>
            <a:ext cx="16236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2.6</a:t>
            </a:r>
            <a:endParaRPr/>
          </a:p>
        </p:txBody>
      </p:sp>
      <p:sp>
        <p:nvSpPr>
          <p:cNvPr id="186" name="Google Shape;186;p14"/>
          <p:cNvSpPr txBox="1"/>
          <p:nvPr/>
        </p:nvSpPr>
        <p:spPr>
          <a:xfrm>
            <a:off x="4880342" y="2396760"/>
            <a:ext cx="16236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3.9</a:t>
            </a:r>
            <a:endParaRPr/>
          </a:p>
        </p:txBody>
      </p:sp>
      <p:graphicFrame>
        <p:nvGraphicFramePr>
          <p:cNvPr id="187" name="Google Shape;187;p14"/>
          <p:cNvGraphicFramePr/>
          <p:nvPr/>
        </p:nvGraphicFramePr>
        <p:xfrm>
          <a:off x="168292" y="434266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{0B1CEE9F-DC66-4D45-9295-EF97E15F65C3}</a:tableStyleId>
              </a:tblPr>
              <a:tblGrid>
                <a:gridCol w="2165500"/>
                <a:gridCol w="2165500"/>
                <a:gridCol w="2165500"/>
              </a:tblGrid>
              <a:tr h="25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51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5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15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7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5"/>
          <p:cNvSpPr txBox="1"/>
          <p:nvPr>
            <p:ph idx="12" type="sldNum"/>
          </p:nvPr>
        </p:nvSpPr>
        <p:spPr>
          <a:xfrm>
            <a:off x="5357813" y="958012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194" name="Google Shape;194;p15"/>
          <p:cNvGraphicFramePr/>
          <p:nvPr/>
        </p:nvGraphicFramePr>
        <p:xfrm>
          <a:off x="142761" y="90224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{0B1CEE9F-DC66-4D45-9295-EF97E15F65C3}</a:tableStyleId>
              </a:tblPr>
              <a:tblGrid>
                <a:gridCol w="819025"/>
                <a:gridCol w="1917825"/>
                <a:gridCol w="1917825"/>
                <a:gridCol w="1917825"/>
              </a:tblGrid>
              <a:tr h="396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Calculate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Calculate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Calculate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165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Set up the addition with the decimal place aligned vertically.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1.91 + 3.07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2.56 + 1.32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7.81 + 1.07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121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Add the digits in each column.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</a:tbl>
          </a:graphicData>
        </a:graphic>
      </p:graphicFrame>
      <p:sp>
        <p:nvSpPr>
          <p:cNvPr id="195" name="Google Shape;195;p15"/>
          <p:cNvSpPr txBox="1"/>
          <p:nvPr/>
        </p:nvSpPr>
        <p:spPr>
          <a:xfrm>
            <a:off x="1210220" y="598453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4 - I do…</a:t>
            </a:r>
            <a:endParaRPr/>
          </a:p>
        </p:txBody>
      </p:sp>
      <p:sp>
        <p:nvSpPr>
          <p:cNvPr id="196" name="Google Shape;196;p15"/>
          <p:cNvSpPr txBox="1"/>
          <p:nvPr/>
        </p:nvSpPr>
        <p:spPr>
          <a:xfrm>
            <a:off x="5071834" y="598452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6 – You do…</a:t>
            </a:r>
            <a:endParaRPr/>
          </a:p>
        </p:txBody>
      </p:sp>
      <p:sp>
        <p:nvSpPr>
          <p:cNvPr id="197" name="Google Shape;197;p15"/>
          <p:cNvSpPr txBox="1"/>
          <p:nvPr/>
        </p:nvSpPr>
        <p:spPr>
          <a:xfrm>
            <a:off x="3171498" y="579059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5 – We do…</a:t>
            </a:r>
            <a:endParaRPr/>
          </a:p>
        </p:txBody>
      </p:sp>
      <p:sp>
        <p:nvSpPr>
          <p:cNvPr id="198" name="Google Shape;198;p15"/>
          <p:cNvSpPr/>
          <p:nvPr/>
        </p:nvSpPr>
        <p:spPr>
          <a:xfrm>
            <a:off x="139486" y="3827700"/>
            <a:ext cx="1137954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199" name="Google Shape;199;p15"/>
          <p:cNvSpPr/>
          <p:nvPr/>
        </p:nvSpPr>
        <p:spPr>
          <a:xfrm>
            <a:off x="142937" y="142809"/>
            <a:ext cx="6014442" cy="23531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Add decimals with no exchanging (hundredths only)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0" name="Google Shape;200;p15"/>
          <p:cNvGrpSpPr/>
          <p:nvPr/>
        </p:nvGrpSpPr>
        <p:grpSpPr>
          <a:xfrm>
            <a:off x="361470" y="4687748"/>
            <a:ext cx="6142542" cy="1199195"/>
            <a:chOff x="280324" y="4331428"/>
            <a:chExt cx="6142542" cy="1199195"/>
          </a:xfrm>
        </p:grpSpPr>
        <p:pic>
          <p:nvPicPr>
            <p:cNvPr descr="A screenshot of a computer&#10;&#10;Description automatically generated" id="201" name="Google Shape;201;p15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80324" y="4331428"/>
              <a:ext cx="1838834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202" name="Google Shape;202;p15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479979" y="4335654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203" name="Google Shape;203;p15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4621077" y="4331429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A screenshot of a computer&#10;&#10;Description automatically generated" id="204" name="Google Shape;204;p15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988961" y="2040890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205" name="Google Shape;205;p15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2938503" y="2045115"/>
            <a:ext cx="1801789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206" name="Google Shape;206;p15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4863031" y="2040890"/>
            <a:ext cx="1801789" cy="119496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7" name="Google Shape;207;p15"/>
          <p:cNvGrpSpPr/>
          <p:nvPr/>
        </p:nvGrpSpPr>
        <p:grpSpPr>
          <a:xfrm>
            <a:off x="361470" y="6570803"/>
            <a:ext cx="6142542" cy="1199195"/>
            <a:chOff x="280324" y="4331428"/>
            <a:chExt cx="6142542" cy="1199195"/>
          </a:xfrm>
        </p:grpSpPr>
        <p:pic>
          <p:nvPicPr>
            <p:cNvPr descr="A screenshot of a computer&#10;&#10;Description automatically generated" id="208" name="Google Shape;208;p15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80324" y="4331428"/>
              <a:ext cx="1838834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209" name="Google Shape;209;p15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479979" y="4335654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210" name="Google Shape;210;p15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4621077" y="4331429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1" name="Google Shape;211;p15"/>
          <p:cNvSpPr txBox="1"/>
          <p:nvPr/>
        </p:nvSpPr>
        <p:spPr>
          <a:xfrm>
            <a:off x="914737" y="4316659"/>
            <a:ext cx="88036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2.76 + 1.21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5"/>
          <p:cNvSpPr txBox="1"/>
          <p:nvPr/>
        </p:nvSpPr>
        <p:spPr>
          <a:xfrm>
            <a:off x="3095869" y="4335087"/>
            <a:ext cx="88036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0.15 + 2.31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5"/>
          <p:cNvSpPr txBox="1"/>
          <p:nvPr/>
        </p:nvSpPr>
        <p:spPr>
          <a:xfrm>
            <a:off x="5207689" y="4335087"/>
            <a:ext cx="88036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5.23 + 3.65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5"/>
          <p:cNvSpPr txBox="1"/>
          <p:nvPr/>
        </p:nvSpPr>
        <p:spPr>
          <a:xfrm>
            <a:off x="837255" y="6069083"/>
            <a:ext cx="88036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4.82 + 2.17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5" name="Google Shape;215;p15"/>
          <p:cNvGrpSpPr/>
          <p:nvPr/>
        </p:nvGrpSpPr>
        <p:grpSpPr>
          <a:xfrm>
            <a:off x="361470" y="6508335"/>
            <a:ext cx="6142542" cy="1199195"/>
            <a:chOff x="280324" y="4331428"/>
            <a:chExt cx="6142542" cy="1199195"/>
          </a:xfrm>
        </p:grpSpPr>
        <p:pic>
          <p:nvPicPr>
            <p:cNvPr descr="A screenshot of a computer&#10;&#10;Description automatically generated" id="216" name="Google Shape;216;p15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80324" y="4331428"/>
              <a:ext cx="1838834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217" name="Google Shape;217;p15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479979" y="4335654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218" name="Google Shape;218;p15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4621077" y="4331429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9" name="Google Shape;219;p15"/>
          <p:cNvSpPr txBox="1"/>
          <p:nvPr/>
        </p:nvSpPr>
        <p:spPr>
          <a:xfrm>
            <a:off x="3021834" y="6049195"/>
            <a:ext cx="103746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12.16 + 13.21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5"/>
          <p:cNvSpPr txBox="1"/>
          <p:nvPr/>
        </p:nvSpPr>
        <p:spPr>
          <a:xfrm>
            <a:off x="5207689" y="6044970"/>
            <a:ext cx="103746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21.72 + 12.15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1" name="Google Shape;221;p15"/>
          <p:cNvGrpSpPr/>
          <p:nvPr/>
        </p:nvGrpSpPr>
        <p:grpSpPr>
          <a:xfrm>
            <a:off x="361470" y="8300004"/>
            <a:ext cx="6142542" cy="1199195"/>
            <a:chOff x="280324" y="4331428"/>
            <a:chExt cx="6142542" cy="1199195"/>
          </a:xfrm>
        </p:grpSpPr>
        <p:pic>
          <p:nvPicPr>
            <p:cNvPr descr="A screenshot of a computer&#10;&#10;Description automatically generated" id="222" name="Google Shape;222;p15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80324" y="4331428"/>
              <a:ext cx="1838834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223" name="Google Shape;223;p15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479979" y="4335654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224" name="Google Shape;224;p15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4621077" y="4331429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5" name="Google Shape;225;p15"/>
          <p:cNvSpPr txBox="1"/>
          <p:nvPr/>
        </p:nvSpPr>
        <p:spPr>
          <a:xfrm>
            <a:off x="837254" y="7896097"/>
            <a:ext cx="95891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17.13 + 2.72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5"/>
          <p:cNvSpPr txBox="1"/>
          <p:nvPr/>
        </p:nvSpPr>
        <p:spPr>
          <a:xfrm>
            <a:off x="2949541" y="7893897"/>
            <a:ext cx="95891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3.18 + 54.21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5"/>
          <p:cNvSpPr txBox="1"/>
          <p:nvPr/>
        </p:nvSpPr>
        <p:spPr>
          <a:xfrm>
            <a:off x="5091875" y="7867551"/>
            <a:ext cx="111601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123.12 + 54.23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5"/>
          <p:cNvSpPr txBox="1"/>
          <p:nvPr/>
        </p:nvSpPr>
        <p:spPr>
          <a:xfrm>
            <a:off x="146036" y="4314254"/>
            <a:ext cx="30489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5"/>
          <p:cNvSpPr txBox="1"/>
          <p:nvPr/>
        </p:nvSpPr>
        <p:spPr>
          <a:xfrm>
            <a:off x="2408679" y="4321791"/>
            <a:ext cx="3113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5"/>
          <p:cNvSpPr txBox="1"/>
          <p:nvPr/>
        </p:nvSpPr>
        <p:spPr>
          <a:xfrm>
            <a:off x="4525288" y="4348702"/>
            <a:ext cx="29687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5"/>
          <p:cNvSpPr txBox="1"/>
          <p:nvPr/>
        </p:nvSpPr>
        <p:spPr>
          <a:xfrm>
            <a:off x="139486" y="6044969"/>
            <a:ext cx="3113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5"/>
          <p:cNvSpPr txBox="1"/>
          <p:nvPr/>
        </p:nvSpPr>
        <p:spPr>
          <a:xfrm>
            <a:off x="2340729" y="6044969"/>
            <a:ext cx="30809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5"/>
          <p:cNvSpPr txBox="1"/>
          <p:nvPr/>
        </p:nvSpPr>
        <p:spPr>
          <a:xfrm>
            <a:off x="4525288" y="6069082"/>
            <a:ext cx="27988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5"/>
          <p:cNvSpPr txBox="1"/>
          <p:nvPr/>
        </p:nvSpPr>
        <p:spPr>
          <a:xfrm>
            <a:off x="4435400" y="7880065"/>
            <a:ext cx="26642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5"/>
          <p:cNvSpPr txBox="1"/>
          <p:nvPr/>
        </p:nvSpPr>
        <p:spPr>
          <a:xfrm>
            <a:off x="2352266" y="7903332"/>
            <a:ext cx="3113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5"/>
          <p:cNvSpPr txBox="1"/>
          <p:nvPr/>
        </p:nvSpPr>
        <p:spPr>
          <a:xfrm>
            <a:off x="139486" y="7893897"/>
            <a:ext cx="30328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5"/>
          <p:cNvSpPr txBox="1"/>
          <p:nvPr/>
        </p:nvSpPr>
        <p:spPr>
          <a:xfrm>
            <a:off x="2408679" y="3876877"/>
            <a:ext cx="207614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Calculate the following: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5"/>
          <p:cNvSpPr txBox="1"/>
          <p:nvPr/>
        </p:nvSpPr>
        <p:spPr>
          <a:xfrm>
            <a:off x="537691" y="5005357"/>
            <a:ext cx="16236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3.97</a:t>
            </a:r>
            <a:endParaRPr/>
          </a:p>
        </p:txBody>
      </p:sp>
      <p:sp>
        <p:nvSpPr>
          <p:cNvPr id="239" name="Google Shape;239;p15"/>
          <p:cNvSpPr txBox="1"/>
          <p:nvPr/>
        </p:nvSpPr>
        <p:spPr>
          <a:xfrm>
            <a:off x="2719639" y="5000219"/>
            <a:ext cx="16236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2.46</a:t>
            </a:r>
            <a:endParaRPr/>
          </a:p>
        </p:txBody>
      </p:sp>
      <p:sp>
        <p:nvSpPr>
          <p:cNvPr id="240" name="Google Shape;240;p15"/>
          <p:cNvSpPr txBox="1"/>
          <p:nvPr/>
        </p:nvSpPr>
        <p:spPr>
          <a:xfrm>
            <a:off x="4829337" y="5000220"/>
            <a:ext cx="16236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8.88</a:t>
            </a:r>
            <a:endParaRPr/>
          </a:p>
        </p:txBody>
      </p:sp>
      <p:sp>
        <p:nvSpPr>
          <p:cNvPr id="241" name="Google Shape;241;p15"/>
          <p:cNvSpPr txBox="1"/>
          <p:nvPr/>
        </p:nvSpPr>
        <p:spPr>
          <a:xfrm>
            <a:off x="548718" y="6874986"/>
            <a:ext cx="16236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6.99</a:t>
            </a:r>
            <a:endParaRPr/>
          </a:p>
        </p:txBody>
      </p:sp>
      <p:sp>
        <p:nvSpPr>
          <p:cNvPr id="242" name="Google Shape;242;p15"/>
          <p:cNvSpPr txBox="1"/>
          <p:nvPr/>
        </p:nvSpPr>
        <p:spPr>
          <a:xfrm>
            <a:off x="2719639" y="6877809"/>
            <a:ext cx="16236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25.37</a:t>
            </a:r>
            <a:endParaRPr/>
          </a:p>
        </p:txBody>
      </p:sp>
      <p:sp>
        <p:nvSpPr>
          <p:cNvPr id="243" name="Google Shape;243;p15"/>
          <p:cNvSpPr txBox="1"/>
          <p:nvPr/>
        </p:nvSpPr>
        <p:spPr>
          <a:xfrm>
            <a:off x="4863031" y="6877809"/>
            <a:ext cx="16236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33.87</a:t>
            </a:r>
            <a:endParaRPr/>
          </a:p>
        </p:txBody>
      </p:sp>
      <p:sp>
        <p:nvSpPr>
          <p:cNvPr id="244" name="Google Shape;244;p15"/>
          <p:cNvSpPr txBox="1"/>
          <p:nvPr/>
        </p:nvSpPr>
        <p:spPr>
          <a:xfrm>
            <a:off x="543086" y="8575003"/>
            <a:ext cx="16236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19.85</a:t>
            </a:r>
            <a:endParaRPr/>
          </a:p>
        </p:txBody>
      </p:sp>
      <p:sp>
        <p:nvSpPr>
          <p:cNvPr id="245" name="Google Shape;245;p15"/>
          <p:cNvSpPr txBox="1"/>
          <p:nvPr/>
        </p:nvSpPr>
        <p:spPr>
          <a:xfrm>
            <a:off x="2724218" y="8584910"/>
            <a:ext cx="16236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57.39</a:t>
            </a:r>
            <a:endParaRPr/>
          </a:p>
        </p:txBody>
      </p:sp>
      <p:sp>
        <p:nvSpPr>
          <p:cNvPr id="246" name="Google Shape;246;p15"/>
          <p:cNvSpPr txBox="1"/>
          <p:nvPr/>
        </p:nvSpPr>
        <p:spPr>
          <a:xfrm>
            <a:off x="4836038" y="8579823"/>
            <a:ext cx="16236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177.35</a:t>
            </a:r>
            <a:endParaRPr/>
          </a:p>
        </p:txBody>
      </p:sp>
      <p:sp>
        <p:nvSpPr>
          <p:cNvPr id="247" name="Google Shape;247;p15"/>
          <p:cNvSpPr txBox="1"/>
          <p:nvPr/>
        </p:nvSpPr>
        <p:spPr>
          <a:xfrm>
            <a:off x="1039900" y="2393698"/>
            <a:ext cx="16236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4.98</a:t>
            </a:r>
            <a:endParaRPr/>
          </a:p>
        </p:txBody>
      </p:sp>
      <p:sp>
        <p:nvSpPr>
          <p:cNvPr id="248" name="Google Shape;248;p15"/>
          <p:cNvSpPr txBox="1"/>
          <p:nvPr/>
        </p:nvSpPr>
        <p:spPr>
          <a:xfrm>
            <a:off x="3029697" y="2396885"/>
            <a:ext cx="16236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3.88</a:t>
            </a:r>
            <a:endParaRPr/>
          </a:p>
        </p:txBody>
      </p:sp>
      <p:sp>
        <p:nvSpPr>
          <p:cNvPr id="249" name="Google Shape;249;p15"/>
          <p:cNvSpPr txBox="1"/>
          <p:nvPr/>
        </p:nvSpPr>
        <p:spPr>
          <a:xfrm>
            <a:off x="4952090" y="2387725"/>
            <a:ext cx="16236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8.88</a:t>
            </a:r>
            <a:endParaRPr/>
          </a:p>
        </p:txBody>
      </p:sp>
      <p:graphicFrame>
        <p:nvGraphicFramePr>
          <p:cNvPr id="250" name="Google Shape;250;p15"/>
          <p:cNvGraphicFramePr/>
          <p:nvPr/>
        </p:nvGraphicFramePr>
        <p:xfrm>
          <a:off x="168292" y="434266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{0B1CEE9F-DC66-4D45-9295-EF97E15F65C3}</a:tableStyleId>
              </a:tblPr>
              <a:tblGrid>
                <a:gridCol w="2165500"/>
                <a:gridCol w="2165500"/>
                <a:gridCol w="2165500"/>
              </a:tblGrid>
              <a:tr h="25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51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5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15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7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6"/>
          <p:cNvSpPr txBox="1"/>
          <p:nvPr>
            <p:ph idx="12" type="sldNum"/>
          </p:nvPr>
        </p:nvSpPr>
        <p:spPr>
          <a:xfrm>
            <a:off x="5357813" y="958012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257" name="Google Shape;257;p16"/>
          <p:cNvGraphicFramePr/>
          <p:nvPr/>
        </p:nvGraphicFramePr>
        <p:xfrm>
          <a:off x="142761" y="103404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{0B1CEE9F-DC66-4D45-9295-EF97E15F65C3}</a:tableStyleId>
              </a:tblPr>
              <a:tblGrid>
                <a:gridCol w="819025"/>
                <a:gridCol w="1917825"/>
                <a:gridCol w="1917825"/>
                <a:gridCol w="1917825"/>
              </a:tblGrid>
              <a:tr h="376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Calculate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Calculate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Calculate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01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Set up the addition with the decimal place aligned vertically.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0.25 + 1.3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6.1 + 1.24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7.36 + 1.4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107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Add the digits in each column.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</a:tbl>
          </a:graphicData>
        </a:graphic>
      </p:graphicFrame>
      <p:sp>
        <p:nvSpPr>
          <p:cNvPr id="258" name="Google Shape;258;p16"/>
          <p:cNvSpPr txBox="1"/>
          <p:nvPr/>
        </p:nvSpPr>
        <p:spPr>
          <a:xfrm>
            <a:off x="1210220" y="598453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7 - I do…</a:t>
            </a:r>
            <a:endParaRPr/>
          </a:p>
        </p:txBody>
      </p:sp>
      <p:sp>
        <p:nvSpPr>
          <p:cNvPr id="259" name="Google Shape;259;p16"/>
          <p:cNvSpPr txBox="1"/>
          <p:nvPr/>
        </p:nvSpPr>
        <p:spPr>
          <a:xfrm>
            <a:off x="5071834" y="598452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9 – You do…</a:t>
            </a:r>
            <a:endParaRPr/>
          </a:p>
        </p:txBody>
      </p:sp>
      <p:sp>
        <p:nvSpPr>
          <p:cNvPr id="260" name="Google Shape;260;p16"/>
          <p:cNvSpPr txBox="1"/>
          <p:nvPr/>
        </p:nvSpPr>
        <p:spPr>
          <a:xfrm>
            <a:off x="3171498" y="579059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8 – We do…</a:t>
            </a:r>
            <a:endParaRPr/>
          </a:p>
        </p:txBody>
      </p:sp>
      <p:sp>
        <p:nvSpPr>
          <p:cNvPr id="261" name="Google Shape;261;p16"/>
          <p:cNvSpPr/>
          <p:nvPr/>
        </p:nvSpPr>
        <p:spPr>
          <a:xfrm>
            <a:off x="142937" y="142808"/>
            <a:ext cx="4382351" cy="31671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Add decimals with no exchanging (tenths and hundredths mixed)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6"/>
          <p:cNvSpPr/>
          <p:nvPr/>
        </p:nvSpPr>
        <p:spPr>
          <a:xfrm>
            <a:off x="139485" y="3887404"/>
            <a:ext cx="1137954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grpSp>
        <p:nvGrpSpPr>
          <p:cNvPr id="263" name="Google Shape;263;p16"/>
          <p:cNvGrpSpPr/>
          <p:nvPr/>
        </p:nvGrpSpPr>
        <p:grpSpPr>
          <a:xfrm>
            <a:off x="361470" y="4687748"/>
            <a:ext cx="6142542" cy="1199195"/>
            <a:chOff x="280324" y="4331428"/>
            <a:chExt cx="6142542" cy="1199195"/>
          </a:xfrm>
        </p:grpSpPr>
        <p:pic>
          <p:nvPicPr>
            <p:cNvPr descr="A screenshot of a computer&#10;&#10;Description automatically generated" id="264" name="Google Shape;264;p16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80324" y="4331428"/>
              <a:ext cx="1838834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265" name="Google Shape;265;p16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479979" y="4335654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266" name="Google Shape;266;p16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4621077" y="4331429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7" name="Google Shape;267;p16"/>
          <p:cNvGrpSpPr/>
          <p:nvPr/>
        </p:nvGrpSpPr>
        <p:grpSpPr>
          <a:xfrm>
            <a:off x="361470" y="6570803"/>
            <a:ext cx="6142542" cy="1199195"/>
            <a:chOff x="280324" y="4331428"/>
            <a:chExt cx="6142542" cy="1199195"/>
          </a:xfrm>
        </p:grpSpPr>
        <p:pic>
          <p:nvPicPr>
            <p:cNvPr descr="A screenshot of a computer&#10;&#10;Description automatically generated" id="268" name="Google Shape;268;p16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80324" y="4331428"/>
              <a:ext cx="1838834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269" name="Google Shape;269;p16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479979" y="4335654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270" name="Google Shape;270;p16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4621077" y="4331429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1" name="Google Shape;271;p16"/>
          <p:cNvSpPr txBox="1"/>
          <p:nvPr/>
        </p:nvSpPr>
        <p:spPr>
          <a:xfrm>
            <a:off x="914737" y="4316659"/>
            <a:ext cx="80182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2.7 + 1.21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6"/>
          <p:cNvSpPr txBox="1"/>
          <p:nvPr/>
        </p:nvSpPr>
        <p:spPr>
          <a:xfrm>
            <a:off x="3095869" y="4335087"/>
            <a:ext cx="80182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0.16 + 2.3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6"/>
          <p:cNvSpPr txBox="1"/>
          <p:nvPr/>
        </p:nvSpPr>
        <p:spPr>
          <a:xfrm>
            <a:off x="5207689" y="4335087"/>
            <a:ext cx="80182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1.2 + 2.65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6"/>
          <p:cNvSpPr txBox="1"/>
          <p:nvPr/>
        </p:nvSpPr>
        <p:spPr>
          <a:xfrm>
            <a:off x="837255" y="6069083"/>
            <a:ext cx="80182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7.8 + 2.07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5" name="Google Shape;275;p16"/>
          <p:cNvGrpSpPr/>
          <p:nvPr/>
        </p:nvGrpSpPr>
        <p:grpSpPr>
          <a:xfrm>
            <a:off x="361470" y="6508335"/>
            <a:ext cx="6142542" cy="1199195"/>
            <a:chOff x="280324" y="4331428"/>
            <a:chExt cx="6142542" cy="1199195"/>
          </a:xfrm>
        </p:grpSpPr>
        <p:pic>
          <p:nvPicPr>
            <p:cNvPr descr="A screenshot of a computer&#10;&#10;Description automatically generated" id="276" name="Google Shape;276;p16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80324" y="4331428"/>
              <a:ext cx="1838834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277" name="Google Shape;277;p16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479979" y="4335654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278" name="Google Shape;278;p16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4621077" y="4331429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9" name="Google Shape;279;p16"/>
          <p:cNvSpPr txBox="1"/>
          <p:nvPr/>
        </p:nvSpPr>
        <p:spPr>
          <a:xfrm>
            <a:off x="3021834" y="6049195"/>
            <a:ext cx="80182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2.7 + 1.15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6"/>
          <p:cNvSpPr txBox="1"/>
          <p:nvPr/>
        </p:nvSpPr>
        <p:spPr>
          <a:xfrm>
            <a:off x="5207689" y="6044970"/>
            <a:ext cx="80182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8.4 + 1.52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1" name="Google Shape;281;p16"/>
          <p:cNvGrpSpPr/>
          <p:nvPr/>
        </p:nvGrpSpPr>
        <p:grpSpPr>
          <a:xfrm>
            <a:off x="361470" y="8300004"/>
            <a:ext cx="6142542" cy="1199195"/>
            <a:chOff x="280324" y="4331428"/>
            <a:chExt cx="6142542" cy="1199195"/>
          </a:xfrm>
        </p:grpSpPr>
        <p:pic>
          <p:nvPicPr>
            <p:cNvPr descr="A screenshot of a computer&#10;&#10;Description automatically generated" id="282" name="Google Shape;282;p16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80324" y="4331428"/>
              <a:ext cx="1838834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283" name="Google Shape;283;p16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479979" y="4335654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284" name="Google Shape;284;p16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4621077" y="4331429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5" name="Google Shape;285;p16"/>
          <p:cNvSpPr txBox="1"/>
          <p:nvPr/>
        </p:nvSpPr>
        <p:spPr>
          <a:xfrm>
            <a:off x="837254" y="7896097"/>
            <a:ext cx="80182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3.51 + 2.3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6"/>
          <p:cNvSpPr txBox="1"/>
          <p:nvPr/>
        </p:nvSpPr>
        <p:spPr>
          <a:xfrm>
            <a:off x="2949541" y="7893897"/>
            <a:ext cx="95891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12.1 + 14.26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6"/>
          <p:cNvSpPr txBox="1"/>
          <p:nvPr/>
        </p:nvSpPr>
        <p:spPr>
          <a:xfrm>
            <a:off x="5091875" y="7867551"/>
            <a:ext cx="95891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42.1 + 14.23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screenshot of a computer&#10;&#10;Description automatically generated" id="288" name="Google Shape;288;p16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988961" y="2040890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289" name="Google Shape;289;p16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2938503" y="2045115"/>
            <a:ext cx="1801789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290" name="Google Shape;290;p16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4863031" y="2040890"/>
            <a:ext cx="1801789" cy="1194969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16"/>
          <p:cNvSpPr txBox="1"/>
          <p:nvPr/>
        </p:nvSpPr>
        <p:spPr>
          <a:xfrm>
            <a:off x="146036" y="4314254"/>
            <a:ext cx="30489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6"/>
          <p:cNvSpPr txBox="1"/>
          <p:nvPr/>
        </p:nvSpPr>
        <p:spPr>
          <a:xfrm>
            <a:off x="2408679" y="4321791"/>
            <a:ext cx="3113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6"/>
          <p:cNvSpPr txBox="1"/>
          <p:nvPr/>
        </p:nvSpPr>
        <p:spPr>
          <a:xfrm>
            <a:off x="4525288" y="4348702"/>
            <a:ext cx="29687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6"/>
          <p:cNvSpPr txBox="1"/>
          <p:nvPr/>
        </p:nvSpPr>
        <p:spPr>
          <a:xfrm>
            <a:off x="139486" y="6044969"/>
            <a:ext cx="3113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6"/>
          <p:cNvSpPr txBox="1"/>
          <p:nvPr/>
        </p:nvSpPr>
        <p:spPr>
          <a:xfrm>
            <a:off x="2340729" y="6044969"/>
            <a:ext cx="30809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6"/>
          <p:cNvSpPr txBox="1"/>
          <p:nvPr/>
        </p:nvSpPr>
        <p:spPr>
          <a:xfrm>
            <a:off x="4525288" y="6069082"/>
            <a:ext cx="27988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6"/>
          <p:cNvSpPr txBox="1"/>
          <p:nvPr/>
        </p:nvSpPr>
        <p:spPr>
          <a:xfrm>
            <a:off x="4435400" y="7880065"/>
            <a:ext cx="26642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6"/>
          <p:cNvSpPr txBox="1"/>
          <p:nvPr/>
        </p:nvSpPr>
        <p:spPr>
          <a:xfrm>
            <a:off x="2352266" y="7903332"/>
            <a:ext cx="3113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6"/>
          <p:cNvSpPr txBox="1"/>
          <p:nvPr/>
        </p:nvSpPr>
        <p:spPr>
          <a:xfrm>
            <a:off x="139486" y="7893897"/>
            <a:ext cx="30328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6"/>
          <p:cNvSpPr txBox="1"/>
          <p:nvPr/>
        </p:nvSpPr>
        <p:spPr>
          <a:xfrm>
            <a:off x="2408679" y="3876877"/>
            <a:ext cx="207614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Calculate the following: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6"/>
          <p:cNvSpPr txBox="1"/>
          <p:nvPr/>
        </p:nvSpPr>
        <p:spPr>
          <a:xfrm>
            <a:off x="442774" y="4984234"/>
            <a:ext cx="16236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3.91</a:t>
            </a:r>
            <a:endParaRPr/>
          </a:p>
        </p:txBody>
      </p:sp>
      <p:sp>
        <p:nvSpPr>
          <p:cNvPr id="302" name="Google Shape;302;p16"/>
          <p:cNvSpPr txBox="1"/>
          <p:nvPr/>
        </p:nvSpPr>
        <p:spPr>
          <a:xfrm>
            <a:off x="4836137" y="4986154"/>
            <a:ext cx="16236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3.85</a:t>
            </a:r>
            <a:endParaRPr/>
          </a:p>
        </p:txBody>
      </p:sp>
      <p:sp>
        <p:nvSpPr>
          <p:cNvPr id="303" name="Google Shape;303;p16"/>
          <p:cNvSpPr txBox="1"/>
          <p:nvPr/>
        </p:nvSpPr>
        <p:spPr>
          <a:xfrm>
            <a:off x="2711493" y="4974514"/>
            <a:ext cx="16236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2.46</a:t>
            </a:r>
            <a:endParaRPr/>
          </a:p>
        </p:txBody>
      </p:sp>
      <p:sp>
        <p:nvSpPr>
          <p:cNvPr id="304" name="Google Shape;304;p16"/>
          <p:cNvSpPr txBox="1"/>
          <p:nvPr/>
        </p:nvSpPr>
        <p:spPr>
          <a:xfrm>
            <a:off x="507130" y="6899932"/>
            <a:ext cx="16236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9.87</a:t>
            </a:r>
            <a:endParaRPr/>
          </a:p>
        </p:txBody>
      </p:sp>
      <p:sp>
        <p:nvSpPr>
          <p:cNvPr id="305" name="Google Shape;305;p16"/>
          <p:cNvSpPr txBox="1"/>
          <p:nvPr/>
        </p:nvSpPr>
        <p:spPr>
          <a:xfrm>
            <a:off x="2711493" y="6902150"/>
            <a:ext cx="16236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3.85</a:t>
            </a:r>
            <a:endParaRPr/>
          </a:p>
        </p:txBody>
      </p:sp>
      <p:sp>
        <p:nvSpPr>
          <p:cNvPr id="306" name="Google Shape;306;p16"/>
          <p:cNvSpPr txBox="1"/>
          <p:nvPr/>
        </p:nvSpPr>
        <p:spPr>
          <a:xfrm>
            <a:off x="4863031" y="6899932"/>
            <a:ext cx="16236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9.92</a:t>
            </a:r>
            <a:endParaRPr/>
          </a:p>
        </p:txBody>
      </p:sp>
      <p:sp>
        <p:nvSpPr>
          <p:cNvPr id="307" name="Google Shape;307;p16"/>
          <p:cNvSpPr txBox="1"/>
          <p:nvPr/>
        </p:nvSpPr>
        <p:spPr>
          <a:xfrm>
            <a:off x="507130" y="8638424"/>
            <a:ext cx="16236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5.81</a:t>
            </a:r>
            <a:endParaRPr/>
          </a:p>
        </p:txBody>
      </p:sp>
      <p:sp>
        <p:nvSpPr>
          <p:cNvPr id="308" name="Google Shape;308;p16"/>
          <p:cNvSpPr txBox="1"/>
          <p:nvPr/>
        </p:nvSpPr>
        <p:spPr>
          <a:xfrm>
            <a:off x="2745783" y="8638425"/>
            <a:ext cx="16236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26.36</a:t>
            </a:r>
            <a:endParaRPr/>
          </a:p>
        </p:txBody>
      </p:sp>
      <p:sp>
        <p:nvSpPr>
          <p:cNvPr id="309" name="Google Shape;309;p16"/>
          <p:cNvSpPr txBox="1"/>
          <p:nvPr/>
        </p:nvSpPr>
        <p:spPr>
          <a:xfrm>
            <a:off x="4867265" y="8641126"/>
            <a:ext cx="16236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56.33</a:t>
            </a:r>
            <a:endParaRPr/>
          </a:p>
        </p:txBody>
      </p:sp>
      <p:sp>
        <p:nvSpPr>
          <p:cNvPr id="310" name="Google Shape;310;p16"/>
          <p:cNvSpPr txBox="1"/>
          <p:nvPr/>
        </p:nvSpPr>
        <p:spPr>
          <a:xfrm>
            <a:off x="1080604" y="2393698"/>
            <a:ext cx="16236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1.55</a:t>
            </a:r>
            <a:endParaRPr/>
          </a:p>
        </p:txBody>
      </p:sp>
      <p:sp>
        <p:nvSpPr>
          <p:cNvPr id="311" name="Google Shape;311;p16"/>
          <p:cNvSpPr txBox="1"/>
          <p:nvPr/>
        </p:nvSpPr>
        <p:spPr>
          <a:xfrm>
            <a:off x="3029697" y="2396885"/>
            <a:ext cx="16236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7.34</a:t>
            </a:r>
            <a:endParaRPr/>
          </a:p>
        </p:txBody>
      </p:sp>
      <p:sp>
        <p:nvSpPr>
          <p:cNvPr id="312" name="Google Shape;312;p16"/>
          <p:cNvSpPr txBox="1"/>
          <p:nvPr/>
        </p:nvSpPr>
        <p:spPr>
          <a:xfrm>
            <a:off x="4952090" y="2387725"/>
            <a:ext cx="16236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8.76</a:t>
            </a:r>
            <a:endParaRPr/>
          </a:p>
        </p:txBody>
      </p:sp>
      <p:graphicFrame>
        <p:nvGraphicFramePr>
          <p:cNvPr id="313" name="Google Shape;313;p16"/>
          <p:cNvGraphicFramePr/>
          <p:nvPr/>
        </p:nvGraphicFramePr>
        <p:xfrm>
          <a:off x="168292" y="434266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{0B1CEE9F-DC66-4D45-9295-EF97E15F65C3}</a:tableStyleId>
              </a:tblPr>
              <a:tblGrid>
                <a:gridCol w="2165500"/>
                <a:gridCol w="2165500"/>
                <a:gridCol w="2165500"/>
              </a:tblGrid>
              <a:tr h="25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51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5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15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7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7"/>
          <p:cNvSpPr txBox="1"/>
          <p:nvPr>
            <p:ph idx="12" type="sldNum"/>
          </p:nvPr>
        </p:nvSpPr>
        <p:spPr>
          <a:xfrm>
            <a:off x="5357813" y="958012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320" name="Google Shape;320;p17"/>
          <p:cNvGraphicFramePr/>
          <p:nvPr/>
        </p:nvGraphicFramePr>
        <p:xfrm>
          <a:off x="142761" y="65959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{0B1CEE9F-DC66-4D45-9295-EF97E15F65C3}</a:tableStyleId>
              </a:tblPr>
              <a:tblGrid>
                <a:gridCol w="819025"/>
                <a:gridCol w="1917825"/>
                <a:gridCol w="1917825"/>
                <a:gridCol w="1917825"/>
              </a:tblGrid>
              <a:tr h="218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Calculate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Calculate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Calculate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06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Set up the addition with the decimal place aligned vertically.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9.7 + 3.5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18.45 + 14.72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2.7 + 3.4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74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Add the digits in each column.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</a:tbl>
          </a:graphicData>
        </a:graphic>
      </p:graphicFrame>
      <p:sp>
        <p:nvSpPr>
          <p:cNvPr id="321" name="Google Shape;321;p17"/>
          <p:cNvSpPr txBox="1"/>
          <p:nvPr/>
        </p:nvSpPr>
        <p:spPr>
          <a:xfrm>
            <a:off x="1249920" y="395207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10 - I do…</a:t>
            </a:r>
            <a:endParaRPr/>
          </a:p>
        </p:txBody>
      </p:sp>
      <p:sp>
        <p:nvSpPr>
          <p:cNvPr id="322" name="Google Shape;322;p17"/>
          <p:cNvSpPr txBox="1"/>
          <p:nvPr/>
        </p:nvSpPr>
        <p:spPr>
          <a:xfrm>
            <a:off x="4987034" y="405971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12 – You do…</a:t>
            </a:r>
            <a:endParaRPr/>
          </a:p>
        </p:txBody>
      </p:sp>
      <p:sp>
        <p:nvSpPr>
          <p:cNvPr id="323" name="Google Shape;323;p17"/>
          <p:cNvSpPr txBox="1"/>
          <p:nvPr/>
        </p:nvSpPr>
        <p:spPr>
          <a:xfrm>
            <a:off x="3096887" y="413136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11 – We do…</a:t>
            </a:r>
            <a:endParaRPr/>
          </a:p>
        </p:txBody>
      </p:sp>
      <p:sp>
        <p:nvSpPr>
          <p:cNvPr id="324" name="Google Shape;324;p17"/>
          <p:cNvSpPr/>
          <p:nvPr/>
        </p:nvSpPr>
        <p:spPr>
          <a:xfrm>
            <a:off x="142937" y="142808"/>
            <a:ext cx="4382352" cy="2639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Add decimals with exchanging (tenths only or hundredths only)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7"/>
          <p:cNvSpPr/>
          <p:nvPr/>
        </p:nvSpPr>
        <p:spPr>
          <a:xfrm>
            <a:off x="146036" y="3333665"/>
            <a:ext cx="1137954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grpSp>
        <p:nvGrpSpPr>
          <p:cNvPr id="326" name="Google Shape;326;p17"/>
          <p:cNvGrpSpPr/>
          <p:nvPr/>
        </p:nvGrpSpPr>
        <p:grpSpPr>
          <a:xfrm>
            <a:off x="364745" y="4144495"/>
            <a:ext cx="6142542" cy="1199195"/>
            <a:chOff x="280324" y="4331428"/>
            <a:chExt cx="6142542" cy="1199195"/>
          </a:xfrm>
        </p:grpSpPr>
        <p:pic>
          <p:nvPicPr>
            <p:cNvPr descr="A screenshot of a computer&#10;&#10;Description automatically generated" id="327" name="Google Shape;327;p17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80324" y="4331428"/>
              <a:ext cx="1838834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328" name="Google Shape;328;p17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479979" y="4335654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329" name="Google Shape;329;p17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4621077" y="4331429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30" name="Google Shape;330;p17"/>
          <p:cNvGrpSpPr/>
          <p:nvPr/>
        </p:nvGrpSpPr>
        <p:grpSpPr>
          <a:xfrm>
            <a:off x="364745" y="5913250"/>
            <a:ext cx="6142542" cy="1199195"/>
            <a:chOff x="280324" y="4331428"/>
            <a:chExt cx="6142542" cy="1199195"/>
          </a:xfrm>
        </p:grpSpPr>
        <p:pic>
          <p:nvPicPr>
            <p:cNvPr descr="A screenshot of a computer&#10;&#10;Description automatically generated" id="331" name="Google Shape;331;p17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80324" y="4331428"/>
              <a:ext cx="1838834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332" name="Google Shape;332;p17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479979" y="4335654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333" name="Google Shape;333;p17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4621077" y="4331429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4" name="Google Shape;334;p17"/>
          <p:cNvSpPr txBox="1"/>
          <p:nvPr/>
        </p:nvSpPr>
        <p:spPr>
          <a:xfrm>
            <a:off x="918012" y="3773406"/>
            <a:ext cx="72327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4.8 + 3.7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7"/>
          <p:cNvSpPr txBox="1"/>
          <p:nvPr/>
        </p:nvSpPr>
        <p:spPr>
          <a:xfrm>
            <a:off x="3099144" y="3791834"/>
            <a:ext cx="72327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2.3 + 7.8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7"/>
          <p:cNvSpPr txBox="1"/>
          <p:nvPr/>
        </p:nvSpPr>
        <p:spPr>
          <a:xfrm>
            <a:off x="5210964" y="3791834"/>
            <a:ext cx="72327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6.8 + 4.6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7"/>
          <p:cNvSpPr txBox="1"/>
          <p:nvPr/>
        </p:nvSpPr>
        <p:spPr>
          <a:xfrm>
            <a:off x="840530" y="5571950"/>
            <a:ext cx="88036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4.75 + 8.48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8" name="Google Shape;338;p17"/>
          <p:cNvGrpSpPr/>
          <p:nvPr/>
        </p:nvGrpSpPr>
        <p:grpSpPr>
          <a:xfrm>
            <a:off x="364745" y="5850782"/>
            <a:ext cx="6142542" cy="1199195"/>
            <a:chOff x="280324" y="4331428"/>
            <a:chExt cx="6142542" cy="1199195"/>
          </a:xfrm>
        </p:grpSpPr>
        <p:pic>
          <p:nvPicPr>
            <p:cNvPr descr="A screenshot of a computer&#10;&#10;Description automatically generated" id="339" name="Google Shape;339;p17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80324" y="4331428"/>
              <a:ext cx="1838834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340" name="Google Shape;340;p17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479979" y="4335654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341" name="Google Shape;341;p17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4621077" y="4331429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42" name="Google Shape;342;p17"/>
          <p:cNvSpPr txBox="1"/>
          <p:nvPr/>
        </p:nvSpPr>
        <p:spPr>
          <a:xfrm>
            <a:off x="2979055" y="5552062"/>
            <a:ext cx="103746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12.53 + 35.78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7"/>
          <p:cNvSpPr txBox="1"/>
          <p:nvPr/>
        </p:nvSpPr>
        <p:spPr>
          <a:xfrm>
            <a:off x="5210964" y="5547837"/>
            <a:ext cx="103746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51.28 + 32.43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4" name="Google Shape;344;p17"/>
          <p:cNvGrpSpPr/>
          <p:nvPr/>
        </p:nvGrpSpPr>
        <p:grpSpPr>
          <a:xfrm>
            <a:off x="364745" y="7629751"/>
            <a:ext cx="6142542" cy="1199195"/>
            <a:chOff x="280324" y="4331428"/>
            <a:chExt cx="6142542" cy="1199195"/>
          </a:xfrm>
        </p:grpSpPr>
        <p:pic>
          <p:nvPicPr>
            <p:cNvPr descr="A screenshot of a computer&#10;&#10;Description automatically generated" id="345" name="Google Shape;345;p17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80324" y="4331428"/>
              <a:ext cx="1838834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346" name="Google Shape;346;p17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479979" y="4335654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347" name="Google Shape;347;p17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4621077" y="4331429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48" name="Google Shape;348;p17"/>
          <p:cNvSpPr txBox="1"/>
          <p:nvPr/>
        </p:nvSpPr>
        <p:spPr>
          <a:xfrm>
            <a:off x="840529" y="7352844"/>
            <a:ext cx="103746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125.5 + 456.7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7"/>
          <p:cNvSpPr txBox="1"/>
          <p:nvPr/>
        </p:nvSpPr>
        <p:spPr>
          <a:xfrm>
            <a:off x="2902775" y="7360079"/>
            <a:ext cx="111601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346.51 + 52.64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7"/>
          <p:cNvSpPr txBox="1"/>
          <p:nvPr/>
        </p:nvSpPr>
        <p:spPr>
          <a:xfrm>
            <a:off x="5095150" y="7372424"/>
            <a:ext cx="95891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23.6 + 258.5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screenshot of a computer&#10;&#10;Description automatically generated" id="351" name="Google Shape;351;p17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988961" y="1723257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352" name="Google Shape;352;p17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2938503" y="1727482"/>
            <a:ext cx="1801789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353" name="Google Shape;353;p17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4863031" y="1723257"/>
            <a:ext cx="1801789" cy="1194969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17"/>
          <p:cNvSpPr txBox="1"/>
          <p:nvPr/>
        </p:nvSpPr>
        <p:spPr>
          <a:xfrm>
            <a:off x="149311" y="3771001"/>
            <a:ext cx="30489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7"/>
          <p:cNvSpPr txBox="1"/>
          <p:nvPr/>
        </p:nvSpPr>
        <p:spPr>
          <a:xfrm>
            <a:off x="2411954" y="3778538"/>
            <a:ext cx="3113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7"/>
          <p:cNvSpPr txBox="1"/>
          <p:nvPr/>
        </p:nvSpPr>
        <p:spPr>
          <a:xfrm>
            <a:off x="4528563" y="3805449"/>
            <a:ext cx="29687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7"/>
          <p:cNvSpPr txBox="1"/>
          <p:nvPr/>
        </p:nvSpPr>
        <p:spPr>
          <a:xfrm>
            <a:off x="142761" y="5547836"/>
            <a:ext cx="3113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7"/>
          <p:cNvSpPr txBox="1"/>
          <p:nvPr/>
        </p:nvSpPr>
        <p:spPr>
          <a:xfrm>
            <a:off x="2344004" y="5547836"/>
            <a:ext cx="30809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7"/>
          <p:cNvSpPr txBox="1"/>
          <p:nvPr/>
        </p:nvSpPr>
        <p:spPr>
          <a:xfrm>
            <a:off x="4528563" y="5571949"/>
            <a:ext cx="27988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7"/>
          <p:cNvSpPr txBox="1"/>
          <p:nvPr/>
        </p:nvSpPr>
        <p:spPr>
          <a:xfrm>
            <a:off x="4544205" y="7387806"/>
            <a:ext cx="26642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7"/>
          <p:cNvSpPr txBox="1"/>
          <p:nvPr/>
        </p:nvSpPr>
        <p:spPr>
          <a:xfrm>
            <a:off x="2355541" y="7360079"/>
            <a:ext cx="3113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7"/>
          <p:cNvSpPr txBox="1"/>
          <p:nvPr/>
        </p:nvSpPr>
        <p:spPr>
          <a:xfrm>
            <a:off x="142761" y="7350644"/>
            <a:ext cx="30328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7"/>
          <p:cNvSpPr txBox="1"/>
          <p:nvPr/>
        </p:nvSpPr>
        <p:spPr>
          <a:xfrm>
            <a:off x="2411954" y="3333624"/>
            <a:ext cx="207614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Calculate the following: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7"/>
          <p:cNvSpPr txBox="1"/>
          <p:nvPr/>
        </p:nvSpPr>
        <p:spPr>
          <a:xfrm>
            <a:off x="446049" y="4440981"/>
            <a:ext cx="16236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8.5</a:t>
            </a:r>
            <a:endParaRPr/>
          </a:p>
        </p:txBody>
      </p:sp>
      <p:sp>
        <p:nvSpPr>
          <p:cNvPr id="365" name="Google Shape;365;p17"/>
          <p:cNvSpPr txBox="1"/>
          <p:nvPr/>
        </p:nvSpPr>
        <p:spPr>
          <a:xfrm>
            <a:off x="4883617" y="4440981"/>
            <a:ext cx="16236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11.4</a:t>
            </a:r>
            <a:endParaRPr/>
          </a:p>
        </p:txBody>
      </p:sp>
      <p:sp>
        <p:nvSpPr>
          <p:cNvPr id="366" name="Google Shape;366;p17"/>
          <p:cNvSpPr txBox="1"/>
          <p:nvPr/>
        </p:nvSpPr>
        <p:spPr>
          <a:xfrm>
            <a:off x="2743073" y="4463618"/>
            <a:ext cx="16236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10.1</a:t>
            </a:r>
            <a:endParaRPr/>
          </a:p>
        </p:txBody>
      </p:sp>
      <p:sp>
        <p:nvSpPr>
          <p:cNvPr id="367" name="Google Shape;367;p17"/>
          <p:cNvSpPr txBox="1"/>
          <p:nvPr/>
        </p:nvSpPr>
        <p:spPr>
          <a:xfrm>
            <a:off x="527936" y="6242667"/>
            <a:ext cx="16236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13.23</a:t>
            </a:r>
            <a:endParaRPr/>
          </a:p>
        </p:txBody>
      </p:sp>
      <p:sp>
        <p:nvSpPr>
          <p:cNvPr id="368" name="Google Shape;368;p17"/>
          <p:cNvSpPr txBox="1"/>
          <p:nvPr/>
        </p:nvSpPr>
        <p:spPr>
          <a:xfrm>
            <a:off x="2723258" y="6242378"/>
            <a:ext cx="16236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48.31</a:t>
            </a:r>
            <a:endParaRPr/>
          </a:p>
        </p:txBody>
      </p:sp>
      <p:sp>
        <p:nvSpPr>
          <p:cNvPr id="369" name="Google Shape;369;p17"/>
          <p:cNvSpPr txBox="1"/>
          <p:nvPr/>
        </p:nvSpPr>
        <p:spPr>
          <a:xfrm>
            <a:off x="4876135" y="6220798"/>
            <a:ext cx="16236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83.71</a:t>
            </a:r>
            <a:endParaRPr/>
          </a:p>
        </p:txBody>
      </p:sp>
      <p:sp>
        <p:nvSpPr>
          <p:cNvPr id="370" name="Google Shape;370;p17"/>
          <p:cNvSpPr txBox="1"/>
          <p:nvPr/>
        </p:nvSpPr>
        <p:spPr>
          <a:xfrm>
            <a:off x="547425" y="7993050"/>
            <a:ext cx="16236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582.2</a:t>
            </a:r>
            <a:endParaRPr/>
          </a:p>
        </p:txBody>
      </p:sp>
      <p:sp>
        <p:nvSpPr>
          <p:cNvPr id="371" name="Google Shape;371;p17"/>
          <p:cNvSpPr txBox="1"/>
          <p:nvPr/>
        </p:nvSpPr>
        <p:spPr>
          <a:xfrm>
            <a:off x="2743073" y="7996402"/>
            <a:ext cx="16236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399.15</a:t>
            </a:r>
            <a:endParaRPr/>
          </a:p>
        </p:txBody>
      </p:sp>
      <p:sp>
        <p:nvSpPr>
          <p:cNvPr id="372" name="Google Shape;372;p17"/>
          <p:cNvSpPr txBox="1"/>
          <p:nvPr/>
        </p:nvSpPr>
        <p:spPr>
          <a:xfrm>
            <a:off x="4866306" y="7993049"/>
            <a:ext cx="16236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282.1</a:t>
            </a:r>
            <a:endParaRPr/>
          </a:p>
        </p:txBody>
      </p:sp>
      <p:sp>
        <p:nvSpPr>
          <p:cNvPr id="373" name="Google Shape;373;p17"/>
          <p:cNvSpPr txBox="1"/>
          <p:nvPr/>
        </p:nvSpPr>
        <p:spPr>
          <a:xfrm>
            <a:off x="3029697" y="2079252"/>
            <a:ext cx="16236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33.17</a:t>
            </a:r>
            <a:endParaRPr/>
          </a:p>
        </p:txBody>
      </p:sp>
      <p:sp>
        <p:nvSpPr>
          <p:cNvPr id="374" name="Google Shape;374;p17"/>
          <p:cNvSpPr txBox="1"/>
          <p:nvPr/>
        </p:nvSpPr>
        <p:spPr>
          <a:xfrm>
            <a:off x="4881250" y="2072173"/>
            <a:ext cx="16236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6.1</a:t>
            </a:r>
            <a:endParaRPr/>
          </a:p>
        </p:txBody>
      </p:sp>
      <p:sp>
        <p:nvSpPr>
          <p:cNvPr id="375" name="Google Shape;375;p17"/>
          <p:cNvSpPr txBox="1"/>
          <p:nvPr/>
        </p:nvSpPr>
        <p:spPr>
          <a:xfrm>
            <a:off x="1062882" y="2073071"/>
            <a:ext cx="16236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13.2</a:t>
            </a:r>
            <a:endParaRPr/>
          </a:p>
        </p:txBody>
      </p:sp>
      <p:graphicFrame>
        <p:nvGraphicFramePr>
          <p:cNvPr id="376" name="Google Shape;376;p17"/>
          <p:cNvGraphicFramePr/>
          <p:nvPr/>
        </p:nvGraphicFramePr>
        <p:xfrm>
          <a:off x="149311" y="380307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{0B1CEE9F-DC66-4D45-9295-EF97E15F65C3}</a:tableStyleId>
              </a:tblPr>
              <a:tblGrid>
                <a:gridCol w="2165500"/>
                <a:gridCol w="2165500"/>
                <a:gridCol w="2165500"/>
              </a:tblGrid>
              <a:tr h="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50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7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15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8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 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7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1" name="Google Shape;381;p18"/>
          <p:cNvGraphicFramePr/>
          <p:nvPr/>
        </p:nvGraphicFramePr>
        <p:xfrm>
          <a:off x="185161" y="28766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{0B1CEE9F-DC66-4D45-9295-EF97E15F65C3}</a:tableStyleId>
              </a:tblPr>
              <a:tblGrid>
                <a:gridCol w="6487675"/>
              </a:tblGrid>
              <a:tr h="2375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5. Which two number cards add together to make 0.37?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382" name="Google Shape;382;p18"/>
          <p:cNvPicPr preferRelativeResize="0"/>
          <p:nvPr/>
        </p:nvPicPr>
        <p:blipFill rotWithShape="1">
          <a:blip r:embed="rId3">
            <a:alphaModFix/>
          </a:blip>
          <a:srcRect b="0" l="0" r="0" t="44537"/>
          <a:stretch/>
        </p:blipFill>
        <p:spPr>
          <a:xfrm>
            <a:off x="1292320" y="517849"/>
            <a:ext cx="4348130" cy="744614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18"/>
          <p:cNvSpPr/>
          <p:nvPr/>
        </p:nvSpPr>
        <p:spPr>
          <a:xfrm>
            <a:off x="3728342" y="675447"/>
            <a:ext cx="566545" cy="505185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8"/>
          <p:cNvSpPr/>
          <p:nvPr/>
        </p:nvSpPr>
        <p:spPr>
          <a:xfrm>
            <a:off x="4799755" y="711340"/>
            <a:ext cx="566545" cy="505185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screenshot of a computer&#10;&#10;Description automatically generated" id="385" name="Google Shape;385;p18"/>
          <p:cNvPicPr preferRelativeResize="0"/>
          <p:nvPr/>
        </p:nvPicPr>
        <p:blipFill rotWithShape="1">
          <a:blip r:embed="rId4">
            <a:alphaModFix/>
          </a:blip>
          <a:srcRect b="46867" l="37224" r="49991" t="34284"/>
          <a:stretch/>
        </p:blipFill>
        <p:spPr>
          <a:xfrm>
            <a:off x="249329" y="1370314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386" name="Google Shape;386;p18"/>
          <p:cNvPicPr preferRelativeResize="0"/>
          <p:nvPr/>
        </p:nvPicPr>
        <p:blipFill rotWithShape="1">
          <a:blip r:embed="rId4">
            <a:alphaModFix/>
          </a:blip>
          <a:srcRect b="46867" l="37224" r="49991" t="34284"/>
          <a:stretch/>
        </p:blipFill>
        <p:spPr>
          <a:xfrm>
            <a:off x="2056079" y="1370005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387" name="Google Shape;387;p18"/>
          <p:cNvPicPr preferRelativeResize="0"/>
          <p:nvPr/>
        </p:nvPicPr>
        <p:blipFill rotWithShape="1">
          <a:blip r:embed="rId4">
            <a:alphaModFix/>
          </a:blip>
          <a:srcRect b="46867" l="37224" r="49991" t="34284"/>
          <a:stretch/>
        </p:blipFill>
        <p:spPr>
          <a:xfrm>
            <a:off x="3857422" y="1369696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388" name="Google Shape;388;p18"/>
          <p:cNvPicPr preferRelativeResize="0"/>
          <p:nvPr/>
        </p:nvPicPr>
        <p:blipFill rotWithShape="1">
          <a:blip r:embed="rId4">
            <a:alphaModFix/>
          </a:blip>
          <a:srcRect b="46867" l="37224" r="56348" t="34284"/>
          <a:stretch/>
        </p:blipFill>
        <p:spPr>
          <a:xfrm>
            <a:off x="5664172" y="1369387"/>
            <a:ext cx="924611" cy="119496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89" name="Google Shape;389;p18"/>
          <p:cNvGraphicFramePr/>
          <p:nvPr/>
        </p:nvGraphicFramePr>
        <p:xfrm>
          <a:off x="185162" y="286647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{0B1CEE9F-DC66-4D45-9295-EF97E15F65C3}</a:tableStyleId>
              </a:tblPr>
              <a:tblGrid>
                <a:gridCol w="3412650"/>
                <a:gridCol w="3075025"/>
              </a:tblGrid>
              <a:tr h="2327150">
                <a:tc>
                  <a:txBody>
                    <a:bodyPr/>
                    <a:lstStyle/>
                    <a:p>
                      <a:pPr indent="-2286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rabicPeriod" startAt="6"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Three blocks are placed together as shown.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       Find the total length of the three blocks.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A picture containing text, screenshot, line, font&#10;&#10;Description automatically generated" id="390" name="Google Shape;390;p18"/>
          <p:cNvPicPr preferRelativeResize="0"/>
          <p:nvPr/>
        </p:nvPicPr>
        <p:blipFill rotWithShape="1">
          <a:blip r:embed="rId5">
            <a:alphaModFix/>
          </a:blip>
          <a:srcRect b="12047" l="24989" r="0" t="21402"/>
          <a:stretch/>
        </p:blipFill>
        <p:spPr>
          <a:xfrm>
            <a:off x="337814" y="3464079"/>
            <a:ext cx="2975391" cy="15731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391" name="Google Shape;391;p18"/>
          <p:cNvPicPr preferRelativeResize="0"/>
          <p:nvPr/>
        </p:nvPicPr>
        <p:blipFill rotWithShape="1">
          <a:blip r:embed="rId4">
            <a:alphaModFix/>
          </a:blip>
          <a:srcRect b="46867" l="37224" r="49991" t="34284"/>
          <a:stretch/>
        </p:blipFill>
        <p:spPr>
          <a:xfrm>
            <a:off x="4294887" y="3085678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392" name="Google Shape;392;p18"/>
          <p:cNvPicPr preferRelativeResize="0"/>
          <p:nvPr/>
        </p:nvPicPr>
        <p:blipFill rotWithShape="1">
          <a:blip r:embed="rId4">
            <a:alphaModFix/>
          </a:blip>
          <a:srcRect b="46867" l="37224" r="49991" t="34284"/>
          <a:stretch/>
        </p:blipFill>
        <p:spPr>
          <a:xfrm>
            <a:off x="4294887" y="3806115"/>
            <a:ext cx="1831590" cy="1194969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18"/>
          <p:cNvSpPr txBox="1"/>
          <p:nvPr/>
        </p:nvSpPr>
        <p:spPr>
          <a:xfrm>
            <a:off x="4683638" y="3742950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21.9</a:t>
            </a:r>
            <a:endParaRPr/>
          </a:p>
        </p:txBody>
      </p:sp>
      <p:pic>
        <p:nvPicPr>
          <p:cNvPr id="394" name="Google Shape;394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3517" y="5416170"/>
            <a:ext cx="4493694" cy="58204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95" name="Google Shape;395;p18"/>
          <p:cNvGraphicFramePr/>
          <p:nvPr/>
        </p:nvGraphicFramePr>
        <p:xfrm>
          <a:off x="185161" y="539711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{0B1CEE9F-DC66-4D45-9295-EF97E15F65C3}</a:tableStyleId>
              </a:tblPr>
              <a:tblGrid>
                <a:gridCol w="6487675"/>
              </a:tblGrid>
              <a:tr h="4221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7.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A screenshot of a computer&#10;&#10;Description automatically generated" id="396" name="Google Shape;396;p18"/>
          <p:cNvPicPr preferRelativeResize="0"/>
          <p:nvPr/>
        </p:nvPicPr>
        <p:blipFill rotWithShape="1">
          <a:blip r:embed="rId4">
            <a:alphaModFix/>
          </a:blip>
          <a:srcRect b="46867" l="37224" r="49991" t="34284"/>
          <a:stretch/>
        </p:blipFill>
        <p:spPr>
          <a:xfrm>
            <a:off x="249329" y="6112414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397" name="Google Shape;397;p18"/>
          <p:cNvPicPr preferRelativeResize="0"/>
          <p:nvPr/>
        </p:nvPicPr>
        <p:blipFill rotWithShape="1">
          <a:blip r:embed="rId4">
            <a:alphaModFix/>
          </a:blip>
          <a:srcRect b="46867" l="37224" r="49991" t="34284"/>
          <a:stretch/>
        </p:blipFill>
        <p:spPr>
          <a:xfrm>
            <a:off x="2043379" y="6112105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398" name="Google Shape;398;p18"/>
          <p:cNvPicPr preferRelativeResize="0"/>
          <p:nvPr/>
        </p:nvPicPr>
        <p:blipFill rotWithShape="1">
          <a:blip r:embed="rId4">
            <a:alphaModFix/>
          </a:blip>
          <a:srcRect b="46867" l="37224" r="49991" t="34284"/>
          <a:stretch/>
        </p:blipFill>
        <p:spPr>
          <a:xfrm>
            <a:off x="3844722" y="6111796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399" name="Google Shape;399;p18"/>
          <p:cNvPicPr preferRelativeResize="0"/>
          <p:nvPr/>
        </p:nvPicPr>
        <p:blipFill rotWithShape="1">
          <a:blip r:embed="rId4">
            <a:alphaModFix/>
          </a:blip>
          <a:srcRect b="46867" l="37224" r="56348" t="34284"/>
          <a:stretch/>
        </p:blipFill>
        <p:spPr>
          <a:xfrm>
            <a:off x="5651472" y="6111487"/>
            <a:ext cx="924611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400" name="Google Shape;400;p18"/>
          <p:cNvPicPr preferRelativeResize="0"/>
          <p:nvPr/>
        </p:nvPicPr>
        <p:blipFill rotWithShape="1">
          <a:blip r:embed="rId4">
            <a:alphaModFix/>
          </a:blip>
          <a:srcRect b="46867" l="37224" r="49991" t="34284"/>
          <a:stretch/>
        </p:blipFill>
        <p:spPr>
          <a:xfrm>
            <a:off x="249329" y="7306765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401" name="Google Shape;401;p18"/>
          <p:cNvPicPr preferRelativeResize="0"/>
          <p:nvPr/>
        </p:nvPicPr>
        <p:blipFill rotWithShape="1">
          <a:blip r:embed="rId4">
            <a:alphaModFix/>
          </a:blip>
          <a:srcRect b="46867" l="37224" r="49991" t="34284"/>
          <a:stretch/>
        </p:blipFill>
        <p:spPr>
          <a:xfrm>
            <a:off x="2043379" y="7306456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402" name="Google Shape;402;p18"/>
          <p:cNvPicPr preferRelativeResize="0"/>
          <p:nvPr/>
        </p:nvPicPr>
        <p:blipFill rotWithShape="1">
          <a:blip r:embed="rId4">
            <a:alphaModFix/>
          </a:blip>
          <a:srcRect b="46867" l="37224" r="49991" t="34284"/>
          <a:stretch/>
        </p:blipFill>
        <p:spPr>
          <a:xfrm>
            <a:off x="3844722" y="7306147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403" name="Google Shape;403;p18"/>
          <p:cNvPicPr preferRelativeResize="0"/>
          <p:nvPr/>
        </p:nvPicPr>
        <p:blipFill rotWithShape="1">
          <a:blip r:embed="rId4">
            <a:alphaModFix/>
          </a:blip>
          <a:srcRect b="46867" l="37224" r="56348" t="34284"/>
          <a:stretch/>
        </p:blipFill>
        <p:spPr>
          <a:xfrm>
            <a:off x="5651472" y="7305838"/>
            <a:ext cx="924611" cy="1194969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18"/>
          <p:cNvSpPr txBox="1"/>
          <p:nvPr/>
        </p:nvSpPr>
        <p:spPr>
          <a:xfrm>
            <a:off x="2186855" y="6776753"/>
            <a:ext cx="274607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20.25 + 5.25 + 18.36 + 6.14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3.67 + 45.15 + 0.01 + 1.17 etc.</a:t>
            </a:r>
            <a:endParaRPr/>
          </a:p>
        </p:txBody>
      </p:sp>
      <p:pic>
        <p:nvPicPr>
          <p:cNvPr descr="A screenshot of a computer&#10;&#10;Description automatically generated" id="405" name="Google Shape;405;p18"/>
          <p:cNvPicPr preferRelativeResize="0"/>
          <p:nvPr/>
        </p:nvPicPr>
        <p:blipFill rotWithShape="1">
          <a:blip r:embed="rId4">
            <a:alphaModFix/>
          </a:blip>
          <a:srcRect b="46867" l="37224" r="49991" t="34284"/>
          <a:stretch/>
        </p:blipFill>
        <p:spPr>
          <a:xfrm>
            <a:off x="249329" y="8251539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406" name="Google Shape;406;p18"/>
          <p:cNvPicPr preferRelativeResize="0"/>
          <p:nvPr/>
        </p:nvPicPr>
        <p:blipFill rotWithShape="1">
          <a:blip r:embed="rId4">
            <a:alphaModFix/>
          </a:blip>
          <a:srcRect b="46867" l="37224" r="49991" t="34284"/>
          <a:stretch/>
        </p:blipFill>
        <p:spPr>
          <a:xfrm>
            <a:off x="2043379" y="8251230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407" name="Google Shape;407;p18"/>
          <p:cNvPicPr preferRelativeResize="0"/>
          <p:nvPr/>
        </p:nvPicPr>
        <p:blipFill rotWithShape="1">
          <a:blip r:embed="rId4">
            <a:alphaModFix/>
          </a:blip>
          <a:srcRect b="46867" l="37224" r="49991" t="34284"/>
          <a:stretch/>
        </p:blipFill>
        <p:spPr>
          <a:xfrm>
            <a:off x="3844722" y="8250921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408" name="Google Shape;408;p18"/>
          <p:cNvPicPr preferRelativeResize="0"/>
          <p:nvPr/>
        </p:nvPicPr>
        <p:blipFill rotWithShape="1">
          <a:blip r:embed="rId4">
            <a:alphaModFix/>
          </a:blip>
          <a:srcRect b="46867" l="37224" r="56348" t="34284"/>
          <a:stretch/>
        </p:blipFill>
        <p:spPr>
          <a:xfrm>
            <a:off x="5651472" y="8250612"/>
            <a:ext cx="924611" cy="1194969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18"/>
          <p:cNvSpPr txBox="1"/>
          <p:nvPr>
            <p:ph idx="12" type="sldNum"/>
          </p:nvPr>
        </p:nvSpPr>
        <p:spPr>
          <a:xfrm>
            <a:off x="5035967" y="9470153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9"/>
          <p:cNvSpPr txBox="1"/>
          <p:nvPr>
            <p:ph idx="12" type="sldNum"/>
          </p:nvPr>
        </p:nvSpPr>
        <p:spPr>
          <a:xfrm>
            <a:off x="5357813" y="958012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416" name="Google Shape;416;p19"/>
          <p:cNvGraphicFramePr/>
          <p:nvPr/>
        </p:nvGraphicFramePr>
        <p:xfrm>
          <a:off x="142761" y="72826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{0B1CEE9F-DC66-4D45-9295-EF97E15F65C3}</a:tableStyleId>
              </a:tblPr>
              <a:tblGrid>
                <a:gridCol w="819025"/>
                <a:gridCol w="1917825"/>
                <a:gridCol w="1917825"/>
                <a:gridCol w="1917825"/>
              </a:tblGrid>
              <a:tr h="255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Calculate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Calculate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Calculate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176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Set up the addition with the decimal place aligned vertically.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121.9 + 19.25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45.87 + 3.8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23.4 + 94.56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31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Add the digits in each column.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</a:tbl>
          </a:graphicData>
        </a:graphic>
      </p:graphicFrame>
      <p:sp>
        <p:nvSpPr>
          <p:cNvPr id="417" name="Google Shape;417;p19"/>
          <p:cNvSpPr txBox="1"/>
          <p:nvPr/>
        </p:nvSpPr>
        <p:spPr>
          <a:xfrm>
            <a:off x="1254609" y="468467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13 - I do…</a:t>
            </a:r>
            <a:endParaRPr/>
          </a:p>
        </p:txBody>
      </p:sp>
      <p:sp>
        <p:nvSpPr>
          <p:cNvPr id="418" name="Google Shape;418;p19"/>
          <p:cNvSpPr txBox="1"/>
          <p:nvPr/>
        </p:nvSpPr>
        <p:spPr>
          <a:xfrm>
            <a:off x="5021414" y="467980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15 – You do…</a:t>
            </a:r>
            <a:endParaRPr/>
          </a:p>
        </p:txBody>
      </p:sp>
      <p:sp>
        <p:nvSpPr>
          <p:cNvPr id="419" name="Google Shape;419;p19"/>
          <p:cNvSpPr txBox="1"/>
          <p:nvPr/>
        </p:nvSpPr>
        <p:spPr>
          <a:xfrm>
            <a:off x="3154535" y="465868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14 – We do…</a:t>
            </a:r>
            <a:endParaRPr/>
          </a:p>
        </p:txBody>
      </p:sp>
      <p:sp>
        <p:nvSpPr>
          <p:cNvPr id="420" name="Google Shape;420;p19"/>
          <p:cNvSpPr/>
          <p:nvPr/>
        </p:nvSpPr>
        <p:spPr>
          <a:xfrm>
            <a:off x="142761" y="3365921"/>
            <a:ext cx="1137954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421" name="Google Shape;421;p19"/>
          <p:cNvSpPr/>
          <p:nvPr/>
        </p:nvSpPr>
        <p:spPr>
          <a:xfrm>
            <a:off x="142937" y="142808"/>
            <a:ext cx="3286063" cy="24565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Add any pair of decimals including exchanging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22" name="Google Shape;422;p19"/>
          <p:cNvGrpSpPr/>
          <p:nvPr/>
        </p:nvGrpSpPr>
        <p:grpSpPr>
          <a:xfrm>
            <a:off x="361470" y="4208290"/>
            <a:ext cx="6142542" cy="1199195"/>
            <a:chOff x="280324" y="4331428"/>
            <a:chExt cx="6142542" cy="1199195"/>
          </a:xfrm>
        </p:grpSpPr>
        <p:pic>
          <p:nvPicPr>
            <p:cNvPr descr="A screenshot of a computer&#10;&#10;Description automatically generated" id="423" name="Google Shape;423;p19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80324" y="4331428"/>
              <a:ext cx="1838834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424" name="Google Shape;424;p19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479979" y="4335654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425" name="Google Shape;425;p19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4621077" y="4331429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26" name="Google Shape;426;p19"/>
          <p:cNvGrpSpPr/>
          <p:nvPr/>
        </p:nvGrpSpPr>
        <p:grpSpPr>
          <a:xfrm>
            <a:off x="361470" y="6157676"/>
            <a:ext cx="6142542" cy="1199195"/>
            <a:chOff x="280324" y="4331428"/>
            <a:chExt cx="6142542" cy="1199195"/>
          </a:xfrm>
        </p:grpSpPr>
        <p:pic>
          <p:nvPicPr>
            <p:cNvPr descr="A screenshot of a computer&#10;&#10;Description automatically generated" id="427" name="Google Shape;427;p19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80324" y="4331428"/>
              <a:ext cx="1838834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428" name="Google Shape;428;p19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479979" y="4335654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429" name="Google Shape;429;p19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4621077" y="4331429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30" name="Google Shape;430;p19"/>
          <p:cNvSpPr txBox="1"/>
          <p:nvPr/>
        </p:nvSpPr>
        <p:spPr>
          <a:xfrm>
            <a:off x="914737" y="3742832"/>
            <a:ext cx="88036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19.76 + 7.5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9"/>
          <p:cNvSpPr txBox="1"/>
          <p:nvPr/>
        </p:nvSpPr>
        <p:spPr>
          <a:xfrm>
            <a:off x="3095869" y="3761260"/>
            <a:ext cx="88036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76.4 + 6.27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9"/>
          <p:cNvSpPr txBox="1"/>
          <p:nvPr/>
        </p:nvSpPr>
        <p:spPr>
          <a:xfrm>
            <a:off x="5207689" y="3761260"/>
            <a:ext cx="88036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2.38 + 65.9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9"/>
          <p:cNvSpPr txBox="1"/>
          <p:nvPr/>
        </p:nvSpPr>
        <p:spPr>
          <a:xfrm>
            <a:off x="887605" y="5670000"/>
            <a:ext cx="88036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8.92 + 38.9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34" name="Google Shape;434;p19"/>
          <p:cNvGrpSpPr/>
          <p:nvPr/>
        </p:nvGrpSpPr>
        <p:grpSpPr>
          <a:xfrm>
            <a:off x="361470" y="6095208"/>
            <a:ext cx="6142542" cy="1199195"/>
            <a:chOff x="280324" y="4331428"/>
            <a:chExt cx="6142542" cy="1199195"/>
          </a:xfrm>
        </p:grpSpPr>
        <p:pic>
          <p:nvPicPr>
            <p:cNvPr descr="A screenshot of a computer&#10;&#10;Description automatically generated" id="435" name="Google Shape;435;p19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80324" y="4331428"/>
              <a:ext cx="1838834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436" name="Google Shape;436;p19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479979" y="4335654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437" name="Google Shape;437;p19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4621077" y="4331429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38" name="Google Shape;438;p19"/>
          <p:cNvSpPr txBox="1"/>
          <p:nvPr/>
        </p:nvSpPr>
        <p:spPr>
          <a:xfrm>
            <a:off x="3072184" y="5650112"/>
            <a:ext cx="88036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82.58 + 1.8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9"/>
          <p:cNvSpPr txBox="1"/>
          <p:nvPr/>
        </p:nvSpPr>
        <p:spPr>
          <a:xfrm>
            <a:off x="5258039" y="5645887"/>
            <a:ext cx="103746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145.3 + 89.45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40" name="Google Shape;440;p19"/>
          <p:cNvGrpSpPr/>
          <p:nvPr/>
        </p:nvGrpSpPr>
        <p:grpSpPr>
          <a:xfrm>
            <a:off x="361470" y="7983069"/>
            <a:ext cx="6142542" cy="1199195"/>
            <a:chOff x="280324" y="4331428"/>
            <a:chExt cx="6142542" cy="1199195"/>
          </a:xfrm>
        </p:grpSpPr>
        <p:pic>
          <p:nvPicPr>
            <p:cNvPr descr="A screenshot of a computer&#10;&#10;Description automatically generated" id="441" name="Google Shape;441;p19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80324" y="4331428"/>
              <a:ext cx="1838834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442" name="Google Shape;442;p19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479979" y="4335654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443" name="Google Shape;443;p19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4621077" y="4331429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44" name="Google Shape;444;p19"/>
          <p:cNvSpPr txBox="1"/>
          <p:nvPr/>
        </p:nvSpPr>
        <p:spPr>
          <a:xfrm>
            <a:off x="833828" y="7564286"/>
            <a:ext cx="103746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83.4 + 185.32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9"/>
          <p:cNvSpPr txBox="1"/>
          <p:nvPr/>
        </p:nvSpPr>
        <p:spPr>
          <a:xfrm>
            <a:off x="2946115" y="7562086"/>
            <a:ext cx="95891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62.3 + 82.68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9"/>
          <p:cNvSpPr txBox="1"/>
          <p:nvPr/>
        </p:nvSpPr>
        <p:spPr>
          <a:xfrm>
            <a:off x="5232827" y="7535740"/>
            <a:ext cx="111601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1452.3 + 78.25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screenshot of a computer&#10;&#10;Description automatically generated" id="447" name="Google Shape;447;p19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988961" y="1735116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448" name="Google Shape;448;p19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2938503" y="1739341"/>
            <a:ext cx="1801789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449" name="Google Shape;449;p19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4863031" y="1735116"/>
            <a:ext cx="1801789" cy="1194969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19"/>
          <p:cNvSpPr txBox="1"/>
          <p:nvPr/>
        </p:nvSpPr>
        <p:spPr>
          <a:xfrm>
            <a:off x="146036" y="3740427"/>
            <a:ext cx="30489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9"/>
          <p:cNvSpPr txBox="1"/>
          <p:nvPr/>
        </p:nvSpPr>
        <p:spPr>
          <a:xfrm>
            <a:off x="2408679" y="3747964"/>
            <a:ext cx="3113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9"/>
          <p:cNvSpPr txBox="1"/>
          <p:nvPr/>
        </p:nvSpPr>
        <p:spPr>
          <a:xfrm>
            <a:off x="4525288" y="3774875"/>
            <a:ext cx="29687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9"/>
          <p:cNvSpPr txBox="1"/>
          <p:nvPr/>
        </p:nvSpPr>
        <p:spPr>
          <a:xfrm>
            <a:off x="189836" y="5645886"/>
            <a:ext cx="3113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9"/>
          <p:cNvSpPr txBox="1"/>
          <p:nvPr/>
        </p:nvSpPr>
        <p:spPr>
          <a:xfrm>
            <a:off x="2391079" y="5645886"/>
            <a:ext cx="30809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9"/>
          <p:cNvSpPr txBox="1"/>
          <p:nvPr/>
        </p:nvSpPr>
        <p:spPr>
          <a:xfrm>
            <a:off x="4575638" y="5669999"/>
            <a:ext cx="27988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9"/>
          <p:cNvSpPr txBox="1"/>
          <p:nvPr/>
        </p:nvSpPr>
        <p:spPr>
          <a:xfrm>
            <a:off x="4576352" y="7548254"/>
            <a:ext cx="26642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9"/>
          <p:cNvSpPr txBox="1"/>
          <p:nvPr/>
        </p:nvSpPr>
        <p:spPr>
          <a:xfrm>
            <a:off x="2348840" y="7571521"/>
            <a:ext cx="3113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9"/>
          <p:cNvSpPr txBox="1"/>
          <p:nvPr/>
        </p:nvSpPr>
        <p:spPr>
          <a:xfrm>
            <a:off x="136060" y="7562086"/>
            <a:ext cx="30328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9"/>
          <p:cNvSpPr txBox="1"/>
          <p:nvPr/>
        </p:nvSpPr>
        <p:spPr>
          <a:xfrm>
            <a:off x="2514929" y="3383865"/>
            <a:ext cx="180325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8. Calculate the following: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9"/>
          <p:cNvSpPr txBox="1"/>
          <p:nvPr/>
        </p:nvSpPr>
        <p:spPr>
          <a:xfrm>
            <a:off x="442774" y="4504776"/>
            <a:ext cx="16236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27.26</a:t>
            </a:r>
            <a:endParaRPr/>
          </a:p>
        </p:txBody>
      </p:sp>
      <p:sp>
        <p:nvSpPr>
          <p:cNvPr id="461" name="Google Shape;461;p19"/>
          <p:cNvSpPr txBox="1"/>
          <p:nvPr/>
        </p:nvSpPr>
        <p:spPr>
          <a:xfrm>
            <a:off x="2711221" y="4504891"/>
            <a:ext cx="16236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82.67</a:t>
            </a:r>
            <a:endParaRPr/>
          </a:p>
        </p:txBody>
      </p:sp>
      <p:sp>
        <p:nvSpPr>
          <p:cNvPr id="462" name="Google Shape;462;p19"/>
          <p:cNvSpPr txBox="1"/>
          <p:nvPr/>
        </p:nvSpPr>
        <p:spPr>
          <a:xfrm>
            <a:off x="4880342" y="4504890"/>
            <a:ext cx="16236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68.28</a:t>
            </a:r>
            <a:endParaRPr/>
          </a:p>
        </p:txBody>
      </p:sp>
      <p:sp>
        <p:nvSpPr>
          <p:cNvPr id="463" name="Google Shape;463;p19"/>
          <p:cNvSpPr txBox="1"/>
          <p:nvPr/>
        </p:nvSpPr>
        <p:spPr>
          <a:xfrm>
            <a:off x="574325" y="6443191"/>
            <a:ext cx="16236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47.82</a:t>
            </a:r>
            <a:endParaRPr/>
          </a:p>
        </p:txBody>
      </p:sp>
      <p:sp>
        <p:nvSpPr>
          <p:cNvPr id="464" name="Google Shape;464;p19"/>
          <p:cNvSpPr txBox="1"/>
          <p:nvPr/>
        </p:nvSpPr>
        <p:spPr>
          <a:xfrm>
            <a:off x="2742985" y="6443192"/>
            <a:ext cx="16236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84.38</a:t>
            </a:r>
            <a:endParaRPr/>
          </a:p>
        </p:txBody>
      </p:sp>
      <p:sp>
        <p:nvSpPr>
          <p:cNvPr id="465" name="Google Shape;465;p19"/>
          <p:cNvSpPr txBox="1"/>
          <p:nvPr/>
        </p:nvSpPr>
        <p:spPr>
          <a:xfrm>
            <a:off x="4872860" y="6448251"/>
            <a:ext cx="16236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234.75</a:t>
            </a:r>
            <a:endParaRPr/>
          </a:p>
        </p:txBody>
      </p:sp>
      <p:sp>
        <p:nvSpPr>
          <p:cNvPr id="466" name="Google Shape;466;p19"/>
          <p:cNvSpPr txBox="1"/>
          <p:nvPr/>
        </p:nvSpPr>
        <p:spPr>
          <a:xfrm>
            <a:off x="543086" y="8322305"/>
            <a:ext cx="16236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268.72</a:t>
            </a:r>
            <a:endParaRPr/>
          </a:p>
        </p:txBody>
      </p:sp>
      <p:sp>
        <p:nvSpPr>
          <p:cNvPr id="467" name="Google Shape;467;p19"/>
          <p:cNvSpPr txBox="1"/>
          <p:nvPr/>
        </p:nvSpPr>
        <p:spPr>
          <a:xfrm>
            <a:off x="2747900" y="8324191"/>
            <a:ext cx="16236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144.98</a:t>
            </a:r>
            <a:endParaRPr/>
          </a:p>
        </p:txBody>
      </p:sp>
      <p:sp>
        <p:nvSpPr>
          <p:cNvPr id="468" name="Google Shape;468;p19"/>
          <p:cNvSpPr txBox="1"/>
          <p:nvPr/>
        </p:nvSpPr>
        <p:spPr>
          <a:xfrm>
            <a:off x="4863031" y="8324191"/>
            <a:ext cx="16236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1530.55</a:t>
            </a:r>
            <a:endParaRPr/>
          </a:p>
        </p:txBody>
      </p:sp>
      <p:sp>
        <p:nvSpPr>
          <p:cNvPr id="469" name="Google Shape;469;p19"/>
          <p:cNvSpPr txBox="1"/>
          <p:nvPr/>
        </p:nvSpPr>
        <p:spPr>
          <a:xfrm>
            <a:off x="3029697" y="2091111"/>
            <a:ext cx="16236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49.67</a:t>
            </a:r>
            <a:endParaRPr/>
          </a:p>
        </p:txBody>
      </p:sp>
      <p:sp>
        <p:nvSpPr>
          <p:cNvPr id="470" name="Google Shape;470;p19"/>
          <p:cNvSpPr txBox="1"/>
          <p:nvPr/>
        </p:nvSpPr>
        <p:spPr>
          <a:xfrm>
            <a:off x="1119315" y="2079999"/>
            <a:ext cx="16236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141.15</a:t>
            </a:r>
            <a:endParaRPr/>
          </a:p>
        </p:txBody>
      </p:sp>
      <p:sp>
        <p:nvSpPr>
          <p:cNvPr id="471" name="Google Shape;471;p19"/>
          <p:cNvSpPr txBox="1"/>
          <p:nvPr/>
        </p:nvSpPr>
        <p:spPr>
          <a:xfrm>
            <a:off x="4952090" y="2091110"/>
            <a:ext cx="16236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117.96</a:t>
            </a:r>
            <a:endParaRPr/>
          </a:p>
        </p:txBody>
      </p:sp>
      <p:graphicFrame>
        <p:nvGraphicFramePr>
          <p:cNvPr id="472" name="Google Shape;472;p19"/>
          <p:cNvGraphicFramePr/>
          <p:nvPr/>
        </p:nvGraphicFramePr>
        <p:xfrm>
          <a:off x="168292" y="376884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{0B1CEE9F-DC66-4D45-9295-EF97E15F65C3}</a:tableStyleId>
              </a:tblPr>
              <a:tblGrid>
                <a:gridCol w="2165500"/>
                <a:gridCol w="2165500"/>
                <a:gridCol w="2165500"/>
              </a:tblGrid>
              <a:tr h="311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80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1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88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1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89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7" name="Google Shape;477;p20"/>
          <p:cNvGraphicFramePr/>
          <p:nvPr/>
        </p:nvGraphicFramePr>
        <p:xfrm>
          <a:off x="185161" y="17537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{0B1CEE9F-DC66-4D45-9295-EF97E15F65C3}</a:tableStyleId>
              </a:tblPr>
              <a:tblGrid>
                <a:gridCol w="3793275"/>
                <a:gridCol w="2614875"/>
              </a:tblGrid>
              <a:tr h="1669475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9. Hannah cycles each day.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1416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i) What is the total distance she travels at the weekend?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6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ii) What is the total distance travelled across all four days?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A picture containing text, screenshot, font, number&#10;&#10;Description automatically generated" id="478" name="Google Shape;478;p20"/>
          <p:cNvPicPr preferRelativeResize="0"/>
          <p:nvPr/>
        </p:nvPicPr>
        <p:blipFill rotWithShape="1">
          <a:blip r:embed="rId3">
            <a:alphaModFix/>
          </a:blip>
          <a:srcRect b="25291" l="33237" r="32528" t="20131"/>
          <a:stretch/>
        </p:blipFill>
        <p:spPr>
          <a:xfrm>
            <a:off x="2214944" y="411245"/>
            <a:ext cx="2348577" cy="13908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479" name="Google Shape;479;p20"/>
          <p:cNvPicPr preferRelativeResize="0"/>
          <p:nvPr/>
        </p:nvPicPr>
        <p:blipFill rotWithShape="1">
          <a:blip r:embed="rId4">
            <a:alphaModFix/>
          </a:blip>
          <a:srcRect b="46867" l="37224" r="49991" t="34284"/>
          <a:stretch/>
        </p:blipFill>
        <p:spPr>
          <a:xfrm>
            <a:off x="4389887" y="1948444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480" name="Google Shape;480;p20"/>
          <p:cNvPicPr preferRelativeResize="0"/>
          <p:nvPr/>
        </p:nvPicPr>
        <p:blipFill rotWithShape="1">
          <a:blip r:embed="rId4">
            <a:alphaModFix/>
          </a:blip>
          <a:srcRect b="46867" l="37224" r="49991" t="34284"/>
          <a:stretch/>
        </p:blipFill>
        <p:spPr>
          <a:xfrm>
            <a:off x="4389887" y="3322685"/>
            <a:ext cx="1838834" cy="119496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20"/>
          <p:cNvSpPr txBox="1"/>
          <p:nvPr/>
        </p:nvSpPr>
        <p:spPr>
          <a:xfrm>
            <a:off x="4830898" y="2345873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5.96</a:t>
            </a:r>
            <a:endParaRPr/>
          </a:p>
        </p:txBody>
      </p:sp>
      <p:sp>
        <p:nvSpPr>
          <p:cNvPr id="482" name="Google Shape;482;p20"/>
          <p:cNvSpPr txBox="1"/>
          <p:nvPr/>
        </p:nvSpPr>
        <p:spPr>
          <a:xfrm>
            <a:off x="4830898" y="3720114"/>
            <a:ext cx="956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11.7</a:t>
            </a:r>
            <a:endParaRPr/>
          </a:p>
        </p:txBody>
      </p:sp>
      <p:graphicFrame>
        <p:nvGraphicFramePr>
          <p:cNvPr id="483" name="Google Shape;483;p20"/>
          <p:cNvGraphicFramePr/>
          <p:nvPr/>
        </p:nvGraphicFramePr>
        <p:xfrm>
          <a:off x="185160" y="477582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{0B1CEE9F-DC66-4D45-9295-EF97E15F65C3}</a:tableStyleId>
              </a:tblPr>
              <a:tblGrid>
                <a:gridCol w="2493875"/>
                <a:gridCol w="3914275"/>
              </a:tblGrid>
              <a:tr h="1669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10. Grace is working out 12.4 + 3.18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Can you spot any mistakes?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A picture containing text, screenshot, font, line&#10;&#10;Description automatically generated" id="484" name="Google Shape;484;p20"/>
          <p:cNvPicPr preferRelativeResize="0"/>
          <p:nvPr/>
        </p:nvPicPr>
        <p:blipFill rotWithShape="1">
          <a:blip r:embed="rId5">
            <a:alphaModFix/>
          </a:blip>
          <a:srcRect b="0" l="58858" r="0" t="0"/>
          <a:stretch/>
        </p:blipFill>
        <p:spPr>
          <a:xfrm>
            <a:off x="671123" y="5244671"/>
            <a:ext cx="1463609" cy="1168538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p20"/>
          <p:cNvSpPr txBox="1"/>
          <p:nvPr/>
        </p:nvSpPr>
        <p:spPr>
          <a:xfrm>
            <a:off x="3429000" y="5551941"/>
            <a:ext cx="326748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The columns are lined up incorrectly.</a:t>
            </a:r>
            <a:endParaRPr/>
          </a:p>
        </p:txBody>
      </p:sp>
      <p:graphicFrame>
        <p:nvGraphicFramePr>
          <p:cNvPr id="486" name="Google Shape;486;p20"/>
          <p:cNvGraphicFramePr/>
          <p:nvPr/>
        </p:nvGraphicFramePr>
        <p:xfrm>
          <a:off x="185160" y="653302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{0B1CEE9F-DC66-4D45-9295-EF97E15F65C3}</a:tableStyleId>
              </a:tblPr>
              <a:tblGrid>
                <a:gridCol w="6408150"/>
              </a:tblGrid>
              <a:tr h="2961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11.  </a:t>
                      </a: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Write the following with a &gt;, &lt; or = symbol to make the statements correct.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2000">
                        <a:solidFill>
                          <a:schemeClr val="dk1"/>
                        </a:solidFill>
                      </a:endParaRPr>
                    </a:p>
                    <a:p>
                      <a:pPr indent="-228600" lvl="0" marL="22860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AutoNum type="alphaLcParenR"/>
                      </a:pPr>
                      <a:r>
                        <a:rPr b="0" lang="en-GB" sz="2000">
                          <a:solidFill>
                            <a:schemeClr val="dk1"/>
                          </a:solidFill>
                        </a:rPr>
                        <a:t>14.5 + 26.8             23.4 + 17.9</a:t>
                      </a:r>
                      <a:endParaRPr/>
                    </a:p>
                    <a:p>
                      <a:pPr indent="-101600" lvl="0" marL="22860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0" sz="2000">
                        <a:solidFill>
                          <a:schemeClr val="dk1"/>
                        </a:solidFill>
                      </a:endParaRPr>
                    </a:p>
                    <a:p>
                      <a:pPr indent="-228600" lvl="0" marL="22860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AutoNum type="alphaLcParenR"/>
                      </a:pPr>
                      <a:r>
                        <a:rPr b="0" lang="en-GB" sz="2000">
                          <a:solidFill>
                            <a:schemeClr val="dk1"/>
                          </a:solidFill>
                        </a:rPr>
                        <a:t>58.5 + 3.45             32.87 + 28.3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87" name="Google Shape;487;p20"/>
          <p:cNvSpPr/>
          <p:nvPr/>
        </p:nvSpPr>
        <p:spPr>
          <a:xfrm>
            <a:off x="3336853" y="7050277"/>
            <a:ext cx="291531" cy="284741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0"/>
          <p:cNvSpPr/>
          <p:nvPr/>
        </p:nvSpPr>
        <p:spPr>
          <a:xfrm>
            <a:off x="3335546" y="7676561"/>
            <a:ext cx="291531" cy="284741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0"/>
          <p:cNvSpPr txBox="1"/>
          <p:nvPr/>
        </p:nvSpPr>
        <p:spPr>
          <a:xfrm>
            <a:off x="3260247" y="7526211"/>
            <a:ext cx="46584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/>
          </a:p>
        </p:txBody>
      </p:sp>
      <p:sp>
        <p:nvSpPr>
          <p:cNvPr id="490" name="Google Shape;490;p20"/>
          <p:cNvSpPr txBox="1"/>
          <p:nvPr/>
        </p:nvSpPr>
        <p:spPr>
          <a:xfrm>
            <a:off x="3248390" y="6923090"/>
            <a:ext cx="46584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endParaRPr/>
          </a:p>
        </p:txBody>
      </p:sp>
      <p:sp>
        <p:nvSpPr>
          <p:cNvPr id="491" name="Google Shape;491;p20"/>
          <p:cNvSpPr txBox="1"/>
          <p:nvPr>
            <p:ph idx="12" type="sldNum"/>
          </p:nvPr>
        </p:nvSpPr>
        <p:spPr>
          <a:xfrm>
            <a:off x="5129790" y="9466928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descr="A screenshot of a computer&#10;&#10;Description automatically generated" id="492" name="Google Shape;492;p20"/>
          <p:cNvPicPr preferRelativeResize="0"/>
          <p:nvPr/>
        </p:nvPicPr>
        <p:blipFill rotWithShape="1">
          <a:blip r:embed="rId4">
            <a:alphaModFix/>
          </a:blip>
          <a:srcRect b="46867" l="37224" r="49991" t="34284"/>
          <a:stretch/>
        </p:blipFill>
        <p:spPr>
          <a:xfrm>
            <a:off x="221766" y="8113599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493" name="Google Shape;493;p20"/>
          <p:cNvPicPr preferRelativeResize="0"/>
          <p:nvPr/>
        </p:nvPicPr>
        <p:blipFill rotWithShape="1">
          <a:blip r:embed="rId4">
            <a:alphaModFix/>
          </a:blip>
          <a:srcRect b="46867" l="37224" r="49991" t="34284"/>
          <a:stretch/>
        </p:blipFill>
        <p:spPr>
          <a:xfrm>
            <a:off x="2028516" y="8113290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494" name="Google Shape;494;p20"/>
          <p:cNvPicPr preferRelativeResize="0"/>
          <p:nvPr/>
        </p:nvPicPr>
        <p:blipFill rotWithShape="1">
          <a:blip r:embed="rId4">
            <a:alphaModFix/>
          </a:blip>
          <a:srcRect b="46867" l="37224" r="49991" t="34284"/>
          <a:stretch/>
        </p:blipFill>
        <p:spPr>
          <a:xfrm>
            <a:off x="3829859" y="8112981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495" name="Google Shape;495;p20"/>
          <p:cNvPicPr preferRelativeResize="0"/>
          <p:nvPr/>
        </p:nvPicPr>
        <p:blipFill rotWithShape="1">
          <a:blip r:embed="rId4">
            <a:alphaModFix/>
          </a:blip>
          <a:srcRect b="46867" l="37224" r="56348" t="34284"/>
          <a:stretch/>
        </p:blipFill>
        <p:spPr>
          <a:xfrm>
            <a:off x="5636609" y="8112672"/>
            <a:ext cx="924611" cy="11949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1"/>
          <p:cNvSpPr txBox="1"/>
          <p:nvPr>
            <p:ph idx="12" type="sldNum"/>
          </p:nvPr>
        </p:nvSpPr>
        <p:spPr>
          <a:xfrm>
            <a:off x="5357813" y="958012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502" name="Google Shape;502;p21"/>
          <p:cNvGraphicFramePr/>
          <p:nvPr/>
        </p:nvGraphicFramePr>
        <p:xfrm>
          <a:off x="142761" y="103404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{0B1CEE9F-DC66-4D45-9295-EF97E15F65C3}</a:tableStyleId>
              </a:tblPr>
              <a:tblGrid>
                <a:gridCol w="819025"/>
                <a:gridCol w="1917825"/>
                <a:gridCol w="1917825"/>
                <a:gridCol w="1917825"/>
              </a:tblGrid>
              <a:tr h="37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Calculate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Calculate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Calculate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03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Set up the addition with the decimal place aligned vertically.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16 + 4.2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29.23 + 17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71.2 + 15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108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Add the digits in each column.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</a:tbl>
          </a:graphicData>
        </a:graphic>
      </p:graphicFrame>
      <p:sp>
        <p:nvSpPr>
          <p:cNvPr id="503" name="Google Shape;503;p21"/>
          <p:cNvSpPr txBox="1"/>
          <p:nvPr/>
        </p:nvSpPr>
        <p:spPr>
          <a:xfrm>
            <a:off x="1210220" y="598453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16 - I do…</a:t>
            </a:r>
            <a:endParaRPr/>
          </a:p>
        </p:txBody>
      </p:sp>
      <p:sp>
        <p:nvSpPr>
          <p:cNvPr id="504" name="Google Shape;504;p21"/>
          <p:cNvSpPr txBox="1"/>
          <p:nvPr/>
        </p:nvSpPr>
        <p:spPr>
          <a:xfrm>
            <a:off x="5071834" y="598452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18 – You do…</a:t>
            </a:r>
            <a:endParaRPr/>
          </a:p>
        </p:txBody>
      </p:sp>
      <p:sp>
        <p:nvSpPr>
          <p:cNvPr id="505" name="Google Shape;505;p21"/>
          <p:cNvSpPr txBox="1"/>
          <p:nvPr/>
        </p:nvSpPr>
        <p:spPr>
          <a:xfrm>
            <a:off x="3171498" y="579059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17 – We do…</a:t>
            </a:r>
            <a:endParaRPr/>
          </a:p>
        </p:txBody>
      </p:sp>
      <p:sp>
        <p:nvSpPr>
          <p:cNvPr id="506" name="Google Shape;506;p21"/>
          <p:cNvSpPr/>
          <p:nvPr/>
        </p:nvSpPr>
        <p:spPr>
          <a:xfrm>
            <a:off x="142761" y="3939748"/>
            <a:ext cx="1137954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507" name="Google Shape;507;p21"/>
          <p:cNvSpPr/>
          <p:nvPr/>
        </p:nvSpPr>
        <p:spPr>
          <a:xfrm>
            <a:off x="142936" y="142809"/>
            <a:ext cx="3286063" cy="2540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Add a decimal and a whole number together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08" name="Google Shape;508;p21"/>
          <p:cNvGrpSpPr/>
          <p:nvPr/>
        </p:nvGrpSpPr>
        <p:grpSpPr>
          <a:xfrm>
            <a:off x="361470" y="4687748"/>
            <a:ext cx="6142542" cy="1199195"/>
            <a:chOff x="280324" y="4331428"/>
            <a:chExt cx="6142542" cy="1199195"/>
          </a:xfrm>
        </p:grpSpPr>
        <p:pic>
          <p:nvPicPr>
            <p:cNvPr descr="A screenshot of a computer&#10;&#10;Description automatically generated" id="509" name="Google Shape;509;p21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80324" y="4331428"/>
              <a:ext cx="1838834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510" name="Google Shape;510;p21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479979" y="4335654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511" name="Google Shape;511;p21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4621077" y="4331429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12" name="Google Shape;512;p21"/>
          <p:cNvGrpSpPr/>
          <p:nvPr/>
        </p:nvGrpSpPr>
        <p:grpSpPr>
          <a:xfrm>
            <a:off x="361470" y="6570803"/>
            <a:ext cx="6142542" cy="1199195"/>
            <a:chOff x="280324" y="4331428"/>
            <a:chExt cx="6142542" cy="1199195"/>
          </a:xfrm>
        </p:grpSpPr>
        <p:pic>
          <p:nvPicPr>
            <p:cNvPr descr="A screenshot of a computer&#10;&#10;Description automatically generated" id="513" name="Google Shape;513;p21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80324" y="4331428"/>
              <a:ext cx="1838834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514" name="Google Shape;514;p21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479979" y="4335654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515" name="Google Shape;515;p21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4621077" y="4331429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16" name="Google Shape;516;p21"/>
          <p:cNvSpPr txBox="1"/>
          <p:nvPr/>
        </p:nvSpPr>
        <p:spPr>
          <a:xfrm>
            <a:off x="914737" y="4316659"/>
            <a:ext cx="68480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82 + 4.5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1"/>
          <p:cNvSpPr txBox="1"/>
          <p:nvPr/>
        </p:nvSpPr>
        <p:spPr>
          <a:xfrm>
            <a:off x="3095869" y="4335087"/>
            <a:ext cx="68480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67 + 0.7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1"/>
          <p:cNvSpPr txBox="1"/>
          <p:nvPr/>
        </p:nvSpPr>
        <p:spPr>
          <a:xfrm>
            <a:off x="5207689" y="4335087"/>
            <a:ext cx="68480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52 + 1.3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1"/>
          <p:cNvSpPr txBox="1"/>
          <p:nvPr/>
        </p:nvSpPr>
        <p:spPr>
          <a:xfrm>
            <a:off x="837255" y="6069083"/>
            <a:ext cx="76335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 + 73.4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20" name="Google Shape;520;p21"/>
          <p:cNvGrpSpPr/>
          <p:nvPr/>
        </p:nvGrpSpPr>
        <p:grpSpPr>
          <a:xfrm>
            <a:off x="361470" y="6508335"/>
            <a:ext cx="6142542" cy="1199195"/>
            <a:chOff x="280324" y="4331428"/>
            <a:chExt cx="6142542" cy="1199195"/>
          </a:xfrm>
        </p:grpSpPr>
        <p:pic>
          <p:nvPicPr>
            <p:cNvPr descr="A screenshot of a computer&#10;&#10;Description automatically generated" id="521" name="Google Shape;521;p21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80324" y="4331428"/>
              <a:ext cx="1838834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522" name="Google Shape;522;p21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479979" y="4335654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523" name="Google Shape;523;p21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4621077" y="4331429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24" name="Google Shape;524;p21"/>
          <p:cNvSpPr txBox="1"/>
          <p:nvPr/>
        </p:nvSpPr>
        <p:spPr>
          <a:xfrm>
            <a:off x="5257590" y="6067435"/>
            <a:ext cx="76335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 + 84.67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1"/>
          <p:cNvSpPr txBox="1"/>
          <p:nvPr/>
        </p:nvSpPr>
        <p:spPr>
          <a:xfrm>
            <a:off x="3047324" y="6069117"/>
            <a:ext cx="76335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62.5 + 58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26" name="Google Shape;526;p21"/>
          <p:cNvGrpSpPr/>
          <p:nvPr/>
        </p:nvGrpSpPr>
        <p:grpSpPr>
          <a:xfrm>
            <a:off x="361470" y="8300004"/>
            <a:ext cx="6142542" cy="1199195"/>
            <a:chOff x="280324" y="4331428"/>
            <a:chExt cx="6142542" cy="1199195"/>
          </a:xfrm>
        </p:grpSpPr>
        <p:pic>
          <p:nvPicPr>
            <p:cNvPr descr="A screenshot of a computer&#10;&#10;Description automatically generated" id="527" name="Google Shape;527;p21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80324" y="4331428"/>
              <a:ext cx="1838834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528" name="Google Shape;528;p21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479979" y="4335654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529" name="Google Shape;529;p21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4621077" y="4331429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30" name="Google Shape;530;p21"/>
          <p:cNvSpPr txBox="1"/>
          <p:nvPr/>
        </p:nvSpPr>
        <p:spPr>
          <a:xfrm>
            <a:off x="837254" y="7896097"/>
            <a:ext cx="76335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 + 103.4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21"/>
          <p:cNvSpPr txBox="1"/>
          <p:nvPr/>
        </p:nvSpPr>
        <p:spPr>
          <a:xfrm>
            <a:off x="2949541" y="7893897"/>
            <a:ext cx="92044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73.56 + 187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21"/>
          <p:cNvSpPr txBox="1"/>
          <p:nvPr/>
        </p:nvSpPr>
        <p:spPr>
          <a:xfrm>
            <a:off x="5091875" y="7867551"/>
            <a:ext cx="92044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203 + 278.6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screenshot of a computer&#10;&#10;Description automatically generated" id="533" name="Google Shape;533;p21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988961" y="2040890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534" name="Google Shape;534;p21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2938503" y="2045115"/>
            <a:ext cx="1801789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535" name="Google Shape;535;p21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4863031" y="2040890"/>
            <a:ext cx="1801789" cy="1194969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21"/>
          <p:cNvSpPr txBox="1"/>
          <p:nvPr/>
        </p:nvSpPr>
        <p:spPr>
          <a:xfrm>
            <a:off x="146036" y="4314254"/>
            <a:ext cx="30489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21"/>
          <p:cNvSpPr txBox="1"/>
          <p:nvPr/>
        </p:nvSpPr>
        <p:spPr>
          <a:xfrm>
            <a:off x="2408679" y="4321791"/>
            <a:ext cx="3113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21"/>
          <p:cNvSpPr txBox="1"/>
          <p:nvPr/>
        </p:nvSpPr>
        <p:spPr>
          <a:xfrm>
            <a:off x="4525288" y="4348702"/>
            <a:ext cx="29687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21"/>
          <p:cNvSpPr txBox="1"/>
          <p:nvPr/>
        </p:nvSpPr>
        <p:spPr>
          <a:xfrm>
            <a:off x="139486" y="6044969"/>
            <a:ext cx="3113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1"/>
          <p:cNvSpPr txBox="1"/>
          <p:nvPr/>
        </p:nvSpPr>
        <p:spPr>
          <a:xfrm>
            <a:off x="2340729" y="6044969"/>
            <a:ext cx="30809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1"/>
          <p:cNvSpPr txBox="1"/>
          <p:nvPr/>
        </p:nvSpPr>
        <p:spPr>
          <a:xfrm>
            <a:off x="4525288" y="6069082"/>
            <a:ext cx="27988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21"/>
          <p:cNvSpPr txBox="1"/>
          <p:nvPr/>
        </p:nvSpPr>
        <p:spPr>
          <a:xfrm>
            <a:off x="4435400" y="7880065"/>
            <a:ext cx="26642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21"/>
          <p:cNvSpPr txBox="1"/>
          <p:nvPr/>
        </p:nvSpPr>
        <p:spPr>
          <a:xfrm>
            <a:off x="2352266" y="7903332"/>
            <a:ext cx="3113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21"/>
          <p:cNvSpPr txBox="1"/>
          <p:nvPr/>
        </p:nvSpPr>
        <p:spPr>
          <a:xfrm>
            <a:off x="139486" y="7893897"/>
            <a:ext cx="30328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21"/>
          <p:cNvSpPr txBox="1"/>
          <p:nvPr/>
        </p:nvSpPr>
        <p:spPr>
          <a:xfrm>
            <a:off x="2449142" y="3938525"/>
            <a:ext cx="216751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12. Calculate the following: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21"/>
          <p:cNvSpPr txBox="1"/>
          <p:nvPr/>
        </p:nvSpPr>
        <p:spPr>
          <a:xfrm>
            <a:off x="498331" y="4986513"/>
            <a:ext cx="16236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86.5</a:t>
            </a:r>
            <a:endParaRPr/>
          </a:p>
        </p:txBody>
      </p:sp>
      <p:sp>
        <p:nvSpPr>
          <p:cNvPr id="547" name="Google Shape;547;p21"/>
          <p:cNvSpPr txBox="1"/>
          <p:nvPr/>
        </p:nvSpPr>
        <p:spPr>
          <a:xfrm>
            <a:off x="2711221" y="4986515"/>
            <a:ext cx="16236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67.7</a:t>
            </a:r>
            <a:endParaRPr/>
          </a:p>
        </p:txBody>
      </p:sp>
      <p:sp>
        <p:nvSpPr>
          <p:cNvPr id="548" name="Google Shape;548;p21"/>
          <p:cNvSpPr txBox="1"/>
          <p:nvPr/>
        </p:nvSpPr>
        <p:spPr>
          <a:xfrm>
            <a:off x="4859761" y="4986514"/>
            <a:ext cx="16236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53.3</a:t>
            </a:r>
            <a:endParaRPr/>
          </a:p>
        </p:txBody>
      </p:sp>
      <p:sp>
        <p:nvSpPr>
          <p:cNvPr id="549" name="Google Shape;549;p21"/>
          <p:cNvSpPr txBox="1"/>
          <p:nvPr/>
        </p:nvSpPr>
        <p:spPr>
          <a:xfrm>
            <a:off x="516645" y="6874986"/>
            <a:ext cx="16236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88.4</a:t>
            </a:r>
            <a:endParaRPr/>
          </a:p>
        </p:txBody>
      </p:sp>
      <p:sp>
        <p:nvSpPr>
          <p:cNvPr id="550" name="Google Shape;550;p21"/>
          <p:cNvSpPr txBox="1"/>
          <p:nvPr/>
        </p:nvSpPr>
        <p:spPr>
          <a:xfrm>
            <a:off x="2738160" y="6874986"/>
            <a:ext cx="16236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120.5</a:t>
            </a:r>
            <a:endParaRPr/>
          </a:p>
        </p:txBody>
      </p:sp>
      <p:sp>
        <p:nvSpPr>
          <p:cNvPr id="551" name="Google Shape;551;p21"/>
          <p:cNvSpPr txBox="1"/>
          <p:nvPr/>
        </p:nvSpPr>
        <p:spPr>
          <a:xfrm>
            <a:off x="4877711" y="6878666"/>
            <a:ext cx="16236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91.67</a:t>
            </a:r>
            <a:endParaRPr/>
          </a:p>
        </p:txBody>
      </p:sp>
      <p:sp>
        <p:nvSpPr>
          <p:cNvPr id="552" name="Google Shape;552;p21"/>
          <p:cNvSpPr txBox="1"/>
          <p:nvPr/>
        </p:nvSpPr>
        <p:spPr>
          <a:xfrm>
            <a:off x="504297" y="8589478"/>
            <a:ext cx="16236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112.4</a:t>
            </a:r>
            <a:endParaRPr/>
          </a:p>
        </p:txBody>
      </p:sp>
      <p:sp>
        <p:nvSpPr>
          <p:cNvPr id="553" name="Google Shape;553;p21"/>
          <p:cNvSpPr txBox="1"/>
          <p:nvPr/>
        </p:nvSpPr>
        <p:spPr>
          <a:xfrm>
            <a:off x="2739244" y="8592592"/>
            <a:ext cx="16236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260.56</a:t>
            </a:r>
            <a:endParaRPr/>
          </a:p>
        </p:txBody>
      </p:sp>
      <p:sp>
        <p:nvSpPr>
          <p:cNvPr id="554" name="Google Shape;554;p21"/>
          <p:cNvSpPr txBox="1"/>
          <p:nvPr/>
        </p:nvSpPr>
        <p:spPr>
          <a:xfrm>
            <a:off x="4863031" y="8589478"/>
            <a:ext cx="16236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481.6</a:t>
            </a:r>
            <a:endParaRPr/>
          </a:p>
        </p:txBody>
      </p:sp>
      <p:sp>
        <p:nvSpPr>
          <p:cNvPr id="555" name="Google Shape;555;p21"/>
          <p:cNvSpPr txBox="1"/>
          <p:nvPr/>
        </p:nvSpPr>
        <p:spPr>
          <a:xfrm>
            <a:off x="3029697" y="2396885"/>
            <a:ext cx="16236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46.23</a:t>
            </a:r>
            <a:endParaRPr/>
          </a:p>
        </p:txBody>
      </p:sp>
      <p:sp>
        <p:nvSpPr>
          <p:cNvPr id="556" name="Google Shape;556;p21"/>
          <p:cNvSpPr txBox="1"/>
          <p:nvPr/>
        </p:nvSpPr>
        <p:spPr>
          <a:xfrm>
            <a:off x="1047469" y="2396884"/>
            <a:ext cx="16236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20.2</a:t>
            </a:r>
            <a:endParaRPr/>
          </a:p>
        </p:txBody>
      </p:sp>
      <p:sp>
        <p:nvSpPr>
          <p:cNvPr id="557" name="Google Shape;557;p21"/>
          <p:cNvSpPr txBox="1"/>
          <p:nvPr/>
        </p:nvSpPr>
        <p:spPr>
          <a:xfrm>
            <a:off x="4892692" y="2407541"/>
            <a:ext cx="16236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86.2</a:t>
            </a:r>
            <a:endParaRPr/>
          </a:p>
        </p:txBody>
      </p:sp>
      <p:graphicFrame>
        <p:nvGraphicFramePr>
          <p:cNvPr id="558" name="Google Shape;558;p21"/>
          <p:cNvGraphicFramePr/>
          <p:nvPr/>
        </p:nvGraphicFramePr>
        <p:xfrm>
          <a:off x="168292" y="434266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{0B1CEE9F-DC66-4D45-9295-EF97E15F65C3}</a:tableStyleId>
              </a:tblPr>
              <a:tblGrid>
                <a:gridCol w="2165500"/>
                <a:gridCol w="2165500"/>
                <a:gridCol w="2165500"/>
              </a:tblGrid>
              <a:tr h="25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51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5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15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7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22"/>
          <p:cNvSpPr txBox="1"/>
          <p:nvPr/>
        </p:nvSpPr>
        <p:spPr>
          <a:xfrm>
            <a:off x="5332590" y="93785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65" name="Google Shape;565;p22"/>
          <p:cNvGraphicFramePr/>
          <p:nvPr/>
        </p:nvGraphicFramePr>
        <p:xfrm>
          <a:off x="142761" y="56707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{0B1CEE9F-DC66-4D45-9295-EF97E15F65C3}</a:tableStyleId>
              </a:tblPr>
              <a:tblGrid>
                <a:gridCol w="819025"/>
                <a:gridCol w="1917825"/>
                <a:gridCol w="1917825"/>
                <a:gridCol w="1917825"/>
              </a:tblGrid>
              <a:tr h="241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09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Set up the addition with the decimal place aligned vertically.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A factory uses 14.36 kg of flour and 8.9 kg of sugar for its cake mixture. What is the total quantity of flour and sugar used?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Holly travels 2.5 miles to school. Carol travels 1.8 miles further to school than Holly. How far does Carol travel to school?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Jasmine travels for 56.3 km stops then continues her journey for another 12.6 km to reach her destination. How far has she travelled in total?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27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Add the digits in each column.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</a:tbl>
          </a:graphicData>
        </a:graphic>
      </p:graphicFrame>
      <p:sp>
        <p:nvSpPr>
          <p:cNvPr id="566" name="Google Shape;566;p22"/>
          <p:cNvSpPr txBox="1"/>
          <p:nvPr/>
        </p:nvSpPr>
        <p:spPr>
          <a:xfrm>
            <a:off x="1207605" y="309317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19 - I do…</a:t>
            </a:r>
            <a:endParaRPr/>
          </a:p>
        </p:txBody>
      </p:sp>
      <p:sp>
        <p:nvSpPr>
          <p:cNvPr id="567" name="Google Shape;567;p22"/>
          <p:cNvSpPr txBox="1"/>
          <p:nvPr/>
        </p:nvSpPr>
        <p:spPr>
          <a:xfrm>
            <a:off x="5029890" y="298527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21 – You do…</a:t>
            </a:r>
            <a:endParaRPr/>
          </a:p>
        </p:txBody>
      </p:sp>
      <p:sp>
        <p:nvSpPr>
          <p:cNvPr id="568" name="Google Shape;568;p22"/>
          <p:cNvSpPr txBox="1"/>
          <p:nvPr/>
        </p:nvSpPr>
        <p:spPr>
          <a:xfrm>
            <a:off x="3055077" y="306981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20 – We do…</a:t>
            </a:r>
            <a:endParaRPr/>
          </a:p>
        </p:txBody>
      </p:sp>
      <p:sp>
        <p:nvSpPr>
          <p:cNvPr id="569" name="Google Shape;569;p22"/>
          <p:cNvSpPr/>
          <p:nvPr/>
        </p:nvSpPr>
        <p:spPr>
          <a:xfrm>
            <a:off x="139486" y="3336635"/>
            <a:ext cx="1137954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570" name="Google Shape;570;p22"/>
          <p:cNvSpPr/>
          <p:nvPr/>
        </p:nvSpPr>
        <p:spPr>
          <a:xfrm>
            <a:off x="160577" y="81849"/>
            <a:ext cx="3028561" cy="2189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Worded problems with addition of decimals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71" name="Google Shape;571;p22"/>
          <p:cNvGrpSpPr/>
          <p:nvPr/>
        </p:nvGrpSpPr>
        <p:grpSpPr>
          <a:xfrm>
            <a:off x="351987" y="4833028"/>
            <a:ext cx="6142542" cy="1199195"/>
            <a:chOff x="280324" y="4331428"/>
            <a:chExt cx="6142542" cy="1199195"/>
          </a:xfrm>
        </p:grpSpPr>
        <p:pic>
          <p:nvPicPr>
            <p:cNvPr descr="A screenshot of a computer&#10;&#10;Description automatically generated" id="572" name="Google Shape;572;p22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80324" y="4331428"/>
              <a:ext cx="1838834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573" name="Google Shape;573;p22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479979" y="4335654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574" name="Google Shape;574;p22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4621077" y="4331429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75" name="Google Shape;575;p22"/>
          <p:cNvGrpSpPr/>
          <p:nvPr/>
        </p:nvGrpSpPr>
        <p:grpSpPr>
          <a:xfrm>
            <a:off x="390609" y="7177445"/>
            <a:ext cx="6142542" cy="1199195"/>
            <a:chOff x="280324" y="4331428"/>
            <a:chExt cx="6142542" cy="1199195"/>
          </a:xfrm>
        </p:grpSpPr>
        <p:pic>
          <p:nvPicPr>
            <p:cNvPr descr="A screenshot of a computer&#10;&#10;Description automatically generated" id="576" name="Google Shape;576;p22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80324" y="4331428"/>
              <a:ext cx="1838834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577" name="Google Shape;577;p22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2479979" y="4335654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shot of a computer&#10;&#10;Description automatically generated" id="578" name="Google Shape;578;p22"/>
            <p:cNvPicPr preferRelativeResize="0"/>
            <p:nvPr/>
          </p:nvPicPr>
          <p:blipFill rotWithShape="1">
            <a:blip r:embed="rId3">
              <a:alphaModFix/>
            </a:blip>
            <a:srcRect b="46867" l="37224" r="49991" t="34284"/>
            <a:stretch/>
          </p:blipFill>
          <p:spPr>
            <a:xfrm>
              <a:off x="4621077" y="4331429"/>
              <a:ext cx="1801789" cy="119496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A screenshot of a computer&#10;&#10;Description automatically generated" id="579" name="Google Shape;579;p22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996156" y="1872066"/>
            <a:ext cx="1838834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580" name="Google Shape;580;p22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2966449" y="1881867"/>
            <a:ext cx="1801789" cy="119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581" name="Google Shape;581;p22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4871506" y="1862121"/>
            <a:ext cx="1801789" cy="1194969"/>
          </a:xfrm>
          <a:prstGeom prst="rect">
            <a:avLst/>
          </a:prstGeom>
          <a:noFill/>
          <a:ln>
            <a:noFill/>
          </a:ln>
        </p:spPr>
      </p:pic>
      <p:sp>
        <p:nvSpPr>
          <p:cNvPr id="582" name="Google Shape;582;p22"/>
          <p:cNvSpPr txBox="1"/>
          <p:nvPr/>
        </p:nvSpPr>
        <p:spPr>
          <a:xfrm>
            <a:off x="144103" y="3773913"/>
            <a:ext cx="30489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22"/>
          <p:cNvSpPr txBox="1"/>
          <p:nvPr/>
        </p:nvSpPr>
        <p:spPr>
          <a:xfrm>
            <a:off x="2406746" y="3781450"/>
            <a:ext cx="3113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22"/>
          <p:cNvSpPr txBox="1"/>
          <p:nvPr/>
        </p:nvSpPr>
        <p:spPr>
          <a:xfrm>
            <a:off x="4523355" y="3808361"/>
            <a:ext cx="29687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22"/>
          <p:cNvSpPr txBox="1"/>
          <p:nvPr/>
        </p:nvSpPr>
        <p:spPr>
          <a:xfrm>
            <a:off x="205426" y="6118764"/>
            <a:ext cx="3113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22"/>
          <p:cNvSpPr txBox="1"/>
          <p:nvPr/>
        </p:nvSpPr>
        <p:spPr>
          <a:xfrm>
            <a:off x="2416265" y="6130523"/>
            <a:ext cx="30809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22"/>
          <p:cNvSpPr txBox="1"/>
          <p:nvPr/>
        </p:nvSpPr>
        <p:spPr>
          <a:xfrm>
            <a:off x="4628295" y="6171311"/>
            <a:ext cx="27988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22"/>
          <p:cNvSpPr txBox="1"/>
          <p:nvPr/>
        </p:nvSpPr>
        <p:spPr>
          <a:xfrm>
            <a:off x="1252389" y="3473962"/>
            <a:ext cx="188179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13. Calculate the following: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22"/>
          <p:cNvSpPr txBox="1"/>
          <p:nvPr/>
        </p:nvSpPr>
        <p:spPr>
          <a:xfrm>
            <a:off x="4750230" y="6143700"/>
            <a:ext cx="1941793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Heena can run 100m in 18.53 seconds. She can swim 100m in 30.6 seconds. What is Heena’s total time running and swimming?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22"/>
          <p:cNvSpPr txBox="1"/>
          <p:nvPr/>
        </p:nvSpPr>
        <p:spPr>
          <a:xfrm>
            <a:off x="353330" y="3764263"/>
            <a:ext cx="1941793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David drives 4.8 miles to Bristol and a further 6.7 miles to Bath. Work out how far he drives in total.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22"/>
          <p:cNvSpPr txBox="1"/>
          <p:nvPr/>
        </p:nvSpPr>
        <p:spPr>
          <a:xfrm>
            <a:off x="2616376" y="3775926"/>
            <a:ext cx="1941793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Mr Jenkins has two pieces of rope. The pieces of rope are 2.35m and 1.8m long. Work out the total length of the pieces of rope.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22"/>
          <p:cNvSpPr txBox="1"/>
          <p:nvPr/>
        </p:nvSpPr>
        <p:spPr>
          <a:xfrm>
            <a:off x="4768238" y="3808361"/>
            <a:ext cx="1941793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 pieces of ribbon are 23.4cm long and the other 45.34cm long. How much ribbon is there altogether?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22"/>
          <p:cNvSpPr txBox="1"/>
          <p:nvPr/>
        </p:nvSpPr>
        <p:spPr>
          <a:xfrm>
            <a:off x="378718" y="6118764"/>
            <a:ext cx="1941793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 completes his first marathon in 2.3 hours and a second marathon in a time of 2.25 hours. What is his total time across both runs?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22"/>
          <p:cNvSpPr txBox="1"/>
          <p:nvPr/>
        </p:nvSpPr>
        <p:spPr>
          <a:xfrm>
            <a:off x="2649688" y="6118764"/>
            <a:ext cx="1941793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triangle has side lengths of 5.4mm, 6.7mm and 10.2mm. What is the total length of the sides?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22"/>
          <p:cNvSpPr txBox="1"/>
          <p:nvPr/>
        </p:nvSpPr>
        <p:spPr>
          <a:xfrm>
            <a:off x="122963" y="8497574"/>
            <a:ext cx="413571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14. Work out: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Thirty-two point five + four tenths and three hundredths.</a:t>
            </a:r>
            <a:endParaRPr/>
          </a:p>
        </p:txBody>
      </p:sp>
      <p:pic>
        <p:nvPicPr>
          <p:cNvPr descr="A screenshot of a computer&#10;&#10;Description automatically generated" id="596" name="Google Shape;596;p22"/>
          <p:cNvPicPr preferRelativeResize="0"/>
          <p:nvPr/>
        </p:nvPicPr>
        <p:blipFill rotWithShape="1">
          <a:blip r:embed="rId3">
            <a:alphaModFix/>
          </a:blip>
          <a:srcRect b="46867" l="37224" r="49991" t="34284"/>
          <a:stretch/>
        </p:blipFill>
        <p:spPr>
          <a:xfrm>
            <a:off x="4728226" y="8512137"/>
            <a:ext cx="1801789" cy="1194969"/>
          </a:xfrm>
          <a:prstGeom prst="rect">
            <a:avLst/>
          </a:prstGeom>
          <a:noFill/>
          <a:ln>
            <a:noFill/>
          </a:ln>
        </p:spPr>
      </p:pic>
      <p:sp>
        <p:nvSpPr>
          <p:cNvPr id="597" name="Google Shape;597;p22"/>
          <p:cNvSpPr/>
          <p:nvPr/>
        </p:nvSpPr>
        <p:spPr>
          <a:xfrm>
            <a:off x="139486" y="8481714"/>
            <a:ext cx="6496527" cy="1266237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98" name="Google Shape;598;p22"/>
          <p:cNvGraphicFramePr/>
          <p:nvPr/>
        </p:nvGraphicFramePr>
        <p:xfrm>
          <a:off x="145263" y="37550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{0B1CEE9F-DC66-4D45-9295-EF97E15F65C3}</a:tableStyleId>
              </a:tblPr>
              <a:tblGrid>
                <a:gridCol w="2165500"/>
                <a:gridCol w="2165500"/>
                <a:gridCol w="2165500"/>
              </a:tblGrid>
              <a:tr h="967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03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5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96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99" name="Google Shape;599;p22"/>
          <p:cNvSpPr txBox="1"/>
          <p:nvPr/>
        </p:nvSpPr>
        <p:spPr>
          <a:xfrm>
            <a:off x="4807857" y="5118477"/>
            <a:ext cx="16236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68.74</a:t>
            </a:r>
            <a:endParaRPr/>
          </a:p>
        </p:txBody>
      </p:sp>
      <p:sp>
        <p:nvSpPr>
          <p:cNvPr id="600" name="Google Shape;600;p22"/>
          <p:cNvSpPr txBox="1"/>
          <p:nvPr/>
        </p:nvSpPr>
        <p:spPr>
          <a:xfrm>
            <a:off x="2673810" y="5118477"/>
            <a:ext cx="16236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4.15</a:t>
            </a:r>
            <a:endParaRPr/>
          </a:p>
        </p:txBody>
      </p:sp>
      <p:sp>
        <p:nvSpPr>
          <p:cNvPr id="601" name="Google Shape;601;p22"/>
          <p:cNvSpPr txBox="1"/>
          <p:nvPr/>
        </p:nvSpPr>
        <p:spPr>
          <a:xfrm>
            <a:off x="456981" y="5118477"/>
            <a:ext cx="16236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11.5</a:t>
            </a:r>
            <a:endParaRPr/>
          </a:p>
        </p:txBody>
      </p:sp>
      <p:sp>
        <p:nvSpPr>
          <p:cNvPr id="602" name="Google Shape;602;p22"/>
          <p:cNvSpPr txBox="1"/>
          <p:nvPr/>
        </p:nvSpPr>
        <p:spPr>
          <a:xfrm>
            <a:off x="475773" y="7583501"/>
            <a:ext cx="16236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4.55</a:t>
            </a:r>
            <a:endParaRPr/>
          </a:p>
        </p:txBody>
      </p:sp>
      <p:sp>
        <p:nvSpPr>
          <p:cNvPr id="603" name="Google Shape;603;p22"/>
          <p:cNvSpPr txBox="1"/>
          <p:nvPr/>
        </p:nvSpPr>
        <p:spPr>
          <a:xfrm>
            <a:off x="2658843" y="7586727"/>
            <a:ext cx="16236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22.3</a:t>
            </a:r>
            <a:endParaRPr/>
          </a:p>
        </p:txBody>
      </p:sp>
      <p:sp>
        <p:nvSpPr>
          <p:cNvPr id="604" name="Google Shape;604;p22"/>
          <p:cNvSpPr txBox="1"/>
          <p:nvPr/>
        </p:nvSpPr>
        <p:spPr>
          <a:xfrm>
            <a:off x="4807857" y="7583590"/>
            <a:ext cx="16236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49.13</a:t>
            </a:r>
            <a:endParaRPr/>
          </a:p>
        </p:txBody>
      </p:sp>
      <p:sp>
        <p:nvSpPr>
          <p:cNvPr id="605" name="Google Shape;605;p22"/>
          <p:cNvSpPr txBox="1"/>
          <p:nvPr/>
        </p:nvSpPr>
        <p:spPr>
          <a:xfrm>
            <a:off x="4973007" y="2234123"/>
            <a:ext cx="16236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68.9</a:t>
            </a:r>
            <a:endParaRPr/>
          </a:p>
        </p:txBody>
      </p:sp>
      <p:sp>
        <p:nvSpPr>
          <p:cNvPr id="606" name="Google Shape;606;p22"/>
          <p:cNvSpPr txBox="1"/>
          <p:nvPr/>
        </p:nvSpPr>
        <p:spPr>
          <a:xfrm>
            <a:off x="3045769" y="2247318"/>
            <a:ext cx="16236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4.3</a:t>
            </a:r>
            <a:endParaRPr/>
          </a:p>
        </p:txBody>
      </p:sp>
      <p:sp>
        <p:nvSpPr>
          <p:cNvPr id="607" name="Google Shape;607;p22"/>
          <p:cNvSpPr txBox="1"/>
          <p:nvPr/>
        </p:nvSpPr>
        <p:spPr>
          <a:xfrm>
            <a:off x="1109820" y="2215393"/>
            <a:ext cx="16236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23.26</a:t>
            </a:r>
            <a:endParaRPr/>
          </a:p>
        </p:txBody>
      </p:sp>
      <p:sp>
        <p:nvSpPr>
          <p:cNvPr id="608" name="Google Shape;608;p22"/>
          <p:cNvSpPr txBox="1"/>
          <p:nvPr/>
        </p:nvSpPr>
        <p:spPr>
          <a:xfrm>
            <a:off x="4820231" y="8875737"/>
            <a:ext cx="16236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32.93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