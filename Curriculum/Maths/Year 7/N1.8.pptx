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3DD7EA-9C95-4C8E-83A2-6FC983EF9DFA}">
  <a:tblStyle styleId="{C63DD7EA-9C95-4C8E-83A2-6FC983EF9DF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95519" y="51165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{C63DD7EA-9C95-4C8E-83A2-6FC983EF9DFA}</a:tableStyleId>
              </a:tblPr>
              <a:tblGrid>
                <a:gridCol w="1352275"/>
                <a:gridCol w="1692000"/>
                <a:gridCol w="1944000"/>
                <a:gridCol w="1692000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6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0875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Look at the place value of the leftmost digit. Write down the number with the smallest place value.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If any have the same place value, look at the digit to the right and write down the number with the smallest value. Repeat until all numbers have been ordered.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4.2,     4.5,     4.3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4.2, 4.3, 4.5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4.61,     4.21,     4.67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4.21, 4.61, 4.67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4.17,     4.68,     4.14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4.14, 4.17, 4.68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087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4.35,     4.31,     4.6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4.31, 4.35, 4.6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0.31, 0.301, 0.312, 0.23, 0.2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0.2, 0.23, 0.301, 0.31, 0.312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8, 7.4, 6.35, 7.35, 6.2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6.2, 6.35, 7.35, 7.4, 8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5256811" y="948181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86108" y="364088"/>
            <a:ext cx="6679742" cy="141300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N1.8 – Order a List of Decimals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7836" y="665648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2983" y="968873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order decimals using a number line.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order decimals without a number line.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 ordering decimals.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43616" y="396994"/>
            <a:ext cx="6551021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how to order decimals.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622572" y="715117"/>
            <a:ext cx="1080745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Value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/>
          </a:p>
        </p:txBody>
      </p:sp>
      <p:cxnSp>
        <p:nvCxnSpPr>
          <p:cNvPr id="97" name="Google Shape;97;p13"/>
          <p:cNvCxnSpPr/>
          <p:nvPr/>
        </p:nvCxnSpPr>
        <p:spPr>
          <a:xfrm flipH="1" rot="10800000">
            <a:off x="904762" y="4931235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3"/>
          <p:cNvSpPr/>
          <p:nvPr/>
        </p:nvSpPr>
        <p:spPr>
          <a:xfrm>
            <a:off x="90276" y="3025516"/>
            <a:ext cx="6672205" cy="24491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13"/>
          <p:cNvCxnSpPr/>
          <p:nvPr/>
        </p:nvCxnSpPr>
        <p:spPr>
          <a:xfrm>
            <a:off x="90276" y="4273070"/>
            <a:ext cx="668373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" name="Google Shape;100;p13"/>
          <p:cNvCxnSpPr>
            <a:stCxn id="98" idx="2"/>
            <a:endCxn id="98" idx="0"/>
          </p:cNvCxnSpPr>
          <p:nvPr/>
        </p:nvCxnSpPr>
        <p:spPr>
          <a:xfrm rot="10800000">
            <a:off x="3426379" y="3025504"/>
            <a:ext cx="0" cy="244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13"/>
          <p:cNvSpPr txBox="1"/>
          <p:nvPr/>
        </p:nvSpPr>
        <p:spPr>
          <a:xfrm>
            <a:off x="67836" y="3000639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5688076" y="2997897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82983" y="4258647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5672800" y="4264746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166934" y="3201211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decimal is a number that is not whole, as it lies between whole numbers.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Consists of a whole and a fraction part.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fractional part is written as digits after a point rather than a fraction.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3464302" y="3228795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whole and fraction parts are separated by a point called the decimal point.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terminating or recurring.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2754911" y="4120484"/>
            <a:ext cx="117288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410471" y="4426080"/>
            <a:ext cx="3230335" cy="85696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9" name="Google Shape;109;p13"/>
          <p:cNvCxnSpPr/>
          <p:nvPr/>
        </p:nvCxnSpPr>
        <p:spPr>
          <a:xfrm flipH="1" rot="10800000">
            <a:off x="3424406" y="4838252"/>
            <a:ext cx="337519" cy="33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13"/>
          <p:cNvSpPr txBox="1"/>
          <p:nvPr/>
        </p:nvSpPr>
        <p:spPr>
          <a:xfrm>
            <a:off x="4634437" y="4266421"/>
            <a:ext cx="842456" cy="8085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6160197" y="4562728"/>
            <a:ext cx="842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240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5458793" y="4423207"/>
            <a:ext cx="842456" cy="6232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8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71458" y="4458123"/>
            <a:ext cx="4909650" cy="105015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12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90276" y="1826176"/>
            <a:ext cx="6672205" cy="11178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Similar to ordering integers, ordering a list of decimals involves arranging numbers from smallest to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largest (or vice versa) by comparing their place values. This extends our skills with whole numbers to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 decimals, strengthening our ability to accurately read, write, and compare numbers.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2" type="sldNum"/>
          </p:nvPr>
        </p:nvSpPr>
        <p:spPr>
          <a:xfrm>
            <a:off x="5208769" y="928142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164101" y="166496"/>
            <a:ext cx="1137954" cy="396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22" name="Google Shape;122;p14"/>
          <p:cNvGraphicFramePr/>
          <p:nvPr/>
        </p:nvGraphicFramePr>
        <p:xfrm>
          <a:off x="164101" y="6745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{C63DD7EA-9C95-4C8E-83A2-6FC983EF9DFA}</a:tableStyleId>
              </a:tblPr>
              <a:tblGrid>
                <a:gridCol w="3286250"/>
                <a:gridCol w="3286250"/>
              </a:tblGrid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3.7, 3.5, 3.9, 3.4, 3.8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b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3.9, 3.8, 3.7, 3.5, 3.4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9.2, 2.9, 5.4, 1.8, 8.7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9.2, 8.7, 5.4, 2.9, 1.8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4.6, 4.9, 14.1, 0.9, 1.2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14.1, 4.9, 4.6, 1.2, 0.9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8.13, 8.05, 8.24, 8.09, 8.15, 8.02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8.24, 8.15, 8.13, 8.09, 8.05, 8.02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1.53, 1.48, 1.59, 1.44, 2.11, 0.98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2.11, 1.59, 1.53, 1.48, 1.44, 0.98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0.59, 1.24, 0.45, 1.34, 0.88, 2.01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2.01, 1.34, 1.24, 0.88, 0.59, 0.45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the following questions, list the numbers in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ascending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order.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1.2, 1.08, 1.13, 1.6, 1.29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1.08, 1.13, 1.2, 1.29, 1.6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5.25, 5.2, 5.19, 5.08, 5.1, 5.21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5.08, 5.1, 5.19, 5.2, 5.21, 5.25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40.6, 46.1, 40.49, 40.68, 46, 46.09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40.49, 40.6, 40.68, 46, 46.09, 46.1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0.24, 0.3, 0.125, 0.2, 0.199, 0.18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0.125, 0.18, 0.199, 0.2, 0.24, 0.3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0.82, 0.082, 0.9, 0.807, 0.8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0.082, 0.8, 0.807, 0.82, 0.9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65, 6.5, 0.65, 7.65, 0.076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0.076, 0.65, 6.5, 7.65, 65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 0.25, 0.3, 0.2, 0.06, 0.19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0.06, 0.19, 0.2, 0.25, 0.3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 7.81, 7.49, 7.9, 7.007, 7.1, 7.107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7.007, 7.1, 7.107, 7.49, 7.81, 7.9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14"/>
          <p:cNvSpPr txBox="1"/>
          <p:nvPr/>
        </p:nvSpPr>
        <p:spPr>
          <a:xfrm>
            <a:off x="1302055" y="331663"/>
            <a:ext cx="5598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For the following questions, list the numbers in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order.</a:t>
            </a:r>
            <a:endParaRPr/>
          </a:p>
        </p:txBody>
      </p:sp>
      <p:graphicFrame>
        <p:nvGraphicFramePr>
          <p:cNvPr id="124" name="Google Shape;124;p14"/>
          <p:cNvGraphicFramePr/>
          <p:nvPr/>
        </p:nvGraphicFramePr>
        <p:xfrm>
          <a:off x="142761" y="7882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{C63DD7EA-9C95-4C8E-83A2-6FC983EF9DFA}</a:tableStyleId>
              </a:tblPr>
              <a:tblGrid>
                <a:gridCol w="3296900"/>
                <a:gridCol w="3296900"/>
              </a:tblGrid>
              <a:tr h="1903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the following questions, arrange the temperatures from highest to lowest.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lang="en-GB" sz="1200"/>
                        <a:t>11 °C, 10.8°C, 12.3 °C, 15 °C, 12.7 °C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10.8 °C, 11°C, 12.3 °C, 12.7 °C, 15 °C</a:t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</a:t>
                      </a:r>
                      <a:r>
                        <a:rPr lang="en-GB" sz="1200"/>
                        <a:t> 8.5 °C, 0.7 °C, 3 °C, 0.9 °C, 6 °C, 1.3 °C, 5.1°C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8.5°C, 6°C, 5.1 °C, 1.3 °C, 0.9°C, 0.7 °C</a:t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15"/>
          <p:cNvGraphicFramePr/>
          <p:nvPr/>
        </p:nvGraphicFramePr>
        <p:xfrm>
          <a:off x="164101" y="1143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{C63DD7EA-9C95-4C8E-83A2-6FC983EF9DFA}</a:tableStyleId>
              </a:tblPr>
              <a:tblGrid>
                <a:gridCol w="3286250"/>
                <a:gridCol w="3286250"/>
              </a:tblGrid>
              <a:tr h="2906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 For the following questions, order the amounts of money from lowest to highest.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33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lang="en-GB" sz="1200"/>
                        <a:t>£6.74, £10, £1.99, £8, £3.30, £2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£1.99, £2, £3.30, £6.74, £8, £10</a:t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</a:t>
                      </a:r>
                      <a:r>
                        <a:rPr lang="en-GB" sz="1200"/>
                        <a:t>80p, £1, £0.09, 23p, £2.75, £0.82, £20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£0.09, 23p, 80p, £0.82, £1, £2.75</a:t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468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5. The distance of various landmarks from Big Ben are listed below.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Arrange the landmarks in order, from closest to furthest.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230" y="2426788"/>
            <a:ext cx="2565652" cy="14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5260322" y="939206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32" name="Google Shape;132;p15"/>
          <p:cNvGraphicFramePr/>
          <p:nvPr/>
        </p:nvGraphicFramePr>
        <p:xfrm>
          <a:off x="167828" y="40275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{C63DD7EA-9C95-4C8E-83A2-6FC983EF9DFA}</a:tableStyleId>
              </a:tblPr>
              <a:tblGrid>
                <a:gridCol w="3286250"/>
                <a:gridCol w="3286250"/>
              </a:tblGrid>
              <a:tr h="3202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 Arrange the measurements in order from smallest to largest.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4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lang="en-GB" sz="1200"/>
                        <a:t>6.2m, 6.077m, 6.31m, 6.19m, 6.4m, 6.009m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br>
                        <a:rPr lang="en-GB" sz="1200"/>
                      </a:b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6.009m, 6.077m, 6.19m, 6.2m, 6.31m, 6.4m</a:t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</a:t>
                      </a:r>
                      <a:r>
                        <a:rPr lang="en-GB" sz="1200"/>
                        <a:t>5kg, 800g, 1.2kg, 90g, 0.6kg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90g, 0.6kg, 800g, 1.2kg, 5kg</a:t>
                      </a:r>
                      <a:endParaRPr b="1"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12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 The lengths of time that it takes to complete a jigsaw are below. Arrange the times in order, from longest to quickest.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96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0.5 hours, 1.25 hours, 100 minutes, 0.75 hours, 40 minutes, 2 hours, 1.5 hours, 180 minutes, 61 minutes, 0.25 hours.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180 minutes, 2 hours, 100 minutes, 1.5 hours, 1.25 hours, 61 minutes, 0.75 hours, 40 minutes, 0.5 hours, 0.25 hours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33" name="Google Shape;133;p15"/>
          <p:cNvGraphicFramePr/>
          <p:nvPr/>
        </p:nvGraphicFramePr>
        <p:xfrm>
          <a:off x="142761" y="76236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{C63DD7EA-9C95-4C8E-83A2-6FC983EF9DFA}</a:tableStyleId>
              </a:tblPr>
              <a:tblGrid>
                <a:gridCol w="6572475"/>
              </a:tblGrid>
              <a:tr h="14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 Always, sometimes or never? Given a reason for your answer.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A number with 2 decimal places is greater than a number with 3 decimal places.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4" name="Google Shape;134;p15"/>
          <p:cNvGraphicFramePr/>
          <p:nvPr/>
        </p:nvGraphicFramePr>
        <p:xfrm>
          <a:off x="142761" y="83552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{C63DD7EA-9C95-4C8E-83A2-6FC983EF9DFA}</a:tableStyleId>
              </a:tblPr>
              <a:tblGrid>
                <a:gridCol w="65724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15"/>
          <p:cNvSpPr txBox="1"/>
          <p:nvPr/>
        </p:nvSpPr>
        <p:spPr>
          <a:xfrm>
            <a:off x="4317347" y="2120085"/>
            <a:ext cx="3429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London Eye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Trafalgar Square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Buckingham Palace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Hyde Park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Wembley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Thorpe Park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16"/>
          <p:cNvGraphicFramePr/>
          <p:nvPr/>
        </p:nvGraphicFramePr>
        <p:xfrm>
          <a:off x="142761" y="5358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{C63DD7EA-9C95-4C8E-83A2-6FC983EF9DFA}</a:tableStyleId>
              </a:tblPr>
              <a:tblGrid>
                <a:gridCol w="3286250"/>
                <a:gridCol w="3286250"/>
              </a:tblGrid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3.7, 3.5, 3.9, 3.4, 3.8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9.2, 2.9, 5.4, 1.8, 8.7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4.6, 4.9, 14.1, 0.9, 1.2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8.13, 8.05, 8.24, 8.09, 8.15, 8.02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1.53, 1.48, 1.59, 1.44, 2.11, 0.98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0.59, 1.24, 0.45, 1.34, 0.88, 2.01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16"/>
          <p:cNvSpPr txBox="1"/>
          <p:nvPr/>
        </p:nvSpPr>
        <p:spPr>
          <a:xfrm>
            <a:off x="120989" y="258897"/>
            <a:ext cx="5598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9. Calculate the median for each list of numbers: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9239" y="3527656"/>
            <a:ext cx="6606000" cy="396000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GB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6"/>
          <p:cNvGraphicFramePr/>
          <p:nvPr/>
        </p:nvGraphicFramePr>
        <p:xfrm>
          <a:off x="118397" y="39013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{C63DD7EA-9C95-4C8E-83A2-6FC983EF9DFA}</a:tableStyleId>
              </a:tblPr>
              <a:tblGrid>
                <a:gridCol w="6585125"/>
              </a:tblGrid>
              <a:tr h="268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5313" y="4110423"/>
            <a:ext cx="3368332" cy="222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5794" y="6668228"/>
            <a:ext cx="4107369" cy="271668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>
            <p:ph idx="12" type="sldNum"/>
          </p:nvPr>
        </p:nvSpPr>
        <p:spPr>
          <a:xfrm>
            <a:off x="5196552" y="940002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1775313" y="5442857"/>
            <a:ext cx="1152944" cy="97971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1166183" y="8164285"/>
            <a:ext cx="2850645" cy="55244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1405794" y="869024"/>
            <a:ext cx="879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3.7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4756949" y="868468"/>
            <a:ext cx="879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5.4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1335710" y="1813290"/>
            <a:ext cx="879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4.6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4756949" y="1769094"/>
            <a:ext cx="879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8.165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1194017" y="2808397"/>
            <a:ext cx="879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1.505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4785362" y="2728712"/>
            <a:ext cx="879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1.06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