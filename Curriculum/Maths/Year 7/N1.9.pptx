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00A3B3-5D72-44B4-AF31-C8F3670BF1CD}">
  <a:tblStyle styleId="{7500A3B3-5D72-44B4-AF31-C8F3670BF1C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11" Type="http://schemas.openxmlformats.org/officeDocument/2006/relationships/image" Target="../media/image2.png"/><Relationship Id="rId10" Type="http://schemas.openxmlformats.org/officeDocument/2006/relationships/image" Target="../media/image18.png"/><Relationship Id="rId12" Type="http://schemas.openxmlformats.org/officeDocument/2006/relationships/image" Target="../media/image8.png"/><Relationship Id="rId9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30.png"/><Relationship Id="rId8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82741" y="327968"/>
            <a:ext cx="6679742" cy="138083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N1.9 - Position Integers on a Number Line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36130" y="694047"/>
            <a:ext cx="39112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36130" y="931000"/>
            <a:ext cx="45791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Recognise the order of positive integers.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positive integers and represent them on a number line.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to contextual questions.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12735" y="379565"/>
            <a:ext cx="6419753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Understand positive numbers and represent them on a number line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089373" y="682939"/>
            <a:ext cx="1543115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 line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Ascending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3066909" y="3635183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Converting a percentage to a decimal – Examples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2740" y="2793064"/>
            <a:ext cx="6674765" cy="163658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3"/>
          <p:cNvCxnSpPr/>
          <p:nvPr/>
        </p:nvCxnSpPr>
        <p:spPr>
          <a:xfrm>
            <a:off x="100495" y="3663257"/>
            <a:ext cx="66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3"/>
          <p:cNvCxnSpPr>
            <a:stCxn id="96" idx="2"/>
            <a:endCxn id="96" idx="0"/>
          </p:cNvCxnSpPr>
          <p:nvPr/>
        </p:nvCxnSpPr>
        <p:spPr>
          <a:xfrm rot="10800000">
            <a:off x="3420123" y="2793150"/>
            <a:ext cx="0" cy="163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3"/>
          <p:cNvSpPr txBox="1"/>
          <p:nvPr/>
        </p:nvSpPr>
        <p:spPr>
          <a:xfrm>
            <a:off x="100495" y="2793063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726795" y="2772881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65458" y="3625691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5649832" y="363907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371327" y="3454411"/>
            <a:ext cx="210547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Integers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96667" y="3007423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integers which appear to the right of the 0 on a number line.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404855" y="2822345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Greater than 0.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larger integer means that the number is larger.</a:t>
            </a:r>
            <a:endParaRPr/>
          </a:p>
        </p:txBody>
      </p:sp>
      <p:sp>
        <p:nvSpPr>
          <p:cNvPr id="106" name="Google Shape;106;p13"/>
          <p:cNvSpPr txBox="1"/>
          <p:nvPr>
            <p:ph idx="12" type="sldNum"/>
          </p:nvPr>
        </p:nvSpPr>
        <p:spPr>
          <a:xfrm>
            <a:off x="5298647" y="941978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604960" y="4085375"/>
            <a:ext cx="3582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1302425" y="4085375"/>
            <a:ext cx="3582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931454" y="4089493"/>
            <a:ext cx="6026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126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4173650" y="4100506"/>
            <a:ext cx="588681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4895115" y="4113760"/>
            <a:ext cx="568968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5663983" y="3918897"/>
            <a:ext cx="588681" cy="43800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75367" y="3819064"/>
            <a:ext cx="35765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numbers are all positive and all integers.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82740" y="1762733"/>
            <a:ext cx="6679742" cy="97640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Positioning integers on a number line helps us understand where numbers sit in relation to each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and how to estimate their positions between marked points. It also introduces the idea of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midpoints, which deepens our number sense and sets a solid foundation for rounding in the next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section.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3"/>
          <p:cNvGrpSpPr/>
          <p:nvPr/>
        </p:nvGrpSpPr>
        <p:grpSpPr>
          <a:xfrm>
            <a:off x="1903623" y="5536425"/>
            <a:ext cx="4842721" cy="527402"/>
            <a:chOff x="866674" y="8030719"/>
            <a:chExt cx="4963449" cy="588125"/>
          </a:xfrm>
        </p:grpSpPr>
        <p:pic>
          <p:nvPicPr>
            <p:cNvPr id="116" name="Google Shape;116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66674" y="8030719"/>
              <a:ext cx="4963449" cy="5671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3"/>
            <p:cNvSpPr/>
            <p:nvPr/>
          </p:nvSpPr>
          <p:spPr>
            <a:xfrm>
              <a:off x="4991440" y="8297701"/>
              <a:ext cx="416374" cy="24910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554543" y="8301194"/>
              <a:ext cx="416374" cy="24910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3153337" y="8369739"/>
              <a:ext cx="416374" cy="24910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658522" y="8303383"/>
              <a:ext cx="416374" cy="24910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3"/>
          <p:cNvGrpSpPr/>
          <p:nvPr/>
        </p:nvGrpSpPr>
        <p:grpSpPr>
          <a:xfrm>
            <a:off x="1878561" y="6930808"/>
            <a:ext cx="4923174" cy="563361"/>
            <a:chOff x="846109" y="4619031"/>
            <a:chExt cx="5131575" cy="509426"/>
          </a:xfrm>
        </p:grpSpPr>
        <p:pic>
          <p:nvPicPr>
            <p:cNvPr id="122" name="Google Shape;122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6109" y="4619031"/>
              <a:ext cx="5131575" cy="470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3"/>
            <p:cNvSpPr/>
            <p:nvPr/>
          </p:nvSpPr>
          <p:spPr>
            <a:xfrm>
              <a:off x="4691381" y="4888814"/>
              <a:ext cx="420571" cy="21153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5529119" y="4916926"/>
              <a:ext cx="420571" cy="21153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3"/>
          <p:cNvGrpSpPr/>
          <p:nvPr/>
        </p:nvGrpSpPr>
        <p:grpSpPr>
          <a:xfrm>
            <a:off x="1711834" y="8279668"/>
            <a:ext cx="5045667" cy="527403"/>
            <a:chOff x="846108" y="6610230"/>
            <a:chExt cx="5131575" cy="486902"/>
          </a:xfrm>
        </p:grpSpPr>
        <p:pic>
          <p:nvPicPr>
            <p:cNvPr id="126" name="Google Shape;126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42916" y="6610230"/>
              <a:ext cx="5034767" cy="486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3"/>
            <p:cNvSpPr/>
            <p:nvPr/>
          </p:nvSpPr>
          <p:spPr>
            <a:xfrm>
              <a:off x="846108" y="6860301"/>
              <a:ext cx="412637" cy="21227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5254431" y="6884861"/>
              <a:ext cx="412637" cy="21227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758436" y="6884861"/>
              <a:ext cx="412637" cy="21227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1835491" y="6884861"/>
              <a:ext cx="412637" cy="21227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31" name="Google Shape;131;p13"/>
          <p:cNvGraphicFramePr/>
          <p:nvPr/>
        </p:nvGraphicFramePr>
        <p:xfrm>
          <a:off x="84763" y="4842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{7500A3B3-5D72-44B4-AF31-C8F3670BF1CD}</a:tableStyleId>
              </a:tblPr>
              <a:tblGrid>
                <a:gridCol w="1772600"/>
                <a:gridCol w="4900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Look at the increments that the scale is increasing by. Use this to complete the number line.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To find the midpoint, add the two numbers together and divide by two.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Fill in the missing values on the number line.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The arrow indicates the midpoint of two values. Calculate this.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Fill in the missing values on the number line.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The arrow indicates the midpoint of two values. Calculate this.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Fill in the missing values on the number line.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The arrow indicates the midpoint of two values. Calculate this.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2" name="Google Shape;132;p13"/>
          <p:cNvCxnSpPr/>
          <p:nvPr/>
        </p:nvCxnSpPr>
        <p:spPr>
          <a:xfrm rot="10800000">
            <a:off x="4086709" y="5732978"/>
            <a:ext cx="0" cy="39635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13"/>
          <p:cNvCxnSpPr/>
          <p:nvPr/>
        </p:nvCxnSpPr>
        <p:spPr>
          <a:xfrm rot="10800000">
            <a:off x="5487502" y="7112099"/>
            <a:ext cx="0" cy="39635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13"/>
          <p:cNvCxnSpPr/>
          <p:nvPr/>
        </p:nvCxnSpPr>
        <p:spPr>
          <a:xfrm rot="10800000">
            <a:off x="3124061" y="8467864"/>
            <a:ext cx="0" cy="39635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5" name="Google Shape;135;p13"/>
          <p:cNvSpPr/>
          <p:nvPr/>
        </p:nvSpPr>
        <p:spPr>
          <a:xfrm>
            <a:off x="88647" y="4491854"/>
            <a:ext cx="3768978" cy="2810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Completing number lines and calculating midpoints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3658225" y="57422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4114958" y="574036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5442415" y="5756060"/>
            <a:ext cx="627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101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5901072" y="5749405"/>
            <a:ext cx="627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102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3811132" y="6109084"/>
            <a:ext cx="6655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97.5</a:t>
            </a: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5471270" y="7163098"/>
            <a:ext cx="700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260</a:t>
            </a:r>
            <a:endParaRPr/>
          </a:p>
        </p:txBody>
      </p:sp>
      <p:sp>
        <p:nvSpPr>
          <p:cNvPr id="142" name="Google Shape;142;p13"/>
          <p:cNvSpPr txBox="1"/>
          <p:nvPr/>
        </p:nvSpPr>
        <p:spPr>
          <a:xfrm>
            <a:off x="6300403" y="7158799"/>
            <a:ext cx="700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280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5258280" y="7447603"/>
            <a:ext cx="700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255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1770593" y="8507441"/>
            <a:ext cx="700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2626959" y="8516605"/>
            <a:ext cx="700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520</a:t>
            </a:r>
            <a:endParaRPr/>
          </a:p>
        </p:txBody>
      </p:sp>
      <p:sp>
        <p:nvSpPr>
          <p:cNvPr id="146" name="Google Shape;146;p13"/>
          <p:cNvSpPr txBox="1"/>
          <p:nvPr/>
        </p:nvSpPr>
        <p:spPr>
          <a:xfrm>
            <a:off x="4483040" y="8496497"/>
            <a:ext cx="700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560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5899199" y="8516187"/>
            <a:ext cx="700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590</a:t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2887519" y="8790334"/>
            <a:ext cx="700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p14"/>
          <p:cNvGraphicFramePr/>
          <p:nvPr/>
        </p:nvGraphicFramePr>
        <p:xfrm>
          <a:off x="207216" y="618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{7500A3B3-5D72-44B4-AF31-C8F3670BF1CD}</a:tableStyleId>
              </a:tblPr>
              <a:tblGrid>
                <a:gridCol w="6520550"/>
              </a:tblGrid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j)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4" name="Google Shape;154;p14"/>
          <p:cNvGrpSpPr/>
          <p:nvPr/>
        </p:nvGrpSpPr>
        <p:grpSpPr>
          <a:xfrm>
            <a:off x="567467" y="647055"/>
            <a:ext cx="4526252" cy="503793"/>
            <a:chOff x="2417651" y="4072681"/>
            <a:chExt cx="3990743" cy="440021"/>
          </a:xfrm>
        </p:grpSpPr>
        <p:pic>
          <p:nvPicPr>
            <p:cNvPr id="155" name="Google Shape;15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651" y="4072681"/>
              <a:ext cx="3990743" cy="440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14"/>
            <p:cNvSpPr/>
            <p:nvPr/>
          </p:nvSpPr>
          <p:spPr>
            <a:xfrm>
              <a:off x="3797769" y="4285763"/>
              <a:ext cx="342357" cy="17012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3455412" y="4299081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4"/>
          <p:cNvSpPr txBox="1"/>
          <p:nvPr>
            <p:ph idx="12" type="sldNum"/>
          </p:nvPr>
        </p:nvSpPr>
        <p:spPr>
          <a:xfrm>
            <a:off x="5242797" y="949167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212482" y="99533"/>
            <a:ext cx="1137954" cy="432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1350436" y="158996"/>
            <a:ext cx="53526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1. Fill in the missing values on the number line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calculate the </a:t>
            </a:r>
            <a:r>
              <a:rPr b="1"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two values either side of the arrow.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4"/>
          <p:cNvCxnSpPr/>
          <p:nvPr/>
        </p:nvCxnSpPr>
        <p:spPr>
          <a:xfrm rot="10800000">
            <a:off x="2158181" y="911717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2" name="Google Shape;162;p14"/>
          <p:cNvGrpSpPr/>
          <p:nvPr/>
        </p:nvGrpSpPr>
        <p:grpSpPr>
          <a:xfrm>
            <a:off x="495434" y="1624646"/>
            <a:ext cx="4499028" cy="493765"/>
            <a:chOff x="2276546" y="1473753"/>
            <a:chExt cx="4177252" cy="453104"/>
          </a:xfrm>
        </p:grpSpPr>
        <p:pic>
          <p:nvPicPr>
            <p:cNvPr id="163" name="Google Shape;1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6546" y="1473753"/>
              <a:ext cx="4177252" cy="4531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14"/>
            <p:cNvSpPr/>
            <p:nvPr/>
          </p:nvSpPr>
          <p:spPr>
            <a:xfrm>
              <a:off x="4588143" y="1700305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4935400" y="1714831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5347342" y="1746982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7" name="Google Shape;167;p14"/>
          <p:cNvCxnSpPr/>
          <p:nvPr/>
        </p:nvCxnSpPr>
        <p:spPr>
          <a:xfrm rot="10800000">
            <a:off x="3354848" y="1862231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68" name="Google Shape;16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154" y="2460162"/>
            <a:ext cx="4499025" cy="51955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4"/>
          <p:cNvSpPr/>
          <p:nvPr/>
        </p:nvSpPr>
        <p:spPr>
          <a:xfrm>
            <a:off x="1350436" y="2712720"/>
            <a:ext cx="1392764" cy="2669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4"/>
          <p:cNvCxnSpPr/>
          <p:nvPr/>
        </p:nvCxnSpPr>
        <p:spPr>
          <a:xfrm rot="10800000">
            <a:off x="2059448" y="2712720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71" name="Google Shape;171;p14"/>
          <p:cNvGrpSpPr/>
          <p:nvPr/>
        </p:nvGrpSpPr>
        <p:grpSpPr>
          <a:xfrm>
            <a:off x="596144" y="3468253"/>
            <a:ext cx="4398318" cy="360347"/>
            <a:chOff x="2098291" y="231122"/>
            <a:chExt cx="4467609" cy="381955"/>
          </a:xfrm>
        </p:grpSpPr>
        <p:pic>
          <p:nvPicPr>
            <p:cNvPr id="172" name="Google Shape;172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98291" y="231122"/>
              <a:ext cx="4467609" cy="3784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4"/>
            <p:cNvSpPr/>
            <p:nvPr/>
          </p:nvSpPr>
          <p:spPr>
            <a:xfrm>
              <a:off x="4124687" y="456273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4953326" y="454544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4479612" y="444222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6" name="Google Shape;176;p14"/>
          <p:cNvCxnSpPr/>
          <p:nvPr/>
        </p:nvCxnSpPr>
        <p:spPr>
          <a:xfrm rot="10800000">
            <a:off x="2928158" y="3627218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77" name="Google Shape;177;p14"/>
          <p:cNvGrpSpPr/>
          <p:nvPr/>
        </p:nvGrpSpPr>
        <p:grpSpPr>
          <a:xfrm>
            <a:off x="493410" y="4314534"/>
            <a:ext cx="4600298" cy="357085"/>
            <a:chOff x="2276546" y="4436794"/>
            <a:chExt cx="4177252" cy="350485"/>
          </a:xfrm>
        </p:grpSpPr>
        <p:pic>
          <p:nvPicPr>
            <p:cNvPr id="178" name="Google Shape;178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76546" y="4436794"/>
              <a:ext cx="4177252" cy="3423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4"/>
            <p:cNvSpPr/>
            <p:nvPr/>
          </p:nvSpPr>
          <p:spPr>
            <a:xfrm>
              <a:off x="5303275" y="4622387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4540348" y="4598406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2998340" y="4608998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4925828" y="4630475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4122984" y="4622387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2630504" y="4622387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5" name="Google Shape;185;p14"/>
          <p:cNvCxnSpPr/>
          <p:nvPr/>
        </p:nvCxnSpPr>
        <p:spPr>
          <a:xfrm rot="10800000">
            <a:off x="2987173" y="4466956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186" name="Google Shape;18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6313" y="5200124"/>
            <a:ext cx="4607395" cy="39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/>
          <p:nvPr/>
        </p:nvSpPr>
        <p:spPr>
          <a:xfrm>
            <a:off x="766219" y="5399963"/>
            <a:ext cx="1056236" cy="1896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3353824" y="5399963"/>
            <a:ext cx="593336" cy="2432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4"/>
          <p:cNvCxnSpPr/>
          <p:nvPr/>
        </p:nvCxnSpPr>
        <p:spPr>
          <a:xfrm rot="10800000">
            <a:off x="1837828" y="5384723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90" name="Google Shape;190;p14"/>
          <p:cNvGrpSpPr/>
          <p:nvPr/>
        </p:nvGrpSpPr>
        <p:grpSpPr>
          <a:xfrm>
            <a:off x="403599" y="6128307"/>
            <a:ext cx="4234956" cy="412771"/>
            <a:chOff x="2135989" y="2249093"/>
            <a:chExt cx="4429911" cy="404935"/>
          </a:xfrm>
        </p:grpSpPr>
        <p:pic>
          <p:nvPicPr>
            <p:cNvPr id="191" name="Google Shape;191;p14"/>
            <p:cNvPicPr preferRelativeResize="0"/>
            <p:nvPr/>
          </p:nvPicPr>
          <p:blipFill rotWithShape="1">
            <a:blip r:embed="rId9">
              <a:alphaModFix/>
            </a:blip>
            <a:srcRect b="0" l="1287" r="0" t="-287"/>
            <a:stretch/>
          </p:blipFill>
          <p:spPr>
            <a:xfrm>
              <a:off x="2155812" y="2249093"/>
              <a:ext cx="4410088" cy="4049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4"/>
            <p:cNvSpPr/>
            <p:nvPr/>
          </p:nvSpPr>
          <p:spPr>
            <a:xfrm>
              <a:off x="3767337" y="2457430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2960846" y="2469682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5369991" y="2435239"/>
              <a:ext cx="366696" cy="18821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2135989" y="2469682"/>
              <a:ext cx="342357" cy="1568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4573828" y="2491966"/>
              <a:ext cx="378344" cy="11223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7" name="Google Shape;197;p14"/>
          <p:cNvCxnSpPr/>
          <p:nvPr/>
        </p:nvCxnSpPr>
        <p:spPr>
          <a:xfrm rot="10800000">
            <a:off x="2693906" y="6286317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98" name="Google Shape;198;p14"/>
          <p:cNvGrpSpPr/>
          <p:nvPr/>
        </p:nvGrpSpPr>
        <p:grpSpPr>
          <a:xfrm>
            <a:off x="486313" y="7049823"/>
            <a:ext cx="4322157" cy="425318"/>
            <a:chOff x="2047370" y="4837960"/>
            <a:chExt cx="4571869" cy="398698"/>
          </a:xfrm>
        </p:grpSpPr>
        <p:pic>
          <p:nvPicPr>
            <p:cNvPr id="199" name="Google Shape;199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47370" y="4837960"/>
              <a:ext cx="4571869" cy="368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14"/>
            <p:cNvSpPr/>
            <p:nvPr/>
          </p:nvSpPr>
          <p:spPr>
            <a:xfrm>
              <a:off x="5501015" y="5071875"/>
              <a:ext cx="392210" cy="16478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4612601" y="5024611"/>
              <a:ext cx="392210" cy="16478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3744240" y="5036543"/>
              <a:ext cx="392210" cy="16478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2844037" y="5017317"/>
              <a:ext cx="392210" cy="16478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2060412" y="5017317"/>
              <a:ext cx="275631" cy="164783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5" name="Google Shape;205;p14"/>
          <p:cNvCxnSpPr/>
          <p:nvPr/>
        </p:nvCxnSpPr>
        <p:spPr>
          <a:xfrm rot="10800000">
            <a:off x="774459" y="7191835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06" name="Google Shape;20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2270" y="7972083"/>
            <a:ext cx="5139164" cy="30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4"/>
          <p:cNvSpPr/>
          <p:nvPr/>
        </p:nvSpPr>
        <p:spPr>
          <a:xfrm>
            <a:off x="2437932" y="8087399"/>
            <a:ext cx="1056236" cy="1896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033317" y="8102114"/>
            <a:ext cx="1056236" cy="18960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4"/>
          <p:cNvCxnSpPr/>
          <p:nvPr/>
        </p:nvCxnSpPr>
        <p:spPr>
          <a:xfrm rot="10800000">
            <a:off x="5318997" y="8072159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10" name="Google Shape;210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2270" y="8854706"/>
            <a:ext cx="4786726" cy="38743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/>
          <p:nvPr/>
        </p:nvSpPr>
        <p:spPr>
          <a:xfrm>
            <a:off x="883215" y="9041909"/>
            <a:ext cx="861268" cy="2170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2714153" y="9025108"/>
            <a:ext cx="861268" cy="2170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4030971" y="9025108"/>
            <a:ext cx="861268" cy="2170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4"/>
          <p:cNvCxnSpPr/>
          <p:nvPr/>
        </p:nvCxnSpPr>
        <p:spPr>
          <a:xfrm rot="10800000">
            <a:off x="3109055" y="8970253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5" name="Google Shape;215;p14"/>
          <p:cNvSpPr txBox="1"/>
          <p:nvPr/>
        </p:nvSpPr>
        <p:spPr>
          <a:xfrm>
            <a:off x="1800010" y="84212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2238000" y="84908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1926382" y="1192253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3.5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2966050" y="1818718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3389158" y="1815177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220" name="Google Shape;220;p14"/>
          <p:cNvSpPr txBox="1"/>
          <p:nvPr/>
        </p:nvSpPr>
        <p:spPr>
          <a:xfrm>
            <a:off x="3801650" y="1820963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3160768" y="2097259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</a:t>
            </a:r>
            <a:endParaRPr/>
          </a:p>
        </p:txBody>
      </p:sp>
      <p:sp>
        <p:nvSpPr>
          <p:cNvPr id="222" name="Google Shape;222;p14"/>
          <p:cNvSpPr txBox="1"/>
          <p:nvPr/>
        </p:nvSpPr>
        <p:spPr>
          <a:xfrm>
            <a:off x="1288303" y="2675031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1651797" y="2679052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2029580" y="2672172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2396558" y="2679475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1781527" y="2990095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27.5</a:t>
            </a:r>
            <a:endParaRPr/>
          </a:p>
        </p:txBody>
      </p:sp>
      <p:sp>
        <p:nvSpPr>
          <p:cNvPr id="227" name="Google Shape;227;p14"/>
          <p:cNvSpPr txBox="1"/>
          <p:nvPr/>
        </p:nvSpPr>
        <p:spPr>
          <a:xfrm>
            <a:off x="2447352" y="3576427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2926972" y="3591239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/>
          </a:p>
        </p:txBody>
      </p:sp>
      <p:sp>
        <p:nvSpPr>
          <p:cNvPr id="229" name="Google Shape;229;p14"/>
          <p:cNvSpPr txBox="1"/>
          <p:nvPr/>
        </p:nvSpPr>
        <p:spPr>
          <a:xfrm>
            <a:off x="3335148" y="3592942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700</a:t>
            </a:r>
            <a:endParaRPr/>
          </a:p>
        </p:txBody>
      </p:sp>
      <p:sp>
        <p:nvSpPr>
          <p:cNvPr id="230" name="Google Shape;230;p14"/>
          <p:cNvSpPr txBox="1"/>
          <p:nvPr/>
        </p:nvSpPr>
        <p:spPr>
          <a:xfrm>
            <a:off x="2704694" y="3901793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550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801087" y="4418363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910</a:t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1234970" y="4412649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920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2493983" y="4441527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950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2985095" y="4437055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960</a:t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3395604" y="4441527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970</a:t>
            </a:r>
            <a:endParaRPr/>
          </a:p>
        </p:txBody>
      </p:sp>
      <p:sp>
        <p:nvSpPr>
          <p:cNvPr id="236" name="Google Shape;236;p14"/>
          <p:cNvSpPr txBox="1"/>
          <p:nvPr/>
        </p:nvSpPr>
        <p:spPr>
          <a:xfrm>
            <a:off x="3828904" y="4436081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980</a:t>
            </a:r>
            <a:endParaRPr/>
          </a:p>
        </p:txBody>
      </p:sp>
      <p:sp>
        <p:nvSpPr>
          <p:cNvPr id="237" name="Google Shape;237;p14"/>
          <p:cNvSpPr txBox="1"/>
          <p:nvPr/>
        </p:nvSpPr>
        <p:spPr>
          <a:xfrm>
            <a:off x="2752585" y="4769565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955</a:t>
            </a:r>
            <a:endParaRPr/>
          </a:p>
        </p:txBody>
      </p:sp>
      <p:sp>
        <p:nvSpPr>
          <p:cNvPr id="238" name="Google Shape;238;p14"/>
          <p:cNvSpPr txBox="1"/>
          <p:nvPr/>
        </p:nvSpPr>
        <p:spPr>
          <a:xfrm>
            <a:off x="3179244" y="5355237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/>
          </a:p>
        </p:txBody>
      </p:sp>
      <p:sp>
        <p:nvSpPr>
          <p:cNvPr id="239" name="Google Shape;239;p14"/>
          <p:cNvSpPr txBox="1"/>
          <p:nvPr/>
        </p:nvSpPr>
        <p:spPr>
          <a:xfrm>
            <a:off x="3575421" y="5352000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sp>
        <p:nvSpPr>
          <p:cNvPr id="240" name="Google Shape;240;p14"/>
          <p:cNvSpPr txBox="1"/>
          <p:nvPr/>
        </p:nvSpPr>
        <p:spPr>
          <a:xfrm>
            <a:off x="1382215" y="5326078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1015326" y="5332480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717978" y="5310098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1579373" y="5635332"/>
            <a:ext cx="5946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175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153930" y="6255561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1800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1040584" y="6359446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2000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1826715" y="6367847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2200</a:t>
            </a:r>
            <a:endParaRPr/>
          </a:p>
        </p:txBody>
      </p:sp>
      <p:sp>
        <p:nvSpPr>
          <p:cNvPr id="247" name="Google Shape;247;p14"/>
          <p:cNvSpPr txBox="1"/>
          <p:nvPr/>
        </p:nvSpPr>
        <p:spPr>
          <a:xfrm>
            <a:off x="2624275" y="6367847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2400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3358750" y="6362652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2600</a:t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2417249" y="6577313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2350</a:t>
            </a:r>
            <a:endParaRPr/>
          </a:p>
        </p:txBody>
      </p:sp>
      <p:sp>
        <p:nvSpPr>
          <p:cNvPr id="250" name="Google Shape;250;p14"/>
          <p:cNvSpPr txBox="1"/>
          <p:nvPr/>
        </p:nvSpPr>
        <p:spPr>
          <a:xfrm>
            <a:off x="1219482" y="7213068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51" name="Google Shape;251;p14"/>
          <p:cNvSpPr txBox="1"/>
          <p:nvPr/>
        </p:nvSpPr>
        <p:spPr>
          <a:xfrm>
            <a:off x="2042800" y="7219223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252" name="Google Shape;252;p14"/>
          <p:cNvSpPr txBox="1"/>
          <p:nvPr/>
        </p:nvSpPr>
        <p:spPr>
          <a:xfrm>
            <a:off x="2889429" y="7246725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3710323" y="7240072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254" name="Google Shape;254;p14"/>
          <p:cNvSpPr txBox="1"/>
          <p:nvPr/>
        </p:nvSpPr>
        <p:spPr>
          <a:xfrm>
            <a:off x="372853" y="7246556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55" name="Google Shape;255;p14"/>
          <p:cNvSpPr txBox="1"/>
          <p:nvPr/>
        </p:nvSpPr>
        <p:spPr>
          <a:xfrm>
            <a:off x="510258" y="7475875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18.5</a:t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2321887" y="8046027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260</a:t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2692065" y="8075379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265</a:t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3071688" y="8046027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270</a:t>
            </a: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4839082" y="8040032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5323065" y="8055358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310</a:t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5081073" y="8377168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305</a:t>
            </a:r>
            <a:endParaRPr/>
          </a:p>
        </p:txBody>
      </p:sp>
      <p:sp>
        <p:nvSpPr>
          <p:cNvPr id="262" name="Google Shape;262;p14"/>
          <p:cNvSpPr txBox="1"/>
          <p:nvPr/>
        </p:nvSpPr>
        <p:spPr>
          <a:xfrm>
            <a:off x="2611349" y="8981017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3085765" y="8997578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500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3971306" y="8970063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4426149" y="8979009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650</a:t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1337931" y="8980275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/>
          </a:p>
        </p:txBody>
      </p:sp>
      <p:sp>
        <p:nvSpPr>
          <p:cNvPr id="267" name="Google Shape;267;p14"/>
          <p:cNvSpPr txBox="1"/>
          <p:nvPr/>
        </p:nvSpPr>
        <p:spPr>
          <a:xfrm>
            <a:off x="848892" y="8997174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250</a:t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>
            <a:off x="2831556" y="9272558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/>
          <p:nvPr/>
        </p:nvSpPr>
        <p:spPr>
          <a:xfrm>
            <a:off x="103887" y="148454"/>
            <a:ext cx="3768978" cy="2810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Estimate, label and draw numbers on number lines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15"/>
          <p:cNvGraphicFramePr/>
          <p:nvPr/>
        </p:nvGraphicFramePr>
        <p:xfrm>
          <a:off x="92631" y="5057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{7500A3B3-5D72-44B4-AF31-C8F3670BF1CD}</a:tableStyleId>
              </a:tblPr>
              <a:tblGrid>
                <a:gridCol w="1772600"/>
                <a:gridCol w="4900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Identify the two values on the number line that the number we are estimating lies between. </a:t>
                      </a:r>
                      <a:endParaRPr/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Consider the midpoint. Will the value we are estimating be above or below this?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– I do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Mark with an arrow an estimate for 123.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– We 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Estimate the number indicated by the arrow.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– You 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</a:rPr>
                        <a:t>Mark with an arrow an estimate for 380.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0895" y="1375366"/>
            <a:ext cx="4813962" cy="727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0895" y="3812824"/>
            <a:ext cx="4813962" cy="71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0895" y="2587885"/>
            <a:ext cx="4813962" cy="77045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5"/>
          <p:cNvSpPr/>
          <p:nvPr/>
        </p:nvSpPr>
        <p:spPr>
          <a:xfrm>
            <a:off x="88647" y="5076905"/>
            <a:ext cx="1137954" cy="432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279" name="Google Shape;279;p15"/>
          <p:cNvGraphicFramePr/>
          <p:nvPr/>
        </p:nvGraphicFramePr>
        <p:xfrm>
          <a:off x="88647" y="55851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{7500A3B3-5D72-44B4-AF31-C8F3670BF1CD}</a:tableStyleId>
              </a:tblPr>
              <a:tblGrid>
                <a:gridCol w="6672750"/>
              </a:tblGrid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970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 690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 557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3400</a:t>
                      </a: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0" name="Google Shape;280;p15"/>
          <p:cNvSpPr txBox="1"/>
          <p:nvPr>
            <p:ph idx="12" type="sldNum"/>
          </p:nvPr>
        </p:nvSpPr>
        <p:spPr>
          <a:xfrm>
            <a:off x="531495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1178976" y="5121986"/>
            <a:ext cx="56790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2. Label the arrows with estimated values, then mark an arrow to estimate the given value. </a:t>
            </a:r>
            <a:endParaRPr/>
          </a:p>
        </p:txBody>
      </p:sp>
      <p:pic>
        <p:nvPicPr>
          <p:cNvPr id="282" name="Google Shape;282;p15"/>
          <p:cNvPicPr preferRelativeResize="0"/>
          <p:nvPr/>
        </p:nvPicPr>
        <p:blipFill rotWithShape="1">
          <a:blip r:embed="rId6">
            <a:alphaModFix/>
          </a:blip>
          <a:srcRect b="2684" l="4411" r="0" t="56498"/>
          <a:stretch/>
        </p:blipFill>
        <p:spPr>
          <a:xfrm>
            <a:off x="1289569" y="7012343"/>
            <a:ext cx="4278861" cy="4860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15"/>
          <p:cNvCxnSpPr/>
          <p:nvPr/>
        </p:nvCxnSpPr>
        <p:spPr>
          <a:xfrm rot="10800000">
            <a:off x="4513088" y="3114497"/>
            <a:ext cx="0" cy="3603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84" name="Google Shape;284;p15"/>
          <p:cNvPicPr preferRelativeResize="0"/>
          <p:nvPr/>
        </p:nvPicPr>
        <p:blipFill rotWithShape="1">
          <a:blip r:embed="rId7">
            <a:alphaModFix/>
          </a:blip>
          <a:srcRect b="66065" l="0" r="3572" t="8566"/>
          <a:stretch/>
        </p:blipFill>
        <p:spPr>
          <a:xfrm>
            <a:off x="113164" y="8758817"/>
            <a:ext cx="6624000" cy="58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5"/>
          <p:cNvPicPr preferRelativeResize="0"/>
          <p:nvPr/>
        </p:nvPicPr>
        <p:blipFill rotWithShape="1">
          <a:blip r:embed="rId8">
            <a:alphaModFix/>
          </a:blip>
          <a:srcRect b="61570" l="1499" r="2361" t="8393"/>
          <a:stretch/>
        </p:blipFill>
        <p:spPr>
          <a:xfrm>
            <a:off x="143644" y="5843555"/>
            <a:ext cx="6557836" cy="61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15"/>
          <p:cNvCxnSpPr/>
          <p:nvPr/>
        </p:nvCxnSpPr>
        <p:spPr>
          <a:xfrm>
            <a:off x="2286000" y="6788038"/>
            <a:ext cx="0" cy="2977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7" name="Google Shape;287;p15"/>
          <p:cNvCxnSpPr/>
          <p:nvPr/>
        </p:nvCxnSpPr>
        <p:spPr>
          <a:xfrm>
            <a:off x="3558540" y="6788038"/>
            <a:ext cx="0" cy="2977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8" name="Google Shape;288;p15"/>
          <p:cNvCxnSpPr/>
          <p:nvPr/>
        </p:nvCxnSpPr>
        <p:spPr>
          <a:xfrm>
            <a:off x="4808220" y="6788038"/>
            <a:ext cx="0" cy="2977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89" name="Google Shape;289;p15"/>
          <p:cNvPicPr preferRelativeResize="0"/>
          <p:nvPr/>
        </p:nvPicPr>
        <p:blipFill rotWithShape="1">
          <a:blip r:embed="rId8">
            <a:alphaModFix/>
          </a:blip>
          <a:srcRect b="-876" l="0" r="4434" t="66197"/>
          <a:stretch/>
        </p:blipFill>
        <p:spPr>
          <a:xfrm>
            <a:off x="325687" y="7812167"/>
            <a:ext cx="6168474" cy="6686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0" name="Google Shape;290;p15"/>
          <p:cNvCxnSpPr/>
          <p:nvPr/>
        </p:nvCxnSpPr>
        <p:spPr>
          <a:xfrm rot="10800000">
            <a:off x="4086577" y="1854764"/>
            <a:ext cx="0" cy="49671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4774353" y="4297168"/>
            <a:ext cx="0" cy="49671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2" name="Google Shape;292;p15"/>
          <p:cNvSpPr txBox="1"/>
          <p:nvPr/>
        </p:nvSpPr>
        <p:spPr>
          <a:xfrm>
            <a:off x="4245302" y="3422907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165</a:t>
            </a:r>
            <a:endParaRPr/>
          </a:p>
        </p:txBody>
      </p:sp>
      <p:cxnSp>
        <p:nvCxnSpPr>
          <p:cNvPr id="293" name="Google Shape;293;p15"/>
          <p:cNvCxnSpPr/>
          <p:nvPr/>
        </p:nvCxnSpPr>
        <p:spPr>
          <a:xfrm rot="10800000">
            <a:off x="6213686" y="6115688"/>
            <a:ext cx="0" cy="3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4" name="Google Shape;294;p15"/>
          <p:cNvSpPr/>
          <p:nvPr/>
        </p:nvSpPr>
        <p:spPr>
          <a:xfrm>
            <a:off x="5925819" y="5723467"/>
            <a:ext cx="575733" cy="8085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5958712" y="5763628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970</a:t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960477" y="5580416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297" name="Google Shape;297;p15"/>
          <p:cNvSpPr txBox="1"/>
          <p:nvPr/>
        </p:nvSpPr>
        <p:spPr>
          <a:xfrm>
            <a:off x="2514662" y="5578962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410</a:t>
            </a:r>
            <a:endParaRPr/>
          </a:p>
        </p:txBody>
      </p:sp>
      <p:sp>
        <p:nvSpPr>
          <p:cNvPr id="298" name="Google Shape;298;p15"/>
          <p:cNvSpPr txBox="1"/>
          <p:nvPr/>
        </p:nvSpPr>
        <p:spPr>
          <a:xfrm>
            <a:off x="3638149" y="5577838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590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5159175" y="5576618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840</a:t>
            </a:r>
            <a:endParaRPr/>
          </a:p>
        </p:txBody>
      </p:sp>
      <p:sp>
        <p:nvSpPr>
          <p:cNvPr id="300" name="Google Shape;300;p15"/>
          <p:cNvSpPr txBox="1"/>
          <p:nvPr/>
        </p:nvSpPr>
        <p:spPr>
          <a:xfrm>
            <a:off x="3309874" y="6514553"/>
            <a:ext cx="5757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550</a:t>
            </a:r>
            <a:endParaRPr/>
          </a:p>
        </p:txBody>
      </p:sp>
      <p:sp>
        <p:nvSpPr>
          <p:cNvPr id="301" name="Google Shape;301;p15"/>
          <p:cNvSpPr txBox="1"/>
          <p:nvPr/>
        </p:nvSpPr>
        <p:spPr>
          <a:xfrm>
            <a:off x="4543213" y="6513872"/>
            <a:ext cx="5757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880</a:t>
            </a:r>
            <a:endParaRPr/>
          </a:p>
        </p:txBody>
      </p:sp>
      <p:sp>
        <p:nvSpPr>
          <p:cNvPr id="302" name="Google Shape;302;p15"/>
          <p:cNvSpPr txBox="1"/>
          <p:nvPr/>
        </p:nvSpPr>
        <p:spPr>
          <a:xfrm>
            <a:off x="2018891" y="6495194"/>
            <a:ext cx="5757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220</a:t>
            </a:r>
            <a:endParaRPr/>
          </a:p>
        </p:txBody>
      </p:sp>
      <p:sp>
        <p:nvSpPr>
          <p:cNvPr id="303" name="Google Shape;303;p15"/>
          <p:cNvSpPr txBox="1"/>
          <p:nvPr/>
        </p:nvSpPr>
        <p:spPr>
          <a:xfrm>
            <a:off x="2727986" y="5239058"/>
            <a:ext cx="32975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*Allow a range of estimates*</a:t>
            </a:r>
            <a:endParaRPr/>
          </a:p>
        </p:txBody>
      </p:sp>
      <p:sp>
        <p:nvSpPr>
          <p:cNvPr id="304" name="Google Shape;304;p15"/>
          <p:cNvSpPr txBox="1"/>
          <p:nvPr/>
        </p:nvSpPr>
        <p:spPr>
          <a:xfrm>
            <a:off x="585656" y="7601125"/>
            <a:ext cx="5757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505</a:t>
            </a:r>
            <a:endParaRPr/>
          </a:p>
        </p:txBody>
      </p:sp>
      <p:sp>
        <p:nvSpPr>
          <p:cNvPr id="305" name="Google Shape;305;p15"/>
          <p:cNvSpPr txBox="1"/>
          <p:nvPr/>
        </p:nvSpPr>
        <p:spPr>
          <a:xfrm>
            <a:off x="2945359" y="7573213"/>
            <a:ext cx="5757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546</a:t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4307876" y="7596660"/>
            <a:ext cx="5757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569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5118947" y="7596660"/>
            <a:ext cx="5757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583</a:t>
            </a:r>
            <a:endParaRPr/>
          </a:p>
        </p:txBody>
      </p:sp>
      <p:cxnSp>
        <p:nvCxnSpPr>
          <p:cNvPr id="308" name="Google Shape;308;p15"/>
          <p:cNvCxnSpPr/>
          <p:nvPr/>
        </p:nvCxnSpPr>
        <p:spPr>
          <a:xfrm rot="10800000">
            <a:off x="4063303" y="7087080"/>
            <a:ext cx="0" cy="3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9" name="Google Shape;309;p15"/>
          <p:cNvSpPr/>
          <p:nvPr/>
        </p:nvSpPr>
        <p:spPr>
          <a:xfrm>
            <a:off x="3775436" y="6694859"/>
            <a:ext cx="575733" cy="8085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3808329" y="6735020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690</a:t>
            </a:r>
            <a:endParaRPr/>
          </a:p>
        </p:txBody>
      </p:sp>
      <p:cxnSp>
        <p:nvCxnSpPr>
          <p:cNvPr id="311" name="Google Shape;311;p15"/>
          <p:cNvCxnSpPr/>
          <p:nvPr/>
        </p:nvCxnSpPr>
        <p:spPr>
          <a:xfrm rot="10800000">
            <a:off x="3808960" y="8148951"/>
            <a:ext cx="0" cy="3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2" name="Google Shape;312;p15"/>
          <p:cNvSpPr/>
          <p:nvPr/>
        </p:nvSpPr>
        <p:spPr>
          <a:xfrm>
            <a:off x="3521093" y="7756730"/>
            <a:ext cx="575733" cy="8085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3553986" y="7796891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557</a:t>
            </a:r>
            <a:endParaRPr/>
          </a:p>
        </p:txBody>
      </p:sp>
      <p:cxnSp>
        <p:nvCxnSpPr>
          <p:cNvPr id="314" name="Google Shape;314;p15"/>
          <p:cNvCxnSpPr/>
          <p:nvPr/>
        </p:nvCxnSpPr>
        <p:spPr>
          <a:xfrm rot="10800000">
            <a:off x="2363025" y="9056744"/>
            <a:ext cx="0" cy="3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5" name="Google Shape;315;p15"/>
          <p:cNvSpPr/>
          <p:nvPr/>
        </p:nvSpPr>
        <p:spPr>
          <a:xfrm>
            <a:off x="2075158" y="8664523"/>
            <a:ext cx="575733" cy="8085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2045848" y="8708107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3400</a:t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873523" y="8479857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1500</a:t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2462293" y="8472202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4100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3644537" y="8485232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5900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5159175" y="8497657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8400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16"/>
          <p:cNvPicPr preferRelativeResize="0"/>
          <p:nvPr/>
        </p:nvPicPr>
        <p:blipFill rotWithShape="1">
          <a:blip r:embed="rId3">
            <a:alphaModFix/>
          </a:blip>
          <a:srcRect b="33114" l="0" r="0" t="36059"/>
          <a:stretch/>
        </p:blipFill>
        <p:spPr>
          <a:xfrm>
            <a:off x="239749" y="2532954"/>
            <a:ext cx="6454699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6"/>
          <p:cNvPicPr preferRelativeResize="0"/>
          <p:nvPr/>
        </p:nvPicPr>
        <p:blipFill rotWithShape="1">
          <a:blip r:embed="rId4">
            <a:alphaModFix/>
          </a:blip>
          <a:srcRect b="37665" l="0" r="2153" t="33904"/>
          <a:stretch/>
        </p:blipFill>
        <p:spPr>
          <a:xfrm>
            <a:off x="413922" y="3477289"/>
            <a:ext cx="6128394" cy="5943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7" name="Google Shape;327;p16"/>
          <p:cNvGraphicFramePr/>
          <p:nvPr/>
        </p:nvGraphicFramePr>
        <p:xfrm>
          <a:off x="92631" y="2815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{7500A3B3-5D72-44B4-AF31-C8F3670BF1CD}</a:tableStyleId>
              </a:tblPr>
              <a:tblGrid>
                <a:gridCol w="6672750"/>
              </a:tblGrid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5230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 38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 600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 8600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28" name="Google Shape;328;p16"/>
          <p:cNvPicPr preferRelativeResize="0"/>
          <p:nvPr/>
        </p:nvPicPr>
        <p:blipFill rotWithShape="1">
          <a:blip r:embed="rId4">
            <a:alphaModFix/>
          </a:blip>
          <a:srcRect b="1279" l="0" r="2638" t="66325"/>
          <a:stretch/>
        </p:blipFill>
        <p:spPr>
          <a:xfrm>
            <a:off x="698612" y="601625"/>
            <a:ext cx="5624061" cy="62459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6"/>
          <p:cNvSpPr txBox="1"/>
          <p:nvPr/>
        </p:nvSpPr>
        <p:spPr>
          <a:xfrm>
            <a:off x="0" y="4275222"/>
            <a:ext cx="56790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3. Answer the following questions:</a:t>
            </a:r>
            <a:endParaRPr/>
          </a:p>
        </p:txBody>
      </p:sp>
      <p:pic>
        <p:nvPicPr>
          <p:cNvPr id="330" name="Google Shape;330;p16"/>
          <p:cNvPicPr preferRelativeResize="0"/>
          <p:nvPr/>
        </p:nvPicPr>
        <p:blipFill rotWithShape="1">
          <a:blip r:embed="rId5">
            <a:alphaModFix/>
          </a:blip>
          <a:srcRect b="88008" l="8095" r="5603" t="6148"/>
          <a:stretch/>
        </p:blipFill>
        <p:spPr>
          <a:xfrm>
            <a:off x="1730229" y="5195554"/>
            <a:ext cx="3689607" cy="3327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1" name="Google Shape;331;p16"/>
          <p:cNvGraphicFramePr/>
          <p:nvPr/>
        </p:nvGraphicFramePr>
        <p:xfrm>
          <a:off x="92631" y="45522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{7500A3B3-5D72-44B4-AF31-C8F3670BF1CD}</a:tableStyleId>
              </a:tblPr>
              <a:tblGrid>
                <a:gridCol w="6672750"/>
              </a:tblGrid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Where would the number 6 be on this number line?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 Where would the number 2 be on this number line?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Where would the number 50 be on this number line?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 Where would the number 70 be on this number line?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 Where would the number 20 be on this number line?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2" name="Google Shape;332;p16"/>
          <p:cNvSpPr txBox="1"/>
          <p:nvPr>
            <p:ph idx="12" type="sldNum"/>
          </p:nvPr>
        </p:nvSpPr>
        <p:spPr>
          <a:xfrm>
            <a:off x="531495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33" name="Google Shape;333;p16"/>
          <p:cNvPicPr preferRelativeResize="0"/>
          <p:nvPr/>
        </p:nvPicPr>
        <p:blipFill rotWithShape="1">
          <a:blip r:embed="rId6">
            <a:alphaModFix/>
          </a:blip>
          <a:srcRect b="-225" l="8889" r="9976" t="94370"/>
          <a:stretch/>
        </p:blipFill>
        <p:spPr>
          <a:xfrm>
            <a:off x="1767717" y="7042575"/>
            <a:ext cx="3617084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6"/>
          <p:cNvPicPr preferRelativeResize="0"/>
          <p:nvPr/>
        </p:nvPicPr>
        <p:blipFill rotWithShape="1">
          <a:blip r:embed="rId6">
            <a:alphaModFix/>
          </a:blip>
          <a:srcRect b="-225" l="8889" r="9976" t="94370"/>
          <a:stretch/>
        </p:blipFill>
        <p:spPr>
          <a:xfrm>
            <a:off x="1760709" y="8040046"/>
            <a:ext cx="3617084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6"/>
          <p:cNvPicPr preferRelativeResize="0"/>
          <p:nvPr/>
        </p:nvPicPr>
        <p:blipFill rotWithShape="1">
          <a:blip r:embed="rId6">
            <a:alphaModFix/>
          </a:blip>
          <a:srcRect b="-225" l="8889" r="9976" t="94370"/>
          <a:stretch/>
        </p:blipFill>
        <p:spPr>
          <a:xfrm>
            <a:off x="1767717" y="9038181"/>
            <a:ext cx="3617084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6"/>
          <p:cNvPicPr preferRelativeResize="0"/>
          <p:nvPr/>
        </p:nvPicPr>
        <p:blipFill rotWithShape="1">
          <a:blip r:embed="rId5">
            <a:alphaModFix/>
          </a:blip>
          <a:srcRect b="88008" l="8095" r="5603" t="6148"/>
          <a:stretch/>
        </p:blipFill>
        <p:spPr>
          <a:xfrm>
            <a:off x="1767717" y="6140823"/>
            <a:ext cx="3689607" cy="3327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Google Shape;337;p16"/>
          <p:cNvCxnSpPr/>
          <p:nvPr/>
        </p:nvCxnSpPr>
        <p:spPr>
          <a:xfrm rot="10800000">
            <a:off x="1988157" y="920215"/>
            <a:ext cx="0" cy="30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8" name="Google Shape;338;p16"/>
          <p:cNvSpPr/>
          <p:nvPr/>
        </p:nvSpPr>
        <p:spPr>
          <a:xfrm>
            <a:off x="1767717" y="503016"/>
            <a:ext cx="575733" cy="8085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1728870" y="570240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5230</a:t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768064" y="426130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5050</a:t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2820720" y="430201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5440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4130725" y="439367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5699</a:t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4826477" y="464497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5825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1042628" y="1348517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2491636" y="1345377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4761572" y="1345377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32.5</a:t>
            </a:r>
            <a:endParaRPr/>
          </a:p>
        </p:txBody>
      </p:sp>
      <p:grpSp>
        <p:nvGrpSpPr>
          <p:cNvPr id="347" name="Google Shape;347;p16"/>
          <p:cNvGrpSpPr/>
          <p:nvPr/>
        </p:nvGrpSpPr>
        <p:grpSpPr>
          <a:xfrm>
            <a:off x="339969" y="1615616"/>
            <a:ext cx="6354479" cy="530474"/>
            <a:chOff x="339969" y="1615616"/>
            <a:chExt cx="6354479" cy="530474"/>
          </a:xfrm>
        </p:grpSpPr>
        <p:pic>
          <p:nvPicPr>
            <p:cNvPr id="348" name="Google Shape;348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969" y="1615616"/>
              <a:ext cx="6354479" cy="53047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9" name="Google Shape;349;p16"/>
            <p:cNvCxnSpPr/>
            <p:nvPr/>
          </p:nvCxnSpPr>
          <p:spPr>
            <a:xfrm>
              <a:off x="1262472" y="1662882"/>
              <a:ext cx="0" cy="3060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2698549" y="1662882"/>
              <a:ext cx="0" cy="3060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5036099" y="1662882"/>
              <a:ext cx="0" cy="3060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352" name="Google Shape;352;p16"/>
          <p:cNvCxnSpPr/>
          <p:nvPr/>
        </p:nvCxnSpPr>
        <p:spPr>
          <a:xfrm rot="10800000">
            <a:off x="6151117" y="1962051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3" name="Google Shape;353;p16"/>
          <p:cNvSpPr/>
          <p:nvPr/>
        </p:nvSpPr>
        <p:spPr>
          <a:xfrm>
            <a:off x="5872267" y="1456318"/>
            <a:ext cx="575733" cy="8085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 txBox="1"/>
          <p:nvPr/>
        </p:nvSpPr>
        <p:spPr>
          <a:xfrm>
            <a:off x="5953361" y="1656590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355" name="Google Shape;355;p16"/>
          <p:cNvSpPr txBox="1"/>
          <p:nvPr/>
        </p:nvSpPr>
        <p:spPr>
          <a:xfrm>
            <a:off x="4478601" y="2340692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750</a:t>
            </a:r>
            <a:endParaRPr/>
          </a:p>
        </p:txBody>
      </p:sp>
      <p:sp>
        <p:nvSpPr>
          <p:cNvPr id="356" name="Google Shape;356;p16"/>
          <p:cNvSpPr txBox="1"/>
          <p:nvPr/>
        </p:nvSpPr>
        <p:spPr>
          <a:xfrm>
            <a:off x="5928529" y="2327752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9995</a:t>
            </a:r>
            <a:endParaRPr/>
          </a:p>
        </p:txBody>
      </p:sp>
      <p:sp>
        <p:nvSpPr>
          <p:cNvPr id="357" name="Google Shape;357;p16"/>
          <p:cNvSpPr txBox="1"/>
          <p:nvPr/>
        </p:nvSpPr>
        <p:spPr>
          <a:xfrm>
            <a:off x="1059088" y="2321418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140</a:t>
            </a:r>
            <a:endParaRPr/>
          </a:p>
        </p:txBody>
      </p:sp>
      <p:sp>
        <p:nvSpPr>
          <p:cNvPr id="358" name="Google Shape;358;p16"/>
          <p:cNvSpPr txBox="1"/>
          <p:nvPr/>
        </p:nvSpPr>
        <p:spPr>
          <a:xfrm>
            <a:off x="2203566" y="2327267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360</a:t>
            </a:r>
            <a:endParaRPr/>
          </a:p>
        </p:txBody>
      </p:sp>
      <p:cxnSp>
        <p:nvCxnSpPr>
          <p:cNvPr id="359" name="Google Shape;359;p16"/>
          <p:cNvCxnSpPr/>
          <p:nvPr/>
        </p:nvCxnSpPr>
        <p:spPr>
          <a:xfrm rot="10800000">
            <a:off x="3986616" y="2834187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0" name="Google Shape;360;p16"/>
          <p:cNvSpPr/>
          <p:nvPr/>
        </p:nvSpPr>
        <p:spPr>
          <a:xfrm>
            <a:off x="3707766" y="2328454"/>
            <a:ext cx="575733" cy="8085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3718657" y="2540155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600</a:t>
            </a:r>
            <a:endParaRPr/>
          </a:p>
        </p:txBody>
      </p:sp>
      <p:sp>
        <p:nvSpPr>
          <p:cNvPr id="362" name="Google Shape;362;p16"/>
          <p:cNvSpPr txBox="1"/>
          <p:nvPr/>
        </p:nvSpPr>
        <p:spPr>
          <a:xfrm>
            <a:off x="4475625" y="3318388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7500</a:t>
            </a:r>
            <a:endParaRPr/>
          </a:p>
        </p:txBody>
      </p:sp>
      <p:sp>
        <p:nvSpPr>
          <p:cNvPr id="363" name="Google Shape;363;p16"/>
          <p:cNvSpPr txBox="1"/>
          <p:nvPr/>
        </p:nvSpPr>
        <p:spPr>
          <a:xfrm>
            <a:off x="5928529" y="3318388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9990</a:t>
            </a:r>
            <a:endParaRPr/>
          </a:p>
        </p:txBody>
      </p:sp>
      <p:sp>
        <p:nvSpPr>
          <p:cNvPr id="364" name="Google Shape;364;p16"/>
          <p:cNvSpPr txBox="1"/>
          <p:nvPr/>
        </p:nvSpPr>
        <p:spPr>
          <a:xfrm>
            <a:off x="1074486" y="3318390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1300</a:t>
            </a:r>
            <a:endParaRPr/>
          </a:p>
        </p:txBody>
      </p:sp>
      <p:sp>
        <p:nvSpPr>
          <p:cNvPr id="365" name="Google Shape;365;p16"/>
          <p:cNvSpPr txBox="1"/>
          <p:nvPr/>
        </p:nvSpPr>
        <p:spPr>
          <a:xfrm>
            <a:off x="2211668" y="3313560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3600</a:t>
            </a:r>
            <a:endParaRPr/>
          </a:p>
        </p:txBody>
      </p:sp>
      <p:cxnSp>
        <p:nvCxnSpPr>
          <p:cNvPr id="366" name="Google Shape;366;p16"/>
          <p:cNvCxnSpPr/>
          <p:nvPr/>
        </p:nvCxnSpPr>
        <p:spPr>
          <a:xfrm rot="10800000">
            <a:off x="5439336" y="3837823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7" name="Google Shape;367;p16"/>
          <p:cNvSpPr/>
          <p:nvPr/>
        </p:nvSpPr>
        <p:spPr>
          <a:xfrm>
            <a:off x="5160486" y="3332090"/>
            <a:ext cx="575733" cy="80858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 txBox="1"/>
          <p:nvPr/>
        </p:nvSpPr>
        <p:spPr>
          <a:xfrm>
            <a:off x="5136842" y="3521095"/>
            <a:ext cx="8613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8600</a:t>
            </a:r>
            <a:endParaRPr/>
          </a:p>
        </p:txBody>
      </p:sp>
      <p:cxnSp>
        <p:nvCxnSpPr>
          <p:cNvPr id="369" name="Google Shape;369;p16"/>
          <p:cNvCxnSpPr/>
          <p:nvPr/>
        </p:nvCxnSpPr>
        <p:spPr>
          <a:xfrm>
            <a:off x="3880166" y="5098375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0" name="Google Shape;370;p16"/>
          <p:cNvCxnSpPr/>
          <p:nvPr/>
        </p:nvCxnSpPr>
        <p:spPr>
          <a:xfrm>
            <a:off x="2669069" y="6043644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1" name="Google Shape;371;p16"/>
          <p:cNvCxnSpPr/>
          <p:nvPr/>
        </p:nvCxnSpPr>
        <p:spPr>
          <a:xfrm>
            <a:off x="3584190" y="7042575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16"/>
          <p:cNvCxnSpPr/>
          <p:nvPr/>
        </p:nvCxnSpPr>
        <p:spPr>
          <a:xfrm>
            <a:off x="4352052" y="8040046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3" name="Google Shape;373;p16"/>
          <p:cNvCxnSpPr/>
          <p:nvPr/>
        </p:nvCxnSpPr>
        <p:spPr>
          <a:xfrm>
            <a:off x="2669069" y="9007865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" name="Google Shape;378;p17"/>
          <p:cNvGraphicFramePr/>
          <p:nvPr/>
        </p:nvGraphicFramePr>
        <p:xfrm>
          <a:off x="92631" y="2815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{7500A3B3-5D72-44B4-AF31-C8F3670BF1CD}</a:tableStyleId>
              </a:tblPr>
              <a:tblGrid>
                <a:gridCol w="6672750"/>
              </a:tblGrid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Where would the number 89 be on this number line?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 Where would the number 35 be on this number line?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 Write down an estimate for the number at the arrow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i) Write down an estimate for the number at the arrow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j) Write down an estimate for the number at the arrow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k) Write down an estimate for the number at the arrow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l) Where would the number 3000 be on this number line?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m) Where would the number 3000 be on this number line?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n) Where would the number 3000 be on this number line?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79" name="Google Shape;379;p17"/>
          <p:cNvPicPr preferRelativeResize="0"/>
          <p:nvPr/>
        </p:nvPicPr>
        <p:blipFill rotWithShape="1">
          <a:blip r:embed="rId3">
            <a:alphaModFix/>
          </a:blip>
          <a:srcRect b="25086" l="0" r="4148" t="59692"/>
          <a:stretch/>
        </p:blipFill>
        <p:spPr>
          <a:xfrm>
            <a:off x="1786798" y="8701171"/>
            <a:ext cx="3301669" cy="599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7"/>
          <p:cNvPicPr preferRelativeResize="0"/>
          <p:nvPr/>
        </p:nvPicPr>
        <p:blipFill rotWithShape="1">
          <a:blip r:embed="rId4">
            <a:alphaModFix/>
          </a:blip>
          <a:srcRect b="11510" l="4905" r="4490" t="70593"/>
          <a:stretch/>
        </p:blipFill>
        <p:spPr>
          <a:xfrm>
            <a:off x="1496784" y="5682203"/>
            <a:ext cx="4116007" cy="606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7"/>
          <p:cNvPicPr preferRelativeResize="0"/>
          <p:nvPr/>
        </p:nvPicPr>
        <p:blipFill rotWithShape="1">
          <a:blip r:embed="rId5">
            <a:alphaModFix/>
          </a:blip>
          <a:srcRect b="42113" l="0" r="0" t="18242"/>
          <a:stretch/>
        </p:blipFill>
        <p:spPr>
          <a:xfrm>
            <a:off x="1664788" y="3751312"/>
            <a:ext cx="3780000" cy="52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7"/>
          <p:cNvPicPr preferRelativeResize="0"/>
          <p:nvPr/>
        </p:nvPicPr>
        <p:blipFill rotWithShape="1">
          <a:blip r:embed="rId6">
            <a:alphaModFix/>
          </a:blip>
          <a:srcRect b="43397" l="0" r="0" t="11850"/>
          <a:stretch/>
        </p:blipFill>
        <p:spPr>
          <a:xfrm>
            <a:off x="1697866" y="2660489"/>
            <a:ext cx="3617084" cy="58007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7"/>
          <p:cNvSpPr txBox="1"/>
          <p:nvPr>
            <p:ph idx="12" type="sldNum"/>
          </p:nvPr>
        </p:nvSpPr>
        <p:spPr>
          <a:xfrm>
            <a:off x="531495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4" name="Google Shape;384;p17"/>
          <p:cNvPicPr preferRelativeResize="0"/>
          <p:nvPr/>
        </p:nvPicPr>
        <p:blipFill rotWithShape="1">
          <a:blip r:embed="rId7">
            <a:alphaModFix/>
          </a:blip>
          <a:srcRect b="-225" l="8889" r="9976" t="94370"/>
          <a:stretch/>
        </p:blipFill>
        <p:spPr>
          <a:xfrm>
            <a:off x="1697866" y="827226"/>
            <a:ext cx="3617084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7"/>
          <p:cNvPicPr preferRelativeResize="0"/>
          <p:nvPr/>
        </p:nvPicPr>
        <p:blipFill rotWithShape="1">
          <a:blip r:embed="rId7">
            <a:alphaModFix/>
          </a:blip>
          <a:srcRect b="-225" l="8889" r="9976" t="94370"/>
          <a:stretch/>
        </p:blipFill>
        <p:spPr>
          <a:xfrm>
            <a:off x="1697866" y="1808833"/>
            <a:ext cx="3617084" cy="33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17"/>
          <p:cNvCxnSpPr/>
          <p:nvPr/>
        </p:nvCxnSpPr>
        <p:spPr>
          <a:xfrm rot="10800000">
            <a:off x="3703320" y="2927391"/>
            <a:ext cx="0" cy="2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7" name="Google Shape;387;p17"/>
          <p:cNvCxnSpPr/>
          <p:nvPr/>
        </p:nvCxnSpPr>
        <p:spPr>
          <a:xfrm rot="10800000">
            <a:off x="4831080" y="3985509"/>
            <a:ext cx="0" cy="2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88" name="Google Shape;388;p17"/>
          <p:cNvGrpSpPr/>
          <p:nvPr/>
        </p:nvGrpSpPr>
        <p:grpSpPr>
          <a:xfrm>
            <a:off x="1496784" y="4702439"/>
            <a:ext cx="4116007" cy="554552"/>
            <a:chOff x="1496784" y="4580519"/>
            <a:chExt cx="4116007" cy="554552"/>
          </a:xfrm>
        </p:grpSpPr>
        <p:pic>
          <p:nvPicPr>
            <p:cNvPr id="389" name="Google Shape;389;p17"/>
            <p:cNvPicPr preferRelativeResize="0"/>
            <p:nvPr/>
          </p:nvPicPr>
          <p:blipFill rotWithShape="1">
            <a:blip r:embed="rId4">
              <a:alphaModFix/>
            </a:blip>
            <a:srcRect b="76671" l="4361" r="4763" t="6907"/>
            <a:stretch/>
          </p:blipFill>
          <p:spPr>
            <a:xfrm>
              <a:off x="1496784" y="4580519"/>
              <a:ext cx="4116007" cy="554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" name="Google Shape;390;p17"/>
            <p:cNvSpPr/>
            <p:nvPr/>
          </p:nvSpPr>
          <p:spPr>
            <a:xfrm>
              <a:off x="2971800" y="4831080"/>
              <a:ext cx="335280" cy="28473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1" name="Google Shape;391;p17"/>
          <p:cNvCxnSpPr/>
          <p:nvPr/>
        </p:nvCxnSpPr>
        <p:spPr>
          <a:xfrm rot="10800000">
            <a:off x="3002280" y="4915680"/>
            <a:ext cx="0" cy="2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2" name="Google Shape;392;p17"/>
          <p:cNvCxnSpPr/>
          <p:nvPr/>
        </p:nvCxnSpPr>
        <p:spPr>
          <a:xfrm rot="10800000">
            <a:off x="3307080" y="5954816"/>
            <a:ext cx="0" cy="2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93" name="Google Shape;393;p17"/>
          <p:cNvPicPr preferRelativeResize="0"/>
          <p:nvPr/>
        </p:nvPicPr>
        <p:blipFill rotWithShape="1">
          <a:blip r:embed="rId3">
            <a:alphaModFix/>
          </a:blip>
          <a:srcRect b="46748" l="0" r="4071" t="38030"/>
          <a:stretch/>
        </p:blipFill>
        <p:spPr>
          <a:xfrm>
            <a:off x="1784139" y="7706686"/>
            <a:ext cx="3304328" cy="599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7"/>
          <p:cNvPicPr preferRelativeResize="0"/>
          <p:nvPr/>
        </p:nvPicPr>
        <p:blipFill rotWithShape="1">
          <a:blip r:embed="rId3">
            <a:alphaModFix/>
          </a:blip>
          <a:srcRect b="67726" l="0" r="4071" t="19463"/>
          <a:stretch/>
        </p:blipFill>
        <p:spPr>
          <a:xfrm>
            <a:off x="1784139" y="6791798"/>
            <a:ext cx="3304328" cy="504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17"/>
          <p:cNvCxnSpPr/>
          <p:nvPr/>
        </p:nvCxnSpPr>
        <p:spPr>
          <a:xfrm>
            <a:off x="4680296" y="790412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6" name="Google Shape;396;p17"/>
          <p:cNvCxnSpPr/>
          <p:nvPr/>
        </p:nvCxnSpPr>
        <p:spPr>
          <a:xfrm>
            <a:off x="3056650" y="1763427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7" name="Google Shape;397;p17"/>
          <p:cNvSpPr txBox="1"/>
          <p:nvPr/>
        </p:nvSpPr>
        <p:spPr>
          <a:xfrm>
            <a:off x="3429000" y="2585039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260</a:t>
            </a:r>
            <a:endParaRPr/>
          </a:p>
        </p:txBody>
      </p:sp>
      <p:sp>
        <p:nvSpPr>
          <p:cNvPr id="398" name="Google Shape;398;p17"/>
          <p:cNvSpPr txBox="1"/>
          <p:nvPr/>
        </p:nvSpPr>
        <p:spPr>
          <a:xfrm>
            <a:off x="4524997" y="3630906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900</a:t>
            </a:r>
            <a:endParaRPr/>
          </a:p>
        </p:txBody>
      </p:sp>
      <p:sp>
        <p:nvSpPr>
          <p:cNvPr id="399" name="Google Shape;399;p17"/>
          <p:cNvSpPr txBox="1"/>
          <p:nvPr/>
        </p:nvSpPr>
        <p:spPr>
          <a:xfrm>
            <a:off x="2756583" y="4610383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400" name="Google Shape;400;p17"/>
          <p:cNvSpPr txBox="1"/>
          <p:nvPr/>
        </p:nvSpPr>
        <p:spPr>
          <a:xfrm>
            <a:off x="3025615" y="5611886"/>
            <a:ext cx="6957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cxnSp>
        <p:nvCxnSpPr>
          <p:cNvPr id="401" name="Google Shape;401;p17"/>
          <p:cNvCxnSpPr/>
          <p:nvPr/>
        </p:nvCxnSpPr>
        <p:spPr>
          <a:xfrm>
            <a:off x="3818650" y="6671755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2" name="Google Shape;402;p17"/>
          <p:cNvCxnSpPr/>
          <p:nvPr/>
        </p:nvCxnSpPr>
        <p:spPr>
          <a:xfrm>
            <a:off x="3139440" y="7662355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3" name="Google Shape;403;p17"/>
          <p:cNvCxnSpPr/>
          <p:nvPr/>
        </p:nvCxnSpPr>
        <p:spPr>
          <a:xfrm>
            <a:off x="2969455" y="8617786"/>
            <a:ext cx="0" cy="26353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