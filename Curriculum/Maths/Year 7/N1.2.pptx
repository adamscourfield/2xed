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E46FB3-42E2-402E-AAB9-653506876316}">
  <a:tblStyle styleId="{9DE46FB3-42E2-402E-AAB9-6535068763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466359" y="107166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108" y="334592"/>
            <a:ext cx="6679742" cy="121964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N1.2 – </a:t>
            </a:r>
            <a:r>
              <a:rPr b="0" i="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 integers in words and figures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9272" y="614065"/>
            <a:ext cx="1720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33426" y="852907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 startAt="2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numbers as words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Writing numbers in figures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Reading and writing decimal values</a:t>
            </a:r>
            <a:endParaRPr/>
          </a:p>
        </p:txBody>
      </p:sp>
      <p:cxnSp>
        <p:nvCxnSpPr>
          <p:cNvPr id="94" name="Google Shape;94;p13"/>
          <p:cNvCxnSpPr/>
          <p:nvPr/>
        </p:nvCxnSpPr>
        <p:spPr>
          <a:xfrm flipH="1" rot="10800000">
            <a:off x="855743" y="4125276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3"/>
          <p:cNvSpPr/>
          <p:nvPr/>
        </p:nvSpPr>
        <p:spPr>
          <a:xfrm>
            <a:off x="68353" y="2615459"/>
            <a:ext cx="6699219" cy="16127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78091" y="3451810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13"/>
          <p:cNvCxnSpPr>
            <a:stCxn id="95" idx="2"/>
            <a:endCxn id="95" idx="0"/>
          </p:cNvCxnSpPr>
          <p:nvPr/>
        </p:nvCxnSpPr>
        <p:spPr>
          <a:xfrm rot="10800000">
            <a:off x="3417963" y="2615411"/>
            <a:ext cx="0" cy="161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 txBox="1"/>
          <p:nvPr/>
        </p:nvSpPr>
        <p:spPr>
          <a:xfrm>
            <a:off x="86108" y="2615458"/>
            <a:ext cx="31571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of the numerals 0-9 used to form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592673" y="2618024"/>
            <a:ext cx="32426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Refers to a single numeral in a number, e.g. the number 61 is made of the digits 6 and 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33964" y="345268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662474" y="3429702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3085795" y="3304580"/>
            <a:ext cx="61908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74394" y="3729687"/>
            <a:ext cx="30361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0  1  2  3  4  5  6  7  8  9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717127" y="3703736"/>
            <a:ext cx="3036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MMXXIII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462108" y="3956463"/>
            <a:ext cx="3036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4828270" y="3687688"/>
            <a:ext cx="3036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365512" y="3712311"/>
            <a:ext cx="303615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707742" y="355833"/>
            <a:ext cx="5391220" cy="27699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write words as numbers and numbers as words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5048814" y="670255"/>
            <a:ext cx="1068947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 Value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5327437" y="951488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73536" y="4272578"/>
            <a:ext cx="650174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Placing commas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Often, when you see big numbers written in digits, there will be commas places in the middle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 to make them easier to read. Commas are placed every three digits, starting from the units.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for example:   5,678 is easy to read as “Five thousand, six hundred and seventy-eight”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19,876,543 you can easily spot is “Nineteen million, eight hundred and seventy-six thousand, five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hundred and forty-three”.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88140" y="1587679"/>
            <a:ext cx="6679742" cy="9764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b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7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Being able to write integers in words helps us clearly communicate large numbers and understand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their size and structure. Switching between digits and words strengthens our place value knowledge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helps avoid mistakes in reading or writing numbers.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73536" y="4266469"/>
            <a:ext cx="6679742" cy="120643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13"/>
          <p:cNvGraphicFramePr/>
          <p:nvPr/>
        </p:nvGraphicFramePr>
        <p:xfrm>
          <a:off x="72675" y="57682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1730925"/>
                <a:gridCol w="1650175"/>
                <a:gridCol w="1650175"/>
                <a:gridCol w="1650175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place value of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60</a:t>
                      </a:r>
                      <a:endParaRPr sz="1200" u="sng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55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>
                          <a:solidFill>
                            <a:schemeClr val="dk1"/>
                          </a:solidFill>
                        </a:rPr>
                        <a:t>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115" name="Google Shape;115;p13"/>
          <p:cNvGraphicFramePr/>
          <p:nvPr/>
        </p:nvGraphicFramePr>
        <p:xfrm>
          <a:off x="1882080" y="69825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746575"/>
                <a:gridCol w="746575"/>
              </a:tblGrid>
              <a:tr h="28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Google Shape;116;p13"/>
          <p:cNvGraphicFramePr/>
          <p:nvPr/>
        </p:nvGraphicFramePr>
        <p:xfrm>
          <a:off x="3535976" y="69925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746575"/>
                <a:gridCol w="746575"/>
              </a:tblGrid>
              <a:tr h="28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Google Shape;117;p13"/>
          <p:cNvGraphicFramePr/>
          <p:nvPr/>
        </p:nvGraphicFramePr>
        <p:xfrm>
          <a:off x="5184659" y="69925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746575"/>
                <a:gridCol w="746575"/>
              </a:tblGrid>
              <a:tr h="28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13"/>
          <p:cNvSpPr txBox="1"/>
          <p:nvPr/>
        </p:nvSpPr>
        <p:spPr>
          <a:xfrm>
            <a:off x="1999535" y="8453589"/>
            <a:ext cx="2222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Write each number as a word: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68353" y="8410832"/>
            <a:ext cx="1964620" cy="26136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68353" y="5536171"/>
            <a:ext cx="1964621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Writing numbers as words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" name="Google Shape;121;p13"/>
          <p:cNvGraphicFramePr/>
          <p:nvPr/>
        </p:nvGraphicFramePr>
        <p:xfrm>
          <a:off x="68352" y="8765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1113300"/>
                <a:gridCol w="1113300"/>
                <a:gridCol w="1113300"/>
                <a:gridCol w="1113300"/>
                <a:gridCol w="1113300"/>
                <a:gridCol w="1113300"/>
              </a:tblGrid>
              <a:tr h="9360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79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86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98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13"/>
          <p:cNvSpPr txBox="1"/>
          <p:nvPr/>
        </p:nvSpPr>
        <p:spPr>
          <a:xfrm>
            <a:off x="2316369" y="7673175"/>
            <a:ext cx="6245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Sixty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858819" y="7710208"/>
            <a:ext cx="1006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Fifty-five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413315" y="7729007"/>
            <a:ext cx="1054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Sixty-one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223902" y="8981787"/>
            <a:ext cx="10576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Forty-eight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1312178" y="8967543"/>
            <a:ext cx="9621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Seventy-nine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2431608" y="9016511"/>
            <a:ext cx="9621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Eighty-six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3533593" y="9079484"/>
            <a:ext cx="962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Sixteen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671745" y="8981788"/>
            <a:ext cx="9621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Ninety-eight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791175" y="8960874"/>
            <a:ext cx="9621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Thirty-nine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/>
        </p:nvSpPr>
        <p:spPr>
          <a:xfrm>
            <a:off x="5314083" y="946764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14"/>
          <p:cNvGraphicFramePr/>
          <p:nvPr/>
        </p:nvGraphicFramePr>
        <p:xfrm>
          <a:off x="88268" y="17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1730925"/>
                <a:gridCol w="1650175"/>
                <a:gridCol w="1650175"/>
                <a:gridCol w="1650175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4 -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5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6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3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place value of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293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892</a:t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137" name="Google Shape;137;p14"/>
          <p:cNvGraphicFramePr/>
          <p:nvPr/>
        </p:nvGraphicFramePr>
        <p:xfrm>
          <a:off x="1914251" y="1129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495000"/>
                <a:gridCol w="495000"/>
                <a:gridCol w="4950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14"/>
          <p:cNvGraphicFramePr/>
          <p:nvPr/>
        </p:nvGraphicFramePr>
        <p:xfrm>
          <a:off x="3543528" y="1139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503950"/>
                <a:gridCol w="503950"/>
                <a:gridCol w="50395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Google Shape;139;p14"/>
          <p:cNvGraphicFramePr/>
          <p:nvPr/>
        </p:nvGraphicFramePr>
        <p:xfrm>
          <a:off x="5202679" y="1139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503950"/>
                <a:gridCol w="503950"/>
                <a:gridCol w="50395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4"/>
          <p:cNvSpPr txBox="1"/>
          <p:nvPr/>
        </p:nvSpPr>
        <p:spPr>
          <a:xfrm>
            <a:off x="1992422" y="2702545"/>
            <a:ext cx="2222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Write each number as a word: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80904" y="2659788"/>
            <a:ext cx="1964620" cy="26136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42" name="Google Shape;142;p14"/>
          <p:cNvGraphicFramePr/>
          <p:nvPr/>
        </p:nvGraphicFramePr>
        <p:xfrm>
          <a:off x="88268" y="2986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227150"/>
                <a:gridCol w="2227150"/>
                <a:gridCol w="2227150"/>
              </a:tblGrid>
              <a:tr h="9343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127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283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382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473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592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921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" name="Google Shape;143;p14"/>
          <p:cNvGraphicFramePr/>
          <p:nvPr/>
        </p:nvGraphicFramePr>
        <p:xfrm>
          <a:off x="80904" y="4876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892500"/>
                <a:gridCol w="1929650"/>
                <a:gridCol w="1929650"/>
                <a:gridCol w="1929650"/>
              </a:tblGrid>
              <a:tr h="23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7 -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8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9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place value of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1724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2932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1829</a:t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144" name="Google Shape;144;p14"/>
          <p:cNvGraphicFramePr/>
          <p:nvPr/>
        </p:nvGraphicFramePr>
        <p:xfrm>
          <a:off x="1171763" y="5903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371250"/>
                <a:gridCol w="371250"/>
                <a:gridCol w="371250"/>
                <a:gridCol w="37125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Google Shape;145;p14"/>
          <p:cNvGraphicFramePr/>
          <p:nvPr/>
        </p:nvGraphicFramePr>
        <p:xfrm>
          <a:off x="3142759" y="5903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371250"/>
                <a:gridCol w="371250"/>
                <a:gridCol w="371250"/>
                <a:gridCol w="37125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Google Shape;146;p14"/>
          <p:cNvGraphicFramePr/>
          <p:nvPr/>
        </p:nvGraphicFramePr>
        <p:xfrm>
          <a:off x="5094091" y="5903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371250"/>
                <a:gridCol w="371250"/>
                <a:gridCol w="371250"/>
                <a:gridCol w="37125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4"/>
          <p:cNvSpPr txBox="1"/>
          <p:nvPr/>
        </p:nvSpPr>
        <p:spPr>
          <a:xfrm>
            <a:off x="1970013" y="7361031"/>
            <a:ext cx="2222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Write each number as a word: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58495" y="7318274"/>
            <a:ext cx="1964620" cy="261367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49" name="Google Shape;149;p14"/>
          <p:cNvGraphicFramePr/>
          <p:nvPr/>
        </p:nvGraphicFramePr>
        <p:xfrm>
          <a:off x="58494" y="76432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227150"/>
                <a:gridCol w="2227150"/>
                <a:gridCol w="2227150"/>
              </a:tblGrid>
              <a:tr h="99615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4892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7911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1089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2931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9810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7802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14"/>
          <p:cNvSpPr txBox="1"/>
          <p:nvPr/>
        </p:nvSpPr>
        <p:spPr>
          <a:xfrm>
            <a:off x="328624" y="3222457"/>
            <a:ext cx="21194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hundred and twenty-seven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309788" y="4122651"/>
            <a:ext cx="1961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Four hundred and seventy-three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2536330" y="3257181"/>
            <a:ext cx="20914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hundred and eighty-three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2493184" y="4187594"/>
            <a:ext cx="196187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hundred and ninety-two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4896125" y="3201544"/>
            <a:ext cx="1961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 hundred and eighty-two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4752690" y="4193801"/>
            <a:ext cx="1961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 hundred and twenty-one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1970014" y="1734486"/>
            <a:ext cx="142921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hundred and seventy-two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3626200" y="1709645"/>
            <a:ext cx="142921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hundred and ninety-three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5256388" y="1697266"/>
            <a:ext cx="142921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Eight hundred and ninety-two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1145698" y="6401265"/>
            <a:ext cx="1961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thousand, seven hundred and twenty-four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3001831" y="6401265"/>
            <a:ext cx="1961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thousand, nine hundred and thirty-two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4835788" y="6401265"/>
            <a:ext cx="1961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thousand, eight hundred and twenty-nine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118041" y="7777564"/>
            <a:ext cx="240294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Four thousand, eight hundred and ninety-two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117899" y="8776546"/>
            <a:ext cx="1961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thousand, nine hundred and thirty-one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2318532" y="7753010"/>
            <a:ext cx="209140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 thousand, nine hundred and eleven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2278086" y="8821998"/>
            <a:ext cx="217697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 thousand, eight hundred and ten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4594010" y="7856904"/>
            <a:ext cx="1961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thousand and eighty-nine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4543209" y="8821998"/>
            <a:ext cx="22639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 thousand, eight hundred and two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idx="12" type="sldNum"/>
          </p:nvPr>
        </p:nvSpPr>
        <p:spPr>
          <a:xfrm>
            <a:off x="5226682" y="947459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73" name="Google Shape;173;p15"/>
          <p:cNvGraphicFramePr/>
          <p:nvPr/>
        </p:nvGraphicFramePr>
        <p:xfrm>
          <a:off x="88268" y="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892500"/>
                <a:gridCol w="1929650"/>
                <a:gridCol w="1929650"/>
                <a:gridCol w="1929650"/>
              </a:tblGrid>
              <a:tr h="37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10 -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11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12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each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each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each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place value of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60,621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600, 261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17, 290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602,621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34, 591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177, 290</a:t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3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graphicFrame>
        <p:nvGraphicFramePr>
          <p:cNvPr id="174" name="Google Shape;174;p15"/>
          <p:cNvGraphicFramePr/>
          <p:nvPr/>
        </p:nvGraphicFramePr>
        <p:xfrm>
          <a:off x="1012368" y="1191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429300"/>
                <a:gridCol w="351500"/>
                <a:gridCol w="351500"/>
                <a:gridCol w="351500"/>
                <a:gridCol w="3515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Google Shape;175;p15"/>
          <p:cNvGraphicFramePr/>
          <p:nvPr/>
        </p:nvGraphicFramePr>
        <p:xfrm>
          <a:off x="2952006" y="1191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429300"/>
                <a:gridCol w="351500"/>
                <a:gridCol w="351500"/>
                <a:gridCol w="351500"/>
                <a:gridCol w="3515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Google Shape;176;p15"/>
          <p:cNvGraphicFramePr/>
          <p:nvPr/>
        </p:nvGraphicFramePr>
        <p:xfrm>
          <a:off x="4895083" y="11893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429300"/>
                <a:gridCol w="351500"/>
                <a:gridCol w="351500"/>
                <a:gridCol w="351500"/>
                <a:gridCol w="3515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15"/>
          <p:cNvSpPr txBox="1"/>
          <p:nvPr/>
        </p:nvSpPr>
        <p:spPr>
          <a:xfrm>
            <a:off x="1179524" y="4782636"/>
            <a:ext cx="2254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Write each number as a word.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78435" y="468591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79" name="Google Shape;179;p15"/>
          <p:cNvGraphicFramePr/>
          <p:nvPr/>
        </p:nvGraphicFramePr>
        <p:xfrm>
          <a:off x="88266" y="59039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227150"/>
                <a:gridCol w="2227150"/>
                <a:gridCol w="2227150"/>
              </a:tblGrid>
              <a:tr h="9319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40, 261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78, 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26, 928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31, 795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98, 017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17, 028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102, 261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229, 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326, 928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431, 795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798, 017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917, 208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15"/>
          <p:cNvGraphicFramePr/>
          <p:nvPr/>
        </p:nvGraphicFramePr>
        <p:xfrm>
          <a:off x="1043771" y="28569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347925"/>
                <a:gridCol w="347925"/>
                <a:gridCol w="360000"/>
                <a:gridCol w="252000"/>
                <a:gridCol w="252000"/>
                <a:gridCol w="2520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br>
                        <a:rPr lang="en-GB" sz="1200">
                          <a:solidFill>
                            <a:srgbClr val="000000"/>
                          </a:solidFill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Google Shape;181;p15"/>
          <p:cNvGraphicFramePr/>
          <p:nvPr/>
        </p:nvGraphicFramePr>
        <p:xfrm>
          <a:off x="2996867" y="28470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347925"/>
                <a:gridCol w="347925"/>
                <a:gridCol w="360000"/>
                <a:gridCol w="252000"/>
                <a:gridCol w="252000"/>
                <a:gridCol w="2520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br>
                        <a:rPr lang="en-GB" sz="1200">
                          <a:solidFill>
                            <a:srgbClr val="000000"/>
                          </a:solidFill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" name="Google Shape;182;p15"/>
          <p:cNvGraphicFramePr/>
          <p:nvPr/>
        </p:nvGraphicFramePr>
        <p:xfrm>
          <a:off x="4918560" y="28470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347925"/>
                <a:gridCol w="347925"/>
                <a:gridCol w="360000"/>
                <a:gridCol w="252000"/>
                <a:gridCol w="252000"/>
                <a:gridCol w="252000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br>
                        <a:rPr lang="en-GB" sz="1200">
                          <a:solidFill>
                            <a:srgbClr val="000000"/>
                          </a:solidFill>
                        </a:rPr>
                      </a:b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3" name="Google Shape;183;p15"/>
          <p:cNvGraphicFramePr/>
          <p:nvPr/>
        </p:nvGraphicFramePr>
        <p:xfrm>
          <a:off x="88266" y="5132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1675225"/>
                <a:gridCol w="1111050"/>
                <a:gridCol w="973800"/>
                <a:gridCol w="973800"/>
                <a:gridCol w="973800"/>
                <a:gridCol w="973800"/>
              </a:tblGrid>
              <a:tr h="32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Hundred 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 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Hundreds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15"/>
          <p:cNvSpPr txBox="1"/>
          <p:nvPr/>
        </p:nvSpPr>
        <p:spPr>
          <a:xfrm>
            <a:off x="1001077" y="1743835"/>
            <a:ext cx="196187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Sixty thousand, six hundred and twenty-one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2896776" y="1725886"/>
            <a:ext cx="20364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Seventeen thousand, two hundred and ninety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4807856" y="1669039"/>
            <a:ext cx="21031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Thirty-four thousand, five hundred and ninety-one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934902" y="3569344"/>
            <a:ext cx="20619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 hundred thousand, two hundred and sixty-one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2986183" y="3578594"/>
            <a:ext cx="196187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 hundred thousand, six hundred and twenty-one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4820140" y="3578594"/>
            <a:ext cx="196187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hundred and seventy-seven thousand, two hundred and ninety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0" y="6138990"/>
            <a:ext cx="2336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Forty thousand, two hundred and sixty-one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2203734" y="6172253"/>
            <a:ext cx="24505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Seventy-eight thousand, one hundred and eleven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4521202" y="6046656"/>
            <a:ext cx="22092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Twenty-six thousand, nine hundred and twenty-eight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0" y="6974609"/>
            <a:ext cx="2336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Thirty-one thousand, seven hundred and ninety-five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2203734" y="7094824"/>
            <a:ext cx="24505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Ninety-eight thousand and seventeen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4521202" y="7080171"/>
            <a:ext cx="22781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Seventeen thousand and twenty-eight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-52727" y="7897939"/>
            <a:ext cx="244225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hundred and two thousand, two hundred and sixty-one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2200833" y="7919871"/>
            <a:ext cx="230069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hundred and twenty-nine thousand, one hundred and eleven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4521202" y="7935262"/>
            <a:ext cx="233679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 hundred and twenty-six thousand, nine hundred and twenty-eight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-111114" y="8909273"/>
            <a:ext cx="25812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Four hundred and thirty-one thousand, seven hundred and ninety-five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2369437" y="8866615"/>
            <a:ext cx="22848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 hundred and ninety-eight thousand and seventeen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4507768" y="8893407"/>
            <a:ext cx="230500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 hundred and seventeen thousand, two hundred and eight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idx="12" type="sldNum"/>
          </p:nvPr>
        </p:nvSpPr>
        <p:spPr>
          <a:xfrm>
            <a:off x="5226681" y="930294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07" name="Google Shape;207;p16"/>
          <p:cNvGraphicFramePr/>
          <p:nvPr/>
        </p:nvGraphicFramePr>
        <p:xfrm>
          <a:off x="88268" y="2043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826125"/>
                <a:gridCol w="1951775"/>
                <a:gridCol w="1951775"/>
                <a:gridCol w="1951775"/>
              </a:tblGrid>
              <a:tr h="29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10 -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11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12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5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place value of each digit.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1,602,621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3,206,216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2,177,290</a:t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Write the number as a word.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08" name="Google Shape;208;p16"/>
          <p:cNvSpPr txBox="1"/>
          <p:nvPr/>
        </p:nvSpPr>
        <p:spPr>
          <a:xfrm>
            <a:off x="1189357" y="3721665"/>
            <a:ext cx="2254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Write each number as a word.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88268" y="362494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10" name="Google Shape;210;p16"/>
          <p:cNvGraphicFramePr/>
          <p:nvPr/>
        </p:nvGraphicFramePr>
        <p:xfrm>
          <a:off x="98099" y="500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227150"/>
                <a:gridCol w="2227150"/>
                <a:gridCol w="2227150"/>
              </a:tblGrid>
              <a:tr h="143327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1,102,261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2,229,111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1,326,928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3,022,261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4,129,301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5,126,939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7,122,462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9,293,504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9,278,906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16"/>
          <p:cNvGraphicFramePr/>
          <p:nvPr/>
        </p:nvGraphicFramePr>
        <p:xfrm>
          <a:off x="934913" y="14417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16000"/>
                <a:gridCol w="349200"/>
                <a:gridCol w="348000"/>
                <a:gridCol w="349200"/>
                <a:gridCol w="214325"/>
                <a:gridCol w="214325"/>
                <a:gridCol w="214325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" name="Google Shape;212;p16"/>
          <p:cNvGraphicFramePr/>
          <p:nvPr/>
        </p:nvGraphicFramePr>
        <p:xfrm>
          <a:off x="2899634" y="14417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16000"/>
                <a:gridCol w="349200"/>
                <a:gridCol w="348000"/>
                <a:gridCol w="349200"/>
                <a:gridCol w="214325"/>
                <a:gridCol w="214325"/>
                <a:gridCol w="214325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3" name="Google Shape;213;p16"/>
          <p:cNvGraphicFramePr/>
          <p:nvPr/>
        </p:nvGraphicFramePr>
        <p:xfrm>
          <a:off x="4834682" y="14417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16000"/>
                <a:gridCol w="349200"/>
                <a:gridCol w="348000"/>
                <a:gridCol w="349200"/>
                <a:gridCol w="214325"/>
                <a:gridCol w="214325"/>
                <a:gridCol w="214325"/>
              </a:tblGrid>
              <a:tr h="269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 th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9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4" name="Google Shape;214;p16"/>
          <p:cNvGraphicFramePr/>
          <p:nvPr/>
        </p:nvGraphicFramePr>
        <p:xfrm>
          <a:off x="98098" y="40621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950250"/>
                <a:gridCol w="950250"/>
                <a:gridCol w="950250"/>
                <a:gridCol w="950250"/>
                <a:gridCol w="950250"/>
                <a:gridCol w="950250"/>
                <a:gridCol w="950250"/>
              </a:tblGrid>
              <a:tr h="86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Millions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Hundred 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 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Hundreds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16"/>
          <p:cNvSpPr txBox="1"/>
          <p:nvPr/>
        </p:nvSpPr>
        <p:spPr>
          <a:xfrm>
            <a:off x="934913" y="2187757"/>
            <a:ext cx="196472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million, six hundred and two thousand, six hundred and twenty-one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2840288" y="2147620"/>
            <a:ext cx="19053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 million, two hundred and six thousand, two hundred and sixteen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4805009" y="2142037"/>
            <a:ext cx="205299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million, one hundred and seventy-seven thousand, two hundred and ninety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93676" y="5278136"/>
            <a:ext cx="218249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million, o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 hundred and two thousand, two hundred and sixty-one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2173911" y="5382379"/>
            <a:ext cx="25298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million, two</a:t>
            </a:r>
            <a:r>
              <a:rPr b="0" i="0" lang="en-GB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hundred and twenty-nine thousand, one hundred and eleven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4543733" y="5213102"/>
            <a:ext cx="218249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million, three</a:t>
            </a: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hundred and twenty-six thousand, nine hundred and twenty-eight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8098" y="6776751"/>
            <a:ext cx="21824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Three million, twenty-two</a:t>
            </a: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thousand, two hundred and </a:t>
            </a: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sixty-one</a:t>
            </a:r>
            <a:endParaRPr b="0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2215823" y="6552845"/>
            <a:ext cx="25298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Four million, one hundred and twenty-nine </a:t>
            </a: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thousand, three hundred and </a:t>
            </a: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4597072" y="6653640"/>
            <a:ext cx="218249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Five million, one hundred and twenty-six </a:t>
            </a: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thousand, </a:t>
            </a: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</a:t>
            </a: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hundred and </a:t>
            </a: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thirty-nine</a:t>
            </a:r>
            <a:endParaRPr b="0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19383" y="8031623"/>
            <a:ext cx="199644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Seven million, one hundred and twenty-two </a:t>
            </a: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thousand, four hundred and </a:t>
            </a: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sixty-two</a:t>
            </a:r>
            <a:endParaRPr b="0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2337107" y="8102612"/>
            <a:ext cx="226672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 million, two hundred and ninety-three thousand</a:t>
            </a: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five hundred and four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510798" y="8080296"/>
            <a:ext cx="22154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Nine million, two hundred and seventy-eight thousand</a:t>
            </a:r>
            <a:r>
              <a:rPr b="0" i="0" lang="en-GB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nine hundred and six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/>
          <p:nvPr/>
        </p:nvSpPr>
        <p:spPr>
          <a:xfrm>
            <a:off x="1217427" y="3260602"/>
            <a:ext cx="32431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Write each of these words in numerals (digits) </a:t>
            </a:r>
            <a:endParaRPr/>
          </a:p>
        </p:txBody>
      </p:sp>
      <p:sp>
        <p:nvSpPr>
          <p:cNvPr id="232" name="Google Shape;232;p17"/>
          <p:cNvSpPr txBox="1"/>
          <p:nvPr>
            <p:ph idx="12" type="sldNum"/>
          </p:nvPr>
        </p:nvSpPr>
        <p:spPr>
          <a:xfrm>
            <a:off x="5227323" y="945886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33" name="Google Shape;233;p17"/>
          <p:cNvGraphicFramePr/>
          <p:nvPr/>
        </p:nvGraphicFramePr>
        <p:xfrm>
          <a:off x="88268" y="410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1555475"/>
                <a:gridCol w="1708675"/>
                <a:gridCol w="1708675"/>
                <a:gridCol w="1708675"/>
              </a:tblGrid>
              <a:tr h="21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13 -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14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15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this as a numeral (digits).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this as a numeral (digits).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Write this as a numeral (digits).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8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words referring to the place value (like hundred, thousand, million etc.)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Twenty-nine thousand,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Five hundred and ninety-two</a:t>
                      </a:r>
                      <a:endParaRPr sz="12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Four million, eight hundred and fifty-eight thousand, one hundred and fourteen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Seven hundred and forty-eight thousand, five hundred and thirty-two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Determine how to write each place value separately.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50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Put the parts together in the correct order.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34" name="Google Shape;234;p17"/>
          <p:cNvSpPr/>
          <p:nvPr/>
        </p:nvSpPr>
        <p:spPr>
          <a:xfrm>
            <a:off x="79473" y="3127846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235" name="Google Shape;235;p17"/>
          <p:cNvGraphicFramePr/>
          <p:nvPr/>
        </p:nvGraphicFramePr>
        <p:xfrm>
          <a:off x="88179" y="42736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2227150"/>
                <a:gridCol w="2227150"/>
                <a:gridCol w="2227150"/>
              </a:tblGrid>
              <a:tr h="8897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Eight thousand, nine hundred and thirty-two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Eight thousand, seven hundred and thirty-two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Three thousand, seven hundred and thirty-two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</a:t>
                      </a:r>
                      <a:r>
                        <a:rPr lang="en-GB" sz="1200"/>
                        <a:t>Seventeen thousand, four         hundred and nineteen.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</a:t>
                      </a:r>
                      <a:r>
                        <a:rPr lang="en-GB" sz="1200"/>
                        <a:t>Seventeen thousand, seven hundred and one.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</a:t>
                      </a:r>
                      <a:r>
                        <a:rPr lang="en-GB" sz="1200"/>
                        <a:t>Eighteen thousand, two hundred and forty-three.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</a:t>
                      </a:r>
                      <a:r>
                        <a:rPr lang="en-GB" sz="1200"/>
                        <a:t>Thirty-two thousand, six hundred and twenty-nine.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</a:t>
                      </a:r>
                      <a:r>
                        <a:rPr lang="en-GB" sz="1200"/>
                        <a:t>One hundred and twenty-two thousand, five hundred and ninety-two.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</a:t>
                      </a:r>
                      <a:r>
                        <a:rPr lang="en-GB" sz="1200"/>
                        <a:t>One hundred and thirty-five thousand, five hundred and eighteen.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</a:t>
                      </a:r>
                      <a:r>
                        <a:rPr lang="en-GB" sz="1200"/>
                        <a:t>Ninety thousand and forty-one.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</a:t>
                      </a:r>
                      <a:r>
                        <a:rPr lang="en-GB" sz="1200"/>
                        <a:t>Two hundred thousand and sixteen.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</a:t>
                      </a:r>
                      <a:r>
                        <a:rPr lang="en-GB" sz="1200"/>
                        <a:t>Two hundred thousand and sixty-two.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</a:t>
                      </a:r>
                      <a:r>
                        <a:rPr lang="en-GB" sz="1200"/>
                        <a:t>Three hundred and forty-six thousand and seven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</a:t>
                      </a:r>
                      <a:r>
                        <a:rPr lang="en-GB" sz="1200"/>
                        <a:t>Three hundred and forty-six thousand, seven hundred and seven.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 </a:t>
                      </a:r>
                      <a:r>
                        <a:rPr lang="en-GB" sz="1200"/>
                        <a:t>Three hundred and forty-six thousand and eighteen.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 </a:t>
                      </a:r>
                      <a:r>
                        <a:rPr lang="en-GB" sz="1200"/>
                        <a:t>Two hundred and twelve thousand, two hundred and twelve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 </a:t>
                      </a:r>
                      <a:r>
                        <a:rPr lang="en-GB" sz="1200"/>
                        <a:t>One million, seven hundred thousand. 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 </a:t>
                      </a:r>
                      <a:r>
                        <a:rPr lang="en-GB" sz="1200"/>
                        <a:t>One million, seven hundred thousand and two.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" name="Google Shape;236;p17"/>
          <p:cNvGraphicFramePr/>
          <p:nvPr/>
        </p:nvGraphicFramePr>
        <p:xfrm>
          <a:off x="88179" y="35320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950250"/>
                <a:gridCol w="950250"/>
                <a:gridCol w="950250"/>
                <a:gridCol w="950250"/>
                <a:gridCol w="950250"/>
                <a:gridCol w="950250"/>
                <a:gridCol w="950250"/>
              </a:tblGrid>
              <a:tr h="6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Millions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Hundred 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 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Thousands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Hundreds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Tens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</a:rPr>
                        <a:t>Ones</a:t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17"/>
          <p:cNvSpPr txBox="1"/>
          <p:nvPr/>
        </p:nvSpPr>
        <p:spPr>
          <a:xfrm>
            <a:off x="784860" y="1773674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29,592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4213860" y="1704372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748,532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2334644" y="1773674"/>
            <a:ext cx="3825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4,858,114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540877" y="4634509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8932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2803169" y="4666426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8732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4964025" y="4634509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3732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540877" y="5555838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17, 419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2803169" y="5587755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17,701</a:t>
            </a:r>
            <a:endParaRPr/>
          </a:p>
        </p:txBody>
      </p:sp>
      <p:sp>
        <p:nvSpPr>
          <p:cNvPr id="245" name="Google Shape;245;p17"/>
          <p:cNvSpPr txBox="1"/>
          <p:nvPr/>
        </p:nvSpPr>
        <p:spPr>
          <a:xfrm>
            <a:off x="4964025" y="5555838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18,243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598468" y="6533777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32,629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2860760" y="6565694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122,592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5021616" y="6533777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135,518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540877" y="7374933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90,041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2803169" y="7406850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200,016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>
            <a:off x="4964025" y="7374933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200,062</a:t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540877" y="8276926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346,007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2803169" y="8308843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346,707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4964025" y="8276926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346,018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575573" y="9170704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212,212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2837865" y="9202621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1,700,000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4998721" y="9170704"/>
            <a:ext cx="1353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1,700,002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8"/>
          <p:cNvGrpSpPr/>
          <p:nvPr/>
        </p:nvGrpSpPr>
        <p:grpSpPr>
          <a:xfrm>
            <a:off x="325500" y="4332513"/>
            <a:ext cx="6227700" cy="5358464"/>
            <a:chOff x="325500" y="4397829"/>
            <a:chExt cx="6227700" cy="5358464"/>
          </a:xfrm>
        </p:grpSpPr>
        <p:pic>
          <p:nvPicPr>
            <p:cNvPr descr="A picture containing chart&#10;&#10;Description automatically generated" id="263" name="Google Shape;26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5500" y="4416862"/>
              <a:ext cx="6206999" cy="5339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18"/>
            <p:cNvSpPr/>
            <p:nvPr/>
          </p:nvSpPr>
          <p:spPr>
            <a:xfrm>
              <a:off x="326571" y="4397829"/>
              <a:ext cx="6226629" cy="161108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8"/>
          <p:cNvSpPr txBox="1"/>
          <p:nvPr/>
        </p:nvSpPr>
        <p:spPr>
          <a:xfrm>
            <a:off x="117084" y="149707"/>
            <a:ext cx="6598858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6" name="Google Shape;266;p18"/>
          <p:cNvGraphicFramePr/>
          <p:nvPr/>
        </p:nvGraphicFramePr>
        <p:xfrm>
          <a:off x="130812" y="4892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{9DE46FB3-42E2-402E-AAB9-653506876316}</a:tableStyleId>
              </a:tblPr>
              <a:tblGrid>
                <a:gridCol w="6570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following number in words: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405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Four thousand and five            B. Four hundred and fifty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Forty five                                     D. Four hundred and five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following number in words: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500 032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3429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Fifty thousand and thirty-two                  B. Five hundred thousand and thirty-two</a:t>
                      </a:r>
                      <a:endParaRPr/>
                    </a:p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Five hundred and thirty-two                    D. Five thousand and thirty-two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twelve thousand and thirty-one in figures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6" marL="24003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1,231                B. 12,031</a:t>
                      </a:r>
                      <a:endParaRPr/>
                    </a:p>
                    <a:p>
                      <a:pPr indent="-342900" lvl="6" marL="2400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12,0031            D. 1,200,031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fifty-six thousand and thirteen in figures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6" marL="24003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5,613                B. 56,030</a:t>
                      </a:r>
                      <a:endParaRPr/>
                    </a:p>
                    <a:p>
                      <a:pPr indent="-342900" lvl="6" marL="2400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56,013              D. 560,013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number twenty million, thirty-six thousand and two in figures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342900" lvl="6" marL="24003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20,360,002                B. 200,036,002</a:t>
                      </a:r>
                      <a:endParaRPr/>
                    </a:p>
                    <a:p>
                      <a:pPr indent="-342900" lvl="6" marL="2400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UcPeriod" startAt="3"/>
                      </a:pPr>
                      <a:r>
                        <a:rPr b="0" lang="en-GB" sz="1200" u="none" cap="none" strike="noStrike">
                          <a:solidFill>
                            <a:schemeClr val="dk1"/>
                          </a:solidFill>
                        </a:rPr>
                        <a:t>20,036,002                D. 236,002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18"/>
          <p:cNvSpPr txBox="1"/>
          <p:nvPr>
            <p:ph idx="12" type="sldNum"/>
          </p:nvPr>
        </p:nvSpPr>
        <p:spPr>
          <a:xfrm>
            <a:off x="5212690" y="938679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3335531" y="1412929"/>
            <a:ext cx="2402238" cy="37195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3090044" y="2539298"/>
            <a:ext cx="3463156" cy="33855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3103772" y="3521891"/>
            <a:ext cx="1192654" cy="33276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1821504" y="4586976"/>
            <a:ext cx="1336153" cy="29974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1821504" y="5439570"/>
            <a:ext cx="1691899" cy="332769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