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AD8AA6-36D1-44F5-A7D9-AC7A007B66F0}">
  <a:tblStyle styleId="{41AD8AA6-36D1-44F5-A7D9-AC7A007B66F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FB1A1291-EE85-4EAD-ADC7-661DDEA952C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0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10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0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0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0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0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0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0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1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1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1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aphicFrame>
        <p:nvGraphicFramePr>
          <p:cNvPr id="89" name="Google Shape;89;p13"/>
          <p:cNvGraphicFramePr/>
          <p:nvPr/>
        </p:nvGraphicFramePr>
        <p:xfrm>
          <a:off x="110713" y="6286601"/>
          <a:ext cx="3000000" cy="3000000"/>
        </p:xfrm>
        <a:graphic>
          <a:graphicData uri="http://schemas.openxmlformats.org/drawingml/2006/table">
            <a:tbl>
              <a:tblPr bandRow="1" firstRow="1">
                <a:noFill/>
                <a:tableStyleId>{41AD8AA6-36D1-44F5-A7D9-AC7A007B66F0}</a:tableStyleId>
              </a:tblPr>
              <a:tblGrid>
                <a:gridCol w="1123000"/>
                <a:gridCol w="1852825"/>
                <a:gridCol w="1852825"/>
                <a:gridCol w="1852825"/>
              </a:tblGrid>
              <a:tr h="28037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LCM of 3 and 7</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LCM of 6 and 9</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LCM of 5 and 8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3983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List the  first  few multiples of each number.</a:t>
                      </a:r>
                      <a:br>
                        <a:rPr lang="en-GB" sz="1200">
                          <a:solidFill>
                            <a:schemeClr val="dk1"/>
                          </a:solidFill>
                        </a:rPr>
                      </a:br>
                      <a:endParaRPr sz="1200">
                        <a:solidFill>
                          <a:schemeClr val="dk1"/>
                        </a:solidFill>
                      </a:endParaRPr>
                    </a:p>
                    <a:p>
                      <a:pPr indent="0" lvl="0" marL="0" marR="0" rtl="0" algn="l">
                        <a:spcBef>
                          <a:spcPts val="0"/>
                        </a:spcBef>
                        <a:spcAft>
                          <a:spcPts val="0"/>
                        </a:spcAft>
                        <a:buNone/>
                      </a:pPr>
                      <a:r>
                        <a:rPr lang="en-GB" sz="1200">
                          <a:solidFill>
                            <a:schemeClr val="dk1"/>
                          </a:solidFill>
                        </a:rPr>
                        <a:t>2) </a:t>
                      </a:r>
                      <a:r>
                        <a:rPr b="0" lang="en-GB" sz="1200">
                          <a:solidFill>
                            <a:schemeClr val="dk1"/>
                          </a:solidFill>
                        </a:rPr>
                        <a:t>Identify the multiples common to both lists, then circle the lowest common multiple.</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solidFill>
                            <a:schemeClr val="dk1"/>
                          </a:solidFill>
                        </a:rPr>
                        <a:t>Multiples of 3</a:t>
                      </a:r>
                      <a:endParaRPr/>
                    </a:p>
                    <a:p>
                      <a:pPr indent="0" lvl="0" marL="0" marR="0" rtl="0" algn="l">
                        <a:spcBef>
                          <a:spcPts val="0"/>
                        </a:spcBef>
                        <a:spcAft>
                          <a:spcPts val="0"/>
                        </a:spcAft>
                        <a:buNone/>
                      </a:pPr>
                      <a:r>
                        <a:rPr lang="en-GB" sz="1200">
                          <a:solidFill>
                            <a:schemeClr val="dk1"/>
                          </a:solidFill>
                        </a:rPr>
                        <a:t>3, 6, 9, 12, 15, 18, 21, 24, 27, 30, 33, 36, 39, 42…</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Multiples of 7</a:t>
                      </a:r>
                      <a:endParaRPr/>
                    </a:p>
                    <a:p>
                      <a:pPr indent="0" lvl="0" marL="0" marR="0" rtl="0" algn="l">
                        <a:spcBef>
                          <a:spcPts val="0"/>
                        </a:spcBef>
                        <a:spcAft>
                          <a:spcPts val="0"/>
                        </a:spcAft>
                        <a:buNone/>
                      </a:pPr>
                      <a:r>
                        <a:rPr lang="en-GB" sz="1200">
                          <a:solidFill>
                            <a:schemeClr val="dk1"/>
                          </a:solidFill>
                        </a:rPr>
                        <a:t>7, 14, 21, 28, 35, 42, 49…</a:t>
                      </a:r>
                      <a:endParaRPr/>
                    </a:p>
                    <a:p>
                      <a:pPr indent="0" lvl="0" marL="0" marR="0" rtl="0" algn="ctr">
                        <a:spcBef>
                          <a:spcPts val="0"/>
                        </a:spcBef>
                        <a:spcAft>
                          <a:spcPts val="0"/>
                        </a:spcAft>
                        <a:buNone/>
                      </a:pPr>
                      <a:r>
                        <a:rPr b="1" lang="en-GB" sz="2000">
                          <a:solidFill>
                            <a:srgbClr val="FF0000"/>
                          </a:solidFill>
                        </a:rPr>
                        <a:t>21</a:t>
                      </a:r>
                      <a:endParaRPr/>
                    </a:p>
                    <a:p>
                      <a:pPr indent="0" lvl="0" marL="0" marR="0" rtl="0" algn="ctr">
                        <a:spcBef>
                          <a:spcPts val="0"/>
                        </a:spcBef>
                        <a:spcAft>
                          <a:spcPts val="0"/>
                        </a:spcAft>
                        <a:buNone/>
                      </a:pPr>
                      <a:r>
                        <a:t/>
                      </a:r>
                      <a:endParaRPr b="1" sz="2000">
                        <a:solidFill>
                          <a:srgbClr val="FF0000"/>
                        </a:solidFill>
                      </a:endParaRPr>
                    </a:p>
                    <a:p>
                      <a:pPr indent="0" lvl="0" marL="0" marR="0" rtl="0" algn="ctr">
                        <a:spcBef>
                          <a:spcPts val="0"/>
                        </a:spcBef>
                        <a:spcAft>
                          <a:spcPts val="0"/>
                        </a:spcAft>
                        <a:buNone/>
                      </a:pPr>
                      <a:r>
                        <a:t/>
                      </a:r>
                      <a:endParaRPr b="1" sz="2000">
                        <a:solidFill>
                          <a:srgbClr val="FF0000"/>
                        </a:solidFill>
                      </a:endParaRPr>
                    </a:p>
                    <a:p>
                      <a:pPr indent="0" lvl="0" marL="0" marR="0" rtl="0" algn="ctr">
                        <a:spcBef>
                          <a:spcPts val="0"/>
                        </a:spcBef>
                        <a:spcAft>
                          <a:spcPts val="0"/>
                        </a:spcAft>
                        <a:buNone/>
                      </a:pPr>
                      <a:r>
                        <a:t/>
                      </a:r>
                      <a:endParaRPr b="1" sz="20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6, 12, 18, 24, 30, 36, 42…</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9, 18, 27, 36, 45, 54…</a:t>
                      </a:r>
                      <a:endParaRPr/>
                    </a:p>
                    <a:p>
                      <a:pPr indent="0" lvl="0" marL="0" marR="0" rtl="0" algn="ctr">
                        <a:spcBef>
                          <a:spcPts val="0"/>
                        </a:spcBef>
                        <a:spcAft>
                          <a:spcPts val="0"/>
                        </a:spcAft>
                        <a:buNone/>
                      </a:pPr>
                      <a:r>
                        <a:rPr b="1" lang="en-GB" sz="2000">
                          <a:solidFill>
                            <a:srgbClr val="FF0000"/>
                          </a:solidFill>
                        </a:rPr>
                        <a:t>18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5, 10, 15, 20, 25, 30, 35, 40, 45, 50…</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8, 16, 24, 32, 40, 48, 56…</a:t>
                      </a:r>
                      <a:endParaRPr/>
                    </a:p>
                    <a:p>
                      <a:pPr indent="0" lvl="0" marL="0" marR="0" rtl="0" algn="ctr">
                        <a:spcBef>
                          <a:spcPts val="0"/>
                        </a:spcBef>
                        <a:spcAft>
                          <a:spcPts val="0"/>
                        </a:spcAft>
                        <a:buNone/>
                      </a:pPr>
                      <a:r>
                        <a:rPr b="1" lang="en-GB" sz="2000">
                          <a:solidFill>
                            <a:srgbClr val="FF0000"/>
                          </a:solidFill>
                        </a:rPr>
                        <a:t>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0" name="Google Shape;90;p13"/>
          <p:cNvSpPr txBox="1"/>
          <p:nvPr/>
        </p:nvSpPr>
        <p:spPr>
          <a:xfrm>
            <a:off x="1414073" y="6009238"/>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1 - I do…</a:t>
            </a:r>
            <a:endParaRPr/>
          </a:p>
        </p:txBody>
      </p:sp>
      <p:sp>
        <p:nvSpPr>
          <p:cNvPr id="91" name="Google Shape;91;p13"/>
          <p:cNvSpPr txBox="1"/>
          <p:nvPr/>
        </p:nvSpPr>
        <p:spPr>
          <a:xfrm>
            <a:off x="5092757" y="6000297"/>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 – You do…</a:t>
            </a:r>
            <a:endParaRPr/>
          </a:p>
        </p:txBody>
      </p:sp>
      <p:sp>
        <p:nvSpPr>
          <p:cNvPr id="92" name="Google Shape;92;p13"/>
          <p:cNvSpPr txBox="1"/>
          <p:nvPr>
            <p:ph idx="12" type="sldNum"/>
          </p:nvPr>
        </p:nvSpPr>
        <p:spPr>
          <a:xfrm>
            <a:off x="5261873" y="935579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93" name="Google Shape;93;p13"/>
          <p:cNvSpPr/>
          <p:nvPr/>
        </p:nvSpPr>
        <p:spPr>
          <a:xfrm>
            <a:off x="82741" y="332926"/>
            <a:ext cx="6679742" cy="148777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4" name="Google Shape;94;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N3.12 – Lowest Common Multiple</a:t>
            </a:r>
            <a:endParaRPr/>
          </a:p>
        </p:txBody>
      </p:sp>
      <p:sp>
        <p:nvSpPr>
          <p:cNvPr id="95" name="Google Shape;95;p13"/>
          <p:cNvSpPr txBox="1"/>
          <p:nvPr/>
        </p:nvSpPr>
        <p:spPr>
          <a:xfrm>
            <a:off x="36994" y="707644"/>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6" name="Google Shape;96;p13"/>
          <p:cNvSpPr txBox="1"/>
          <p:nvPr/>
        </p:nvSpPr>
        <p:spPr>
          <a:xfrm>
            <a:off x="350669" y="958736"/>
            <a:ext cx="4667990" cy="64633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understand what the LCM represents.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find the LCM of two or more numbers.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solve word problems using the concept of LCM</a:t>
            </a:r>
            <a:endParaRPr/>
          </a:p>
        </p:txBody>
      </p:sp>
      <p:sp>
        <p:nvSpPr>
          <p:cNvPr id="97" name="Google Shape;97;p13"/>
          <p:cNvSpPr txBox="1"/>
          <p:nvPr/>
        </p:nvSpPr>
        <p:spPr>
          <a:xfrm>
            <a:off x="482507" y="403109"/>
            <a:ext cx="5831853" cy="27699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find the lowest common multiple (LCM) of a group of numbers.</a:t>
            </a:r>
            <a:endParaRPr/>
          </a:p>
        </p:txBody>
      </p:sp>
      <p:sp>
        <p:nvSpPr>
          <p:cNvPr id="98" name="Google Shape;98;p13"/>
          <p:cNvSpPr txBox="1"/>
          <p:nvPr/>
        </p:nvSpPr>
        <p:spPr>
          <a:xfrm>
            <a:off x="5126021" y="730961"/>
            <a:ext cx="1593553" cy="1015663"/>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Multiples</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Common Multiples</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Lowest Common Multiples</a:t>
            </a:r>
            <a:endParaRPr/>
          </a:p>
        </p:txBody>
      </p:sp>
      <p:sp>
        <p:nvSpPr>
          <p:cNvPr id="99" name="Google Shape;99;p13"/>
          <p:cNvSpPr txBox="1"/>
          <p:nvPr/>
        </p:nvSpPr>
        <p:spPr>
          <a:xfrm>
            <a:off x="3120945" y="600576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 – We do…</a:t>
            </a:r>
            <a:endParaRPr/>
          </a:p>
        </p:txBody>
      </p:sp>
      <p:sp>
        <p:nvSpPr>
          <p:cNvPr id="100" name="Google Shape;100;p13"/>
          <p:cNvSpPr/>
          <p:nvPr/>
        </p:nvSpPr>
        <p:spPr>
          <a:xfrm>
            <a:off x="91054" y="5639021"/>
            <a:ext cx="3833317" cy="275657"/>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Identifying the lowest common multiple of two numbers</a:t>
            </a:r>
            <a:endParaRPr/>
          </a:p>
        </p:txBody>
      </p:sp>
      <p:cxnSp>
        <p:nvCxnSpPr>
          <p:cNvPr id="101" name="Google Shape;101;p13"/>
          <p:cNvCxnSpPr/>
          <p:nvPr/>
        </p:nvCxnSpPr>
        <p:spPr>
          <a:xfrm flipH="1" rot="10800000">
            <a:off x="947641" y="5170746"/>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02" name="Google Shape;102;p13"/>
          <p:cNvSpPr/>
          <p:nvPr/>
        </p:nvSpPr>
        <p:spPr>
          <a:xfrm>
            <a:off x="92960" y="3240150"/>
            <a:ext cx="6699219" cy="225880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3" name="Google Shape;103;p13"/>
          <p:cNvCxnSpPr/>
          <p:nvPr/>
        </p:nvCxnSpPr>
        <p:spPr>
          <a:xfrm>
            <a:off x="92960" y="4456782"/>
            <a:ext cx="6699219" cy="0"/>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13"/>
          <p:cNvCxnSpPr>
            <a:stCxn id="102" idx="2"/>
            <a:endCxn id="102" idx="0"/>
          </p:cNvCxnSpPr>
          <p:nvPr/>
        </p:nvCxnSpPr>
        <p:spPr>
          <a:xfrm rot="10800000">
            <a:off x="3442570" y="3240251"/>
            <a:ext cx="0" cy="2258700"/>
          </a:xfrm>
          <a:prstGeom prst="straightConnector1">
            <a:avLst/>
          </a:prstGeom>
          <a:noFill/>
          <a:ln cap="flat" cmpd="sng" w="9525">
            <a:solidFill>
              <a:schemeClr val="dk1"/>
            </a:solidFill>
            <a:prstDash val="solid"/>
            <a:miter lim="800000"/>
            <a:headEnd len="sm" w="sm" type="none"/>
            <a:tailEnd len="sm" w="sm" type="none"/>
          </a:ln>
        </p:spPr>
      </p:cxnSp>
      <p:sp>
        <p:nvSpPr>
          <p:cNvPr id="105" name="Google Shape;105;p13"/>
          <p:cNvSpPr txBox="1"/>
          <p:nvPr/>
        </p:nvSpPr>
        <p:spPr>
          <a:xfrm>
            <a:off x="110715" y="3240150"/>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6" name="Google Shape;106;p13"/>
          <p:cNvSpPr txBox="1"/>
          <p:nvPr/>
        </p:nvSpPr>
        <p:spPr>
          <a:xfrm>
            <a:off x="5749674" y="3251784"/>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7" name="Google Shape;107;p13"/>
          <p:cNvSpPr txBox="1"/>
          <p:nvPr/>
        </p:nvSpPr>
        <p:spPr>
          <a:xfrm>
            <a:off x="104952" y="4449472"/>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08" name="Google Shape;108;p13"/>
          <p:cNvSpPr txBox="1"/>
          <p:nvPr/>
        </p:nvSpPr>
        <p:spPr>
          <a:xfrm>
            <a:off x="5674947" y="4460621"/>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9" name="Google Shape;109;p13"/>
          <p:cNvSpPr txBox="1"/>
          <p:nvPr/>
        </p:nvSpPr>
        <p:spPr>
          <a:xfrm>
            <a:off x="105109" y="3427074"/>
            <a:ext cx="3230335"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The smallest integer which is a multiple of two or more positive integers.</a:t>
            </a:r>
            <a:endParaRPr sz="1200">
              <a:solidFill>
                <a:schemeClr val="dk1"/>
              </a:solidFill>
              <a:latin typeface="Calibri"/>
              <a:ea typeface="Calibri"/>
              <a:cs typeface="Calibri"/>
              <a:sym typeface="Calibri"/>
            </a:endParaRPr>
          </a:p>
        </p:txBody>
      </p:sp>
      <p:sp>
        <p:nvSpPr>
          <p:cNvPr id="110" name="Google Shape;110;p13"/>
          <p:cNvSpPr txBox="1"/>
          <p:nvPr/>
        </p:nvSpPr>
        <p:spPr>
          <a:xfrm>
            <a:off x="3471985" y="3392158"/>
            <a:ext cx="3230335" cy="1384995"/>
          </a:xfrm>
          <a:prstGeom prst="rect">
            <a:avLst/>
          </a:prstGeom>
          <a:noFill/>
          <a:ln>
            <a:noFill/>
          </a:ln>
        </p:spPr>
        <p:txBody>
          <a:bodyPr anchorCtr="0" anchor="b"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Will be greater than or equal to the largest of the numbers.</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Often abbreviated to LCM</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Appears in the times table of all given numbers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11" name="Google Shape;111;p13"/>
          <p:cNvSpPr txBox="1"/>
          <p:nvPr/>
        </p:nvSpPr>
        <p:spPr>
          <a:xfrm>
            <a:off x="2159450" y="4385687"/>
            <a:ext cx="2560894"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Lowest common multiple</a:t>
            </a:r>
            <a:endParaRPr sz="1800">
              <a:solidFill>
                <a:schemeClr val="dk1"/>
              </a:solidFill>
              <a:latin typeface="Calibri"/>
              <a:ea typeface="Calibri"/>
              <a:cs typeface="Calibri"/>
              <a:sym typeface="Calibri"/>
            </a:endParaRPr>
          </a:p>
        </p:txBody>
      </p:sp>
      <p:sp>
        <p:nvSpPr>
          <p:cNvPr id="112" name="Google Shape;112;p13"/>
          <p:cNvSpPr txBox="1"/>
          <p:nvPr/>
        </p:nvSpPr>
        <p:spPr>
          <a:xfrm>
            <a:off x="126574" y="4667954"/>
            <a:ext cx="3230335" cy="83099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8 and 12 = 24</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30 and 15 = 30</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3 and 7 = 21</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4, 5 and 6 = 60</a:t>
            </a:r>
            <a:endParaRPr/>
          </a:p>
        </p:txBody>
      </p:sp>
      <p:sp>
        <p:nvSpPr>
          <p:cNvPr id="113" name="Google Shape;113;p13"/>
          <p:cNvSpPr txBox="1"/>
          <p:nvPr/>
        </p:nvSpPr>
        <p:spPr>
          <a:xfrm>
            <a:off x="3478202" y="4836323"/>
            <a:ext cx="3230335"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4 and 6 ≠ 2</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3 and 5 ≠ 1</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LCM of 4 and 8 ≠ 4</a:t>
            </a:r>
            <a:endParaRPr/>
          </a:p>
        </p:txBody>
      </p:sp>
      <p:sp>
        <p:nvSpPr>
          <p:cNvPr id="114" name="Google Shape;114;p13"/>
          <p:cNvSpPr/>
          <p:nvPr/>
        </p:nvSpPr>
        <p:spPr>
          <a:xfrm>
            <a:off x="80085" y="1907427"/>
            <a:ext cx="6671317" cy="112155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115" name="Google Shape;115;p13"/>
          <p:cNvSpPr txBox="1"/>
          <p:nvPr/>
        </p:nvSpPr>
        <p:spPr>
          <a:xfrm>
            <a:off x="36994" y="1870781"/>
            <a:ext cx="277827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rgbClr val="000000"/>
                </a:solidFill>
                <a:latin typeface="Calibri"/>
                <a:ea typeface="Calibri"/>
                <a:cs typeface="Calibri"/>
                <a:sym typeface="Calibri"/>
              </a:rPr>
              <a:t>Introduction: </a:t>
            </a:r>
            <a:endParaRPr/>
          </a:p>
        </p:txBody>
      </p:sp>
      <p:sp>
        <p:nvSpPr>
          <p:cNvPr id="116" name="Google Shape;116;p13"/>
          <p:cNvSpPr txBox="1"/>
          <p:nvPr/>
        </p:nvSpPr>
        <p:spPr>
          <a:xfrm>
            <a:off x="49282" y="2094378"/>
            <a:ext cx="6783309" cy="830997"/>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The lowest common multiple (LCM) is the smallest number that two (or more) numbers both divide</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into evenly. Think of it as the first number that both numbers "share" when you list their multiples. The</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LCM is useful when you’re adding or subtracting fractions, scheduling events, or solving problems that</a:t>
            </a:r>
            <a:endParaRPr/>
          </a:p>
          <a:p>
            <a:pPr indent="-228600" lvl="0" marL="228600" marR="0" rtl="0" algn="l">
              <a:lnSpc>
                <a:spcPct val="100000"/>
              </a:lnSpc>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involve repeated cycles or patterns. </a:t>
            </a:r>
            <a:endParaRPr sz="12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txBox="1"/>
          <p:nvPr>
            <p:ph idx="12" type="sldNum"/>
          </p:nvPr>
        </p:nvSpPr>
        <p:spPr>
          <a:xfrm>
            <a:off x="5384318" y="956217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22" name="Google Shape;122;p14"/>
          <p:cNvSpPr txBox="1"/>
          <p:nvPr/>
        </p:nvSpPr>
        <p:spPr>
          <a:xfrm>
            <a:off x="1229007" y="215450"/>
            <a:ext cx="504593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1. </a:t>
            </a:r>
            <a:r>
              <a:rPr lang="en-GB" sz="1200">
                <a:solidFill>
                  <a:schemeClr val="dk1"/>
                </a:solidFill>
                <a:latin typeface="Calibri"/>
                <a:ea typeface="Calibri"/>
                <a:cs typeface="Calibri"/>
                <a:sym typeface="Calibri"/>
              </a:rPr>
              <a:t>Find the lowest common multiple (LCM) of each of these pairs of numbers. </a:t>
            </a:r>
            <a:endParaRPr/>
          </a:p>
        </p:txBody>
      </p:sp>
      <p:graphicFrame>
        <p:nvGraphicFramePr>
          <p:cNvPr id="123" name="Google Shape;123;p14"/>
          <p:cNvGraphicFramePr/>
          <p:nvPr/>
        </p:nvGraphicFramePr>
        <p:xfrm>
          <a:off x="138031" y="533723"/>
          <a:ext cx="3000000" cy="3000000"/>
        </p:xfrm>
        <a:graphic>
          <a:graphicData uri="http://schemas.openxmlformats.org/drawingml/2006/table">
            <a:tbl>
              <a:tblPr>
                <a:noFill/>
                <a:tableStyleId>{FB1A1291-EE85-4EAD-ADC7-661DDEA952CE}</a:tableStyleId>
              </a:tblPr>
              <a:tblGrid>
                <a:gridCol w="2193975"/>
                <a:gridCol w="2193975"/>
                <a:gridCol w="2193975"/>
              </a:tblGrid>
              <a:tr h="1836000">
                <a:tc>
                  <a:txBody>
                    <a:bodyPr/>
                    <a:lstStyle/>
                    <a:p>
                      <a:pPr indent="0" lvl="0" marL="0" marR="0" rtl="0" algn="l">
                        <a:spcBef>
                          <a:spcPts val="0"/>
                        </a:spcBef>
                        <a:spcAft>
                          <a:spcPts val="0"/>
                        </a:spcAft>
                        <a:buNone/>
                      </a:pPr>
                      <a:r>
                        <a:rPr lang="en-GB" sz="1200"/>
                        <a:t>a) 5 and 6</a:t>
                      </a:r>
                      <a:endParaRPr/>
                    </a:p>
                  </a:txBody>
                  <a:tcPr marT="45725" marB="45725" marR="91450" marL="91450"/>
                </a:tc>
                <a:tc>
                  <a:txBody>
                    <a:bodyPr/>
                    <a:lstStyle/>
                    <a:p>
                      <a:pPr indent="0" lvl="0" marL="0" marR="0" rtl="0" algn="l">
                        <a:spcBef>
                          <a:spcPts val="0"/>
                        </a:spcBef>
                        <a:spcAft>
                          <a:spcPts val="0"/>
                        </a:spcAft>
                        <a:buNone/>
                      </a:pPr>
                      <a:r>
                        <a:rPr lang="en-GB" sz="1200"/>
                        <a:t>b) 2 and 7</a:t>
                      </a:r>
                      <a:endParaRPr/>
                    </a:p>
                  </a:txBody>
                  <a:tcPr marT="45725" marB="45725" marR="91450" marL="91450"/>
                </a:tc>
                <a:tc>
                  <a:txBody>
                    <a:bodyPr/>
                    <a:lstStyle/>
                    <a:p>
                      <a:pPr indent="0" lvl="0" marL="0" marR="0" rtl="0" algn="l">
                        <a:spcBef>
                          <a:spcPts val="0"/>
                        </a:spcBef>
                        <a:spcAft>
                          <a:spcPts val="0"/>
                        </a:spcAft>
                        <a:buNone/>
                      </a:pPr>
                      <a:r>
                        <a:rPr lang="en-GB" sz="1200"/>
                        <a:t>c) 3 and 8</a:t>
                      </a:r>
                      <a:endParaRPr/>
                    </a:p>
                  </a:txBody>
                  <a:tcPr marT="45725" marB="45725" marR="91450" marL="91450"/>
                </a:tc>
              </a:tr>
              <a:tr h="1836000">
                <a:tc>
                  <a:txBody>
                    <a:bodyPr/>
                    <a:lstStyle/>
                    <a:p>
                      <a:pPr indent="0" lvl="0" marL="0" marR="0" rtl="0" algn="l">
                        <a:spcBef>
                          <a:spcPts val="0"/>
                        </a:spcBef>
                        <a:spcAft>
                          <a:spcPts val="0"/>
                        </a:spcAft>
                        <a:buNone/>
                      </a:pPr>
                      <a:r>
                        <a:rPr lang="en-GB" sz="1200"/>
                        <a:t>d) 4 and 10</a:t>
                      </a:r>
                      <a:endParaRPr/>
                    </a:p>
                  </a:txBody>
                  <a:tcPr marT="45725" marB="45725" marR="91450" marL="91450"/>
                </a:tc>
                <a:tc>
                  <a:txBody>
                    <a:bodyPr/>
                    <a:lstStyle/>
                    <a:p>
                      <a:pPr indent="0" lvl="0" marL="0" marR="0" rtl="0" algn="l">
                        <a:spcBef>
                          <a:spcPts val="0"/>
                        </a:spcBef>
                        <a:spcAft>
                          <a:spcPts val="0"/>
                        </a:spcAft>
                        <a:buNone/>
                      </a:pPr>
                      <a:r>
                        <a:rPr lang="en-GB" sz="1200"/>
                        <a:t>e) 9 and 4 </a:t>
                      </a:r>
                      <a:endParaRPr/>
                    </a:p>
                  </a:txBody>
                  <a:tcPr marT="45725" marB="45725" marR="91450" marL="91450"/>
                </a:tc>
                <a:tc>
                  <a:txBody>
                    <a:bodyPr/>
                    <a:lstStyle/>
                    <a:p>
                      <a:pPr indent="0" lvl="0" marL="0" marR="0" rtl="0" algn="l">
                        <a:spcBef>
                          <a:spcPts val="0"/>
                        </a:spcBef>
                        <a:spcAft>
                          <a:spcPts val="0"/>
                        </a:spcAft>
                        <a:buNone/>
                      </a:pPr>
                      <a:r>
                        <a:rPr lang="en-GB" sz="1200"/>
                        <a:t>f) 6 and 7</a:t>
                      </a:r>
                      <a:endParaRPr/>
                    </a:p>
                  </a:txBody>
                  <a:tcPr marT="45725" marB="45725" marR="91450" marL="91450"/>
                </a:tc>
              </a:tr>
              <a:tr h="1836000">
                <a:tc>
                  <a:txBody>
                    <a:bodyPr/>
                    <a:lstStyle/>
                    <a:p>
                      <a:pPr indent="0" lvl="0" marL="0" marR="0" rtl="0" algn="l">
                        <a:spcBef>
                          <a:spcPts val="0"/>
                        </a:spcBef>
                        <a:spcAft>
                          <a:spcPts val="0"/>
                        </a:spcAft>
                        <a:buNone/>
                      </a:pPr>
                      <a:r>
                        <a:rPr lang="en-GB" sz="1200"/>
                        <a:t>g) 25 and 35</a:t>
                      </a:r>
                      <a:endParaRPr/>
                    </a:p>
                  </a:txBody>
                  <a:tcPr marT="45725" marB="45725" marR="91450" marL="91450"/>
                </a:tc>
                <a:tc>
                  <a:txBody>
                    <a:bodyPr/>
                    <a:lstStyle/>
                    <a:p>
                      <a:pPr indent="0" lvl="0" marL="0" marR="0" rtl="0" algn="l">
                        <a:spcBef>
                          <a:spcPts val="0"/>
                        </a:spcBef>
                        <a:spcAft>
                          <a:spcPts val="0"/>
                        </a:spcAft>
                        <a:buNone/>
                      </a:pPr>
                      <a:r>
                        <a:rPr lang="en-GB" sz="1200"/>
                        <a:t>h) 16 and 24</a:t>
                      </a:r>
                      <a:endParaRPr/>
                    </a:p>
                  </a:txBody>
                  <a:tcPr marT="45725" marB="45725" marR="91450" marL="91450"/>
                </a:tc>
                <a:tc>
                  <a:txBody>
                    <a:bodyPr/>
                    <a:lstStyle/>
                    <a:p>
                      <a:pPr indent="0" lvl="0" marL="0" marR="0" rtl="0" algn="l">
                        <a:spcBef>
                          <a:spcPts val="0"/>
                        </a:spcBef>
                        <a:spcAft>
                          <a:spcPts val="0"/>
                        </a:spcAft>
                        <a:buNone/>
                      </a:pPr>
                      <a:r>
                        <a:rPr lang="en-GB" sz="1200"/>
                        <a:t>i) 20 and 28</a:t>
                      </a:r>
                      <a:endParaRPr/>
                    </a:p>
                  </a:txBody>
                  <a:tcPr marT="45725" marB="45725" marR="91450" marL="91450"/>
                </a:tc>
              </a:tr>
              <a:tr h="1836000">
                <a:tc>
                  <a:txBody>
                    <a:bodyPr/>
                    <a:lstStyle/>
                    <a:p>
                      <a:pPr indent="0" lvl="0" marL="0" marR="0" rtl="0" algn="l">
                        <a:spcBef>
                          <a:spcPts val="0"/>
                        </a:spcBef>
                        <a:spcAft>
                          <a:spcPts val="0"/>
                        </a:spcAft>
                        <a:buNone/>
                      </a:pPr>
                      <a:r>
                        <a:rPr lang="en-GB" sz="1200"/>
                        <a:t>j) 12 and 1</a:t>
                      </a:r>
                      <a:endParaRPr/>
                    </a:p>
                  </a:txBody>
                  <a:tcPr marT="45725" marB="45725" marR="91450" marL="91450"/>
                </a:tc>
                <a:tc>
                  <a:txBody>
                    <a:bodyPr/>
                    <a:lstStyle/>
                    <a:p>
                      <a:pPr indent="0" lvl="0" marL="0" marR="0" rtl="0" algn="l">
                        <a:spcBef>
                          <a:spcPts val="0"/>
                        </a:spcBef>
                        <a:spcAft>
                          <a:spcPts val="0"/>
                        </a:spcAft>
                        <a:buNone/>
                      </a:pPr>
                      <a:r>
                        <a:rPr lang="en-GB" sz="1200"/>
                        <a:t>k) 12 and 2</a:t>
                      </a:r>
                      <a:endParaRPr/>
                    </a:p>
                  </a:txBody>
                  <a:tcPr marT="45725" marB="45725" marR="91450" marL="91450"/>
                </a:tc>
                <a:tc>
                  <a:txBody>
                    <a:bodyPr/>
                    <a:lstStyle/>
                    <a:p>
                      <a:pPr indent="0" lvl="0" marL="0" marR="0" rtl="0" algn="l">
                        <a:spcBef>
                          <a:spcPts val="0"/>
                        </a:spcBef>
                        <a:spcAft>
                          <a:spcPts val="0"/>
                        </a:spcAft>
                        <a:buNone/>
                      </a:pPr>
                      <a:r>
                        <a:rPr lang="en-GB" sz="1200"/>
                        <a:t>l) 12 and 3</a:t>
                      </a:r>
                      <a:endParaRPr/>
                    </a:p>
                  </a:txBody>
                  <a:tcPr marT="45725" marB="45725" marR="91450" marL="91450"/>
                </a:tc>
              </a:tr>
              <a:tr h="1836000">
                <a:tc>
                  <a:txBody>
                    <a:bodyPr/>
                    <a:lstStyle/>
                    <a:p>
                      <a:pPr indent="0" lvl="0" marL="0" marR="0" rtl="0" algn="l">
                        <a:spcBef>
                          <a:spcPts val="0"/>
                        </a:spcBef>
                        <a:spcAft>
                          <a:spcPts val="0"/>
                        </a:spcAft>
                        <a:buNone/>
                      </a:pPr>
                      <a:r>
                        <a:rPr lang="en-GB" sz="1200"/>
                        <a:t>m) 12 and 4</a:t>
                      </a:r>
                      <a:endParaRPr/>
                    </a:p>
                  </a:txBody>
                  <a:tcPr marT="45725" marB="45725" marR="91450" marL="91450"/>
                </a:tc>
                <a:tc>
                  <a:txBody>
                    <a:bodyPr/>
                    <a:lstStyle/>
                    <a:p>
                      <a:pPr indent="0" lvl="0" marL="0" marR="0" rtl="0" algn="l">
                        <a:spcBef>
                          <a:spcPts val="0"/>
                        </a:spcBef>
                        <a:spcAft>
                          <a:spcPts val="0"/>
                        </a:spcAft>
                        <a:buNone/>
                      </a:pPr>
                      <a:r>
                        <a:rPr lang="en-GB" sz="1200"/>
                        <a:t>n) 12 and 5</a:t>
                      </a:r>
                      <a:endParaRPr/>
                    </a:p>
                  </a:txBody>
                  <a:tcPr marT="45725" marB="45725" marR="91450" marL="91450"/>
                </a:tc>
                <a:tc>
                  <a:txBody>
                    <a:bodyPr/>
                    <a:lstStyle/>
                    <a:p>
                      <a:pPr indent="0" lvl="0" marL="0" marR="0" rtl="0" algn="l">
                        <a:spcBef>
                          <a:spcPts val="0"/>
                        </a:spcBef>
                        <a:spcAft>
                          <a:spcPts val="0"/>
                        </a:spcAft>
                        <a:buNone/>
                      </a:pPr>
                      <a:r>
                        <a:rPr lang="en-GB" sz="1200"/>
                        <a:t>o) 12 and 6</a:t>
                      </a:r>
                      <a:endParaRPr/>
                    </a:p>
                  </a:txBody>
                  <a:tcPr marT="45725" marB="45725" marR="91450" marL="91450"/>
                </a:tc>
              </a:tr>
            </a:tbl>
          </a:graphicData>
        </a:graphic>
      </p:graphicFrame>
      <p:sp>
        <p:nvSpPr>
          <p:cNvPr id="124" name="Google Shape;124;p14"/>
          <p:cNvSpPr/>
          <p:nvPr/>
        </p:nvSpPr>
        <p:spPr>
          <a:xfrm>
            <a:off x="105947" y="72331"/>
            <a:ext cx="1123060" cy="382441"/>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25" name="Google Shape;125;p14"/>
          <p:cNvSpPr txBox="1"/>
          <p:nvPr/>
        </p:nvSpPr>
        <p:spPr>
          <a:xfrm>
            <a:off x="845127" y="145472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30</a:t>
            </a:r>
            <a:endParaRPr/>
          </a:p>
        </p:txBody>
      </p:sp>
      <p:sp>
        <p:nvSpPr>
          <p:cNvPr id="126" name="Google Shape;126;p14"/>
          <p:cNvSpPr txBox="1"/>
          <p:nvPr/>
        </p:nvSpPr>
        <p:spPr>
          <a:xfrm>
            <a:off x="3219647" y="145472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14</a:t>
            </a:r>
            <a:endParaRPr/>
          </a:p>
        </p:txBody>
      </p:sp>
      <p:sp>
        <p:nvSpPr>
          <p:cNvPr id="127" name="Google Shape;127;p14"/>
          <p:cNvSpPr txBox="1"/>
          <p:nvPr/>
        </p:nvSpPr>
        <p:spPr>
          <a:xfrm>
            <a:off x="5384318" y="145472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24</a:t>
            </a:r>
            <a:endParaRPr/>
          </a:p>
        </p:txBody>
      </p:sp>
      <p:sp>
        <p:nvSpPr>
          <p:cNvPr id="128" name="Google Shape;128;p14"/>
          <p:cNvSpPr txBox="1"/>
          <p:nvPr/>
        </p:nvSpPr>
        <p:spPr>
          <a:xfrm>
            <a:off x="845127" y="300643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20</a:t>
            </a:r>
            <a:endParaRPr/>
          </a:p>
        </p:txBody>
      </p:sp>
      <p:sp>
        <p:nvSpPr>
          <p:cNvPr id="129" name="Google Shape;129;p14"/>
          <p:cNvSpPr txBox="1"/>
          <p:nvPr/>
        </p:nvSpPr>
        <p:spPr>
          <a:xfrm>
            <a:off x="3219647" y="300643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36</a:t>
            </a:r>
            <a:endParaRPr/>
          </a:p>
        </p:txBody>
      </p:sp>
      <p:sp>
        <p:nvSpPr>
          <p:cNvPr id="130" name="Google Shape;130;p14"/>
          <p:cNvSpPr txBox="1"/>
          <p:nvPr/>
        </p:nvSpPr>
        <p:spPr>
          <a:xfrm>
            <a:off x="5384318" y="300643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42</a:t>
            </a:r>
            <a:endParaRPr/>
          </a:p>
        </p:txBody>
      </p:sp>
      <p:sp>
        <p:nvSpPr>
          <p:cNvPr id="131" name="Google Shape;131;p14"/>
          <p:cNvSpPr txBox="1"/>
          <p:nvPr/>
        </p:nvSpPr>
        <p:spPr>
          <a:xfrm>
            <a:off x="845127" y="4768334"/>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175</a:t>
            </a:r>
            <a:endParaRPr/>
          </a:p>
        </p:txBody>
      </p:sp>
      <p:sp>
        <p:nvSpPr>
          <p:cNvPr id="132" name="Google Shape;132;p14"/>
          <p:cNvSpPr txBox="1"/>
          <p:nvPr/>
        </p:nvSpPr>
        <p:spPr>
          <a:xfrm>
            <a:off x="3219647" y="4768334"/>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48</a:t>
            </a:r>
            <a:endParaRPr/>
          </a:p>
        </p:txBody>
      </p:sp>
      <p:sp>
        <p:nvSpPr>
          <p:cNvPr id="133" name="Google Shape;133;p14"/>
          <p:cNvSpPr txBox="1"/>
          <p:nvPr/>
        </p:nvSpPr>
        <p:spPr>
          <a:xfrm>
            <a:off x="5384318" y="4768334"/>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140</a:t>
            </a:r>
            <a:endParaRPr/>
          </a:p>
        </p:txBody>
      </p:sp>
      <p:sp>
        <p:nvSpPr>
          <p:cNvPr id="134" name="Google Shape;134;p14"/>
          <p:cNvSpPr txBox="1"/>
          <p:nvPr/>
        </p:nvSpPr>
        <p:spPr>
          <a:xfrm>
            <a:off x="1019655" y="6650182"/>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35" name="Google Shape;135;p14"/>
          <p:cNvSpPr txBox="1"/>
          <p:nvPr/>
        </p:nvSpPr>
        <p:spPr>
          <a:xfrm>
            <a:off x="3228107" y="6650182"/>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36" name="Google Shape;136;p14"/>
          <p:cNvSpPr txBox="1"/>
          <p:nvPr/>
        </p:nvSpPr>
        <p:spPr>
          <a:xfrm>
            <a:off x="5558846" y="6650182"/>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37" name="Google Shape;137;p14"/>
          <p:cNvSpPr txBox="1"/>
          <p:nvPr/>
        </p:nvSpPr>
        <p:spPr>
          <a:xfrm>
            <a:off x="1019655" y="853203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38" name="Google Shape;138;p14"/>
          <p:cNvSpPr txBox="1"/>
          <p:nvPr/>
        </p:nvSpPr>
        <p:spPr>
          <a:xfrm>
            <a:off x="3184823" y="853203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a:t>
            </a:r>
            <a:endParaRPr/>
          </a:p>
        </p:txBody>
      </p:sp>
      <p:sp>
        <p:nvSpPr>
          <p:cNvPr id="139" name="Google Shape;139;p14"/>
          <p:cNvSpPr txBox="1"/>
          <p:nvPr/>
        </p:nvSpPr>
        <p:spPr>
          <a:xfrm>
            <a:off x="5558846" y="853203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15"/>
          <p:cNvGraphicFramePr/>
          <p:nvPr/>
        </p:nvGraphicFramePr>
        <p:xfrm>
          <a:off x="138031" y="214480"/>
          <a:ext cx="3000000" cy="3000000"/>
        </p:xfrm>
        <a:graphic>
          <a:graphicData uri="http://schemas.openxmlformats.org/drawingml/2006/table">
            <a:tbl>
              <a:tblPr>
                <a:noFill/>
                <a:tableStyleId>{FB1A1291-EE85-4EAD-ADC7-661DDEA952CE}</a:tableStyleId>
              </a:tblPr>
              <a:tblGrid>
                <a:gridCol w="2193975"/>
                <a:gridCol w="2193975"/>
                <a:gridCol w="2193975"/>
              </a:tblGrid>
              <a:tr h="1836000">
                <a:tc>
                  <a:txBody>
                    <a:bodyPr/>
                    <a:lstStyle/>
                    <a:p>
                      <a:pPr indent="0" lvl="0" marL="0" marR="0" rtl="0" algn="l">
                        <a:spcBef>
                          <a:spcPts val="0"/>
                        </a:spcBef>
                        <a:spcAft>
                          <a:spcPts val="0"/>
                        </a:spcAft>
                        <a:buNone/>
                      </a:pPr>
                      <a:r>
                        <a:rPr lang="en-GB" sz="1200"/>
                        <a:t>p) 12 and 7</a:t>
                      </a:r>
                      <a:endParaRPr/>
                    </a:p>
                  </a:txBody>
                  <a:tcPr marT="45725" marB="45725" marR="91450" marL="91450"/>
                </a:tc>
                <a:tc>
                  <a:txBody>
                    <a:bodyPr/>
                    <a:lstStyle/>
                    <a:p>
                      <a:pPr indent="0" lvl="0" marL="0" marR="0" rtl="0" algn="l">
                        <a:spcBef>
                          <a:spcPts val="0"/>
                        </a:spcBef>
                        <a:spcAft>
                          <a:spcPts val="0"/>
                        </a:spcAft>
                        <a:buNone/>
                      </a:pPr>
                      <a:r>
                        <a:rPr lang="en-GB" sz="1200"/>
                        <a:t>q) 12 and 8</a:t>
                      </a:r>
                      <a:endParaRPr/>
                    </a:p>
                  </a:txBody>
                  <a:tcPr marT="45725" marB="45725" marR="91450" marL="91450"/>
                </a:tc>
                <a:tc>
                  <a:txBody>
                    <a:bodyPr/>
                    <a:lstStyle/>
                    <a:p>
                      <a:pPr indent="0" lvl="0" marL="0" marR="0" rtl="0" algn="l">
                        <a:spcBef>
                          <a:spcPts val="0"/>
                        </a:spcBef>
                        <a:spcAft>
                          <a:spcPts val="0"/>
                        </a:spcAft>
                        <a:buNone/>
                      </a:pPr>
                      <a:r>
                        <a:rPr lang="en-GB" sz="1200"/>
                        <a:t>r) 12 and 9</a:t>
                      </a:r>
                      <a:endParaRPr/>
                    </a:p>
                  </a:txBody>
                  <a:tcPr marT="45725" marB="45725" marR="91450" marL="91450"/>
                </a:tc>
              </a:tr>
              <a:tr h="1836000">
                <a:tc>
                  <a:txBody>
                    <a:bodyPr/>
                    <a:lstStyle/>
                    <a:p>
                      <a:pPr indent="0" lvl="0" marL="0" marR="0" rtl="0" algn="l">
                        <a:spcBef>
                          <a:spcPts val="0"/>
                        </a:spcBef>
                        <a:spcAft>
                          <a:spcPts val="0"/>
                        </a:spcAft>
                        <a:buNone/>
                      </a:pPr>
                      <a:r>
                        <a:rPr lang="en-GB" sz="1200"/>
                        <a:t>s) 12 and 10</a:t>
                      </a:r>
                      <a:endParaRPr/>
                    </a:p>
                  </a:txBody>
                  <a:tcPr marT="45725" marB="45725" marR="91450" marL="91450"/>
                </a:tc>
                <a:tc>
                  <a:txBody>
                    <a:bodyPr/>
                    <a:lstStyle/>
                    <a:p>
                      <a:pPr indent="0" lvl="0" marL="0" marR="0" rtl="0" algn="l">
                        <a:spcBef>
                          <a:spcPts val="0"/>
                        </a:spcBef>
                        <a:spcAft>
                          <a:spcPts val="0"/>
                        </a:spcAft>
                        <a:buNone/>
                      </a:pPr>
                      <a:r>
                        <a:rPr lang="en-GB" sz="1200"/>
                        <a:t>t) 12 and 11</a:t>
                      </a:r>
                      <a:endParaRPr/>
                    </a:p>
                  </a:txBody>
                  <a:tcPr marT="45725" marB="45725" marR="91450" marL="91450"/>
                </a:tc>
                <a:tc>
                  <a:txBody>
                    <a:bodyPr/>
                    <a:lstStyle/>
                    <a:p>
                      <a:pPr indent="0" lvl="0" marL="0" marR="0" rtl="0" algn="l">
                        <a:spcBef>
                          <a:spcPts val="0"/>
                        </a:spcBef>
                        <a:spcAft>
                          <a:spcPts val="0"/>
                        </a:spcAft>
                        <a:buNone/>
                      </a:pPr>
                      <a:r>
                        <a:rPr lang="en-GB" sz="1200"/>
                        <a:t>u) 12 and 12</a:t>
                      </a:r>
                      <a:endParaRPr/>
                    </a:p>
                  </a:txBody>
                  <a:tcPr marT="45725" marB="45725" marR="91450" marL="91450"/>
                </a:tc>
              </a:tr>
              <a:tr h="1836000">
                <a:tc>
                  <a:txBody>
                    <a:bodyPr/>
                    <a:lstStyle/>
                    <a:p>
                      <a:pPr indent="0" lvl="0" marL="0" marR="0" rtl="0" algn="l">
                        <a:spcBef>
                          <a:spcPts val="0"/>
                        </a:spcBef>
                        <a:spcAft>
                          <a:spcPts val="0"/>
                        </a:spcAft>
                        <a:buNone/>
                      </a:pPr>
                      <a:r>
                        <a:rPr lang="en-GB" sz="1200"/>
                        <a:t>v) 12 and 14</a:t>
                      </a:r>
                      <a:endParaRPr/>
                    </a:p>
                  </a:txBody>
                  <a:tcPr marT="45725" marB="45725" marR="91450" marL="91450"/>
                </a:tc>
                <a:tc>
                  <a:txBody>
                    <a:bodyPr/>
                    <a:lstStyle/>
                    <a:p>
                      <a:pPr indent="0" lvl="0" marL="0" marR="0" rtl="0" algn="l">
                        <a:spcBef>
                          <a:spcPts val="0"/>
                        </a:spcBef>
                        <a:spcAft>
                          <a:spcPts val="0"/>
                        </a:spcAft>
                        <a:buNone/>
                      </a:pPr>
                      <a:r>
                        <a:rPr lang="en-GB" sz="1200"/>
                        <a:t>w) 12 and 16</a:t>
                      </a:r>
                      <a:endParaRPr/>
                    </a:p>
                  </a:txBody>
                  <a:tcPr marT="45725" marB="45725" marR="91450" marL="91450"/>
                </a:tc>
                <a:tc>
                  <a:txBody>
                    <a:bodyPr/>
                    <a:lstStyle/>
                    <a:p>
                      <a:pPr indent="0" lvl="0" marL="0" marR="0" rtl="0" algn="l">
                        <a:spcBef>
                          <a:spcPts val="0"/>
                        </a:spcBef>
                        <a:spcAft>
                          <a:spcPts val="0"/>
                        </a:spcAft>
                        <a:buNone/>
                      </a:pPr>
                      <a:r>
                        <a:rPr lang="en-GB" sz="1200"/>
                        <a:t>x) 12 and 17</a:t>
                      </a:r>
                      <a:endParaRPr/>
                    </a:p>
                  </a:txBody>
                  <a:tcPr marT="45725" marB="45725" marR="91450" marL="91450"/>
                </a:tc>
              </a:tr>
              <a:tr h="1836000">
                <a:tc>
                  <a:txBody>
                    <a:bodyPr/>
                    <a:lstStyle/>
                    <a:p>
                      <a:pPr indent="0" lvl="0" marL="0" marR="0" rtl="0" algn="l">
                        <a:spcBef>
                          <a:spcPts val="0"/>
                        </a:spcBef>
                        <a:spcAft>
                          <a:spcPts val="0"/>
                        </a:spcAft>
                        <a:buNone/>
                      </a:pPr>
                      <a:r>
                        <a:rPr lang="en-GB" sz="1200"/>
                        <a:t>y) 12 and 40</a:t>
                      </a:r>
                      <a:endParaRPr/>
                    </a:p>
                  </a:txBody>
                  <a:tcPr marT="45725" marB="45725" marR="91450" marL="91450"/>
                </a:tc>
                <a:tc>
                  <a:txBody>
                    <a:bodyPr/>
                    <a:lstStyle/>
                    <a:p>
                      <a:pPr indent="0" lvl="0" marL="0" marR="0" rtl="0" algn="l">
                        <a:spcBef>
                          <a:spcPts val="0"/>
                        </a:spcBef>
                        <a:spcAft>
                          <a:spcPts val="0"/>
                        </a:spcAft>
                        <a:buNone/>
                      </a:pPr>
                      <a:r>
                        <a:rPr lang="en-GB" sz="1200"/>
                        <a:t>z) 12 and 50</a:t>
                      </a:r>
                      <a:endParaRPr/>
                    </a:p>
                  </a:txBody>
                  <a:tcPr marT="45725" marB="45725" marR="91450" marL="91450"/>
                </a:tc>
                <a:tc>
                  <a:txBody>
                    <a:bodyPr/>
                    <a:lstStyle/>
                    <a:p>
                      <a:pPr indent="0" lvl="0" marL="0" marR="0" rtl="0" algn="l">
                        <a:spcBef>
                          <a:spcPts val="0"/>
                        </a:spcBef>
                        <a:spcAft>
                          <a:spcPts val="0"/>
                        </a:spcAft>
                        <a:buNone/>
                      </a:pPr>
                      <a:r>
                        <a:rPr lang="en-GB" sz="1200"/>
                        <a:t>aa) 12 and 60</a:t>
                      </a:r>
                      <a:endParaRPr/>
                    </a:p>
                  </a:txBody>
                  <a:tcPr marT="45725" marB="45725" marR="91450" marL="91450"/>
                </a:tc>
              </a:tr>
            </a:tbl>
          </a:graphicData>
        </a:graphic>
      </p:graphicFrame>
      <p:sp>
        <p:nvSpPr>
          <p:cNvPr id="145" name="Google Shape;145;p15"/>
          <p:cNvSpPr txBox="1"/>
          <p:nvPr>
            <p:ph idx="12" type="sldNum"/>
          </p:nvPr>
        </p:nvSpPr>
        <p:spPr>
          <a:xfrm>
            <a:off x="5314950" y="9508523"/>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46" name="Google Shape;146;p15"/>
          <p:cNvGraphicFramePr/>
          <p:nvPr/>
        </p:nvGraphicFramePr>
        <p:xfrm>
          <a:off x="127532" y="7867563"/>
          <a:ext cx="3000000" cy="3000000"/>
        </p:xfrm>
        <a:graphic>
          <a:graphicData uri="http://schemas.openxmlformats.org/drawingml/2006/table">
            <a:tbl>
              <a:tblPr>
                <a:noFill/>
                <a:tableStyleId>{FB1A1291-EE85-4EAD-ADC7-661DDEA952CE}</a:tableStyleId>
              </a:tblPr>
              <a:tblGrid>
                <a:gridCol w="2193975"/>
                <a:gridCol w="2193975"/>
                <a:gridCol w="2193975"/>
              </a:tblGrid>
              <a:tr h="152400">
                <a:tc>
                  <a:txBody>
                    <a:bodyPr/>
                    <a:lstStyle/>
                    <a:p>
                      <a:pPr indent="0" lvl="0" marL="0" marR="0" rtl="0" algn="l">
                        <a:spcBef>
                          <a:spcPts val="0"/>
                        </a:spcBef>
                        <a:spcAft>
                          <a:spcPts val="0"/>
                        </a:spcAft>
                        <a:buNone/>
                      </a:pPr>
                      <a:r>
                        <a:rPr lang="en-GB" sz="1200"/>
                        <a:t>a)  6 and 12</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Clr>
                          <a:schemeClr val="dk1"/>
                        </a:buClr>
                        <a:buSzPts val="1200"/>
                        <a:buFont typeface="Calibri"/>
                        <a:buNone/>
                      </a:pPr>
                      <a:r>
                        <a:rPr lang="en-GB" sz="1200"/>
                        <a:t>b) 3 and 8</a:t>
                      </a:r>
                      <a:endParaRPr/>
                    </a:p>
                  </a:txBody>
                  <a:tcPr marT="45725" marB="45725" marR="91450" marL="91450"/>
                </a:tc>
                <a:tc>
                  <a:txBody>
                    <a:bodyPr/>
                    <a:lstStyle/>
                    <a:p>
                      <a:pPr indent="0" lvl="0" marL="0" marR="0" rtl="0" algn="l">
                        <a:spcBef>
                          <a:spcPts val="0"/>
                        </a:spcBef>
                        <a:spcAft>
                          <a:spcPts val="0"/>
                        </a:spcAft>
                        <a:buNone/>
                      </a:pPr>
                      <a:r>
                        <a:rPr lang="en-GB" sz="1200"/>
                        <a:t>c) 6 and 14</a:t>
                      </a:r>
                      <a:endParaRPr/>
                    </a:p>
                  </a:txBody>
                  <a:tcPr marT="45725" marB="45725" marR="91450" marL="91450"/>
                </a:tc>
              </a:tr>
              <a:tr h="152400">
                <a:tc>
                  <a:txBody>
                    <a:bodyPr/>
                    <a:lstStyle/>
                    <a:p>
                      <a:pPr indent="0" lvl="0" marL="0" marR="0" rtl="0" algn="l">
                        <a:spcBef>
                          <a:spcPts val="0"/>
                        </a:spcBef>
                        <a:spcAft>
                          <a:spcPts val="0"/>
                        </a:spcAft>
                        <a:buNone/>
                      </a:pPr>
                      <a:r>
                        <a:rPr lang="en-GB" sz="1200"/>
                        <a:t>d)  6 and 4</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Clr>
                          <a:schemeClr val="dk1"/>
                        </a:buClr>
                        <a:buSzPts val="1200"/>
                        <a:buFont typeface="Calibri"/>
                        <a:buNone/>
                      </a:pPr>
                      <a:r>
                        <a:rPr lang="en-GB" sz="1200"/>
                        <a:t>e) 12 and 2</a:t>
                      </a:r>
                      <a:endParaRPr/>
                    </a:p>
                  </a:txBody>
                  <a:tcPr marT="45725" marB="45725" marR="91450" marL="91450"/>
                </a:tc>
                <a:tc>
                  <a:txBody>
                    <a:bodyPr/>
                    <a:lstStyle/>
                    <a:p>
                      <a:pPr indent="0" lvl="0" marL="0" marR="0" rtl="0" algn="l">
                        <a:spcBef>
                          <a:spcPts val="0"/>
                        </a:spcBef>
                        <a:spcAft>
                          <a:spcPts val="0"/>
                        </a:spcAft>
                        <a:buNone/>
                      </a:pPr>
                      <a:r>
                        <a:rPr lang="en-GB" sz="1200"/>
                        <a:t>f) 24 and 12</a:t>
                      </a:r>
                      <a:endParaRPr/>
                    </a:p>
                  </a:txBody>
                  <a:tcPr marT="45725" marB="45725" marR="91450" marL="91450"/>
                </a:tc>
              </a:tr>
            </a:tbl>
          </a:graphicData>
        </a:graphic>
      </p:graphicFrame>
      <p:sp>
        <p:nvSpPr>
          <p:cNvPr id="147" name="Google Shape;147;p15"/>
          <p:cNvSpPr txBox="1"/>
          <p:nvPr/>
        </p:nvSpPr>
        <p:spPr>
          <a:xfrm>
            <a:off x="45720" y="7604200"/>
            <a:ext cx="401706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These sets of numbers have 24 as their LCM. True or False?</a:t>
            </a:r>
            <a:endParaRPr sz="1200">
              <a:solidFill>
                <a:schemeClr val="dk1"/>
              </a:solidFill>
              <a:latin typeface="Calibri"/>
              <a:ea typeface="Calibri"/>
              <a:cs typeface="Calibri"/>
              <a:sym typeface="Calibri"/>
            </a:endParaRPr>
          </a:p>
        </p:txBody>
      </p:sp>
      <p:sp>
        <p:nvSpPr>
          <p:cNvPr id="148" name="Google Shape;148;p15"/>
          <p:cNvSpPr txBox="1"/>
          <p:nvPr/>
        </p:nvSpPr>
        <p:spPr>
          <a:xfrm>
            <a:off x="831272" y="112458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84</a:t>
            </a:r>
            <a:endParaRPr/>
          </a:p>
        </p:txBody>
      </p:sp>
      <p:sp>
        <p:nvSpPr>
          <p:cNvPr id="149" name="Google Shape;149;p15"/>
          <p:cNvSpPr txBox="1"/>
          <p:nvPr/>
        </p:nvSpPr>
        <p:spPr>
          <a:xfrm>
            <a:off x="3205792" y="112458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24</a:t>
            </a:r>
            <a:endParaRPr/>
          </a:p>
        </p:txBody>
      </p:sp>
      <p:sp>
        <p:nvSpPr>
          <p:cNvPr id="150" name="Google Shape;150;p15"/>
          <p:cNvSpPr txBox="1"/>
          <p:nvPr/>
        </p:nvSpPr>
        <p:spPr>
          <a:xfrm>
            <a:off x="5370463" y="112458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36</a:t>
            </a:r>
            <a:endParaRPr/>
          </a:p>
        </p:txBody>
      </p:sp>
      <p:sp>
        <p:nvSpPr>
          <p:cNvPr id="151" name="Google Shape;151;p15"/>
          <p:cNvSpPr txBox="1"/>
          <p:nvPr/>
        </p:nvSpPr>
        <p:spPr>
          <a:xfrm>
            <a:off x="831272" y="288648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a:t>
            </a:r>
            <a:endParaRPr/>
          </a:p>
        </p:txBody>
      </p:sp>
      <p:sp>
        <p:nvSpPr>
          <p:cNvPr id="152" name="Google Shape;152;p15"/>
          <p:cNvSpPr txBox="1"/>
          <p:nvPr/>
        </p:nvSpPr>
        <p:spPr>
          <a:xfrm>
            <a:off x="3205792" y="2886486"/>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132</a:t>
            </a:r>
            <a:endParaRPr/>
          </a:p>
        </p:txBody>
      </p:sp>
      <p:sp>
        <p:nvSpPr>
          <p:cNvPr id="153" name="Google Shape;153;p15"/>
          <p:cNvSpPr txBox="1"/>
          <p:nvPr/>
        </p:nvSpPr>
        <p:spPr>
          <a:xfrm>
            <a:off x="5370463" y="288648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154" name="Google Shape;154;p15"/>
          <p:cNvSpPr txBox="1"/>
          <p:nvPr/>
        </p:nvSpPr>
        <p:spPr>
          <a:xfrm>
            <a:off x="1005800" y="4768334"/>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84</a:t>
            </a:r>
            <a:endParaRPr/>
          </a:p>
        </p:txBody>
      </p:sp>
      <p:sp>
        <p:nvSpPr>
          <p:cNvPr id="155" name="Google Shape;155;p15"/>
          <p:cNvSpPr txBox="1"/>
          <p:nvPr/>
        </p:nvSpPr>
        <p:spPr>
          <a:xfrm>
            <a:off x="3214252" y="4768334"/>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48</a:t>
            </a:r>
            <a:endParaRPr/>
          </a:p>
        </p:txBody>
      </p:sp>
      <p:sp>
        <p:nvSpPr>
          <p:cNvPr id="156" name="Google Shape;156;p15"/>
          <p:cNvSpPr txBox="1"/>
          <p:nvPr/>
        </p:nvSpPr>
        <p:spPr>
          <a:xfrm>
            <a:off x="5370463" y="4703618"/>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204</a:t>
            </a:r>
            <a:endParaRPr/>
          </a:p>
        </p:txBody>
      </p:sp>
      <p:sp>
        <p:nvSpPr>
          <p:cNvPr id="157" name="Google Shape;157;p15"/>
          <p:cNvSpPr txBox="1"/>
          <p:nvPr/>
        </p:nvSpPr>
        <p:spPr>
          <a:xfrm>
            <a:off x="1005800" y="6650182"/>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120</a:t>
            </a:r>
            <a:endParaRPr/>
          </a:p>
        </p:txBody>
      </p:sp>
      <p:sp>
        <p:nvSpPr>
          <p:cNvPr id="158" name="Google Shape;158;p15"/>
          <p:cNvSpPr txBox="1"/>
          <p:nvPr/>
        </p:nvSpPr>
        <p:spPr>
          <a:xfrm>
            <a:off x="3215783" y="6650182"/>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300</a:t>
            </a:r>
            <a:endParaRPr/>
          </a:p>
        </p:txBody>
      </p:sp>
      <p:sp>
        <p:nvSpPr>
          <p:cNvPr id="159" name="Google Shape;159;p15"/>
          <p:cNvSpPr txBox="1"/>
          <p:nvPr/>
        </p:nvSpPr>
        <p:spPr>
          <a:xfrm>
            <a:off x="5459172" y="6650182"/>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a:t>
            </a:r>
            <a:endParaRPr/>
          </a:p>
        </p:txBody>
      </p:sp>
      <p:sp>
        <p:nvSpPr>
          <p:cNvPr id="160" name="Google Shape;160;p15"/>
          <p:cNvSpPr txBox="1"/>
          <p:nvPr/>
        </p:nvSpPr>
        <p:spPr>
          <a:xfrm>
            <a:off x="744989" y="8227414"/>
            <a:ext cx="660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False</a:t>
            </a:r>
            <a:endParaRPr/>
          </a:p>
        </p:txBody>
      </p:sp>
      <p:sp>
        <p:nvSpPr>
          <p:cNvPr id="161" name="Google Shape;161;p15"/>
          <p:cNvSpPr txBox="1"/>
          <p:nvPr/>
        </p:nvSpPr>
        <p:spPr>
          <a:xfrm>
            <a:off x="3119509" y="8227414"/>
            <a:ext cx="6072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a:p>
        </p:txBody>
      </p:sp>
      <p:sp>
        <p:nvSpPr>
          <p:cNvPr id="162" name="Google Shape;162;p15"/>
          <p:cNvSpPr txBox="1"/>
          <p:nvPr/>
        </p:nvSpPr>
        <p:spPr>
          <a:xfrm>
            <a:off x="5284180" y="8227414"/>
            <a:ext cx="660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False</a:t>
            </a:r>
            <a:endParaRPr/>
          </a:p>
        </p:txBody>
      </p:sp>
      <p:sp>
        <p:nvSpPr>
          <p:cNvPr id="163" name="Google Shape;163;p15"/>
          <p:cNvSpPr txBox="1"/>
          <p:nvPr/>
        </p:nvSpPr>
        <p:spPr>
          <a:xfrm>
            <a:off x="831272" y="9070996"/>
            <a:ext cx="660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False</a:t>
            </a:r>
            <a:endParaRPr/>
          </a:p>
        </p:txBody>
      </p:sp>
      <p:sp>
        <p:nvSpPr>
          <p:cNvPr id="164" name="Google Shape;164;p15"/>
          <p:cNvSpPr txBox="1"/>
          <p:nvPr/>
        </p:nvSpPr>
        <p:spPr>
          <a:xfrm>
            <a:off x="3205792" y="9070996"/>
            <a:ext cx="660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False</a:t>
            </a:r>
            <a:endParaRPr/>
          </a:p>
        </p:txBody>
      </p:sp>
      <p:sp>
        <p:nvSpPr>
          <p:cNvPr id="165" name="Google Shape;165;p15"/>
          <p:cNvSpPr txBox="1"/>
          <p:nvPr/>
        </p:nvSpPr>
        <p:spPr>
          <a:xfrm>
            <a:off x="5370463" y="9070996"/>
            <a:ext cx="6072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6"/>
          <p:cNvSpPr txBox="1"/>
          <p:nvPr/>
        </p:nvSpPr>
        <p:spPr>
          <a:xfrm>
            <a:off x="119785" y="30480"/>
            <a:ext cx="218829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 Complete the following table:</a:t>
            </a:r>
            <a:endParaRPr sz="1200">
              <a:solidFill>
                <a:schemeClr val="dk1"/>
              </a:solidFill>
              <a:latin typeface="Calibri"/>
              <a:ea typeface="Calibri"/>
              <a:cs typeface="Calibri"/>
              <a:sym typeface="Calibri"/>
            </a:endParaRPr>
          </a:p>
        </p:txBody>
      </p:sp>
      <p:sp>
        <p:nvSpPr>
          <p:cNvPr id="171" name="Google Shape;171;p16"/>
          <p:cNvSpPr txBox="1"/>
          <p:nvPr>
            <p:ph idx="12" type="sldNum"/>
          </p:nvPr>
        </p:nvSpPr>
        <p:spPr>
          <a:xfrm>
            <a:off x="5179786" y="949786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16"/>
          <p:cNvSpPr txBox="1"/>
          <p:nvPr/>
        </p:nvSpPr>
        <p:spPr>
          <a:xfrm>
            <a:off x="215058" y="4394420"/>
            <a:ext cx="234269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 Answer the following questions:</a:t>
            </a:r>
            <a:endParaRPr sz="1200">
              <a:solidFill>
                <a:schemeClr val="dk1"/>
              </a:solidFill>
              <a:latin typeface="Calibri"/>
              <a:ea typeface="Calibri"/>
              <a:cs typeface="Calibri"/>
              <a:sym typeface="Calibri"/>
            </a:endParaRPr>
          </a:p>
        </p:txBody>
      </p:sp>
      <p:graphicFrame>
        <p:nvGraphicFramePr>
          <p:cNvPr id="173" name="Google Shape;173;p16"/>
          <p:cNvGraphicFramePr/>
          <p:nvPr/>
        </p:nvGraphicFramePr>
        <p:xfrm>
          <a:off x="224035" y="4671419"/>
          <a:ext cx="3000000" cy="3000000"/>
        </p:xfrm>
        <a:graphic>
          <a:graphicData uri="http://schemas.openxmlformats.org/drawingml/2006/table">
            <a:tbl>
              <a:tblPr>
                <a:noFill/>
                <a:tableStyleId>{FB1A1291-EE85-4EAD-ADC7-661DDEA952CE}</a:tableStyleId>
              </a:tblPr>
              <a:tblGrid>
                <a:gridCol w="6442575"/>
              </a:tblGrid>
              <a:tr h="623050">
                <a:tc>
                  <a:txBody>
                    <a:bodyPr/>
                    <a:lstStyle/>
                    <a:p>
                      <a:pPr indent="0" lvl="0" marL="0" marR="0" rtl="0" algn="l">
                        <a:spcBef>
                          <a:spcPts val="0"/>
                        </a:spcBef>
                        <a:spcAft>
                          <a:spcPts val="0"/>
                        </a:spcAft>
                        <a:buNone/>
                      </a:pPr>
                      <a:r>
                        <a:rPr lang="en-GB" sz="1200"/>
                        <a:t>a) Cara is buying nuts and bolts at a store. The store sells nuts in packs of 5 and bolts in packs of 10. If Cara wishes to buy the same number of nuts and bolts, what is the smallest number of nuts that she can buy? </a:t>
                      </a:r>
                      <a:endParaRPr/>
                    </a:p>
                  </a:txBody>
                  <a:tcPr marT="45725" marB="45725" marR="91450" marL="91450"/>
                </a:tc>
              </a:tr>
              <a:tr h="1080000">
                <a:tc>
                  <a:txBody>
                    <a:bodyPr/>
                    <a:lstStyle/>
                    <a:p>
                      <a:pPr indent="0" lvl="0" marL="0" marR="0" rtl="0" algn="l">
                        <a:spcBef>
                          <a:spcPts val="0"/>
                        </a:spcBef>
                        <a:spcAft>
                          <a:spcPts val="0"/>
                        </a:spcAft>
                        <a:buNone/>
                      </a:pPr>
                      <a:r>
                        <a:t/>
                      </a:r>
                      <a:endParaRPr sz="1200"/>
                    </a:p>
                  </a:txBody>
                  <a:tcPr marT="45725" marB="45725" marR="91450" marL="91450"/>
                </a:tc>
              </a:tr>
              <a:tr h="445050">
                <a:tc>
                  <a:txBody>
                    <a:bodyPr/>
                    <a:lstStyle/>
                    <a:p>
                      <a:pPr indent="0" lvl="0" marL="0" marR="0" rtl="0" algn="l">
                        <a:lnSpc>
                          <a:spcPct val="100000"/>
                        </a:lnSpc>
                        <a:spcBef>
                          <a:spcPts val="0"/>
                        </a:spcBef>
                        <a:spcAft>
                          <a:spcPts val="0"/>
                        </a:spcAft>
                        <a:buClr>
                          <a:schemeClr val="dk1"/>
                        </a:buClr>
                        <a:buSzPts val="1200"/>
                        <a:buFont typeface="Calibri"/>
                        <a:buNone/>
                      </a:pPr>
                      <a:r>
                        <a:rPr lang="en-GB" sz="1200"/>
                        <a:t>b) A white light flashes every 28 seconds. A red light flashes every 7 seconds. They both flash at the same time. After how many seconds will they next both flash at the same time?</a:t>
                      </a:r>
                      <a:endParaRPr/>
                    </a:p>
                  </a:txBody>
                  <a:tcPr marT="45725" marB="45725" marR="91450" marL="91450"/>
                </a:tc>
              </a:tr>
              <a:tr h="1080000">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r>
              <a:tr h="623050">
                <a:tc>
                  <a:txBody>
                    <a:bodyPr/>
                    <a:lstStyle/>
                    <a:p>
                      <a:pPr indent="0" lvl="0" marL="0" marR="0" rtl="0" algn="l">
                        <a:lnSpc>
                          <a:spcPct val="100000"/>
                        </a:lnSpc>
                        <a:spcBef>
                          <a:spcPts val="0"/>
                        </a:spcBef>
                        <a:spcAft>
                          <a:spcPts val="0"/>
                        </a:spcAft>
                        <a:buClr>
                          <a:schemeClr val="dk1"/>
                        </a:buClr>
                        <a:buSzPts val="1200"/>
                        <a:buFont typeface="Calibri"/>
                        <a:buNone/>
                      </a:pPr>
                      <a:r>
                        <a:rPr lang="en-GB" sz="1200"/>
                        <a:t>c) Buses to London leaves Norwich station every 30 minutes. Buses heading to Manchester leaves Norwich station every 20 minutes. At 10am a bus to London and a bus to Manchester both leave at the same time. Work out the next time that both buses leave at the same time.</a:t>
                      </a:r>
                      <a:endParaRPr/>
                    </a:p>
                  </a:txBody>
                  <a:tcPr marT="45725" marB="45725" marR="91450" marL="91450"/>
                </a:tc>
              </a:tr>
              <a:tr h="1080000">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r>
            </a:tbl>
          </a:graphicData>
        </a:graphic>
      </p:graphicFrame>
      <p:pic>
        <p:nvPicPr>
          <p:cNvPr id="174" name="Google Shape;174;p16"/>
          <p:cNvPicPr preferRelativeResize="0"/>
          <p:nvPr/>
        </p:nvPicPr>
        <p:blipFill rotWithShape="1">
          <a:blip r:embed="rId3">
            <a:alphaModFix/>
          </a:blip>
          <a:srcRect b="0" l="0" r="0" t="0"/>
          <a:stretch/>
        </p:blipFill>
        <p:spPr>
          <a:xfrm>
            <a:off x="215058" y="371805"/>
            <a:ext cx="6273244" cy="3958288"/>
          </a:xfrm>
          <a:prstGeom prst="rect">
            <a:avLst/>
          </a:prstGeom>
          <a:noFill/>
          <a:ln>
            <a:noFill/>
          </a:ln>
        </p:spPr>
      </p:pic>
      <p:sp>
        <p:nvSpPr>
          <p:cNvPr id="175" name="Google Shape;175;p16"/>
          <p:cNvSpPr txBox="1"/>
          <p:nvPr/>
        </p:nvSpPr>
        <p:spPr>
          <a:xfrm>
            <a:off x="2810271" y="548478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a:t>
            </a:r>
            <a:endParaRPr/>
          </a:p>
        </p:txBody>
      </p:sp>
      <p:sp>
        <p:nvSpPr>
          <p:cNvPr id="176" name="Google Shape;176;p16"/>
          <p:cNvSpPr txBox="1"/>
          <p:nvPr/>
        </p:nvSpPr>
        <p:spPr>
          <a:xfrm>
            <a:off x="2810271" y="7246686"/>
            <a:ext cx="1235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28 seconds</a:t>
            </a:r>
            <a:endParaRPr/>
          </a:p>
        </p:txBody>
      </p:sp>
      <p:sp>
        <p:nvSpPr>
          <p:cNvPr id="177" name="Google Shape;177;p16"/>
          <p:cNvSpPr txBox="1"/>
          <p:nvPr/>
        </p:nvSpPr>
        <p:spPr>
          <a:xfrm>
            <a:off x="2984799" y="9128534"/>
            <a:ext cx="7200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11am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idx="12" type="sldNum"/>
          </p:nvPr>
        </p:nvSpPr>
        <p:spPr>
          <a:xfrm>
            <a:off x="5330190" y="945279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83" name="Google Shape;183;p17"/>
          <p:cNvGraphicFramePr/>
          <p:nvPr/>
        </p:nvGraphicFramePr>
        <p:xfrm>
          <a:off x="207712" y="232739"/>
          <a:ext cx="3000000" cy="3000000"/>
        </p:xfrm>
        <a:graphic>
          <a:graphicData uri="http://schemas.openxmlformats.org/drawingml/2006/table">
            <a:tbl>
              <a:tblPr>
                <a:noFill/>
                <a:tableStyleId>{FB1A1291-EE85-4EAD-ADC7-661DDEA952CE}</a:tableStyleId>
              </a:tblPr>
              <a:tblGrid>
                <a:gridCol w="6442575"/>
              </a:tblGrid>
              <a:tr h="445050">
                <a:tc>
                  <a:txBody>
                    <a:bodyPr/>
                    <a:lstStyle/>
                    <a:p>
                      <a:pPr indent="0" lvl="0" marL="0" marR="0" rtl="0" algn="l">
                        <a:lnSpc>
                          <a:spcPct val="100000"/>
                        </a:lnSpc>
                        <a:spcBef>
                          <a:spcPts val="0"/>
                        </a:spcBef>
                        <a:spcAft>
                          <a:spcPts val="0"/>
                        </a:spcAft>
                        <a:buClr>
                          <a:schemeClr val="dk1"/>
                        </a:buClr>
                        <a:buSzPts val="1200"/>
                        <a:buFont typeface="Calibri"/>
                        <a:buNone/>
                      </a:pPr>
                      <a:r>
                        <a:rPr lang="en-GB" sz="1200"/>
                        <a:t>d) A bus leaves Antrim Bus Station every 12 minutes. A train leaves Antrim Train Station every 18 minutes. At 8m a bus and a train leave the stations at the same time. </a:t>
                      </a:r>
                      <a:endParaRPr/>
                    </a:p>
                  </a:txBody>
                  <a:tcPr marT="45725" marB="45725" marR="91450" marL="91450"/>
                </a:tc>
              </a:tr>
              <a:tr h="267025">
                <a:tc>
                  <a:txBody>
                    <a:bodyPr/>
                    <a:lstStyle/>
                    <a:p>
                      <a:pPr indent="0" lvl="0" marL="0" marR="0" rtl="0" algn="l">
                        <a:spcBef>
                          <a:spcPts val="0"/>
                        </a:spcBef>
                        <a:spcAft>
                          <a:spcPts val="0"/>
                        </a:spcAft>
                        <a:buNone/>
                      </a:pPr>
                      <a:r>
                        <a:rPr lang="en-GB" sz="1200"/>
                        <a:t>i) When is the next time that a bus and a train leave at the same time? </a:t>
                      </a:r>
                      <a:endParaRPr/>
                    </a:p>
                  </a:txBody>
                  <a:tcPr marT="45725" marB="45725" marR="91450" marL="91450"/>
                </a:tc>
              </a:tr>
              <a:tr h="1282150">
                <a:tc>
                  <a:txBody>
                    <a:bodyPr/>
                    <a:lstStyle/>
                    <a:p>
                      <a:pPr indent="0" lvl="0" marL="0" marR="0" rtl="0" algn="l">
                        <a:spcBef>
                          <a:spcPts val="0"/>
                        </a:spcBef>
                        <a:spcAft>
                          <a:spcPts val="0"/>
                        </a:spcAft>
                        <a:buNone/>
                      </a:pPr>
                      <a:r>
                        <a:t/>
                      </a:r>
                      <a:endParaRPr sz="1200"/>
                    </a:p>
                  </a:txBody>
                  <a:tcPr marT="45725" marB="45725" marR="91450" marL="91450"/>
                </a:tc>
              </a:tr>
              <a:tr h="445050">
                <a:tc>
                  <a:txBody>
                    <a:bodyPr/>
                    <a:lstStyle/>
                    <a:p>
                      <a:pPr indent="0" lvl="0" marL="0" marR="0" rtl="0" algn="l">
                        <a:lnSpc>
                          <a:spcPct val="100000"/>
                        </a:lnSpc>
                        <a:spcBef>
                          <a:spcPts val="0"/>
                        </a:spcBef>
                        <a:spcAft>
                          <a:spcPts val="0"/>
                        </a:spcAft>
                        <a:buClr>
                          <a:schemeClr val="dk1"/>
                        </a:buClr>
                        <a:buSzPts val="1200"/>
                        <a:buFont typeface="Calibri"/>
                        <a:buNone/>
                      </a:pPr>
                      <a:r>
                        <a:rPr lang="en-GB" sz="1200"/>
                        <a:t>ii) Between 8am and 11am (inclusive), on how many occasions does a bus and a train leave at the same time?</a:t>
                      </a:r>
                      <a:endParaRPr/>
                    </a:p>
                  </a:txBody>
                  <a:tcPr marT="45725" marB="45725" marR="91450" marL="91450"/>
                </a:tc>
              </a:tr>
              <a:tr h="12821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a:p>
                  </a:txBody>
                  <a:tcPr marT="45725" marB="45725" marR="91450" marL="91450"/>
                </a:tc>
              </a:tr>
            </a:tbl>
          </a:graphicData>
        </a:graphic>
      </p:graphicFrame>
      <p:graphicFrame>
        <p:nvGraphicFramePr>
          <p:cNvPr id="184" name="Google Shape;184;p17"/>
          <p:cNvGraphicFramePr/>
          <p:nvPr/>
        </p:nvGraphicFramePr>
        <p:xfrm>
          <a:off x="207712" y="3985777"/>
          <a:ext cx="3000000" cy="3000000"/>
        </p:xfrm>
        <a:graphic>
          <a:graphicData uri="http://schemas.openxmlformats.org/drawingml/2006/table">
            <a:tbl>
              <a:tblPr>
                <a:noFill/>
                <a:tableStyleId>{FB1A1291-EE85-4EAD-ADC7-661DDEA952CE}</a:tableStyleId>
              </a:tblPr>
              <a:tblGrid>
                <a:gridCol w="6442575"/>
              </a:tblGrid>
              <a:tr h="370850">
                <a:tc>
                  <a:txBody>
                    <a:bodyPr/>
                    <a:lstStyle/>
                    <a:p>
                      <a:pPr indent="0" lvl="0" marL="0" marR="0" rtl="0" algn="l">
                        <a:lnSpc>
                          <a:spcPct val="100000"/>
                        </a:lnSpc>
                        <a:spcBef>
                          <a:spcPts val="0"/>
                        </a:spcBef>
                        <a:spcAft>
                          <a:spcPts val="0"/>
                        </a:spcAft>
                        <a:buClr>
                          <a:schemeClr val="dk1"/>
                        </a:buClr>
                        <a:buSzPts val="1200"/>
                        <a:buFont typeface="Calibri"/>
                        <a:buNone/>
                      </a:pPr>
                      <a:r>
                        <a:rPr lang="en-GB" sz="1200"/>
                        <a:t>e) Penny and Kenny have the same number of football cards. Penny has sorted her cards into piles of 10. Kenny has sorted his cards into piles of 18. Penny has less than 100 cards. How many football cards do they have? </a:t>
                      </a:r>
                      <a:endParaRPr/>
                    </a:p>
                  </a:txBody>
                  <a:tcPr marT="45725" marB="45725" marR="91450" marL="91450"/>
                </a:tc>
              </a:tr>
              <a:tr h="1260000">
                <a:tc>
                  <a:txBody>
                    <a:bodyPr/>
                    <a:lstStyle/>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200"/>
                        <a:buFont typeface="Calibri"/>
                        <a:buNone/>
                      </a:pPr>
                      <a:r>
                        <a:rPr lang="en-GB" sz="1200"/>
                        <a:t>f) The lowest common multiple of two numbers is 60. Only one of the numbers is a multiple of 4. Write down two possible numbers. </a:t>
                      </a:r>
                      <a:endParaRPr/>
                    </a:p>
                  </a:txBody>
                  <a:tcPr marT="45725" marB="45725" marR="91450" marL="91450"/>
                </a:tc>
              </a:tr>
              <a:tr h="1260000">
                <a:tc>
                  <a:txBody>
                    <a:bodyPr/>
                    <a:lstStyle/>
                    <a:p>
                      <a:pPr indent="0" lvl="0" marL="0" marR="0" rtl="0" algn="l">
                        <a:spcBef>
                          <a:spcPts val="0"/>
                        </a:spcBef>
                        <a:spcAft>
                          <a:spcPts val="0"/>
                        </a:spcAft>
                        <a:buNone/>
                      </a:pPr>
                      <a:r>
                        <a:t/>
                      </a:r>
                      <a:endParaRPr sz="1350"/>
                    </a:p>
                  </a:txBody>
                  <a:tcPr marT="45725" marB="45725" marR="91450" marL="91450"/>
                </a:tc>
              </a:tr>
              <a:tr h="370850">
                <a:tc>
                  <a:txBody>
                    <a:bodyPr/>
                    <a:lstStyle/>
                    <a:p>
                      <a:pPr indent="0" lvl="0" marL="0" marR="0" rtl="0" algn="l">
                        <a:spcBef>
                          <a:spcPts val="0"/>
                        </a:spcBef>
                        <a:spcAft>
                          <a:spcPts val="0"/>
                        </a:spcAft>
                        <a:buNone/>
                      </a:pPr>
                      <a:r>
                        <a:rPr lang="en-GB" sz="1200"/>
                        <a:t>g) Jennifer says that the lowest common multiple of two consecutive numbers is equal to the product of the two numbers. By trying four different pairs of consecutive numbers, explore her theory</a:t>
                      </a:r>
                      <a:endParaRPr/>
                    </a:p>
                  </a:txBody>
                  <a:tcPr marT="45725" marB="45725" marR="91450" marL="91450"/>
                </a:tc>
              </a:tr>
              <a:tr h="1260000">
                <a:tc>
                  <a:txBody>
                    <a:bodyPr/>
                    <a:lstStyle/>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txBody>
                  <a:tcPr marT="45725" marB="45725" marR="91450" marL="91450"/>
                </a:tc>
              </a:tr>
            </a:tbl>
          </a:graphicData>
        </a:graphic>
      </p:graphicFrame>
      <p:sp>
        <p:nvSpPr>
          <p:cNvPr id="185" name="Google Shape;185;p17"/>
          <p:cNvSpPr txBox="1"/>
          <p:nvPr/>
        </p:nvSpPr>
        <p:spPr>
          <a:xfrm>
            <a:off x="2978395" y="1392609"/>
            <a:ext cx="90120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8:36am</a:t>
            </a:r>
            <a:endParaRPr/>
          </a:p>
        </p:txBody>
      </p:sp>
      <p:sp>
        <p:nvSpPr>
          <p:cNvPr id="186" name="Google Shape;186;p17"/>
          <p:cNvSpPr txBox="1"/>
          <p:nvPr/>
        </p:nvSpPr>
        <p:spPr>
          <a:xfrm>
            <a:off x="2978395" y="3089791"/>
            <a:ext cx="8851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 times</a:t>
            </a:r>
            <a:endParaRPr/>
          </a:p>
        </p:txBody>
      </p:sp>
      <p:sp>
        <p:nvSpPr>
          <p:cNvPr id="187" name="Google Shape;187;p17"/>
          <p:cNvSpPr txBox="1"/>
          <p:nvPr/>
        </p:nvSpPr>
        <p:spPr>
          <a:xfrm>
            <a:off x="3219648" y="5128961"/>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90</a:t>
            </a:r>
            <a:endParaRPr/>
          </a:p>
        </p:txBody>
      </p:sp>
      <p:sp>
        <p:nvSpPr>
          <p:cNvPr id="188" name="Google Shape;188;p17"/>
          <p:cNvSpPr txBox="1"/>
          <p:nvPr/>
        </p:nvSpPr>
        <p:spPr>
          <a:xfrm>
            <a:off x="2726916" y="6826143"/>
            <a:ext cx="14041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e.g. 15 and 4</a:t>
            </a:r>
            <a:endParaRPr/>
          </a:p>
        </p:txBody>
      </p:sp>
      <p:sp>
        <p:nvSpPr>
          <p:cNvPr id="189" name="Google Shape;189;p17"/>
          <p:cNvSpPr txBox="1"/>
          <p:nvPr/>
        </p:nvSpPr>
        <p:spPr>
          <a:xfrm>
            <a:off x="2641733" y="8151674"/>
            <a:ext cx="1993238"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e.g. </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2 and 3: LCM = 6</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9 and 10: LCM = 90</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7 and 8: LCM = 56</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1 and 2: LCM = 2</a:t>
            </a:r>
            <a:endParaRPr/>
          </a:p>
          <a:p>
            <a:pPr indent="0" lvl="0" marL="0" marR="0" rtl="0" algn="l">
              <a:spcBef>
                <a:spcPts val="0"/>
              </a:spcBef>
              <a:spcAft>
                <a:spcPts val="0"/>
              </a:spcAft>
              <a:buNone/>
            </a:pPr>
            <a:r>
              <a:t/>
            </a:r>
            <a:endParaRPr b="1" sz="1800">
              <a:solidFill>
                <a:srgbClr val="FF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idx="12" type="sldNum"/>
          </p:nvPr>
        </p:nvSpPr>
        <p:spPr>
          <a:xfrm>
            <a:off x="5212431" y="948848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95" name="Google Shape;195;p18"/>
          <p:cNvGraphicFramePr/>
          <p:nvPr/>
        </p:nvGraphicFramePr>
        <p:xfrm>
          <a:off x="281763" y="113715"/>
          <a:ext cx="3000000" cy="3000000"/>
        </p:xfrm>
        <a:graphic>
          <a:graphicData uri="http://schemas.openxmlformats.org/drawingml/2006/table">
            <a:tbl>
              <a:tblPr>
                <a:noFill/>
                <a:tableStyleId>{FB1A1291-EE85-4EAD-ADC7-661DDEA952CE}</a:tableStyleId>
              </a:tblPr>
              <a:tblGrid>
                <a:gridCol w="6294475"/>
              </a:tblGrid>
              <a:tr h="927250">
                <a:tc>
                  <a:txBody>
                    <a:bodyPr/>
                    <a:lstStyle/>
                    <a:p>
                      <a:pPr indent="0" lvl="0" marL="0" marR="0" rtl="0" algn="l">
                        <a:spcBef>
                          <a:spcPts val="0"/>
                        </a:spcBef>
                        <a:spcAft>
                          <a:spcPts val="0"/>
                        </a:spcAft>
                        <a:buNone/>
                      </a:pPr>
                      <a:r>
                        <a:rPr lang="en-GB" sz="1200"/>
                        <a:t>h) Miss Paisley is organising games for the children in her class. She is going to put the children into teams. If she puts the children into teams of 4, there will be 2 children left out. If she puts the children into teams of 5, there will be 3 children left out. Work out the smallest possible number of children in Miss Paisley's class.</a:t>
                      </a:r>
                      <a:endParaRPr/>
                    </a:p>
                  </a:txBody>
                  <a:tcPr marT="45725" marB="45725" marR="91450" marL="91450"/>
                </a:tc>
              </a:tr>
              <a:tr h="1260000">
                <a:tc>
                  <a:txBody>
                    <a:bodyPr/>
                    <a:lstStyle/>
                    <a:p>
                      <a:pPr indent="0" lvl="0" marL="0" marR="0" rtl="0" algn="l">
                        <a:spcBef>
                          <a:spcPts val="0"/>
                        </a:spcBef>
                        <a:spcAft>
                          <a:spcPts val="0"/>
                        </a:spcAft>
                        <a:buNone/>
                      </a:pPr>
                      <a:r>
                        <a:t/>
                      </a:r>
                      <a:endParaRPr sz="1200"/>
                    </a:p>
                  </a:txBody>
                  <a:tcPr marT="45725" marB="45725" marR="91450" marL="91450"/>
                </a:tc>
              </a:tr>
            </a:tbl>
          </a:graphicData>
        </a:graphic>
      </p:graphicFrame>
      <p:graphicFrame>
        <p:nvGraphicFramePr>
          <p:cNvPr id="196" name="Google Shape;196;p18"/>
          <p:cNvGraphicFramePr/>
          <p:nvPr/>
        </p:nvGraphicFramePr>
        <p:xfrm>
          <a:off x="152523" y="2929945"/>
          <a:ext cx="3000000" cy="3000000"/>
        </p:xfrm>
        <a:graphic>
          <a:graphicData uri="http://schemas.openxmlformats.org/drawingml/2006/table">
            <a:tbl>
              <a:tblPr bandRow="1" firstRow="1">
                <a:noFill/>
                <a:tableStyleId>{41AD8AA6-36D1-44F5-A7D9-AC7A007B66F0}</a:tableStyleId>
              </a:tblPr>
              <a:tblGrid>
                <a:gridCol w="881400"/>
                <a:gridCol w="1903225"/>
                <a:gridCol w="1980300"/>
                <a:gridCol w="1807525"/>
              </a:tblGrid>
              <a:tr h="28210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LCM of 2, 3 and 5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LCM of 5, 3 and 4</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Find the LCM of 6, 4 and 9</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7565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List the  first  few multiples of each number.</a:t>
                      </a:r>
                      <a:br>
                        <a:rPr lang="en-GB" sz="1200">
                          <a:solidFill>
                            <a:schemeClr val="dk1"/>
                          </a:solidFill>
                        </a:rPr>
                      </a:br>
                      <a:endParaRPr sz="1200">
                        <a:solidFill>
                          <a:schemeClr val="dk1"/>
                        </a:solidFill>
                      </a:endParaRPr>
                    </a:p>
                    <a:p>
                      <a:pPr indent="0" lvl="0" marL="0" marR="0" rtl="0" algn="l">
                        <a:spcBef>
                          <a:spcPts val="0"/>
                        </a:spcBef>
                        <a:spcAft>
                          <a:spcPts val="0"/>
                        </a:spcAft>
                        <a:buNone/>
                      </a:pPr>
                      <a:r>
                        <a:rPr lang="en-GB" sz="1200">
                          <a:solidFill>
                            <a:schemeClr val="dk1"/>
                          </a:solidFill>
                        </a:rPr>
                        <a:t>2) </a:t>
                      </a:r>
                      <a:r>
                        <a:rPr b="0" lang="en-GB" sz="1200">
                          <a:solidFill>
                            <a:schemeClr val="dk1"/>
                          </a:solidFill>
                        </a:rPr>
                        <a:t>Identify the multiples common to all lists, then circle the lowest common multiple.</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solidFill>
                            <a:schemeClr val="dk1"/>
                          </a:solidFill>
                        </a:rPr>
                        <a:t>Multiples of 2</a:t>
                      </a:r>
                      <a:endParaRPr/>
                    </a:p>
                    <a:p>
                      <a:pPr indent="0" lvl="0" marL="0" marR="0" rtl="0" algn="l">
                        <a:spcBef>
                          <a:spcPts val="0"/>
                        </a:spcBef>
                        <a:spcAft>
                          <a:spcPts val="0"/>
                        </a:spcAft>
                        <a:buNone/>
                      </a:pPr>
                      <a:r>
                        <a:rPr lang="en-GB" sz="1200">
                          <a:solidFill>
                            <a:schemeClr val="dk1"/>
                          </a:solidFill>
                        </a:rPr>
                        <a:t>2, 4, 6, 8, 10, 12, 14, 16, 18,  20, 22, 24, 26, 28, 30…</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Multiples of 3 </a:t>
                      </a:r>
                      <a:endParaRPr/>
                    </a:p>
                    <a:p>
                      <a:pPr indent="0" lvl="0" marL="0" marR="0" rtl="0" algn="l">
                        <a:spcBef>
                          <a:spcPts val="0"/>
                        </a:spcBef>
                        <a:spcAft>
                          <a:spcPts val="0"/>
                        </a:spcAft>
                        <a:buNone/>
                      </a:pPr>
                      <a:r>
                        <a:rPr lang="en-GB" sz="1200">
                          <a:solidFill>
                            <a:schemeClr val="dk1"/>
                          </a:solidFill>
                        </a:rPr>
                        <a:t>3, 6, 9, 12, 15, 18, 21, 24, 27, 30, 33…</a:t>
                      </a:r>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Multiples of 5 </a:t>
                      </a:r>
                      <a:endParaRPr/>
                    </a:p>
                    <a:p>
                      <a:pPr indent="0" lvl="0" marL="0" marR="0" rtl="0" algn="l">
                        <a:spcBef>
                          <a:spcPts val="0"/>
                        </a:spcBef>
                        <a:spcAft>
                          <a:spcPts val="0"/>
                        </a:spcAft>
                        <a:buNone/>
                      </a:pPr>
                      <a:r>
                        <a:rPr lang="en-GB" sz="1200">
                          <a:solidFill>
                            <a:schemeClr val="dk1"/>
                          </a:solidFill>
                        </a:rPr>
                        <a:t>5, 10, 15, 20, 25, 30, 35…</a:t>
                      </a:r>
                      <a:endParaRPr/>
                    </a:p>
                    <a:p>
                      <a:pPr indent="0" lvl="0" marL="0" marR="0" rtl="0" algn="l">
                        <a:spcBef>
                          <a:spcPts val="0"/>
                        </a:spcBef>
                        <a:spcAft>
                          <a:spcPts val="0"/>
                        </a:spcAft>
                        <a:buNone/>
                      </a:pPr>
                      <a:r>
                        <a:rPr b="1" i="0" lang="en-GB" sz="1200" u="none" cap="none" strike="noStrike">
                          <a:solidFill>
                            <a:schemeClr val="dk1"/>
                          </a:solidFill>
                          <a:latin typeface="Calibri"/>
                          <a:ea typeface="Calibri"/>
                          <a:cs typeface="Calibri"/>
                          <a:sym typeface="Calibri"/>
                        </a:rPr>
                        <a:t>                   </a:t>
                      </a:r>
                      <a:r>
                        <a:rPr b="1" i="0" lang="en-GB" sz="2000" u="none" cap="none" strike="noStrike">
                          <a:solidFill>
                            <a:srgbClr val="FF0000"/>
                          </a:solidFill>
                          <a:latin typeface="Calibri"/>
                          <a:ea typeface="Calibri"/>
                          <a:cs typeface="Calibri"/>
                          <a:sym typeface="Calibri"/>
                        </a:rPr>
                        <a:t>30</a:t>
                      </a:r>
                      <a:endParaRPr b="1" sz="1200">
                        <a:solidFill>
                          <a:schemeClr val="dk1"/>
                        </a:solidFill>
                      </a:endParaRPr>
                    </a:p>
                    <a:p>
                      <a:pPr indent="0" lvl="0" marL="0" marR="0" rtl="0" algn="l">
                        <a:spcBef>
                          <a:spcPts val="0"/>
                        </a:spcBef>
                        <a:spcAft>
                          <a:spcPts val="0"/>
                        </a:spcAft>
                        <a:buNone/>
                      </a:pPr>
                      <a:r>
                        <a:t/>
                      </a:r>
                      <a:endParaRPr b="1" sz="1200">
                        <a:solidFill>
                          <a:schemeClr val="dk1"/>
                        </a:solidFill>
                      </a:endParaRPr>
                    </a:p>
                    <a:p>
                      <a:pPr indent="0" lvl="0" marL="0" marR="0" rtl="0" algn="l">
                        <a:spcBef>
                          <a:spcPts val="0"/>
                        </a:spcBef>
                        <a:spcAft>
                          <a:spcPts val="0"/>
                        </a:spcAft>
                        <a:buNone/>
                      </a:pPr>
                      <a:r>
                        <a:t/>
                      </a:r>
                      <a:endParaRPr b="1" sz="1200">
                        <a:solidFill>
                          <a:schemeClr val="dk1"/>
                        </a:solidFill>
                      </a:endParaRPr>
                    </a:p>
                    <a:p>
                      <a:pPr indent="0" lvl="0" marL="0" marR="0" rtl="0" algn="l">
                        <a:spcBef>
                          <a:spcPts val="0"/>
                        </a:spcBef>
                        <a:spcAft>
                          <a:spcPts val="0"/>
                        </a:spcAft>
                        <a:buNone/>
                      </a:pPr>
                      <a:r>
                        <a:t/>
                      </a:r>
                      <a:endParaRPr b="1" sz="1200">
                        <a:solidFill>
                          <a:schemeClr val="dk1"/>
                        </a:solidFill>
                      </a:endParaRPr>
                    </a:p>
                    <a:p>
                      <a:pPr indent="0" lvl="0" marL="0" marR="0" rtl="0" algn="l">
                        <a:spcBef>
                          <a:spcPts val="0"/>
                        </a:spcBef>
                        <a:spcAft>
                          <a:spcPts val="0"/>
                        </a:spcAft>
                        <a:buNone/>
                      </a:pPr>
                      <a:r>
                        <a:t/>
                      </a:r>
                      <a:endParaRPr b="1" sz="1200">
                        <a:solidFill>
                          <a:schemeClr val="dk1"/>
                        </a:solidFill>
                      </a:endParaRPr>
                    </a:p>
                    <a:p>
                      <a:pPr indent="0" lvl="0" marL="0" marR="0" rtl="0" algn="l">
                        <a:spcBef>
                          <a:spcPts val="0"/>
                        </a:spcBef>
                        <a:spcAft>
                          <a:spcPts val="0"/>
                        </a:spcAft>
                        <a:buNone/>
                      </a:pPr>
                      <a:r>
                        <a:t/>
                      </a:r>
                      <a:endParaRPr b="1" sz="1200">
                        <a:solidFill>
                          <a:schemeClr val="dk1"/>
                        </a:solidFill>
                      </a:endParaRPr>
                    </a:p>
                    <a:p>
                      <a:pPr indent="0" lvl="0" marL="0" marR="0" rtl="0" algn="l">
                        <a:spcBef>
                          <a:spcPts val="0"/>
                        </a:spcBef>
                        <a:spcAft>
                          <a:spcPts val="0"/>
                        </a:spcAft>
                        <a:buNone/>
                      </a:pPr>
                      <a:r>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5, 10, 15, 20, 25, 30, 35, 40, 45, 50, 55, 60, 65…</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3, 6, 9, 12, 15, 18, 21, 24, 27, 30, 33, 36, 39, 42, 45, 48, 51, 54, 57, 60, 63, 66…</a:t>
                      </a:r>
                      <a:endParaRPr/>
                    </a:p>
                    <a:p>
                      <a:pPr indent="0" lvl="0" marL="0" marR="0" rtl="0" algn="l">
                        <a:spcBef>
                          <a:spcPts val="0"/>
                        </a:spcBef>
                        <a:spcAft>
                          <a:spcPts val="0"/>
                        </a:spcAft>
                        <a:buNone/>
                      </a:pPr>
                      <a:r>
                        <a:t/>
                      </a:r>
                      <a:endParaRPr b="1" sz="1200">
                        <a:solidFill>
                          <a:srgbClr val="FF0000"/>
                        </a:solidFill>
                      </a:endParaRPr>
                    </a:p>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4, 8, 12, 16, 20, 24, 28, 32, 36, 40, 44, 48, 52, 56, 60, 64…</a:t>
                      </a:r>
                      <a:endParaRPr/>
                    </a:p>
                    <a:p>
                      <a:pPr indent="0" lvl="0" marL="0" marR="0" rtl="0" algn="ctr">
                        <a:spcBef>
                          <a:spcPts val="0"/>
                        </a:spcBef>
                        <a:spcAft>
                          <a:spcPts val="0"/>
                        </a:spcAft>
                        <a:buNone/>
                      </a:pPr>
                      <a:r>
                        <a:rPr b="1" lang="en-GB" sz="2000">
                          <a:solidFill>
                            <a:srgbClr val="FF0000"/>
                          </a:solidFill>
                        </a:rPr>
                        <a:t>60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GB" sz="1200">
                          <a:solidFill>
                            <a:srgbClr val="FF0000"/>
                          </a:solidFill>
                        </a:rPr>
                        <a:t>6, 12, 18, 24, 30, 36, 42…</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4, 8, 12, 16, 20, 24, 28, 32, 36, 40, 44…</a:t>
                      </a:r>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t/>
                      </a:r>
                      <a:endParaRPr b="1" sz="1200">
                        <a:solidFill>
                          <a:srgbClr val="FF0000"/>
                        </a:solidFill>
                      </a:endParaRPr>
                    </a:p>
                    <a:p>
                      <a:pPr indent="0" lvl="0" marL="0" marR="0" rtl="0" algn="l">
                        <a:spcBef>
                          <a:spcPts val="0"/>
                        </a:spcBef>
                        <a:spcAft>
                          <a:spcPts val="0"/>
                        </a:spcAft>
                        <a:buNone/>
                      </a:pPr>
                      <a:r>
                        <a:rPr b="1" lang="en-GB" sz="1200">
                          <a:solidFill>
                            <a:srgbClr val="FF0000"/>
                          </a:solidFill>
                        </a:rPr>
                        <a:t>9, 18, 27, 36, 45, 54…</a:t>
                      </a:r>
                      <a:endParaRPr/>
                    </a:p>
                    <a:p>
                      <a:pPr indent="0" lvl="0" marL="0" marR="0" rtl="0" algn="ctr">
                        <a:spcBef>
                          <a:spcPts val="0"/>
                        </a:spcBef>
                        <a:spcAft>
                          <a:spcPts val="0"/>
                        </a:spcAft>
                        <a:buNone/>
                      </a:pPr>
                      <a:r>
                        <a:rPr b="1" lang="en-GB" sz="2000">
                          <a:solidFill>
                            <a:srgbClr val="FF0000"/>
                          </a:solidFill>
                        </a:rPr>
                        <a:t>36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97" name="Google Shape;197;p18"/>
          <p:cNvSpPr txBox="1"/>
          <p:nvPr/>
        </p:nvSpPr>
        <p:spPr>
          <a:xfrm>
            <a:off x="1483241" y="2689474"/>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4 -  I do…</a:t>
            </a:r>
            <a:endParaRPr/>
          </a:p>
        </p:txBody>
      </p:sp>
      <p:sp>
        <p:nvSpPr>
          <p:cNvPr id="198" name="Google Shape;198;p18"/>
          <p:cNvSpPr txBox="1"/>
          <p:nvPr/>
        </p:nvSpPr>
        <p:spPr>
          <a:xfrm>
            <a:off x="3181259" y="266309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5 – We do…</a:t>
            </a:r>
            <a:endParaRPr/>
          </a:p>
        </p:txBody>
      </p:sp>
      <p:sp>
        <p:nvSpPr>
          <p:cNvPr id="199" name="Google Shape;199;p18"/>
          <p:cNvSpPr txBox="1"/>
          <p:nvPr/>
        </p:nvSpPr>
        <p:spPr>
          <a:xfrm>
            <a:off x="4953130" y="268474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6 – You do…</a:t>
            </a:r>
            <a:endParaRPr/>
          </a:p>
        </p:txBody>
      </p:sp>
      <p:sp>
        <p:nvSpPr>
          <p:cNvPr id="200" name="Google Shape;200;p18"/>
          <p:cNvSpPr/>
          <p:nvPr/>
        </p:nvSpPr>
        <p:spPr>
          <a:xfrm>
            <a:off x="148396" y="2399440"/>
            <a:ext cx="4561703" cy="26155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Identifying the lowest common multiple of more than two numbers</a:t>
            </a:r>
            <a:endParaRPr/>
          </a:p>
        </p:txBody>
      </p:sp>
      <p:sp>
        <p:nvSpPr>
          <p:cNvPr id="201" name="Google Shape;201;p18"/>
          <p:cNvSpPr txBox="1"/>
          <p:nvPr/>
        </p:nvSpPr>
        <p:spPr>
          <a:xfrm>
            <a:off x="1256216" y="7100492"/>
            <a:ext cx="58810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 Find the lowest common multiple (LCM) of each of these sets of numbers. </a:t>
            </a:r>
            <a:endParaRPr/>
          </a:p>
        </p:txBody>
      </p:sp>
      <p:sp>
        <p:nvSpPr>
          <p:cNvPr id="202" name="Google Shape;202;p18"/>
          <p:cNvSpPr/>
          <p:nvPr/>
        </p:nvSpPr>
        <p:spPr>
          <a:xfrm>
            <a:off x="133156" y="6945276"/>
            <a:ext cx="1123060" cy="382441"/>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203" name="Google Shape;203;p18"/>
          <p:cNvGraphicFramePr/>
          <p:nvPr/>
        </p:nvGraphicFramePr>
        <p:xfrm>
          <a:off x="152523" y="7380008"/>
          <a:ext cx="3000000" cy="3000000"/>
        </p:xfrm>
        <a:graphic>
          <a:graphicData uri="http://schemas.openxmlformats.org/drawingml/2006/table">
            <a:tbl>
              <a:tblPr>
                <a:noFill/>
                <a:tableStyleId>{FB1A1291-EE85-4EAD-ADC7-661DDEA952CE}</a:tableStyleId>
              </a:tblPr>
              <a:tblGrid>
                <a:gridCol w="2190825"/>
                <a:gridCol w="2190825"/>
                <a:gridCol w="2190825"/>
              </a:tblGrid>
              <a:tr h="2268000">
                <a:tc>
                  <a:txBody>
                    <a:bodyPr/>
                    <a:lstStyle/>
                    <a:p>
                      <a:pPr indent="0" lvl="0" marL="0" marR="0" rtl="0" algn="l">
                        <a:spcBef>
                          <a:spcPts val="0"/>
                        </a:spcBef>
                        <a:spcAft>
                          <a:spcPts val="0"/>
                        </a:spcAft>
                        <a:buNone/>
                      </a:pPr>
                      <a:r>
                        <a:rPr lang="en-GB" sz="1200"/>
                        <a:t>a) 2, 4 and 5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b) 2, 5 and 7</a:t>
                      </a:r>
                      <a:endParaRPr sz="1200"/>
                    </a:p>
                  </a:txBody>
                  <a:tcPr marT="45725" marB="45725" marR="91450" marL="91450"/>
                </a:tc>
                <a:tc>
                  <a:txBody>
                    <a:bodyPr/>
                    <a:lstStyle/>
                    <a:p>
                      <a:pPr indent="0" lvl="0" marL="0" marR="0" rtl="0" algn="l">
                        <a:spcBef>
                          <a:spcPts val="0"/>
                        </a:spcBef>
                        <a:spcAft>
                          <a:spcPts val="0"/>
                        </a:spcAft>
                        <a:buNone/>
                      </a:pPr>
                      <a:r>
                        <a:rPr lang="en-GB" sz="1200"/>
                        <a:t>c) 5, 6 and 9 </a:t>
                      </a:r>
                      <a:endParaRPr/>
                    </a:p>
                  </a:txBody>
                  <a:tcPr marT="45725" marB="45725" marR="91450" marL="91450"/>
                </a:tc>
              </a:tr>
            </a:tbl>
          </a:graphicData>
        </a:graphic>
      </p:graphicFrame>
      <p:sp>
        <p:nvSpPr>
          <p:cNvPr id="204" name="Google Shape;204;p18"/>
          <p:cNvSpPr txBox="1"/>
          <p:nvPr/>
        </p:nvSpPr>
        <p:spPr>
          <a:xfrm>
            <a:off x="3181259" y="1388053"/>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18</a:t>
            </a:r>
            <a:endParaRPr/>
          </a:p>
        </p:txBody>
      </p:sp>
      <p:sp>
        <p:nvSpPr>
          <p:cNvPr id="205" name="Google Shape;205;p18"/>
          <p:cNvSpPr txBox="1"/>
          <p:nvPr/>
        </p:nvSpPr>
        <p:spPr>
          <a:xfrm>
            <a:off x="837512" y="819854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20</a:t>
            </a:r>
            <a:endParaRPr/>
          </a:p>
        </p:txBody>
      </p:sp>
      <p:sp>
        <p:nvSpPr>
          <p:cNvPr id="206" name="Google Shape;206;p18"/>
          <p:cNvSpPr txBox="1"/>
          <p:nvPr/>
        </p:nvSpPr>
        <p:spPr>
          <a:xfrm>
            <a:off x="3212032" y="819854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70</a:t>
            </a:r>
            <a:endParaRPr/>
          </a:p>
        </p:txBody>
      </p:sp>
      <p:sp>
        <p:nvSpPr>
          <p:cNvPr id="207" name="Google Shape;207;p18"/>
          <p:cNvSpPr txBox="1"/>
          <p:nvPr/>
        </p:nvSpPr>
        <p:spPr>
          <a:xfrm>
            <a:off x="5376703" y="819854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90</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idx="12" type="sldNum"/>
          </p:nvPr>
        </p:nvSpPr>
        <p:spPr>
          <a:xfrm>
            <a:off x="5314950" y="947077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13" name="Google Shape;213;p19"/>
          <p:cNvGraphicFramePr/>
          <p:nvPr/>
        </p:nvGraphicFramePr>
        <p:xfrm>
          <a:off x="140697" y="110563"/>
          <a:ext cx="3000000" cy="3000000"/>
        </p:xfrm>
        <a:graphic>
          <a:graphicData uri="http://schemas.openxmlformats.org/drawingml/2006/table">
            <a:tbl>
              <a:tblPr>
                <a:noFill/>
                <a:tableStyleId>{FB1A1291-EE85-4EAD-ADC7-661DDEA952CE}</a:tableStyleId>
              </a:tblPr>
              <a:tblGrid>
                <a:gridCol w="2192200"/>
                <a:gridCol w="2192200"/>
                <a:gridCol w="2192200"/>
              </a:tblGrid>
              <a:tr h="2268000">
                <a:tc>
                  <a:txBody>
                    <a:bodyPr/>
                    <a:lstStyle/>
                    <a:p>
                      <a:pPr indent="0" lvl="0" marL="0" marR="0" rtl="0" algn="l">
                        <a:spcBef>
                          <a:spcPts val="0"/>
                        </a:spcBef>
                        <a:spcAft>
                          <a:spcPts val="0"/>
                        </a:spcAft>
                        <a:buNone/>
                      </a:pPr>
                      <a:r>
                        <a:rPr lang="en-GB" sz="1200"/>
                        <a:t>d) 10, 12 and 15</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e) 12, 15 and 18</a:t>
                      </a:r>
                      <a:endParaRPr/>
                    </a:p>
                  </a:txBody>
                  <a:tcPr marT="45725" marB="45725" marR="91450" marL="91450"/>
                </a:tc>
                <a:tc>
                  <a:txBody>
                    <a:bodyPr/>
                    <a:lstStyle/>
                    <a:p>
                      <a:pPr indent="0" lvl="0" marL="0" marR="0" rtl="0" algn="l">
                        <a:spcBef>
                          <a:spcPts val="0"/>
                        </a:spcBef>
                        <a:spcAft>
                          <a:spcPts val="0"/>
                        </a:spcAft>
                        <a:buNone/>
                      </a:pPr>
                      <a:r>
                        <a:rPr lang="en-GB" sz="1200"/>
                        <a:t>f) 15, 20 and 25</a:t>
                      </a:r>
                      <a:endParaRPr/>
                    </a:p>
                  </a:txBody>
                  <a:tcPr marT="45725" marB="45725" marR="91450" marL="91450"/>
                </a:tc>
              </a:tr>
              <a:tr h="2268000">
                <a:tc>
                  <a:txBody>
                    <a:bodyPr/>
                    <a:lstStyle/>
                    <a:p>
                      <a:pPr indent="0" lvl="0" marL="0" marR="0" rtl="0" algn="l">
                        <a:spcBef>
                          <a:spcPts val="0"/>
                        </a:spcBef>
                        <a:spcAft>
                          <a:spcPts val="0"/>
                        </a:spcAft>
                        <a:buNone/>
                      </a:pPr>
                      <a:r>
                        <a:rPr lang="en-GB" sz="1200"/>
                        <a:t>g) 4, 18 and 27</a:t>
                      </a:r>
                      <a:endParaRPr/>
                    </a:p>
                  </a:txBody>
                  <a:tcPr marT="45725" marB="45725" marR="91450" marL="91450"/>
                </a:tc>
                <a:tc>
                  <a:txBody>
                    <a:bodyPr/>
                    <a:lstStyle/>
                    <a:p>
                      <a:pPr indent="0" lvl="0" marL="0" marR="0" rtl="0" algn="l">
                        <a:spcBef>
                          <a:spcPts val="0"/>
                        </a:spcBef>
                        <a:spcAft>
                          <a:spcPts val="0"/>
                        </a:spcAft>
                        <a:buNone/>
                      </a:pPr>
                      <a:r>
                        <a:rPr lang="en-GB" sz="1200"/>
                        <a:t>h) 27, 36 and 90</a:t>
                      </a:r>
                      <a:endParaRPr/>
                    </a:p>
                  </a:txBody>
                  <a:tcPr marT="45725" marB="45725" marR="91450" marL="91450"/>
                </a:tc>
                <a:tc>
                  <a:txBody>
                    <a:bodyPr/>
                    <a:lstStyle/>
                    <a:p>
                      <a:pPr indent="0" lvl="0" marL="0" marR="0" rtl="0" algn="l">
                        <a:spcBef>
                          <a:spcPts val="0"/>
                        </a:spcBef>
                        <a:spcAft>
                          <a:spcPts val="0"/>
                        </a:spcAft>
                        <a:buNone/>
                      </a:pPr>
                      <a:r>
                        <a:rPr lang="en-GB" sz="1200"/>
                        <a:t>i) 35, 63 and 140</a:t>
                      </a:r>
                      <a:endParaRPr/>
                    </a:p>
                  </a:txBody>
                  <a:tcPr marT="45725" marB="45725" marR="91450" marL="91450"/>
                </a:tc>
              </a:tr>
              <a:tr h="2268000">
                <a:tc>
                  <a:txBody>
                    <a:bodyPr/>
                    <a:lstStyle/>
                    <a:p>
                      <a:pPr indent="0" lvl="0" marL="0" marR="0" rtl="0" algn="l">
                        <a:spcBef>
                          <a:spcPts val="0"/>
                        </a:spcBef>
                        <a:spcAft>
                          <a:spcPts val="0"/>
                        </a:spcAft>
                        <a:buNone/>
                      </a:pPr>
                      <a:r>
                        <a:rPr lang="en-GB" sz="1200"/>
                        <a:t>j) 28, 56 and 77</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GB" sz="1200"/>
                        <a:t>k) 2, 3, 4 and 5 </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GB" sz="1200"/>
                        <a:t>l) 1, 2, 3, 4, 5 and 6. </a:t>
                      </a:r>
                      <a:endParaRPr/>
                    </a:p>
                  </a:txBody>
                  <a:tcPr marT="45725" marB="45725" marR="91450" marL="91450"/>
                </a:tc>
              </a:tr>
            </a:tbl>
          </a:graphicData>
        </a:graphic>
      </p:graphicFrame>
      <p:graphicFrame>
        <p:nvGraphicFramePr>
          <p:cNvPr id="214" name="Google Shape;214;p19"/>
          <p:cNvGraphicFramePr/>
          <p:nvPr/>
        </p:nvGraphicFramePr>
        <p:xfrm>
          <a:off x="140697" y="7275437"/>
          <a:ext cx="3000000" cy="3000000"/>
        </p:xfrm>
        <a:graphic>
          <a:graphicData uri="http://schemas.openxmlformats.org/drawingml/2006/table">
            <a:tbl>
              <a:tblPr>
                <a:noFill/>
                <a:tableStyleId>{FB1A1291-EE85-4EAD-ADC7-661DDEA952CE}</a:tableStyleId>
              </a:tblPr>
              <a:tblGrid>
                <a:gridCol w="2192200"/>
                <a:gridCol w="2192200"/>
                <a:gridCol w="2192200"/>
              </a:tblGrid>
              <a:tr h="2340000">
                <a:tc>
                  <a:txBody>
                    <a:bodyPr/>
                    <a:lstStyle/>
                    <a:p>
                      <a:pPr indent="0" lvl="0" marL="0" marR="0" rtl="0" algn="l">
                        <a:spcBef>
                          <a:spcPts val="0"/>
                        </a:spcBef>
                        <a:spcAft>
                          <a:spcPts val="0"/>
                        </a:spcAft>
                        <a:buNone/>
                      </a:pPr>
                      <a:r>
                        <a:rPr lang="en-GB" sz="1350"/>
                        <a:t>d) 3, 4 and 8</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rPr b="1" lang="en-GB" sz="1350">
                          <a:solidFill>
                            <a:srgbClr val="FF0000"/>
                          </a:solidFill>
                        </a:rPr>
                        <a:t>True</a:t>
                      </a:r>
                      <a:endParaRPr/>
                    </a:p>
                  </a:txBody>
                  <a:tcPr marT="45725" marB="45725" marR="91450" marL="91450"/>
                </a:tc>
                <a:tc>
                  <a:txBody>
                    <a:bodyPr/>
                    <a:lstStyle/>
                    <a:p>
                      <a:pPr indent="-342900" lvl="0" marL="342900" marR="0" rtl="0" algn="l">
                        <a:spcBef>
                          <a:spcPts val="0"/>
                        </a:spcBef>
                        <a:spcAft>
                          <a:spcPts val="0"/>
                        </a:spcAft>
                        <a:buClr>
                          <a:schemeClr val="dk1"/>
                        </a:buClr>
                        <a:buSzPts val="1350"/>
                        <a:buFont typeface="Calibri"/>
                        <a:buAutoNum type="alphaLcParenR" startAt="5"/>
                      </a:pPr>
                      <a:r>
                        <a:rPr lang="en-GB" sz="1350"/>
                        <a:t>4, 6 and 12</a:t>
                      </a:r>
                      <a:endParaRPr/>
                    </a:p>
                    <a:p>
                      <a:pPr indent="-257175" lvl="0" marL="342900" marR="0" rtl="0" algn="l">
                        <a:spcBef>
                          <a:spcPts val="0"/>
                        </a:spcBef>
                        <a:spcAft>
                          <a:spcPts val="0"/>
                        </a:spcAft>
                        <a:buClr>
                          <a:schemeClr val="dk1"/>
                        </a:buClr>
                        <a:buSzPts val="1350"/>
                        <a:buFont typeface="Calibri"/>
                        <a:buNone/>
                      </a:pPr>
                      <a:r>
                        <a:t/>
                      </a:r>
                      <a:endParaRPr sz="1350"/>
                    </a:p>
                    <a:p>
                      <a:pPr indent="-257175" lvl="0" marL="342900" marR="0" rtl="0" algn="l">
                        <a:spcBef>
                          <a:spcPts val="0"/>
                        </a:spcBef>
                        <a:spcAft>
                          <a:spcPts val="0"/>
                        </a:spcAft>
                        <a:buClr>
                          <a:schemeClr val="dk1"/>
                        </a:buClr>
                        <a:buSzPts val="1350"/>
                        <a:buFont typeface="Calibri"/>
                        <a:buNone/>
                      </a:pPr>
                      <a:r>
                        <a:t/>
                      </a:r>
                      <a:endParaRPr sz="1350"/>
                    </a:p>
                    <a:p>
                      <a:pPr indent="0" lvl="0" marL="0" marR="0" rtl="0" algn="l">
                        <a:spcBef>
                          <a:spcPts val="0"/>
                        </a:spcBef>
                        <a:spcAft>
                          <a:spcPts val="0"/>
                        </a:spcAft>
                        <a:buClr>
                          <a:srgbClr val="FF0000"/>
                        </a:buClr>
                        <a:buSzPts val="1350"/>
                        <a:buFont typeface="Calibri"/>
                        <a:buNone/>
                      </a:pPr>
                      <a:r>
                        <a:rPr b="1" lang="en-GB" sz="1350">
                          <a:solidFill>
                            <a:srgbClr val="FF0000"/>
                          </a:solidFill>
                        </a:rPr>
                        <a:t>False</a:t>
                      </a:r>
                      <a:endParaRPr/>
                    </a:p>
                  </a:txBody>
                  <a:tcPr marT="45725" marB="45725" marR="91450" marL="91450"/>
                </a:tc>
                <a:tc>
                  <a:txBody>
                    <a:bodyPr/>
                    <a:lstStyle/>
                    <a:p>
                      <a:pPr indent="0" lvl="0" marL="0" marR="0" rtl="0" algn="l">
                        <a:spcBef>
                          <a:spcPts val="0"/>
                        </a:spcBef>
                        <a:spcAft>
                          <a:spcPts val="0"/>
                        </a:spcAft>
                        <a:buNone/>
                      </a:pPr>
                      <a:r>
                        <a:rPr lang="en-GB" sz="1350"/>
                        <a:t>f) 8, 6 and 12</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rPr b="1" lang="en-GB" sz="1350">
                          <a:solidFill>
                            <a:srgbClr val="FF0000"/>
                          </a:solidFill>
                        </a:rPr>
                        <a:t>True</a:t>
                      </a:r>
                      <a:endParaRPr/>
                    </a:p>
                  </a:txBody>
                  <a:tcPr marT="45725" marB="45725" marR="91450" marL="91450"/>
                </a:tc>
              </a:tr>
            </a:tbl>
          </a:graphicData>
        </a:graphic>
      </p:graphicFrame>
      <p:sp>
        <p:nvSpPr>
          <p:cNvPr id="215" name="Google Shape;215;p19"/>
          <p:cNvSpPr txBox="1"/>
          <p:nvPr/>
        </p:nvSpPr>
        <p:spPr>
          <a:xfrm>
            <a:off x="140697" y="6998438"/>
            <a:ext cx="401706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 These sets of numbers have 24 as their LCM. True or False?</a:t>
            </a:r>
            <a:endParaRPr sz="1200">
              <a:solidFill>
                <a:schemeClr val="dk1"/>
              </a:solidFill>
              <a:latin typeface="Calibri"/>
              <a:ea typeface="Calibri"/>
              <a:cs typeface="Calibri"/>
              <a:sym typeface="Calibri"/>
            </a:endParaRPr>
          </a:p>
        </p:txBody>
      </p:sp>
      <p:sp>
        <p:nvSpPr>
          <p:cNvPr id="216" name="Google Shape;216;p19"/>
          <p:cNvSpPr txBox="1"/>
          <p:nvPr/>
        </p:nvSpPr>
        <p:spPr>
          <a:xfrm>
            <a:off x="802266" y="538292"/>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a:t>
            </a:r>
            <a:endParaRPr/>
          </a:p>
        </p:txBody>
      </p:sp>
      <p:sp>
        <p:nvSpPr>
          <p:cNvPr id="217" name="Google Shape;217;p19"/>
          <p:cNvSpPr txBox="1"/>
          <p:nvPr/>
        </p:nvSpPr>
        <p:spPr>
          <a:xfrm>
            <a:off x="3176786" y="538292"/>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180</a:t>
            </a:r>
            <a:endParaRPr/>
          </a:p>
        </p:txBody>
      </p:sp>
      <p:sp>
        <p:nvSpPr>
          <p:cNvPr id="218" name="Google Shape;218;p19"/>
          <p:cNvSpPr txBox="1"/>
          <p:nvPr/>
        </p:nvSpPr>
        <p:spPr>
          <a:xfrm>
            <a:off x="5341457" y="538292"/>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300</a:t>
            </a:r>
            <a:endParaRPr/>
          </a:p>
        </p:txBody>
      </p:sp>
      <p:sp>
        <p:nvSpPr>
          <p:cNvPr id="219" name="Google Shape;219;p19"/>
          <p:cNvSpPr txBox="1"/>
          <p:nvPr/>
        </p:nvSpPr>
        <p:spPr>
          <a:xfrm>
            <a:off x="802266" y="6246365"/>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616</a:t>
            </a:r>
            <a:endParaRPr/>
          </a:p>
        </p:txBody>
      </p:sp>
      <p:sp>
        <p:nvSpPr>
          <p:cNvPr id="220" name="Google Shape;220;p19"/>
          <p:cNvSpPr txBox="1"/>
          <p:nvPr/>
        </p:nvSpPr>
        <p:spPr>
          <a:xfrm>
            <a:off x="3176786" y="6246365"/>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a:t>
            </a:r>
            <a:endParaRPr/>
          </a:p>
        </p:txBody>
      </p:sp>
      <p:sp>
        <p:nvSpPr>
          <p:cNvPr id="221" name="Google Shape;221;p19"/>
          <p:cNvSpPr txBox="1"/>
          <p:nvPr/>
        </p:nvSpPr>
        <p:spPr>
          <a:xfrm>
            <a:off x="5341457" y="6246365"/>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60</a:t>
            </a:r>
            <a:endParaRPr/>
          </a:p>
        </p:txBody>
      </p:sp>
      <p:sp>
        <p:nvSpPr>
          <p:cNvPr id="222" name="Google Shape;222;p19"/>
          <p:cNvSpPr txBox="1"/>
          <p:nvPr/>
        </p:nvSpPr>
        <p:spPr>
          <a:xfrm>
            <a:off x="802266" y="3340643"/>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108</a:t>
            </a:r>
            <a:endParaRPr/>
          </a:p>
        </p:txBody>
      </p:sp>
      <p:sp>
        <p:nvSpPr>
          <p:cNvPr id="223" name="Google Shape;223;p19"/>
          <p:cNvSpPr txBox="1"/>
          <p:nvPr/>
        </p:nvSpPr>
        <p:spPr>
          <a:xfrm>
            <a:off x="3176786" y="3340643"/>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540</a:t>
            </a:r>
            <a:endParaRPr/>
          </a:p>
        </p:txBody>
      </p:sp>
      <p:sp>
        <p:nvSpPr>
          <p:cNvPr id="224" name="Google Shape;224;p19"/>
          <p:cNvSpPr txBox="1"/>
          <p:nvPr/>
        </p:nvSpPr>
        <p:spPr>
          <a:xfrm>
            <a:off x="5341457" y="3340643"/>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540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A picture containing chart&#10;&#10;Description automatically generated" id="229" name="Google Shape;229;p20"/>
          <p:cNvPicPr preferRelativeResize="0"/>
          <p:nvPr/>
        </p:nvPicPr>
        <p:blipFill rotWithShape="1">
          <a:blip r:embed="rId3">
            <a:alphaModFix/>
          </a:blip>
          <a:srcRect b="1" l="0" r="0" t="9062"/>
          <a:stretch/>
        </p:blipFill>
        <p:spPr>
          <a:xfrm>
            <a:off x="210555" y="5881971"/>
            <a:ext cx="6427881" cy="3710246"/>
          </a:xfrm>
          <a:prstGeom prst="rect">
            <a:avLst/>
          </a:prstGeom>
          <a:noFill/>
          <a:ln>
            <a:noFill/>
          </a:ln>
        </p:spPr>
      </p:pic>
      <p:sp>
        <p:nvSpPr>
          <p:cNvPr id="230" name="Google Shape;230;p20"/>
          <p:cNvSpPr txBox="1"/>
          <p:nvPr>
            <p:ph idx="12" type="sldNum"/>
          </p:nvPr>
        </p:nvSpPr>
        <p:spPr>
          <a:xfrm>
            <a:off x="5290390" y="9461154"/>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31" name="Google Shape;231;p20"/>
          <p:cNvGraphicFramePr/>
          <p:nvPr/>
        </p:nvGraphicFramePr>
        <p:xfrm>
          <a:off x="210555" y="392385"/>
          <a:ext cx="3000000" cy="3000000"/>
        </p:xfrm>
        <a:graphic>
          <a:graphicData uri="http://schemas.openxmlformats.org/drawingml/2006/table">
            <a:tbl>
              <a:tblPr>
                <a:noFill/>
                <a:tableStyleId>{FB1A1291-EE85-4EAD-ADC7-661DDEA952CE}</a:tableStyleId>
              </a:tblPr>
              <a:tblGrid>
                <a:gridCol w="2142625"/>
                <a:gridCol w="2142625"/>
                <a:gridCol w="2142625"/>
              </a:tblGrid>
              <a:tr h="2520000">
                <a:tc>
                  <a:txBody>
                    <a:bodyPr/>
                    <a:lstStyle/>
                    <a:p>
                      <a:pPr indent="0" lvl="0" marL="0" marR="0" rtl="0" algn="l">
                        <a:spcBef>
                          <a:spcPts val="0"/>
                        </a:spcBef>
                        <a:spcAft>
                          <a:spcPts val="0"/>
                        </a:spcAft>
                        <a:buNone/>
                      </a:pPr>
                      <a:r>
                        <a:rPr lang="en-GB" sz="1350"/>
                        <a:t>a) 2, 3 and 7</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lnSpc>
                          <a:spcPct val="100000"/>
                        </a:lnSpc>
                        <a:spcBef>
                          <a:spcPts val="0"/>
                        </a:spcBef>
                        <a:spcAft>
                          <a:spcPts val="0"/>
                        </a:spcAft>
                        <a:buClr>
                          <a:srgbClr val="FF0000"/>
                        </a:buClr>
                        <a:buSzPts val="1350"/>
                        <a:buFont typeface="Calibri"/>
                        <a:buNone/>
                      </a:pPr>
                      <a:r>
                        <a:rPr b="1" lang="en-GB" sz="1350">
                          <a:solidFill>
                            <a:srgbClr val="FF0000"/>
                          </a:solidFill>
                        </a:rPr>
                        <a:t>True</a:t>
                      </a:r>
                      <a:endParaRPr/>
                    </a:p>
                  </a:txBody>
                  <a:tcPr marT="45725" marB="45725" marR="91450" marL="91450"/>
                </a:tc>
                <a:tc>
                  <a:txBody>
                    <a:bodyPr/>
                    <a:lstStyle/>
                    <a:p>
                      <a:pPr indent="0" lvl="0" marL="0" marR="0" rtl="0" algn="l">
                        <a:spcBef>
                          <a:spcPts val="0"/>
                        </a:spcBef>
                        <a:spcAft>
                          <a:spcPts val="0"/>
                        </a:spcAft>
                        <a:buNone/>
                      </a:pPr>
                      <a:r>
                        <a:rPr lang="en-GB" sz="1350"/>
                        <a:t>b) 3, 4 and 7</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lnSpc>
                          <a:spcPct val="100000"/>
                        </a:lnSpc>
                        <a:spcBef>
                          <a:spcPts val="0"/>
                        </a:spcBef>
                        <a:spcAft>
                          <a:spcPts val="0"/>
                        </a:spcAft>
                        <a:buClr>
                          <a:srgbClr val="FF0000"/>
                        </a:buClr>
                        <a:buSzPts val="1350"/>
                        <a:buFont typeface="Calibri"/>
                        <a:buNone/>
                      </a:pPr>
                      <a:r>
                        <a:rPr b="1" lang="en-GB" sz="1350">
                          <a:solidFill>
                            <a:srgbClr val="FF0000"/>
                          </a:solidFill>
                        </a:rPr>
                        <a:t>False</a:t>
                      </a:r>
                      <a:endParaRPr/>
                    </a:p>
                  </a:txBody>
                  <a:tcPr marT="45725" marB="45725" marR="91450" marL="91450"/>
                </a:tc>
                <a:tc>
                  <a:txBody>
                    <a:bodyPr/>
                    <a:lstStyle/>
                    <a:p>
                      <a:pPr indent="0" lvl="0" marL="0" marR="0" rtl="0" algn="l">
                        <a:spcBef>
                          <a:spcPts val="0"/>
                        </a:spcBef>
                        <a:spcAft>
                          <a:spcPts val="0"/>
                        </a:spcAft>
                        <a:buNone/>
                      </a:pPr>
                      <a:r>
                        <a:rPr lang="en-GB" sz="1350"/>
                        <a:t>c) 2,6 and 7</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lnSpc>
                          <a:spcPct val="100000"/>
                        </a:lnSpc>
                        <a:spcBef>
                          <a:spcPts val="0"/>
                        </a:spcBef>
                        <a:spcAft>
                          <a:spcPts val="0"/>
                        </a:spcAft>
                        <a:buClr>
                          <a:srgbClr val="FF0000"/>
                        </a:buClr>
                        <a:buSzPts val="1350"/>
                        <a:buFont typeface="Calibri"/>
                        <a:buNone/>
                      </a:pPr>
                      <a:r>
                        <a:rPr b="1" lang="en-GB" sz="1350">
                          <a:solidFill>
                            <a:srgbClr val="FF0000"/>
                          </a:solidFill>
                        </a:rPr>
                        <a:t>True</a:t>
                      </a:r>
                      <a:endParaRPr/>
                    </a:p>
                  </a:txBody>
                  <a:tcPr marT="45725" marB="45725" marR="91450" marL="91450"/>
                </a:tc>
              </a:tr>
            </a:tbl>
          </a:graphicData>
        </a:graphic>
      </p:graphicFrame>
      <p:sp>
        <p:nvSpPr>
          <p:cNvPr id="232" name="Google Shape;232;p20"/>
          <p:cNvSpPr txBox="1"/>
          <p:nvPr/>
        </p:nvSpPr>
        <p:spPr>
          <a:xfrm>
            <a:off x="165518" y="86089"/>
            <a:ext cx="398179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 These sets of numbers have 42 as their LCM. True or False?</a:t>
            </a:r>
            <a:endParaRPr sz="1200">
              <a:solidFill>
                <a:schemeClr val="dk1"/>
              </a:solidFill>
              <a:latin typeface="Calibri"/>
              <a:ea typeface="Calibri"/>
              <a:cs typeface="Calibri"/>
              <a:sym typeface="Calibri"/>
            </a:endParaRPr>
          </a:p>
        </p:txBody>
      </p:sp>
      <p:sp>
        <p:nvSpPr>
          <p:cNvPr id="233" name="Google Shape;233;p20"/>
          <p:cNvSpPr txBox="1"/>
          <p:nvPr/>
        </p:nvSpPr>
        <p:spPr>
          <a:xfrm>
            <a:off x="150893" y="3034038"/>
            <a:ext cx="370601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8. How can you tell that the lowest common multiple of:</a:t>
            </a:r>
            <a:endParaRPr sz="1200">
              <a:solidFill>
                <a:schemeClr val="dk1"/>
              </a:solidFill>
              <a:latin typeface="Calibri"/>
              <a:ea typeface="Calibri"/>
              <a:cs typeface="Calibri"/>
              <a:sym typeface="Calibri"/>
            </a:endParaRPr>
          </a:p>
        </p:txBody>
      </p:sp>
      <p:graphicFrame>
        <p:nvGraphicFramePr>
          <p:cNvPr id="234" name="Google Shape;234;p20"/>
          <p:cNvGraphicFramePr/>
          <p:nvPr/>
        </p:nvGraphicFramePr>
        <p:xfrm>
          <a:off x="215059" y="3338670"/>
          <a:ext cx="3000000" cy="3000000"/>
        </p:xfrm>
        <a:graphic>
          <a:graphicData uri="http://schemas.openxmlformats.org/drawingml/2006/table">
            <a:tbl>
              <a:tblPr>
                <a:noFill/>
                <a:tableStyleId>{FB1A1291-EE85-4EAD-ADC7-661DDEA952CE}</a:tableStyleId>
              </a:tblPr>
              <a:tblGrid>
                <a:gridCol w="2142625"/>
                <a:gridCol w="2142625"/>
                <a:gridCol w="2142625"/>
              </a:tblGrid>
              <a:tr h="152400">
                <a:tc>
                  <a:txBody>
                    <a:bodyPr/>
                    <a:lstStyle/>
                    <a:p>
                      <a:pPr indent="0" lvl="0" marL="0" marR="0" rtl="0" algn="l">
                        <a:spcBef>
                          <a:spcPts val="0"/>
                        </a:spcBef>
                        <a:spcAft>
                          <a:spcPts val="0"/>
                        </a:spcAft>
                        <a:buNone/>
                      </a:pPr>
                      <a:r>
                        <a:rPr lang="en-GB" sz="1200"/>
                        <a:t>a)  2,5 and 7 must be even?</a:t>
                      </a:r>
                      <a:endParaRPr/>
                    </a:p>
                    <a:p>
                      <a:pPr indent="0" lvl="0" marL="0" marR="0" rtl="0" algn="l">
                        <a:spcBef>
                          <a:spcPts val="0"/>
                        </a:spcBef>
                        <a:spcAft>
                          <a:spcPts val="0"/>
                        </a:spcAft>
                        <a:buNone/>
                      </a:pPr>
                      <a:r>
                        <a:t/>
                      </a:r>
                      <a:endParaRPr sz="1200"/>
                    </a:p>
                  </a:txBody>
                  <a:tcPr marT="45725" marB="45725" marR="91450" marL="91450" anchor="ctr"/>
                </a:tc>
                <a:tc>
                  <a:txBody>
                    <a:bodyPr/>
                    <a:lstStyle/>
                    <a:p>
                      <a:pPr indent="0" lvl="0" marL="0" marR="0" rtl="0" algn="l">
                        <a:spcBef>
                          <a:spcPts val="0"/>
                        </a:spcBef>
                        <a:spcAft>
                          <a:spcPts val="0"/>
                        </a:spcAft>
                        <a:buClr>
                          <a:schemeClr val="dk1"/>
                        </a:buClr>
                        <a:buSzPts val="1200"/>
                        <a:buFont typeface="Calibri"/>
                        <a:buNone/>
                      </a:pPr>
                      <a:r>
                        <a:rPr lang="en-GB" sz="1200"/>
                        <a:t>b) two odd numbers must be odd?</a:t>
                      </a:r>
                      <a:endParaRPr/>
                    </a:p>
                  </a:txBody>
                  <a:tcPr marT="45725" marB="45725" marR="91450" marL="91450" anchor="ctr"/>
                </a:tc>
                <a:tc>
                  <a:txBody>
                    <a:bodyPr/>
                    <a:lstStyle/>
                    <a:p>
                      <a:pPr indent="0" lvl="0" marL="0" marR="0" rtl="0" algn="l">
                        <a:spcBef>
                          <a:spcPts val="0"/>
                        </a:spcBef>
                        <a:spcAft>
                          <a:spcPts val="0"/>
                        </a:spcAft>
                        <a:buNone/>
                      </a:pPr>
                      <a:r>
                        <a:rPr lang="en-GB" sz="1200"/>
                        <a:t>c) an odd number and an even number must be even?</a:t>
                      </a:r>
                      <a:endParaRPr/>
                    </a:p>
                  </a:txBody>
                  <a:tcPr marT="45725" marB="45725" marR="91450" marL="91450" anchor="ctr"/>
                </a:tc>
              </a:tr>
              <a:tr h="2520000">
                <a:tc>
                  <a:txBody>
                    <a:bodyPr/>
                    <a:lstStyle/>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rPr b="1" lang="en-GB" sz="1350">
                          <a:solidFill>
                            <a:srgbClr val="FF0000"/>
                          </a:solidFill>
                        </a:rPr>
                        <a:t>Because one of the numbers is two, so the answer must be in the two times table and therefore even.</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txBody>
                  <a:tcPr marT="45725" marB="45725" marR="91450" marL="91450">
                    <a:solidFill>
                      <a:schemeClr val="lt1"/>
                    </a:solidFill>
                  </a:tcPr>
                </a:tc>
                <a:tc>
                  <a:txBody>
                    <a:bodyPr/>
                    <a:lstStyle/>
                    <a:p>
                      <a:pPr indent="0" lvl="0" marL="0" marR="0" rtl="0" algn="l">
                        <a:spcBef>
                          <a:spcPts val="0"/>
                        </a:spcBef>
                        <a:spcAft>
                          <a:spcPts val="0"/>
                        </a:spcAft>
                        <a:buClr>
                          <a:schemeClr val="dk1"/>
                        </a:buClr>
                        <a:buSzPts val="1350"/>
                        <a:buFont typeface="Calibri"/>
                        <a:buNone/>
                      </a:pPr>
                      <a:r>
                        <a:t/>
                      </a:r>
                      <a:endParaRPr sz="1350"/>
                    </a:p>
                    <a:p>
                      <a:pPr indent="0" lvl="0" marL="0" marR="0" rtl="0" algn="l">
                        <a:spcBef>
                          <a:spcPts val="0"/>
                        </a:spcBef>
                        <a:spcAft>
                          <a:spcPts val="0"/>
                        </a:spcAft>
                        <a:buClr>
                          <a:schemeClr val="dk1"/>
                        </a:buClr>
                        <a:buSzPts val="1350"/>
                        <a:buFont typeface="Calibri"/>
                        <a:buNone/>
                      </a:pPr>
                      <a:r>
                        <a:t/>
                      </a:r>
                      <a:endParaRPr sz="1350"/>
                    </a:p>
                    <a:p>
                      <a:pPr indent="0" lvl="0" marL="0" marR="0" rtl="0" algn="l">
                        <a:lnSpc>
                          <a:spcPct val="100000"/>
                        </a:lnSpc>
                        <a:spcBef>
                          <a:spcPts val="0"/>
                        </a:spcBef>
                        <a:spcAft>
                          <a:spcPts val="0"/>
                        </a:spcAft>
                        <a:buClr>
                          <a:srgbClr val="FF0000"/>
                        </a:buClr>
                        <a:buSzPts val="1350"/>
                        <a:buFont typeface="Calibri"/>
                        <a:buNone/>
                      </a:pPr>
                      <a:r>
                        <a:rPr b="1" lang="en-GB" sz="1350">
                          <a:solidFill>
                            <a:srgbClr val="FF0000"/>
                          </a:solidFill>
                        </a:rPr>
                        <a:t>If two numbers are odd, their product is odd. Their product is always a multiple of the lowest common multiple, which means the lowest common multiple must also be odd.</a:t>
                      </a:r>
                      <a:endParaRPr/>
                    </a:p>
                  </a:txBody>
                  <a:tcPr marT="45725" marB="45725" marR="91450" marL="91450">
                    <a:solidFill>
                      <a:schemeClr val="lt1"/>
                    </a:solidFill>
                  </a:tcPr>
                </a:tc>
                <a:tc>
                  <a:txBody>
                    <a:bodyPr/>
                    <a:lstStyle/>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rPr b="1" lang="en-GB" sz="1350">
                          <a:solidFill>
                            <a:srgbClr val="FF0000"/>
                          </a:solidFill>
                        </a:rPr>
                        <a:t>Because the multiples of all even numbers are even (as even x even = even and even x odd = even).</a:t>
                      </a:r>
                      <a:endParaRPr/>
                    </a:p>
                  </a:txBody>
                  <a:tcPr marT="45725" marB="45725" marR="91450" marL="91450">
                    <a:solidFill>
                      <a:schemeClr val="lt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1"/>
          <p:cNvSpPr txBox="1"/>
          <p:nvPr>
            <p:ph idx="12" type="sldNum"/>
          </p:nvPr>
        </p:nvSpPr>
        <p:spPr>
          <a:xfrm>
            <a:off x="5257800" y="947384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40" name="Google Shape;240;p21"/>
          <p:cNvSpPr txBox="1"/>
          <p:nvPr/>
        </p:nvSpPr>
        <p:spPr>
          <a:xfrm>
            <a:off x="152400" y="227351"/>
            <a:ext cx="218829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9. Complete the following table:</a:t>
            </a:r>
            <a:endParaRPr sz="1200">
              <a:solidFill>
                <a:schemeClr val="dk1"/>
              </a:solidFill>
              <a:latin typeface="Calibri"/>
              <a:ea typeface="Calibri"/>
              <a:cs typeface="Calibri"/>
              <a:sym typeface="Calibri"/>
            </a:endParaRPr>
          </a:p>
        </p:txBody>
      </p:sp>
      <p:pic>
        <p:nvPicPr>
          <p:cNvPr descr="A picture containing chart&#10;&#10;Description automatically generated" id="241" name="Google Shape;241;p21"/>
          <p:cNvPicPr preferRelativeResize="0"/>
          <p:nvPr/>
        </p:nvPicPr>
        <p:blipFill rotWithShape="1">
          <a:blip r:embed="rId3">
            <a:alphaModFix/>
          </a:blip>
          <a:srcRect b="1" l="0" r="0" t="9062"/>
          <a:stretch/>
        </p:blipFill>
        <p:spPr>
          <a:xfrm>
            <a:off x="150359" y="5849686"/>
            <a:ext cx="6572477" cy="3793708"/>
          </a:xfrm>
          <a:prstGeom prst="rect">
            <a:avLst/>
          </a:prstGeom>
          <a:noFill/>
          <a:ln>
            <a:noFill/>
          </a:ln>
        </p:spPr>
      </p:pic>
      <p:pic>
        <p:nvPicPr>
          <p:cNvPr id="242" name="Google Shape;242;p21"/>
          <p:cNvPicPr preferRelativeResize="0"/>
          <p:nvPr/>
        </p:nvPicPr>
        <p:blipFill rotWithShape="1">
          <a:blip r:embed="rId4">
            <a:alphaModFix/>
          </a:blip>
          <a:srcRect b="0" l="0" r="0" t="0"/>
          <a:stretch/>
        </p:blipFill>
        <p:spPr>
          <a:xfrm>
            <a:off x="757237" y="504350"/>
            <a:ext cx="5076825" cy="5257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graphicFrame>
        <p:nvGraphicFramePr>
          <p:cNvPr id="247" name="Google Shape;247;p22"/>
          <p:cNvGraphicFramePr/>
          <p:nvPr/>
        </p:nvGraphicFramePr>
        <p:xfrm>
          <a:off x="303028" y="516729"/>
          <a:ext cx="3000000" cy="3000000"/>
        </p:xfrm>
        <a:graphic>
          <a:graphicData uri="http://schemas.openxmlformats.org/drawingml/2006/table">
            <a:tbl>
              <a:tblPr>
                <a:noFill/>
                <a:tableStyleId>{FB1A1291-EE85-4EAD-ADC7-661DDEA952CE}</a:tableStyleId>
              </a:tblPr>
              <a:tblGrid>
                <a:gridCol w="6294475"/>
              </a:tblGrid>
              <a:tr h="683975">
                <a:tc>
                  <a:txBody>
                    <a:bodyPr/>
                    <a:lstStyle/>
                    <a:p>
                      <a:pPr indent="0" lvl="0" marL="0" marR="0" rtl="0" algn="l">
                        <a:lnSpc>
                          <a:spcPct val="100000"/>
                        </a:lnSpc>
                        <a:spcBef>
                          <a:spcPts val="0"/>
                        </a:spcBef>
                        <a:spcAft>
                          <a:spcPts val="0"/>
                        </a:spcAft>
                        <a:buClr>
                          <a:schemeClr val="dk1"/>
                        </a:buClr>
                        <a:buSzPts val="1350"/>
                        <a:buFont typeface="Calibri"/>
                        <a:buNone/>
                      </a:pPr>
                      <a:r>
                        <a:rPr lang="en-GB" sz="1350"/>
                        <a:t>a) A red light flashes every 3 seconds. A yellow light flashes every 8 seconds. A green light flashes every 11 seconds They all flash at the same time. After how many seconds will they next all flash at the same time?</a:t>
                      </a:r>
                      <a:endParaRPr/>
                    </a:p>
                  </a:txBody>
                  <a:tcPr marT="45725" marB="45725" marR="91450" marL="91450"/>
                </a:tc>
              </a:tr>
              <a:tr h="1424600">
                <a:tc>
                  <a:txBody>
                    <a:bodyPr/>
                    <a:lstStyle/>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ctr">
                        <a:lnSpc>
                          <a:spcPct val="100000"/>
                        </a:lnSpc>
                        <a:spcBef>
                          <a:spcPts val="0"/>
                        </a:spcBef>
                        <a:spcAft>
                          <a:spcPts val="0"/>
                        </a:spcAft>
                        <a:buClr>
                          <a:srgbClr val="FF0000"/>
                        </a:buClr>
                        <a:buSzPts val="1350"/>
                        <a:buFont typeface="Calibri"/>
                        <a:buNone/>
                      </a:pPr>
                      <a:r>
                        <a:rPr b="1" lang="en-GB" sz="1350">
                          <a:solidFill>
                            <a:srgbClr val="FF0000"/>
                          </a:solidFill>
                        </a:rPr>
                        <a:t>264 seconds</a:t>
                      </a:r>
                      <a:endParaRPr/>
                    </a:p>
                  </a:txBody>
                  <a:tcPr marT="45725" marB="45725" marR="91450" marL="91450"/>
                </a:tc>
              </a:tr>
              <a:tr h="780850">
                <a:tc>
                  <a:txBody>
                    <a:bodyPr/>
                    <a:lstStyle/>
                    <a:p>
                      <a:pPr indent="0" lvl="0" marL="0" marR="0" rtl="0" algn="l">
                        <a:spcBef>
                          <a:spcPts val="0"/>
                        </a:spcBef>
                        <a:spcAft>
                          <a:spcPts val="0"/>
                        </a:spcAft>
                        <a:buNone/>
                      </a:pPr>
                      <a:r>
                        <a:rPr lang="en-GB" sz="1350"/>
                        <a:t>b) Light A flashes every 5 seconds. Light B flashes every 6 seconds. Light C flashes every 7 seconds. All three lights flash at the same time. Work out how long it will take for all three lights to flash at the same time again. </a:t>
                      </a:r>
                      <a:endParaRPr/>
                    </a:p>
                  </a:txBody>
                  <a:tcPr marT="45725" marB="45725" marR="91450" marL="91450"/>
                </a:tc>
              </a:tr>
              <a:tr h="1424600">
                <a:tc>
                  <a:txBody>
                    <a:bodyPr/>
                    <a:lstStyle/>
                    <a:p>
                      <a:pPr indent="0" lvl="0" marL="0" marR="0" rtl="0" algn="l">
                        <a:spcBef>
                          <a:spcPts val="0"/>
                        </a:spcBef>
                        <a:spcAft>
                          <a:spcPts val="0"/>
                        </a:spcAft>
                        <a:buNone/>
                      </a:pPr>
                      <a:r>
                        <a:t/>
                      </a:r>
                      <a:endParaRPr sz="1350"/>
                    </a:p>
                    <a:p>
                      <a:pPr indent="0" lvl="0" marL="0" marR="0" rtl="0" algn="ctr">
                        <a:spcBef>
                          <a:spcPts val="0"/>
                        </a:spcBef>
                        <a:spcAft>
                          <a:spcPts val="0"/>
                        </a:spcAft>
                        <a:buNone/>
                      </a:pPr>
                      <a:r>
                        <a:rPr b="1" lang="en-GB" sz="1350">
                          <a:solidFill>
                            <a:srgbClr val="FF0000"/>
                          </a:solidFill>
                        </a:rPr>
                        <a:t>210 seconds</a:t>
                      </a:r>
                      <a:endParaRPr/>
                    </a:p>
                  </a:txBody>
                  <a:tcPr marT="45725" marB="45725" marR="91450" marL="91450"/>
                </a:tc>
              </a:tr>
              <a:tr h="882550">
                <a:tc>
                  <a:txBody>
                    <a:bodyPr/>
                    <a:lstStyle/>
                    <a:p>
                      <a:pPr indent="0" lvl="0" marL="0" marR="0" rtl="0" algn="l">
                        <a:spcBef>
                          <a:spcPts val="0"/>
                        </a:spcBef>
                        <a:spcAft>
                          <a:spcPts val="0"/>
                        </a:spcAft>
                        <a:buNone/>
                      </a:pPr>
                      <a:r>
                        <a:rPr lang="en-GB" sz="1350"/>
                        <a:t>c) Robert, John and Paul start to run from the same point, in the same direction, around a circular track. If they take 126 seconds, 154 seconds and 198 seconds respectively to complete one round along the track, when will they next meet again at the starting point?</a:t>
                      </a:r>
                      <a:endParaRPr/>
                    </a:p>
                  </a:txBody>
                  <a:tcPr marT="45725" marB="45725" marR="91450" marL="91450"/>
                </a:tc>
              </a:tr>
              <a:tr h="1424600">
                <a:tc>
                  <a:txBody>
                    <a:bodyPr/>
                    <a:lstStyle/>
                    <a:p>
                      <a:pPr indent="0" lvl="0" marL="0" marR="0" rtl="0" algn="ctr">
                        <a:spcBef>
                          <a:spcPts val="0"/>
                        </a:spcBef>
                        <a:spcAft>
                          <a:spcPts val="0"/>
                        </a:spcAft>
                        <a:buNone/>
                      </a:pPr>
                      <a:r>
                        <a:rPr b="1" lang="en-GB" sz="1350">
                          <a:solidFill>
                            <a:srgbClr val="FF0000"/>
                          </a:solidFill>
                        </a:rPr>
                        <a:t>After 1386 seconds</a:t>
                      </a:r>
                      <a:endParaRPr/>
                    </a:p>
                  </a:txBody>
                  <a:tcPr marT="45725" marB="45725" marR="91450" marL="91450"/>
                </a:tc>
              </a:tr>
              <a:tr h="882550">
                <a:tc>
                  <a:txBody>
                    <a:bodyPr/>
                    <a:lstStyle/>
                    <a:p>
                      <a:pPr indent="0" lvl="0" marL="0" marR="0" rtl="0" algn="l">
                        <a:spcBef>
                          <a:spcPts val="0"/>
                        </a:spcBef>
                        <a:spcAft>
                          <a:spcPts val="0"/>
                        </a:spcAft>
                        <a:buNone/>
                      </a:pPr>
                      <a:r>
                        <a:rPr lang="en-GB" sz="1350"/>
                        <a:t>d) Three boys regularly visit the city centre in the morning. Paul goes every thirteen days, Peter goes every four days and Philip goes every two days. If they all visit the city on 1</a:t>
                      </a:r>
                      <a:r>
                        <a:rPr baseline="30000" lang="en-GB" sz="1350"/>
                        <a:t>st</a:t>
                      </a:r>
                      <a:r>
                        <a:rPr lang="en-GB" sz="1350"/>
                        <a:t> January 2023, how many more times in 2023 will they all be in the city centre on the same morning?</a:t>
                      </a:r>
                      <a:endParaRPr/>
                    </a:p>
                  </a:txBody>
                  <a:tcPr marT="45725" marB="45725" marR="91450" marL="91450"/>
                </a:tc>
              </a:tr>
              <a:tr h="1424600">
                <a:tc>
                  <a:txBody>
                    <a:bodyPr/>
                    <a:lstStyle/>
                    <a:p>
                      <a:pPr indent="0" lvl="0" marL="0" marR="0" rtl="0" algn="l">
                        <a:spcBef>
                          <a:spcPts val="0"/>
                        </a:spcBef>
                        <a:spcAft>
                          <a:spcPts val="0"/>
                        </a:spcAft>
                        <a:buNone/>
                      </a:pPr>
                      <a:r>
                        <a:t/>
                      </a:r>
                      <a:endParaRPr sz="1350"/>
                    </a:p>
                    <a:p>
                      <a:pPr indent="0" lvl="0" marL="0" marR="0" rtl="0" algn="ctr">
                        <a:lnSpc>
                          <a:spcPct val="100000"/>
                        </a:lnSpc>
                        <a:spcBef>
                          <a:spcPts val="0"/>
                        </a:spcBef>
                        <a:spcAft>
                          <a:spcPts val="0"/>
                        </a:spcAft>
                        <a:buClr>
                          <a:srgbClr val="FF0000"/>
                        </a:buClr>
                        <a:buSzPts val="1350"/>
                        <a:buFont typeface="Calibri"/>
                        <a:buNone/>
                      </a:pPr>
                      <a:r>
                        <a:rPr b="1" lang="en-GB" sz="1350">
                          <a:solidFill>
                            <a:srgbClr val="FF0000"/>
                          </a:solidFill>
                        </a:rPr>
                        <a:t>7 times</a:t>
                      </a:r>
                      <a:endParaRPr/>
                    </a:p>
                  </a:txBody>
                  <a:tcPr marT="45725" marB="45725" marR="91450" marL="91450"/>
                </a:tc>
              </a:tr>
            </a:tbl>
          </a:graphicData>
        </a:graphic>
      </p:graphicFrame>
      <p:sp>
        <p:nvSpPr>
          <p:cNvPr id="248" name="Google Shape;248;p22"/>
          <p:cNvSpPr txBox="1"/>
          <p:nvPr>
            <p:ph idx="12" type="sldNum"/>
          </p:nvPr>
        </p:nvSpPr>
        <p:spPr>
          <a:xfrm>
            <a:off x="5314950" y="944509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49" name="Google Shape;249;p22"/>
          <p:cNvSpPr txBox="1"/>
          <p:nvPr/>
        </p:nvSpPr>
        <p:spPr>
          <a:xfrm>
            <a:off x="239233" y="197200"/>
            <a:ext cx="58810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10. Answer the following questions: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graphicFrame>
        <p:nvGraphicFramePr>
          <p:cNvPr id="254" name="Google Shape;254;p23"/>
          <p:cNvGraphicFramePr/>
          <p:nvPr/>
        </p:nvGraphicFramePr>
        <p:xfrm>
          <a:off x="303028" y="516729"/>
          <a:ext cx="3000000" cy="3000000"/>
        </p:xfrm>
        <a:graphic>
          <a:graphicData uri="http://schemas.openxmlformats.org/drawingml/2006/table">
            <a:tbl>
              <a:tblPr>
                <a:noFill/>
                <a:tableStyleId>{FB1A1291-EE85-4EAD-ADC7-661DDEA952CE}</a:tableStyleId>
              </a:tblPr>
              <a:tblGrid>
                <a:gridCol w="6294475"/>
              </a:tblGrid>
              <a:tr h="370850">
                <a:tc>
                  <a:txBody>
                    <a:bodyPr/>
                    <a:lstStyle/>
                    <a:p>
                      <a:pPr indent="0" lvl="0" marL="0" marR="0" rtl="0" algn="l">
                        <a:spcBef>
                          <a:spcPts val="0"/>
                        </a:spcBef>
                        <a:spcAft>
                          <a:spcPts val="0"/>
                        </a:spcAft>
                        <a:buNone/>
                      </a:pPr>
                      <a:r>
                        <a:rPr lang="en-GB" sz="1200"/>
                        <a:t>a) The lowest common multiple of two numbers is the product of those two numbers.</a:t>
                      </a:r>
                      <a:endParaRPr/>
                    </a:p>
                  </a:txBody>
                  <a:tcPr marT="45725" marB="45725" marR="91450" marL="91450"/>
                </a:tc>
              </a:tr>
              <a:tr h="1246025">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rPr b="1" lang="en-GB" sz="1200">
                          <a:solidFill>
                            <a:srgbClr val="FF0000"/>
                          </a:solidFill>
                        </a:rPr>
                        <a:t>Sometimes true. E.g. in the case of 3 and 2 (LCM 6) but not 6 and 12 (LCM 12)</a:t>
                      </a:r>
                      <a:endParaRPr/>
                    </a:p>
                  </a:txBody>
                  <a:tcPr marT="45725" marB="45725" marR="91450" marL="91450"/>
                </a:tc>
              </a:tr>
              <a:tr h="438050">
                <a:tc>
                  <a:txBody>
                    <a:bodyPr/>
                    <a:lstStyle/>
                    <a:p>
                      <a:pPr indent="0" lvl="0" marL="0" marR="0" rtl="0" algn="l">
                        <a:lnSpc>
                          <a:spcPct val="100000"/>
                        </a:lnSpc>
                        <a:spcBef>
                          <a:spcPts val="0"/>
                        </a:spcBef>
                        <a:spcAft>
                          <a:spcPts val="0"/>
                        </a:spcAft>
                        <a:buClr>
                          <a:schemeClr val="dk1"/>
                        </a:buClr>
                        <a:buSzPts val="1200"/>
                        <a:buFont typeface="Calibri"/>
                        <a:buNone/>
                      </a:pPr>
                      <a:r>
                        <a:rPr lang="en-GB" sz="1200"/>
                        <a:t>b) The lowest common multiple of three numbers is the product of those three numbers.</a:t>
                      </a:r>
                      <a:endParaRPr/>
                    </a:p>
                  </a:txBody>
                  <a:tcPr marT="45725" marB="45725" marR="91450" marL="91450"/>
                </a:tc>
              </a:tr>
              <a:tr h="1476000">
                <a:tc>
                  <a:txBody>
                    <a:bodyPr/>
                    <a:lstStyle/>
                    <a:p>
                      <a:pPr indent="0" lvl="0" marL="0" marR="0" rtl="0" algn="l">
                        <a:spcBef>
                          <a:spcPts val="0"/>
                        </a:spcBef>
                        <a:spcAft>
                          <a:spcPts val="0"/>
                        </a:spcAft>
                        <a:buNone/>
                      </a:pPr>
                      <a:r>
                        <a:t/>
                      </a:r>
                      <a:endParaRPr sz="1200"/>
                    </a:p>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Sometimes true. E.g. in the case of 1, 4 and 7 (LCM 28) but not 2, 4 and 7 (LCM 28)</a:t>
                      </a:r>
                      <a:endParaRPr/>
                    </a:p>
                  </a:txBody>
                  <a:tcPr marT="45725" marB="45725" marR="91450" marL="91450"/>
                </a:tc>
              </a:tr>
              <a:tr h="381900">
                <a:tc>
                  <a:txBody>
                    <a:bodyPr/>
                    <a:lstStyle/>
                    <a:p>
                      <a:pPr indent="0" lvl="0" marL="0" marR="0" rtl="0" algn="l">
                        <a:spcBef>
                          <a:spcPts val="0"/>
                        </a:spcBef>
                        <a:spcAft>
                          <a:spcPts val="0"/>
                        </a:spcAft>
                        <a:buNone/>
                      </a:pPr>
                      <a:r>
                        <a:rPr lang="en-GB" sz="1200"/>
                        <a:t>c) The lowest common multiple of two numbers is greater than both of the numbers.</a:t>
                      </a:r>
                      <a:endParaRPr/>
                    </a:p>
                  </a:txBody>
                  <a:tcPr marT="45725" marB="45725" marR="91450" marL="91450"/>
                </a:tc>
              </a:tr>
              <a:tr h="1476000">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rPr b="1" lang="en-GB" sz="1200">
                          <a:solidFill>
                            <a:srgbClr val="FF0000"/>
                          </a:solidFill>
                        </a:rPr>
                        <a:t>Sometimes true. E.g. in the case of 3 and 4 (LCM 12), but not 6 and 12 (LCM 12)</a:t>
                      </a:r>
                      <a:endParaRPr/>
                    </a:p>
                  </a:txBody>
                  <a:tcPr marT="45725" marB="45725" marR="91450" marL="91450"/>
                </a:tc>
              </a:tr>
              <a:tr h="327400">
                <a:tc>
                  <a:txBody>
                    <a:bodyPr/>
                    <a:lstStyle/>
                    <a:p>
                      <a:pPr indent="0" lvl="0" marL="0" marR="0" rtl="0" algn="l">
                        <a:lnSpc>
                          <a:spcPct val="100000"/>
                        </a:lnSpc>
                        <a:spcBef>
                          <a:spcPts val="0"/>
                        </a:spcBef>
                        <a:spcAft>
                          <a:spcPts val="0"/>
                        </a:spcAft>
                        <a:buClr>
                          <a:schemeClr val="dk1"/>
                        </a:buClr>
                        <a:buSzPts val="1200"/>
                        <a:buFont typeface="Calibri"/>
                        <a:buNone/>
                      </a:pPr>
                      <a:r>
                        <a:rPr lang="en-GB" sz="1200"/>
                        <a:t>d) The lowest common multiple of three integer values will be an integer.</a:t>
                      </a:r>
                      <a:endParaRPr/>
                    </a:p>
                  </a:txBody>
                  <a:tcPr marT="45725" marB="45725" marR="91450" marL="91450"/>
                </a:tc>
              </a:tr>
              <a:tr h="1476000">
                <a:tc>
                  <a:txBody>
                    <a:bodyPr/>
                    <a:lstStyle/>
                    <a:p>
                      <a:pPr indent="0" lvl="0" marL="0" marR="0" rtl="0" algn="l">
                        <a:lnSpc>
                          <a:spcPct val="100000"/>
                        </a:lnSpc>
                        <a:spcBef>
                          <a:spcPts val="0"/>
                        </a:spcBef>
                        <a:spcAft>
                          <a:spcPts val="0"/>
                        </a:spcAft>
                        <a:buClr>
                          <a:schemeClr val="dk1"/>
                        </a:buClr>
                        <a:buSzPts val="1200"/>
                        <a:buFont typeface="Calibri"/>
                        <a:buNone/>
                      </a:pPr>
                      <a:r>
                        <a:t/>
                      </a:r>
                      <a:endParaRPr b="1" sz="1200">
                        <a:solidFill>
                          <a:srgbClr val="FF0000"/>
                        </a:solidFill>
                      </a:endParaRPr>
                    </a:p>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Always true. When listing multiple of an integer, there will never be a non-integer value.</a:t>
                      </a:r>
                      <a:endParaRPr/>
                    </a:p>
                  </a:txBody>
                  <a:tcPr marT="45725" marB="45725" marR="91450" marL="91450"/>
                </a:tc>
              </a:tr>
              <a:tr h="327425">
                <a:tc>
                  <a:txBody>
                    <a:bodyPr/>
                    <a:lstStyle/>
                    <a:p>
                      <a:pPr indent="0" lvl="0" marL="0" marR="0" rtl="0" algn="l">
                        <a:spcBef>
                          <a:spcPts val="0"/>
                        </a:spcBef>
                        <a:spcAft>
                          <a:spcPts val="0"/>
                        </a:spcAft>
                        <a:buNone/>
                      </a:pPr>
                      <a:r>
                        <a:rPr lang="en-GB" sz="1200"/>
                        <a:t>e) The lowest common multiple of two integers is smaller than both of the integers.</a:t>
                      </a:r>
                      <a:endParaRPr/>
                    </a:p>
                  </a:txBody>
                  <a:tcPr marT="45725" marB="45725" marR="91450" marL="91450"/>
                </a:tc>
              </a:tr>
              <a:tr h="1476000">
                <a:tc>
                  <a:txBody>
                    <a:bodyPr/>
                    <a:lstStyle/>
                    <a:p>
                      <a:pPr indent="0" lvl="0" marL="0" marR="0" rtl="0" algn="l">
                        <a:spcBef>
                          <a:spcPts val="0"/>
                        </a:spcBef>
                        <a:spcAft>
                          <a:spcPts val="0"/>
                        </a:spcAft>
                        <a:buNone/>
                      </a:pPr>
                      <a:r>
                        <a:t/>
                      </a:r>
                      <a:endParaRPr sz="1200"/>
                    </a:p>
                    <a:p>
                      <a:pPr indent="0" lvl="0" marL="0" marR="0" rtl="0" algn="l">
                        <a:spcBef>
                          <a:spcPts val="0"/>
                        </a:spcBef>
                        <a:spcAft>
                          <a:spcPts val="0"/>
                        </a:spcAft>
                        <a:buNone/>
                      </a:pPr>
                      <a:r>
                        <a:rPr b="1" lang="en-GB" sz="1200">
                          <a:solidFill>
                            <a:srgbClr val="FF0000"/>
                          </a:solidFill>
                        </a:rPr>
                        <a:t>Never true. When listing multiples of integers, the number increases as the multiplier increases, so the LCM cannot be smaller than the starting integer. </a:t>
                      </a:r>
                      <a:endParaRPr/>
                    </a:p>
                  </a:txBody>
                  <a:tcPr marT="45725" marB="45725" marR="91450" marL="91450"/>
                </a:tc>
              </a:tr>
            </a:tbl>
          </a:graphicData>
        </a:graphic>
      </p:graphicFrame>
      <p:sp>
        <p:nvSpPr>
          <p:cNvPr id="255" name="Google Shape;255;p23"/>
          <p:cNvSpPr txBox="1"/>
          <p:nvPr>
            <p:ph idx="12" type="sldNum"/>
          </p:nvPr>
        </p:nvSpPr>
        <p:spPr>
          <a:xfrm>
            <a:off x="5314950" y="944509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56" name="Google Shape;256;p23"/>
          <p:cNvSpPr txBox="1"/>
          <p:nvPr/>
        </p:nvSpPr>
        <p:spPr>
          <a:xfrm>
            <a:off x="239233" y="197200"/>
            <a:ext cx="58810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11. Always, sometimes or never true? Give examples to support your answers.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24"/>
          <p:cNvPicPr preferRelativeResize="0"/>
          <p:nvPr/>
        </p:nvPicPr>
        <p:blipFill rotWithShape="1">
          <a:blip r:embed="rId3">
            <a:alphaModFix/>
          </a:blip>
          <a:srcRect b="0" l="0" r="0" t="0"/>
          <a:stretch/>
        </p:blipFill>
        <p:spPr>
          <a:xfrm>
            <a:off x="299789" y="4204200"/>
            <a:ext cx="6247171" cy="5395284"/>
          </a:xfrm>
          <a:prstGeom prst="rect">
            <a:avLst/>
          </a:prstGeom>
          <a:noFill/>
          <a:ln>
            <a:noFill/>
          </a:ln>
        </p:spPr>
      </p:pic>
      <p:sp>
        <p:nvSpPr>
          <p:cNvPr id="262" name="Google Shape;262;p24"/>
          <p:cNvSpPr txBox="1"/>
          <p:nvPr>
            <p:ph idx="12" type="sldNum"/>
          </p:nvPr>
        </p:nvSpPr>
        <p:spPr>
          <a:xfrm>
            <a:off x="5213848" y="9436789"/>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63" name="Google Shape;263;p24"/>
          <p:cNvGraphicFramePr/>
          <p:nvPr/>
        </p:nvGraphicFramePr>
        <p:xfrm>
          <a:off x="137771" y="260755"/>
          <a:ext cx="3000000" cy="3000000"/>
        </p:xfrm>
        <a:graphic>
          <a:graphicData uri="http://schemas.openxmlformats.org/drawingml/2006/table">
            <a:tbl>
              <a:tblPr bandRow="1" firstRow="1">
                <a:noFill/>
                <a:tableStyleId>{41AD8AA6-36D1-44F5-A7D9-AC7A007B66F0}</a:tableStyleId>
              </a:tblPr>
              <a:tblGrid>
                <a:gridCol w="6505575"/>
              </a:tblGrid>
              <a:tr h="370850">
                <a:tc>
                  <a:txBody>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Skills Check</a:t>
                      </a:r>
                      <a:endParaRPr b="1" i="0" sz="1600" u="none" cap="none" strike="noStrike">
                        <a:solidFill>
                          <a:srgbClr val="FFFFFF"/>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7E2341"/>
                    </a:solidFill>
                  </a:tcPr>
                </a:tc>
              </a:tr>
              <a:tr h="370850">
                <a:tc>
                  <a:txBody>
                    <a:bodyPr/>
                    <a:lstStyle/>
                    <a:p>
                      <a:pPr indent="0" lvl="0" marL="0" marR="0" rtl="0" algn="ctr">
                        <a:spcBef>
                          <a:spcPts val="0"/>
                        </a:spcBef>
                        <a:spcAft>
                          <a:spcPts val="0"/>
                        </a:spcAft>
                        <a:buNone/>
                      </a:pPr>
                      <a:r>
                        <a:rPr lang="en-GB" sz="1200"/>
                        <a:t>Calculate the lowest common multiple of 8 and 12</a:t>
                      </a:r>
                      <a:endParaRPr/>
                    </a:p>
                    <a:p>
                      <a:pPr indent="0" lvl="0" marL="0" marR="0" rtl="0" algn="ctr">
                        <a:spcBef>
                          <a:spcPts val="0"/>
                        </a:spcBef>
                        <a:spcAft>
                          <a:spcPts val="0"/>
                        </a:spcAft>
                        <a:buNone/>
                      </a:pPr>
                      <a:r>
                        <a:t/>
                      </a:r>
                      <a:endParaRPr sz="1200"/>
                    </a:p>
                    <a:p>
                      <a:pPr indent="0" lvl="0" marL="0" marR="0" rtl="0" algn="ctr">
                        <a:spcBef>
                          <a:spcPts val="0"/>
                        </a:spcBef>
                        <a:spcAft>
                          <a:spcPts val="0"/>
                        </a:spcAft>
                        <a:buNone/>
                      </a:pPr>
                      <a:r>
                        <a:t/>
                      </a:r>
                      <a:endParaRPr sz="1200"/>
                    </a:p>
                    <a:p>
                      <a:pPr indent="0" lvl="0" marL="0" marR="0" rtl="0" algn="ctr">
                        <a:spcBef>
                          <a:spcPts val="0"/>
                        </a:spcBef>
                        <a:spcAft>
                          <a:spcPts val="0"/>
                        </a:spcAft>
                        <a:buNone/>
                      </a:pPr>
                      <a:r>
                        <a:t/>
                      </a:r>
                      <a:endParaRPr sz="1200"/>
                    </a:p>
                    <a:p>
                      <a:pPr indent="-228600" lvl="0" marL="228600" marR="0" rtl="0" algn="ctr">
                        <a:spcBef>
                          <a:spcPts val="0"/>
                        </a:spcBef>
                        <a:spcAft>
                          <a:spcPts val="0"/>
                        </a:spcAft>
                        <a:buClr>
                          <a:schemeClr val="dk1"/>
                        </a:buClr>
                        <a:buSzPts val="1200"/>
                        <a:buFont typeface="Calibri"/>
                        <a:buAutoNum type="alphaUcPeriod"/>
                      </a:pPr>
                      <a:r>
                        <a:rPr lang="en-GB" sz="1200"/>
                        <a:t>24       B. 4       C. 36        D. 48</a:t>
                      </a:r>
                      <a:endParaRPr/>
                    </a:p>
                    <a:p>
                      <a:pPr indent="0" lvl="0" marL="0" marR="0" rtl="0" algn="ctr">
                        <a:spcBef>
                          <a:spcPts val="0"/>
                        </a:spcBef>
                        <a:spcAft>
                          <a:spcPts val="0"/>
                        </a:spcAft>
                        <a:buClr>
                          <a:schemeClr val="dk1"/>
                        </a:buClr>
                        <a:buSzPts val="1200"/>
                        <a:buFont typeface="Calibri"/>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200"/>
                        <a:t>A red light flashes every 10 seconds. A green light flashes every 15 seconds. They both just flashed. How long before they flash together again?</a:t>
                      </a:r>
                      <a:endParaRPr/>
                    </a:p>
                    <a:p>
                      <a:pPr indent="0" lvl="0" marL="0" marR="0" rtl="0" algn="ctr">
                        <a:spcBef>
                          <a:spcPts val="0"/>
                        </a:spcBef>
                        <a:spcAft>
                          <a:spcPts val="0"/>
                        </a:spcAft>
                        <a:buNone/>
                      </a:pPr>
                      <a:r>
                        <a:t/>
                      </a:r>
                      <a:endParaRPr sz="1200"/>
                    </a:p>
                    <a:p>
                      <a:pPr indent="0" lvl="0" marL="0" marR="0" rtl="0" algn="ctr">
                        <a:spcBef>
                          <a:spcPts val="0"/>
                        </a:spcBef>
                        <a:spcAft>
                          <a:spcPts val="0"/>
                        </a:spcAft>
                        <a:buNone/>
                      </a:pPr>
                      <a:r>
                        <a:t/>
                      </a:r>
                      <a:endParaRPr sz="1200"/>
                    </a:p>
                    <a:p>
                      <a:pPr indent="0" lvl="0" marL="0" marR="0" rtl="0" algn="ctr">
                        <a:spcBef>
                          <a:spcPts val="0"/>
                        </a:spcBef>
                        <a:spcAft>
                          <a:spcPts val="0"/>
                        </a:spcAft>
                        <a:buNone/>
                      </a:pPr>
                      <a:r>
                        <a:t/>
                      </a:r>
                      <a:endParaRPr sz="1200"/>
                    </a:p>
                    <a:p>
                      <a:pPr indent="-228600" lvl="0" marL="228600" marR="0" rtl="0" algn="ctr">
                        <a:spcBef>
                          <a:spcPts val="0"/>
                        </a:spcBef>
                        <a:spcAft>
                          <a:spcPts val="0"/>
                        </a:spcAft>
                        <a:buClr>
                          <a:schemeClr val="dk1"/>
                        </a:buClr>
                        <a:buSzPts val="1200"/>
                        <a:buFont typeface="Calibri"/>
                        <a:buAutoNum type="alphaUcPeriod"/>
                      </a:pPr>
                      <a:r>
                        <a:rPr lang="en-GB" sz="1200"/>
                        <a:t>5 seconds          B. 15 seconds        C. 30 seconds        D. 150 seconds</a:t>
                      </a:r>
                      <a:endParaRPr/>
                    </a:p>
                    <a:p>
                      <a:pPr indent="0" lvl="0" marL="0" marR="0" rtl="0" algn="ctr">
                        <a:spcBef>
                          <a:spcPts val="0"/>
                        </a:spcBef>
                        <a:spcAft>
                          <a:spcPts val="0"/>
                        </a:spcAft>
                        <a:buClr>
                          <a:schemeClr val="dk1"/>
                        </a:buClr>
                        <a:buSzPts val="1200"/>
                        <a:buFont typeface="Calibri"/>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52400">
                <a:tc>
                  <a:txBody>
                    <a:bodyPr/>
                    <a:lstStyle/>
                    <a:p>
                      <a:pPr indent="0" lvl="0" marL="0" marR="0" rtl="0" algn="ctr">
                        <a:spcBef>
                          <a:spcPts val="0"/>
                        </a:spcBef>
                        <a:spcAft>
                          <a:spcPts val="0"/>
                        </a:spcAft>
                        <a:buNone/>
                      </a:pPr>
                      <a:r>
                        <a:rPr lang="en-GB" sz="1200"/>
                        <a:t>What is the lowest common multiple of 3, 4 and 10?</a:t>
                      </a:r>
                      <a:endParaRPr/>
                    </a:p>
                    <a:p>
                      <a:pPr indent="0" lvl="0" marL="0" marR="0" rtl="0" algn="ctr">
                        <a:spcBef>
                          <a:spcPts val="0"/>
                        </a:spcBef>
                        <a:spcAft>
                          <a:spcPts val="0"/>
                        </a:spcAft>
                        <a:buNone/>
                      </a:pPr>
                      <a:r>
                        <a:t/>
                      </a:r>
                      <a:endParaRPr sz="1200"/>
                    </a:p>
                    <a:p>
                      <a:pPr indent="0" lvl="0" marL="0" marR="0" rtl="0" algn="ctr">
                        <a:spcBef>
                          <a:spcPts val="0"/>
                        </a:spcBef>
                        <a:spcAft>
                          <a:spcPts val="0"/>
                        </a:spcAft>
                        <a:buNone/>
                      </a:pPr>
                      <a:r>
                        <a:t/>
                      </a:r>
                      <a:endParaRPr sz="1200"/>
                    </a:p>
                    <a:p>
                      <a:pPr indent="0" lvl="0" marL="0" marR="0" rtl="0" algn="ctr">
                        <a:spcBef>
                          <a:spcPts val="0"/>
                        </a:spcBef>
                        <a:spcAft>
                          <a:spcPts val="0"/>
                        </a:spcAft>
                        <a:buNone/>
                      </a:pPr>
                      <a:r>
                        <a:t/>
                      </a:r>
                      <a:endParaRPr sz="1200"/>
                    </a:p>
                    <a:p>
                      <a:pPr indent="-228600" lvl="0" marL="228600" marR="0" rtl="0" algn="ctr">
                        <a:spcBef>
                          <a:spcPts val="0"/>
                        </a:spcBef>
                        <a:spcAft>
                          <a:spcPts val="0"/>
                        </a:spcAft>
                        <a:buClr>
                          <a:schemeClr val="dk1"/>
                        </a:buClr>
                        <a:buSzPts val="1200"/>
                        <a:buFont typeface="Calibri"/>
                        <a:buAutoNum type="alphaUcPeriod"/>
                      </a:pPr>
                      <a:r>
                        <a:rPr lang="en-GB" sz="1200"/>
                        <a:t>20           B. 30           C. 60           D. 120</a:t>
                      </a:r>
                      <a:endParaRPr/>
                    </a:p>
                    <a:p>
                      <a:pPr indent="0" lvl="0" marL="0" marR="0" rtl="0" algn="ctr">
                        <a:spcBef>
                          <a:spcPts val="0"/>
                        </a:spcBef>
                        <a:spcAft>
                          <a:spcPts val="0"/>
                        </a:spcAft>
                        <a:buClr>
                          <a:schemeClr val="dk1"/>
                        </a:buClr>
                        <a:buSzPts val="1200"/>
                        <a:buFont typeface="Calibri"/>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lang="en-GB" sz="1200"/>
                        <a:t>Three bells are set to ring out at intervals of 4 minutes, 6 minutes and 9 minutes respectively. If they all ring together now, after how many minutes will they ring together next?</a:t>
                      </a:r>
                      <a:endParaRPr/>
                    </a:p>
                    <a:p>
                      <a:pPr indent="0" lvl="0" marL="0" marR="0" rtl="0" algn="ctr">
                        <a:spcBef>
                          <a:spcPts val="0"/>
                        </a:spcBef>
                        <a:spcAft>
                          <a:spcPts val="0"/>
                        </a:spcAft>
                        <a:buNone/>
                      </a:pPr>
                      <a:r>
                        <a:t/>
                      </a:r>
                      <a:endParaRPr sz="1200"/>
                    </a:p>
                    <a:p>
                      <a:pPr indent="0" lvl="0" marL="0" marR="0" rtl="0" algn="ctr">
                        <a:spcBef>
                          <a:spcPts val="0"/>
                        </a:spcBef>
                        <a:spcAft>
                          <a:spcPts val="0"/>
                        </a:spcAft>
                        <a:buNone/>
                      </a:pPr>
                      <a:r>
                        <a:t/>
                      </a:r>
                      <a:endParaRPr sz="1200"/>
                    </a:p>
                    <a:p>
                      <a:pPr indent="-228600" lvl="0" marL="228600" marR="0" rtl="0" algn="ctr">
                        <a:lnSpc>
                          <a:spcPct val="100000"/>
                        </a:lnSpc>
                        <a:spcBef>
                          <a:spcPts val="0"/>
                        </a:spcBef>
                        <a:spcAft>
                          <a:spcPts val="0"/>
                        </a:spcAft>
                        <a:buClr>
                          <a:schemeClr val="dk1"/>
                        </a:buClr>
                        <a:buSzPts val="1200"/>
                        <a:buFont typeface="Calibri"/>
                        <a:buAutoNum type="alphaUcPeriod"/>
                      </a:pPr>
                      <a:r>
                        <a:rPr lang="en-GB" sz="1200"/>
                        <a:t>24 minutes          B. 54 minutes         C. 36 minutes           D. 18 minutes</a:t>
                      </a:r>
                      <a:endParaRPr/>
                    </a:p>
                    <a:p>
                      <a:pPr indent="0" lvl="0" marL="0" marR="0" rtl="0" algn="ctr">
                        <a:lnSpc>
                          <a:spcPct val="100000"/>
                        </a:lnSpc>
                        <a:spcBef>
                          <a:spcPts val="0"/>
                        </a:spcBef>
                        <a:spcAft>
                          <a:spcPts val="0"/>
                        </a:spcAft>
                        <a:buClr>
                          <a:schemeClr val="dk1"/>
                        </a:buClr>
                        <a:buSzPts val="1200"/>
                        <a:buFont typeface="Calibri"/>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64" name="Google Shape;264;p24"/>
          <p:cNvSpPr/>
          <p:nvPr/>
        </p:nvSpPr>
        <p:spPr>
          <a:xfrm>
            <a:off x="2244436" y="1288473"/>
            <a:ext cx="665019" cy="401782"/>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24"/>
          <p:cNvSpPr/>
          <p:nvPr/>
        </p:nvSpPr>
        <p:spPr>
          <a:xfrm>
            <a:off x="3429000" y="2672599"/>
            <a:ext cx="1114183" cy="40310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24"/>
          <p:cNvSpPr/>
          <p:nvPr/>
        </p:nvSpPr>
        <p:spPr>
          <a:xfrm>
            <a:off x="3429000" y="3877857"/>
            <a:ext cx="656983" cy="40310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24"/>
          <p:cNvSpPr/>
          <p:nvPr/>
        </p:nvSpPr>
        <p:spPr>
          <a:xfrm>
            <a:off x="3429000" y="5034267"/>
            <a:ext cx="1114183" cy="40310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