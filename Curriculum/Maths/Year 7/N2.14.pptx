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EC5351-904A-4784-A0DA-6C680D2555C5}">
  <a:tblStyle styleId="{65EC5351-904A-4784-A0DA-6C680D2555C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7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7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p1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7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7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7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8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8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8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8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20.png"/><Relationship Id="rId13" Type="http://schemas.openxmlformats.org/officeDocument/2006/relationships/image" Target="../media/image43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9" Type="http://schemas.openxmlformats.org/officeDocument/2006/relationships/image" Target="../media/image40.png"/><Relationship Id="rId14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16.png"/><Relationship Id="rId7" Type="http://schemas.openxmlformats.org/officeDocument/2006/relationships/image" Target="../media/image31.png"/><Relationship Id="rId8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9" Type="http://schemas.openxmlformats.org/officeDocument/2006/relationships/image" Target="../media/image49.png"/><Relationship Id="rId5" Type="http://schemas.openxmlformats.org/officeDocument/2006/relationships/image" Target="../media/image38.png"/><Relationship Id="rId6" Type="http://schemas.openxmlformats.org/officeDocument/2006/relationships/image" Target="../media/image48.png"/><Relationship Id="rId7" Type="http://schemas.openxmlformats.org/officeDocument/2006/relationships/image" Target="../media/image23.png"/><Relationship Id="rId8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Relationship Id="rId5" Type="http://schemas.openxmlformats.org/officeDocument/2006/relationships/image" Target="../media/image45.png"/><Relationship Id="rId6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Relationship Id="rId4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/>
        </p:nvSpPr>
        <p:spPr>
          <a:xfrm>
            <a:off x="1335889" y="750997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129859" y="364088"/>
            <a:ext cx="6588000" cy="123845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N2.14 – Solve Problems involving Tables and Timetables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74509" y="743990"/>
            <a:ext cx="510186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read and interpret different kinds of tables of information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convert between hours and minutes, and different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 time and timetables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67194" y="393654"/>
            <a:ext cx="6182655" cy="27699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recognise the place value of any number in an integer up to one billion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698334" y="710239"/>
            <a:ext cx="851515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Hours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30952" y="5255383"/>
            <a:ext cx="2534231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Distance charts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3"/>
          <p:cNvCxnSpPr/>
          <p:nvPr/>
        </p:nvCxnSpPr>
        <p:spPr>
          <a:xfrm flipH="1" rot="10800000">
            <a:off x="977566" y="4716015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/>
          <p:nvPr/>
        </p:nvSpPr>
        <p:spPr>
          <a:xfrm>
            <a:off x="129859" y="3099023"/>
            <a:ext cx="6580527" cy="20669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3"/>
          <p:cNvCxnSpPr/>
          <p:nvPr/>
        </p:nvCxnSpPr>
        <p:spPr>
          <a:xfrm>
            <a:off x="129859" y="4275396"/>
            <a:ext cx="658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3"/>
          <p:cNvCxnSpPr>
            <a:stCxn id="97" idx="2"/>
            <a:endCxn id="97" idx="0"/>
          </p:cNvCxnSpPr>
          <p:nvPr/>
        </p:nvCxnSpPr>
        <p:spPr>
          <a:xfrm rot="10800000">
            <a:off x="3420123" y="3099010"/>
            <a:ext cx="0" cy="206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 txBox="1"/>
          <p:nvPr/>
        </p:nvSpPr>
        <p:spPr>
          <a:xfrm>
            <a:off x="147614" y="3099023"/>
            <a:ext cx="33318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 stands for ante meridiem which translates to before noon (12 o clock midday).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PM stands for post meridiem which translates to after noon (12 o clock midday).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3494927" y="3066913"/>
            <a:ext cx="328667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in a 12 hour clock to distinguish between morning or afternoon.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have leading zeros in the hour part.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 09:00 would be written as 9:00 am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00:45 would be 12 :45 am.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00133" y="4247812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627511" y="4245607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2818454" y="4103974"/>
            <a:ext cx="1290738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 and PM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306130" y="4488353"/>
            <a:ext cx="10108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12:14 am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459113" y="4488352"/>
            <a:ext cx="12648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10:02 pm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284899" y="4917536"/>
            <a:ext cx="7881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12.14 am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1481071" y="4931307"/>
            <a:ext cx="419656" cy="27699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5797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387731" y="4481261"/>
            <a:ext cx="12648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4:02 pm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2387730" y="4922253"/>
            <a:ext cx="12648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4.02 am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3723387" y="4480850"/>
            <a:ext cx="10108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04:02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719167" y="4922252"/>
            <a:ext cx="10108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09.73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4587905" y="4494386"/>
            <a:ext cx="10108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12:34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4616636" y="4924217"/>
            <a:ext cx="10108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15:00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5553492" y="4511845"/>
            <a:ext cx="10108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17:15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5538974" y="4913972"/>
            <a:ext cx="10108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22:15</a:t>
            </a:r>
            <a:endParaRPr/>
          </a:p>
        </p:txBody>
      </p:sp>
      <p:pic>
        <p:nvPicPr>
          <p:cNvPr id="117" name="Google Shape;11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316" y="5692953"/>
            <a:ext cx="5631326" cy="1697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 txBox="1"/>
          <p:nvPr/>
        </p:nvSpPr>
        <p:spPr>
          <a:xfrm>
            <a:off x="35913" y="5490701"/>
            <a:ext cx="37108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table shows the distance in km between four towns.</a:t>
            </a:r>
            <a:endParaRPr/>
          </a:p>
        </p:txBody>
      </p:sp>
      <p:graphicFrame>
        <p:nvGraphicFramePr>
          <p:cNvPr id="119" name="Google Shape;119;p13"/>
          <p:cNvGraphicFramePr/>
          <p:nvPr/>
        </p:nvGraphicFramePr>
        <p:xfrm>
          <a:off x="139740" y="77519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887050"/>
                <a:gridCol w="1849800"/>
                <a:gridCol w="1917825"/>
                <a:gridCol w="1917825"/>
              </a:tblGrid>
              <a:tr h="438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distance between Newton and Greensville?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Which towns are 55km apart?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distance between Springfield and Carnbridge?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Identify the correct place in the table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13"/>
          <p:cNvSpPr txBox="1"/>
          <p:nvPr/>
        </p:nvSpPr>
        <p:spPr>
          <a:xfrm>
            <a:off x="3077297" y="750997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5088892" y="752292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1597746" y="8557847"/>
            <a:ext cx="16434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km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3216691" y="8352474"/>
            <a:ext cx="164340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Greensville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Carnbridge 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5460339" y="8523753"/>
            <a:ext cx="16434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km</a:t>
            </a:r>
            <a:endParaRPr/>
          </a:p>
        </p:txBody>
      </p:sp>
      <p:sp>
        <p:nvSpPr>
          <p:cNvPr id="125" name="Google Shape;125;p13"/>
          <p:cNvSpPr txBox="1"/>
          <p:nvPr>
            <p:ph idx="12" type="sldNum"/>
          </p:nvPr>
        </p:nvSpPr>
        <p:spPr>
          <a:xfrm>
            <a:off x="5272887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34908" y="1717207"/>
            <a:ext cx="6582305" cy="127900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this topic, you will learn how to add and subtract in the context of 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distance charts, time and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timetables. You will also practise converting between 12-hour and 24-hour clock formats, which is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important for reading transport schedules accurately. These skills are useful in real-world situations,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such as working out journey times, calculating time differences, and interpreting travel or activity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i="0" lang="en-GB" sz="12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schedules</a:t>
            </a:r>
            <a:endParaRPr i="0" sz="1200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idx="12" type="sldNum"/>
          </p:nvPr>
        </p:nvSpPr>
        <p:spPr>
          <a:xfrm>
            <a:off x="5109818" y="9428274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113641" y="10679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826" y="447246"/>
            <a:ext cx="6556348" cy="203778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139068" y="231299"/>
            <a:ext cx="57103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1. The table shows the distance in km between five towns. Answer the questions below.</a:t>
            </a:r>
            <a:endParaRPr/>
          </a:p>
        </p:txBody>
      </p:sp>
      <p:graphicFrame>
        <p:nvGraphicFramePr>
          <p:cNvPr id="135" name="Google Shape;135;p14"/>
          <p:cNvGraphicFramePr/>
          <p:nvPr/>
        </p:nvGraphicFramePr>
        <p:xfrm>
          <a:off x="259091" y="25204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6339825"/>
              </a:tblGrid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Write down the distance between Milton and Toddsville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Write down the distance between Milton and Southville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Write down the distance between Oldtown and Southville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Which towns are 27km apart?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Which towns are 62km apart?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Which towns are furthest apart?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Which towns are closest together?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James travels from his home in Milton to visit his mother in Oldtown. James then meets a friend in Southville before he returns home. How far did James travel?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Elliott travels from his home in Oldtown to visit his friend in Toddsville. He then goes shopping in Milton before returning home. How far did Elliott travel?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Marjorie travels from her home in Toddsville to a restaurant in Northbrook. She then goes to see a friend in Oldtown before returning home. How far did Marjorie travel?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14"/>
          <p:cNvSpPr txBox="1"/>
          <p:nvPr/>
        </p:nvSpPr>
        <p:spPr>
          <a:xfrm>
            <a:off x="4783124" y="2585910"/>
            <a:ext cx="19240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 km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4783124" y="3272877"/>
            <a:ext cx="19240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km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4783124" y="3893239"/>
            <a:ext cx="19240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km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3790792" y="4513883"/>
            <a:ext cx="29954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Oldtown and Toddsville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3701640" y="5210255"/>
            <a:ext cx="3173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Milton and Northbrook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3261396" y="5830618"/>
            <a:ext cx="3861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Toddsville and Northbrook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3518760" y="6450981"/>
            <a:ext cx="33566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Oldtown and Southville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4552950" y="7238082"/>
            <a:ext cx="171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89 km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4194810" y="8173755"/>
            <a:ext cx="24269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103 km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4194810" y="9150911"/>
            <a:ext cx="2263748" cy="383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150 km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idx="12" type="sldNum"/>
          </p:nvPr>
        </p:nvSpPr>
        <p:spPr>
          <a:xfrm>
            <a:off x="5384318" y="956217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76200" y="8433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152" name="Google Shape;1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646" y="468319"/>
            <a:ext cx="6465005" cy="197352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3" name="Google Shape;153;p15"/>
          <p:cNvGraphicFramePr/>
          <p:nvPr/>
        </p:nvGraphicFramePr>
        <p:xfrm>
          <a:off x="366239" y="24760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6339825"/>
              </a:tblGrid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Write down the distance between Bakerstown and Jaxonville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Write down the distance between Red Island and Greenwood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Write down the distance between Grasswich and Bakerstown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Which towns are 25km apart?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Which towns are 39km apart?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Which towns are furthest apart?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Which towns are closest together?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</a:t>
                      </a:r>
                      <a:r>
                        <a:rPr lang="en-GB" sz="1200"/>
                        <a:t>Elsa lives in Jaxonvile but goes to work in Bakerstown. She travels to and from work 5 times a week. How far does she travel in a week?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</a:t>
                      </a:r>
                      <a:r>
                        <a:rPr lang="en-GB" sz="1200"/>
                        <a:t>Anna lives in Bakerstown but goes to work in Red Island. She travels to and from work 3 times a week. She goes shopping from home to Grasswich once a week. How far does she travel in a week?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</a:t>
                      </a:r>
                      <a:r>
                        <a:rPr lang="en-GB" sz="1200"/>
                        <a:t>Kristoff lives in Greenwood but goes to work in Jaxonville. He travels to and from work 4 times a week. He also goes from home to Red Island to see a friend once a week and goes shopping to Bakerstown from home once a week. How far does he travel in a week?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15"/>
          <p:cNvSpPr txBox="1"/>
          <p:nvPr/>
        </p:nvSpPr>
        <p:spPr>
          <a:xfrm>
            <a:off x="1078981" y="201923"/>
            <a:ext cx="5779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2. The table shows the distance in km between five towns. Answer the questions below.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5582438" y="2759910"/>
            <a:ext cx="13449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 km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578463" y="3371612"/>
            <a:ext cx="12382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62 km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5083163" y="3983314"/>
            <a:ext cx="2228850" cy="36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 km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429000" y="4538169"/>
            <a:ext cx="37685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Bakerstown and Jaxonville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3277057" y="5160151"/>
            <a:ext cx="39204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 Island and Grasswich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3219817" y="5834438"/>
            <a:ext cx="40349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Greenwood and Grasswich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3375295" y="6412997"/>
            <a:ext cx="37685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Bakerstown and Red Island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4842967" y="7237904"/>
            <a:ext cx="18630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250 km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4644847" y="8199257"/>
            <a:ext cx="22593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200 km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4987747" y="9129363"/>
            <a:ext cx="1573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528 km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/>
        </p:nvSpPr>
        <p:spPr>
          <a:xfrm>
            <a:off x="152122" y="1901117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4- I do…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207312" y="693497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91226" y="442144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86109" y="67349"/>
            <a:ext cx="2291331" cy="311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Junction charts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49" y="2272661"/>
            <a:ext cx="6057425" cy="20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975" y="1120947"/>
            <a:ext cx="5816050" cy="33034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114150" y="766366"/>
            <a:ext cx="11631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Junction A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979755" y="751615"/>
            <a:ext cx="11631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Junction B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3715140" y="760166"/>
            <a:ext cx="11631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Junction C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5573979" y="766366"/>
            <a:ext cx="11631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Junction D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43342" y="446053"/>
            <a:ext cx="69388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tables below show the distances between junctions on a motorway.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43342" y="1611304"/>
            <a:ext cx="58160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in the blanks in the distance chart</a:t>
            </a:r>
            <a:endParaRPr/>
          </a:p>
        </p:txBody>
      </p:sp>
      <p:pic>
        <p:nvPicPr>
          <p:cNvPr id="182" name="Google Shape;18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312" y="4846952"/>
            <a:ext cx="5976262" cy="2020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8394" y="7141595"/>
            <a:ext cx="5936123" cy="201764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532974" y="3349243"/>
            <a:ext cx="84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526509" y="3829846"/>
            <a:ext cx="84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69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1991754" y="3818960"/>
            <a:ext cx="84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1991753" y="5883534"/>
            <a:ext cx="84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607672" y="6388757"/>
            <a:ext cx="84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1993195" y="6375465"/>
            <a:ext cx="84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644147" y="8224536"/>
            <a:ext cx="84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637481" y="8664247"/>
            <a:ext cx="84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126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2151965" y="8664247"/>
            <a:ext cx="8426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81</a:t>
            </a:r>
            <a:endParaRPr/>
          </a:p>
        </p:txBody>
      </p:sp>
      <p:sp>
        <p:nvSpPr>
          <p:cNvPr id="193" name="Google Shape;193;p16"/>
          <p:cNvSpPr txBox="1"/>
          <p:nvPr>
            <p:ph idx="12" type="sldNum"/>
          </p:nvPr>
        </p:nvSpPr>
        <p:spPr>
          <a:xfrm>
            <a:off x="5210910" y="921095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101085" y="1898317"/>
            <a:ext cx="6590595" cy="2458618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114150" y="4418710"/>
            <a:ext cx="6590595" cy="2445887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114150" y="6923631"/>
            <a:ext cx="6590595" cy="2445887"/>
          </a:xfrm>
          <a:prstGeom prst="rect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/>
          <p:nvPr/>
        </p:nvSpPr>
        <p:spPr>
          <a:xfrm>
            <a:off x="114150" y="106674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59288" y="1292408"/>
            <a:ext cx="581604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Fill in the blanks in the distance charts</a:t>
            </a:r>
            <a:endParaRPr/>
          </a:p>
        </p:txBody>
      </p:sp>
      <p:pic>
        <p:nvPicPr>
          <p:cNvPr id="203" name="Google Shape;2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811" y="917444"/>
            <a:ext cx="5816050" cy="33034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63986" y="562863"/>
            <a:ext cx="11631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Junction A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929591" y="548112"/>
            <a:ext cx="11631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Junction B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3664976" y="556663"/>
            <a:ext cx="11631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Junction C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5644729" y="548250"/>
            <a:ext cx="11631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Junction D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1314594" y="262137"/>
            <a:ext cx="539015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tables below show the distances between junctions on a motorway.</a:t>
            </a:r>
            <a:endParaRPr/>
          </a:p>
        </p:txBody>
      </p:sp>
      <p:pic>
        <p:nvPicPr>
          <p:cNvPr id="209" name="Google Shape;20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901" y="1608633"/>
            <a:ext cx="5475052" cy="190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143944" y="1633019"/>
            <a:ext cx="5805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</p:txBody>
      </p:sp>
      <p:pic>
        <p:nvPicPr>
          <p:cNvPr id="211" name="Google Shape;2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091" y="3682999"/>
            <a:ext cx="5617793" cy="190944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125472" y="3643772"/>
            <a:ext cx="5805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/>
          </a:p>
        </p:txBody>
      </p:sp>
      <p:pic>
        <p:nvPicPr>
          <p:cNvPr id="213" name="Google Shape;21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7141" y="5569195"/>
            <a:ext cx="5890980" cy="2044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140190" y="5650297"/>
            <a:ext cx="5805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921742" y="2552441"/>
            <a:ext cx="580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79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949232" y="3027192"/>
            <a:ext cx="580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106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2183133" y="3027192"/>
            <a:ext cx="580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2259759" y="4657897"/>
            <a:ext cx="580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3648314" y="5062881"/>
            <a:ext cx="580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941400" y="5092709"/>
            <a:ext cx="580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2440450" y="6605958"/>
            <a:ext cx="580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980689" y="6129833"/>
            <a:ext cx="580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980689" y="6641832"/>
            <a:ext cx="5805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/>
          </a:p>
        </p:txBody>
      </p:sp>
      <p:sp>
        <p:nvSpPr>
          <p:cNvPr id="224" name="Google Shape;224;p17"/>
          <p:cNvSpPr txBox="1"/>
          <p:nvPr>
            <p:ph idx="12" type="sldNum"/>
          </p:nvPr>
        </p:nvSpPr>
        <p:spPr>
          <a:xfrm>
            <a:off x="5187735" y="953972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130879" y="1605293"/>
            <a:ext cx="6590595" cy="200175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133702" y="3615927"/>
            <a:ext cx="6590595" cy="200175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140191" y="5628332"/>
            <a:ext cx="6577620" cy="200175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140189" y="7639110"/>
            <a:ext cx="6577620" cy="2052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125472" y="7662702"/>
            <a:ext cx="5805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/>
          </a:p>
        </p:txBody>
      </p:sp>
      <p:pic>
        <p:nvPicPr>
          <p:cNvPr id="230" name="Google Shape;23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5091" y="7645835"/>
            <a:ext cx="5977480" cy="2044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7"/>
          <p:cNvSpPr txBox="1"/>
          <p:nvPr/>
        </p:nvSpPr>
        <p:spPr>
          <a:xfrm>
            <a:off x="425091" y="8846248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58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425091" y="8098038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425091" y="8424246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1658919" y="8460439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2796917" y="8863225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1563089" y="9276542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260" y="143502"/>
            <a:ext cx="5977480" cy="2058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8"/>
          <p:cNvPicPr preferRelativeResize="0"/>
          <p:nvPr/>
        </p:nvPicPr>
        <p:blipFill rotWithShape="1">
          <a:blip r:embed="rId4">
            <a:alphaModFix/>
          </a:blip>
          <a:srcRect b="0" l="0" r="0" t="49727"/>
          <a:stretch/>
        </p:blipFill>
        <p:spPr>
          <a:xfrm>
            <a:off x="214527" y="3589562"/>
            <a:ext cx="6040976" cy="153473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 txBox="1"/>
          <p:nvPr/>
        </p:nvSpPr>
        <p:spPr>
          <a:xfrm>
            <a:off x="1578258" y="987957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440260" y="1369780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2812086" y="1390743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1578258" y="1820020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65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571359" y="4153666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577129" y="4416349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13.5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582899" y="4701636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30.5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1672760" y="4187120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1704200" y="4728298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27.5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2773436" y="4423294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4.5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2779206" y="4736127"/>
            <a:ext cx="1233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21.5</a:t>
            </a:r>
            <a:endParaRPr/>
          </a:p>
        </p:txBody>
      </p:sp>
      <p:sp>
        <p:nvSpPr>
          <p:cNvPr id="254" name="Google Shape;254;p18"/>
          <p:cNvSpPr txBox="1"/>
          <p:nvPr>
            <p:ph idx="12" type="sldNum"/>
          </p:nvPr>
        </p:nvSpPr>
        <p:spPr>
          <a:xfrm>
            <a:off x="5314950" y="943829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124490" y="170164"/>
            <a:ext cx="6577620" cy="2052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109773" y="193756"/>
            <a:ext cx="58057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122443" y="2226535"/>
            <a:ext cx="6577620" cy="2988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95300" y="2222164"/>
            <a:ext cx="6762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The diagram shows the distance between some of the junctions on the M1 motorway. Use the diagram to complete the table. </a:t>
            </a:r>
            <a:endParaRPr/>
          </a:p>
        </p:txBody>
      </p:sp>
      <p:pic>
        <p:nvPicPr>
          <p:cNvPr id="259" name="Google Shape;259;p18"/>
          <p:cNvPicPr preferRelativeResize="0"/>
          <p:nvPr/>
        </p:nvPicPr>
        <p:blipFill rotWithShape="1">
          <a:blip r:embed="rId4">
            <a:alphaModFix/>
          </a:blip>
          <a:srcRect b="75555" l="0" r="0" t="0"/>
          <a:stretch/>
        </p:blipFill>
        <p:spPr>
          <a:xfrm>
            <a:off x="214527" y="2713325"/>
            <a:ext cx="6040976" cy="74626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/>
          <p:nvPr/>
        </p:nvSpPr>
        <p:spPr>
          <a:xfrm>
            <a:off x="123268" y="5284221"/>
            <a:ext cx="2880000" cy="28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conversions - hours to minutes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18"/>
          <p:cNvGraphicFramePr/>
          <p:nvPr/>
        </p:nvGraphicFramePr>
        <p:xfrm>
          <a:off x="127585" y="58177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873125"/>
                <a:gridCol w="1863725"/>
                <a:gridCol w="1917825"/>
                <a:gridCol w="1917825"/>
              </a:tblGrid>
              <a:tr h="18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minutes in 2 hours 15 minutes?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minutes in 3 hours 10 minutes?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minutes in 2 hours 25 minutes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Count up in 60’s for each 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Add the remaining minutes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62" name="Google Shape;262;p18"/>
          <p:cNvSpPr txBox="1"/>
          <p:nvPr/>
        </p:nvSpPr>
        <p:spPr>
          <a:xfrm>
            <a:off x="1343714" y="5572804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5019511" y="556354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3065262" y="556570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1286879" y="6465947"/>
            <a:ext cx="1165374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-2460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3086652" y="6476481"/>
            <a:ext cx="1165374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-239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5031864" y="6511512"/>
            <a:ext cx="1165374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-239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1238483" y="7967609"/>
            <a:ext cx="25695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Write down these times in minutes: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121368" y="7812623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130282" y="8461914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65 minutes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1787257" y="8461914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 minutes</a:t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3554104" y="8461914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71 minutes</a:t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5271619" y="8461914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87 minutes</a:t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130009" y="9188063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120 minutes</a:t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1802224" y="9188063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140 minutes</a:t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3569071" y="9188063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179 minutes</a:t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5271346" y="9188063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180 minutes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58678" y="8187286"/>
            <a:ext cx="14397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1 hour 5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 txBox="1"/>
          <p:nvPr/>
        </p:nvSpPr>
        <p:spPr>
          <a:xfrm>
            <a:off x="1733720" y="8187286"/>
            <a:ext cx="14894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1 hour 10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 txBox="1"/>
          <p:nvPr/>
        </p:nvSpPr>
        <p:spPr>
          <a:xfrm>
            <a:off x="3466481" y="8187286"/>
            <a:ext cx="1475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1 hour 11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 txBox="1"/>
          <p:nvPr/>
        </p:nvSpPr>
        <p:spPr>
          <a:xfrm>
            <a:off x="5154310" y="8187286"/>
            <a:ext cx="15247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1 hour 27 minutes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 txBox="1"/>
          <p:nvPr/>
        </p:nvSpPr>
        <p:spPr>
          <a:xfrm>
            <a:off x="58405" y="8897279"/>
            <a:ext cx="81041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2 hours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1748687" y="8897279"/>
            <a:ext cx="15397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2 hours 20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3481448" y="8897279"/>
            <a:ext cx="15477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2 hours 59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 txBox="1"/>
          <p:nvPr/>
        </p:nvSpPr>
        <p:spPr>
          <a:xfrm>
            <a:off x="5154037" y="8897279"/>
            <a:ext cx="8136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3 hours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19"/>
          <p:cNvGraphicFramePr/>
          <p:nvPr/>
        </p:nvGraphicFramePr>
        <p:xfrm>
          <a:off x="142331" y="57555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1655725"/>
                <a:gridCol w="1655725"/>
                <a:gridCol w="1655725"/>
                <a:gridCol w="1655725"/>
              </a:tblGrid>
              <a:tr h="76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2" name="Google Shape;292;p19"/>
          <p:cNvSpPr txBox="1"/>
          <p:nvPr>
            <p:ph idx="12" type="sldNum"/>
          </p:nvPr>
        </p:nvSpPr>
        <p:spPr>
          <a:xfrm>
            <a:off x="5314950" y="941298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345171" y="526047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305 minutes</a:t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345171" y="1334099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 minutes</a:t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345171" y="2218195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 minutes</a:t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1941186" y="526047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600 minutes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1941186" y="1334099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 minutes</a:t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1941186" y="2218195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75 minutes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3525153" y="526047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 minutes</a:t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3525153" y="1334099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150 minutes</a:t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3525153" y="2218195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135 minutes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5151228" y="526047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147 minutes</a:t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5151228" y="1334099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minutes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5151228" y="2218195"/>
            <a:ext cx="1277244" cy="4026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225 minutes</a:t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148627" y="2749549"/>
            <a:ext cx="2700000" cy="324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conversions - minutes to hours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6" name="Google Shape;306;p19"/>
          <p:cNvGraphicFramePr/>
          <p:nvPr/>
        </p:nvGraphicFramePr>
        <p:xfrm>
          <a:off x="136308" y="33649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873125"/>
                <a:gridCol w="1863725"/>
                <a:gridCol w="1917825"/>
                <a:gridCol w="1917825"/>
              </a:tblGrid>
              <a:tr h="21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hours and minutes in 125 minutes?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hours and minutes in 192 minutes?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hours and minutes in 235 minutes?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6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Count up in 60’s for each 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6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Add the remaining minutes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307" name="Google Shape;307;p19"/>
          <p:cNvSpPr txBox="1"/>
          <p:nvPr/>
        </p:nvSpPr>
        <p:spPr>
          <a:xfrm>
            <a:off x="1322463" y="3102291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10 - I do…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5025928" y="312688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12 – You do…</a:t>
            </a:r>
            <a:endParaRPr/>
          </a:p>
        </p:txBody>
      </p:sp>
      <p:sp>
        <p:nvSpPr>
          <p:cNvPr id="309" name="Google Shape;309;p19"/>
          <p:cNvSpPr txBox="1"/>
          <p:nvPr/>
        </p:nvSpPr>
        <p:spPr>
          <a:xfrm>
            <a:off x="3124375" y="310451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11 – We do…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1069605" y="4243026"/>
            <a:ext cx="21269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hours 5 minutes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3022698" y="4264515"/>
            <a:ext cx="21269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hours 12 minutes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4975791" y="4243026"/>
            <a:ext cx="21269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hours 55 minutes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1222520" y="5490400"/>
            <a:ext cx="31856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Write down these times in hours and minutes</a:t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121068" y="5350234"/>
            <a:ext cx="1137954" cy="360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15" name="Google Shape;315;p19"/>
          <p:cNvSpPr txBox="1"/>
          <p:nvPr/>
        </p:nvSpPr>
        <p:spPr>
          <a:xfrm>
            <a:off x="112417" y="5765269"/>
            <a:ext cx="10390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60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345171" y="602937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1796283" y="5765269"/>
            <a:ext cx="10454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63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3463181" y="5755328"/>
            <a:ext cx="103098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73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5088905" y="5765269"/>
            <a:ext cx="11239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100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88125" y="6518716"/>
            <a:ext cx="11207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119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1782227" y="6511667"/>
            <a:ext cx="111594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120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3463181" y="6518716"/>
            <a:ext cx="11239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150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5111347" y="6520108"/>
            <a:ext cx="10790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200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121062" y="7259457"/>
            <a:ext cx="103579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27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1781285" y="7259456"/>
            <a:ext cx="100053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61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3422480" y="7270124"/>
            <a:ext cx="11672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600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5105820" y="7248539"/>
            <a:ext cx="1159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 650 minutes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112417" y="8000198"/>
            <a:ext cx="6803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1 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1781285" y="8022767"/>
            <a:ext cx="11826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 1 day 2 hours</a:t>
            </a:r>
            <a:endParaRPr/>
          </a:p>
        </p:txBody>
      </p:sp>
      <p:sp>
        <p:nvSpPr>
          <p:cNvPr id="330" name="Google Shape;330;p19"/>
          <p:cNvSpPr txBox="1"/>
          <p:nvPr/>
        </p:nvSpPr>
        <p:spPr>
          <a:xfrm>
            <a:off x="3437453" y="8012618"/>
            <a:ext cx="891526" cy="3531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48" l="-68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1" name="Google Shape;331;p19"/>
          <p:cNvSpPr txBox="1"/>
          <p:nvPr/>
        </p:nvSpPr>
        <p:spPr>
          <a:xfrm>
            <a:off x="5105820" y="7993827"/>
            <a:ext cx="899542" cy="35311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48" l="-68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2" name="Google Shape;332;p19"/>
          <p:cNvSpPr txBox="1"/>
          <p:nvPr/>
        </p:nvSpPr>
        <p:spPr>
          <a:xfrm>
            <a:off x="121062" y="8794455"/>
            <a:ext cx="1668918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7778" l="-365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3" name="Google Shape;333;p19"/>
          <p:cNvSpPr txBox="1"/>
          <p:nvPr/>
        </p:nvSpPr>
        <p:spPr>
          <a:xfrm>
            <a:off x="1779755" y="8794454"/>
            <a:ext cx="1657698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7778" l="-368" r="0" t="-22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3482742" y="8794454"/>
            <a:ext cx="981294" cy="35311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4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5" name="Google Shape;335;p19"/>
          <p:cNvSpPr txBox="1"/>
          <p:nvPr/>
        </p:nvSpPr>
        <p:spPr>
          <a:xfrm>
            <a:off x="5086584" y="8815226"/>
            <a:ext cx="938014" cy="353495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34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345171" y="6730743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 59 minutes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345171" y="7519446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 minutes</a:t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345104" y="8312986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 hours</a:t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333584" y="9151847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hours</a:t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1941186" y="602937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 3 minutes</a:t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1941186" y="6730743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hours</a:t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1941186" y="7519446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 1 min</a:t>
            </a:r>
            <a:endParaRPr/>
          </a:p>
        </p:txBody>
      </p:sp>
      <p:sp>
        <p:nvSpPr>
          <p:cNvPr id="343" name="Google Shape;343;p19"/>
          <p:cNvSpPr/>
          <p:nvPr/>
        </p:nvSpPr>
        <p:spPr>
          <a:xfrm>
            <a:off x="1941119" y="8312986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 hours</a:t>
            </a:r>
            <a:endParaRPr/>
          </a:p>
        </p:txBody>
      </p:sp>
      <p:sp>
        <p:nvSpPr>
          <p:cNvPr id="344" name="Google Shape;344;p19"/>
          <p:cNvSpPr/>
          <p:nvPr/>
        </p:nvSpPr>
        <p:spPr>
          <a:xfrm>
            <a:off x="1831884" y="9151847"/>
            <a:ext cx="1374959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hours 12 minutes</a:t>
            </a:r>
            <a:endParaRPr/>
          </a:p>
        </p:txBody>
      </p:sp>
      <p:sp>
        <p:nvSpPr>
          <p:cNvPr id="345" name="Google Shape;345;p19"/>
          <p:cNvSpPr/>
          <p:nvPr/>
        </p:nvSpPr>
        <p:spPr>
          <a:xfrm>
            <a:off x="3639572" y="602937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 13 minutes</a:t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3650231" y="6810135"/>
            <a:ext cx="133491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hours 30 minutes</a:t>
            </a:r>
            <a:endParaRPr/>
          </a:p>
        </p:txBody>
      </p:sp>
      <p:sp>
        <p:nvSpPr>
          <p:cNvPr id="347" name="Google Shape;347;p19"/>
          <p:cNvSpPr/>
          <p:nvPr/>
        </p:nvSpPr>
        <p:spPr>
          <a:xfrm>
            <a:off x="3525153" y="7519446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hours</a:t>
            </a:r>
            <a:endParaRPr/>
          </a:p>
        </p:txBody>
      </p:sp>
      <p:sp>
        <p:nvSpPr>
          <p:cNvPr id="348" name="Google Shape;348;p19"/>
          <p:cNvSpPr/>
          <p:nvPr/>
        </p:nvSpPr>
        <p:spPr>
          <a:xfrm>
            <a:off x="3525086" y="8312986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 30 minutes</a:t>
            </a:r>
            <a:endParaRPr/>
          </a:p>
        </p:txBody>
      </p:sp>
      <p:sp>
        <p:nvSpPr>
          <p:cNvPr id="349" name="Google Shape;349;p19"/>
          <p:cNvSpPr/>
          <p:nvPr/>
        </p:nvSpPr>
        <p:spPr>
          <a:xfrm>
            <a:off x="3586169" y="9115518"/>
            <a:ext cx="1362911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hours 15 minutes</a:t>
            </a:r>
            <a:endParaRPr/>
          </a:p>
        </p:txBody>
      </p:sp>
      <p:sp>
        <p:nvSpPr>
          <p:cNvPr id="350" name="Google Shape;350;p19"/>
          <p:cNvSpPr/>
          <p:nvPr/>
        </p:nvSpPr>
        <p:spPr>
          <a:xfrm>
            <a:off x="5151228" y="602937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 40 minutes</a:t>
            </a:r>
            <a:endParaRPr/>
          </a:p>
        </p:txBody>
      </p:sp>
      <p:sp>
        <p:nvSpPr>
          <p:cNvPr id="351" name="Google Shape;351;p19"/>
          <p:cNvSpPr/>
          <p:nvPr/>
        </p:nvSpPr>
        <p:spPr>
          <a:xfrm>
            <a:off x="5294010" y="6751989"/>
            <a:ext cx="1334914" cy="41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hours 20 minutes</a:t>
            </a:r>
            <a:endParaRPr/>
          </a:p>
        </p:txBody>
      </p:sp>
      <p:sp>
        <p:nvSpPr>
          <p:cNvPr id="352" name="Google Shape;352;p19"/>
          <p:cNvSpPr/>
          <p:nvPr/>
        </p:nvSpPr>
        <p:spPr>
          <a:xfrm>
            <a:off x="5237699" y="7511120"/>
            <a:ext cx="1467205" cy="41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hours 50 minutes</a:t>
            </a: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5202163" y="8324721"/>
            <a:ext cx="1409910" cy="4142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hours 30 minutes</a:t>
            </a:r>
            <a:endParaRPr/>
          </a:p>
        </p:txBody>
      </p:sp>
      <p:sp>
        <p:nvSpPr>
          <p:cNvPr id="354" name="Google Shape;354;p19"/>
          <p:cNvSpPr/>
          <p:nvPr/>
        </p:nvSpPr>
        <p:spPr>
          <a:xfrm>
            <a:off x="5306423" y="9147564"/>
            <a:ext cx="1362910" cy="4142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hours 45 minutes</a:t>
            </a:r>
            <a:endParaRPr/>
          </a:p>
        </p:txBody>
      </p:sp>
      <p:sp>
        <p:nvSpPr>
          <p:cNvPr id="355" name="Google Shape;355;p19"/>
          <p:cNvSpPr txBox="1"/>
          <p:nvPr/>
        </p:nvSpPr>
        <p:spPr>
          <a:xfrm>
            <a:off x="258584" y="196715"/>
            <a:ext cx="1459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5 hours 5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1872666" y="196715"/>
            <a:ext cx="8488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10 hours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3422547" y="196715"/>
            <a:ext cx="159101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0 hours 48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 txBox="1"/>
          <p:nvPr/>
        </p:nvSpPr>
        <p:spPr>
          <a:xfrm>
            <a:off x="5018936" y="196715"/>
            <a:ext cx="15829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2 hours 27 minutes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>
            <a:off x="258584" y="1014123"/>
            <a:ext cx="11608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Half an hour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1872666" y="1014123"/>
            <a:ext cx="879343" cy="35311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448" l="0" r="-69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3422547" y="1014123"/>
            <a:ext cx="920380" cy="35311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34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5018936" y="1044603"/>
            <a:ext cx="16208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A quarter of an hour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258584" y="1841699"/>
            <a:ext cx="1219501" cy="35349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-34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1880027" y="1850665"/>
            <a:ext cx="1008546" cy="35311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-34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>
            <a:off x="3465366" y="1850665"/>
            <a:ext cx="931602" cy="35311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34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5023453" y="1881725"/>
            <a:ext cx="938014" cy="353495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34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2" name="Google Shape;372;p20"/>
          <p:cNvGraphicFramePr/>
          <p:nvPr/>
        </p:nvGraphicFramePr>
        <p:xfrm>
          <a:off x="132930" y="74907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2206550"/>
                <a:gridCol w="2206550"/>
                <a:gridCol w="2206550"/>
              </a:tblGrid>
              <a:tr h="107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3" name="Google Shape;373;p20"/>
          <p:cNvGraphicFramePr/>
          <p:nvPr/>
        </p:nvGraphicFramePr>
        <p:xfrm>
          <a:off x="129689" y="4618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1655725"/>
                <a:gridCol w="1655725"/>
                <a:gridCol w="1655725"/>
                <a:gridCol w="1655725"/>
              </a:tblGrid>
              <a:tr h="95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4" name="Google Shape;374;p20"/>
          <p:cNvGraphicFramePr/>
          <p:nvPr/>
        </p:nvGraphicFramePr>
        <p:xfrm>
          <a:off x="142761" y="457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873125"/>
                <a:gridCol w="1863725"/>
                <a:gridCol w="1917825"/>
                <a:gridCol w="191782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4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12.00 am -1.00 am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is equivalent to 00:00 to 01:00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9:15 pm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time is this on a 24-hour clock?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12:15 am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time on a 24-hour clock?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9:23 am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time on a 24-hour clock?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7:25 pm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time is this on a 24-hour clock?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12:28 am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time on a 24-hour clock?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5:21 am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time on a 24-hour clock?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3:36 pm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time is this on a 24-hour clock?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12:45 am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time on a 24-hour clock?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3:17 am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time on a 24-hour clock?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8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1.00am to 1.00pm is equivalent to 01:00 to 13:00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104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From 1.00pm, add 12 to the value up to midnight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375" name="Google Shape;375;p20"/>
          <p:cNvSpPr txBox="1"/>
          <p:nvPr/>
        </p:nvSpPr>
        <p:spPr>
          <a:xfrm>
            <a:off x="1267936" y="45475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13 - I do…</a:t>
            </a:r>
            <a:endParaRPr/>
          </a:p>
        </p:txBody>
      </p:sp>
      <p:sp>
        <p:nvSpPr>
          <p:cNvPr id="376" name="Google Shape;376;p20"/>
          <p:cNvSpPr txBox="1"/>
          <p:nvPr/>
        </p:nvSpPr>
        <p:spPr>
          <a:xfrm>
            <a:off x="4974600" y="42845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15 – You do…</a:t>
            </a:r>
            <a:endParaRPr/>
          </a:p>
        </p:txBody>
      </p:sp>
      <p:sp>
        <p:nvSpPr>
          <p:cNvPr id="377" name="Google Shape;377;p20"/>
          <p:cNvSpPr txBox="1"/>
          <p:nvPr/>
        </p:nvSpPr>
        <p:spPr>
          <a:xfrm>
            <a:off x="3077938" y="43749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14 – We do…</a:t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129982" y="4188207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142761" y="120359"/>
            <a:ext cx="2587648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conversions 12 hour to 24 hour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 txBox="1"/>
          <p:nvPr/>
        </p:nvSpPr>
        <p:spPr>
          <a:xfrm>
            <a:off x="1267936" y="4315456"/>
            <a:ext cx="33281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Change these times to equivalent 24-hour times</a:t>
            </a:r>
            <a:endParaRPr/>
          </a:p>
        </p:txBody>
      </p:sp>
      <p:sp>
        <p:nvSpPr>
          <p:cNvPr id="381" name="Google Shape;381;p20"/>
          <p:cNvSpPr txBox="1"/>
          <p:nvPr/>
        </p:nvSpPr>
        <p:spPr>
          <a:xfrm>
            <a:off x="105415" y="4616144"/>
            <a:ext cx="92845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12:00 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177019" y="4890772"/>
            <a:ext cx="1277244" cy="4409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00:00</a:t>
            </a:r>
            <a:endParaRPr/>
          </a:p>
        </p:txBody>
      </p:sp>
      <p:sp>
        <p:nvSpPr>
          <p:cNvPr id="383" name="Google Shape;383;p20"/>
          <p:cNvSpPr txBox="1"/>
          <p:nvPr/>
        </p:nvSpPr>
        <p:spPr>
          <a:xfrm>
            <a:off x="1818865" y="4598009"/>
            <a:ext cx="93487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12:06 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 txBox="1"/>
          <p:nvPr/>
        </p:nvSpPr>
        <p:spPr>
          <a:xfrm>
            <a:off x="3439111" y="4609938"/>
            <a:ext cx="9204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12:42 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 txBox="1"/>
          <p:nvPr/>
        </p:nvSpPr>
        <p:spPr>
          <a:xfrm>
            <a:off x="5141892" y="4613224"/>
            <a:ext cx="8563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1:00 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 txBox="1"/>
          <p:nvPr/>
        </p:nvSpPr>
        <p:spPr>
          <a:xfrm>
            <a:off x="105415" y="5545199"/>
            <a:ext cx="8531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9:42 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1765074" y="5537722"/>
            <a:ext cx="8249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5:17 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3441137" y="5566714"/>
            <a:ext cx="9412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12:23 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 txBox="1"/>
          <p:nvPr/>
        </p:nvSpPr>
        <p:spPr>
          <a:xfrm>
            <a:off x="5117805" y="5534691"/>
            <a:ext cx="89800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 1:00 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 txBox="1"/>
          <p:nvPr/>
        </p:nvSpPr>
        <p:spPr>
          <a:xfrm>
            <a:off x="105415" y="6509283"/>
            <a:ext cx="8178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1:23 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 txBox="1"/>
          <p:nvPr/>
        </p:nvSpPr>
        <p:spPr>
          <a:xfrm>
            <a:off x="1768705" y="6501992"/>
            <a:ext cx="8178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9:45 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 txBox="1"/>
          <p:nvPr/>
        </p:nvSpPr>
        <p:spPr>
          <a:xfrm>
            <a:off x="3428999" y="6498439"/>
            <a:ext cx="8531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8:47 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5141892" y="6518099"/>
            <a:ext cx="8114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8:47 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 txBox="1"/>
          <p:nvPr/>
        </p:nvSpPr>
        <p:spPr>
          <a:xfrm>
            <a:off x="74861" y="7490556"/>
            <a:ext cx="9895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Midnight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2380212" y="7487759"/>
            <a:ext cx="12766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 Noon (midday)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 txBox="1"/>
          <p:nvPr/>
        </p:nvSpPr>
        <p:spPr>
          <a:xfrm>
            <a:off x="4510276" y="7500646"/>
            <a:ext cx="207467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 Quarter to 6 in the morning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 txBox="1"/>
          <p:nvPr/>
        </p:nvSpPr>
        <p:spPr>
          <a:xfrm>
            <a:off x="105414" y="8598758"/>
            <a:ext cx="215065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Quarter to 6 in the afternoon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177019" y="5835983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09:42</a:t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291370" y="6820480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13:23</a:t>
            </a:r>
            <a:endParaRPr/>
          </a:p>
        </p:txBody>
      </p:sp>
      <p:sp>
        <p:nvSpPr>
          <p:cNvPr id="400" name="Google Shape;400;p20"/>
          <p:cNvSpPr/>
          <p:nvPr/>
        </p:nvSpPr>
        <p:spPr>
          <a:xfrm>
            <a:off x="1872402" y="4872637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00:06</a:t>
            </a:r>
            <a:endParaRPr/>
          </a:p>
        </p:txBody>
      </p:sp>
      <p:sp>
        <p:nvSpPr>
          <p:cNvPr id="401" name="Google Shape;401;p20"/>
          <p:cNvSpPr/>
          <p:nvPr/>
        </p:nvSpPr>
        <p:spPr>
          <a:xfrm>
            <a:off x="1872402" y="5817848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05:17</a:t>
            </a:r>
            <a:endParaRPr/>
          </a:p>
        </p:txBody>
      </p:sp>
      <p:sp>
        <p:nvSpPr>
          <p:cNvPr id="402" name="Google Shape;402;p20"/>
          <p:cNvSpPr/>
          <p:nvPr/>
        </p:nvSpPr>
        <p:spPr>
          <a:xfrm>
            <a:off x="1887385" y="6820480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21:45</a:t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3514486" y="488056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00:42</a:t>
            </a:r>
            <a:endParaRPr/>
          </a:p>
        </p:txBody>
      </p:sp>
      <p:sp>
        <p:nvSpPr>
          <p:cNvPr id="404" name="Google Shape;404;p20"/>
          <p:cNvSpPr/>
          <p:nvPr/>
        </p:nvSpPr>
        <p:spPr>
          <a:xfrm>
            <a:off x="3456369" y="5817848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12:23</a:t>
            </a:r>
            <a:endParaRPr/>
          </a:p>
        </p:txBody>
      </p:sp>
      <p:sp>
        <p:nvSpPr>
          <p:cNvPr id="405" name="Google Shape;405;p20"/>
          <p:cNvSpPr/>
          <p:nvPr/>
        </p:nvSpPr>
        <p:spPr>
          <a:xfrm>
            <a:off x="3471352" y="6820480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20:47</a:t>
            </a:r>
            <a:endParaRPr/>
          </a:p>
        </p:txBody>
      </p:sp>
      <p:sp>
        <p:nvSpPr>
          <p:cNvPr id="406" name="Google Shape;406;p20"/>
          <p:cNvSpPr/>
          <p:nvPr/>
        </p:nvSpPr>
        <p:spPr>
          <a:xfrm>
            <a:off x="5327308" y="4942556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01:00</a:t>
            </a:r>
            <a:endParaRPr/>
          </a:p>
        </p:txBody>
      </p:sp>
      <p:sp>
        <p:nvSpPr>
          <p:cNvPr id="407" name="Google Shape;407;p20"/>
          <p:cNvSpPr/>
          <p:nvPr/>
        </p:nvSpPr>
        <p:spPr>
          <a:xfrm>
            <a:off x="5212811" y="5838459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13:00</a:t>
            </a:r>
            <a:endParaRPr/>
          </a:p>
        </p:txBody>
      </p:sp>
      <p:sp>
        <p:nvSpPr>
          <p:cNvPr id="408" name="Google Shape;408;p20"/>
          <p:cNvSpPr/>
          <p:nvPr/>
        </p:nvSpPr>
        <p:spPr>
          <a:xfrm>
            <a:off x="5281421" y="6820480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08:47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2376004" y="8614480"/>
            <a:ext cx="16083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 Quarter to midnight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 txBox="1"/>
          <p:nvPr/>
        </p:nvSpPr>
        <p:spPr>
          <a:xfrm>
            <a:off x="4577967" y="8614480"/>
            <a:ext cx="170110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r) Quarter past midnight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403480" y="7871024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00:00</a:t>
            </a: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2842233" y="7871024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12:00</a:t>
            </a:r>
            <a:endParaRPr/>
          </a:p>
        </p:txBody>
      </p:sp>
      <p:sp>
        <p:nvSpPr>
          <p:cNvPr id="413" name="Google Shape;413;p20"/>
          <p:cNvSpPr/>
          <p:nvPr/>
        </p:nvSpPr>
        <p:spPr>
          <a:xfrm>
            <a:off x="5209537" y="7871024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05:45</a:t>
            </a: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375237" y="9140140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17:45</a:t>
            </a:r>
            <a:endParaRPr/>
          </a:p>
        </p:txBody>
      </p:sp>
      <p:sp>
        <p:nvSpPr>
          <p:cNvPr id="415" name="Google Shape;415;p20"/>
          <p:cNvSpPr/>
          <p:nvPr/>
        </p:nvSpPr>
        <p:spPr>
          <a:xfrm>
            <a:off x="2813990" y="9140140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23:45</a:t>
            </a:r>
            <a:endParaRPr/>
          </a:p>
        </p:txBody>
      </p:sp>
      <p:sp>
        <p:nvSpPr>
          <p:cNvPr id="416" name="Google Shape;416;p20"/>
          <p:cNvSpPr/>
          <p:nvPr/>
        </p:nvSpPr>
        <p:spPr>
          <a:xfrm>
            <a:off x="5181294" y="9140140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00:15</a:t>
            </a:r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1297472" y="1330736"/>
            <a:ext cx="1289086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1250252" y="2410282"/>
            <a:ext cx="1289086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9" name="Google Shape;419;p20"/>
          <p:cNvSpPr txBox="1"/>
          <p:nvPr/>
        </p:nvSpPr>
        <p:spPr>
          <a:xfrm>
            <a:off x="1297472" y="3665076"/>
            <a:ext cx="1289086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0" name="Google Shape;420;p20"/>
          <p:cNvSpPr txBox="1"/>
          <p:nvPr>
            <p:ph idx="12" type="sldNum"/>
          </p:nvPr>
        </p:nvSpPr>
        <p:spPr>
          <a:xfrm>
            <a:off x="5209537" y="947952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1" name="Google Shape;421;p20"/>
          <p:cNvSpPr txBox="1"/>
          <p:nvPr/>
        </p:nvSpPr>
        <p:spPr>
          <a:xfrm>
            <a:off x="3258328" y="1338498"/>
            <a:ext cx="1289086" cy="36933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3211108" y="2418044"/>
            <a:ext cx="1289086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3" name="Google Shape;423;p20"/>
          <p:cNvSpPr txBox="1"/>
          <p:nvPr/>
        </p:nvSpPr>
        <p:spPr>
          <a:xfrm>
            <a:off x="3224883" y="3669125"/>
            <a:ext cx="1289086" cy="36933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4" name="Google Shape;424;p20"/>
          <p:cNvSpPr txBox="1"/>
          <p:nvPr/>
        </p:nvSpPr>
        <p:spPr>
          <a:xfrm>
            <a:off x="5097427" y="1338498"/>
            <a:ext cx="1289086" cy="369332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5" name="Google Shape;425;p20"/>
          <p:cNvSpPr txBox="1"/>
          <p:nvPr/>
        </p:nvSpPr>
        <p:spPr>
          <a:xfrm>
            <a:off x="5130856" y="2412871"/>
            <a:ext cx="1289086" cy="36933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6" name="Google Shape;426;p20"/>
          <p:cNvSpPr txBox="1"/>
          <p:nvPr/>
        </p:nvSpPr>
        <p:spPr>
          <a:xfrm>
            <a:off x="5152294" y="3695990"/>
            <a:ext cx="1289086" cy="369332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2" name="Google Shape;432;p21"/>
          <p:cNvGraphicFramePr/>
          <p:nvPr/>
        </p:nvGraphicFramePr>
        <p:xfrm>
          <a:off x="142761" y="37338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1655725"/>
                <a:gridCol w="1655725"/>
                <a:gridCol w="1655725"/>
                <a:gridCol w="1655725"/>
              </a:tblGrid>
              <a:tr h="95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33" name="Google Shape;433;p21"/>
          <p:cNvGraphicFramePr/>
          <p:nvPr/>
        </p:nvGraphicFramePr>
        <p:xfrm>
          <a:off x="142761" y="7212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1880600"/>
                <a:gridCol w="1563950"/>
                <a:gridCol w="1563950"/>
                <a:gridCol w="1563950"/>
              </a:tblGrid>
              <a:tr h="34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09:15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time is this on a 12 hour clock?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13:15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time on a 12 hour clock?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The time is 14:24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the time on a 12 hour clock?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60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12.00 am -1.00 am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is equivalent to 00:00 to 01:00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1.00am to 1.00pm is equivalent to 01:00 to 13:00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  <a:tr h="560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After 1.00pm add 12 to the value up to midnight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434" name="Google Shape;434;p21"/>
          <p:cNvSpPr txBox="1"/>
          <p:nvPr/>
        </p:nvSpPr>
        <p:spPr>
          <a:xfrm>
            <a:off x="2105250" y="466890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16 - I do…</a:t>
            </a:r>
            <a:endParaRPr/>
          </a:p>
        </p:txBody>
      </p:sp>
      <p:sp>
        <p:nvSpPr>
          <p:cNvPr id="435" name="Google Shape;435;p21"/>
          <p:cNvSpPr txBox="1"/>
          <p:nvPr/>
        </p:nvSpPr>
        <p:spPr>
          <a:xfrm>
            <a:off x="5200442" y="47617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18– You do…</a:t>
            </a:r>
            <a:endParaRPr/>
          </a:p>
        </p:txBody>
      </p:sp>
      <p:sp>
        <p:nvSpPr>
          <p:cNvPr id="436" name="Google Shape;436;p21"/>
          <p:cNvSpPr txBox="1"/>
          <p:nvPr/>
        </p:nvSpPr>
        <p:spPr>
          <a:xfrm>
            <a:off x="3607215" y="45232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17 – We do…</a:t>
            </a:r>
            <a:endParaRPr/>
          </a:p>
        </p:txBody>
      </p:sp>
      <p:sp>
        <p:nvSpPr>
          <p:cNvPr id="437" name="Google Shape;437;p21"/>
          <p:cNvSpPr/>
          <p:nvPr/>
        </p:nvSpPr>
        <p:spPr>
          <a:xfrm>
            <a:off x="132929" y="331625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38" name="Google Shape;438;p21"/>
          <p:cNvSpPr/>
          <p:nvPr/>
        </p:nvSpPr>
        <p:spPr>
          <a:xfrm>
            <a:off x="132929" y="143473"/>
            <a:ext cx="2535879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conversions 24 hour to 12 hour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 txBox="1"/>
          <p:nvPr/>
        </p:nvSpPr>
        <p:spPr>
          <a:xfrm>
            <a:off x="1247220" y="3430729"/>
            <a:ext cx="48504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Change these times to a 12-hour clock. Remember to include AM or PM.</a:t>
            </a:r>
            <a:endParaRPr/>
          </a:p>
        </p:txBody>
      </p:sp>
      <p:sp>
        <p:nvSpPr>
          <p:cNvPr id="440" name="Google Shape;440;p21"/>
          <p:cNvSpPr txBox="1"/>
          <p:nvPr/>
        </p:nvSpPr>
        <p:spPr>
          <a:xfrm>
            <a:off x="139050" y="3754314"/>
            <a:ext cx="7312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00:00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1"/>
          <p:cNvSpPr/>
          <p:nvPr/>
        </p:nvSpPr>
        <p:spPr>
          <a:xfrm>
            <a:off x="328597" y="4142931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/>
          </a:p>
        </p:txBody>
      </p:sp>
      <p:sp>
        <p:nvSpPr>
          <p:cNvPr id="442" name="Google Shape;442;p21"/>
          <p:cNvSpPr txBox="1"/>
          <p:nvPr/>
        </p:nvSpPr>
        <p:spPr>
          <a:xfrm>
            <a:off x="1753132" y="3754314"/>
            <a:ext cx="7377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00:59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1"/>
          <p:cNvSpPr txBox="1"/>
          <p:nvPr/>
        </p:nvSpPr>
        <p:spPr>
          <a:xfrm>
            <a:off x="3429000" y="3734485"/>
            <a:ext cx="7232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01:00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5090441" y="3754314"/>
            <a:ext cx="7024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07:42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 txBox="1"/>
          <p:nvPr/>
        </p:nvSpPr>
        <p:spPr>
          <a:xfrm>
            <a:off x="142760" y="4675499"/>
            <a:ext cx="6710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11:59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1"/>
          <p:cNvSpPr txBox="1"/>
          <p:nvPr/>
        </p:nvSpPr>
        <p:spPr>
          <a:xfrm>
            <a:off x="1756842" y="4675499"/>
            <a:ext cx="6944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12:00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1"/>
          <p:cNvSpPr txBox="1"/>
          <p:nvPr/>
        </p:nvSpPr>
        <p:spPr>
          <a:xfrm>
            <a:off x="3429000" y="4692207"/>
            <a:ext cx="7377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12:23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1"/>
          <p:cNvSpPr txBox="1"/>
          <p:nvPr/>
        </p:nvSpPr>
        <p:spPr>
          <a:xfrm>
            <a:off x="5090441" y="4675499"/>
            <a:ext cx="6928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 13:13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1"/>
          <p:cNvSpPr txBox="1"/>
          <p:nvPr/>
        </p:nvSpPr>
        <p:spPr>
          <a:xfrm>
            <a:off x="121417" y="5666538"/>
            <a:ext cx="6928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17:42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1"/>
          <p:cNvSpPr txBox="1"/>
          <p:nvPr/>
        </p:nvSpPr>
        <p:spPr>
          <a:xfrm>
            <a:off x="1793711" y="5666538"/>
            <a:ext cx="6575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03:42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1"/>
          <p:cNvSpPr txBox="1"/>
          <p:nvPr/>
        </p:nvSpPr>
        <p:spPr>
          <a:xfrm>
            <a:off x="3452612" y="5666538"/>
            <a:ext cx="7809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03:13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1"/>
          <p:cNvSpPr txBox="1"/>
          <p:nvPr/>
        </p:nvSpPr>
        <p:spPr>
          <a:xfrm>
            <a:off x="5067999" y="5664071"/>
            <a:ext cx="7377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 23:13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1"/>
          <p:cNvSpPr txBox="1"/>
          <p:nvPr/>
        </p:nvSpPr>
        <p:spPr>
          <a:xfrm>
            <a:off x="106999" y="6595894"/>
            <a:ext cx="9382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Midnight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1"/>
          <p:cNvSpPr txBox="1"/>
          <p:nvPr/>
        </p:nvSpPr>
        <p:spPr>
          <a:xfrm>
            <a:off x="2330583" y="6598557"/>
            <a:ext cx="12766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 Noon (midday)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1"/>
          <p:cNvSpPr txBox="1"/>
          <p:nvPr/>
        </p:nvSpPr>
        <p:spPr>
          <a:xfrm>
            <a:off x="4586166" y="6594077"/>
            <a:ext cx="204581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r) Quarter to 1 in the morning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1"/>
          <p:cNvSpPr txBox="1"/>
          <p:nvPr/>
        </p:nvSpPr>
        <p:spPr>
          <a:xfrm>
            <a:off x="106999" y="7659836"/>
            <a:ext cx="22218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s) Quarter past 1  in the morning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1"/>
          <p:cNvSpPr/>
          <p:nvPr/>
        </p:nvSpPr>
        <p:spPr>
          <a:xfrm>
            <a:off x="328597" y="508814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11:59 am</a:t>
            </a:r>
            <a:endParaRPr/>
          </a:p>
        </p:txBody>
      </p:sp>
      <p:sp>
        <p:nvSpPr>
          <p:cNvPr id="458" name="Google Shape;458;p21"/>
          <p:cNvSpPr/>
          <p:nvPr/>
        </p:nvSpPr>
        <p:spPr>
          <a:xfrm>
            <a:off x="375237" y="6033335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5:42 pm</a:t>
            </a:r>
            <a:endParaRPr/>
          </a:p>
        </p:txBody>
      </p:sp>
      <p:sp>
        <p:nvSpPr>
          <p:cNvPr id="459" name="Google Shape;459;p21"/>
          <p:cNvSpPr/>
          <p:nvPr/>
        </p:nvSpPr>
        <p:spPr>
          <a:xfrm>
            <a:off x="1924612" y="4142931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12:59 am</a:t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1924612" y="508814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12:00 pm</a:t>
            </a:r>
            <a:endParaRPr/>
          </a:p>
        </p:txBody>
      </p:sp>
      <p:sp>
        <p:nvSpPr>
          <p:cNvPr id="461" name="Google Shape;461;p21"/>
          <p:cNvSpPr/>
          <p:nvPr/>
        </p:nvSpPr>
        <p:spPr>
          <a:xfrm>
            <a:off x="1971252" y="6033335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3:42 am</a:t>
            </a: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3508579" y="4142931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1:00 am</a:t>
            </a:r>
            <a:endParaRPr/>
          </a:p>
        </p:txBody>
      </p:sp>
      <p:sp>
        <p:nvSpPr>
          <p:cNvPr id="463" name="Google Shape;463;p21"/>
          <p:cNvSpPr/>
          <p:nvPr/>
        </p:nvSpPr>
        <p:spPr>
          <a:xfrm>
            <a:off x="3508579" y="508814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12:23 pm</a:t>
            </a:r>
            <a:endParaRPr/>
          </a:p>
        </p:txBody>
      </p:sp>
      <p:sp>
        <p:nvSpPr>
          <p:cNvPr id="464" name="Google Shape;464;p21"/>
          <p:cNvSpPr/>
          <p:nvPr/>
        </p:nvSpPr>
        <p:spPr>
          <a:xfrm>
            <a:off x="3555219" y="6033335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3:13 am</a:t>
            </a:r>
            <a:endParaRPr/>
          </a:p>
        </p:txBody>
      </p:sp>
      <p:sp>
        <p:nvSpPr>
          <p:cNvPr id="465" name="Google Shape;465;p21"/>
          <p:cNvSpPr/>
          <p:nvPr/>
        </p:nvSpPr>
        <p:spPr>
          <a:xfrm>
            <a:off x="5134654" y="4142931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7:42 am</a:t>
            </a:r>
            <a:endParaRPr/>
          </a:p>
        </p:txBody>
      </p:sp>
      <p:sp>
        <p:nvSpPr>
          <p:cNvPr id="466" name="Google Shape;466;p21"/>
          <p:cNvSpPr/>
          <p:nvPr/>
        </p:nvSpPr>
        <p:spPr>
          <a:xfrm>
            <a:off x="5134654" y="508814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1:13 pm</a:t>
            </a: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5181294" y="6033335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11:13 pm</a:t>
            </a:r>
            <a:endParaRPr/>
          </a:p>
        </p:txBody>
      </p:sp>
      <p:sp>
        <p:nvSpPr>
          <p:cNvPr id="468" name="Google Shape;468;p21"/>
          <p:cNvSpPr txBox="1"/>
          <p:nvPr/>
        </p:nvSpPr>
        <p:spPr>
          <a:xfrm>
            <a:off x="2328889" y="7671069"/>
            <a:ext cx="15667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t) Quarter to midnight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 txBox="1"/>
          <p:nvPr/>
        </p:nvSpPr>
        <p:spPr>
          <a:xfrm>
            <a:off x="4586166" y="7679246"/>
            <a:ext cx="17283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u) Quarter past midnight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328597" y="702619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12:00 am</a:t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2767350" y="702619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12:00pm</a:t>
            </a:r>
            <a:endParaRPr/>
          </a:p>
        </p:txBody>
      </p:sp>
      <p:sp>
        <p:nvSpPr>
          <p:cNvPr id="472" name="Google Shape;472;p21"/>
          <p:cNvSpPr/>
          <p:nvPr/>
        </p:nvSpPr>
        <p:spPr>
          <a:xfrm>
            <a:off x="5134654" y="7026192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12:45 am</a:t>
            </a:r>
            <a:endParaRPr/>
          </a:p>
        </p:txBody>
      </p:sp>
      <p:sp>
        <p:nvSpPr>
          <p:cNvPr id="473" name="Google Shape;473;p21"/>
          <p:cNvSpPr/>
          <p:nvPr/>
        </p:nvSpPr>
        <p:spPr>
          <a:xfrm>
            <a:off x="438579" y="8127506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1:15 am</a:t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2877332" y="8127506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11:45 pm</a:t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5244636" y="8127506"/>
            <a:ext cx="1277244" cy="402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12:15 am</a:t>
            </a:r>
            <a:endParaRPr/>
          </a:p>
        </p:txBody>
      </p:sp>
      <p:sp>
        <p:nvSpPr>
          <p:cNvPr id="476" name="Google Shape;476;p21"/>
          <p:cNvSpPr txBox="1"/>
          <p:nvPr/>
        </p:nvSpPr>
        <p:spPr>
          <a:xfrm>
            <a:off x="2307668" y="1410425"/>
            <a:ext cx="1208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9:15 am</a:t>
            </a:r>
            <a:endParaRPr/>
          </a:p>
        </p:txBody>
      </p:sp>
      <p:sp>
        <p:nvSpPr>
          <p:cNvPr id="477" name="Google Shape;477;p21"/>
          <p:cNvSpPr txBox="1"/>
          <p:nvPr/>
        </p:nvSpPr>
        <p:spPr>
          <a:xfrm>
            <a:off x="3943004" y="1416411"/>
            <a:ext cx="1208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1:15 pm</a:t>
            </a:r>
            <a:endParaRPr/>
          </a:p>
        </p:txBody>
      </p:sp>
      <p:sp>
        <p:nvSpPr>
          <p:cNvPr id="478" name="Google Shape;478;p21"/>
          <p:cNvSpPr txBox="1"/>
          <p:nvPr/>
        </p:nvSpPr>
        <p:spPr>
          <a:xfrm>
            <a:off x="5450345" y="1405228"/>
            <a:ext cx="1208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2:24 pm</a:t>
            </a:r>
            <a:endParaRPr/>
          </a:p>
        </p:txBody>
      </p:sp>
      <p:sp>
        <p:nvSpPr>
          <p:cNvPr id="479" name="Google Shape;479;p21"/>
          <p:cNvSpPr txBox="1"/>
          <p:nvPr>
            <p:ph idx="12" type="sldNum"/>
          </p:nvPr>
        </p:nvSpPr>
        <p:spPr>
          <a:xfrm>
            <a:off x="5249552" y="930402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80" name="Google Shape;480;p21"/>
          <p:cNvGraphicFramePr/>
          <p:nvPr/>
        </p:nvGraphicFramePr>
        <p:xfrm>
          <a:off x="146002" y="66058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2206550"/>
                <a:gridCol w="2206550"/>
                <a:gridCol w="2206550"/>
              </a:tblGrid>
              <a:tr h="107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6" name="Google Shape;486;p22"/>
          <p:cNvGraphicFramePr/>
          <p:nvPr/>
        </p:nvGraphicFramePr>
        <p:xfrm>
          <a:off x="118885" y="32657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2205900"/>
                <a:gridCol w="2205900"/>
                <a:gridCol w="2205900"/>
              </a:tblGrid>
              <a:tr h="11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7" name="Google Shape;487;p22"/>
          <p:cNvSpPr txBox="1"/>
          <p:nvPr>
            <p:ph idx="12" type="sldNum"/>
          </p:nvPr>
        </p:nvSpPr>
        <p:spPr>
          <a:xfrm>
            <a:off x="5197618" y="934523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488" name="Google Shape;488;p22"/>
          <p:cNvGraphicFramePr/>
          <p:nvPr/>
        </p:nvGraphicFramePr>
        <p:xfrm>
          <a:off x="164101" y="7924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1153425"/>
                <a:gridCol w="1806350"/>
                <a:gridCol w="1806350"/>
                <a:gridCol w="1806350"/>
              </a:tblGrid>
              <a:tr h="22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time is it 1 hour 20 minutes after 08:45?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time is it 1 hour 30 minutes after 08:45?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time is it 1 hour 30 minutes after 08:50?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Work out minutes to the next 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Work out the hours and extra minutes after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489" name="Google Shape;489;p22"/>
          <p:cNvSpPr txBox="1"/>
          <p:nvPr/>
        </p:nvSpPr>
        <p:spPr>
          <a:xfrm>
            <a:off x="1554699" y="54112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19 - I do…</a:t>
            </a:r>
            <a:endParaRPr/>
          </a:p>
        </p:txBody>
      </p:sp>
      <p:sp>
        <p:nvSpPr>
          <p:cNvPr id="490" name="Google Shape;490;p22"/>
          <p:cNvSpPr txBox="1"/>
          <p:nvPr/>
        </p:nvSpPr>
        <p:spPr>
          <a:xfrm>
            <a:off x="5032463" y="52634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21 – You do…</a:t>
            </a:r>
            <a:endParaRPr/>
          </a:p>
        </p:txBody>
      </p:sp>
      <p:sp>
        <p:nvSpPr>
          <p:cNvPr id="491" name="Google Shape;491;p22"/>
          <p:cNvSpPr txBox="1"/>
          <p:nvPr/>
        </p:nvSpPr>
        <p:spPr>
          <a:xfrm>
            <a:off x="3281075" y="53314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20 – We do…</a:t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136907" y="2871397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493" name="Google Shape;493;p22"/>
          <p:cNvSpPr/>
          <p:nvPr/>
        </p:nvSpPr>
        <p:spPr>
          <a:xfrm>
            <a:off x="86109" y="146006"/>
            <a:ext cx="2669502" cy="277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Calculating with time - adding time on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 txBox="1"/>
          <p:nvPr/>
        </p:nvSpPr>
        <p:spPr>
          <a:xfrm>
            <a:off x="1297993" y="2989167"/>
            <a:ext cx="9620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Work out:</a:t>
            </a:r>
            <a:endParaRPr/>
          </a:p>
        </p:txBody>
      </p:sp>
      <p:sp>
        <p:nvSpPr>
          <p:cNvPr id="495" name="Google Shape;495;p22"/>
          <p:cNvSpPr txBox="1"/>
          <p:nvPr/>
        </p:nvSpPr>
        <p:spPr>
          <a:xfrm>
            <a:off x="72724" y="3264017"/>
            <a:ext cx="14741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1 hour after 08:55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2"/>
          <p:cNvSpPr txBox="1"/>
          <p:nvPr/>
        </p:nvSpPr>
        <p:spPr>
          <a:xfrm>
            <a:off x="2292393" y="3264017"/>
            <a:ext cx="22146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1 hour 10 minutes after 08:55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 txBox="1"/>
          <p:nvPr/>
        </p:nvSpPr>
        <p:spPr>
          <a:xfrm>
            <a:off x="4502230" y="3264017"/>
            <a:ext cx="17561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70 minutes after 08:55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 txBox="1"/>
          <p:nvPr/>
        </p:nvSpPr>
        <p:spPr>
          <a:xfrm>
            <a:off x="72724" y="4364576"/>
            <a:ext cx="18459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100 minutes after 08:55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2"/>
          <p:cNvSpPr txBox="1"/>
          <p:nvPr/>
        </p:nvSpPr>
        <p:spPr>
          <a:xfrm>
            <a:off x="2282561" y="4364576"/>
            <a:ext cx="21911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2 hours 2 minutes after 09:59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 txBox="1"/>
          <p:nvPr/>
        </p:nvSpPr>
        <p:spPr>
          <a:xfrm>
            <a:off x="4502230" y="4364576"/>
            <a:ext cx="21863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2 hours 2 minutes after 21:59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2"/>
          <p:cNvSpPr txBox="1"/>
          <p:nvPr/>
        </p:nvSpPr>
        <p:spPr>
          <a:xfrm>
            <a:off x="55322" y="5462986"/>
            <a:ext cx="23332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3 hour 30 minutes after 3:50pm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2"/>
          <p:cNvSpPr txBox="1"/>
          <p:nvPr/>
        </p:nvSpPr>
        <p:spPr>
          <a:xfrm>
            <a:off x="2274715" y="5462986"/>
            <a:ext cx="18737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3 hours 30 minutes after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3.28pm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 txBox="1"/>
          <p:nvPr/>
        </p:nvSpPr>
        <p:spPr>
          <a:xfrm>
            <a:off x="4502674" y="5462986"/>
            <a:ext cx="19170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3 hours 30 minutes after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11:40pm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 txBox="1"/>
          <p:nvPr/>
        </p:nvSpPr>
        <p:spPr>
          <a:xfrm>
            <a:off x="1469722" y="1376468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10:05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10:05 am</a:t>
            </a:r>
            <a:endParaRPr/>
          </a:p>
        </p:txBody>
      </p:sp>
      <p:sp>
        <p:nvSpPr>
          <p:cNvPr id="505" name="Google Shape;505;p22"/>
          <p:cNvSpPr txBox="1"/>
          <p:nvPr/>
        </p:nvSpPr>
        <p:spPr>
          <a:xfrm>
            <a:off x="3359559" y="1385671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10:15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10:15 am</a:t>
            </a:r>
            <a:endParaRPr/>
          </a:p>
        </p:txBody>
      </p:sp>
      <p:sp>
        <p:nvSpPr>
          <p:cNvPr id="506" name="Google Shape;506;p22"/>
          <p:cNvSpPr txBox="1"/>
          <p:nvPr/>
        </p:nvSpPr>
        <p:spPr>
          <a:xfrm>
            <a:off x="5295774" y="1376468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10:20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10:20 am</a:t>
            </a:r>
            <a:endParaRPr/>
          </a:p>
        </p:txBody>
      </p:sp>
      <p:sp>
        <p:nvSpPr>
          <p:cNvPr id="507" name="Google Shape;507;p22"/>
          <p:cNvSpPr txBox="1"/>
          <p:nvPr/>
        </p:nvSpPr>
        <p:spPr>
          <a:xfrm>
            <a:off x="316007" y="3600614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09:55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9:55 am</a:t>
            </a:r>
            <a:endParaRPr/>
          </a:p>
        </p:txBody>
      </p:sp>
      <p:sp>
        <p:nvSpPr>
          <p:cNvPr id="508" name="Google Shape;508;p22"/>
          <p:cNvSpPr txBox="1"/>
          <p:nvPr/>
        </p:nvSpPr>
        <p:spPr>
          <a:xfrm>
            <a:off x="2701357" y="3600614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10:05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10:05 am</a:t>
            </a:r>
            <a:endParaRPr/>
          </a:p>
        </p:txBody>
      </p:sp>
      <p:sp>
        <p:nvSpPr>
          <p:cNvPr id="509" name="Google Shape;509;p22"/>
          <p:cNvSpPr txBox="1"/>
          <p:nvPr/>
        </p:nvSpPr>
        <p:spPr>
          <a:xfrm>
            <a:off x="4776975" y="3560876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10:05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10:05 am</a:t>
            </a:r>
            <a:endParaRPr/>
          </a:p>
        </p:txBody>
      </p:sp>
      <p:sp>
        <p:nvSpPr>
          <p:cNvPr id="510" name="Google Shape;510;p22"/>
          <p:cNvSpPr txBox="1"/>
          <p:nvPr/>
        </p:nvSpPr>
        <p:spPr>
          <a:xfrm>
            <a:off x="487030" y="4770122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10:35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10:35 am</a:t>
            </a:r>
            <a:endParaRPr/>
          </a:p>
        </p:txBody>
      </p:sp>
      <p:sp>
        <p:nvSpPr>
          <p:cNvPr id="511" name="Google Shape;511;p22"/>
          <p:cNvSpPr txBox="1"/>
          <p:nvPr/>
        </p:nvSpPr>
        <p:spPr>
          <a:xfrm>
            <a:off x="2684470" y="4742903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12:01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12:01 pm</a:t>
            </a:r>
            <a:endParaRPr/>
          </a:p>
        </p:txBody>
      </p:sp>
      <p:sp>
        <p:nvSpPr>
          <p:cNvPr id="512" name="Google Shape;512;p22"/>
          <p:cNvSpPr txBox="1"/>
          <p:nvPr/>
        </p:nvSpPr>
        <p:spPr>
          <a:xfrm>
            <a:off x="4911677" y="4747339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00:01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12:01 am</a:t>
            </a:r>
            <a:endParaRPr/>
          </a:p>
        </p:txBody>
      </p:sp>
      <p:sp>
        <p:nvSpPr>
          <p:cNvPr id="513" name="Google Shape;513;p22"/>
          <p:cNvSpPr txBox="1"/>
          <p:nvPr/>
        </p:nvSpPr>
        <p:spPr>
          <a:xfrm>
            <a:off x="517621" y="5757696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19:20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7:20 pm</a:t>
            </a:r>
            <a:endParaRPr/>
          </a:p>
        </p:txBody>
      </p:sp>
      <p:sp>
        <p:nvSpPr>
          <p:cNvPr id="514" name="Google Shape;514;p22"/>
          <p:cNvSpPr txBox="1"/>
          <p:nvPr/>
        </p:nvSpPr>
        <p:spPr>
          <a:xfrm>
            <a:off x="2715043" y="5798177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18:58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6:58 pm</a:t>
            </a:r>
            <a:endParaRPr/>
          </a:p>
        </p:txBody>
      </p:sp>
      <p:sp>
        <p:nvSpPr>
          <p:cNvPr id="515" name="Google Shape;515;p22"/>
          <p:cNvSpPr txBox="1"/>
          <p:nvPr/>
        </p:nvSpPr>
        <p:spPr>
          <a:xfrm>
            <a:off x="4942268" y="5798059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03:10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3:10 am</a:t>
            </a:r>
            <a:endParaRPr/>
          </a:p>
        </p:txBody>
      </p:sp>
      <p:sp>
        <p:nvSpPr>
          <p:cNvPr id="516" name="Google Shape;516;p22"/>
          <p:cNvSpPr txBox="1"/>
          <p:nvPr/>
        </p:nvSpPr>
        <p:spPr>
          <a:xfrm>
            <a:off x="81588" y="6623183"/>
            <a:ext cx="1572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j)24 hours after 06:17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 txBox="1"/>
          <p:nvPr/>
        </p:nvSpPr>
        <p:spPr>
          <a:xfrm>
            <a:off x="2292393" y="6589394"/>
            <a:ext cx="160774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25 hours after 06:17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 txBox="1"/>
          <p:nvPr/>
        </p:nvSpPr>
        <p:spPr>
          <a:xfrm>
            <a:off x="4527489" y="6565758"/>
            <a:ext cx="1572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23 hours after 06:17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 txBox="1"/>
          <p:nvPr/>
        </p:nvSpPr>
        <p:spPr>
          <a:xfrm>
            <a:off x="72724" y="7700673"/>
            <a:ext cx="20649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1 day 12 hours  after 06:17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 txBox="1"/>
          <p:nvPr/>
        </p:nvSpPr>
        <p:spPr>
          <a:xfrm>
            <a:off x="2303088" y="7706088"/>
            <a:ext cx="20292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 startAt="14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hours 47 minutes after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06:17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 txBox="1"/>
          <p:nvPr/>
        </p:nvSpPr>
        <p:spPr>
          <a:xfrm>
            <a:off x="4507038" y="7694292"/>
            <a:ext cx="17744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 48 hours after 3.15pm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 txBox="1"/>
          <p:nvPr/>
        </p:nvSpPr>
        <p:spPr>
          <a:xfrm>
            <a:off x="588404" y="6948210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06:17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6:17 am</a:t>
            </a:r>
            <a:endParaRPr/>
          </a:p>
        </p:txBody>
      </p:sp>
      <p:sp>
        <p:nvSpPr>
          <p:cNvPr id="523" name="Google Shape;523;p22"/>
          <p:cNvSpPr txBox="1"/>
          <p:nvPr/>
        </p:nvSpPr>
        <p:spPr>
          <a:xfrm>
            <a:off x="2844731" y="6948211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07:17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7:17 am</a:t>
            </a:r>
            <a:endParaRPr/>
          </a:p>
        </p:txBody>
      </p:sp>
      <p:sp>
        <p:nvSpPr>
          <p:cNvPr id="524" name="Google Shape;524;p22"/>
          <p:cNvSpPr txBox="1"/>
          <p:nvPr/>
        </p:nvSpPr>
        <p:spPr>
          <a:xfrm>
            <a:off x="5072998" y="6929263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05:17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5:17 am</a:t>
            </a:r>
            <a:endParaRPr/>
          </a:p>
        </p:txBody>
      </p:sp>
      <p:sp>
        <p:nvSpPr>
          <p:cNvPr id="525" name="Google Shape;525;p22"/>
          <p:cNvSpPr txBox="1"/>
          <p:nvPr/>
        </p:nvSpPr>
        <p:spPr>
          <a:xfrm>
            <a:off x="439887" y="8026075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18:17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6:17 pm</a:t>
            </a:r>
            <a:endParaRPr/>
          </a:p>
        </p:txBody>
      </p:sp>
      <p:sp>
        <p:nvSpPr>
          <p:cNvPr id="526" name="Google Shape;526;p22"/>
          <p:cNvSpPr txBox="1"/>
          <p:nvPr/>
        </p:nvSpPr>
        <p:spPr>
          <a:xfrm>
            <a:off x="2734516" y="8115038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19:04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7:04 pm</a:t>
            </a:r>
            <a:endParaRPr/>
          </a:p>
        </p:txBody>
      </p:sp>
      <p:sp>
        <p:nvSpPr>
          <p:cNvPr id="527" name="Google Shape;527;p22"/>
          <p:cNvSpPr txBox="1"/>
          <p:nvPr/>
        </p:nvSpPr>
        <p:spPr>
          <a:xfrm>
            <a:off x="4924480" y="8092123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15:15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3:15 pm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" name="Google Shape;532;p23"/>
          <p:cNvGraphicFramePr/>
          <p:nvPr/>
        </p:nvGraphicFramePr>
        <p:xfrm>
          <a:off x="132016" y="30842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2194150"/>
                <a:gridCol w="2194150"/>
                <a:gridCol w="2194150"/>
              </a:tblGrid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3" name="Google Shape;533;p23"/>
          <p:cNvSpPr txBox="1"/>
          <p:nvPr/>
        </p:nvSpPr>
        <p:spPr>
          <a:xfrm>
            <a:off x="5212080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4" name="Google Shape;534;p23"/>
          <p:cNvGraphicFramePr/>
          <p:nvPr/>
        </p:nvGraphicFramePr>
        <p:xfrm>
          <a:off x="142005" y="6918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1094425"/>
                <a:gridCol w="1826025"/>
                <a:gridCol w="1826025"/>
                <a:gridCol w="1826025"/>
              </a:tblGrid>
              <a:tr h="35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time is it 1 hour 20 minutes before 08:45?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time is it 1 hour 20 minutes before 08:15?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time is it 1 hour 30 minutes before 08:25?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8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Work out minutes to the next 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3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Work out the hours and extra minutes after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535" name="Google Shape;535;p23"/>
          <p:cNvSpPr txBox="1"/>
          <p:nvPr/>
        </p:nvSpPr>
        <p:spPr>
          <a:xfrm>
            <a:off x="1484515" y="44484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22 - I do…</a:t>
            </a:r>
            <a:endParaRPr/>
          </a:p>
        </p:txBody>
      </p:sp>
      <p:sp>
        <p:nvSpPr>
          <p:cNvPr id="536" name="Google Shape;536;p23"/>
          <p:cNvSpPr txBox="1"/>
          <p:nvPr/>
        </p:nvSpPr>
        <p:spPr>
          <a:xfrm>
            <a:off x="5022842" y="43434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24 – You do…</a:t>
            </a:r>
            <a:endParaRPr/>
          </a:p>
        </p:txBody>
      </p:sp>
      <p:sp>
        <p:nvSpPr>
          <p:cNvPr id="537" name="Google Shape;537;p23"/>
          <p:cNvSpPr txBox="1"/>
          <p:nvPr/>
        </p:nvSpPr>
        <p:spPr>
          <a:xfrm>
            <a:off x="3202883" y="44484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23 – We do…</a:t>
            </a:r>
            <a:endParaRPr/>
          </a:p>
        </p:txBody>
      </p:sp>
      <p:sp>
        <p:nvSpPr>
          <p:cNvPr id="538" name="Google Shape;538;p23"/>
          <p:cNvSpPr/>
          <p:nvPr/>
        </p:nvSpPr>
        <p:spPr>
          <a:xfrm>
            <a:off x="142005" y="132589"/>
            <a:ext cx="2796089" cy="27699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Calculating with time - taking time off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132173" y="2679680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540" name="Google Shape;540;p23"/>
          <p:cNvSpPr txBox="1"/>
          <p:nvPr/>
        </p:nvSpPr>
        <p:spPr>
          <a:xfrm>
            <a:off x="97587" y="3105522"/>
            <a:ext cx="15838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1 hour before 08:05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 txBox="1"/>
          <p:nvPr/>
        </p:nvSpPr>
        <p:spPr>
          <a:xfrm>
            <a:off x="2300314" y="3108804"/>
            <a:ext cx="224587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1 hour 5 minutes before 08:05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 txBox="1"/>
          <p:nvPr/>
        </p:nvSpPr>
        <p:spPr>
          <a:xfrm>
            <a:off x="4502052" y="3084298"/>
            <a:ext cx="21705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1 hour 6 minute before 08:05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 txBox="1"/>
          <p:nvPr/>
        </p:nvSpPr>
        <p:spPr>
          <a:xfrm>
            <a:off x="1259576" y="2795079"/>
            <a:ext cx="9620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Work out:</a:t>
            </a:r>
            <a:endParaRPr/>
          </a:p>
        </p:txBody>
      </p:sp>
      <p:sp>
        <p:nvSpPr>
          <p:cNvPr id="544" name="Google Shape;544;p23"/>
          <p:cNvSpPr txBox="1"/>
          <p:nvPr/>
        </p:nvSpPr>
        <p:spPr>
          <a:xfrm>
            <a:off x="1393623" y="1593839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07:25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7:25 am</a:t>
            </a:r>
            <a:endParaRPr/>
          </a:p>
        </p:txBody>
      </p:sp>
      <p:sp>
        <p:nvSpPr>
          <p:cNvPr id="545" name="Google Shape;545;p23"/>
          <p:cNvSpPr txBox="1"/>
          <p:nvPr/>
        </p:nvSpPr>
        <p:spPr>
          <a:xfrm>
            <a:off x="3302130" y="1530076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06:55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6:55 am</a:t>
            </a:r>
            <a:endParaRPr/>
          </a:p>
        </p:txBody>
      </p:sp>
      <p:sp>
        <p:nvSpPr>
          <p:cNvPr id="546" name="Google Shape;546;p23"/>
          <p:cNvSpPr txBox="1"/>
          <p:nvPr/>
        </p:nvSpPr>
        <p:spPr>
          <a:xfrm>
            <a:off x="5251571" y="1530076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06:55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6:55 am</a:t>
            </a:r>
            <a:endParaRPr/>
          </a:p>
        </p:txBody>
      </p:sp>
      <p:sp>
        <p:nvSpPr>
          <p:cNvPr id="547" name="Google Shape;547;p23"/>
          <p:cNvSpPr txBox="1"/>
          <p:nvPr/>
        </p:nvSpPr>
        <p:spPr>
          <a:xfrm>
            <a:off x="556100" y="3361297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07:05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7:05 am</a:t>
            </a:r>
            <a:endParaRPr/>
          </a:p>
        </p:txBody>
      </p:sp>
      <p:sp>
        <p:nvSpPr>
          <p:cNvPr id="548" name="Google Shape;548;p23"/>
          <p:cNvSpPr txBox="1"/>
          <p:nvPr/>
        </p:nvSpPr>
        <p:spPr>
          <a:xfrm>
            <a:off x="2732369" y="3385803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07:00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7:00 am</a:t>
            </a:r>
            <a:endParaRPr/>
          </a:p>
        </p:txBody>
      </p:sp>
      <p:sp>
        <p:nvSpPr>
          <p:cNvPr id="549" name="Google Shape;549;p23"/>
          <p:cNvSpPr txBox="1"/>
          <p:nvPr/>
        </p:nvSpPr>
        <p:spPr>
          <a:xfrm>
            <a:off x="4955161" y="3418046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06:59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6:59 am</a:t>
            </a:r>
            <a:endParaRPr/>
          </a:p>
        </p:txBody>
      </p:sp>
      <p:sp>
        <p:nvSpPr>
          <p:cNvPr id="550" name="Google Shape;550;p23"/>
          <p:cNvSpPr txBox="1"/>
          <p:nvPr/>
        </p:nvSpPr>
        <p:spPr>
          <a:xfrm>
            <a:off x="538201" y="4446499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06:58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6:58 am</a:t>
            </a:r>
            <a:endParaRPr/>
          </a:p>
        </p:txBody>
      </p:sp>
      <p:sp>
        <p:nvSpPr>
          <p:cNvPr id="551" name="Google Shape;551;p23"/>
          <p:cNvSpPr txBox="1"/>
          <p:nvPr/>
        </p:nvSpPr>
        <p:spPr>
          <a:xfrm>
            <a:off x="2765215" y="4497673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06:25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6:25 am</a:t>
            </a:r>
            <a:endParaRPr/>
          </a:p>
        </p:txBody>
      </p:sp>
      <p:sp>
        <p:nvSpPr>
          <p:cNvPr id="552" name="Google Shape;552;p23"/>
          <p:cNvSpPr txBox="1"/>
          <p:nvPr/>
        </p:nvSpPr>
        <p:spPr>
          <a:xfrm>
            <a:off x="5022842" y="4514143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10:59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10:59 am</a:t>
            </a:r>
            <a:endParaRPr/>
          </a:p>
        </p:txBody>
      </p:sp>
      <p:sp>
        <p:nvSpPr>
          <p:cNvPr id="553" name="Google Shape;553;p23"/>
          <p:cNvSpPr txBox="1"/>
          <p:nvPr/>
        </p:nvSpPr>
        <p:spPr>
          <a:xfrm>
            <a:off x="584141" y="5644025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12:59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12:59 pm</a:t>
            </a:r>
            <a:endParaRPr/>
          </a:p>
        </p:txBody>
      </p:sp>
      <p:sp>
        <p:nvSpPr>
          <p:cNvPr id="554" name="Google Shape;554;p23"/>
          <p:cNvSpPr txBox="1"/>
          <p:nvPr/>
        </p:nvSpPr>
        <p:spPr>
          <a:xfrm>
            <a:off x="2764482" y="5604473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22:59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10:59 pm</a:t>
            </a:r>
            <a:endParaRPr/>
          </a:p>
        </p:txBody>
      </p:sp>
      <p:sp>
        <p:nvSpPr>
          <p:cNvPr id="555" name="Google Shape;555;p23"/>
          <p:cNvSpPr txBox="1"/>
          <p:nvPr/>
        </p:nvSpPr>
        <p:spPr>
          <a:xfrm>
            <a:off x="4955161" y="5595763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22:59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10:59 pm</a:t>
            </a:r>
            <a:endParaRPr/>
          </a:p>
        </p:txBody>
      </p:sp>
      <p:sp>
        <p:nvSpPr>
          <p:cNvPr id="556" name="Google Shape;556;p23"/>
          <p:cNvSpPr txBox="1"/>
          <p:nvPr/>
        </p:nvSpPr>
        <p:spPr>
          <a:xfrm>
            <a:off x="624499" y="6731792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12:11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12:11 pm</a:t>
            </a:r>
            <a:endParaRPr/>
          </a:p>
        </p:txBody>
      </p:sp>
      <p:sp>
        <p:nvSpPr>
          <p:cNvPr id="557" name="Google Shape;557;p23"/>
          <p:cNvSpPr txBox="1"/>
          <p:nvPr/>
        </p:nvSpPr>
        <p:spPr>
          <a:xfrm>
            <a:off x="2816915" y="6691516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11:54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11:54 am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 txBox="1"/>
          <p:nvPr/>
        </p:nvSpPr>
        <p:spPr>
          <a:xfrm>
            <a:off x="4955161" y="6702934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01:54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1:54 am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556099" y="7713235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00:54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12:54 am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 txBox="1"/>
          <p:nvPr/>
        </p:nvSpPr>
        <p:spPr>
          <a:xfrm>
            <a:off x="2792620" y="7733088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23:54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11:54 pm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4999447" y="7626264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22:54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10:54 pm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 txBox="1"/>
          <p:nvPr/>
        </p:nvSpPr>
        <p:spPr>
          <a:xfrm>
            <a:off x="648346" y="8940193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15:17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3:17 pm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 txBox="1"/>
          <p:nvPr/>
        </p:nvSpPr>
        <p:spPr>
          <a:xfrm>
            <a:off x="2766270" y="8917339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16:17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4:17 pm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 txBox="1"/>
          <p:nvPr/>
        </p:nvSpPr>
        <p:spPr>
          <a:xfrm>
            <a:off x="4946611" y="8910761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14:17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2:17 pm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 txBox="1"/>
          <p:nvPr/>
        </p:nvSpPr>
        <p:spPr>
          <a:xfrm>
            <a:off x="152447" y="4131067"/>
            <a:ext cx="18803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67 minutes before 08:05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 txBox="1"/>
          <p:nvPr/>
        </p:nvSpPr>
        <p:spPr>
          <a:xfrm>
            <a:off x="2332788" y="4131067"/>
            <a:ext cx="19557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100 minutes before 08:05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 txBox="1"/>
          <p:nvPr/>
        </p:nvSpPr>
        <p:spPr>
          <a:xfrm>
            <a:off x="4452169" y="4131067"/>
            <a:ext cx="22961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2 hours 2 minutes before 13:01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 txBox="1"/>
          <p:nvPr/>
        </p:nvSpPr>
        <p:spPr>
          <a:xfrm>
            <a:off x="90965" y="5217124"/>
            <a:ext cx="19402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2 hours 2 minutes before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3.01pm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 txBox="1"/>
          <p:nvPr/>
        </p:nvSpPr>
        <p:spPr>
          <a:xfrm>
            <a:off x="2322497" y="5217124"/>
            <a:ext cx="19482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2 hours 2 minutes before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1:01am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 txBox="1"/>
          <p:nvPr/>
        </p:nvSpPr>
        <p:spPr>
          <a:xfrm>
            <a:off x="4494108" y="5205778"/>
            <a:ext cx="22688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2hours 2 minutes before 01:01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3"/>
          <p:cNvSpPr txBox="1"/>
          <p:nvPr/>
        </p:nvSpPr>
        <p:spPr>
          <a:xfrm>
            <a:off x="79525" y="6274121"/>
            <a:ext cx="233942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2 hours 12 minutes before 14:23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 txBox="1"/>
          <p:nvPr/>
        </p:nvSpPr>
        <p:spPr>
          <a:xfrm>
            <a:off x="2311057" y="6274121"/>
            <a:ext cx="19819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2 hours 12 minutes before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14:06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 txBox="1"/>
          <p:nvPr/>
        </p:nvSpPr>
        <p:spPr>
          <a:xfrm>
            <a:off x="4502052" y="6274121"/>
            <a:ext cx="20605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12 hours 12 minutes before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14:06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 txBox="1"/>
          <p:nvPr/>
        </p:nvSpPr>
        <p:spPr>
          <a:xfrm>
            <a:off x="79549" y="7403086"/>
            <a:ext cx="231826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12 hours 12 minutes before 13:06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3"/>
          <p:cNvSpPr txBox="1"/>
          <p:nvPr/>
        </p:nvSpPr>
        <p:spPr>
          <a:xfrm>
            <a:off x="2323521" y="7389408"/>
            <a:ext cx="227979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 12 hours 12 minutes before 12:06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 txBox="1"/>
          <p:nvPr/>
        </p:nvSpPr>
        <p:spPr>
          <a:xfrm>
            <a:off x="4542992" y="7380394"/>
            <a:ext cx="227979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 12 hours 12 minutes before 11:06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 txBox="1"/>
          <p:nvPr/>
        </p:nvSpPr>
        <p:spPr>
          <a:xfrm>
            <a:off x="83501" y="8411730"/>
            <a:ext cx="17624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24 hours  before 15:17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 txBox="1"/>
          <p:nvPr/>
        </p:nvSpPr>
        <p:spPr>
          <a:xfrm>
            <a:off x="2315033" y="8411730"/>
            <a:ext cx="17271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q) 23 hours before 15:17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 txBox="1"/>
          <p:nvPr/>
        </p:nvSpPr>
        <p:spPr>
          <a:xfrm>
            <a:off x="4542992" y="8411730"/>
            <a:ext cx="169988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r) 25 hours before 15:17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4"/>
          <p:cNvSpPr txBox="1"/>
          <p:nvPr/>
        </p:nvSpPr>
        <p:spPr>
          <a:xfrm>
            <a:off x="5289911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 txBox="1"/>
          <p:nvPr/>
        </p:nvSpPr>
        <p:spPr>
          <a:xfrm>
            <a:off x="96758" y="229854"/>
            <a:ext cx="226055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s) 24 hours 18 minutes before 15:17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"/>
          <p:cNvSpPr txBox="1"/>
          <p:nvPr/>
        </p:nvSpPr>
        <p:spPr>
          <a:xfrm>
            <a:off x="2322122" y="229854"/>
            <a:ext cx="225254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t) 23 hours 18 minutes before 15:17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4"/>
          <p:cNvSpPr txBox="1"/>
          <p:nvPr/>
        </p:nvSpPr>
        <p:spPr>
          <a:xfrm>
            <a:off x="4574662" y="204633"/>
            <a:ext cx="17271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u) 48 hours before 15:17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4"/>
          <p:cNvSpPr txBox="1"/>
          <p:nvPr/>
        </p:nvSpPr>
        <p:spPr>
          <a:xfrm>
            <a:off x="653512" y="535709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14:59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2:59 pm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 txBox="1"/>
          <p:nvPr/>
        </p:nvSpPr>
        <p:spPr>
          <a:xfrm>
            <a:off x="2795116" y="573911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15:59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3:59 pm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4"/>
          <p:cNvSpPr txBox="1"/>
          <p:nvPr/>
        </p:nvSpPr>
        <p:spPr>
          <a:xfrm>
            <a:off x="5063873" y="573911"/>
            <a:ext cx="13467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15:17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3:17 pm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1" name="Google Shape;591;p24"/>
          <p:cNvGraphicFramePr/>
          <p:nvPr/>
        </p:nvGraphicFramePr>
        <p:xfrm>
          <a:off x="137766" y="2237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2194150"/>
                <a:gridCol w="2194150"/>
                <a:gridCol w="2194150"/>
              </a:tblGrid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92" name="Google Shape;592;p24"/>
          <p:cNvGraphicFramePr/>
          <p:nvPr/>
        </p:nvGraphicFramePr>
        <p:xfrm>
          <a:off x="137766" y="18473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1519100"/>
                <a:gridCol w="1684450"/>
                <a:gridCol w="1684450"/>
                <a:gridCol w="1684450"/>
              </a:tblGrid>
              <a:tr h="715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minutes between 50 minutes and 1 hour 23 minutes?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many minutes between 47 minutes and 1 hour 25 minutes?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63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Convert both times into minutes.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6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Find the difference.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593" name="Google Shape;593;p24"/>
          <p:cNvSpPr txBox="1"/>
          <p:nvPr/>
        </p:nvSpPr>
        <p:spPr>
          <a:xfrm>
            <a:off x="1846271" y="1598725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25 - I do…</a:t>
            </a:r>
            <a:endParaRPr/>
          </a:p>
        </p:txBody>
      </p:sp>
      <p:sp>
        <p:nvSpPr>
          <p:cNvPr id="594" name="Google Shape;594;p24"/>
          <p:cNvSpPr txBox="1"/>
          <p:nvPr/>
        </p:nvSpPr>
        <p:spPr>
          <a:xfrm>
            <a:off x="5096353" y="158096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27 – You do…</a:t>
            </a:r>
            <a:endParaRPr/>
          </a:p>
        </p:txBody>
      </p:sp>
      <p:sp>
        <p:nvSpPr>
          <p:cNvPr id="595" name="Google Shape;595;p24"/>
          <p:cNvSpPr txBox="1"/>
          <p:nvPr/>
        </p:nvSpPr>
        <p:spPr>
          <a:xfrm>
            <a:off x="3432171" y="159153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26 – We do…</a:t>
            </a:r>
            <a:endParaRPr/>
          </a:p>
        </p:txBody>
      </p:sp>
      <p:sp>
        <p:nvSpPr>
          <p:cNvPr id="596" name="Google Shape;596;p24"/>
          <p:cNvSpPr/>
          <p:nvPr/>
        </p:nvSpPr>
        <p:spPr>
          <a:xfrm>
            <a:off x="134628" y="1357647"/>
            <a:ext cx="2792055" cy="2655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Calculating time in between no context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4"/>
          <p:cNvSpPr txBox="1"/>
          <p:nvPr/>
        </p:nvSpPr>
        <p:spPr>
          <a:xfrm>
            <a:off x="1878254" y="2615619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33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4"/>
          <p:cNvSpPr txBox="1"/>
          <p:nvPr/>
        </p:nvSpPr>
        <p:spPr>
          <a:xfrm>
            <a:off x="3530209" y="2632134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 txBox="1"/>
          <p:nvPr/>
        </p:nvSpPr>
        <p:spPr>
          <a:xfrm>
            <a:off x="5186372" y="2615619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4"/>
          <p:cNvSpPr/>
          <p:nvPr/>
        </p:nvSpPr>
        <p:spPr>
          <a:xfrm>
            <a:off x="134628" y="3836759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601" name="Google Shape;601;p24"/>
          <p:cNvSpPr txBox="1"/>
          <p:nvPr/>
        </p:nvSpPr>
        <p:spPr>
          <a:xfrm>
            <a:off x="1232871" y="3986762"/>
            <a:ext cx="310873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Calculate the difference between the times</a:t>
            </a:r>
            <a:endParaRPr/>
          </a:p>
        </p:txBody>
      </p:sp>
      <p:graphicFrame>
        <p:nvGraphicFramePr>
          <p:cNvPr id="602" name="Google Shape;602;p24"/>
          <p:cNvGraphicFramePr/>
          <p:nvPr/>
        </p:nvGraphicFramePr>
        <p:xfrm>
          <a:off x="137766" y="42345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2194150"/>
                <a:gridCol w="2194150"/>
                <a:gridCol w="2194150"/>
              </a:tblGrid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3" name="Google Shape;603;p24"/>
          <p:cNvSpPr txBox="1"/>
          <p:nvPr/>
        </p:nvSpPr>
        <p:spPr>
          <a:xfrm>
            <a:off x="361970" y="4846754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4"/>
          <p:cNvSpPr txBox="1"/>
          <p:nvPr/>
        </p:nvSpPr>
        <p:spPr>
          <a:xfrm>
            <a:off x="2649902" y="4846754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 txBox="1"/>
          <p:nvPr/>
        </p:nvSpPr>
        <p:spPr>
          <a:xfrm>
            <a:off x="4736502" y="4936573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4"/>
          <p:cNvSpPr txBox="1"/>
          <p:nvPr/>
        </p:nvSpPr>
        <p:spPr>
          <a:xfrm>
            <a:off x="134628" y="4232479"/>
            <a:ext cx="18629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hour 10 minutes and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50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 txBox="1"/>
          <p:nvPr/>
        </p:nvSpPr>
        <p:spPr>
          <a:xfrm>
            <a:off x="2304280" y="4230413"/>
            <a:ext cx="19078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1 hour 5 minutes and 30 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 txBox="1"/>
          <p:nvPr/>
        </p:nvSpPr>
        <p:spPr>
          <a:xfrm>
            <a:off x="4539081" y="4209838"/>
            <a:ext cx="170104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1 hour 6 minutes and 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/>
          <p:cNvSpPr txBox="1"/>
          <p:nvPr/>
        </p:nvSpPr>
        <p:spPr>
          <a:xfrm>
            <a:off x="96758" y="5300404"/>
            <a:ext cx="17737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2 hours 6 minutes and 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4"/>
          <p:cNvSpPr txBox="1"/>
          <p:nvPr/>
        </p:nvSpPr>
        <p:spPr>
          <a:xfrm>
            <a:off x="2306449" y="5309614"/>
            <a:ext cx="17705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3 hours 6 minutes and 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 txBox="1"/>
          <p:nvPr/>
        </p:nvSpPr>
        <p:spPr>
          <a:xfrm>
            <a:off x="4513090" y="5325722"/>
            <a:ext cx="18411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100 minutes and 1 hour </a:t>
            </a:r>
            <a:b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 txBox="1"/>
          <p:nvPr/>
        </p:nvSpPr>
        <p:spPr>
          <a:xfrm>
            <a:off x="118923" y="6354259"/>
            <a:ext cx="2171156" cy="461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3 hours 24 minutes and 2 hours 20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4"/>
          <p:cNvSpPr txBox="1"/>
          <p:nvPr/>
        </p:nvSpPr>
        <p:spPr>
          <a:xfrm>
            <a:off x="2320828" y="6366442"/>
            <a:ext cx="21341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3 hours 24 minutes and 2 hours 30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4"/>
          <p:cNvSpPr txBox="1"/>
          <p:nvPr/>
        </p:nvSpPr>
        <p:spPr>
          <a:xfrm>
            <a:off x="4485709" y="6362374"/>
            <a:ext cx="2047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2 hours 2 minutes and 1 hour 58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4"/>
          <p:cNvSpPr txBox="1"/>
          <p:nvPr/>
        </p:nvSpPr>
        <p:spPr>
          <a:xfrm>
            <a:off x="407852" y="5834916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79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4"/>
          <p:cNvSpPr txBox="1"/>
          <p:nvPr/>
        </p:nvSpPr>
        <p:spPr>
          <a:xfrm>
            <a:off x="2890920" y="5855112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139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4"/>
          <p:cNvSpPr txBox="1"/>
          <p:nvPr/>
        </p:nvSpPr>
        <p:spPr>
          <a:xfrm>
            <a:off x="5007046" y="5847974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4"/>
          <p:cNvSpPr txBox="1"/>
          <p:nvPr/>
        </p:nvSpPr>
        <p:spPr>
          <a:xfrm>
            <a:off x="523774" y="6909715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4"/>
          <p:cNvSpPr txBox="1"/>
          <p:nvPr/>
        </p:nvSpPr>
        <p:spPr>
          <a:xfrm>
            <a:off x="2835317" y="6932568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54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4"/>
          <p:cNvSpPr txBox="1"/>
          <p:nvPr/>
        </p:nvSpPr>
        <p:spPr>
          <a:xfrm>
            <a:off x="5085521" y="6925957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4"/>
          <p:cNvSpPr txBox="1"/>
          <p:nvPr/>
        </p:nvSpPr>
        <p:spPr>
          <a:xfrm>
            <a:off x="485017" y="8101142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4"/>
          <p:cNvSpPr txBox="1"/>
          <p:nvPr/>
        </p:nvSpPr>
        <p:spPr>
          <a:xfrm>
            <a:off x="2793231" y="8050436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690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4"/>
          <p:cNvSpPr txBox="1"/>
          <p:nvPr/>
        </p:nvSpPr>
        <p:spPr>
          <a:xfrm>
            <a:off x="5024341" y="8071280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4"/>
          <p:cNvSpPr txBox="1"/>
          <p:nvPr/>
        </p:nvSpPr>
        <p:spPr>
          <a:xfrm>
            <a:off x="455046" y="8978590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4"/>
          <p:cNvSpPr txBox="1"/>
          <p:nvPr/>
        </p:nvSpPr>
        <p:spPr>
          <a:xfrm>
            <a:off x="2793231" y="8930788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95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4"/>
          <p:cNvSpPr txBox="1"/>
          <p:nvPr/>
        </p:nvSpPr>
        <p:spPr>
          <a:xfrm>
            <a:off x="5033412" y="8961988"/>
            <a:ext cx="13467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75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4"/>
          <p:cNvSpPr txBox="1"/>
          <p:nvPr/>
        </p:nvSpPr>
        <p:spPr>
          <a:xfrm>
            <a:off x="110006" y="7447502"/>
            <a:ext cx="1887568" cy="349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2 hours  and 135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4"/>
          <p:cNvSpPr txBox="1"/>
          <p:nvPr/>
        </p:nvSpPr>
        <p:spPr>
          <a:xfrm>
            <a:off x="2304280" y="7424166"/>
            <a:ext cx="2225225" cy="179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 Half an hour and 720 minutes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4"/>
          <p:cNvSpPr txBox="1"/>
          <p:nvPr/>
        </p:nvSpPr>
        <p:spPr>
          <a:xfrm>
            <a:off x="4539081" y="7418088"/>
            <a:ext cx="1800493" cy="3534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48" l="-33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0" name="Google Shape;630;p24"/>
          <p:cNvSpPr txBox="1"/>
          <p:nvPr/>
        </p:nvSpPr>
        <p:spPr>
          <a:xfrm>
            <a:off x="110006" y="8507858"/>
            <a:ext cx="1763816" cy="35349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4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1" name="Google Shape;631;p24"/>
          <p:cNvSpPr txBox="1"/>
          <p:nvPr/>
        </p:nvSpPr>
        <p:spPr>
          <a:xfrm>
            <a:off x="2304280" y="8541056"/>
            <a:ext cx="1943289" cy="35311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48" l="-313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32" name="Google Shape;632;p24"/>
          <p:cNvSpPr txBox="1"/>
          <p:nvPr/>
        </p:nvSpPr>
        <p:spPr>
          <a:xfrm>
            <a:off x="4529287" y="8498057"/>
            <a:ext cx="1738361" cy="35349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448" l="-35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5"/>
          <p:cNvSpPr txBox="1"/>
          <p:nvPr>
            <p:ph idx="12" type="sldNum"/>
          </p:nvPr>
        </p:nvSpPr>
        <p:spPr>
          <a:xfrm>
            <a:off x="5242660" y="942248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8" name="Google Shape;638;p25"/>
          <p:cNvSpPr/>
          <p:nvPr/>
        </p:nvSpPr>
        <p:spPr>
          <a:xfrm>
            <a:off x="142761" y="159886"/>
            <a:ext cx="3933939" cy="27377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Calculating time in between 12 and 24 hour times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9" name="Google Shape;639;p25"/>
          <p:cNvGraphicFramePr/>
          <p:nvPr/>
        </p:nvGraphicFramePr>
        <p:xfrm>
          <a:off x="142761" y="6811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1509050"/>
                <a:gridCol w="1687800"/>
                <a:gridCol w="1687800"/>
                <a:gridCol w="1687800"/>
              </a:tblGrid>
              <a:tr h="418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long is it between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08:45 and 10:20?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long is it between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08:35 and 10:20?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How long is it between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08:43 and 10:20?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5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Work out minutes to the next hour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4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Work out the hours and extra minutes after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640" name="Google Shape;640;p25"/>
          <p:cNvSpPr txBox="1"/>
          <p:nvPr/>
        </p:nvSpPr>
        <p:spPr>
          <a:xfrm>
            <a:off x="1805369" y="41710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28 - I do…</a:t>
            </a:r>
            <a:endParaRPr/>
          </a:p>
        </p:txBody>
      </p:sp>
      <p:sp>
        <p:nvSpPr>
          <p:cNvPr id="641" name="Google Shape;641;p25"/>
          <p:cNvSpPr txBox="1"/>
          <p:nvPr/>
        </p:nvSpPr>
        <p:spPr>
          <a:xfrm>
            <a:off x="5093847" y="42557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30 – You do…</a:t>
            </a:r>
            <a:endParaRPr/>
          </a:p>
        </p:txBody>
      </p:sp>
      <p:sp>
        <p:nvSpPr>
          <p:cNvPr id="642" name="Google Shape;642;p25"/>
          <p:cNvSpPr txBox="1"/>
          <p:nvPr/>
        </p:nvSpPr>
        <p:spPr>
          <a:xfrm>
            <a:off x="3428430" y="41403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29 – We do…</a:t>
            </a:r>
            <a:endParaRPr/>
          </a:p>
        </p:txBody>
      </p:sp>
      <p:sp>
        <p:nvSpPr>
          <p:cNvPr id="643" name="Google Shape;643;p25"/>
          <p:cNvSpPr/>
          <p:nvPr/>
        </p:nvSpPr>
        <p:spPr>
          <a:xfrm>
            <a:off x="142761" y="277645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644" name="Google Shape;644;p25"/>
          <p:cNvSpPr txBox="1"/>
          <p:nvPr/>
        </p:nvSpPr>
        <p:spPr>
          <a:xfrm>
            <a:off x="104683" y="3194739"/>
            <a:ext cx="13564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10:17 and 10:45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5"/>
          <p:cNvSpPr txBox="1"/>
          <p:nvPr/>
        </p:nvSpPr>
        <p:spPr>
          <a:xfrm>
            <a:off x="2309144" y="3171692"/>
            <a:ext cx="12843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09:06 and 9:35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5"/>
          <p:cNvSpPr txBox="1"/>
          <p:nvPr/>
        </p:nvSpPr>
        <p:spPr>
          <a:xfrm>
            <a:off x="4531715" y="3171692"/>
            <a:ext cx="134844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15:54 and 15:12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5"/>
          <p:cNvSpPr txBox="1"/>
          <p:nvPr/>
        </p:nvSpPr>
        <p:spPr>
          <a:xfrm>
            <a:off x="1259876" y="2879296"/>
            <a:ext cx="31504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Calculate the difference between the times:</a:t>
            </a:r>
            <a:endParaRPr/>
          </a:p>
        </p:txBody>
      </p:sp>
      <p:sp>
        <p:nvSpPr>
          <p:cNvPr id="648" name="Google Shape;648;p25"/>
          <p:cNvSpPr txBox="1"/>
          <p:nvPr/>
        </p:nvSpPr>
        <p:spPr>
          <a:xfrm>
            <a:off x="1665263" y="1108955"/>
            <a:ext cx="159937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 35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95 minutes</a:t>
            </a:r>
            <a:endParaRPr/>
          </a:p>
        </p:txBody>
      </p:sp>
      <p:sp>
        <p:nvSpPr>
          <p:cNvPr id="649" name="Google Shape;649;p25"/>
          <p:cNvSpPr txBox="1"/>
          <p:nvPr/>
        </p:nvSpPr>
        <p:spPr>
          <a:xfrm>
            <a:off x="3429000" y="1097491"/>
            <a:ext cx="159937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 45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105 minutes</a:t>
            </a:r>
            <a:endParaRPr/>
          </a:p>
        </p:txBody>
      </p:sp>
      <p:sp>
        <p:nvSpPr>
          <p:cNvPr id="650" name="Google Shape;650;p25"/>
          <p:cNvSpPr txBox="1"/>
          <p:nvPr/>
        </p:nvSpPr>
        <p:spPr>
          <a:xfrm>
            <a:off x="5115862" y="1097491"/>
            <a:ext cx="159937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 37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97 minutes</a:t>
            </a:r>
            <a:endParaRPr/>
          </a:p>
        </p:txBody>
      </p:sp>
      <p:sp>
        <p:nvSpPr>
          <p:cNvPr id="651" name="Google Shape;651;p25"/>
          <p:cNvSpPr txBox="1"/>
          <p:nvPr/>
        </p:nvSpPr>
        <p:spPr>
          <a:xfrm>
            <a:off x="387499" y="3659620"/>
            <a:ext cx="15993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minutes</a:t>
            </a:r>
            <a:endParaRPr/>
          </a:p>
        </p:txBody>
      </p:sp>
      <p:sp>
        <p:nvSpPr>
          <p:cNvPr id="652" name="Google Shape;652;p25"/>
          <p:cNvSpPr txBox="1"/>
          <p:nvPr/>
        </p:nvSpPr>
        <p:spPr>
          <a:xfrm>
            <a:off x="2530385" y="3592699"/>
            <a:ext cx="15993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29 minutes</a:t>
            </a:r>
            <a:endParaRPr/>
          </a:p>
        </p:txBody>
      </p:sp>
      <p:sp>
        <p:nvSpPr>
          <p:cNvPr id="653" name="Google Shape;653;p25"/>
          <p:cNvSpPr txBox="1"/>
          <p:nvPr/>
        </p:nvSpPr>
        <p:spPr>
          <a:xfrm>
            <a:off x="4762989" y="3632411"/>
            <a:ext cx="15993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 minutes</a:t>
            </a:r>
            <a:endParaRPr/>
          </a:p>
        </p:txBody>
      </p:sp>
      <p:graphicFrame>
        <p:nvGraphicFramePr>
          <p:cNvPr id="654" name="Google Shape;654;p25"/>
          <p:cNvGraphicFramePr/>
          <p:nvPr/>
        </p:nvGraphicFramePr>
        <p:xfrm>
          <a:off x="132771" y="31942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{65EC5351-904A-4784-A0DA-6C680D2555C5}</a:tableStyleId>
              </a:tblPr>
              <a:tblGrid>
                <a:gridCol w="2194150"/>
                <a:gridCol w="2194150"/>
                <a:gridCol w="2194150"/>
              </a:tblGrid>
              <a:tr h="125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5" name="Google Shape;655;p25"/>
          <p:cNvSpPr txBox="1"/>
          <p:nvPr/>
        </p:nvSpPr>
        <p:spPr>
          <a:xfrm>
            <a:off x="413988" y="4827236"/>
            <a:ext cx="15993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60 minutes</a:t>
            </a:r>
            <a:endParaRPr/>
          </a:p>
        </p:txBody>
      </p:sp>
      <p:sp>
        <p:nvSpPr>
          <p:cNvPr id="656" name="Google Shape;656;p25"/>
          <p:cNvSpPr txBox="1"/>
          <p:nvPr/>
        </p:nvSpPr>
        <p:spPr>
          <a:xfrm>
            <a:off x="2596944" y="4760315"/>
            <a:ext cx="15993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hour 1 min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61 minutes</a:t>
            </a:r>
            <a:endParaRPr/>
          </a:p>
        </p:txBody>
      </p:sp>
      <p:sp>
        <p:nvSpPr>
          <p:cNvPr id="657" name="Google Shape;657;p25"/>
          <p:cNvSpPr txBox="1"/>
          <p:nvPr/>
        </p:nvSpPr>
        <p:spPr>
          <a:xfrm>
            <a:off x="4928480" y="4806957"/>
            <a:ext cx="15993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 minutes</a:t>
            </a:r>
            <a:endParaRPr/>
          </a:p>
        </p:txBody>
      </p:sp>
      <p:sp>
        <p:nvSpPr>
          <p:cNvPr id="658" name="Google Shape;658;p25"/>
          <p:cNvSpPr txBox="1"/>
          <p:nvPr/>
        </p:nvSpPr>
        <p:spPr>
          <a:xfrm>
            <a:off x="411196" y="6049441"/>
            <a:ext cx="15993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43 minutes</a:t>
            </a:r>
            <a:endParaRPr/>
          </a:p>
        </p:txBody>
      </p:sp>
      <p:sp>
        <p:nvSpPr>
          <p:cNvPr id="659" name="Google Shape;659;p25"/>
          <p:cNvSpPr txBox="1"/>
          <p:nvPr/>
        </p:nvSpPr>
        <p:spPr>
          <a:xfrm>
            <a:off x="2602942" y="6037918"/>
            <a:ext cx="15993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 minutes</a:t>
            </a:r>
            <a:endParaRPr/>
          </a:p>
        </p:txBody>
      </p:sp>
      <p:sp>
        <p:nvSpPr>
          <p:cNvPr id="660" name="Google Shape;660;p25"/>
          <p:cNvSpPr txBox="1"/>
          <p:nvPr/>
        </p:nvSpPr>
        <p:spPr>
          <a:xfrm>
            <a:off x="4858005" y="5880578"/>
            <a:ext cx="159937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hours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720 minutes</a:t>
            </a:r>
            <a:endParaRPr/>
          </a:p>
        </p:txBody>
      </p:sp>
      <p:sp>
        <p:nvSpPr>
          <p:cNvPr id="661" name="Google Shape;661;p25"/>
          <p:cNvSpPr txBox="1"/>
          <p:nvPr/>
        </p:nvSpPr>
        <p:spPr>
          <a:xfrm>
            <a:off x="71172" y="4479463"/>
            <a:ext cx="13628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09:17 and 10:17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5"/>
          <p:cNvSpPr txBox="1"/>
          <p:nvPr/>
        </p:nvSpPr>
        <p:spPr>
          <a:xfrm>
            <a:off x="2285562" y="4479085"/>
            <a:ext cx="13596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09:17 and 10:18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5"/>
          <p:cNvSpPr txBox="1"/>
          <p:nvPr/>
        </p:nvSpPr>
        <p:spPr>
          <a:xfrm>
            <a:off x="4493812" y="4469582"/>
            <a:ext cx="13314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f) 09:17 and 10:16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5"/>
          <p:cNvSpPr txBox="1"/>
          <p:nvPr/>
        </p:nvSpPr>
        <p:spPr>
          <a:xfrm>
            <a:off x="127812" y="5703069"/>
            <a:ext cx="13548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09:17 and 10:00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5"/>
          <p:cNvSpPr txBox="1"/>
          <p:nvPr/>
        </p:nvSpPr>
        <p:spPr>
          <a:xfrm>
            <a:off x="2355340" y="5727967"/>
            <a:ext cx="13628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h) 09:17 and 10:05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5"/>
          <p:cNvSpPr txBox="1"/>
          <p:nvPr/>
        </p:nvSpPr>
        <p:spPr>
          <a:xfrm>
            <a:off x="4555901" y="5716916"/>
            <a:ext cx="131799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03:28 and 15:28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5"/>
          <p:cNvSpPr txBox="1"/>
          <p:nvPr/>
        </p:nvSpPr>
        <p:spPr>
          <a:xfrm>
            <a:off x="140611" y="7005364"/>
            <a:ext cx="135485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 03:28 and 15:27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5"/>
          <p:cNvSpPr txBox="1"/>
          <p:nvPr/>
        </p:nvSpPr>
        <p:spPr>
          <a:xfrm>
            <a:off x="2359944" y="7005364"/>
            <a:ext cx="12698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k) 3 am and 4 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5"/>
          <p:cNvSpPr txBox="1"/>
          <p:nvPr/>
        </p:nvSpPr>
        <p:spPr>
          <a:xfrm>
            <a:off x="4560505" y="7009524"/>
            <a:ext cx="15552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l) 3.27am and 4.37pm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5"/>
          <p:cNvSpPr txBox="1"/>
          <p:nvPr/>
        </p:nvSpPr>
        <p:spPr>
          <a:xfrm>
            <a:off x="119627" y="8236935"/>
            <a:ext cx="17636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 03:27am and 4:17pm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5"/>
          <p:cNvSpPr txBox="1"/>
          <p:nvPr/>
        </p:nvSpPr>
        <p:spPr>
          <a:xfrm>
            <a:off x="2314883" y="8222650"/>
            <a:ext cx="2020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n) Monday 4 pm and Tuesday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1am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5"/>
          <p:cNvSpPr txBox="1"/>
          <p:nvPr/>
        </p:nvSpPr>
        <p:spPr>
          <a:xfrm>
            <a:off x="4481168" y="8231546"/>
            <a:ext cx="230454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 Monday 4pm and Tuesday 2pm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5"/>
          <p:cNvSpPr txBox="1"/>
          <p:nvPr/>
        </p:nvSpPr>
        <p:spPr>
          <a:xfrm>
            <a:off x="324006" y="7226280"/>
            <a:ext cx="18968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 hours 59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719 minutes</a:t>
            </a:r>
            <a:endParaRPr/>
          </a:p>
        </p:txBody>
      </p:sp>
      <p:sp>
        <p:nvSpPr>
          <p:cNvPr id="674" name="Google Shape;674;p25"/>
          <p:cNvSpPr txBox="1"/>
          <p:nvPr/>
        </p:nvSpPr>
        <p:spPr>
          <a:xfrm>
            <a:off x="2511503" y="7226280"/>
            <a:ext cx="18968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 hours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780 minutes</a:t>
            </a:r>
            <a:endParaRPr/>
          </a:p>
        </p:txBody>
      </p:sp>
      <p:sp>
        <p:nvSpPr>
          <p:cNvPr id="675" name="Google Shape;675;p25"/>
          <p:cNvSpPr txBox="1"/>
          <p:nvPr/>
        </p:nvSpPr>
        <p:spPr>
          <a:xfrm>
            <a:off x="4684688" y="7217064"/>
            <a:ext cx="18968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 hours 10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790 minutes</a:t>
            </a:r>
            <a:endParaRPr/>
          </a:p>
        </p:txBody>
      </p:sp>
      <p:sp>
        <p:nvSpPr>
          <p:cNvPr id="676" name="Google Shape;676;p25"/>
          <p:cNvSpPr txBox="1"/>
          <p:nvPr/>
        </p:nvSpPr>
        <p:spPr>
          <a:xfrm>
            <a:off x="73778" y="8539360"/>
            <a:ext cx="189686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hours 50 minutes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770 minutes</a:t>
            </a:r>
            <a:endParaRPr/>
          </a:p>
        </p:txBody>
      </p:sp>
      <p:sp>
        <p:nvSpPr>
          <p:cNvPr id="677" name="Google Shape;677;p25"/>
          <p:cNvSpPr txBox="1"/>
          <p:nvPr/>
        </p:nvSpPr>
        <p:spPr>
          <a:xfrm>
            <a:off x="2328206" y="8539360"/>
            <a:ext cx="18968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 hours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540 minutes</a:t>
            </a:r>
            <a:endParaRPr/>
          </a:p>
        </p:txBody>
      </p:sp>
      <p:sp>
        <p:nvSpPr>
          <p:cNvPr id="678" name="Google Shape;678;p25"/>
          <p:cNvSpPr txBox="1"/>
          <p:nvPr/>
        </p:nvSpPr>
        <p:spPr>
          <a:xfrm>
            <a:off x="4512412" y="8487105"/>
            <a:ext cx="18968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 hours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 1320 minutes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oogle Shape;6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575" y="873241"/>
            <a:ext cx="5149215" cy="1493428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26"/>
          <p:cNvSpPr txBox="1"/>
          <p:nvPr/>
        </p:nvSpPr>
        <p:spPr>
          <a:xfrm>
            <a:off x="193507" y="35827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31 - I do…</a:t>
            </a:r>
            <a:endParaRPr/>
          </a:p>
        </p:txBody>
      </p:sp>
      <p:sp>
        <p:nvSpPr>
          <p:cNvPr id="685" name="Google Shape;685;p26"/>
          <p:cNvSpPr/>
          <p:nvPr/>
        </p:nvSpPr>
        <p:spPr>
          <a:xfrm>
            <a:off x="276225" y="87607"/>
            <a:ext cx="1560687" cy="24995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 timetables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6"/>
          <p:cNvSpPr txBox="1"/>
          <p:nvPr/>
        </p:nvSpPr>
        <p:spPr>
          <a:xfrm>
            <a:off x="237925" y="629575"/>
            <a:ext cx="21452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part of a train timetable</a:t>
            </a:r>
            <a:endParaRPr/>
          </a:p>
        </p:txBody>
      </p:sp>
      <p:sp>
        <p:nvSpPr>
          <p:cNvPr id="687" name="Google Shape;687;p26"/>
          <p:cNvSpPr txBox="1"/>
          <p:nvPr/>
        </p:nvSpPr>
        <p:spPr>
          <a:xfrm>
            <a:off x="378004" y="2253734"/>
            <a:ext cx="61749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The train that leaves Randalstown at 13:15 arrives at what time at Ballycastle?</a:t>
            </a:r>
            <a:endParaRPr/>
          </a:p>
        </p:txBody>
      </p:sp>
      <p:grpSp>
        <p:nvGrpSpPr>
          <p:cNvPr id="688" name="Google Shape;688;p26"/>
          <p:cNvGrpSpPr/>
          <p:nvPr/>
        </p:nvGrpSpPr>
        <p:grpSpPr>
          <a:xfrm>
            <a:off x="-216142" y="2530732"/>
            <a:ext cx="6646884" cy="473057"/>
            <a:chOff x="-109605" y="508048"/>
            <a:chExt cx="2268628" cy="1357732"/>
          </a:xfrm>
        </p:grpSpPr>
        <p:sp>
          <p:nvSpPr>
            <p:cNvPr id="689" name="Google Shape;689;p26"/>
            <p:cNvSpPr/>
            <p:nvPr/>
          </p:nvSpPr>
          <p:spPr>
            <a:xfrm>
              <a:off x="141641" y="761999"/>
              <a:ext cx="2017382" cy="11037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14:09</a:t>
              </a:r>
              <a:endParaRPr/>
            </a:p>
          </p:txBody>
        </p:sp>
        <p:sp>
          <p:nvSpPr>
            <p:cNvPr id="690" name="Google Shape;690;p26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1" name="Google Shape;691;p26"/>
          <p:cNvSpPr txBox="1"/>
          <p:nvPr/>
        </p:nvSpPr>
        <p:spPr>
          <a:xfrm>
            <a:off x="366930" y="3096233"/>
            <a:ext cx="61749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How many minutes does the 13:15 train from Randalstown take to get to Ballycastle?</a:t>
            </a:r>
            <a:endParaRPr/>
          </a:p>
        </p:txBody>
      </p:sp>
      <p:sp>
        <p:nvSpPr>
          <p:cNvPr id="692" name="Google Shape;692;p26"/>
          <p:cNvSpPr txBox="1"/>
          <p:nvPr/>
        </p:nvSpPr>
        <p:spPr>
          <a:xfrm>
            <a:off x="383276" y="3973054"/>
            <a:ext cx="6174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Jenny wants to visit Ballymena. She must arrive before 13:45, what time is the latest train she can use from Antrim?</a:t>
            </a:r>
            <a:endParaRPr/>
          </a:p>
        </p:txBody>
      </p:sp>
      <p:sp>
        <p:nvSpPr>
          <p:cNvPr id="693" name="Google Shape;693;p26"/>
          <p:cNvSpPr txBox="1"/>
          <p:nvPr/>
        </p:nvSpPr>
        <p:spPr>
          <a:xfrm>
            <a:off x="5274053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6"/>
          <p:cNvSpPr/>
          <p:nvPr/>
        </p:nvSpPr>
        <p:spPr>
          <a:xfrm>
            <a:off x="276225" y="639572"/>
            <a:ext cx="6305550" cy="4281908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6"/>
          <p:cNvSpPr txBox="1"/>
          <p:nvPr/>
        </p:nvSpPr>
        <p:spPr>
          <a:xfrm>
            <a:off x="195233" y="5195384"/>
            <a:ext cx="21452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part of a train timetable</a:t>
            </a:r>
            <a:endParaRPr/>
          </a:p>
        </p:txBody>
      </p:sp>
      <p:sp>
        <p:nvSpPr>
          <p:cNvPr id="696" name="Google Shape;696;p26"/>
          <p:cNvSpPr txBox="1"/>
          <p:nvPr/>
        </p:nvSpPr>
        <p:spPr>
          <a:xfrm>
            <a:off x="300275" y="6894260"/>
            <a:ext cx="61749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The train that leaves Ballymena at 16:31 arrives at what time at Ballycastle?</a:t>
            </a:r>
            <a:endParaRPr/>
          </a:p>
        </p:txBody>
      </p:sp>
      <p:sp>
        <p:nvSpPr>
          <p:cNvPr id="697" name="Google Shape;697;p26"/>
          <p:cNvSpPr txBox="1"/>
          <p:nvPr/>
        </p:nvSpPr>
        <p:spPr>
          <a:xfrm>
            <a:off x="321586" y="7704979"/>
            <a:ext cx="61749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How many minutes does the 16:00 train from Antrim take to get to Ballycastle?</a:t>
            </a:r>
            <a:endParaRPr/>
          </a:p>
        </p:txBody>
      </p:sp>
      <p:sp>
        <p:nvSpPr>
          <p:cNvPr id="698" name="Google Shape;698;p26"/>
          <p:cNvSpPr txBox="1"/>
          <p:nvPr/>
        </p:nvSpPr>
        <p:spPr>
          <a:xfrm>
            <a:off x="341523" y="8567704"/>
            <a:ext cx="6174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Jenny wants to visit Ballycastle. She must arrive before 13:45, what time is the latest train she can use from Antrim?</a:t>
            </a:r>
            <a:endParaRPr/>
          </a:p>
        </p:txBody>
      </p:sp>
      <p:sp>
        <p:nvSpPr>
          <p:cNvPr id="699" name="Google Shape;699;p26"/>
          <p:cNvSpPr txBox="1"/>
          <p:nvPr/>
        </p:nvSpPr>
        <p:spPr>
          <a:xfrm>
            <a:off x="193507" y="496444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32 – We do…</a:t>
            </a:r>
            <a:endParaRPr/>
          </a:p>
        </p:txBody>
      </p:sp>
      <p:sp>
        <p:nvSpPr>
          <p:cNvPr id="700" name="Google Shape;700;p26"/>
          <p:cNvSpPr/>
          <p:nvPr/>
        </p:nvSpPr>
        <p:spPr>
          <a:xfrm>
            <a:off x="276225" y="5218733"/>
            <a:ext cx="6305550" cy="4281908"/>
          </a:xfrm>
          <a:prstGeom prst="rect">
            <a:avLst/>
          </a:prstGeom>
          <a:noFill/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1" name="Google Shape;70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860" y="5444844"/>
            <a:ext cx="5149215" cy="1493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2" name="Google Shape;702;p26"/>
          <p:cNvGrpSpPr/>
          <p:nvPr/>
        </p:nvGrpSpPr>
        <p:grpSpPr>
          <a:xfrm>
            <a:off x="-216142" y="3366743"/>
            <a:ext cx="6646884" cy="473057"/>
            <a:chOff x="-109605" y="508048"/>
            <a:chExt cx="2268628" cy="1357732"/>
          </a:xfrm>
        </p:grpSpPr>
        <p:sp>
          <p:nvSpPr>
            <p:cNvPr id="703" name="Google Shape;703;p26"/>
            <p:cNvSpPr/>
            <p:nvPr/>
          </p:nvSpPr>
          <p:spPr>
            <a:xfrm>
              <a:off x="141641" y="761999"/>
              <a:ext cx="2017382" cy="11037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54 minutes</a:t>
              </a:r>
              <a:endParaRPr/>
            </a:p>
          </p:txBody>
        </p:sp>
        <p:sp>
          <p:nvSpPr>
            <p:cNvPr id="704" name="Google Shape;704;p26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5" name="Google Shape;705;p26"/>
          <p:cNvGrpSpPr/>
          <p:nvPr/>
        </p:nvGrpSpPr>
        <p:grpSpPr>
          <a:xfrm>
            <a:off x="-216142" y="4374826"/>
            <a:ext cx="6646884" cy="473057"/>
            <a:chOff x="-109605" y="508048"/>
            <a:chExt cx="2268628" cy="1357732"/>
          </a:xfrm>
        </p:grpSpPr>
        <p:sp>
          <p:nvSpPr>
            <p:cNvPr id="706" name="Google Shape;706;p26"/>
            <p:cNvSpPr/>
            <p:nvPr/>
          </p:nvSpPr>
          <p:spPr>
            <a:xfrm>
              <a:off x="141641" y="761999"/>
              <a:ext cx="2017382" cy="11037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13:00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26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8" name="Google Shape;708;p26"/>
          <p:cNvGrpSpPr/>
          <p:nvPr/>
        </p:nvGrpSpPr>
        <p:grpSpPr>
          <a:xfrm>
            <a:off x="-242059" y="7981978"/>
            <a:ext cx="6646884" cy="473057"/>
            <a:chOff x="-109605" y="508048"/>
            <a:chExt cx="2268628" cy="1357732"/>
          </a:xfrm>
        </p:grpSpPr>
        <p:sp>
          <p:nvSpPr>
            <p:cNvPr id="709" name="Google Shape;709;p26"/>
            <p:cNvSpPr/>
            <p:nvPr/>
          </p:nvSpPr>
          <p:spPr>
            <a:xfrm>
              <a:off x="141641" y="761999"/>
              <a:ext cx="2017382" cy="11037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 hour 9 minutes or 69 minutes</a:t>
              </a:r>
              <a:endParaRPr/>
            </a:p>
          </p:txBody>
        </p:sp>
        <p:sp>
          <p:nvSpPr>
            <p:cNvPr id="710" name="Google Shape;710;p26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1" name="Google Shape;711;p26"/>
          <p:cNvGrpSpPr/>
          <p:nvPr/>
        </p:nvGrpSpPr>
        <p:grpSpPr>
          <a:xfrm>
            <a:off x="-243929" y="7124316"/>
            <a:ext cx="6646884" cy="473057"/>
            <a:chOff x="-109605" y="508048"/>
            <a:chExt cx="2268628" cy="1357732"/>
          </a:xfrm>
        </p:grpSpPr>
        <p:sp>
          <p:nvSpPr>
            <p:cNvPr id="712" name="Google Shape;712;p26"/>
            <p:cNvSpPr/>
            <p:nvPr/>
          </p:nvSpPr>
          <p:spPr>
            <a:xfrm>
              <a:off x="141641" y="761999"/>
              <a:ext cx="2017382" cy="11037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17:09</a:t>
              </a:r>
              <a:endParaRPr/>
            </a:p>
          </p:txBody>
        </p:sp>
        <p:sp>
          <p:nvSpPr>
            <p:cNvPr id="713" name="Google Shape;713;p26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4" name="Google Shape;714;p26"/>
          <p:cNvGrpSpPr/>
          <p:nvPr/>
        </p:nvGrpSpPr>
        <p:grpSpPr>
          <a:xfrm>
            <a:off x="-243929" y="8920646"/>
            <a:ext cx="6646884" cy="473057"/>
            <a:chOff x="-109605" y="508048"/>
            <a:chExt cx="2268628" cy="1357732"/>
          </a:xfrm>
        </p:grpSpPr>
        <p:sp>
          <p:nvSpPr>
            <p:cNvPr id="715" name="Google Shape;715;p26"/>
            <p:cNvSpPr/>
            <p:nvPr/>
          </p:nvSpPr>
          <p:spPr>
            <a:xfrm>
              <a:off x="141641" y="761999"/>
              <a:ext cx="2017382" cy="11037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12:30</a:t>
              </a:r>
              <a:endParaRPr/>
            </a:p>
          </p:txBody>
        </p:sp>
        <p:sp>
          <p:nvSpPr>
            <p:cNvPr id="716" name="Google Shape;716;p26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7"/>
          <p:cNvSpPr txBox="1"/>
          <p:nvPr/>
        </p:nvSpPr>
        <p:spPr>
          <a:xfrm>
            <a:off x="220719" y="191868"/>
            <a:ext cx="21452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part of a train timetable</a:t>
            </a:r>
            <a:endParaRPr/>
          </a:p>
        </p:txBody>
      </p:sp>
      <p:sp>
        <p:nvSpPr>
          <p:cNvPr id="722" name="Google Shape;722;p27"/>
          <p:cNvSpPr txBox="1"/>
          <p:nvPr/>
        </p:nvSpPr>
        <p:spPr>
          <a:xfrm>
            <a:off x="327478" y="2114934"/>
            <a:ext cx="61749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The train that leaves Antrim at 14:00 arrives at what time at Ballycastle?</a:t>
            </a:r>
            <a:endParaRPr/>
          </a:p>
        </p:txBody>
      </p:sp>
      <p:sp>
        <p:nvSpPr>
          <p:cNvPr id="723" name="Google Shape;723;p27"/>
          <p:cNvSpPr txBox="1"/>
          <p:nvPr/>
        </p:nvSpPr>
        <p:spPr>
          <a:xfrm>
            <a:off x="341523" y="2848995"/>
            <a:ext cx="61749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How many minutes does the 13:15 train from Randalstown take to get to Ballymena?</a:t>
            </a:r>
            <a:endParaRPr/>
          </a:p>
        </p:txBody>
      </p:sp>
      <p:sp>
        <p:nvSpPr>
          <p:cNvPr id="724" name="Google Shape;724;p27"/>
          <p:cNvSpPr txBox="1"/>
          <p:nvPr/>
        </p:nvSpPr>
        <p:spPr>
          <a:xfrm>
            <a:off x="361787" y="3634546"/>
            <a:ext cx="6174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Jenny wants to visit Ballycastle. She must arrive before 16:45, what time is the latest train she can use from Antrim?</a:t>
            </a:r>
            <a:endParaRPr/>
          </a:p>
        </p:txBody>
      </p:sp>
      <p:sp>
        <p:nvSpPr>
          <p:cNvPr id="725" name="Google Shape;725;p27"/>
          <p:cNvSpPr txBox="1"/>
          <p:nvPr/>
        </p:nvSpPr>
        <p:spPr>
          <a:xfrm>
            <a:off x="220719" y="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33 – You do…</a:t>
            </a:r>
            <a:endParaRPr/>
          </a:p>
        </p:txBody>
      </p:sp>
      <p:sp>
        <p:nvSpPr>
          <p:cNvPr id="726" name="Google Shape;726;p27"/>
          <p:cNvSpPr txBox="1"/>
          <p:nvPr/>
        </p:nvSpPr>
        <p:spPr>
          <a:xfrm>
            <a:off x="5314950" y="94835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7"/>
          <p:cNvSpPr/>
          <p:nvPr/>
        </p:nvSpPr>
        <p:spPr>
          <a:xfrm>
            <a:off x="308881" y="240316"/>
            <a:ext cx="6305550" cy="4357094"/>
          </a:xfrm>
          <a:prstGeom prst="rect">
            <a:avLst/>
          </a:prstGeom>
          <a:noFill/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8" name="Google Shape;72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288" y="533395"/>
            <a:ext cx="5149215" cy="1493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9" name="Google Shape;729;p27"/>
          <p:cNvGrpSpPr/>
          <p:nvPr/>
        </p:nvGrpSpPr>
        <p:grpSpPr>
          <a:xfrm>
            <a:off x="-144452" y="2313517"/>
            <a:ext cx="6646884" cy="473057"/>
            <a:chOff x="-109605" y="508048"/>
            <a:chExt cx="2268628" cy="1357732"/>
          </a:xfrm>
        </p:grpSpPr>
        <p:sp>
          <p:nvSpPr>
            <p:cNvPr id="730" name="Google Shape;730;p27"/>
            <p:cNvSpPr/>
            <p:nvPr/>
          </p:nvSpPr>
          <p:spPr>
            <a:xfrm>
              <a:off x="141641" y="761999"/>
              <a:ext cx="2017382" cy="11037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15:09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27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2" name="Google Shape;732;p27"/>
          <p:cNvGrpSpPr/>
          <p:nvPr/>
        </p:nvGrpSpPr>
        <p:grpSpPr>
          <a:xfrm>
            <a:off x="-179459" y="3059170"/>
            <a:ext cx="6646884" cy="473057"/>
            <a:chOff x="-109605" y="508048"/>
            <a:chExt cx="2268628" cy="1357732"/>
          </a:xfrm>
        </p:grpSpPr>
        <p:sp>
          <p:nvSpPr>
            <p:cNvPr id="733" name="Google Shape;733;p27"/>
            <p:cNvSpPr/>
            <p:nvPr/>
          </p:nvSpPr>
          <p:spPr>
            <a:xfrm>
              <a:off x="141641" y="761999"/>
              <a:ext cx="2017382" cy="11037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16 minutes</a:t>
              </a:r>
              <a:endParaRPr/>
            </a:p>
          </p:txBody>
        </p:sp>
        <p:sp>
          <p:nvSpPr>
            <p:cNvPr id="734" name="Google Shape;734;p27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5" name="Google Shape;735;p27"/>
          <p:cNvGrpSpPr/>
          <p:nvPr/>
        </p:nvGrpSpPr>
        <p:grpSpPr>
          <a:xfrm>
            <a:off x="-175095" y="4000686"/>
            <a:ext cx="6646884" cy="473057"/>
            <a:chOff x="-109605" y="508048"/>
            <a:chExt cx="2268628" cy="1357732"/>
          </a:xfrm>
        </p:grpSpPr>
        <p:sp>
          <p:nvSpPr>
            <p:cNvPr id="736" name="Google Shape;736;p27"/>
            <p:cNvSpPr/>
            <p:nvPr/>
          </p:nvSpPr>
          <p:spPr>
            <a:xfrm>
              <a:off x="141641" y="761999"/>
              <a:ext cx="2017382" cy="11037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14:00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27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8" name="Google Shape;738;p27"/>
          <p:cNvSpPr/>
          <p:nvPr/>
        </p:nvSpPr>
        <p:spPr>
          <a:xfrm>
            <a:off x="304908" y="4731886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739" name="Google Shape;739;p27"/>
          <p:cNvSpPr txBox="1"/>
          <p:nvPr/>
        </p:nvSpPr>
        <p:spPr>
          <a:xfrm>
            <a:off x="1442862" y="4890489"/>
            <a:ext cx="27665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Interpret the information in the table </a:t>
            </a:r>
            <a:endParaRPr/>
          </a:p>
        </p:txBody>
      </p:sp>
      <p:pic>
        <p:nvPicPr>
          <p:cNvPr id="740" name="Google Shape;74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607" y="5288693"/>
            <a:ext cx="6342823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27"/>
          <p:cNvSpPr txBox="1"/>
          <p:nvPr/>
        </p:nvSpPr>
        <p:spPr>
          <a:xfrm>
            <a:off x="167640" y="5072544"/>
            <a:ext cx="218053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Here is part of a train timetable</a:t>
            </a:r>
            <a:endParaRPr/>
          </a:p>
        </p:txBody>
      </p:sp>
      <p:sp>
        <p:nvSpPr>
          <p:cNvPr id="742" name="Google Shape;742;p27"/>
          <p:cNvSpPr txBox="1"/>
          <p:nvPr/>
        </p:nvSpPr>
        <p:spPr>
          <a:xfrm>
            <a:off x="228106" y="6285292"/>
            <a:ext cx="40348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a)i) What time does the 0715 train from Leek arrive at Milton?</a:t>
            </a:r>
            <a:endParaRPr/>
          </a:p>
        </p:txBody>
      </p:sp>
      <p:grpSp>
        <p:nvGrpSpPr>
          <p:cNvPr id="743" name="Google Shape;743;p27"/>
          <p:cNvGrpSpPr/>
          <p:nvPr/>
        </p:nvGrpSpPr>
        <p:grpSpPr>
          <a:xfrm>
            <a:off x="-425123" y="6517607"/>
            <a:ext cx="6961864" cy="555237"/>
            <a:chOff x="-109605" y="508048"/>
            <a:chExt cx="2268628" cy="1732232"/>
          </a:xfrm>
        </p:grpSpPr>
        <p:sp>
          <p:nvSpPr>
            <p:cNvPr id="744" name="Google Shape;744;p27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0835</a:t>
              </a:r>
              <a:endParaRPr/>
            </a:p>
          </p:txBody>
        </p:sp>
        <p:sp>
          <p:nvSpPr>
            <p:cNvPr id="745" name="Google Shape;745;p27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6" name="Google Shape;746;p27"/>
          <p:cNvSpPr txBox="1"/>
          <p:nvPr/>
        </p:nvSpPr>
        <p:spPr>
          <a:xfrm>
            <a:off x="228106" y="8049353"/>
            <a:ext cx="51209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a)iii) How many minutes does the 0715 train from Leek take to arrive at Milton?</a:t>
            </a:r>
            <a:endParaRPr/>
          </a:p>
        </p:txBody>
      </p:sp>
      <p:grpSp>
        <p:nvGrpSpPr>
          <p:cNvPr id="747" name="Google Shape;747;p27"/>
          <p:cNvGrpSpPr/>
          <p:nvPr/>
        </p:nvGrpSpPr>
        <p:grpSpPr>
          <a:xfrm>
            <a:off x="-394643" y="8297762"/>
            <a:ext cx="6931384" cy="555237"/>
            <a:chOff x="-109605" y="508048"/>
            <a:chExt cx="2268628" cy="1732232"/>
          </a:xfrm>
        </p:grpSpPr>
        <p:sp>
          <p:nvSpPr>
            <p:cNvPr id="748" name="Google Shape;748;p27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80 minutes</a:t>
              </a:r>
              <a:endParaRPr/>
            </a:p>
          </p:txBody>
        </p:sp>
        <p:sp>
          <p:nvSpPr>
            <p:cNvPr id="749" name="Google Shape;749;p27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0" name="Google Shape;750;p27"/>
          <p:cNvSpPr txBox="1"/>
          <p:nvPr/>
        </p:nvSpPr>
        <p:spPr>
          <a:xfrm>
            <a:off x="213360" y="7163398"/>
            <a:ext cx="443147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a)ii) What time does the 0745 train from Southville arrive at Milton?</a:t>
            </a:r>
            <a:endParaRPr/>
          </a:p>
        </p:txBody>
      </p:sp>
      <p:grpSp>
        <p:nvGrpSpPr>
          <p:cNvPr id="751" name="Google Shape;751;p27"/>
          <p:cNvGrpSpPr/>
          <p:nvPr/>
        </p:nvGrpSpPr>
        <p:grpSpPr>
          <a:xfrm>
            <a:off x="-394643" y="7395825"/>
            <a:ext cx="6931384" cy="555237"/>
            <a:chOff x="-109605" y="508048"/>
            <a:chExt cx="2268628" cy="1732232"/>
          </a:xfrm>
        </p:grpSpPr>
        <p:sp>
          <p:nvSpPr>
            <p:cNvPr id="752" name="Google Shape;752;p27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0940</a:t>
              </a:r>
              <a:endParaRPr/>
            </a:p>
          </p:txBody>
        </p:sp>
        <p:sp>
          <p:nvSpPr>
            <p:cNvPr id="753" name="Google Shape;753;p27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4" name="Google Shape;754;p27"/>
          <p:cNvSpPr txBox="1"/>
          <p:nvPr/>
        </p:nvSpPr>
        <p:spPr>
          <a:xfrm>
            <a:off x="220719" y="8956948"/>
            <a:ext cx="54790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a)iv) How many minutes does the 0630 train from Southville take to arrive at Milton?</a:t>
            </a:r>
            <a:endParaRPr/>
          </a:p>
        </p:txBody>
      </p:sp>
      <p:grpSp>
        <p:nvGrpSpPr>
          <p:cNvPr id="755" name="Google Shape;755;p27"/>
          <p:cNvGrpSpPr/>
          <p:nvPr/>
        </p:nvGrpSpPr>
        <p:grpSpPr>
          <a:xfrm>
            <a:off x="-394643" y="9156454"/>
            <a:ext cx="6931384" cy="555237"/>
            <a:chOff x="-109605" y="508048"/>
            <a:chExt cx="2268628" cy="1732232"/>
          </a:xfrm>
        </p:grpSpPr>
        <p:sp>
          <p:nvSpPr>
            <p:cNvPr id="756" name="Google Shape;756;p27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114 minutes</a:t>
              </a:r>
              <a:endParaRPr/>
            </a:p>
          </p:txBody>
        </p:sp>
        <p:sp>
          <p:nvSpPr>
            <p:cNvPr id="757" name="Google Shape;757;p27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8"/>
          <p:cNvSpPr txBox="1"/>
          <p:nvPr/>
        </p:nvSpPr>
        <p:spPr>
          <a:xfrm>
            <a:off x="112114" y="130699"/>
            <a:ext cx="54202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a)v) Jenny wakes up at 6:15 and takes 20 minutes to get to the station at Southville.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She catches the next train to Leek. At what time does she arrive?</a:t>
            </a:r>
            <a:endParaRPr/>
          </a:p>
        </p:txBody>
      </p:sp>
      <p:grpSp>
        <p:nvGrpSpPr>
          <p:cNvPr id="763" name="Google Shape;763;p28"/>
          <p:cNvGrpSpPr/>
          <p:nvPr/>
        </p:nvGrpSpPr>
        <p:grpSpPr>
          <a:xfrm>
            <a:off x="-286930" y="524996"/>
            <a:ext cx="6646884" cy="555237"/>
            <a:chOff x="-109605" y="508048"/>
            <a:chExt cx="2268628" cy="1732232"/>
          </a:xfrm>
        </p:grpSpPr>
        <p:sp>
          <p:nvSpPr>
            <p:cNvPr id="764" name="Google Shape;764;p28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07:15</a:t>
              </a:r>
              <a:endParaRPr/>
            </a:p>
          </p:txBody>
        </p:sp>
        <p:sp>
          <p:nvSpPr>
            <p:cNvPr id="765" name="Google Shape;765;p28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6" name="Google Shape;766;p28"/>
          <p:cNvSpPr txBox="1"/>
          <p:nvPr/>
        </p:nvSpPr>
        <p:spPr>
          <a:xfrm>
            <a:off x="112114" y="1202469"/>
            <a:ext cx="67458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a)vi) John wants the shortest journey time from Southville to Leek. What time should he get on the train?</a:t>
            </a:r>
            <a:endParaRPr/>
          </a:p>
        </p:txBody>
      </p:sp>
      <p:grpSp>
        <p:nvGrpSpPr>
          <p:cNvPr id="767" name="Google Shape;767;p28"/>
          <p:cNvGrpSpPr/>
          <p:nvPr/>
        </p:nvGrpSpPr>
        <p:grpSpPr>
          <a:xfrm>
            <a:off x="-286930" y="1479468"/>
            <a:ext cx="6646884" cy="555237"/>
            <a:chOff x="-109605" y="508048"/>
            <a:chExt cx="2268628" cy="1732232"/>
          </a:xfrm>
        </p:grpSpPr>
        <p:sp>
          <p:nvSpPr>
            <p:cNvPr id="768" name="Google Shape;768;p28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06:50 or 07:45</a:t>
              </a:r>
              <a:endParaRPr/>
            </a:p>
          </p:txBody>
        </p:sp>
        <p:sp>
          <p:nvSpPr>
            <p:cNvPr id="769" name="Google Shape;769;p28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0" name="Google Shape;770;p28"/>
          <p:cNvSpPr txBox="1"/>
          <p:nvPr/>
        </p:nvSpPr>
        <p:spPr>
          <a:xfrm>
            <a:off x="140455" y="2156941"/>
            <a:ext cx="67175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a)vii) Ali wants the longest journey time from Southville to Milton. What time should he get on the train?</a:t>
            </a:r>
            <a:endParaRPr/>
          </a:p>
        </p:txBody>
      </p:sp>
      <p:grpSp>
        <p:nvGrpSpPr>
          <p:cNvPr id="771" name="Google Shape;771;p28"/>
          <p:cNvGrpSpPr/>
          <p:nvPr/>
        </p:nvGrpSpPr>
        <p:grpSpPr>
          <a:xfrm>
            <a:off x="-286930" y="2462053"/>
            <a:ext cx="6646884" cy="555237"/>
            <a:chOff x="-109605" y="508048"/>
            <a:chExt cx="2268628" cy="1732232"/>
          </a:xfrm>
        </p:grpSpPr>
        <p:sp>
          <p:nvSpPr>
            <p:cNvPr id="772" name="Google Shape;772;p28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07:20</a:t>
              </a:r>
              <a:endParaRPr/>
            </a:p>
          </p:txBody>
        </p:sp>
        <p:sp>
          <p:nvSpPr>
            <p:cNvPr id="773" name="Google Shape;773;p28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4" name="Google Shape;774;p28"/>
          <p:cNvSpPr txBox="1"/>
          <p:nvPr/>
        </p:nvSpPr>
        <p:spPr>
          <a:xfrm>
            <a:off x="5234264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8"/>
          <p:cNvSpPr/>
          <p:nvPr/>
        </p:nvSpPr>
        <p:spPr>
          <a:xfrm>
            <a:off x="140455" y="3199605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776" name="Google Shape;776;p28"/>
          <p:cNvSpPr txBox="1"/>
          <p:nvPr/>
        </p:nvSpPr>
        <p:spPr>
          <a:xfrm>
            <a:off x="49641" y="3730236"/>
            <a:ext cx="49755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The timetable shows the times of trains (GMT) between London and Paris </a:t>
            </a:r>
            <a:endParaRPr/>
          </a:p>
        </p:txBody>
      </p:sp>
      <p:pic>
        <p:nvPicPr>
          <p:cNvPr id="777" name="Google Shape;7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48" y="4188823"/>
            <a:ext cx="6219825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28"/>
          <p:cNvSpPr txBox="1"/>
          <p:nvPr/>
        </p:nvSpPr>
        <p:spPr>
          <a:xfrm>
            <a:off x="5106464" y="3149768"/>
            <a:ext cx="1543050" cy="10156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GMT = Greenwich mean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(no need for time zone calculations)</a:t>
            </a:r>
            <a:endParaRPr/>
          </a:p>
        </p:txBody>
      </p:sp>
      <p:sp>
        <p:nvSpPr>
          <p:cNvPr id="779" name="Google Shape;779;p28"/>
          <p:cNvSpPr txBox="1"/>
          <p:nvPr/>
        </p:nvSpPr>
        <p:spPr>
          <a:xfrm>
            <a:off x="87082" y="5882168"/>
            <a:ext cx="41436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b)i) What time does the 0519 train from London arrive at Paris?</a:t>
            </a:r>
            <a:endParaRPr/>
          </a:p>
        </p:txBody>
      </p:sp>
      <p:grpSp>
        <p:nvGrpSpPr>
          <p:cNvPr id="780" name="Google Shape;780;p28"/>
          <p:cNvGrpSpPr/>
          <p:nvPr/>
        </p:nvGrpSpPr>
        <p:grpSpPr>
          <a:xfrm>
            <a:off x="-475916" y="6121364"/>
            <a:ext cx="6835869" cy="555237"/>
            <a:chOff x="-109605" y="508048"/>
            <a:chExt cx="2268628" cy="1732232"/>
          </a:xfrm>
        </p:grpSpPr>
        <p:sp>
          <p:nvSpPr>
            <p:cNvPr id="781" name="Google Shape;781;p28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08:09</a:t>
              </a:r>
              <a:endParaRPr/>
            </a:p>
          </p:txBody>
        </p:sp>
        <p:sp>
          <p:nvSpPr>
            <p:cNvPr id="782" name="Google Shape;782;p28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3" name="Google Shape;783;p28"/>
          <p:cNvSpPr txBox="1"/>
          <p:nvPr/>
        </p:nvSpPr>
        <p:spPr>
          <a:xfrm>
            <a:off x="87082" y="6888294"/>
            <a:ext cx="41789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b)ii) What time does the 1528 train from Paris arrive at London?</a:t>
            </a:r>
            <a:endParaRPr/>
          </a:p>
        </p:txBody>
      </p:sp>
      <p:grpSp>
        <p:nvGrpSpPr>
          <p:cNvPr id="784" name="Google Shape;784;p28"/>
          <p:cNvGrpSpPr/>
          <p:nvPr/>
        </p:nvGrpSpPr>
        <p:grpSpPr>
          <a:xfrm>
            <a:off x="-475915" y="7140436"/>
            <a:ext cx="6835868" cy="555237"/>
            <a:chOff x="-109605" y="508048"/>
            <a:chExt cx="2268628" cy="1732232"/>
          </a:xfrm>
        </p:grpSpPr>
        <p:sp>
          <p:nvSpPr>
            <p:cNvPr id="785" name="Google Shape;785;p28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18:18</a:t>
              </a:r>
              <a:endParaRPr/>
            </a:p>
          </p:txBody>
        </p:sp>
        <p:sp>
          <p:nvSpPr>
            <p:cNvPr id="786" name="Google Shape;786;p28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7" name="Google Shape;787;p28"/>
          <p:cNvSpPr txBox="1"/>
          <p:nvPr/>
        </p:nvSpPr>
        <p:spPr>
          <a:xfrm>
            <a:off x="68371" y="7788436"/>
            <a:ext cx="41432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b)iii) The train departing at 1440 is heading towards which city?</a:t>
            </a:r>
            <a:endParaRPr/>
          </a:p>
        </p:txBody>
      </p:sp>
      <p:grpSp>
        <p:nvGrpSpPr>
          <p:cNvPr id="788" name="Google Shape;788;p28"/>
          <p:cNvGrpSpPr/>
          <p:nvPr/>
        </p:nvGrpSpPr>
        <p:grpSpPr>
          <a:xfrm>
            <a:off x="-475917" y="8022641"/>
            <a:ext cx="6835869" cy="555237"/>
            <a:chOff x="-109605" y="508048"/>
            <a:chExt cx="2268628" cy="1732232"/>
          </a:xfrm>
        </p:grpSpPr>
        <p:sp>
          <p:nvSpPr>
            <p:cNvPr id="789" name="Google Shape;789;p28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London</a:t>
              </a:r>
              <a:endParaRPr/>
            </a:p>
          </p:txBody>
        </p:sp>
        <p:sp>
          <p:nvSpPr>
            <p:cNvPr id="790" name="Google Shape;790;p28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1" name="Google Shape;791;p28"/>
          <p:cNvSpPr txBox="1"/>
          <p:nvPr/>
        </p:nvSpPr>
        <p:spPr>
          <a:xfrm>
            <a:off x="115039" y="8884322"/>
            <a:ext cx="50735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b)iv) How many minutes does the 0421 train from London take to get to Paris?</a:t>
            </a:r>
            <a:endParaRPr/>
          </a:p>
        </p:txBody>
      </p:sp>
      <p:grpSp>
        <p:nvGrpSpPr>
          <p:cNvPr id="792" name="Google Shape;792;p28"/>
          <p:cNvGrpSpPr/>
          <p:nvPr/>
        </p:nvGrpSpPr>
        <p:grpSpPr>
          <a:xfrm>
            <a:off x="-475917" y="9077177"/>
            <a:ext cx="6862689" cy="555237"/>
            <a:chOff x="-109605" y="508048"/>
            <a:chExt cx="2268628" cy="1732232"/>
          </a:xfrm>
        </p:grpSpPr>
        <p:sp>
          <p:nvSpPr>
            <p:cNvPr id="793" name="Google Shape;793;p28"/>
            <p:cNvSpPr/>
            <p:nvPr/>
          </p:nvSpPr>
          <p:spPr>
            <a:xfrm>
              <a:off x="141641" y="762000"/>
              <a:ext cx="2017382" cy="1478280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170 minutes</a:t>
              </a:r>
              <a:endParaRPr/>
            </a:p>
          </p:txBody>
        </p:sp>
        <p:sp>
          <p:nvSpPr>
            <p:cNvPr id="794" name="Google Shape;794;p28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oogle Shape;799;p29"/>
          <p:cNvGrpSpPr/>
          <p:nvPr/>
        </p:nvGrpSpPr>
        <p:grpSpPr>
          <a:xfrm>
            <a:off x="267372" y="3441483"/>
            <a:ext cx="6079434" cy="6039761"/>
            <a:chOff x="404846" y="3633230"/>
            <a:chExt cx="6079434" cy="6039761"/>
          </a:xfrm>
        </p:grpSpPr>
        <p:pic>
          <p:nvPicPr>
            <p:cNvPr id="800" name="Google Shape;800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4846" y="4279324"/>
              <a:ext cx="6048307" cy="53936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1" name="Google Shape;801;p29"/>
            <p:cNvSpPr/>
            <p:nvPr/>
          </p:nvSpPr>
          <p:spPr>
            <a:xfrm>
              <a:off x="426720" y="3633230"/>
              <a:ext cx="6057560" cy="290789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2" name="Google Shape;802;p29"/>
          <p:cNvSpPr txBox="1"/>
          <p:nvPr/>
        </p:nvSpPr>
        <p:spPr>
          <a:xfrm>
            <a:off x="128591" y="71146"/>
            <a:ext cx="63569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b)v) Gemma wakes up at 6:15 and takes 20 minutes to get to the station at London.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She catches the next train to Paris. She spends exactly 6 hours in Paris. Is she able to catch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1528 train back to London?</a:t>
            </a:r>
            <a:endParaRPr/>
          </a:p>
        </p:txBody>
      </p:sp>
      <p:grpSp>
        <p:nvGrpSpPr>
          <p:cNvPr id="803" name="Google Shape;803;p29"/>
          <p:cNvGrpSpPr/>
          <p:nvPr/>
        </p:nvGrpSpPr>
        <p:grpSpPr>
          <a:xfrm>
            <a:off x="-453116" y="617268"/>
            <a:ext cx="7121470" cy="646331"/>
            <a:chOff x="-109605" y="508048"/>
            <a:chExt cx="2268628" cy="1732232"/>
          </a:xfrm>
        </p:grpSpPr>
        <p:sp>
          <p:nvSpPr>
            <p:cNvPr id="804" name="Google Shape;804;p29"/>
            <p:cNvSpPr/>
            <p:nvPr/>
          </p:nvSpPr>
          <p:spPr>
            <a:xfrm>
              <a:off x="99743" y="762001"/>
              <a:ext cx="2059280" cy="1478279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/>
            </a:p>
          </p:txBody>
        </p:sp>
        <p:sp>
          <p:nvSpPr>
            <p:cNvPr id="805" name="Google Shape;805;p29"/>
            <p:cNvSpPr txBox="1"/>
            <p:nvPr/>
          </p:nvSpPr>
          <p:spPr>
            <a:xfrm>
              <a:off x="-109605" y="508048"/>
              <a:ext cx="63050" cy="1028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6" name="Google Shape;806;p29"/>
          <p:cNvSpPr txBox="1"/>
          <p:nvPr/>
        </p:nvSpPr>
        <p:spPr>
          <a:xfrm>
            <a:off x="5125304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7" name="Google Shape;807;p29"/>
          <p:cNvGrpSpPr/>
          <p:nvPr/>
        </p:nvGrpSpPr>
        <p:grpSpPr>
          <a:xfrm>
            <a:off x="-453117" y="1573620"/>
            <a:ext cx="7121471" cy="807530"/>
            <a:chOff x="-109605" y="508048"/>
            <a:chExt cx="2435240" cy="1776693"/>
          </a:xfrm>
        </p:grpSpPr>
        <p:sp>
          <p:nvSpPr>
            <p:cNvPr id="808" name="Google Shape;808;p29"/>
            <p:cNvSpPr/>
            <p:nvPr/>
          </p:nvSpPr>
          <p:spPr>
            <a:xfrm>
              <a:off x="115118" y="806460"/>
              <a:ext cx="2210517" cy="147828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time taken for the 0519 train to Paris                                 The </a:t>
              </a:r>
              <a:r>
                <a:rPr lang="en-GB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time taken for the </a:t>
              </a:r>
              <a:r>
                <a:rPr b="0" i="0" lang="en-GB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1700 train back to             								London?</a:t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29"/>
            <p:cNvSpPr txBox="1"/>
            <p:nvPr/>
          </p:nvSpPr>
          <p:spPr>
            <a:xfrm>
              <a:off x="-109605" y="508048"/>
              <a:ext cx="1847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0" name="Google Shape;810;p29"/>
          <p:cNvSpPr/>
          <p:nvPr/>
        </p:nvSpPr>
        <p:spPr>
          <a:xfrm>
            <a:off x="3238390" y="1809225"/>
            <a:ext cx="541246" cy="471953"/>
          </a:xfrm>
          <a:prstGeom prst="ellipse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9"/>
          <p:cNvSpPr txBox="1"/>
          <p:nvPr/>
        </p:nvSpPr>
        <p:spPr>
          <a:xfrm>
            <a:off x="128591" y="1368154"/>
            <a:ext cx="50927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b)vi) Insert the correct symbol, &lt;, &gt; or =, to make the following statement true:</a:t>
            </a:r>
            <a:endParaRPr/>
          </a:p>
        </p:txBody>
      </p:sp>
      <p:pic>
        <p:nvPicPr>
          <p:cNvPr id="812" name="Google Shape;812;p29"/>
          <p:cNvPicPr preferRelativeResize="0"/>
          <p:nvPr/>
        </p:nvPicPr>
        <p:blipFill rotWithShape="1">
          <a:blip r:embed="rId4">
            <a:alphaModFix/>
          </a:blip>
          <a:srcRect b="0" l="0" r="0" t="23462"/>
          <a:stretch/>
        </p:blipFill>
        <p:spPr>
          <a:xfrm>
            <a:off x="81886" y="3234482"/>
            <a:ext cx="6696844" cy="3172458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29"/>
          <p:cNvSpPr txBox="1"/>
          <p:nvPr/>
        </p:nvSpPr>
        <p:spPr>
          <a:xfrm>
            <a:off x="121930" y="2588151"/>
            <a:ext cx="669684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In this timetable, all the trains stop at every stations and the times taken between stations do not change.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Fill in the missing information</a:t>
            </a:r>
            <a:endParaRPr/>
          </a:p>
        </p:txBody>
      </p:sp>
      <p:sp>
        <p:nvSpPr>
          <p:cNvPr id="814" name="Google Shape;814;p29"/>
          <p:cNvSpPr txBox="1"/>
          <p:nvPr/>
        </p:nvSpPr>
        <p:spPr>
          <a:xfrm>
            <a:off x="3371865" y="1849034"/>
            <a:ext cx="36736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5" name="Google Shape;815;p29"/>
          <p:cNvGrpSpPr/>
          <p:nvPr/>
        </p:nvGrpSpPr>
        <p:grpSpPr>
          <a:xfrm>
            <a:off x="2323332" y="3990698"/>
            <a:ext cx="3992347" cy="2126544"/>
            <a:chOff x="2249714" y="1890089"/>
            <a:chExt cx="3992347" cy="2126544"/>
          </a:xfrm>
        </p:grpSpPr>
        <p:sp>
          <p:nvSpPr>
            <p:cNvPr id="816" name="Google Shape;816;p29"/>
            <p:cNvSpPr txBox="1"/>
            <p:nvPr/>
          </p:nvSpPr>
          <p:spPr>
            <a:xfrm>
              <a:off x="2249714" y="2327533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08:52</a:t>
              </a:r>
              <a:endParaRPr/>
            </a:p>
          </p:txBody>
        </p:sp>
        <p:sp>
          <p:nvSpPr>
            <p:cNvPr id="817" name="Google Shape;817;p29"/>
            <p:cNvSpPr txBox="1"/>
            <p:nvPr/>
          </p:nvSpPr>
          <p:spPr>
            <a:xfrm>
              <a:off x="4303486" y="2327533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13:32</a:t>
              </a:r>
              <a:endParaRPr/>
            </a:p>
          </p:txBody>
        </p:sp>
        <p:sp>
          <p:nvSpPr>
            <p:cNvPr id="818" name="Google Shape;818;p29"/>
            <p:cNvSpPr txBox="1"/>
            <p:nvPr/>
          </p:nvSpPr>
          <p:spPr>
            <a:xfrm>
              <a:off x="2249714" y="2778660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09:07</a:t>
              </a:r>
              <a:endParaRPr/>
            </a:p>
          </p:txBody>
        </p:sp>
        <p:sp>
          <p:nvSpPr>
            <p:cNvPr id="819" name="Google Shape;819;p29"/>
            <p:cNvSpPr txBox="1"/>
            <p:nvPr/>
          </p:nvSpPr>
          <p:spPr>
            <a:xfrm>
              <a:off x="2249714" y="3250863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09:21</a:t>
              </a:r>
              <a:endParaRPr/>
            </a:p>
          </p:txBody>
        </p:sp>
        <p:sp>
          <p:nvSpPr>
            <p:cNvPr id="820" name="Google Shape;820;p29"/>
            <p:cNvSpPr txBox="1"/>
            <p:nvPr/>
          </p:nvSpPr>
          <p:spPr>
            <a:xfrm>
              <a:off x="3348422" y="3626556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12:27</a:t>
              </a:r>
              <a:endParaRPr/>
            </a:p>
          </p:txBody>
        </p:sp>
        <p:sp>
          <p:nvSpPr>
            <p:cNvPr id="821" name="Google Shape;821;p29"/>
            <p:cNvSpPr txBox="1"/>
            <p:nvPr/>
          </p:nvSpPr>
          <p:spPr>
            <a:xfrm>
              <a:off x="4299108" y="3647301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13:37</a:t>
              </a:r>
              <a:endParaRPr/>
            </a:p>
          </p:txBody>
        </p:sp>
        <p:sp>
          <p:nvSpPr>
            <p:cNvPr id="822" name="Google Shape;822;p29"/>
            <p:cNvSpPr txBox="1"/>
            <p:nvPr/>
          </p:nvSpPr>
          <p:spPr>
            <a:xfrm>
              <a:off x="3320084" y="2778660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11:37</a:t>
              </a:r>
              <a:endParaRPr/>
            </a:p>
          </p:txBody>
        </p:sp>
        <p:sp>
          <p:nvSpPr>
            <p:cNvPr id="823" name="Google Shape;823;p29"/>
            <p:cNvSpPr txBox="1"/>
            <p:nvPr/>
          </p:nvSpPr>
          <p:spPr>
            <a:xfrm>
              <a:off x="3320084" y="3257555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11:51</a:t>
              </a:r>
              <a:endParaRPr/>
            </a:p>
          </p:txBody>
        </p:sp>
        <p:sp>
          <p:nvSpPr>
            <p:cNvPr id="824" name="Google Shape;824;p29"/>
            <p:cNvSpPr txBox="1"/>
            <p:nvPr/>
          </p:nvSpPr>
          <p:spPr>
            <a:xfrm>
              <a:off x="5359341" y="1890089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14:36</a:t>
              </a:r>
              <a:endParaRPr/>
            </a:p>
          </p:txBody>
        </p:sp>
        <p:sp>
          <p:nvSpPr>
            <p:cNvPr id="825" name="Google Shape;825;p29"/>
            <p:cNvSpPr txBox="1"/>
            <p:nvPr/>
          </p:nvSpPr>
          <p:spPr>
            <a:xfrm>
              <a:off x="5396663" y="2331210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14:58</a:t>
              </a:r>
              <a:endParaRPr/>
            </a:p>
          </p:txBody>
        </p:sp>
        <p:sp>
          <p:nvSpPr>
            <p:cNvPr id="826" name="Google Shape;826;p29"/>
            <p:cNvSpPr txBox="1"/>
            <p:nvPr/>
          </p:nvSpPr>
          <p:spPr>
            <a:xfrm>
              <a:off x="5429261" y="2831496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15:13</a:t>
              </a:r>
              <a:endParaRPr/>
            </a:p>
          </p:txBody>
        </p:sp>
        <p:sp>
          <p:nvSpPr>
            <p:cNvPr id="827" name="Google Shape;827;p29"/>
            <p:cNvSpPr txBox="1"/>
            <p:nvPr/>
          </p:nvSpPr>
          <p:spPr>
            <a:xfrm>
              <a:off x="5429261" y="3241792"/>
              <a:ext cx="812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15:27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