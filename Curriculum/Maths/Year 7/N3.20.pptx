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y="9906000" cx="6858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41592E97-0B86-4675-BA24-A8669EC297F8}">
  <a:tblStyle styleId="{41592E97-0B86-4675-BA24-A8669EC297F8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9EFF7"/>
          </a:solidFill>
        </a:fill>
      </a:tcStyle>
    </a:wholeTbl>
    <a:band1H>
      <a:tcTxStyle/>
      <a:tcStyle>
        <a:fill>
          <a:solidFill>
            <a:srgbClr val="D0DEEF"/>
          </a:solidFill>
        </a:fill>
      </a:tcStyle>
    </a:band1H>
    <a:band2H>
      <a:tcTxStyle/>
    </a:band2H>
    <a:band1V>
      <a:tcTxStyle/>
      <a:tcStyle>
        <a:fill>
          <a:solidFill>
            <a:srgbClr val="D0DEEF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2" Type="http://schemas.openxmlformats.org/officeDocument/2006/relationships/slide" Target="slides/slide7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2360613" y="1143000"/>
            <a:ext cx="2136775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GB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8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80:notes"/>
          <p:cNvSpPr/>
          <p:nvPr>
            <p:ph idx="2" type="sldImg"/>
          </p:nvPr>
        </p:nvSpPr>
        <p:spPr>
          <a:xfrm>
            <a:off x="2360613" y="1143000"/>
            <a:ext cx="2136775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81:notes"/>
          <p:cNvSpPr/>
          <p:nvPr>
            <p:ph idx="2" type="sldImg"/>
          </p:nvPr>
        </p:nvSpPr>
        <p:spPr>
          <a:xfrm>
            <a:off x="2360613" y="1143000"/>
            <a:ext cx="2136775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7" name="Google Shape;127;p8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8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8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82:notes"/>
          <p:cNvSpPr/>
          <p:nvPr>
            <p:ph idx="2" type="sldImg"/>
          </p:nvPr>
        </p:nvSpPr>
        <p:spPr>
          <a:xfrm>
            <a:off x="2360613" y="1143000"/>
            <a:ext cx="2136775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8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p83:notes"/>
          <p:cNvSpPr/>
          <p:nvPr>
            <p:ph idx="2" type="sldImg"/>
          </p:nvPr>
        </p:nvSpPr>
        <p:spPr>
          <a:xfrm>
            <a:off x="2360613" y="1143000"/>
            <a:ext cx="2136775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8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" name="Google Shape;246;p84:notes"/>
          <p:cNvSpPr/>
          <p:nvPr>
            <p:ph idx="2" type="sldImg"/>
          </p:nvPr>
        </p:nvSpPr>
        <p:spPr>
          <a:xfrm>
            <a:off x="2360613" y="1143000"/>
            <a:ext cx="2136775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8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1" name="Google Shape;281;p85:notes"/>
          <p:cNvSpPr/>
          <p:nvPr>
            <p:ph idx="2" type="sldImg"/>
          </p:nvPr>
        </p:nvSpPr>
        <p:spPr>
          <a:xfrm>
            <a:off x="2360613" y="1143000"/>
            <a:ext cx="2136775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8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8" name="Google Shape;308;p86:notes"/>
          <p:cNvSpPr/>
          <p:nvPr>
            <p:ph idx="2" type="sldImg"/>
          </p:nvPr>
        </p:nvSpPr>
        <p:spPr>
          <a:xfrm>
            <a:off x="2360613" y="1143000"/>
            <a:ext cx="2136775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2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3"/>
          <p:cNvSpPr txBox="1"/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idx="1" type="body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4"/>
          <p:cNvSpPr txBox="1"/>
          <p:nvPr>
            <p:ph type="ctrTitle"/>
          </p:nvPr>
        </p:nvSpPr>
        <p:spPr>
          <a:xfrm>
            <a:off x="514350" y="1621191"/>
            <a:ext cx="5829300" cy="344875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4"/>
          <p:cNvSpPr txBox="1"/>
          <p:nvPr>
            <p:ph idx="1" type="subTitle"/>
          </p:nvPr>
        </p:nvSpPr>
        <p:spPr>
          <a:xfrm>
            <a:off x="857250" y="5202944"/>
            <a:ext cx="5143500" cy="23916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/>
            </a:lvl3pPr>
            <a:lvl4pPr lvl="3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28" name="Google Shape;28;p4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4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4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 txBox="1"/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5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5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5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6"/>
          <p:cNvSpPr txBox="1"/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" type="body"/>
          </p:nvPr>
        </p:nvSpPr>
        <p:spPr>
          <a:xfrm>
            <a:off x="471488" y="2637014"/>
            <a:ext cx="2914650" cy="62852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2" type="body"/>
          </p:nvPr>
        </p:nvSpPr>
        <p:spPr>
          <a:xfrm>
            <a:off x="3471863" y="2637014"/>
            <a:ext cx="2914650" cy="62852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6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6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6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7"/>
          <p:cNvSpPr txBox="1"/>
          <p:nvPr>
            <p:ph type="title"/>
          </p:nvPr>
        </p:nvSpPr>
        <p:spPr>
          <a:xfrm>
            <a:off x="467916" y="2469624"/>
            <a:ext cx="5915025" cy="412062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7"/>
          <p:cNvSpPr txBox="1"/>
          <p:nvPr>
            <p:ph idx="1" type="body"/>
          </p:nvPr>
        </p:nvSpPr>
        <p:spPr>
          <a:xfrm>
            <a:off x="467916" y="6629226"/>
            <a:ext cx="5915025" cy="21669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350"/>
              <a:buNone/>
              <a:defRPr sz="135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72381" y="527405"/>
            <a:ext cx="5915025" cy="19147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" type="body"/>
          </p:nvPr>
        </p:nvSpPr>
        <p:spPr>
          <a:xfrm>
            <a:off x="472381" y="2428347"/>
            <a:ext cx="2901255" cy="119009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b="1" sz="1350"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52" name="Google Shape;52;p8"/>
          <p:cNvSpPr txBox="1"/>
          <p:nvPr>
            <p:ph idx="2" type="body"/>
          </p:nvPr>
        </p:nvSpPr>
        <p:spPr>
          <a:xfrm>
            <a:off x="472381" y="3618442"/>
            <a:ext cx="2901255" cy="53221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3" type="body"/>
          </p:nvPr>
        </p:nvSpPr>
        <p:spPr>
          <a:xfrm>
            <a:off x="3471863" y="2428347"/>
            <a:ext cx="2915543" cy="119009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b="1" sz="1350"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54" name="Google Shape;54;p8"/>
          <p:cNvSpPr txBox="1"/>
          <p:nvPr>
            <p:ph idx="4" type="body"/>
          </p:nvPr>
        </p:nvSpPr>
        <p:spPr>
          <a:xfrm>
            <a:off x="3471863" y="3618442"/>
            <a:ext cx="2915543" cy="53221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5" name="Google Shape;55;p8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8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8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9"/>
          <p:cNvSpPr txBox="1"/>
          <p:nvPr>
            <p:ph type="title"/>
          </p:nvPr>
        </p:nvSpPr>
        <p:spPr>
          <a:xfrm>
            <a:off x="472381" y="660400"/>
            <a:ext cx="2211884" cy="2311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" type="body"/>
          </p:nvPr>
        </p:nvSpPr>
        <p:spPr>
          <a:xfrm>
            <a:off x="2915543" y="1426283"/>
            <a:ext cx="3471863" cy="70396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6195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2385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indent="-32385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indent="-32385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61" name="Google Shape;61;p9"/>
          <p:cNvSpPr txBox="1"/>
          <p:nvPr>
            <p:ph idx="2" type="body"/>
          </p:nvPr>
        </p:nvSpPr>
        <p:spPr>
          <a:xfrm>
            <a:off x="472381" y="2971800"/>
            <a:ext cx="2211884" cy="550562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/>
        </p:txBody>
      </p:sp>
      <p:sp>
        <p:nvSpPr>
          <p:cNvPr id="62" name="Google Shape;62;p9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9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9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0"/>
          <p:cNvSpPr txBox="1"/>
          <p:nvPr>
            <p:ph type="title"/>
          </p:nvPr>
        </p:nvSpPr>
        <p:spPr>
          <a:xfrm>
            <a:off x="472381" y="660400"/>
            <a:ext cx="2211884" cy="2311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/>
          <p:nvPr>
            <p:ph idx="2" type="pic"/>
          </p:nvPr>
        </p:nvSpPr>
        <p:spPr>
          <a:xfrm>
            <a:off x="2915543" y="1426283"/>
            <a:ext cx="3471863" cy="7039681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0"/>
          <p:cNvSpPr txBox="1"/>
          <p:nvPr>
            <p:ph idx="1" type="body"/>
          </p:nvPr>
        </p:nvSpPr>
        <p:spPr>
          <a:xfrm>
            <a:off x="472381" y="2971800"/>
            <a:ext cx="2211884" cy="550562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/>
        </p:txBody>
      </p:sp>
      <p:sp>
        <p:nvSpPr>
          <p:cNvPr id="69" name="Google Shape;69;p10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0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10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1"/>
          <p:cNvSpPr txBox="1"/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11"/>
          <p:cNvSpPr txBox="1"/>
          <p:nvPr>
            <p:ph idx="1" type="body"/>
          </p:nvPr>
        </p:nvSpPr>
        <p:spPr>
          <a:xfrm rot="5400000">
            <a:off x="286367" y="2822135"/>
            <a:ext cx="6285266" cy="59150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11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1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1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2"/>
          <p:cNvSpPr txBox="1"/>
          <p:nvPr>
            <p:ph type="title"/>
          </p:nvPr>
        </p:nvSpPr>
        <p:spPr>
          <a:xfrm rot="5400000">
            <a:off x="1449696" y="3985464"/>
            <a:ext cx="8394877" cy="14787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12"/>
          <p:cNvSpPr txBox="1"/>
          <p:nvPr>
            <p:ph idx="1" type="body"/>
          </p:nvPr>
        </p:nvSpPr>
        <p:spPr>
          <a:xfrm rot="5400000">
            <a:off x="-1550679" y="2549570"/>
            <a:ext cx="8394877" cy="43505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12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12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12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"/>
          <p:cNvSpPr txBox="1"/>
          <p:nvPr>
            <p:ph idx="1" type="body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6195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1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1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1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10.png"/><Relationship Id="rId5" Type="http://schemas.openxmlformats.org/officeDocument/2006/relationships/image" Target="../media/image27.png"/><Relationship Id="rId6" Type="http://schemas.openxmlformats.org/officeDocument/2006/relationships/image" Target="../media/image42.png"/><Relationship Id="rId7" Type="http://schemas.openxmlformats.org/officeDocument/2006/relationships/image" Target="../media/image4.png"/><Relationship Id="rId8" Type="http://schemas.openxmlformats.org/officeDocument/2006/relationships/image" Target="../media/image32.png"/></Relationships>
</file>

<file path=ppt/slides/_rels/slide2.xml.rels><?xml version="1.0" encoding="UTF-8" standalone="yes"?><Relationships xmlns="http://schemas.openxmlformats.org/package/2006/relationships"><Relationship Id="rId20" Type="http://schemas.openxmlformats.org/officeDocument/2006/relationships/image" Target="../media/image45.png"/><Relationship Id="rId22" Type="http://schemas.openxmlformats.org/officeDocument/2006/relationships/image" Target="../media/image14.png"/><Relationship Id="rId21" Type="http://schemas.openxmlformats.org/officeDocument/2006/relationships/image" Target="../media/image18.png"/><Relationship Id="rId24" Type="http://schemas.openxmlformats.org/officeDocument/2006/relationships/image" Target="../media/image15.png"/><Relationship Id="rId23" Type="http://schemas.openxmlformats.org/officeDocument/2006/relationships/image" Target="../media/image16.png"/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8.png"/><Relationship Id="rId4" Type="http://schemas.openxmlformats.org/officeDocument/2006/relationships/image" Target="../media/image24.png"/><Relationship Id="rId9" Type="http://schemas.openxmlformats.org/officeDocument/2006/relationships/image" Target="../media/image9.png"/><Relationship Id="rId26" Type="http://schemas.openxmlformats.org/officeDocument/2006/relationships/image" Target="../media/image19.png"/><Relationship Id="rId25" Type="http://schemas.openxmlformats.org/officeDocument/2006/relationships/image" Target="../media/image50.png"/><Relationship Id="rId5" Type="http://schemas.openxmlformats.org/officeDocument/2006/relationships/image" Target="../media/image7.png"/><Relationship Id="rId6" Type="http://schemas.openxmlformats.org/officeDocument/2006/relationships/image" Target="../media/image5.png"/><Relationship Id="rId7" Type="http://schemas.openxmlformats.org/officeDocument/2006/relationships/image" Target="../media/image49.png"/><Relationship Id="rId8" Type="http://schemas.openxmlformats.org/officeDocument/2006/relationships/image" Target="../media/image30.png"/><Relationship Id="rId11" Type="http://schemas.openxmlformats.org/officeDocument/2006/relationships/image" Target="../media/image2.png"/><Relationship Id="rId10" Type="http://schemas.openxmlformats.org/officeDocument/2006/relationships/image" Target="../media/image3.png"/><Relationship Id="rId13" Type="http://schemas.openxmlformats.org/officeDocument/2006/relationships/image" Target="../media/image8.png"/><Relationship Id="rId12" Type="http://schemas.openxmlformats.org/officeDocument/2006/relationships/image" Target="../media/image6.png"/><Relationship Id="rId15" Type="http://schemas.openxmlformats.org/officeDocument/2006/relationships/image" Target="../media/image13.png"/><Relationship Id="rId14" Type="http://schemas.openxmlformats.org/officeDocument/2006/relationships/image" Target="../media/image11.png"/><Relationship Id="rId17" Type="http://schemas.openxmlformats.org/officeDocument/2006/relationships/image" Target="../media/image47.png"/><Relationship Id="rId16" Type="http://schemas.openxmlformats.org/officeDocument/2006/relationships/image" Target="../media/image12.png"/><Relationship Id="rId19" Type="http://schemas.openxmlformats.org/officeDocument/2006/relationships/image" Target="../media/image33.png"/><Relationship Id="rId18" Type="http://schemas.openxmlformats.org/officeDocument/2006/relationships/image" Target="../media/image17.png"/></Relationships>
</file>

<file path=ppt/slides/_rels/slide3.xml.rels><?xml version="1.0" encoding="UTF-8" standalone="yes"?><Relationships xmlns="http://schemas.openxmlformats.org/package/2006/relationships"><Relationship Id="rId20" Type="http://schemas.openxmlformats.org/officeDocument/2006/relationships/image" Target="../media/image35.png"/><Relationship Id="rId22" Type="http://schemas.openxmlformats.org/officeDocument/2006/relationships/image" Target="../media/image40.png"/><Relationship Id="rId21" Type="http://schemas.openxmlformats.org/officeDocument/2006/relationships/image" Target="../media/image43.png"/><Relationship Id="rId24" Type="http://schemas.openxmlformats.org/officeDocument/2006/relationships/image" Target="../media/image66.png"/><Relationship Id="rId23" Type="http://schemas.openxmlformats.org/officeDocument/2006/relationships/image" Target="../media/image44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0.png"/><Relationship Id="rId4" Type="http://schemas.openxmlformats.org/officeDocument/2006/relationships/image" Target="../media/image23.png"/><Relationship Id="rId9" Type="http://schemas.openxmlformats.org/officeDocument/2006/relationships/image" Target="../media/image25.png"/><Relationship Id="rId5" Type="http://schemas.openxmlformats.org/officeDocument/2006/relationships/image" Target="../media/image22.png"/><Relationship Id="rId6" Type="http://schemas.openxmlformats.org/officeDocument/2006/relationships/image" Target="../media/image41.png"/><Relationship Id="rId7" Type="http://schemas.openxmlformats.org/officeDocument/2006/relationships/image" Target="../media/image37.png"/><Relationship Id="rId8" Type="http://schemas.openxmlformats.org/officeDocument/2006/relationships/image" Target="../media/image21.png"/><Relationship Id="rId11" Type="http://schemas.openxmlformats.org/officeDocument/2006/relationships/image" Target="../media/image31.png"/><Relationship Id="rId10" Type="http://schemas.openxmlformats.org/officeDocument/2006/relationships/image" Target="../media/image29.png"/><Relationship Id="rId13" Type="http://schemas.openxmlformats.org/officeDocument/2006/relationships/image" Target="../media/image26.png"/><Relationship Id="rId12" Type="http://schemas.openxmlformats.org/officeDocument/2006/relationships/image" Target="../media/image59.png"/><Relationship Id="rId15" Type="http://schemas.openxmlformats.org/officeDocument/2006/relationships/image" Target="../media/image38.png"/><Relationship Id="rId14" Type="http://schemas.openxmlformats.org/officeDocument/2006/relationships/image" Target="../media/image34.png"/><Relationship Id="rId17" Type="http://schemas.openxmlformats.org/officeDocument/2006/relationships/image" Target="../media/image86.png"/><Relationship Id="rId16" Type="http://schemas.openxmlformats.org/officeDocument/2006/relationships/image" Target="../media/image109.png"/><Relationship Id="rId19" Type="http://schemas.openxmlformats.org/officeDocument/2006/relationships/image" Target="../media/image36.png"/><Relationship Id="rId18" Type="http://schemas.openxmlformats.org/officeDocument/2006/relationships/image" Target="../media/image39.png"/></Relationships>
</file>

<file path=ppt/slides/_rels/slide4.xml.rels><?xml version="1.0" encoding="UTF-8" standalone="yes"?><Relationships xmlns="http://schemas.openxmlformats.org/package/2006/relationships"><Relationship Id="rId20" Type="http://schemas.openxmlformats.org/officeDocument/2006/relationships/image" Target="../media/image69.png"/><Relationship Id="rId22" Type="http://schemas.openxmlformats.org/officeDocument/2006/relationships/image" Target="../media/image64.png"/><Relationship Id="rId21" Type="http://schemas.openxmlformats.org/officeDocument/2006/relationships/image" Target="../media/image65.png"/><Relationship Id="rId24" Type="http://schemas.openxmlformats.org/officeDocument/2006/relationships/image" Target="../media/image101.png"/><Relationship Id="rId23" Type="http://schemas.openxmlformats.org/officeDocument/2006/relationships/image" Target="../media/image106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2.png"/><Relationship Id="rId4" Type="http://schemas.openxmlformats.org/officeDocument/2006/relationships/image" Target="../media/image46.png"/><Relationship Id="rId9" Type="http://schemas.openxmlformats.org/officeDocument/2006/relationships/image" Target="../media/image61.png"/><Relationship Id="rId26" Type="http://schemas.openxmlformats.org/officeDocument/2006/relationships/image" Target="../media/image72.png"/><Relationship Id="rId25" Type="http://schemas.openxmlformats.org/officeDocument/2006/relationships/image" Target="../media/image68.png"/><Relationship Id="rId28" Type="http://schemas.openxmlformats.org/officeDocument/2006/relationships/image" Target="../media/image73.png"/><Relationship Id="rId27" Type="http://schemas.openxmlformats.org/officeDocument/2006/relationships/image" Target="../media/image71.png"/><Relationship Id="rId5" Type="http://schemas.openxmlformats.org/officeDocument/2006/relationships/image" Target="../media/image57.png"/><Relationship Id="rId6" Type="http://schemas.openxmlformats.org/officeDocument/2006/relationships/image" Target="../media/image56.png"/><Relationship Id="rId29" Type="http://schemas.openxmlformats.org/officeDocument/2006/relationships/image" Target="../media/image95.png"/><Relationship Id="rId7" Type="http://schemas.openxmlformats.org/officeDocument/2006/relationships/image" Target="../media/image51.png"/><Relationship Id="rId8" Type="http://schemas.openxmlformats.org/officeDocument/2006/relationships/image" Target="../media/image48.png"/><Relationship Id="rId30" Type="http://schemas.openxmlformats.org/officeDocument/2006/relationships/image" Target="../media/image74.png"/><Relationship Id="rId11" Type="http://schemas.openxmlformats.org/officeDocument/2006/relationships/image" Target="../media/image53.png"/><Relationship Id="rId10" Type="http://schemas.openxmlformats.org/officeDocument/2006/relationships/image" Target="../media/image55.png"/><Relationship Id="rId13" Type="http://schemas.openxmlformats.org/officeDocument/2006/relationships/image" Target="../media/image58.png"/><Relationship Id="rId12" Type="http://schemas.openxmlformats.org/officeDocument/2006/relationships/image" Target="../media/image54.png"/><Relationship Id="rId15" Type="http://schemas.openxmlformats.org/officeDocument/2006/relationships/image" Target="../media/image62.png"/><Relationship Id="rId14" Type="http://schemas.openxmlformats.org/officeDocument/2006/relationships/image" Target="../media/image60.png"/><Relationship Id="rId17" Type="http://schemas.openxmlformats.org/officeDocument/2006/relationships/image" Target="../media/image70.png"/><Relationship Id="rId16" Type="http://schemas.openxmlformats.org/officeDocument/2006/relationships/image" Target="../media/image63.png"/><Relationship Id="rId19" Type="http://schemas.openxmlformats.org/officeDocument/2006/relationships/image" Target="../media/image67.png"/><Relationship Id="rId18" Type="http://schemas.openxmlformats.org/officeDocument/2006/relationships/image" Target="../media/image76.png"/></Relationships>
</file>

<file path=ppt/slides/_rels/slide5.xml.rels><?xml version="1.0" encoding="UTF-8" standalone="yes"?><Relationships xmlns="http://schemas.openxmlformats.org/package/2006/relationships"><Relationship Id="rId20" Type="http://schemas.openxmlformats.org/officeDocument/2006/relationships/image" Target="../media/image89.png"/><Relationship Id="rId22" Type="http://schemas.openxmlformats.org/officeDocument/2006/relationships/image" Target="../media/image91.png"/><Relationship Id="rId21" Type="http://schemas.openxmlformats.org/officeDocument/2006/relationships/image" Target="../media/image88.png"/><Relationship Id="rId24" Type="http://schemas.openxmlformats.org/officeDocument/2006/relationships/image" Target="../media/image122.png"/><Relationship Id="rId23" Type="http://schemas.openxmlformats.org/officeDocument/2006/relationships/image" Target="../media/image90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92.png"/><Relationship Id="rId4" Type="http://schemas.openxmlformats.org/officeDocument/2006/relationships/image" Target="../media/image94.png"/><Relationship Id="rId9" Type="http://schemas.openxmlformats.org/officeDocument/2006/relationships/image" Target="../media/image79.png"/><Relationship Id="rId5" Type="http://schemas.openxmlformats.org/officeDocument/2006/relationships/image" Target="../media/image77.png"/><Relationship Id="rId6" Type="http://schemas.openxmlformats.org/officeDocument/2006/relationships/image" Target="../media/image75.png"/><Relationship Id="rId7" Type="http://schemas.openxmlformats.org/officeDocument/2006/relationships/image" Target="../media/image119.png"/><Relationship Id="rId8" Type="http://schemas.openxmlformats.org/officeDocument/2006/relationships/image" Target="../media/image78.png"/><Relationship Id="rId11" Type="http://schemas.openxmlformats.org/officeDocument/2006/relationships/image" Target="../media/image82.png"/><Relationship Id="rId10" Type="http://schemas.openxmlformats.org/officeDocument/2006/relationships/image" Target="../media/image87.png"/><Relationship Id="rId13" Type="http://schemas.openxmlformats.org/officeDocument/2006/relationships/image" Target="../media/image80.png"/><Relationship Id="rId12" Type="http://schemas.openxmlformats.org/officeDocument/2006/relationships/image" Target="../media/image81.png"/><Relationship Id="rId15" Type="http://schemas.openxmlformats.org/officeDocument/2006/relationships/image" Target="../media/image112.png"/><Relationship Id="rId14" Type="http://schemas.openxmlformats.org/officeDocument/2006/relationships/image" Target="../media/image84.png"/><Relationship Id="rId17" Type="http://schemas.openxmlformats.org/officeDocument/2006/relationships/image" Target="../media/image115.png"/><Relationship Id="rId16" Type="http://schemas.openxmlformats.org/officeDocument/2006/relationships/image" Target="../media/image83.png"/><Relationship Id="rId19" Type="http://schemas.openxmlformats.org/officeDocument/2006/relationships/image" Target="../media/image121.png"/><Relationship Id="rId18" Type="http://schemas.openxmlformats.org/officeDocument/2006/relationships/image" Target="../media/image85.png"/></Relationships>
</file>

<file path=ppt/slides/_rels/slide6.xml.rels><?xml version="1.0" encoding="UTF-8" standalone="yes"?><Relationships xmlns="http://schemas.openxmlformats.org/package/2006/relationships"><Relationship Id="rId20" Type="http://schemas.openxmlformats.org/officeDocument/2006/relationships/image" Target="../media/image114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96.png"/><Relationship Id="rId4" Type="http://schemas.openxmlformats.org/officeDocument/2006/relationships/image" Target="../media/image93.png"/><Relationship Id="rId9" Type="http://schemas.openxmlformats.org/officeDocument/2006/relationships/image" Target="../media/image102.png"/><Relationship Id="rId5" Type="http://schemas.openxmlformats.org/officeDocument/2006/relationships/image" Target="../media/image98.png"/><Relationship Id="rId6" Type="http://schemas.openxmlformats.org/officeDocument/2006/relationships/image" Target="../media/image100.png"/><Relationship Id="rId7" Type="http://schemas.openxmlformats.org/officeDocument/2006/relationships/image" Target="../media/image103.png"/><Relationship Id="rId8" Type="http://schemas.openxmlformats.org/officeDocument/2006/relationships/image" Target="../media/image97.png"/><Relationship Id="rId11" Type="http://schemas.openxmlformats.org/officeDocument/2006/relationships/image" Target="../media/image107.png"/><Relationship Id="rId10" Type="http://schemas.openxmlformats.org/officeDocument/2006/relationships/image" Target="../media/image99.png"/><Relationship Id="rId13" Type="http://schemas.openxmlformats.org/officeDocument/2006/relationships/image" Target="../media/image120.png"/><Relationship Id="rId12" Type="http://schemas.openxmlformats.org/officeDocument/2006/relationships/image" Target="../media/image105.png"/><Relationship Id="rId15" Type="http://schemas.openxmlformats.org/officeDocument/2006/relationships/image" Target="../media/image108.png"/><Relationship Id="rId14" Type="http://schemas.openxmlformats.org/officeDocument/2006/relationships/image" Target="../media/image104.png"/><Relationship Id="rId17" Type="http://schemas.openxmlformats.org/officeDocument/2006/relationships/image" Target="../media/image117.png"/><Relationship Id="rId16" Type="http://schemas.openxmlformats.org/officeDocument/2006/relationships/image" Target="../media/image113.png"/><Relationship Id="rId19" Type="http://schemas.openxmlformats.org/officeDocument/2006/relationships/image" Target="../media/image118.png"/><Relationship Id="rId18" Type="http://schemas.openxmlformats.org/officeDocument/2006/relationships/image" Target="../media/image110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11.png"/><Relationship Id="rId4" Type="http://schemas.openxmlformats.org/officeDocument/2006/relationships/image" Target="../media/image116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3"/>
          <p:cNvSpPr/>
          <p:nvPr/>
        </p:nvSpPr>
        <p:spPr>
          <a:xfrm>
            <a:off x="150202" y="360524"/>
            <a:ext cx="6541770" cy="1178236"/>
          </a:xfrm>
          <a:prstGeom prst="rect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13"/>
          <p:cNvSpPr/>
          <p:nvPr/>
        </p:nvSpPr>
        <p:spPr>
          <a:xfrm>
            <a:off x="-2618" y="3326"/>
            <a:ext cx="6860618" cy="314513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Subtopic N3.20 – Dividing Decimals (CHALLENGE)</a:t>
            </a:r>
            <a:endParaRPr/>
          </a:p>
        </p:txBody>
      </p:sp>
      <p:sp>
        <p:nvSpPr>
          <p:cNvPr id="90" name="Google Shape;90;p13"/>
          <p:cNvSpPr txBox="1"/>
          <p:nvPr/>
        </p:nvSpPr>
        <p:spPr>
          <a:xfrm>
            <a:off x="142906" y="723512"/>
            <a:ext cx="1149390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Objectives</a:t>
            </a:r>
            <a:r>
              <a:rPr b="1" lang="en-GB" sz="120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  <a:endParaRPr/>
          </a:p>
        </p:txBody>
      </p:sp>
      <p:sp>
        <p:nvSpPr>
          <p:cNvPr id="91" name="Google Shape;91;p13"/>
          <p:cNvSpPr txBox="1"/>
          <p:nvPr/>
        </p:nvSpPr>
        <p:spPr>
          <a:xfrm>
            <a:off x="178316" y="935131"/>
            <a:ext cx="4489092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AutoNum type="arabicPeriod"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To be able to divide a decimal by an integer.</a:t>
            </a:r>
            <a:endParaRPr/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AutoNum type="arabicPeriod"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To be able to divide an integer by a decimal.</a:t>
            </a:r>
            <a:endParaRPr/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AutoNum type="arabicPeriod"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To be able to divide a decimal by another decimal.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13"/>
          <p:cNvSpPr txBox="1"/>
          <p:nvPr/>
        </p:nvSpPr>
        <p:spPr>
          <a:xfrm>
            <a:off x="183417" y="433944"/>
            <a:ext cx="5328854" cy="276999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LEARNING OUTCOME:</a:t>
            </a: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To be able to carry out division problems involving decimals</a:t>
            </a:r>
            <a:endParaRPr/>
          </a:p>
        </p:txBody>
      </p:sp>
      <p:sp>
        <p:nvSpPr>
          <p:cNvPr id="93" name="Google Shape;93;p13"/>
          <p:cNvSpPr txBox="1"/>
          <p:nvPr>
            <p:ph idx="12" type="sldNum"/>
          </p:nvPr>
        </p:nvSpPr>
        <p:spPr>
          <a:xfrm>
            <a:off x="5203891" y="93785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94" name="Google Shape;94;p13"/>
          <p:cNvSpPr txBox="1"/>
          <p:nvPr/>
        </p:nvSpPr>
        <p:spPr>
          <a:xfrm>
            <a:off x="178316" y="6927125"/>
            <a:ext cx="6654800" cy="393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95" name="Google Shape;95;p13"/>
          <p:cNvGraphicFramePr/>
          <p:nvPr/>
        </p:nvGraphicFramePr>
        <p:xfrm>
          <a:off x="158111" y="671757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{41592E97-0B86-4675-BA24-A8669EC297F8}</a:tableStyleId>
              </a:tblPr>
              <a:tblGrid>
                <a:gridCol w="1786700"/>
                <a:gridCol w="1585025"/>
                <a:gridCol w="1585025"/>
                <a:gridCol w="1585025"/>
              </a:tblGrid>
              <a:tr h="3089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</a:rPr>
                        <a:t>Steps</a:t>
                      </a:r>
                      <a:endParaRPr sz="1200">
                        <a:solidFill>
                          <a:srgbClr val="00000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rgbClr val="000000"/>
                          </a:solidFill>
                        </a:rPr>
                        <a:t>Calculate: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rgbClr val="000000"/>
                          </a:solidFill>
                        </a:rPr>
                        <a:t>Calculate: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rgbClr val="000000"/>
                          </a:solidFill>
                        </a:rPr>
                        <a:t>Calculate: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4688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</a:rPr>
                        <a:t>1) Set out the short division, making sure the divisor is on the outside.</a:t>
                      </a:r>
                      <a:br>
                        <a:rPr lang="en-GB" sz="1200">
                          <a:solidFill>
                            <a:schemeClr val="dk1"/>
                          </a:solidFill>
                        </a:rPr>
                      </a:b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</a:rPr>
                        <a:t>2) Starting from the left, divide into each digit, carrying where necessary.</a:t>
                      </a:r>
                      <a:br>
                        <a:rPr lang="en-GB" sz="1200">
                          <a:solidFill>
                            <a:schemeClr val="dk1"/>
                          </a:solidFill>
                        </a:rPr>
                      </a:b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</a:rPr>
                        <a:t>3) Where necessary, write additional zeros to continue carrying and give your answer as a decimal.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96" name="Google Shape;96;p13"/>
          <p:cNvSpPr txBox="1"/>
          <p:nvPr/>
        </p:nvSpPr>
        <p:spPr>
          <a:xfrm>
            <a:off x="2110590" y="6475630"/>
            <a:ext cx="1944632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Example 1 – I do</a:t>
            </a:r>
            <a:endParaRPr b="1" i="1" sz="1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13"/>
          <p:cNvSpPr txBox="1"/>
          <p:nvPr/>
        </p:nvSpPr>
        <p:spPr>
          <a:xfrm>
            <a:off x="3622691" y="6455540"/>
            <a:ext cx="1835150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GB" sz="120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Example 2 – We do</a:t>
            </a:r>
            <a:endParaRPr b="1" i="1" sz="1200">
              <a:solidFill>
                <a:schemeClr val="accent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13"/>
          <p:cNvSpPr txBox="1"/>
          <p:nvPr/>
        </p:nvSpPr>
        <p:spPr>
          <a:xfrm>
            <a:off x="5182821" y="6442971"/>
            <a:ext cx="1835150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GB" sz="1200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Example 3 – You do</a:t>
            </a:r>
            <a:endParaRPr b="1" i="1" sz="1200">
              <a:solidFill>
                <a:srgbClr val="00B05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13"/>
          <p:cNvSpPr/>
          <p:nvPr/>
        </p:nvSpPr>
        <p:spPr>
          <a:xfrm>
            <a:off x="158110" y="6302603"/>
            <a:ext cx="2864319" cy="217715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Dividing decimals by integers</a:t>
            </a:r>
            <a:endParaRPr sz="1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13"/>
          <p:cNvSpPr/>
          <p:nvPr/>
        </p:nvSpPr>
        <p:spPr>
          <a:xfrm>
            <a:off x="158121" y="3164145"/>
            <a:ext cx="6541769" cy="3118102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1" name="Google Shape;101;p13"/>
          <p:cNvCxnSpPr/>
          <p:nvPr/>
        </p:nvCxnSpPr>
        <p:spPr>
          <a:xfrm>
            <a:off x="150202" y="4853340"/>
            <a:ext cx="65520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02" name="Google Shape;102;p13"/>
          <p:cNvCxnSpPr>
            <a:stCxn id="100" idx="2"/>
            <a:endCxn id="100" idx="0"/>
          </p:cNvCxnSpPr>
          <p:nvPr/>
        </p:nvCxnSpPr>
        <p:spPr>
          <a:xfrm rot="10800000">
            <a:off x="3429006" y="3164047"/>
            <a:ext cx="0" cy="31182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03" name="Google Shape;103;p13"/>
          <p:cNvSpPr txBox="1"/>
          <p:nvPr/>
        </p:nvSpPr>
        <p:spPr>
          <a:xfrm>
            <a:off x="150863" y="3164144"/>
            <a:ext cx="824713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Definition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13"/>
          <p:cNvSpPr txBox="1"/>
          <p:nvPr/>
        </p:nvSpPr>
        <p:spPr>
          <a:xfrm>
            <a:off x="5674914" y="3131758"/>
            <a:ext cx="1112228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Characteristics</a:t>
            </a:r>
            <a:endParaRPr b="1"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13"/>
          <p:cNvSpPr txBox="1"/>
          <p:nvPr/>
        </p:nvSpPr>
        <p:spPr>
          <a:xfrm>
            <a:off x="126190" y="4871797"/>
            <a:ext cx="788164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Examples</a:t>
            </a:r>
            <a:endParaRPr b="1"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13"/>
          <p:cNvSpPr txBox="1"/>
          <p:nvPr/>
        </p:nvSpPr>
        <p:spPr>
          <a:xfrm>
            <a:off x="5591231" y="4822146"/>
            <a:ext cx="1172885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Non - Examples</a:t>
            </a:r>
            <a:endParaRPr b="1"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13"/>
          <p:cNvSpPr txBox="1"/>
          <p:nvPr/>
        </p:nvSpPr>
        <p:spPr>
          <a:xfrm>
            <a:off x="150202" y="3352471"/>
            <a:ext cx="3230335" cy="2812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Splitting a number into equal parts.​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13"/>
          <p:cNvSpPr txBox="1"/>
          <p:nvPr/>
        </p:nvSpPr>
        <p:spPr>
          <a:xfrm>
            <a:off x="3548606" y="3355001"/>
            <a:ext cx="3230335" cy="138499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171450" lvl="0" marL="1714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b="0" i="0"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Involves two numbers: dividend and divisor.</a:t>
            </a:r>
            <a:endParaRPr/>
          </a:p>
          <a:p>
            <a:pPr indent="-171450" lvl="0" marL="1714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b="0" i="0"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result of division is called the quotient.</a:t>
            </a:r>
            <a:endParaRPr/>
          </a:p>
          <a:p>
            <a:pPr indent="-171450" lvl="0" marL="1714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b="0" i="0"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Division can result in a whole number, a fraction, or a decimal, depending on the numbers involved.</a:t>
            </a:r>
            <a:endParaRPr/>
          </a:p>
          <a:p>
            <a:pPr indent="-171450" lvl="0" marL="1714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b="0" i="0"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Division is denoted by the symbol "÷" or the fraction bar "⁄"</a:t>
            </a:r>
            <a:endParaRPr/>
          </a:p>
        </p:txBody>
      </p:sp>
      <p:sp>
        <p:nvSpPr>
          <p:cNvPr id="109" name="Google Shape;109;p13"/>
          <p:cNvSpPr txBox="1"/>
          <p:nvPr/>
        </p:nvSpPr>
        <p:spPr>
          <a:xfrm>
            <a:off x="2990740" y="4687901"/>
            <a:ext cx="923651" cy="369332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Division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13"/>
          <p:cNvSpPr txBox="1"/>
          <p:nvPr/>
        </p:nvSpPr>
        <p:spPr>
          <a:xfrm>
            <a:off x="152905" y="5030451"/>
            <a:ext cx="3230335" cy="11717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10 ÷ 2 = 5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8 ÷ 4 = 2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21 ÷ 7 = 3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1.5 ÷ 0.5 = 3 </a:t>
            </a:r>
            <a:endParaRPr/>
          </a:p>
        </p:txBody>
      </p:sp>
      <p:sp>
        <p:nvSpPr>
          <p:cNvPr id="111" name="Google Shape;111;p13"/>
          <p:cNvSpPr txBox="1"/>
          <p:nvPr/>
        </p:nvSpPr>
        <p:spPr>
          <a:xfrm>
            <a:off x="3490073" y="5081917"/>
            <a:ext cx="3230335" cy="12003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171450" lvl="0" marL="1714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b="0" i="0"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Addition and subtraction are not division operations.</a:t>
            </a:r>
            <a:endParaRPr/>
          </a:p>
          <a:p>
            <a:pPr indent="-171450" lvl="0" marL="1714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b="0" i="0"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Multiplication is the inverse of division but is a different operation.</a:t>
            </a:r>
            <a:endParaRPr/>
          </a:p>
          <a:p>
            <a:pPr indent="-171450" lvl="0" marL="1714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b="0" i="0"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Ratios and proportions are related concepts but are not division.</a:t>
            </a:r>
            <a:endParaRPr/>
          </a:p>
        </p:txBody>
      </p:sp>
      <p:sp>
        <p:nvSpPr>
          <p:cNvPr id="112" name="Google Shape;112;p13"/>
          <p:cNvSpPr/>
          <p:nvPr/>
        </p:nvSpPr>
        <p:spPr>
          <a:xfrm>
            <a:off x="150202" y="1611589"/>
            <a:ext cx="6541769" cy="1512306"/>
          </a:xfrm>
          <a:prstGeom prst="rect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13"/>
          <p:cNvSpPr txBox="1"/>
          <p:nvPr/>
        </p:nvSpPr>
        <p:spPr>
          <a:xfrm>
            <a:off x="160333" y="1611927"/>
            <a:ext cx="6599548" cy="15696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1200" u="sng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Introduction – read and annotate: </a:t>
            </a:r>
            <a:endParaRPr/>
          </a:p>
          <a:p>
            <a:pPr indent="-228600" lvl="0" marL="2286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AutoNum type="arabicPeriod"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Now that you're confident with whole number division and remainders, it's time to tackle dividing</a:t>
            </a:r>
            <a:endParaRPr/>
          </a:p>
          <a:p>
            <a:pPr indent="-228600" lvl="0" marL="2286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AutoNum type="arabicPeriod"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with decimals—whether the decimal is in the number you're dividing (the dividend), the number</a:t>
            </a:r>
            <a:endParaRPr/>
          </a:p>
          <a:p>
            <a:pPr indent="-228600" lvl="0" marL="2286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AutoNum type="arabicPeriod"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you're dividing by (the divisor), or both. You’ll learn how to adjust the numbers to make the division</a:t>
            </a:r>
            <a:endParaRPr/>
          </a:p>
          <a:p>
            <a:pPr indent="-228600" lvl="0" marL="2286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AutoNum type="arabicPeriod"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easier, often by turning the divisor into a whole number. This builds on everything you've practiced</a:t>
            </a:r>
            <a:endParaRPr/>
          </a:p>
          <a:p>
            <a:pPr indent="-228600" lvl="0" marL="2286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AutoNum type="arabicPeriod"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so far and is especially useful in real-life situations, like money calculations, unit conversions, and</a:t>
            </a:r>
            <a:endParaRPr/>
          </a:p>
          <a:p>
            <a:pPr indent="-228600" lvl="0" marL="2286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AutoNum type="arabicPeriod"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scaling recipes. Mastering this skill will also prepare you for more complex maths topics, including</a:t>
            </a:r>
            <a:endParaRPr/>
          </a:p>
          <a:p>
            <a:pPr indent="-228600" lvl="0" marL="2286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AutoNum type="arabicPeriod"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percentages, ratios, and algebra.</a:t>
            </a:r>
            <a:endParaRPr i="0" sz="1200" u="sng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13"/>
          <p:cNvSpPr txBox="1"/>
          <p:nvPr/>
        </p:nvSpPr>
        <p:spPr>
          <a:xfrm>
            <a:off x="5559134" y="428562"/>
            <a:ext cx="1072826" cy="1015663"/>
          </a:xfrm>
          <a:prstGeom prst="rect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Keywords: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1450" lvl="0" marL="1714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-"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Divide</a:t>
            </a:r>
            <a:endParaRPr/>
          </a:p>
          <a:p>
            <a:pPr indent="-171450" lvl="0" marL="1714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-"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Share</a:t>
            </a:r>
            <a:endParaRPr/>
          </a:p>
          <a:p>
            <a:pPr indent="-171450" lvl="0" marL="1714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-"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Dividend</a:t>
            </a:r>
            <a:endParaRPr/>
          </a:p>
          <a:p>
            <a:pPr indent="-171450" lvl="0" marL="1714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-"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Divisor</a:t>
            </a:r>
            <a:endParaRPr/>
          </a:p>
        </p:txBody>
      </p:sp>
      <p:graphicFrame>
        <p:nvGraphicFramePr>
          <p:cNvPr id="115" name="Google Shape;115;p13"/>
          <p:cNvGraphicFramePr/>
          <p:nvPr/>
        </p:nvGraphicFramePr>
        <p:xfrm>
          <a:off x="1900815" y="7808116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{41592E97-0B86-4675-BA24-A8669EC297F8}</a:tableStyleId>
              </a:tblPr>
              <a:tblGrid>
                <a:gridCol w="1607525"/>
                <a:gridCol w="1607525"/>
                <a:gridCol w="1607525"/>
              </a:tblGrid>
              <a:tr h="17373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16" name="Google Shape;116;p13"/>
          <p:cNvSpPr txBox="1"/>
          <p:nvPr/>
        </p:nvSpPr>
        <p:spPr>
          <a:xfrm>
            <a:off x="2491292" y="7337262"/>
            <a:ext cx="350520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0.1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13"/>
          <p:cNvSpPr txBox="1"/>
          <p:nvPr/>
        </p:nvSpPr>
        <p:spPr>
          <a:xfrm>
            <a:off x="4032212" y="7337262"/>
            <a:ext cx="350520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0.29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13"/>
          <p:cNvSpPr txBox="1"/>
          <p:nvPr/>
        </p:nvSpPr>
        <p:spPr>
          <a:xfrm>
            <a:off x="4032212" y="7304267"/>
            <a:ext cx="377190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Font typeface="Calibri"/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0.16</a:t>
            </a:r>
            <a:endParaRPr/>
          </a:p>
        </p:txBody>
      </p:sp>
      <p:sp>
        <p:nvSpPr>
          <p:cNvPr id="119" name="Google Shape;119;p13"/>
          <p:cNvSpPr txBox="1"/>
          <p:nvPr/>
        </p:nvSpPr>
        <p:spPr>
          <a:xfrm>
            <a:off x="5203891" y="8058558"/>
            <a:ext cx="1312969" cy="369332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120" name="Google Shape;120;p13"/>
          <p:cNvSpPr txBox="1"/>
          <p:nvPr/>
        </p:nvSpPr>
        <p:spPr>
          <a:xfrm>
            <a:off x="3626960" y="8058558"/>
            <a:ext cx="1312969" cy="369332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121" name="Google Shape;121;p13"/>
          <p:cNvSpPr txBox="1"/>
          <p:nvPr/>
        </p:nvSpPr>
        <p:spPr>
          <a:xfrm>
            <a:off x="2106726" y="8048367"/>
            <a:ext cx="1312969" cy="369332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122" name="Google Shape;122;p13"/>
          <p:cNvSpPr txBox="1"/>
          <p:nvPr/>
        </p:nvSpPr>
        <p:spPr>
          <a:xfrm>
            <a:off x="2098646" y="8949570"/>
            <a:ext cx="1312969" cy="369332"/>
          </a:xfrm>
          <a:prstGeom prst="rect">
            <a:avLst/>
          </a:pr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123" name="Google Shape;123;p13"/>
          <p:cNvSpPr txBox="1"/>
          <p:nvPr/>
        </p:nvSpPr>
        <p:spPr>
          <a:xfrm>
            <a:off x="3622691" y="8915181"/>
            <a:ext cx="1312969" cy="369332"/>
          </a:xfrm>
          <a:prstGeom prst="rect">
            <a:avLst/>
          </a:pr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124" name="Google Shape;124;p13"/>
          <p:cNvSpPr txBox="1"/>
          <p:nvPr/>
        </p:nvSpPr>
        <p:spPr>
          <a:xfrm>
            <a:off x="5203891" y="8937387"/>
            <a:ext cx="1312969" cy="369332"/>
          </a:xfrm>
          <a:prstGeom prst="rect">
            <a:avLst/>
          </a:prstGeom>
          <a:blipFill rotWithShape="1">
            <a:blip r:embed="rId8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14"/>
          <p:cNvSpPr txBox="1"/>
          <p:nvPr/>
        </p:nvSpPr>
        <p:spPr>
          <a:xfrm>
            <a:off x="5314950" y="9514413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900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14"/>
          <p:cNvSpPr txBox="1"/>
          <p:nvPr>
            <p:ph idx="12" type="sldNum"/>
          </p:nvPr>
        </p:nvSpPr>
        <p:spPr>
          <a:xfrm>
            <a:off x="5314950" y="9514413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2" name="Google Shape;132;p14"/>
          <p:cNvSpPr/>
          <p:nvPr/>
        </p:nvSpPr>
        <p:spPr>
          <a:xfrm>
            <a:off x="127924" y="165383"/>
            <a:ext cx="1137954" cy="340453"/>
          </a:xfrm>
          <a:prstGeom prst="rect">
            <a:avLst/>
          </a:prstGeom>
          <a:solidFill>
            <a:srgbClr val="0070C0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Independent Practice</a:t>
            </a:r>
            <a:endParaRPr/>
          </a:p>
        </p:txBody>
      </p:sp>
      <p:sp>
        <p:nvSpPr>
          <p:cNvPr id="133" name="Google Shape;133;p14"/>
          <p:cNvSpPr txBox="1"/>
          <p:nvPr/>
        </p:nvSpPr>
        <p:spPr>
          <a:xfrm>
            <a:off x="1265878" y="283266"/>
            <a:ext cx="5527253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r>
              <a:rPr b="0" i="0" lang="en-GB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Question 1. Calculate:</a:t>
            </a:r>
            <a:endParaRPr/>
          </a:p>
        </p:txBody>
      </p:sp>
      <p:graphicFrame>
        <p:nvGraphicFramePr>
          <p:cNvPr id="134" name="Google Shape;134;p14"/>
          <p:cNvGraphicFramePr/>
          <p:nvPr/>
        </p:nvGraphicFramePr>
        <p:xfrm>
          <a:off x="151480" y="59558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{41592E97-0B86-4675-BA24-A8669EC297F8}</a:tableStyleId>
              </a:tblPr>
              <a:tblGrid>
                <a:gridCol w="1619475"/>
                <a:gridCol w="1619475"/>
                <a:gridCol w="1619475"/>
                <a:gridCol w="1619475"/>
              </a:tblGrid>
              <a:tr h="15027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5027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5027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5027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5027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5027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35" name="Google Shape;135;p14"/>
          <p:cNvSpPr txBox="1"/>
          <p:nvPr/>
        </p:nvSpPr>
        <p:spPr>
          <a:xfrm>
            <a:off x="244246" y="1229390"/>
            <a:ext cx="1312969" cy="369332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136" name="Google Shape;136;p14"/>
          <p:cNvSpPr txBox="1"/>
          <p:nvPr/>
        </p:nvSpPr>
        <p:spPr>
          <a:xfrm>
            <a:off x="2276533" y="1227653"/>
            <a:ext cx="1312969" cy="369332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-24589" l="0" r="0" t="-8197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137" name="Google Shape;137;p14"/>
          <p:cNvSpPr txBox="1"/>
          <p:nvPr/>
        </p:nvSpPr>
        <p:spPr>
          <a:xfrm>
            <a:off x="3589502" y="1207416"/>
            <a:ext cx="1312969" cy="369332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138" name="Google Shape;138;p14"/>
          <p:cNvSpPr txBox="1"/>
          <p:nvPr/>
        </p:nvSpPr>
        <p:spPr>
          <a:xfrm>
            <a:off x="5109451" y="1170719"/>
            <a:ext cx="1312969" cy="369332"/>
          </a:xfrm>
          <a:prstGeom prst="rect">
            <a:avLst/>
          </a:pr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139" name="Google Shape;139;p14"/>
          <p:cNvSpPr txBox="1"/>
          <p:nvPr/>
        </p:nvSpPr>
        <p:spPr>
          <a:xfrm>
            <a:off x="244246" y="2641020"/>
            <a:ext cx="1312969" cy="369332"/>
          </a:xfrm>
          <a:prstGeom prst="rect">
            <a:avLst/>
          </a:pr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140" name="Google Shape;140;p14"/>
          <p:cNvSpPr txBox="1"/>
          <p:nvPr/>
        </p:nvSpPr>
        <p:spPr>
          <a:xfrm>
            <a:off x="1883678" y="2641020"/>
            <a:ext cx="1312969" cy="369332"/>
          </a:xfrm>
          <a:prstGeom prst="rect">
            <a:avLst/>
          </a:prstGeom>
          <a:blipFill rotWithShape="1">
            <a:blip r:embed="rId8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141" name="Google Shape;141;p14"/>
          <p:cNvSpPr txBox="1"/>
          <p:nvPr/>
        </p:nvSpPr>
        <p:spPr>
          <a:xfrm>
            <a:off x="3429000" y="2641020"/>
            <a:ext cx="1312969" cy="369332"/>
          </a:xfrm>
          <a:prstGeom prst="rect">
            <a:avLst/>
          </a:prstGeom>
          <a:blipFill rotWithShape="1">
            <a:blip r:embed="rId9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142" name="Google Shape;142;p14"/>
          <p:cNvSpPr txBox="1"/>
          <p:nvPr/>
        </p:nvSpPr>
        <p:spPr>
          <a:xfrm>
            <a:off x="5109451" y="2641020"/>
            <a:ext cx="1312969" cy="369332"/>
          </a:xfrm>
          <a:prstGeom prst="rect">
            <a:avLst/>
          </a:prstGeom>
          <a:blipFill rotWithShape="1">
            <a:blip r:embed="rId10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143" name="Google Shape;143;p14"/>
          <p:cNvSpPr txBox="1"/>
          <p:nvPr/>
        </p:nvSpPr>
        <p:spPr>
          <a:xfrm>
            <a:off x="244246" y="4052650"/>
            <a:ext cx="1312969" cy="369332"/>
          </a:xfrm>
          <a:prstGeom prst="rect">
            <a:avLst/>
          </a:prstGeom>
          <a:blipFill rotWithShape="1">
            <a:blip r:embed="rId11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144" name="Google Shape;144;p14"/>
          <p:cNvSpPr txBox="1"/>
          <p:nvPr/>
        </p:nvSpPr>
        <p:spPr>
          <a:xfrm>
            <a:off x="1883678" y="4052650"/>
            <a:ext cx="1312969" cy="369332"/>
          </a:xfrm>
          <a:prstGeom prst="rect">
            <a:avLst/>
          </a:prstGeom>
          <a:blipFill rotWithShape="1">
            <a:blip r:embed="rId12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145" name="Google Shape;145;p14"/>
          <p:cNvSpPr txBox="1"/>
          <p:nvPr/>
        </p:nvSpPr>
        <p:spPr>
          <a:xfrm>
            <a:off x="3523110" y="4091318"/>
            <a:ext cx="1312969" cy="369332"/>
          </a:xfrm>
          <a:prstGeom prst="rect">
            <a:avLst/>
          </a:prstGeom>
          <a:blipFill rotWithShape="1">
            <a:blip r:embed="rId1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146" name="Google Shape;146;p14"/>
          <p:cNvSpPr txBox="1"/>
          <p:nvPr/>
        </p:nvSpPr>
        <p:spPr>
          <a:xfrm>
            <a:off x="5188915" y="4091318"/>
            <a:ext cx="1312969" cy="369332"/>
          </a:xfrm>
          <a:prstGeom prst="rect">
            <a:avLst/>
          </a:prstGeom>
          <a:blipFill rotWithShape="1">
            <a:blip r:embed="rId1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147" name="Google Shape;147;p14"/>
          <p:cNvSpPr txBox="1"/>
          <p:nvPr/>
        </p:nvSpPr>
        <p:spPr>
          <a:xfrm>
            <a:off x="244246" y="5503400"/>
            <a:ext cx="1312969" cy="369332"/>
          </a:xfrm>
          <a:prstGeom prst="rect">
            <a:avLst/>
          </a:prstGeom>
          <a:blipFill rotWithShape="1">
            <a:blip r:embed="rId1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148" name="Google Shape;148;p14"/>
          <p:cNvSpPr txBox="1"/>
          <p:nvPr/>
        </p:nvSpPr>
        <p:spPr>
          <a:xfrm>
            <a:off x="1883678" y="5503400"/>
            <a:ext cx="1312969" cy="369332"/>
          </a:xfrm>
          <a:prstGeom prst="rect">
            <a:avLst/>
          </a:prstGeom>
          <a:blipFill rotWithShape="1">
            <a:blip r:embed="rId16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149" name="Google Shape;149;p14"/>
          <p:cNvSpPr txBox="1"/>
          <p:nvPr/>
        </p:nvSpPr>
        <p:spPr>
          <a:xfrm>
            <a:off x="5109451" y="5403619"/>
            <a:ext cx="1312969" cy="369332"/>
          </a:xfrm>
          <a:prstGeom prst="rect">
            <a:avLst/>
          </a:prstGeom>
          <a:blipFill rotWithShape="1">
            <a:blip r:embed="rId17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150" name="Google Shape;150;p14"/>
          <p:cNvSpPr txBox="1"/>
          <p:nvPr/>
        </p:nvSpPr>
        <p:spPr>
          <a:xfrm>
            <a:off x="127924" y="6868715"/>
            <a:ext cx="1312969" cy="369332"/>
          </a:xfrm>
          <a:prstGeom prst="rect">
            <a:avLst/>
          </a:prstGeom>
          <a:blipFill rotWithShape="1">
            <a:blip r:embed="rId18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151" name="Google Shape;151;p14"/>
          <p:cNvSpPr txBox="1"/>
          <p:nvPr/>
        </p:nvSpPr>
        <p:spPr>
          <a:xfrm>
            <a:off x="3523109" y="6979873"/>
            <a:ext cx="1312969" cy="369332"/>
          </a:xfrm>
          <a:prstGeom prst="rect">
            <a:avLst/>
          </a:prstGeom>
          <a:blipFill rotWithShape="1">
            <a:blip r:embed="rId19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152" name="Google Shape;152;p14"/>
          <p:cNvSpPr txBox="1"/>
          <p:nvPr/>
        </p:nvSpPr>
        <p:spPr>
          <a:xfrm>
            <a:off x="3429000" y="5524922"/>
            <a:ext cx="1312969" cy="369332"/>
          </a:xfrm>
          <a:prstGeom prst="rect">
            <a:avLst/>
          </a:prstGeom>
          <a:blipFill rotWithShape="1">
            <a:blip r:embed="rId20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153" name="Google Shape;153;p14"/>
          <p:cNvSpPr txBox="1"/>
          <p:nvPr/>
        </p:nvSpPr>
        <p:spPr>
          <a:xfrm>
            <a:off x="1825516" y="6889564"/>
            <a:ext cx="1312969" cy="369332"/>
          </a:xfrm>
          <a:prstGeom prst="rect">
            <a:avLst/>
          </a:prstGeom>
          <a:blipFill rotWithShape="1">
            <a:blip r:embed="rId21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154" name="Google Shape;154;p14"/>
          <p:cNvSpPr txBox="1"/>
          <p:nvPr/>
        </p:nvSpPr>
        <p:spPr>
          <a:xfrm>
            <a:off x="5109451" y="6889564"/>
            <a:ext cx="1312969" cy="369332"/>
          </a:xfrm>
          <a:prstGeom prst="rect">
            <a:avLst/>
          </a:prstGeom>
          <a:blipFill rotWithShape="1">
            <a:blip r:embed="rId22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155" name="Google Shape;155;p14"/>
          <p:cNvSpPr txBox="1"/>
          <p:nvPr/>
        </p:nvSpPr>
        <p:spPr>
          <a:xfrm>
            <a:off x="151480" y="8319465"/>
            <a:ext cx="1312969" cy="369332"/>
          </a:xfrm>
          <a:prstGeom prst="rect">
            <a:avLst/>
          </a:prstGeom>
          <a:blipFill rotWithShape="1">
            <a:blip r:embed="rId2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156" name="Google Shape;156;p14"/>
          <p:cNvSpPr txBox="1"/>
          <p:nvPr/>
        </p:nvSpPr>
        <p:spPr>
          <a:xfrm>
            <a:off x="1883678" y="8340314"/>
            <a:ext cx="1312969" cy="369332"/>
          </a:xfrm>
          <a:prstGeom prst="rect">
            <a:avLst/>
          </a:prstGeom>
          <a:blipFill rotWithShape="1">
            <a:blip r:embed="rId2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157" name="Google Shape;157;p14"/>
          <p:cNvSpPr txBox="1"/>
          <p:nvPr/>
        </p:nvSpPr>
        <p:spPr>
          <a:xfrm>
            <a:off x="3429000" y="8434824"/>
            <a:ext cx="1312969" cy="369332"/>
          </a:xfrm>
          <a:prstGeom prst="rect">
            <a:avLst/>
          </a:prstGeom>
          <a:blipFill rotWithShape="1">
            <a:blip r:embed="rId2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158" name="Google Shape;158;p14"/>
          <p:cNvSpPr txBox="1"/>
          <p:nvPr/>
        </p:nvSpPr>
        <p:spPr>
          <a:xfrm>
            <a:off x="5075878" y="8375509"/>
            <a:ext cx="1312969" cy="369332"/>
          </a:xfrm>
          <a:prstGeom prst="rect">
            <a:avLst/>
          </a:prstGeom>
          <a:blipFill rotWithShape="1">
            <a:blip r:embed="rId26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15"/>
          <p:cNvSpPr txBox="1"/>
          <p:nvPr>
            <p:ph idx="12" type="sldNum"/>
          </p:nvPr>
        </p:nvSpPr>
        <p:spPr>
          <a:xfrm>
            <a:off x="5169861" y="93785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64" name="Google Shape;164;p15"/>
          <p:cNvSpPr/>
          <p:nvPr/>
        </p:nvSpPr>
        <p:spPr>
          <a:xfrm>
            <a:off x="145088" y="189846"/>
            <a:ext cx="2229774" cy="276999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Dividing integers by decimals</a:t>
            </a:r>
            <a:endParaRPr sz="1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65" name="Google Shape;165;p15"/>
          <p:cNvGraphicFramePr/>
          <p:nvPr/>
        </p:nvGraphicFramePr>
        <p:xfrm>
          <a:off x="140588" y="724514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{41592E97-0B86-4675-BA24-A8669EC297F8}</a:tableStyleId>
              </a:tblPr>
              <a:tblGrid>
                <a:gridCol w="1472700"/>
                <a:gridCol w="1699875"/>
                <a:gridCol w="1699875"/>
                <a:gridCol w="1699875"/>
              </a:tblGrid>
              <a:tr h="274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</a:rPr>
                        <a:t>Steps</a:t>
                      </a:r>
                      <a:endParaRPr sz="1200">
                        <a:solidFill>
                          <a:srgbClr val="00000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7373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rgbClr val="00000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rgbClr val="00000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rgbClr val="00000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66" name="Google Shape;166;p15"/>
          <p:cNvSpPr txBox="1"/>
          <p:nvPr/>
        </p:nvSpPr>
        <p:spPr>
          <a:xfrm>
            <a:off x="1846482" y="470209"/>
            <a:ext cx="1835150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Example 4 – I do</a:t>
            </a:r>
            <a:endParaRPr b="1" i="1" sz="1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15"/>
          <p:cNvSpPr txBox="1"/>
          <p:nvPr/>
        </p:nvSpPr>
        <p:spPr>
          <a:xfrm>
            <a:off x="3443377" y="473573"/>
            <a:ext cx="1835150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GB" sz="120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Example 5 – We do</a:t>
            </a:r>
            <a:endParaRPr b="1" i="1" sz="1200">
              <a:solidFill>
                <a:schemeClr val="accent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15"/>
          <p:cNvSpPr txBox="1"/>
          <p:nvPr/>
        </p:nvSpPr>
        <p:spPr>
          <a:xfrm>
            <a:off x="5219181" y="466845"/>
            <a:ext cx="1835150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Example 6 – You do</a:t>
            </a:r>
            <a:endParaRPr b="1" sz="1200">
              <a:solidFill>
                <a:srgbClr val="00B05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15"/>
          <p:cNvSpPr/>
          <p:nvPr/>
        </p:nvSpPr>
        <p:spPr>
          <a:xfrm>
            <a:off x="130540" y="2806860"/>
            <a:ext cx="1137954" cy="340453"/>
          </a:xfrm>
          <a:prstGeom prst="rect">
            <a:avLst/>
          </a:prstGeom>
          <a:solidFill>
            <a:srgbClr val="0070C0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Independent Practice</a:t>
            </a:r>
            <a:endParaRPr/>
          </a:p>
        </p:txBody>
      </p:sp>
      <p:sp>
        <p:nvSpPr>
          <p:cNvPr id="170" name="Google Shape;170;p15"/>
          <p:cNvSpPr txBox="1"/>
          <p:nvPr/>
        </p:nvSpPr>
        <p:spPr>
          <a:xfrm>
            <a:off x="1258446" y="2924743"/>
            <a:ext cx="5527253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r>
              <a:rPr b="0" i="0" lang="en-GB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Question 2. Calculate:</a:t>
            </a:r>
            <a:endParaRPr/>
          </a:p>
        </p:txBody>
      </p:sp>
      <p:graphicFrame>
        <p:nvGraphicFramePr>
          <p:cNvPr id="171" name="Google Shape;171;p15"/>
          <p:cNvGraphicFramePr/>
          <p:nvPr/>
        </p:nvGraphicFramePr>
        <p:xfrm>
          <a:off x="130539" y="3233263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{41592E97-0B86-4675-BA24-A8669EC297F8}</a:tableStyleId>
              </a:tblPr>
              <a:tblGrid>
                <a:gridCol w="1645600"/>
                <a:gridCol w="1645600"/>
                <a:gridCol w="1645600"/>
                <a:gridCol w="1645600"/>
              </a:tblGrid>
              <a:tr h="10044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0044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0044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72" name="Google Shape;172;p15"/>
          <p:cNvGraphicFramePr/>
          <p:nvPr/>
        </p:nvGraphicFramePr>
        <p:xfrm>
          <a:off x="130539" y="6325978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{41592E97-0B86-4675-BA24-A8669EC297F8}</a:tableStyleId>
              </a:tblPr>
              <a:tblGrid>
                <a:gridCol w="6582375"/>
              </a:tblGrid>
              <a:tr h="5274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200">
                          <a:solidFill>
                            <a:schemeClr val="dk1"/>
                          </a:solidFill>
                        </a:rPr>
                        <a:t>Fact: </a:t>
                      </a: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Dividing by 0.1 is the same as  ___________________________________________ .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73" name="Google Shape;173;p15"/>
          <p:cNvGraphicFramePr/>
          <p:nvPr/>
        </p:nvGraphicFramePr>
        <p:xfrm>
          <a:off x="130539" y="7161518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{41592E97-0B86-4675-BA24-A8669EC297F8}</a:tableStyleId>
              </a:tblPr>
              <a:tblGrid>
                <a:gridCol w="1467150"/>
                <a:gridCol w="1702200"/>
                <a:gridCol w="1702200"/>
                <a:gridCol w="1702200"/>
              </a:tblGrid>
              <a:tr h="274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</a:rPr>
                        <a:t>Steps</a:t>
                      </a:r>
                      <a:endParaRPr sz="1200">
                        <a:solidFill>
                          <a:srgbClr val="00000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858075">
                <a:tc rowSpan="3"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rgbClr val="000000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rgbClr val="000000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rgbClr val="000000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rgbClr val="00000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rgbClr val="00000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rgbClr val="00000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2400"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822950"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rgbClr val="000000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rgbClr val="000000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rgbClr val="000000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rgbClr val="00000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rgbClr val="00000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rgbClr val="00000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74" name="Google Shape;174;p15"/>
          <p:cNvSpPr txBox="1"/>
          <p:nvPr/>
        </p:nvSpPr>
        <p:spPr>
          <a:xfrm>
            <a:off x="1846482" y="6939332"/>
            <a:ext cx="1835150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Example 7 – I do</a:t>
            </a:r>
            <a:endParaRPr b="1" i="1" sz="1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15"/>
          <p:cNvSpPr txBox="1"/>
          <p:nvPr/>
        </p:nvSpPr>
        <p:spPr>
          <a:xfrm>
            <a:off x="3384031" y="6915425"/>
            <a:ext cx="1835150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GB" sz="120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Example 8 – We do</a:t>
            </a:r>
            <a:endParaRPr b="1" i="1" sz="1200">
              <a:solidFill>
                <a:schemeClr val="accent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15"/>
          <p:cNvSpPr txBox="1"/>
          <p:nvPr/>
        </p:nvSpPr>
        <p:spPr>
          <a:xfrm>
            <a:off x="5147578" y="6908697"/>
            <a:ext cx="1835150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GB" sz="1200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Example 9 – You do</a:t>
            </a:r>
            <a:endParaRPr b="1" i="1" sz="1200">
              <a:solidFill>
                <a:srgbClr val="00B05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15"/>
          <p:cNvSpPr txBox="1"/>
          <p:nvPr/>
        </p:nvSpPr>
        <p:spPr>
          <a:xfrm>
            <a:off x="1846482" y="1372427"/>
            <a:ext cx="1312969" cy="369332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178" name="Google Shape;178;p15"/>
          <p:cNvSpPr txBox="1"/>
          <p:nvPr/>
        </p:nvSpPr>
        <p:spPr>
          <a:xfrm>
            <a:off x="3446160" y="1372025"/>
            <a:ext cx="1312969" cy="369332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179" name="Google Shape;179;p15"/>
          <p:cNvSpPr txBox="1"/>
          <p:nvPr/>
        </p:nvSpPr>
        <p:spPr>
          <a:xfrm>
            <a:off x="5160619" y="1372025"/>
            <a:ext cx="1312969" cy="369332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180" name="Google Shape;180;p15"/>
          <p:cNvSpPr txBox="1"/>
          <p:nvPr/>
        </p:nvSpPr>
        <p:spPr>
          <a:xfrm>
            <a:off x="140588" y="3567157"/>
            <a:ext cx="1312969" cy="369332"/>
          </a:xfrm>
          <a:prstGeom prst="rect">
            <a:avLst/>
          </a:pr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181" name="Google Shape;181;p15"/>
          <p:cNvSpPr txBox="1"/>
          <p:nvPr/>
        </p:nvSpPr>
        <p:spPr>
          <a:xfrm>
            <a:off x="1886040" y="3572720"/>
            <a:ext cx="1312969" cy="369332"/>
          </a:xfrm>
          <a:prstGeom prst="rect">
            <a:avLst/>
          </a:pr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182" name="Google Shape;182;p15"/>
          <p:cNvSpPr txBox="1"/>
          <p:nvPr/>
        </p:nvSpPr>
        <p:spPr>
          <a:xfrm>
            <a:off x="3485718" y="3572318"/>
            <a:ext cx="1312969" cy="369332"/>
          </a:xfrm>
          <a:prstGeom prst="rect">
            <a:avLst/>
          </a:prstGeom>
          <a:blipFill rotWithShape="1">
            <a:blip r:embed="rId8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183" name="Google Shape;183;p15"/>
          <p:cNvSpPr txBox="1"/>
          <p:nvPr/>
        </p:nvSpPr>
        <p:spPr>
          <a:xfrm>
            <a:off x="5200177" y="3572318"/>
            <a:ext cx="1312969" cy="369332"/>
          </a:xfrm>
          <a:prstGeom prst="rect">
            <a:avLst/>
          </a:prstGeom>
          <a:blipFill rotWithShape="1">
            <a:blip r:embed="rId9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184" name="Google Shape;184;p15"/>
          <p:cNvSpPr txBox="1"/>
          <p:nvPr/>
        </p:nvSpPr>
        <p:spPr>
          <a:xfrm>
            <a:off x="138336" y="4535362"/>
            <a:ext cx="1312969" cy="369332"/>
          </a:xfrm>
          <a:prstGeom prst="rect">
            <a:avLst/>
          </a:prstGeom>
          <a:blipFill rotWithShape="1">
            <a:blip r:embed="rId10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185" name="Google Shape;185;p15"/>
          <p:cNvSpPr txBox="1"/>
          <p:nvPr/>
        </p:nvSpPr>
        <p:spPr>
          <a:xfrm>
            <a:off x="1883788" y="4540925"/>
            <a:ext cx="1312969" cy="369332"/>
          </a:xfrm>
          <a:prstGeom prst="rect">
            <a:avLst/>
          </a:prstGeom>
          <a:blipFill rotWithShape="1">
            <a:blip r:embed="rId11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186" name="Google Shape;186;p15"/>
          <p:cNvSpPr txBox="1"/>
          <p:nvPr/>
        </p:nvSpPr>
        <p:spPr>
          <a:xfrm>
            <a:off x="3483466" y="4540523"/>
            <a:ext cx="1312969" cy="369332"/>
          </a:xfrm>
          <a:prstGeom prst="rect">
            <a:avLst/>
          </a:prstGeom>
          <a:blipFill rotWithShape="1">
            <a:blip r:embed="rId12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187" name="Google Shape;187;p15"/>
          <p:cNvSpPr txBox="1"/>
          <p:nvPr/>
        </p:nvSpPr>
        <p:spPr>
          <a:xfrm>
            <a:off x="5197925" y="4540523"/>
            <a:ext cx="1312969" cy="369332"/>
          </a:xfrm>
          <a:prstGeom prst="rect">
            <a:avLst/>
          </a:prstGeom>
          <a:blipFill rotWithShape="1">
            <a:blip r:embed="rId1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188" name="Google Shape;188;p15"/>
          <p:cNvSpPr txBox="1"/>
          <p:nvPr/>
        </p:nvSpPr>
        <p:spPr>
          <a:xfrm>
            <a:off x="138336" y="5366317"/>
            <a:ext cx="1312969" cy="369332"/>
          </a:xfrm>
          <a:prstGeom prst="rect">
            <a:avLst/>
          </a:prstGeom>
          <a:blipFill rotWithShape="1">
            <a:blip r:embed="rId1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189" name="Google Shape;189;p15"/>
          <p:cNvSpPr txBox="1"/>
          <p:nvPr/>
        </p:nvSpPr>
        <p:spPr>
          <a:xfrm>
            <a:off x="1883788" y="5371880"/>
            <a:ext cx="1312969" cy="369332"/>
          </a:xfrm>
          <a:prstGeom prst="rect">
            <a:avLst/>
          </a:prstGeom>
          <a:blipFill rotWithShape="1">
            <a:blip r:embed="rId1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190" name="Google Shape;190;p15"/>
          <p:cNvSpPr txBox="1"/>
          <p:nvPr/>
        </p:nvSpPr>
        <p:spPr>
          <a:xfrm>
            <a:off x="3483466" y="5371478"/>
            <a:ext cx="1312969" cy="369332"/>
          </a:xfrm>
          <a:prstGeom prst="rect">
            <a:avLst/>
          </a:prstGeom>
          <a:blipFill rotWithShape="1">
            <a:blip r:embed="rId16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191" name="Google Shape;191;p15"/>
          <p:cNvSpPr txBox="1"/>
          <p:nvPr/>
        </p:nvSpPr>
        <p:spPr>
          <a:xfrm>
            <a:off x="5197925" y="5371478"/>
            <a:ext cx="1312969" cy="369332"/>
          </a:xfrm>
          <a:prstGeom prst="rect">
            <a:avLst/>
          </a:prstGeom>
          <a:blipFill rotWithShape="1">
            <a:blip r:embed="rId17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192" name="Google Shape;192;p15"/>
          <p:cNvSpPr txBox="1"/>
          <p:nvPr/>
        </p:nvSpPr>
        <p:spPr>
          <a:xfrm>
            <a:off x="2502966" y="6335282"/>
            <a:ext cx="1312969" cy="369332"/>
          </a:xfrm>
          <a:prstGeom prst="rect">
            <a:avLst/>
          </a:prstGeom>
          <a:blipFill rotWithShape="1">
            <a:blip r:embed="rId18">
              <a:alphaModFix/>
            </a:blip>
            <a:stretch>
              <a:fillRect b="-13114" l="-1395" r="-45117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193" name="Google Shape;193;p15"/>
          <p:cNvSpPr txBox="1"/>
          <p:nvPr/>
        </p:nvSpPr>
        <p:spPr>
          <a:xfrm>
            <a:off x="1846482" y="7648605"/>
            <a:ext cx="1312969" cy="369332"/>
          </a:xfrm>
          <a:prstGeom prst="rect">
            <a:avLst/>
          </a:prstGeom>
          <a:blipFill rotWithShape="1">
            <a:blip r:embed="rId19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194" name="Google Shape;194;p15"/>
          <p:cNvSpPr txBox="1"/>
          <p:nvPr/>
        </p:nvSpPr>
        <p:spPr>
          <a:xfrm>
            <a:off x="3446160" y="7648203"/>
            <a:ext cx="1312969" cy="369332"/>
          </a:xfrm>
          <a:prstGeom prst="rect">
            <a:avLst/>
          </a:prstGeom>
          <a:blipFill rotWithShape="1">
            <a:blip r:embed="rId20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195" name="Google Shape;195;p15"/>
          <p:cNvSpPr txBox="1"/>
          <p:nvPr/>
        </p:nvSpPr>
        <p:spPr>
          <a:xfrm>
            <a:off x="5160619" y="7648203"/>
            <a:ext cx="1312969" cy="369332"/>
          </a:xfrm>
          <a:prstGeom prst="rect">
            <a:avLst/>
          </a:prstGeom>
          <a:blipFill rotWithShape="1">
            <a:blip r:embed="rId21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196" name="Google Shape;196;p15"/>
          <p:cNvSpPr txBox="1"/>
          <p:nvPr/>
        </p:nvSpPr>
        <p:spPr>
          <a:xfrm>
            <a:off x="1883788" y="8812154"/>
            <a:ext cx="1312969" cy="369332"/>
          </a:xfrm>
          <a:prstGeom prst="rect">
            <a:avLst/>
          </a:prstGeom>
          <a:blipFill rotWithShape="1">
            <a:blip r:embed="rId22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197" name="Google Shape;197;p15"/>
          <p:cNvSpPr txBox="1"/>
          <p:nvPr/>
        </p:nvSpPr>
        <p:spPr>
          <a:xfrm>
            <a:off x="3483466" y="8811752"/>
            <a:ext cx="1312969" cy="369332"/>
          </a:xfrm>
          <a:prstGeom prst="rect">
            <a:avLst/>
          </a:prstGeom>
          <a:blipFill rotWithShape="1">
            <a:blip r:embed="rId2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198" name="Google Shape;198;p15"/>
          <p:cNvSpPr txBox="1"/>
          <p:nvPr/>
        </p:nvSpPr>
        <p:spPr>
          <a:xfrm>
            <a:off x="5197925" y="8811752"/>
            <a:ext cx="1312969" cy="369332"/>
          </a:xfrm>
          <a:prstGeom prst="rect">
            <a:avLst/>
          </a:prstGeom>
          <a:blipFill rotWithShape="1">
            <a:blip r:embed="rId2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16"/>
          <p:cNvSpPr txBox="1"/>
          <p:nvPr>
            <p:ph idx="12" type="sldNum"/>
          </p:nvPr>
        </p:nvSpPr>
        <p:spPr>
          <a:xfrm>
            <a:off x="5235050" y="9442683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204" name="Google Shape;204;p16"/>
          <p:cNvSpPr/>
          <p:nvPr/>
        </p:nvSpPr>
        <p:spPr>
          <a:xfrm>
            <a:off x="132281" y="114852"/>
            <a:ext cx="1137954" cy="340453"/>
          </a:xfrm>
          <a:prstGeom prst="rect">
            <a:avLst/>
          </a:prstGeom>
          <a:solidFill>
            <a:srgbClr val="0070C0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Independent Practice</a:t>
            </a:r>
            <a:endParaRPr/>
          </a:p>
        </p:txBody>
      </p:sp>
      <p:sp>
        <p:nvSpPr>
          <p:cNvPr id="205" name="Google Shape;205;p16"/>
          <p:cNvSpPr txBox="1"/>
          <p:nvPr/>
        </p:nvSpPr>
        <p:spPr>
          <a:xfrm>
            <a:off x="1260187" y="232735"/>
            <a:ext cx="5527253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r>
              <a:rPr b="0" i="0" lang="en-GB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Question 3. Calculate:</a:t>
            </a:r>
            <a:endParaRPr/>
          </a:p>
        </p:txBody>
      </p:sp>
      <p:graphicFrame>
        <p:nvGraphicFramePr>
          <p:cNvPr id="206" name="Google Shape;206;p16"/>
          <p:cNvGraphicFramePr/>
          <p:nvPr/>
        </p:nvGraphicFramePr>
        <p:xfrm>
          <a:off x="132280" y="54125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{41592E97-0B86-4675-BA24-A8669EC297F8}</a:tableStyleId>
              </a:tblPr>
              <a:tblGrid>
                <a:gridCol w="1645600"/>
                <a:gridCol w="1645600"/>
                <a:gridCol w="1645600"/>
                <a:gridCol w="1645600"/>
              </a:tblGrid>
              <a:tr h="10044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0044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207" name="Google Shape;207;p16"/>
          <p:cNvGraphicFramePr/>
          <p:nvPr/>
        </p:nvGraphicFramePr>
        <p:xfrm>
          <a:off x="132280" y="2599154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{41592E97-0B86-4675-BA24-A8669EC297F8}</a:tableStyleId>
              </a:tblPr>
              <a:tblGrid>
                <a:gridCol w="6582375"/>
              </a:tblGrid>
              <a:tr h="5274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200">
                          <a:solidFill>
                            <a:schemeClr val="dk1"/>
                          </a:solidFill>
                        </a:rPr>
                        <a:t>Fact: </a:t>
                      </a: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Dividing by 0.5 is the same as  ___________________________________________ .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208" name="Google Shape;208;p16"/>
          <p:cNvGraphicFramePr/>
          <p:nvPr/>
        </p:nvGraphicFramePr>
        <p:xfrm>
          <a:off x="132280" y="3172264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{41592E97-0B86-4675-BA24-A8669EC297F8}</a:tableStyleId>
              </a:tblPr>
              <a:tblGrid>
                <a:gridCol w="6582375"/>
              </a:tblGrid>
              <a:tr h="5274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200">
                          <a:solidFill>
                            <a:schemeClr val="dk1"/>
                          </a:solidFill>
                        </a:rPr>
                        <a:t>Fact: </a:t>
                      </a: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Dividing by 0.2 is the same as  ___________________________________________ .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209" name="Google Shape;209;p16"/>
          <p:cNvGraphicFramePr/>
          <p:nvPr/>
        </p:nvGraphicFramePr>
        <p:xfrm>
          <a:off x="132280" y="4017409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{41592E97-0B86-4675-BA24-A8669EC297F8}</a:tableStyleId>
              </a:tblPr>
              <a:tblGrid>
                <a:gridCol w="1472700"/>
                <a:gridCol w="1699875"/>
                <a:gridCol w="1699875"/>
                <a:gridCol w="1699875"/>
              </a:tblGrid>
              <a:tr h="274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</a:rPr>
                        <a:t>Steps</a:t>
                      </a:r>
                      <a:endParaRPr sz="1200">
                        <a:solidFill>
                          <a:srgbClr val="00000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900425">
                <a:tc rowSpan="3"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rgbClr val="000000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rgbClr val="000000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rgbClr val="000000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rgbClr val="00000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rgbClr val="00000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rgbClr val="00000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4325"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900425"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rgbClr val="000000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rgbClr val="000000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rgbClr val="000000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rgbClr val="00000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rgbClr val="00000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rgbClr val="00000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10" name="Google Shape;210;p16"/>
          <p:cNvSpPr txBox="1"/>
          <p:nvPr/>
        </p:nvSpPr>
        <p:spPr>
          <a:xfrm>
            <a:off x="1838174" y="3763104"/>
            <a:ext cx="1835150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Example 7 – I do</a:t>
            </a:r>
            <a:endParaRPr b="1" i="1" sz="1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16"/>
          <p:cNvSpPr txBox="1"/>
          <p:nvPr/>
        </p:nvSpPr>
        <p:spPr>
          <a:xfrm>
            <a:off x="3435069" y="3766468"/>
            <a:ext cx="1835150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GB" sz="120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Example 8 – We do</a:t>
            </a:r>
            <a:endParaRPr b="1" i="1" sz="1200">
              <a:solidFill>
                <a:schemeClr val="accent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16"/>
          <p:cNvSpPr txBox="1"/>
          <p:nvPr/>
        </p:nvSpPr>
        <p:spPr>
          <a:xfrm>
            <a:off x="5210873" y="3759740"/>
            <a:ext cx="1835150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GB" sz="1200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Example 9 – You do</a:t>
            </a:r>
            <a:endParaRPr b="1" i="1" sz="1200">
              <a:solidFill>
                <a:srgbClr val="00B05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16"/>
          <p:cNvSpPr/>
          <p:nvPr/>
        </p:nvSpPr>
        <p:spPr>
          <a:xfrm>
            <a:off x="122233" y="6414345"/>
            <a:ext cx="1137954" cy="340453"/>
          </a:xfrm>
          <a:prstGeom prst="rect">
            <a:avLst/>
          </a:prstGeom>
          <a:solidFill>
            <a:srgbClr val="0070C0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Independent Practice</a:t>
            </a:r>
            <a:endParaRPr/>
          </a:p>
        </p:txBody>
      </p:sp>
      <p:graphicFrame>
        <p:nvGraphicFramePr>
          <p:cNvPr id="214" name="Google Shape;214;p16"/>
          <p:cNvGraphicFramePr/>
          <p:nvPr/>
        </p:nvGraphicFramePr>
        <p:xfrm>
          <a:off x="122231" y="68318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{41592E97-0B86-4675-BA24-A8669EC297F8}</a:tableStyleId>
              </a:tblPr>
              <a:tblGrid>
                <a:gridCol w="1645600"/>
                <a:gridCol w="1645600"/>
                <a:gridCol w="1645600"/>
                <a:gridCol w="1645600"/>
              </a:tblGrid>
              <a:tr h="936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936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936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15" name="Google Shape;215;p16"/>
          <p:cNvSpPr txBox="1"/>
          <p:nvPr/>
        </p:nvSpPr>
        <p:spPr>
          <a:xfrm>
            <a:off x="1208514" y="6554801"/>
            <a:ext cx="5527253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r>
              <a:rPr b="0" i="0" lang="en-GB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Question 4. Calculate:</a:t>
            </a:r>
            <a:endParaRPr/>
          </a:p>
        </p:txBody>
      </p:sp>
      <p:sp>
        <p:nvSpPr>
          <p:cNvPr id="216" name="Google Shape;216;p16"/>
          <p:cNvSpPr txBox="1"/>
          <p:nvPr/>
        </p:nvSpPr>
        <p:spPr>
          <a:xfrm>
            <a:off x="336599" y="1020890"/>
            <a:ext cx="1312969" cy="369332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217" name="Google Shape;217;p16"/>
          <p:cNvSpPr txBox="1"/>
          <p:nvPr/>
        </p:nvSpPr>
        <p:spPr>
          <a:xfrm>
            <a:off x="2082051" y="1026453"/>
            <a:ext cx="1312969" cy="369332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218" name="Google Shape;218;p16"/>
          <p:cNvSpPr txBox="1"/>
          <p:nvPr/>
        </p:nvSpPr>
        <p:spPr>
          <a:xfrm>
            <a:off x="3681729" y="1026051"/>
            <a:ext cx="1312969" cy="369332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219" name="Google Shape;219;p16"/>
          <p:cNvSpPr txBox="1"/>
          <p:nvPr/>
        </p:nvSpPr>
        <p:spPr>
          <a:xfrm>
            <a:off x="5396188" y="1026051"/>
            <a:ext cx="1312969" cy="369332"/>
          </a:xfrm>
          <a:prstGeom prst="rect">
            <a:avLst/>
          </a:pr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220" name="Google Shape;220;p16"/>
          <p:cNvSpPr txBox="1"/>
          <p:nvPr/>
        </p:nvSpPr>
        <p:spPr>
          <a:xfrm>
            <a:off x="324466" y="1968529"/>
            <a:ext cx="1312969" cy="369332"/>
          </a:xfrm>
          <a:prstGeom prst="rect">
            <a:avLst/>
          </a:pr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221" name="Google Shape;221;p16"/>
          <p:cNvSpPr txBox="1"/>
          <p:nvPr/>
        </p:nvSpPr>
        <p:spPr>
          <a:xfrm>
            <a:off x="2069918" y="1974092"/>
            <a:ext cx="1312969" cy="369332"/>
          </a:xfrm>
          <a:prstGeom prst="rect">
            <a:avLst/>
          </a:prstGeom>
          <a:blipFill rotWithShape="1">
            <a:blip r:embed="rId8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222" name="Google Shape;222;p16"/>
          <p:cNvSpPr txBox="1"/>
          <p:nvPr/>
        </p:nvSpPr>
        <p:spPr>
          <a:xfrm>
            <a:off x="3669596" y="1973690"/>
            <a:ext cx="1312969" cy="369332"/>
          </a:xfrm>
          <a:prstGeom prst="rect">
            <a:avLst/>
          </a:prstGeom>
          <a:blipFill rotWithShape="1">
            <a:blip r:embed="rId9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223" name="Google Shape;223;p16"/>
          <p:cNvSpPr txBox="1"/>
          <p:nvPr/>
        </p:nvSpPr>
        <p:spPr>
          <a:xfrm>
            <a:off x="5384055" y="1973690"/>
            <a:ext cx="1312969" cy="369332"/>
          </a:xfrm>
          <a:prstGeom prst="rect">
            <a:avLst/>
          </a:prstGeom>
          <a:blipFill rotWithShape="1">
            <a:blip r:embed="rId10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224" name="Google Shape;224;p16"/>
          <p:cNvSpPr txBox="1"/>
          <p:nvPr/>
        </p:nvSpPr>
        <p:spPr>
          <a:xfrm>
            <a:off x="2502318" y="2616324"/>
            <a:ext cx="1312969" cy="369332"/>
          </a:xfrm>
          <a:prstGeom prst="rect">
            <a:avLst/>
          </a:prstGeom>
          <a:blipFill rotWithShape="1">
            <a:blip r:embed="rId11">
              <a:alphaModFix/>
            </a:blip>
            <a:stretch>
              <a:fillRect b="-13114" l="-1389" r="-35186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225" name="Google Shape;225;p16"/>
          <p:cNvSpPr txBox="1"/>
          <p:nvPr/>
        </p:nvSpPr>
        <p:spPr>
          <a:xfrm>
            <a:off x="2502318" y="3199561"/>
            <a:ext cx="1312969" cy="369332"/>
          </a:xfrm>
          <a:prstGeom prst="rect">
            <a:avLst/>
          </a:prstGeom>
          <a:blipFill rotWithShape="1">
            <a:blip r:embed="rId12">
              <a:alphaModFix/>
            </a:blip>
            <a:stretch>
              <a:fillRect b="-13332" l="-1389" r="-35186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226" name="Google Shape;226;p16"/>
          <p:cNvSpPr txBox="1"/>
          <p:nvPr/>
        </p:nvSpPr>
        <p:spPr>
          <a:xfrm>
            <a:off x="1838174" y="4549469"/>
            <a:ext cx="1312969" cy="369332"/>
          </a:xfrm>
          <a:prstGeom prst="rect">
            <a:avLst/>
          </a:prstGeom>
          <a:blipFill rotWithShape="1">
            <a:blip r:embed="rId1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227" name="Google Shape;227;p16"/>
          <p:cNvSpPr txBox="1"/>
          <p:nvPr/>
        </p:nvSpPr>
        <p:spPr>
          <a:xfrm>
            <a:off x="3437852" y="4549067"/>
            <a:ext cx="1312969" cy="369332"/>
          </a:xfrm>
          <a:prstGeom prst="rect">
            <a:avLst/>
          </a:prstGeom>
          <a:blipFill rotWithShape="1">
            <a:blip r:embed="rId1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228" name="Google Shape;228;p16"/>
          <p:cNvSpPr txBox="1"/>
          <p:nvPr/>
        </p:nvSpPr>
        <p:spPr>
          <a:xfrm>
            <a:off x="5152311" y="4549067"/>
            <a:ext cx="1312969" cy="369332"/>
          </a:xfrm>
          <a:prstGeom prst="rect">
            <a:avLst/>
          </a:prstGeom>
          <a:blipFill rotWithShape="1">
            <a:blip r:embed="rId1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229" name="Google Shape;229;p16"/>
          <p:cNvSpPr txBox="1"/>
          <p:nvPr/>
        </p:nvSpPr>
        <p:spPr>
          <a:xfrm>
            <a:off x="1845833" y="5757264"/>
            <a:ext cx="1312969" cy="369332"/>
          </a:xfrm>
          <a:prstGeom prst="rect">
            <a:avLst/>
          </a:prstGeom>
          <a:blipFill rotWithShape="1">
            <a:blip r:embed="rId16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230" name="Google Shape;230;p16"/>
          <p:cNvSpPr txBox="1"/>
          <p:nvPr/>
        </p:nvSpPr>
        <p:spPr>
          <a:xfrm>
            <a:off x="5228454" y="5771990"/>
            <a:ext cx="1312969" cy="369332"/>
          </a:xfrm>
          <a:prstGeom prst="rect">
            <a:avLst/>
          </a:prstGeom>
          <a:blipFill rotWithShape="1">
            <a:blip r:embed="rId17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231" name="Google Shape;231;p16"/>
          <p:cNvSpPr txBox="1"/>
          <p:nvPr/>
        </p:nvSpPr>
        <p:spPr>
          <a:xfrm>
            <a:off x="3517995" y="5749716"/>
            <a:ext cx="1312969" cy="369332"/>
          </a:xfrm>
          <a:prstGeom prst="rect">
            <a:avLst/>
          </a:prstGeom>
          <a:blipFill rotWithShape="1">
            <a:blip r:embed="rId18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232" name="Google Shape;232;p16"/>
          <p:cNvSpPr txBox="1"/>
          <p:nvPr/>
        </p:nvSpPr>
        <p:spPr>
          <a:xfrm>
            <a:off x="153397" y="7220510"/>
            <a:ext cx="1312969" cy="369332"/>
          </a:xfrm>
          <a:prstGeom prst="rect">
            <a:avLst/>
          </a:prstGeom>
          <a:blipFill rotWithShape="1">
            <a:blip r:embed="rId19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233" name="Google Shape;233;p16"/>
          <p:cNvSpPr txBox="1"/>
          <p:nvPr/>
        </p:nvSpPr>
        <p:spPr>
          <a:xfrm>
            <a:off x="1898849" y="7226073"/>
            <a:ext cx="1312969" cy="369332"/>
          </a:xfrm>
          <a:prstGeom prst="rect">
            <a:avLst/>
          </a:prstGeom>
          <a:blipFill rotWithShape="1">
            <a:blip r:embed="rId20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234" name="Google Shape;234;p16"/>
          <p:cNvSpPr txBox="1"/>
          <p:nvPr/>
        </p:nvSpPr>
        <p:spPr>
          <a:xfrm>
            <a:off x="3517995" y="7189147"/>
            <a:ext cx="1312969" cy="369332"/>
          </a:xfrm>
          <a:prstGeom prst="rect">
            <a:avLst/>
          </a:prstGeom>
          <a:blipFill rotWithShape="1">
            <a:blip r:embed="rId21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235" name="Google Shape;235;p16"/>
          <p:cNvSpPr txBox="1"/>
          <p:nvPr/>
        </p:nvSpPr>
        <p:spPr>
          <a:xfrm>
            <a:off x="5111299" y="7203003"/>
            <a:ext cx="1312969" cy="369332"/>
          </a:xfrm>
          <a:prstGeom prst="rect">
            <a:avLst/>
          </a:prstGeom>
          <a:blipFill rotWithShape="1">
            <a:blip r:embed="rId22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236" name="Google Shape;236;p16"/>
          <p:cNvSpPr txBox="1"/>
          <p:nvPr/>
        </p:nvSpPr>
        <p:spPr>
          <a:xfrm>
            <a:off x="324466" y="8139757"/>
            <a:ext cx="1312969" cy="369332"/>
          </a:xfrm>
          <a:prstGeom prst="rect">
            <a:avLst/>
          </a:prstGeom>
          <a:blipFill rotWithShape="1">
            <a:blip r:embed="rId2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237" name="Google Shape;237;p16"/>
          <p:cNvSpPr txBox="1"/>
          <p:nvPr/>
        </p:nvSpPr>
        <p:spPr>
          <a:xfrm>
            <a:off x="2038925" y="8139757"/>
            <a:ext cx="1312969" cy="369332"/>
          </a:xfrm>
          <a:prstGeom prst="rect">
            <a:avLst/>
          </a:prstGeom>
          <a:blipFill rotWithShape="1">
            <a:blip r:embed="rId2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238" name="Google Shape;238;p16"/>
          <p:cNvSpPr txBox="1"/>
          <p:nvPr/>
        </p:nvSpPr>
        <p:spPr>
          <a:xfrm>
            <a:off x="3506108" y="8045141"/>
            <a:ext cx="1312969" cy="369332"/>
          </a:xfrm>
          <a:prstGeom prst="rect">
            <a:avLst/>
          </a:prstGeom>
          <a:blipFill rotWithShape="1">
            <a:blip r:embed="rId2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239" name="Google Shape;239;p16"/>
          <p:cNvSpPr txBox="1"/>
          <p:nvPr/>
        </p:nvSpPr>
        <p:spPr>
          <a:xfrm>
            <a:off x="5210873" y="8045141"/>
            <a:ext cx="1312969" cy="369332"/>
          </a:xfrm>
          <a:prstGeom prst="rect">
            <a:avLst/>
          </a:prstGeom>
          <a:blipFill rotWithShape="1">
            <a:blip r:embed="rId26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240" name="Google Shape;240;p16"/>
          <p:cNvSpPr txBox="1"/>
          <p:nvPr/>
        </p:nvSpPr>
        <p:spPr>
          <a:xfrm>
            <a:off x="219889" y="8995413"/>
            <a:ext cx="1312969" cy="369332"/>
          </a:xfrm>
          <a:prstGeom prst="rect">
            <a:avLst/>
          </a:prstGeom>
          <a:blipFill rotWithShape="1">
            <a:blip r:embed="rId27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241" name="Google Shape;241;p16"/>
          <p:cNvSpPr txBox="1"/>
          <p:nvPr/>
        </p:nvSpPr>
        <p:spPr>
          <a:xfrm>
            <a:off x="2022156" y="9073351"/>
            <a:ext cx="1312969" cy="369332"/>
          </a:xfrm>
          <a:prstGeom prst="rect">
            <a:avLst/>
          </a:prstGeom>
          <a:blipFill rotWithShape="1">
            <a:blip r:embed="rId28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242" name="Google Shape;242;p16"/>
          <p:cNvSpPr txBox="1"/>
          <p:nvPr/>
        </p:nvSpPr>
        <p:spPr>
          <a:xfrm>
            <a:off x="3628603" y="9072002"/>
            <a:ext cx="1312969" cy="369332"/>
          </a:xfrm>
          <a:prstGeom prst="rect">
            <a:avLst/>
          </a:prstGeom>
          <a:blipFill rotWithShape="1">
            <a:blip r:embed="rId29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243" name="Google Shape;243;p16"/>
          <p:cNvSpPr txBox="1"/>
          <p:nvPr/>
        </p:nvSpPr>
        <p:spPr>
          <a:xfrm>
            <a:off x="5166603" y="9034850"/>
            <a:ext cx="1312969" cy="369332"/>
          </a:xfrm>
          <a:prstGeom prst="rect">
            <a:avLst/>
          </a:prstGeom>
          <a:blipFill rotWithShape="1">
            <a:blip r:embed="rId30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17"/>
          <p:cNvSpPr txBox="1"/>
          <p:nvPr>
            <p:ph idx="12" type="sldNum"/>
          </p:nvPr>
        </p:nvSpPr>
        <p:spPr>
          <a:xfrm>
            <a:off x="5225628" y="93785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249" name="Google Shape;249;p17"/>
          <p:cNvSpPr/>
          <p:nvPr/>
        </p:nvSpPr>
        <p:spPr>
          <a:xfrm>
            <a:off x="130372" y="158167"/>
            <a:ext cx="2210055" cy="256658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Dividing decimals by decimals</a:t>
            </a:r>
            <a:endParaRPr sz="1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50" name="Google Shape;250;p17"/>
          <p:cNvGraphicFramePr/>
          <p:nvPr/>
        </p:nvGraphicFramePr>
        <p:xfrm>
          <a:off x="119896" y="712213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{41592E97-0B86-4675-BA24-A8669EC297F8}</a:tableStyleId>
              </a:tblPr>
              <a:tblGrid>
                <a:gridCol w="1472700"/>
                <a:gridCol w="1699875"/>
                <a:gridCol w="1699875"/>
                <a:gridCol w="1699875"/>
              </a:tblGrid>
              <a:tr h="274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</a:rPr>
                        <a:t>Steps</a:t>
                      </a:r>
                      <a:endParaRPr sz="1200">
                        <a:solidFill>
                          <a:srgbClr val="00000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900425">
                <a:tc rowSpan="3"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rgbClr val="000000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rgbClr val="000000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rgbClr val="000000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rgbClr val="00000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rgbClr val="00000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rgbClr val="00000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4325"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900425"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rgbClr val="000000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rgbClr val="000000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rgbClr val="000000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rgbClr val="00000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rgbClr val="00000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rgbClr val="00000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51" name="Google Shape;251;p17"/>
          <p:cNvSpPr txBox="1"/>
          <p:nvPr/>
        </p:nvSpPr>
        <p:spPr>
          <a:xfrm>
            <a:off x="1825790" y="457908"/>
            <a:ext cx="1835150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Example 10 – I do</a:t>
            </a:r>
            <a:endParaRPr b="1" i="1" sz="1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17"/>
          <p:cNvSpPr txBox="1"/>
          <p:nvPr/>
        </p:nvSpPr>
        <p:spPr>
          <a:xfrm>
            <a:off x="3422685" y="461272"/>
            <a:ext cx="1835150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GB" sz="120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Example 11 – We do</a:t>
            </a:r>
            <a:endParaRPr b="1" i="1" sz="1200">
              <a:solidFill>
                <a:schemeClr val="accent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17"/>
          <p:cNvSpPr txBox="1"/>
          <p:nvPr/>
        </p:nvSpPr>
        <p:spPr>
          <a:xfrm>
            <a:off x="5079578" y="457908"/>
            <a:ext cx="1835150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GB" sz="1200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Example 12 – You do</a:t>
            </a:r>
            <a:endParaRPr b="1" i="1" sz="1200">
              <a:solidFill>
                <a:srgbClr val="00B05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17"/>
          <p:cNvSpPr/>
          <p:nvPr/>
        </p:nvSpPr>
        <p:spPr>
          <a:xfrm>
            <a:off x="115728" y="3127459"/>
            <a:ext cx="1137954" cy="340453"/>
          </a:xfrm>
          <a:prstGeom prst="rect">
            <a:avLst/>
          </a:prstGeom>
          <a:solidFill>
            <a:srgbClr val="0070C0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Independent Practice</a:t>
            </a:r>
            <a:endParaRPr/>
          </a:p>
        </p:txBody>
      </p:sp>
      <p:sp>
        <p:nvSpPr>
          <p:cNvPr id="255" name="Google Shape;255;p17"/>
          <p:cNvSpPr txBox="1"/>
          <p:nvPr/>
        </p:nvSpPr>
        <p:spPr>
          <a:xfrm>
            <a:off x="1253682" y="3245342"/>
            <a:ext cx="5527253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r>
              <a:rPr b="0" i="0" lang="en-GB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Question 5. Calculate:</a:t>
            </a:r>
            <a:endParaRPr/>
          </a:p>
        </p:txBody>
      </p:sp>
      <p:graphicFrame>
        <p:nvGraphicFramePr>
          <p:cNvPr id="256" name="Google Shape;256;p17"/>
          <p:cNvGraphicFramePr/>
          <p:nvPr/>
        </p:nvGraphicFramePr>
        <p:xfrm>
          <a:off x="139283" y="3557656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{41592E97-0B86-4675-BA24-A8669EC297F8}</a:tableStyleId>
              </a:tblPr>
              <a:tblGrid>
                <a:gridCol w="1638225"/>
                <a:gridCol w="1638225"/>
                <a:gridCol w="1638225"/>
                <a:gridCol w="1638225"/>
              </a:tblGrid>
              <a:tr h="15027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5027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5027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5027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57" name="Google Shape;257;p17"/>
          <p:cNvSpPr txBox="1"/>
          <p:nvPr/>
        </p:nvSpPr>
        <p:spPr>
          <a:xfrm>
            <a:off x="1825790" y="1300509"/>
            <a:ext cx="1312969" cy="369332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258" name="Google Shape;258;p17"/>
          <p:cNvSpPr txBox="1"/>
          <p:nvPr/>
        </p:nvSpPr>
        <p:spPr>
          <a:xfrm>
            <a:off x="3425468" y="1300107"/>
            <a:ext cx="1312969" cy="369332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259" name="Google Shape;259;p17"/>
          <p:cNvSpPr txBox="1"/>
          <p:nvPr/>
        </p:nvSpPr>
        <p:spPr>
          <a:xfrm>
            <a:off x="5139927" y="1300107"/>
            <a:ext cx="1312969" cy="369332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260" name="Google Shape;260;p17"/>
          <p:cNvSpPr txBox="1"/>
          <p:nvPr/>
        </p:nvSpPr>
        <p:spPr>
          <a:xfrm>
            <a:off x="1825790" y="2403240"/>
            <a:ext cx="1312969" cy="369332"/>
          </a:xfrm>
          <a:prstGeom prst="rect">
            <a:avLst/>
          </a:pr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261" name="Google Shape;261;p17"/>
          <p:cNvSpPr txBox="1"/>
          <p:nvPr/>
        </p:nvSpPr>
        <p:spPr>
          <a:xfrm>
            <a:off x="3425468" y="2402838"/>
            <a:ext cx="1312969" cy="369332"/>
          </a:xfrm>
          <a:prstGeom prst="rect">
            <a:avLst/>
          </a:pr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262" name="Google Shape;262;p17"/>
          <p:cNvSpPr txBox="1"/>
          <p:nvPr/>
        </p:nvSpPr>
        <p:spPr>
          <a:xfrm>
            <a:off x="5139927" y="2402838"/>
            <a:ext cx="1312969" cy="369332"/>
          </a:xfrm>
          <a:prstGeom prst="rect">
            <a:avLst/>
          </a:prstGeom>
          <a:blipFill rotWithShape="1">
            <a:blip r:embed="rId8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263" name="Google Shape;263;p17"/>
          <p:cNvSpPr txBox="1"/>
          <p:nvPr/>
        </p:nvSpPr>
        <p:spPr>
          <a:xfrm>
            <a:off x="237782" y="4120016"/>
            <a:ext cx="1312969" cy="369332"/>
          </a:xfrm>
          <a:prstGeom prst="rect">
            <a:avLst/>
          </a:prstGeom>
          <a:blipFill rotWithShape="1">
            <a:blip r:embed="rId9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264" name="Google Shape;264;p17"/>
          <p:cNvSpPr txBox="1"/>
          <p:nvPr/>
        </p:nvSpPr>
        <p:spPr>
          <a:xfrm>
            <a:off x="1825790" y="4120016"/>
            <a:ext cx="1312969" cy="369332"/>
          </a:xfrm>
          <a:prstGeom prst="rect">
            <a:avLst/>
          </a:prstGeom>
          <a:blipFill rotWithShape="1">
            <a:blip r:embed="rId10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265" name="Google Shape;265;p17"/>
          <p:cNvSpPr txBox="1"/>
          <p:nvPr/>
        </p:nvSpPr>
        <p:spPr>
          <a:xfrm>
            <a:off x="5307249" y="4069214"/>
            <a:ext cx="1312969" cy="369332"/>
          </a:xfrm>
          <a:prstGeom prst="rect">
            <a:avLst/>
          </a:prstGeom>
          <a:blipFill rotWithShape="1">
            <a:blip r:embed="rId11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266" name="Google Shape;266;p17"/>
          <p:cNvSpPr txBox="1"/>
          <p:nvPr/>
        </p:nvSpPr>
        <p:spPr>
          <a:xfrm>
            <a:off x="197220" y="5635374"/>
            <a:ext cx="1312969" cy="369332"/>
          </a:xfrm>
          <a:prstGeom prst="rect">
            <a:avLst/>
          </a:prstGeom>
          <a:blipFill rotWithShape="1">
            <a:blip r:embed="rId12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267" name="Google Shape;267;p17"/>
          <p:cNvSpPr txBox="1"/>
          <p:nvPr/>
        </p:nvSpPr>
        <p:spPr>
          <a:xfrm>
            <a:off x="1942672" y="5640937"/>
            <a:ext cx="1312969" cy="369332"/>
          </a:xfrm>
          <a:prstGeom prst="rect">
            <a:avLst/>
          </a:prstGeom>
          <a:blipFill rotWithShape="1">
            <a:blip r:embed="rId1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268" name="Google Shape;268;p17"/>
          <p:cNvSpPr txBox="1"/>
          <p:nvPr/>
        </p:nvSpPr>
        <p:spPr>
          <a:xfrm>
            <a:off x="3542350" y="5640535"/>
            <a:ext cx="1312969" cy="369332"/>
          </a:xfrm>
          <a:prstGeom prst="rect">
            <a:avLst/>
          </a:prstGeom>
          <a:blipFill rotWithShape="1">
            <a:blip r:embed="rId1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269" name="Google Shape;269;p17"/>
          <p:cNvSpPr txBox="1"/>
          <p:nvPr/>
        </p:nvSpPr>
        <p:spPr>
          <a:xfrm>
            <a:off x="5225628" y="5635374"/>
            <a:ext cx="1312969" cy="369332"/>
          </a:xfrm>
          <a:prstGeom prst="rect">
            <a:avLst/>
          </a:prstGeom>
          <a:blipFill rotWithShape="1">
            <a:blip r:embed="rId1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270" name="Google Shape;270;p17"/>
          <p:cNvSpPr txBox="1"/>
          <p:nvPr/>
        </p:nvSpPr>
        <p:spPr>
          <a:xfrm>
            <a:off x="197219" y="7124959"/>
            <a:ext cx="1312969" cy="369332"/>
          </a:xfrm>
          <a:prstGeom prst="rect">
            <a:avLst/>
          </a:prstGeom>
          <a:blipFill rotWithShape="1">
            <a:blip r:embed="rId16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271" name="Google Shape;271;p17"/>
          <p:cNvSpPr txBox="1"/>
          <p:nvPr/>
        </p:nvSpPr>
        <p:spPr>
          <a:xfrm>
            <a:off x="1825790" y="7124959"/>
            <a:ext cx="1312969" cy="369332"/>
          </a:xfrm>
          <a:prstGeom prst="rect">
            <a:avLst/>
          </a:prstGeom>
          <a:blipFill rotWithShape="1">
            <a:blip r:embed="rId17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272" name="Google Shape;272;p17"/>
          <p:cNvSpPr txBox="1"/>
          <p:nvPr/>
        </p:nvSpPr>
        <p:spPr>
          <a:xfrm>
            <a:off x="5225627" y="7156363"/>
            <a:ext cx="1312969" cy="369332"/>
          </a:xfrm>
          <a:prstGeom prst="rect">
            <a:avLst/>
          </a:prstGeom>
          <a:blipFill rotWithShape="1">
            <a:blip r:embed="rId18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273" name="Google Shape;273;p17"/>
          <p:cNvSpPr txBox="1"/>
          <p:nvPr/>
        </p:nvSpPr>
        <p:spPr>
          <a:xfrm>
            <a:off x="3454361" y="4182154"/>
            <a:ext cx="1312969" cy="369332"/>
          </a:xfrm>
          <a:prstGeom prst="rect">
            <a:avLst/>
          </a:prstGeom>
          <a:blipFill rotWithShape="1">
            <a:blip r:embed="rId19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274" name="Google Shape;274;p17"/>
          <p:cNvSpPr txBox="1"/>
          <p:nvPr/>
        </p:nvSpPr>
        <p:spPr>
          <a:xfrm>
            <a:off x="3606761" y="7277359"/>
            <a:ext cx="1312969" cy="369332"/>
          </a:xfrm>
          <a:prstGeom prst="rect">
            <a:avLst/>
          </a:prstGeom>
          <a:blipFill rotWithShape="1">
            <a:blip r:embed="rId20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275" name="Google Shape;275;p17"/>
          <p:cNvSpPr txBox="1"/>
          <p:nvPr/>
        </p:nvSpPr>
        <p:spPr>
          <a:xfrm>
            <a:off x="197219" y="8620273"/>
            <a:ext cx="1312969" cy="369332"/>
          </a:xfrm>
          <a:prstGeom prst="rect">
            <a:avLst/>
          </a:prstGeom>
          <a:blipFill rotWithShape="1">
            <a:blip r:embed="rId21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276" name="Google Shape;276;p17"/>
          <p:cNvSpPr txBox="1"/>
          <p:nvPr/>
        </p:nvSpPr>
        <p:spPr>
          <a:xfrm>
            <a:off x="1825790" y="8620273"/>
            <a:ext cx="1312969" cy="369332"/>
          </a:xfrm>
          <a:prstGeom prst="rect">
            <a:avLst/>
          </a:prstGeom>
          <a:blipFill rotWithShape="1">
            <a:blip r:embed="rId22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277" name="Google Shape;277;p17"/>
          <p:cNvSpPr txBox="1"/>
          <p:nvPr/>
        </p:nvSpPr>
        <p:spPr>
          <a:xfrm>
            <a:off x="5225627" y="8651677"/>
            <a:ext cx="1312969" cy="369332"/>
          </a:xfrm>
          <a:prstGeom prst="rect">
            <a:avLst/>
          </a:prstGeom>
          <a:blipFill rotWithShape="1">
            <a:blip r:embed="rId23">
              <a:alphaModFix/>
            </a:blip>
            <a:stretch>
              <a:fillRect b="0" l="0" r="-5556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278" name="Google Shape;278;p17"/>
          <p:cNvSpPr txBox="1"/>
          <p:nvPr/>
        </p:nvSpPr>
        <p:spPr>
          <a:xfrm>
            <a:off x="3606761" y="8772673"/>
            <a:ext cx="1312969" cy="369332"/>
          </a:xfrm>
          <a:prstGeom prst="rect">
            <a:avLst/>
          </a:prstGeom>
          <a:blipFill rotWithShape="1">
            <a:blip r:embed="rId2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18"/>
          <p:cNvSpPr txBox="1"/>
          <p:nvPr>
            <p:ph idx="12" type="sldNum"/>
          </p:nvPr>
        </p:nvSpPr>
        <p:spPr>
          <a:xfrm>
            <a:off x="5239366" y="9409563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284" name="Google Shape;284;p18"/>
          <p:cNvSpPr/>
          <p:nvPr/>
        </p:nvSpPr>
        <p:spPr>
          <a:xfrm>
            <a:off x="170824" y="180400"/>
            <a:ext cx="1137954" cy="340453"/>
          </a:xfrm>
          <a:prstGeom prst="rect">
            <a:avLst/>
          </a:prstGeom>
          <a:solidFill>
            <a:srgbClr val="0070C0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Mixed Practice</a:t>
            </a:r>
            <a:endParaRPr/>
          </a:p>
        </p:txBody>
      </p:sp>
      <p:sp>
        <p:nvSpPr>
          <p:cNvPr id="285" name="Google Shape;285;p18"/>
          <p:cNvSpPr txBox="1"/>
          <p:nvPr/>
        </p:nvSpPr>
        <p:spPr>
          <a:xfrm>
            <a:off x="1260187" y="232735"/>
            <a:ext cx="5527253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r>
              <a:rPr b="0" i="0" lang="en-GB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Question 6. Calculate:</a:t>
            </a:r>
            <a:endParaRPr/>
          </a:p>
        </p:txBody>
      </p:sp>
      <p:graphicFrame>
        <p:nvGraphicFramePr>
          <p:cNvPr id="286" name="Google Shape;286;p18"/>
          <p:cNvGraphicFramePr/>
          <p:nvPr/>
        </p:nvGraphicFramePr>
        <p:xfrm>
          <a:off x="170824" y="573188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{41592E97-0B86-4675-BA24-A8669EC297F8}</a:tableStyleId>
              </a:tblPr>
              <a:tblGrid>
                <a:gridCol w="1638225"/>
                <a:gridCol w="1638225"/>
                <a:gridCol w="1638225"/>
                <a:gridCol w="1638225"/>
              </a:tblGrid>
              <a:tr h="15027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5027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5027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5027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287" name="Google Shape;287;p18"/>
          <p:cNvGraphicFramePr/>
          <p:nvPr/>
        </p:nvGraphicFramePr>
        <p:xfrm>
          <a:off x="170824" y="67751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{41592E97-0B86-4675-BA24-A8669EC297F8}</a:tableStyleId>
              </a:tblPr>
              <a:tblGrid>
                <a:gridCol w="6552925"/>
              </a:tblGrid>
              <a:tr h="11794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Question 7. A plank of wood is 0.72 metres long. If the plank is split into nine equal pieces, how long would each piece be? 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1794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GB" sz="1200"/>
                        <a:t>Question 8. 16 textbooks cost £61.60 in total. What was the value of one of the textbooks?</a:t>
                      </a:r>
                      <a:endParaRPr sz="120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88" name="Google Shape;288;p18"/>
          <p:cNvSpPr txBox="1"/>
          <p:nvPr/>
        </p:nvSpPr>
        <p:spPr>
          <a:xfrm>
            <a:off x="302195" y="1260685"/>
            <a:ext cx="1312969" cy="369332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289" name="Google Shape;289;p18"/>
          <p:cNvSpPr txBox="1"/>
          <p:nvPr/>
        </p:nvSpPr>
        <p:spPr>
          <a:xfrm>
            <a:off x="2047647" y="1266248"/>
            <a:ext cx="1312969" cy="369332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290" name="Google Shape;290;p18"/>
          <p:cNvSpPr txBox="1"/>
          <p:nvPr/>
        </p:nvSpPr>
        <p:spPr>
          <a:xfrm>
            <a:off x="3647325" y="1265846"/>
            <a:ext cx="1312969" cy="369332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291" name="Google Shape;291;p18"/>
          <p:cNvSpPr txBox="1"/>
          <p:nvPr/>
        </p:nvSpPr>
        <p:spPr>
          <a:xfrm>
            <a:off x="5247003" y="1260685"/>
            <a:ext cx="1312969" cy="369332"/>
          </a:xfrm>
          <a:prstGeom prst="rect">
            <a:avLst/>
          </a:pr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292" name="Google Shape;292;p18"/>
          <p:cNvSpPr txBox="1"/>
          <p:nvPr/>
        </p:nvSpPr>
        <p:spPr>
          <a:xfrm>
            <a:off x="330720" y="2911456"/>
            <a:ext cx="1312969" cy="369332"/>
          </a:xfrm>
          <a:prstGeom prst="rect">
            <a:avLst/>
          </a:pr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293" name="Google Shape;293;p18"/>
          <p:cNvSpPr txBox="1"/>
          <p:nvPr/>
        </p:nvSpPr>
        <p:spPr>
          <a:xfrm>
            <a:off x="1911557" y="2911456"/>
            <a:ext cx="1312969" cy="369332"/>
          </a:xfrm>
          <a:prstGeom prst="rect">
            <a:avLst/>
          </a:prstGeom>
          <a:blipFill rotWithShape="1">
            <a:blip r:embed="rId8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294" name="Google Shape;294;p18"/>
          <p:cNvSpPr txBox="1"/>
          <p:nvPr/>
        </p:nvSpPr>
        <p:spPr>
          <a:xfrm>
            <a:off x="3661174" y="2897648"/>
            <a:ext cx="1312969" cy="369332"/>
          </a:xfrm>
          <a:prstGeom prst="rect">
            <a:avLst/>
          </a:prstGeom>
          <a:blipFill rotWithShape="1">
            <a:blip r:embed="rId9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295" name="Google Shape;295;p18"/>
          <p:cNvSpPr txBox="1"/>
          <p:nvPr/>
        </p:nvSpPr>
        <p:spPr>
          <a:xfrm>
            <a:off x="5270538" y="2911456"/>
            <a:ext cx="1312969" cy="369332"/>
          </a:xfrm>
          <a:prstGeom prst="rect">
            <a:avLst/>
          </a:prstGeom>
          <a:blipFill rotWithShape="1">
            <a:blip r:embed="rId10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296" name="Google Shape;296;p18"/>
          <p:cNvSpPr txBox="1"/>
          <p:nvPr/>
        </p:nvSpPr>
        <p:spPr>
          <a:xfrm>
            <a:off x="302195" y="4192895"/>
            <a:ext cx="1312969" cy="369332"/>
          </a:xfrm>
          <a:prstGeom prst="rect">
            <a:avLst/>
          </a:prstGeom>
          <a:blipFill rotWithShape="1">
            <a:blip r:embed="rId11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297" name="Google Shape;297;p18"/>
          <p:cNvSpPr txBox="1"/>
          <p:nvPr/>
        </p:nvSpPr>
        <p:spPr>
          <a:xfrm>
            <a:off x="1911557" y="4187332"/>
            <a:ext cx="1312969" cy="369332"/>
          </a:xfrm>
          <a:prstGeom prst="rect">
            <a:avLst/>
          </a:prstGeom>
          <a:blipFill rotWithShape="1">
            <a:blip r:embed="rId12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298" name="Google Shape;298;p18"/>
          <p:cNvSpPr txBox="1"/>
          <p:nvPr/>
        </p:nvSpPr>
        <p:spPr>
          <a:xfrm>
            <a:off x="3633476" y="4187332"/>
            <a:ext cx="1312969" cy="369332"/>
          </a:xfrm>
          <a:prstGeom prst="rect">
            <a:avLst/>
          </a:prstGeom>
          <a:blipFill rotWithShape="1">
            <a:blip r:embed="rId1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299" name="Google Shape;299;p18"/>
          <p:cNvSpPr txBox="1"/>
          <p:nvPr/>
        </p:nvSpPr>
        <p:spPr>
          <a:xfrm>
            <a:off x="378237" y="7330529"/>
            <a:ext cx="2530904" cy="369332"/>
          </a:xfrm>
          <a:prstGeom prst="rect">
            <a:avLst/>
          </a:prstGeom>
          <a:blipFill rotWithShape="1">
            <a:blip r:embed="rId14">
              <a:alphaModFix/>
            </a:blip>
            <a:stretch>
              <a:fillRect b="-26666" l="0" r="0" t="-1000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300" name="Google Shape;300;p18"/>
          <p:cNvSpPr txBox="1"/>
          <p:nvPr/>
        </p:nvSpPr>
        <p:spPr>
          <a:xfrm>
            <a:off x="-171827" y="8504260"/>
            <a:ext cx="2961209" cy="369332"/>
          </a:xfrm>
          <a:prstGeom prst="rect">
            <a:avLst/>
          </a:prstGeom>
          <a:blipFill rotWithShape="1">
            <a:blip r:embed="rId1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301" name="Google Shape;301;p18"/>
          <p:cNvSpPr txBox="1"/>
          <p:nvPr/>
        </p:nvSpPr>
        <p:spPr>
          <a:xfrm>
            <a:off x="5115959" y="4187332"/>
            <a:ext cx="1312969" cy="369332"/>
          </a:xfrm>
          <a:prstGeom prst="rect">
            <a:avLst/>
          </a:prstGeom>
          <a:blipFill rotWithShape="1">
            <a:blip r:embed="rId16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302" name="Google Shape;302;p18"/>
          <p:cNvSpPr txBox="1"/>
          <p:nvPr/>
        </p:nvSpPr>
        <p:spPr>
          <a:xfrm>
            <a:off x="344098" y="5630320"/>
            <a:ext cx="1312969" cy="369332"/>
          </a:xfrm>
          <a:prstGeom prst="rect">
            <a:avLst/>
          </a:prstGeom>
          <a:blipFill rotWithShape="1">
            <a:blip r:embed="rId17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303" name="Google Shape;303;p18"/>
          <p:cNvSpPr txBox="1"/>
          <p:nvPr/>
        </p:nvSpPr>
        <p:spPr>
          <a:xfrm>
            <a:off x="1911556" y="5619056"/>
            <a:ext cx="1312969" cy="369332"/>
          </a:xfrm>
          <a:prstGeom prst="rect">
            <a:avLst/>
          </a:prstGeom>
          <a:blipFill rotWithShape="1">
            <a:blip r:embed="rId18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304" name="Google Shape;304;p18"/>
          <p:cNvSpPr txBox="1"/>
          <p:nvPr/>
        </p:nvSpPr>
        <p:spPr>
          <a:xfrm>
            <a:off x="3633476" y="5634468"/>
            <a:ext cx="1312969" cy="369332"/>
          </a:xfrm>
          <a:prstGeom prst="rect">
            <a:avLst/>
          </a:prstGeom>
          <a:blipFill rotWithShape="1">
            <a:blip r:embed="rId19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305" name="Google Shape;305;p18"/>
          <p:cNvSpPr txBox="1"/>
          <p:nvPr/>
        </p:nvSpPr>
        <p:spPr>
          <a:xfrm>
            <a:off x="5178618" y="5598651"/>
            <a:ext cx="1312969" cy="369332"/>
          </a:xfrm>
          <a:prstGeom prst="rect">
            <a:avLst/>
          </a:prstGeom>
          <a:blipFill rotWithShape="1">
            <a:blip r:embed="rId20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19"/>
          <p:cNvSpPr txBox="1"/>
          <p:nvPr>
            <p:ph idx="12" type="sldNum"/>
          </p:nvPr>
        </p:nvSpPr>
        <p:spPr>
          <a:xfrm>
            <a:off x="5220995" y="93785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graphicFrame>
        <p:nvGraphicFramePr>
          <p:cNvPr id="311" name="Google Shape;311;p19"/>
          <p:cNvGraphicFramePr/>
          <p:nvPr/>
        </p:nvGraphicFramePr>
        <p:xfrm>
          <a:off x="171955" y="4165604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{41592E97-0B86-4675-BA24-A8669EC297F8}</a:tableStyleId>
              </a:tblPr>
              <a:tblGrid>
                <a:gridCol w="3296050"/>
                <a:gridCol w="3296050"/>
              </a:tblGrid>
              <a:tr h="335275">
                <a:tc gridSpan="2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/>
                        <a:t>Skills Check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E2341"/>
                    </a:solidFill>
                  </a:tcPr>
                </a:tc>
                <a:tc hMerge="1"/>
              </a:tr>
              <a:tr h="1224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24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24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24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312" name="Google Shape;312;p19"/>
          <p:cNvGraphicFramePr/>
          <p:nvPr/>
        </p:nvGraphicFramePr>
        <p:xfrm>
          <a:off x="191532" y="238536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{41592E97-0B86-4675-BA24-A8669EC297F8}</a:tableStyleId>
              </a:tblPr>
              <a:tblGrid>
                <a:gridCol w="6552925"/>
              </a:tblGrid>
              <a:tr h="11794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Question 9. Peter is thinking of a number. When he multiplies the number by 0.4, he gets an answer of 0.08. What number was Peter thinking of?</a:t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651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313" name="Google Shape;313;p19"/>
          <p:cNvSpPr txBox="1"/>
          <p:nvPr/>
        </p:nvSpPr>
        <p:spPr>
          <a:xfrm>
            <a:off x="3103204" y="761522"/>
            <a:ext cx="2530904" cy="369332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314" name="Google Shape;314;p19"/>
          <p:cNvSpPr txBox="1"/>
          <p:nvPr/>
        </p:nvSpPr>
        <p:spPr>
          <a:xfrm>
            <a:off x="3429000" y="2383396"/>
            <a:ext cx="2530904" cy="923330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-7947" l="-1928" r="0" t="-3311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315" name="Google Shape;315;p19"/>
          <p:cNvSpPr/>
          <p:nvPr/>
        </p:nvSpPr>
        <p:spPr>
          <a:xfrm>
            <a:off x="2317141" y="5089653"/>
            <a:ext cx="786063" cy="465221"/>
          </a:xfrm>
          <a:prstGeom prst="ellipse">
            <a:avLst/>
          </a:prstGeom>
          <a:noFill/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" name="Google Shape;316;p19"/>
          <p:cNvSpPr/>
          <p:nvPr/>
        </p:nvSpPr>
        <p:spPr>
          <a:xfrm>
            <a:off x="4314383" y="5089652"/>
            <a:ext cx="786063" cy="465221"/>
          </a:xfrm>
          <a:prstGeom prst="ellipse">
            <a:avLst/>
          </a:prstGeom>
          <a:noFill/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" name="Google Shape;317;p19"/>
          <p:cNvSpPr/>
          <p:nvPr/>
        </p:nvSpPr>
        <p:spPr>
          <a:xfrm>
            <a:off x="1010197" y="7537289"/>
            <a:ext cx="786063" cy="465221"/>
          </a:xfrm>
          <a:prstGeom prst="ellipse">
            <a:avLst/>
          </a:prstGeom>
          <a:noFill/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" name="Google Shape;318;p19"/>
          <p:cNvSpPr/>
          <p:nvPr/>
        </p:nvSpPr>
        <p:spPr>
          <a:xfrm>
            <a:off x="1880481" y="6348091"/>
            <a:ext cx="786063" cy="465221"/>
          </a:xfrm>
          <a:prstGeom prst="ellipse">
            <a:avLst/>
          </a:prstGeom>
          <a:noFill/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319;p19"/>
          <p:cNvSpPr/>
          <p:nvPr/>
        </p:nvSpPr>
        <p:spPr>
          <a:xfrm>
            <a:off x="5104190" y="6214242"/>
            <a:ext cx="786063" cy="465221"/>
          </a:xfrm>
          <a:prstGeom prst="ellipse">
            <a:avLst/>
          </a:prstGeom>
          <a:noFill/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p19"/>
          <p:cNvSpPr/>
          <p:nvPr/>
        </p:nvSpPr>
        <p:spPr>
          <a:xfrm>
            <a:off x="3482061" y="7537289"/>
            <a:ext cx="786063" cy="465221"/>
          </a:xfrm>
          <a:prstGeom prst="ellipse">
            <a:avLst/>
          </a:prstGeom>
          <a:noFill/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" name="Google Shape;321;p19"/>
          <p:cNvSpPr/>
          <p:nvPr/>
        </p:nvSpPr>
        <p:spPr>
          <a:xfrm>
            <a:off x="1796260" y="8800780"/>
            <a:ext cx="786063" cy="465221"/>
          </a:xfrm>
          <a:prstGeom prst="ellipse">
            <a:avLst/>
          </a:prstGeom>
          <a:noFill/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p19"/>
          <p:cNvSpPr/>
          <p:nvPr/>
        </p:nvSpPr>
        <p:spPr>
          <a:xfrm>
            <a:off x="3482060" y="8745772"/>
            <a:ext cx="786063" cy="465221"/>
          </a:xfrm>
          <a:prstGeom prst="ellipse">
            <a:avLst/>
          </a:prstGeom>
          <a:noFill/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