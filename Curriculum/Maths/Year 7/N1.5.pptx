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E9D8FA-546D-4ACC-A9ED-DD3E7A669B9F}">
  <a:tblStyle styleId="{BBE9D8FA-546D-4ACC-A9ED-DD3E7A669B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19432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108" y="364088"/>
            <a:ext cx="6679742" cy="151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N1.5 Finding the median of a set of numbers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1931" y="858449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0277" y="1088627"/>
            <a:ext cx="56373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the median of a data set with an odd number of data points.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the midpoint of two numbers, using a calculator.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the median of a data set with an even number of data points.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13360" y="447875"/>
            <a:ext cx="6446081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calculate the median 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727583" y="776495"/>
            <a:ext cx="931858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44957" y="536899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90277" y="3438402"/>
            <a:ext cx="6679742" cy="24592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>
            <a:stCxn id="97" idx="1"/>
            <a:endCxn id="97" idx="3"/>
          </p:cNvCxnSpPr>
          <p:nvPr/>
        </p:nvCxnSpPr>
        <p:spPr>
          <a:xfrm>
            <a:off x="90277" y="4668044"/>
            <a:ext cx="667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30148" y="3438286"/>
            <a:ext cx="0" cy="245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62532" y="3420058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710168" y="3438045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8139" y="4641117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649511" y="464111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71854" y="3634615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value at the centre of a numerically ordered list of values. 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395468" y="3416877"/>
            <a:ext cx="3549618" cy="11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be an integer or non-integer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Unaffected by outliers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median is between two numbers, add those two numbers together and divide by two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957002" y="4497915"/>
            <a:ext cx="90441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6670" y="4897968"/>
            <a:ext cx="1242771" cy="36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1251" y="4884419"/>
            <a:ext cx="1704127" cy="958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489" y="4785709"/>
            <a:ext cx="1327419" cy="10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90276" y="1929046"/>
            <a:ext cx="6672205" cy="14118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b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9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median is the middle value in a set of numbers when they are put in order from smallest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largest. This uses the skills you have already learnt in this booklet, such as comparing and ordering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integers. A good understanding of place value helps us spot mistakes and make sure the list is correct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identifying the centre. The median gives us a sense of the “middle” or typical value in a set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numbers, helping us understand the overall trend without being affected by very high or low outliers.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0277" y="6004975"/>
            <a:ext cx="6014442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the median of a set of numbers, where there is an odd number of values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3"/>
          <p:cNvGraphicFramePr/>
          <p:nvPr/>
        </p:nvGraphicFramePr>
        <p:xfrm>
          <a:off x="96529" y="63822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1583875"/>
                <a:gridCol w="509587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Order the numbers from smallest to largest (ascending).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Identify the middle number.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median of: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7, 12, 11, 6, 2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median of: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301, 44, 96, 88, 201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median of: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12, 18, 14, 1, 3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13"/>
          <p:cNvSpPr txBox="1"/>
          <p:nvPr/>
        </p:nvSpPr>
        <p:spPr>
          <a:xfrm>
            <a:off x="2060065" y="710404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2060065" y="801048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2060065" y="897969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>
            <a:off x="247650" y="95250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385604" y="293250"/>
            <a:ext cx="40501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Find the median of the following sets of numbers: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4"/>
          <p:cNvGraphicFramePr/>
          <p:nvPr/>
        </p:nvGraphicFramePr>
        <p:xfrm>
          <a:off x="247650" y="570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3209925"/>
                <a:gridCol w="3209925"/>
              </a:tblGrid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1, 2, 3, 4, 5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11, 12, 13, 14, 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32, 33, 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10, 12,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28, 31, 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1003, 1001, 1002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22, 18, 15, 7, 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19cm, 20cm, 1cm, 5cm, 7cm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104, 56, 22, 18,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4000, 8000, 1500, 2752, 11000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17km, 18km, 10km, 12km, 3km, 8km, 9km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12ml, 17ml, 3ml, 1ml, 29ml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7, 7,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4, 4, 7, 7,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 7, 4, 7, 7, 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 7, 4, 7, 8, 7, 7, 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4"/>
          <p:cNvSpPr txBox="1"/>
          <p:nvPr/>
        </p:nvSpPr>
        <p:spPr>
          <a:xfrm>
            <a:off x="171450" y="8277996"/>
            <a:ext cx="62955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Five numbers have a median of 8. Fill in the cards to show what the numbers could be.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228601" y="8546243"/>
            <a:ext cx="6438900" cy="10665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5314950" y="944584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26319" l="17324" r="6858" t="29293"/>
          <a:stretch/>
        </p:blipFill>
        <p:spPr>
          <a:xfrm>
            <a:off x="3330271" y="8762339"/>
            <a:ext cx="3270035" cy="72160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1385604" y="9816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385604" y="188811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385604" y="285733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4891896" y="106908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891896" y="197553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4891896" y="2944747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1002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594956" y="382654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1594956" y="473298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594956" y="5702204"/>
            <a:ext cx="707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10km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101248" y="3913962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101248" y="4820405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101248" y="5789620"/>
            <a:ext cx="655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12ml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689270" y="667141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689270" y="764063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5195562" y="675883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5195562" y="772805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25613" y="889210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2, 5, 8, 10, 13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5297374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50" name="Google Shape;150;p15"/>
          <p:cNvGraphicFramePr/>
          <p:nvPr/>
        </p:nvGraphicFramePr>
        <p:xfrm>
          <a:off x="129759" y="500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825950"/>
                <a:gridCol w="1934025"/>
                <a:gridCol w="1934025"/>
                <a:gridCol w="1934025"/>
              </a:tblGrid>
              <a:tr h="16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midpoint of: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midpoint of: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midpoint of: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Add the two numbers together.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10 and 40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11 and 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 and 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Divide by two to find the midpoint.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51" name="Google Shape;151;p15"/>
          <p:cNvSpPr/>
          <p:nvPr/>
        </p:nvSpPr>
        <p:spPr>
          <a:xfrm>
            <a:off x="118736" y="2768711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136234" y="160619"/>
            <a:ext cx="3564000" cy="32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midpoint of a pair of numbers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5"/>
          <p:cNvGraphicFramePr/>
          <p:nvPr/>
        </p:nvGraphicFramePr>
        <p:xfrm>
          <a:off x="118736" y="3274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2213000"/>
                <a:gridCol w="2213000"/>
                <a:gridCol w="2213000"/>
              </a:tblGrid>
              <a:tr h="12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5 and 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10 and 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2 and 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40 and 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6 and 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7 and 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90 and 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25 and 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4 and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3 and 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10 and 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2 and 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£2 and £5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£1 and £28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 12cm and 55cm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15"/>
          <p:cNvSpPr txBox="1"/>
          <p:nvPr/>
        </p:nvSpPr>
        <p:spPr>
          <a:xfrm>
            <a:off x="1755265" y="178841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3682457" y="1788414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25.5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663701" y="178841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256690" y="374211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183882" y="374211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5165126" y="374211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349595" y="49530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3276787" y="49530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5258031" y="49530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256690" y="619102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3183882" y="619102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5165126" y="6191022"/>
            <a:ext cx="476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362629" y="7429044"/>
            <a:ext cx="476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3289821" y="7429044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13.5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5271065" y="7429044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11.5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065913" y="8649084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£3.50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993105" y="8649084"/>
            <a:ext cx="8274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£14.50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5165126" y="8691140"/>
            <a:ext cx="8755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33.5cm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95250" y="99475"/>
            <a:ext cx="6014442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the median of a set of numbers, where there is an even number of values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16"/>
          <p:cNvGraphicFramePr/>
          <p:nvPr/>
        </p:nvGraphicFramePr>
        <p:xfrm>
          <a:off x="101502" y="4767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1583875"/>
                <a:gridCol w="509587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Order the numbers from smallest to largest (ascending).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Identify the middle number by finding the midpoint.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median of: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7, 12, 11, 6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median of: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301, 44, 96, 88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median of: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12, 18, 14, 1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6"/>
          <p:cNvSpPr/>
          <p:nvPr/>
        </p:nvSpPr>
        <p:spPr>
          <a:xfrm>
            <a:off x="95250" y="3677533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233204" y="3875533"/>
            <a:ext cx="41479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??. Find the median of the following sets of numbers: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6"/>
          <p:cNvGraphicFramePr/>
          <p:nvPr/>
        </p:nvGraphicFramePr>
        <p:xfrm>
          <a:off x="97244" y="4135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3339875"/>
                <a:gridCol w="3339875"/>
              </a:tblGrid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12, 8, 10, 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3, 21, 7, 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3, 3, 210,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4, 3, 210,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3, 5, 6, 10, 15, 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3, 5, 6, 6, 15, 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24, 19, 31, 68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23, 43, 73, 93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16"/>
          <p:cNvSpPr txBox="1"/>
          <p:nvPr/>
        </p:nvSpPr>
        <p:spPr>
          <a:xfrm>
            <a:off x="7620" y="7956191"/>
            <a:ext cx="51918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??. The median of these numbers is 12. Work out the missing number.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95250" y="8233190"/>
            <a:ext cx="6679742" cy="10665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5314950" y="92996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1250" l="28852" r="0" t="47025"/>
          <a:stretch/>
        </p:blipFill>
        <p:spPr>
          <a:xfrm>
            <a:off x="162265" y="8457115"/>
            <a:ext cx="2940206" cy="7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2029585" y="130347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2029585" y="220992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92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2029585" y="317913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1233204" y="454246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233204" y="544890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233204" y="64181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4739496" y="462988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739496" y="55363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4739496" y="65055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1442556" y="7387339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27.5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4948848" y="747475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208405" y="8603347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2303649" y="829461"/>
            <a:ext cx="196487" cy="3045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89555" y="390997"/>
            <a:ext cx="6663917" cy="11814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>
            <p:ph idx="12" type="sldNum"/>
          </p:nvPr>
        </p:nvSpPr>
        <p:spPr>
          <a:xfrm>
            <a:off x="5266408" y="948900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38861" y="138515"/>
            <a:ext cx="56761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??. Complete the cards so that the median is 7: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84581" y="1895239"/>
            <a:ext cx="6679742" cy="10665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Christopher has a twin brother aged 12 and two older brothers aged 18 and 14. Work out the median age of the four brothers.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49127" y="1626904"/>
            <a:ext cx="10036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??.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89555" y="3252991"/>
            <a:ext cx="6679742" cy="2124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Tamaya finds the median of this set of data: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 says the median is 2 because it is in the middle. Explain her mistake. 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38861" y="3015136"/>
            <a:ext cx="10036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??.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66924" r="0" t="-1864"/>
          <a:stretch/>
        </p:blipFill>
        <p:spPr>
          <a:xfrm>
            <a:off x="4357866" y="634360"/>
            <a:ext cx="2338654" cy="74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/>
          <p:cNvPicPr preferRelativeResize="0"/>
          <p:nvPr/>
        </p:nvPicPr>
        <p:blipFill rotWithShape="1">
          <a:blip r:embed="rId4">
            <a:alphaModFix/>
          </a:blip>
          <a:srcRect b="25359" l="13213" r="0" t="19942"/>
          <a:stretch/>
        </p:blipFill>
        <p:spPr>
          <a:xfrm>
            <a:off x="883073" y="3463565"/>
            <a:ext cx="5410694" cy="6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84579" y="5536240"/>
            <a:ext cx="667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84943" y="5874794"/>
            <a:ext cx="6668528" cy="36431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302" y="7901940"/>
            <a:ext cx="2859369" cy="14928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17"/>
          <p:cNvCxnSpPr>
            <a:stCxn id="212" idx="1"/>
            <a:endCxn id="212" idx="3"/>
          </p:cNvCxnSpPr>
          <p:nvPr/>
        </p:nvCxnSpPr>
        <p:spPr>
          <a:xfrm>
            <a:off x="84943" y="7696369"/>
            <a:ext cx="666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17"/>
          <p:cNvCxnSpPr>
            <a:stCxn id="212" idx="0"/>
            <a:endCxn id="212" idx="2"/>
          </p:cNvCxnSpPr>
          <p:nvPr/>
        </p:nvCxnSpPr>
        <p:spPr>
          <a:xfrm>
            <a:off x="3419207" y="5874794"/>
            <a:ext cx="0" cy="364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6" name="Google Shape;2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611" y="6399176"/>
            <a:ext cx="21907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95786" y="5882043"/>
            <a:ext cx="31955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number line, what is the midpoint of 11 and 15?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3822298" y="6991389"/>
            <a:ext cx="27713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                 c) 17           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16                 d) 17.5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3613919" y="5900215"/>
            <a:ext cx="31955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midpoint of 13km and 22 km?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02262" y="6980519"/>
            <a:ext cx="27713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                 c) 13           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                 d) 13.5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3398061" y="7792728"/>
            <a:ext cx="31955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midpoint of two numbers is 10.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smallest number is 4, what is the largest?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3772251" y="8868672"/>
            <a:ext cx="27713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12                 c) 16.5           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16                 d) 18.5</a:t>
            </a:r>
            <a:endParaRPr/>
          </a:p>
        </p:txBody>
      </p:sp>
      <p:graphicFrame>
        <p:nvGraphicFramePr>
          <p:cNvPr id="223" name="Google Shape;223;p17"/>
          <p:cNvGraphicFramePr/>
          <p:nvPr/>
        </p:nvGraphicFramePr>
        <p:xfrm>
          <a:off x="111025" y="42817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{BBE9D8FA-546D-4ACC-A9ED-DD3E7A669B9F}</a:tableStyleId>
              </a:tblPr>
              <a:tblGrid>
                <a:gridCol w="6657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7"/>
          <p:cNvSpPr txBox="1"/>
          <p:nvPr/>
        </p:nvSpPr>
        <p:spPr>
          <a:xfrm>
            <a:off x="2845361" y="2255761"/>
            <a:ext cx="3429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12, 12, 14, 18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Median = 13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5619805" y="845194"/>
            <a:ext cx="3901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56478" y="4343991"/>
            <a:ext cx="66337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Tamaya hasn’t ordered the numbers in ascending order before finding the middle value.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2132667" y="6967455"/>
            <a:ext cx="832428" cy="34801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5268443" y="7019449"/>
            <a:ext cx="832428" cy="34801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95406" y="8487644"/>
            <a:ext cx="832428" cy="34801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3795780" y="9145447"/>
            <a:ext cx="832428" cy="34801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