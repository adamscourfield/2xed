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E8F52B-D30E-4AB7-88FC-5398DA2AB0F9}">
  <a:tblStyle styleId="{62E8F52B-D30E-4AB7-88FC-5398DA2AB0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2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1" Type="http://schemas.openxmlformats.org/officeDocument/2006/relationships/image" Target="../media/image8.png"/><Relationship Id="rId10" Type="http://schemas.openxmlformats.org/officeDocument/2006/relationships/image" Target="../media/image42.png"/><Relationship Id="rId12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76192" y="5527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814375"/>
                <a:gridCol w="1906950"/>
                <a:gridCol w="1906950"/>
                <a:gridCol w="1906950"/>
              </a:tblGrid>
              <a:tr h="29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Tick the compound shape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 compound shape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 compound shape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Check whether the shape is made up of geometric shapes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355717" y="527950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58423" y="526405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02739" y="94823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53508" y="306935"/>
            <a:ext cx="6592281" cy="1368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N2.13 – Perimeter of Compound Shapes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90552" y="65026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94887" y="888427"/>
            <a:ext cx="46679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identify a compound shape.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missing lengths in a compound shape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the perimeter of a compound shape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31777" y="324888"/>
            <a:ext cx="5582789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  the perimeter of compound shapes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660002" y="627342"/>
            <a:ext cx="1047082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Compound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56535" y="7316262"/>
            <a:ext cx="1760584" cy="23875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cxnSp>
        <p:nvCxnSpPr>
          <p:cNvPr id="100" name="Google Shape;100;p13"/>
          <p:cNvCxnSpPr/>
          <p:nvPr/>
        </p:nvCxnSpPr>
        <p:spPr>
          <a:xfrm flipH="1" rot="10800000">
            <a:off x="1005321" y="4581629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3"/>
          <p:cNvSpPr/>
          <p:nvPr/>
        </p:nvSpPr>
        <p:spPr>
          <a:xfrm>
            <a:off x="150640" y="2651034"/>
            <a:ext cx="6587943" cy="23540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3"/>
          <p:cNvCxnSpPr/>
          <p:nvPr/>
        </p:nvCxnSpPr>
        <p:spPr>
          <a:xfrm>
            <a:off x="150640" y="3623501"/>
            <a:ext cx="658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3"/>
          <p:cNvCxnSpPr>
            <a:stCxn id="101" idx="2"/>
            <a:endCxn id="101" idx="0"/>
          </p:cNvCxnSpPr>
          <p:nvPr/>
        </p:nvCxnSpPr>
        <p:spPr>
          <a:xfrm rot="10800000">
            <a:off x="3444612" y="2650955"/>
            <a:ext cx="0" cy="235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13"/>
          <p:cNvSpPr txBox="1"/>
          <p:nvPr/>
        </p:nvSpPr>
        <p:spPr>
          <a:xfrm>
            <a:off x="168395" y="2651033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74290" y="2663382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39220" y="3622922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584889" y="361364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66342" y="2888877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GB" sz="1200">
                <a:solidFill>
                  <a:srgbClr val="040C28"/>
                </a:solidFill>
                <a:latin typeface="Calibri"/>
                <a:ea typeface="Calibri"/>
                <a:cs typeface="Calibri"/>
                <a:sym typeface="Calibri"/>
              </a:rPr>
              <a:t> shape that is made up of two or more geometric shapes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508248" y="2838095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know the lengths of the sides of a compound shape, we can find the perimeter, which is the total distance around the outside.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2571591" y="3493279"/>
            <a:ext cx="183575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Compound shape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211282" y="527892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259136" y="4260997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3511030" y="4076474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90480" y="5046750"/>
            <a:ext cx="2130396" cy="2750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a compound shape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iagram, line, screenshot, font&#10;&#10;Description automatically generated"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72" y="3888319"/>
            <a:ext cx="1077687" cy="791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ne, triangle, design&#10;&#10;Description automatically generated" id="116" name="Google Shape;11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657" y="3888319"/>
            <a:ext cx="862124" cy="912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1130783" y="6025214"/>
            <a:ext cx="734785" cy="1012402"/>
          </a:xfrm>
          <a:prstGeom prst="flowChartOffpageConnector">
            <a:avLst/>
          </a:prstGeom>
          <a:solidFill>
            <a:schemeClr val="l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104341" y="6025244"/>
            <a:ext cx="636813" cy="10368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3090180" y="6129339"/>
            <a:ext cx="718457" cy="925285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4208688" y="6088518"/>
            <a:ext cx="478971" cy="101237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4951638" y="5957889"/>
            <a:ext cx="849085" cy="1164771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5973807" y="6212615"/>
            <a:ext cx="620484" cy="64507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3541486" y="7676243"/>
            <a:ext cx="300808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Fill in the blanks.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is the _________ around the outside of a 2D shape.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perimeter we _______ all the side lengths.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203199" y="7676242"/>
            <a:ext cx="30080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Tick all the compound shapes.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oup of black shapes&#10;&#10;Description automatically generated" id="125" name="Google Shape;12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329" y="7970219"/>
            <a:ext cx="2235201" cy="1658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1589648" y="3717937"/>
            <a:ext cx="708353" cy="67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 txBox="1"/>
          <p:nvPr/>
        </p:nvSpPr>
        <p:spPr>
          <a:xfrm>
            <a:off x="1465703" y="4416264"/>
            <a:ext cx="189051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we will focus on finding perimeters of shapes made from rectangles</a:t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6129" y="3897670"/>
            <a:ext cx="714476" cy="626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29" name="Google Shape;12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9674" y="6090739"/>
            <a:ext cx="653597" cy="60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30" name="Google Shape;13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11735" y="6286251"/>
            <a:ext cx="653597" cy="60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31" name="Google Shape;13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99534" y="6253666"/>
            <a:ext cx="653597" cy="60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32" name="Google Shape;13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871" y="8933228"/>
            <a:ext cx="653597" cy="60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33" name="Google Shape;13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35681" y="8068665"/>
            <a:ext cx="653597" cy="60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34" name="Google Shape;13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63522" y="8068618"/>
            <a:ext cx="653597" cy="6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4667069" y="7982593"/>
            <a:ext cx="10482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240986" y="8481299"/>
            <a:ext cx="7543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13"/>
          <p:cNvGraphicFramePr/>
          <p:nvPr/>
        </p:nvGraphicFramePr>
        <p:xfrm>
          <a:off x="156535" y="7603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3277450"/>
                <a:gridCol w="3277450"/>
              </a:tblGrid>
              <a:tr h="205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3"/>
          <p:cNvSpPr/>
          <p:nvPr/>
        </p:nvSpPr>
        <p:spPr>
          <a:xfrm>
            <a:off x="163484" y="1751075"/>
            <a:ext cx="6582305" cy="828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compound shape is made by joining two or more simple shapes together. When exploring their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perimeter, the focus is on the outer edges, as the perimeter measures the total distance around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outside of the shape.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14"/>
          <p:cNvGraphicFramePr/>
          <p:nvPr/>
        </p:nvGraphicFramePr>
        <p:xfrm>
          <a:off x="148169" y="5813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3308150"/>
                <a:gridCol w="3308150"/>
              </a:tblGrid>
              <a:tr h="17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" name="Google Shape;145;p14"/>
          <p:cNvGraphicFramePr/>
          <p:nvPr/>
        </p:nvGraphicFramePr>
        <p:xfrm>
          <a:off x="134265" y="35415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2203225"/>
                <a:gridCol w="2203225"/>
                <a:gridCol w="2203225"/>
              </a:tblGrid>
              <a:tr h="18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picture containing sketch, diagram, rectangle, white&#10;&#10;Description automatically generated" id="146" name="Google Shape;1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3885" y="3696711"/>
            <a:ext cx="1660706" cy="150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>
            <p:ph idx="12" type="sldNum"/>
          </p:nvPr>
        </p:nvSpPr>
        <p:spPr>
          <a:xfrm>
            <a:off x="5268643" y="942414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48" name="Google Shape;148;p14"/>
          <p:cNvGraphicFramePr/>
          <p:nvPr/>
        </p:nvGraphicFramePr>
        <p:xfrm>
          <a:off x="149813" y="689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61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Highlight the two shorter edges that must sum to 9cm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Highlight the three shorter edges that must sum to 20cm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Highlight the two shorter edges that must sum to 7cm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Look for edges that sum to a given edge.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14"/>
          <p:cNvSpPr txBox="1"/>
          <p:nvPr/>
        </p:nvSpPr>
        <p:spPr>
          <a:xfrm>
            <a:off x="1232217" y="42807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151573" y="42125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3193495" y="40868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135525" y="312504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3913718" y="8898631"/>
            <a:ext cx="1847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91401" y="3537558"/>
            <a:ext cx="664184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					b)				          c)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rectangle, diagram, line, white&#10;&#10;Description automatically generated" id="155" name="Google Shape;1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696" y="3909686"/>
            <a:ext cx="1799059" cy="1046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rectangle, line, diagram, white&#10;&#10;Description automatically generated" id="156" name="Google Shape;15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8608" y="1342778"/>
            <a:ext cx="1266098" cy="1320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ne, font, diagram, screenshot&#10;&#10;Description automatically generated" id="157" name="Google Shape;15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2251" y="1350663"/>
            <a:ext cx="1496148" cy="122999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/>
          <p:nvPr/>
        </p:nvSpPr>
        <p:spPr>
          <a:xfrm>
            <a:off x="1819281" y="1965388"/>
            <a:ext cx="890580" cy="7398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637649" y="1850834"/>
            <a:ext cx="410053" cy="166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3190834" y="1423168"/>
            <a:ext cx="1551072" cy="2911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rawing of a person&amp;#39;s right arm&#10;&#10;Description automatically generated" id="161" name="Google Shape;16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4607" y="1402858"/>
            <a:ext cx="1810362" cy="945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 txBox="1"/>
          <p:nvPr/>
        </p:nvSpPr>
        <p:spPr>
          <a:xfrm>
            <a:off x="93515" y="5582594"/>
            <a:ext cx="6234263" cy="2385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Highlight the edges that must sum to the same length as the broken edge on each diagram.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						                  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							             d)</a:t>
            </a:r>
            <a:endParaRPr/>
          </a:p>
        </p:txBody>
      </p:sp>
      <p:pic>
        <p:nvPicPr>
          <p:cNvPr descr="A black and red stairs&#10;&#10;Description automatically generated" id="163" name="Google Shape;16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2138" y="5887636"/>
            <a:ext cx="1936041" cy="1616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line with red squares&#10;&#10;Description automatically generated" id="164" name="Google Shape;16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482" y="5912579"/>
            <a:ext cx="2054018" cy="15116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line drawing of a stair&#10;&#10;Description automatically generated" id="165" name="Google Shape;16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76411" y="3668844"/>
            <a:ext cx="1654026" cy="164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/>
          <p:nvPr/>
        </p:nvSpPr>
        <p:spPr>
          <a:xfrm>
            <a:off x="86108" y="96487"/>
            <a:ext cx="6014442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strategies for finding missing edges in a compound shape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2505" y="7660245"/>
            <a:ext cx="2148995" cy="149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60507" y="7732984"/>
            <a:ext cx="1660707" cy="1520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4"/>
          <p:cNvCxnSpPr/>
          <p:nvPr/>
        </p:nvCxnSpPr>
        <p:spPr>
          <a:xfrm flipH="1" rot="10800000">
            <a:off x="1361181" y="2505095"/>
            <a:ext cx="471245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14"/>
          <p:cNvCxnSpPr/>
          <p:nvPr/>
        </p:nvCxnSpPr>
        <p:spPr>
          <a:xfrm flipH="1" rot="10800000">
            <a:off x="1803966" y="1931131"/>
            <a:ext cx="602012" cy="151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14"/>
          <p:cNvCxnSpPr/>
          <p:nvPr/>
        </p:nvCxnSpPr>
        <p:spPr>
          <a:xfrm flipH="1" rot="10800000">
            <a:off x="3285172" y="1464907"/>
            <a:ext cx="311419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14"/>
          <p:cNvCxnSpPr/>
          <p:nvPr/>
        </p:nvCxnSpPr>
        <p:spPr>
          <a:xfrm flipH="1" rot="10800000">
            <a:off x="3590299" y="1813569"/>
            <a:ext cx="928929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14"/>
          <p:cNvCxnSpPr/>
          <p:nvPr/>
        </p:nvCxnSpPr>
        <p:spPr>
          <a:xfrm flipH="1" rot="10800000">
            <a:off x="4453995" y="1457595"/>
            <a:ext cx="246036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14"/>
          <p:cNvCxnSpPr/>
          <p:nvPr/>
        </p:nvCxnSpPr>
        <p:spPr>
          <a:xfrm flipH="1" rot="10800000">
            <a:off x="5809586" y="2028816"/>
            <a:ext cx="638336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14"/>
          <p:cNvCxnSpPr/>
          <p:nvPr/>
        </p:nvCxnSpPr>
        <p:spPr>
          <a:xfrm>
            <a:off x="5322589" y="1411927"/>
            <a:ext cx="485775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14"/>
          <p:cNvCxnSpPr/>
          <p:nvPr/>
        </p:nvCxnSpPr>
        <p:spPr>
          <a:xfrm flipH="1" rot="10800000">
            <a:off x="5999538" y="3704582"/>
            <a:ext cx="434921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14"/>
          <p:cNvCxnSpPr/>
          <p:nvPr/>
        </p:nvCxnSpPr>
        <p:spPr>
          <a:xfrm>
            <a:off x="3579639" y="3782021"/>
            <a:ext cx="6297" cy="32614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14"/>
          <p:cNvCxnSpPr/>
          <p:nvPr/>
        </p:nvCxnSpPr>
        <p:spPr>
          <a:xfrm>
            <a:off x="1661009" y="3949064"/>
            <a:ext cx="449451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14"/>
          <p:cNvCxnSpPr/>
          <p:nvPr/>
        </p:nvCxnSpPr>
        <p:spPr>
          <a:xfrm>
            <a:off x="1021400" y="4319523"/>
            <a:ext cx="638336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14"/>
          <p:cNvCxnSpPr/>
          <p:nvPr/>
        </p:nvCxnSpPr>
        <p:spPr>
          <a:xfrm flipH="1" rot="10800000">
            <a:off x="425396" y="3948300"/>
            <a:ext cx="594747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14"/>
          <p:cNvCxnSpPr/>
          <p:nvPr/>
        </p:nvCxnSpPr>
        <p:spPr>
          <a:xfrm>
            <a:off x="3585648" y="4806315"/>
            <a:ext cx="6297" cy="32614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14"/>
          <p:cNvCxnSpPr/>
          <p:nvPr/>
        </p:nvCxnSpPr>
        <p:spPr>
          <a:xfrm>
            <a:off x="4152386" y="4108849"/>
            <a:ext cx="6296" cy="69652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3" name="Google Shape;183;p14"/>
          <p:cNvCxnSpPr/>
          <p:nvPr/>
        </p:nvCxnSpPr>
        <p:spPr>
          <a:xfrm>
            <a:off x="1606953" y="6070362"/>
            <a:ext cx="355008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14"/>
          <p:cNvCxnSpPr/>
          <p:nvPr/>
        </p:nvCxnSpPr>
        <p:spPr>
          <a:xfrm flipH="1" rot="10800000">
            <a:off x="4907392" y="4699769"/>
            <a:ext cx="536628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5" name="Google Shape;185;p14"/>
          <p:cNvCxnSpPr/>
          <p:nvPr/>
        </p:nvCxnSpPr>
        <p:spPr>
          <a:xfrm>
            <a:off x="5445070" y="4286295"/>
            <a:ext cx="551158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14"/>
          <p:cNvCxnSpPr/>
          <p:nvPr/>
        </p:nvCxnSpPr>
        <p:spPr>
          <a:xfrm>
            <a:off x="777883" y="6840392"/>
            <a:ext cx="798162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14"/>
          <p:cNvCxnSpPr/>
          <p:nvPr/>
        </p:nvCxnSpPr>
        <p:spPr>
          <a:xfrm flipH="1" rot="10800000">
            <a:off x="1962342" y="6861464"/>
            <a:ext cx="703719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14"/>
          <p:cNvCxnSpPr/>
          <p:nvPr/>
        </p:nvCxnSpPr>
        <p:spPr>
          <a:xfrm>
            <a:off x="2390382" y="7770189"/>
            <a:ext cx="246035" cy="659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89" name="Google Shape;189;p14"/>
          <p:cNvCxnSpPr/>
          <p:nvPr/>
        </p:nvCxnSpPr>
        <p:spPr>
          <a:xfrm flipH="1" rot="10800000">
            <a:off x="1685369" y="8278011"/>
            <a:ext cx="703719" cy="669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14"/>
          <p:cNvCxnSpPr/>
          <p:nvPr/>
        </p:nvCxnSpPr>
        <p:spPr>
          <a:xfrm>
            <a:off x="696936" y="8525636"/>
            <a:ext cx="1037901" cy="21118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14"/>
          <p:cNvCxnSpPr/>
          <p:nvPr/>
        </p:nvCxnSpPr>
        <p:spPr>
          <a:xfrm>
            <a:off x="5574359" y="7813828"/>
            <a:ext cx="6297" cy="42055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4"/>
          <p:cNvCxnSpPr/>
          <p:nvPr/>
        </p:nvCxnSpPr>
        <p:spPr>
          <a:xfrm>
            <a:off x="4462382" y="8206081"/>
            <a:ext cx="6297" cy="51496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3" name="Google Shape;193;p14"/>
          <p:cNvCxnSpPr/>
          <p:nvPr/>
        </p:nvCxnSpPr>
        <p:spPr>
          <a:xfrm>
            <a:off x="4731174" y="8729140"/>
            <a:ext cx="13561" cy="427816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4" name="Google Shape;194;p14"/>
          <p:cNvCxnSpPr/>
          <p:nvPr/>
        </p:nvCxnSpPr>
        <p:spPr>
          <a:xfrm>
            <a:off x="5224562" y="6630327"/>
            <a:ext cx="6297" cy="42055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14"/>
          <p:cNvCxnSpPr/>
          <p:nvPr/>
        </p:nvCxnSpPr>
        <p:spPr>
          <a:xfrm flipH="1">
            <a:off x="4678455" y="7080699"/>
            <a:ext cx="968" cy="333404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96" name="Google Shape;196;p14"/>
          <p:cNvCxnSpPr/>
          <p:nvPr/>
        </p:nvCxnSpPr>
        <p:spPr>
          <a:xfrm>
            <a:off x="5798488" y="5947338"/>
            <a:ext cx="20826" cy="631164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14"/>
          <p:cNvSpPr txBox="1"/>
          <p:nvPr/>
        </p:nvSpPr>
        <p:spPr>
          <a:xfrm>
            <a:off x="1263577" y="3260087"/>
            <a:ext cx="47930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 startAt="3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Highlight the 3 shorter edges that must sum to 9cm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5258437" y="93404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03" name="Google Shape;203;p15"/>
          <p:cNvGraphicFramePr/>
          <p:nvPr/>
        </p:nvGraphicFramePr>
        <p:xfrm>
          <a:off x="179230" y="5788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Add all the missing lengths to the diagram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all the missing lengths to the diagram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all the missing lengths to the diagram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Look for sides that combine to make the missing length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or subtract to find the missing length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04" name="Google Shape;204;p15"/>
          <p:cNvSpPr txBox="1"/>
          <p:nvPr/>
        </p:nvSpPr>
        <p:spPr>
          <a:xfrm>
            <a:off x="1246689" y="28963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5166045" y="28281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3207967" y="27024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1792865" y="1969364"/>
            <a:ext cx="890580" cy="7398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rawing of a rectangular object with red arrows&#10;&#10;Description automatically generated"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045" y="1152462"/>
            <a:ext cx="1311353" cy="165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rectangular object with red arrows&#10;&#10;Description automatically generated"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8490" y="1142656"/>
            <a:ext cx="1440604" cy="176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corner with red and blue lines&#10;&#10;Description automatically generated" id="210" name="Google Shape;2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090" y="1206462"/>
            <a:ext cx="1562384" cy="15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rectangular object with blue text&#10;&#10;Description automatically generated" id="211" name="Google Shape;2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7651" y="3415662"/>
            <a:ext cx="1708780" cy="183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rectangular object with blue text&#10;&#10;Description automatically generated" id="212" name="Google Shape;2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3246" y="3532662"/>
            <a:ext cx="1614721" cy="165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rectangular object with blue text&#10;&#10;Description automatically generated" id="213" name="Google Shape;2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4843" y="3328661"/>
            <a:ext cx="1494251" cy="18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5"/>
          <p:cNvSpPr txBox="1"/>
          <p:nvPr/>
        </p:nvSpPr>
        <p:spPr>
          <a:xfrm>
            <a:off x="1376660" y="960291"/>
            <a:ext cx="1032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2451511" y="2056166"/>
            <a:ext cx="107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1727427" y="3142522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2031996" y="3658277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2409138" y="4617187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3230237" y="4617139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3680708" y="5111100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4458203" y="4217480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6084072" y="1724080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5994580" y="4003191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5375596" y="3172261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5985375" y="3753048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5347816" y="1792441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3467525" y="1840824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7.5cm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4460045" y="1792389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166901" y="609886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1304855" y="6216102"/>
            <a:ext cx="663458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Fill in the missing side lengths on each diagram.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variety of shapes&#10;&#10;Description automatically generated" id="231" name="Google Shape;231;p15"/>
          <p:cNvPicPr preferRelativeResize="0"/>
          <p:nvPr/>
        </p:nvPicPr>
        <p:blipFill rotWithShape="1">
          <a:blip r:embed="rId9">
            <a:alphaModFix/>
          </a:blip>
          <a:srcRect b="52915" l="0" r="0" t="0"/>
          <a:stretch/>
        </p:blipFill>
        <p:spPr>
          <a:xfrm>
            <a:off x="353730" y="6576291"/>
            <a:ext cx="6190342" cy="14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1227815" y="6517233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316308" y="7324029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3688456" y="7759660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592852" y="6702695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3559237" y="7323923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5708041" y="6966911"/>
            <a:ext cx="80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15"/>
          <p:cNvGraphicFramePr/>
          <p:nvPr/>
        </p:nvGraphicFramePr>
        <p:xfrm>
          <a:off x="179230" y="6550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2185775"/>
                <a:gridCol w="2185775"/>
                <a:gridCol w="2185775"/>
              </a:tblGrid>
              <a:tr h="41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colorful squares with green and pink text&#10;&#10;Description automatically generated" id="243" name="Google Shape;243;p16"/>
          <p:cNvPicPr preferRelativeResize="0"/>
          <p:nvPr/>
        </p:nvPicPr>
        <p:blipFill rotWithShape="1">
          <a:blip r:embed="rId3">
            <a:alphaModFix/>
          </a:blip>
          <a:srcRect b="50000" l="2435" r="0" t="0"/>
          <a:stretch/>
        </p:blipFill>
        <p:spPr>
          <a:xfrm>
            <a:off x="124452" y="7257866"/>
            <a:ext cx="6560308" cy="162793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 txBox="1"/>
          <p:nvPr/>
        </p:nvSpPr>
        <p:spPr>
          <a:xfrm>
            <a:off x="5285592" y="952552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16"/>
          <p:cNvGraphicFramePr/>
          <p:nvPr/>
        </p:nvGraphicFramePr>
        <p:xfrm>
          <a:off x="142761" y="3551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43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this shape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perimeter of this shape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perimeter of this shape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Find all the missing lengths on the outside of the shape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 all the side lengths to find the perimeter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46" name="Google Shape;246;p16"/>
          <p:cNvSpPr txBox="1"/>
          <p:nvPr/>
        </p:nvSpPr>
        <p:spPr>
          <a:xfrm>
            <a:off x="1210220" y="326238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5129576" y="325556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3171498" y="324298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1756396" y="4942109"/>
            <a:ext cx="890580" cy="7398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rawing of a square with blue text&#10;&#10;Description automatically generated" id="250" name="Google Shape;2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761" y="4118416"/>
            <a:ext cx="1803622" cy="1404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square with blue text&#10;&#10;Description automatically generated" id="251" name="Google Shape;2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956" y="4190834"/>
            <a:ext cx="1809847" cy="1495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rawing of a square with red arrows&#10;&#10;Description automatically generated" id="252" name="Google Shape;2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1258" y="4091362"/>
            <a:ext cx="1803622" cy="163984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6"/>
          <p:cNvSpPr/>
          <p:nvPr/>
        </p:nvSpPr>
        <p:spPr>
          <a:xfrm>
            <a:off x="157890" y="300571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perimeter in a compound shape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variety of shapes&#10;&#10;Description automatically generated" id="254" name="Google Shape;254;p16"/>
          <p:cNvPicPr preferRelativeResize="0"/>
          <p:nvPr/>
        </p:nvPicPr>
        <p:blipFill rotWithShape="1">
          <a:blip r:embed="rId7">
            <a:alphaModFix/>
          </a:blip>
          <a:srcRect b="0" l="0" r="0" t="47974"/>
          <a:stretch/>
        </p:blipFill>
        <p:spPr>
          <a:xfrm>
            <a:off x="75346" y="231783"/>
            <a:ext cx="6530030" cy="181279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 txBox="1"/>
          <p:nvPr/>
        </p:nvSpPr>
        <p:spPr>
          <a:xfrm>
            <a:off x="3782645" y="1833944"/>
            <a:ext cx="194868" cy="318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16"/>
          <p:cNvGraphicFramePr/>
          <p:nvPr/>
        </p:nvGraphicFramePr>
        <p:xfrm>
          <a:off x="157890" y="141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2185775"/>
                <a:gridCol w="2185775"/>
                <a:gridCol w="2185775"/>
              </a:tblGrid>
              <a:tr h="41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16"/>
          <p:cNvSpPr/>
          <p:nvPr/>
        </p:nvSpPr>
        <p:spPr>
          <a:xfrm>
            <a:off x="127521" y="683263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1260670" y="6949429"/>
            <a:ext cx="663458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Find the perimeter of each shape below.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6"/>
          <p:cNvGraphicFramePr/>
          <p:nvPr/>
        </p:nvGraphicFramePr>
        <p:xfrm>
          <a:off x="142650" y="7257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2190875"/>
                <a:gridCol w="2190875"/>
                <a:gridCol w="2190875"/>
              </a:tblGrid>
              <a:tr h="24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60" name="Google Shape;260;p16"/>
          <p:cNvGrpSpPr/>
          <p:nvPr/>
        </p:nvGrpSpPr>
        <p:grpSpPr>
          <a:xfrm>
            <a:off x="721217" y="152636"/>
            <a:ext cx="5230061" cy="2000440"/>
            <a:chOff x="943232" y="620401"/>
            <a:chExt cx="4957997" cy="1741655"/>
          </a:xfrm>
        </p:grpSpPr>
        <p:sp>
          <p:nvSpPr>
            <p:cNvPr id="261" name="Google Shape;261;p16"/>
            <p:cNvSpPr txBox="1"/>
            <p:nvPr/>
          </p:nvSpPr>
          <p:spPr>
            <a:xfrm>
              <a:off x="3869501" y="2085057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6"/>
            <p:cNvSpPr txBox="1"/>
            <p:nvPr/>
          </p:nvSpPr>
          <p:spPr>
            <a:xfrm>
              <a:off x="5100522" y="641676"/>
              <a:ext cx="8007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9cm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1899645" y="1504543"/>
              <a:ext cx="8007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6"/>
            <p:cNvSpPr txBox="1"/>
            <p:nvPr/>
          </p:nvSpPr>
          <p:spPr>
            <a:xfrm>
              <a:off x="943232" y="620401"/>
              <a:ext cx="8007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6"/>
            <p:cNvSpPr txBox="1"/>
            <p:nvPr/>
          </p:nvSpPr>
          <p:spPr>
            <a:xfrm flipH="1">
              <a:off x="3655358" y="1386214"/>
              <a:ext cx="18879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8cm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 flipH="1">
              <a:off x="4724337" y="1268785"/>
              <a:ext cx="11068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13cm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6"/>
            <p:cNvSpPr txBox="1"/>
            <p:nvPr/>
          </p:nvSpPr>
          <p:spPr>
            <a:xfrm flipH="1">
              <a:off x="3535493" y="1140842"/>
              <a:ext cx="7888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6"/>
          <p:cNvSpPr txBox="1"/>
          <p:nvPr/>
        </p:nvSpPr>
        <p:spPr>
          <a:xfrm>
            <a:off x="1394408" y="6013738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3620046" y="6013678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5403033" y="6050816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5246524" y="9269508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3079344" y="9265756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872863" y="9203499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/>
          <p:nvPr/>
        </p:nvSpPr>
        <p:spPr>
          <a:xfrm>
            <a:off x="3345167" y="2649955"/>
            <a:ext cx="1847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5426891" y="2484689"/>
            <a:ext cx="10298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22.6cm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3366056" y="2486629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1103128" y="2515018"/>
            <a:ext cx="857249" cy="36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44cm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2901073" y="3810821"/>
            <a:ext cx="3748057" cy="31039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5250782" y="952986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oup of colorful squares with green and pink text&#10;&#10;Description automatically generated" id="284" name="Google Shape;284;p17"/>
          <p:cNvPicPr preferRelativeResize="0"/>
          <p:nvPr/>
        </p:nvPicPr>
        <p:blipFill rotWithShape="1">
          <a:blip r:embed="rId3">
            <a:alphaModFix/>
          </a:blip>
          <a:srcRect b="0" l="3191" r="0" t="50000"/>
          <a:stretch/>
        </p:blipFill>
        <p:spPr>
          <a:xfrm>
            <a:off x="139623" y="170368"/>
            <a:ext cx="6509507" cy="1627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5595" y="429231"/>
            <a:ext cx="1933535" cy="11058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6" name="Google Shape;286;p17"/>
          <p:cNvGraphicFramePr/>
          <p:nvPr/>
        </p:nvGraphicFramePr>
        <p:xfrm>
          <a:off x="83155" y="106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2346100"/>
                <a:gridCol w="2309250"/>
                <a:gridCol w="2036350"/>
              </a:tblGrid>
              <a:tr h="28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8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 A rectangle is divided into two shapes, A and B.  Which of these statements is true?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                       a) The perimeter of A is greater than the perimeter of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                       b) The perimeter of A is less than the perimeter of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                       c) The perimeter of A is the same as the perimeter of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224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The perimeter of the shape is 31cm. Find the missing length x.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6cm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40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287" name="Google Shape;287;p17"/>
          <p:cNvPicPr preferRelativeResize="0"/>
          <p:nvPr/>
        </p:nvPicPr>
        <p:blipFill rotWithShape="1">
          <a:blip r:embed="rId5">
            <a:alphaModFix/>
          </a:blip>
          <a:srcRect b="4762" l="0" r="0" t="0"/>
          <a:stretch/>
        </p:blipFill>
        <p:spPr>
          <a:xfrm>
            <a:off x="139623" y="3288826"/>
            <a:ext cx="1298495" cy="144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7"/>
          <p:cNvPicPr preferRelativeResize="0"/>
          <p:nvPr/>
        </p:nvPicPr>
        <p:blipFill rotWithShape="1">
          <a:blip r:embed="rId6">
            <a:alphaModFix/>
          </a:blip>
          <a:srcRect b="1880" l="25922" r="25705" t="75004"/>
          <a:stretch/>
        </p:blipFill>
        <p:spPr>
          <a:xfrm>
            <a:off x="162997" y="5077339"/>
            <a:ext cx="1543051" cy="110074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7"/>
          <p:cNvSpPr txBox="1"/>
          <p:nvPr/>
        </p:nvSpPr>
        <p:spPr>
          <a:xfrm>
            <a:off x="4715595" y="129512"/>
            <a:ext cx="3263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2485" y="6458485"/>
            <a:ext cx="3266003" cy="311320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7"/>
          <p:cNvSpPr txBox="1"/>
          <p:nvPr/>
        </p:nvSpPr>
        <p:spPr>
          <a:xfrm>
            <a:off x="5649785" y="9101528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 txBox="1"/>
          <p:nvPr/>
        </p:nvSpPr>
        <p:spPr>
          <a:xfrm>
            <a:off x="144582" y="218531"/>
            <a:ext cx="658513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142250" y="554921"/>
            <a:ext cx="6570515" cy="45361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							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							4.</a:t>
            </a:r>
            <a:endParaRPr/>
          </a:p>
        </p:txBody>
      </p:sp>
      <p:sp>
        <p:nvSpPr>
          <p:cNvPr id="298" name="Google Shape;298;p18"/>
          <p:cNvSpPr txBox="1"/>
          <p:nvPr>
            <p:ph idx="12" type="sldNum"/>
          </p:nvPr>
        </p:nvSpPr>
        <p:spPr>
          <a:xfrm>
            <a:off x="5298463" y="94237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grey rectangular object with white text&#10;&#10;Description automatically generated" id="299" name="Google Shape;2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24" y="3199625"/>
            <a:ext cx="3153923" cy="165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741" y="656467"/>
            <a:ext cx="2985545" cy="212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5181" y="3133406"/>
            <a:ext cx="3256938" cy="1726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7355" y="607789"/>
            <a:ext cx="3100386" cy="2174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18"/>
          <p:cNvCxnSpPr/>
          <p:nvPr/>
        </p:nvCxnSpPr>
        <p:spPr>
          <a:xfrm>
            <a:off x="3358233" y="554921"/>
            <a:ext cx="0" cy="453611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18"/>
          <p:cNvCxnSpPr/>
          <p:nvPr/>
        </p:nvCxnSpPr>
        <p:spPr>
          <a:xfrm>
            <a:off x="155486" y="2947667"/>
            <a:ext cx="657051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p18"/>
          <p:cNvSpPr/>
          <p:nvPr/>
        </p:nvSpPr>
        <p:spPr>
          <a:xfrm>
            <a:off x="1944257" y="2235200"/>
            <a:ext cx="604433" cy="5267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336203" y="2168981"/>
            <a:ext cx="604433" cy="5267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125303" y="3766898"/>
            <a:ext cx="1021572" cy="44869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3547604" y="4333060"/>
            <a:ext cx="604433" cy="5267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18"/>
          <p:cNvGrpSpPr/>
          <p:nvPr/>
        </p:nvGrpSpPr>
        <p:grpSpPr>
          <a:xfrm>
            <a:off x="142250" y="5172667"/>
            <a:ext cx="6539864" cy="4381500"/>
            <a:chOff x="159068" y="5311167"/>
            <a:chExt cx="6539864" cy="4381500"/>
          </a:xfrm>
        </p:grpSpPr>
        <p:pic>
          <p:nvPicPr>
            <p:cNvPr id="310" name="Google Shape;31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9068" y="5311167"/>
              <a:ext cx="5514975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18"/>
            <p:cNvPicPr preferRelativeResize="0"/>
            <p:nvPr/>
          </p:nvPicPr>
          <p:blipFill rotWithShape="1">
            <a:blip r:embed="rId7">
              <a:alphaModFix/>
            </a:blip>
            <a:srcRect b="0" l="69735" r="3662" t="0"/>
            <a:stretch/>
          </p:blipFill>
          <p:spPr>
            <a:xfrm>
              <a:off x="5231750" y="5311167"/>
              <a:ext cx="1467182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8"/>
            <p:cNvPicPr preferRelativeResize="0"/>
            <p:nvPr/>
          </p:nvPicPr>
          <p:blipFill rotWithShape="1">
            <a:blip r:embed="rId7">
              <a:alphaModFix/>
            </a:blip>
            <a:srcRect b="0" l="6619" r="0" t="0"/>
            <a:stretch/>
          </p:blipFill>
          <p:spPr>
            <a:xfrm>
              <a:off x="936852" y="5311167"/>
              <a:ext cx="5149954" cy="438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014" y="5778066"/>
            <a:ext cx="3663945" cy="109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788" y="1094098"/>
            <a:ext cx="4386442" cy="257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9"/>
          <p:cNvSpPr txBox="1"/>
          <p:nvPr/>
        </p:nvSpPr>
        <p:spPr>
          <a:xfrm>
            <a:off x="5383879" y="95517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19"/>
          <p:cNvGraphicFramePr/>
          <p:nvPr/>
        </p:nvGraphicFramePr>
        <p:xfrm>
          <a:off x="292014" y="5746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{62E8F52B-D30E-4AB7-88FC-5398DA2AB0F9}</a:tableStyleId>
              </a:tblPr>
              <a:tblGrid>
                <a:gridCol w="3169075"/>
                <a:gridCol w="3169075"/>
              </a:tblGrid>
              <a:tr h="2882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</a:rPr>
                        <a:t>Mixed Fluency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767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4300" marL="1143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95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Grace is saving money for a new guitar. The guitar costs £175. In January, she saved £36.24. In February, she saved £14.17. Work out how much more money Grace needs to save.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£124.59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 the perimeter of the following shapes: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33.72cm</a:t>
                      </a:r>
                      <a:endParaRPr/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26cm</a:t>
                      </a:r>
                      <a:endParaRPr/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4" marL="137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9800"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The table below shows the distance in miles between some cities. 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James drives from Newtown to Castletown. 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He then drives from Castletown to Bilton. 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He then drives from Bilton to Leek.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 Work out the total distance travelled.</a:t>
                      </a:r>
                      <a:br>
                        <a:rPr lang="en-GB" sz="1200"/>
                      </a:b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120 miles</a:t>
                      </a:r>
                      <a:endParaRPr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3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Unfamiliar Contexts</a:t>
                      </a:r>
                      <a:endParaRPr/>
                    </a:p>
                  </a:txBody>
                  <a:tcPr marT="0" marB="0" marR="114300" marL="11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91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train carriage has 80 seats. On my journey I noticed that all the seats in my carriage were taken and 7 people were standing. At Banbury, 9 people left the carriage, 28 people entered it and all seats were taken. How many people now had no seat?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 Before Banbury, 7 people were standing. After 9 people left the carriage, there would be 2 spare seats and no one standing. After 28 people entered, the two seats would be taken and 26 people left standing. 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24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diagram shows a partially completed magic square, in which all rows, all columns and both main diagonals have the same total. What is the value of x + y?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 6 + 7 + top right square = x + y + top right square. Therefore x + y = 6 + 7 = 13.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321" name="Google Shape;321;p19"/>
          <p:cNvSpPr txBox="1"/>
          <p:nvPr/>
        </p:nvSpPr>
        <p:spPr>
          <a:xfrm>
            <a:off x="0" y="19720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9"/>
          <p:cNvPicPr preferRelativeResize="0"/>
          <p:nvPr/>
        </p:nvPicPr>
        <p:blipFill rotWithShape="1">
          <a:blip r:embed="rId5">
            <a:alphaModFix/>
          </a:blip>
          <a:srcRect b="0" l="81757" r="0" t="142"/>
          <a:stretch/>
        </p:blipFill>
        <p:spPr>
          <a:xfrm>
            <a:off x="5449230" y="8769179"/>
            <a:ext cx="1089483" cy="104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 rotWithShape="1">
          <a:blip r:embed="rId6">
            <a:alphaModFix/>
          </a:blip>
          <a:srcRect b="48359" l="55185" r="16400" t="1570"/>
          <a:stretch/>
        </p:blipFill>
        <p:spPr>
          <a:xfrm>
            <a:off x="3533583" y="4027682"/>
            <a:ext cx="1540042" cy="882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9"/>
          <p:cNvPicPr preferRelativeResize="0"/>
          <p:nvPr/>
        </p:nvPicPr>
        <p:blipFill rotWithShape="1">
          <a:blip r:embed="rId7">
            <a:alphaModFix/>
          </a:blip>
          <a:srcRect b="33039" l="49012" r="4561" t="46457"/>
          <a:stretch/>
        </p:blipFill>
        <p:spPr>
          <a:xfrm>
            <a:off x="3461082" y="4794107"/>
            <a:ext cx="1365231" cy="882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