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8F8192-2474-478D-8824-46B0F8A9C52B}">
  <a:tblStyle styleId="{0F8F8192-2474-478D-8824-46B0F8A9C52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3"/>
          <p:cNvGraphicFramePr/>
          <p:nvPr/>
        </p:nvGraphicFramePr>
        <p:xfrm>
          <a:off x="136031" y="67173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{0F8F8192-2474-478D-8824-46B0F8A9C52B}</a:tableStyleId>
              </a:tblPr>
              <a:tblGrid>
                <a:gridCol w="903050"/>
                <a:gridCol w="1889825"/>
                <a:gridCol w="1889825"/>
                <a:gridCol w="18898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Lay out the short division, making sure the divisor is on the outside.</a:t>
                      </a:r>
                      <a:br>
                        <a:rPr lang="en-GB" sz="1200">
                          <a:solidFill>
                            <a:schemeClr val="dk1"/>
                          </a:solidFill>
                        </a:rPr>
                      </a:b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Starting from the left, divide into each digit.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1208584" y="6437369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– I do…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983189" y="643920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5317040" y="948414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86108" y="364088"/>
            <a:ext cx="6679742" cy="1110198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N3.7 - Short Division (without carrying)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3044945" y="643431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151413" y="6219123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Short division – without carrying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136031" y="691513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149019" y="931181"/>
            <a:ext cx="46679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use short division where carrying is not required.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use short division to solve problems in context.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5609741" y="419020"/>
            <a:ext cx="1112228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Dividend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Divisor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164082" y="419020"/>
            <a:ext cx="5405775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understand how to apply short division to solve problems.</a:t>
            </a:r>
            <a:endParaRPr/>
          </a:p>
        </p:txBody>
      </p:sp>
      <p:cxnSp>
        <p:nvCxnSpPr>
          <p:cNvPr id="101" name="Google Shape;101;p13"/>
          <p:cNvCxnSpPr/>
          <p:nvPr/>
        </p:nvCxnSpPr>
        <p:spPr>
          <a:xfrm flipH="1" rot="10800000">
            <a:off x="948348" y="5696234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" name="Google Shape;102;p13"/>
          <p:cNvSpPr/>
          <p:nvPr/>
        </p:nvSpPr>
        <p:spPr>
          <a:xfrm>
            <a:off x="108815" y="2963476"/>
            <a:ext cx="6645832" cy="311810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13"/>
          <p:cNvCxnSpPr/>
          <p:nvPr/>
        </p:nvCxnSpPr>
        <p:spPr>
          <a:xfrm>
            <a:off x="125908" y="4652671"/>
            <a:ext cx="655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" name="Google Shape;104;p13"/>
          <p:cNvCxnSpPr>
            <a:stCxn id="102" idx="2"/>
            <a:endCxn id="102" idx="0"/>
          </p:cNvCxnSpPr>
          <p:nvPr/>
        </p:nvCxnSpPr>
        <p:spPr>
          <a:xfrm rot="10800000">
            <a:off x="3431731" y="2963378"/>
            <a:ext cx="0" cy="311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13"/>
          <p:cNvSpPr txBox="1"/>
          <p:nvPr/>
        </p:nvSpPr>
        <p:spPr>
          <a:xfrm>
            <a:off x="126569" y="2963475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5650620" y="2931089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101896" y="4671128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5566937" y="4621477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125908" y="3151802"/>
            <a:ext cx="3230335" cy="281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Splitting a number into equal parts.​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3524312" y="3154332"/>
            <a:ext cx="323033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Involves two numbers: dividend and divisor.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result of division is called the quotient.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 can result in a whole number, a fraction, or a decimal, depending on the numbers involved.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 is denoted by the symbol "÷" or the fraction bar "⁄"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2966446" y="4487232"/>
            <a:ext cx="923651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128611" y="4829782"/>
            <a:ext cx="3230335" cy="117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÷ 2 = 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÷ 4 = 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 ÷ 7 = 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1.5 ÷ 0.5 = 3 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3465779" y="4881248"/>
            <a:ext cx="323033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 and subtraction are not division operations.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Multiplication is the inverse of division but is a different operation.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Ratios and proportions are related concepts but are not division.</a:t>
            </a:r>
            <a:endParaRPr/>
          </a:p>
        </p:txBody>
      </p:sp>
      <p:sp>
        <p:nvSpPr>
          <p:cNvPr id="114" name="Google Shape;114;p13"/>
          <p:cNvSpPr/>
          <p:nvPr/>
        </p:nvSpPr>
        <p:spPr>
          <a:xfrm>
            <a:off x="90078" y="1526256"/>
            <a:ext cx="6672770" cy="137563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71069" y="1546061"/>
            <a:ext cx="666875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subtopic, you'll focus on short division problems that don’t involve carrying or remainders, so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clearly understand the steps of the method. Mastering this will give you a strong foundation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tackling more difficult division later on.</a:t>
            </a:r>
            <a:endParaRPr i="0" sz="12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1620026" y="7562992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312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3619588" y="7575108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201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5600370" y="7549926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213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" name="Google Shape;123;p14"/>
          <p:cNvGraphicFramePr/>
          <p:nvPr/>
        </p:nvGraphicFramePr>
        <p:xfrm>
          <a:off x="159048" y="3909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{0F8F8192-2474-478D-8824-46B0F8A9C52B}</a:tableStyleId>
              </a:tblPr>
              <a:tblGrid>
                <a:gridCol w="2190825"/>
                <a:gridCol w="2190825"/>
                <a:gridCol w="2190825"/>
              </a:tblGrid>
              <a:tr h="279375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3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24" name="Google Shape;124;p14"/>
          <p:cNvSpPr/>
          <p:nvPr/>
        </p:nvSpPr>
        <p:spPr>
          <a:xfrm>
            <a:off x="159048" y="3571162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aphicFrame>
        <p:nvGraphicFramePr>
          <p:cNvPr id="125" name="Google Shape;125;p14"/>
          <p:cNvGraphicFramePr/>
          <p:nvPr/>
        </p:nvGraphicFramePr>
        <p:xfrm>
          <a:off x="159048" y="4838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{0F8F8192-2474-478D-8824-46B0F8A9C52B}</a:tableStyleId>
              </a:tblPr>
              <a:tblGrid>
                <a:gridCol w="819025"/>
                <a:gridCol w="1917825"/>
                <a:gridCol w="1917825"/>
                <a:gridCol w="1917825"/>
              </a:tblGrid>
              <a:tr h="39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Lay out the short division, making sure the divisor is on the outside.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65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Starting from the left, divide into each digit.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26" name="Google Shape;126;p14"/>
          <p:cNvSpPr txBox="1"/>
          <p:nvPr/>
        </p:nvSpPr>
        <p:spPr>
          <a:xfrm>
            <a:off x="1231601" y="203866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– I do…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5006206" y="205699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3067962" y="20080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sp>
        <p:nvSpPr>
          <p:cNvPr id="129" name="Google Shape;129;p14"/>
          <p:cNvSpPr txBox="1"/>
          <p:nvPr>
            <p:ph idx="12" type="sldNum"/>
          </p:nvPr>
        </p:nvSpPr>
        <p:spPr>
          <a:xfrm>
            <a:off x="5314950" y="954129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1648910" y="2041549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3123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3648472" y="2053665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2012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5621549" y="2041549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2013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3" name="Google Shape;133;p14"/>
          <p:cNvGraphicFramePr/>
          <p:nvPr/>
        </p:nvGraphicFramePr>
        <p:xfrm>
          <a:off x="159048" y="74900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{0F8F8192-2474-478D-8824-46B0F8A9C52B}</a:tableStyleId>
              </a:tblPr>
              <a:tblGrid>
                <a:gridCol w="2190825"/>
                <a:gridCol w="2190825"/>
                <a:gridCol w="2190825"/>
              </a:tblGrid>
              <a:tr h="28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4" name="Google Shape;134;p14"/>
          <p:cNvGraphicFramePr/>
          <p:nvPr/>
        </p:nvGraphicFramePr>
        <p:xfrm>
          <a:off x="159048" y="86030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{0F8F8192-2474-478D-8824-46B0F8A9C52B}</a:tableStyleId>
              </a:tblPr>
              <a:tblGrid>
                <a:gridCol w="2190825"/>
                <a:gridCol w="2190825"/>
                <a:gridCol w="21908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5" name="Google Shape;135;p14"/>
          <p:cNvSpPr txBox="1"/>
          <p:nvPr/>
        </p:nvSpPr>
        <p:spPr>
          <a:xfrm>
            <a:off x="970630" y="4666807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321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3112748" y="4678923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312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5353687" y="4666807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132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963739" y="5801860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302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3105857" y="5813976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112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5346796" y="5801860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220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884905" y="6872239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3027023" y="6884355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1023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5267962" y="6872239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1003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946093" y="7995176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2222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3088211" y="8007292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1201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5329150" y="7995176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1000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987987" y="9025273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1010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3130105" y="9037389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1001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 txBox="1"/>
          <p:nvPr/>
        </p:nvSpPr>
        <p:spPr>
          <a:xfrm>
            <a:off x="5371044" y="9025273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1010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Google Shape;154;p15"/>
          <p:cNvGraphicFramePr/>
          <p:nvPr/>
        </p:nvGraphicFramePr>
        <p:xfrm>
          <a:off x="164101" y="4763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{0F8F8192-2474-478D-8824-46B0F8A9C52B}</a:tableStyleId>
              </a:tblPr>
              <a:tblGrid>
                <a:gridCol w="2190825"/>
                <a:gridCol w="2190825"/>
                <a:gridCol w="2190825"/>
              </a:tblGrid>
              <a:tr h="295175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1 continued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8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800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46800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 the following questions, fill in the missing blanks.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1371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55" name="Google Shape;155;p15"/>
          <p:cNvSpPr/>
          <p:nvPr/>
        </p:nvSpPr>
        <p:spPr>
          <a:xfrm>
            <a:off x="164101" y="162583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pic>
        <p:nvPicPr>
          <p:cNvPr id="156" name="Google Shape;15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909" y="6430042"/>
            <a:ext cx="1338416" cy="724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6062" y="6430042"/>
            <a:ext cx="1289675" cy="724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43474" y="6430042"/>
            <a:ext cx="1338416" cy="67552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5"/>
          <p:cNvSpPr txBox="1"/>
          <p:nvPr>
            <p:ph idx="12" type="sldNum"/>
          </p:nvPr>
        </p:nvSpPr>
        <p:spPr>
          <a:xfrm>
            <a:off x="5317040" y="948414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902000" y="3459000"/>
            <a:ext cx="7697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23123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3044118" y="3471116"/>
            <a:ext cx="7697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12122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 txBox="1"/>
          <p:nvPr/>
        </p:nvSpPr>
        <p:spPr>
          <a:xfrm>
            <a:off x="5285057" y="3459000"/>
            <a:ext cx="7697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10212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902000" y="4416828"/>
            <a:ext cx="7697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10012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3044118" y="4428944"/>
            <a:ext cx="7697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21210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5285057" y="4416828"/>
            <a:ext cx="8867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201201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5285057" y="2361838"/>
            <a:ext cx="7697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11232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810247" y="1306241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2002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3102627" y="1240483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3003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5343566" y="1272639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3333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803180" y="2361838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1111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3123968" y="2368803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2222</a:t>
            </a:r>
            <a:endParaRPr/>
          </a:p>
        </p:txBody>
      </p:sp>
      <p:pic>
        <p:nvPicPr>
          <p:cNvPr id="172" name="Google Shape;17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907" y="7544162"/>
            <a:ext cx="1289675" cy="72425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5"/>
          <p:cNvSpPr/>
          <p:nvPr/>
        </p:nvSpPr>
        <p:spPr>
          <a:xfrm>
            <a:off x="942257" y="7544162"/>
            <a:ext cx="936325" cy="33970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540166" y="7953594"/>
            <a:ext cx="236212" cy="23578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942257" y="7976597"/>
            <a:ext cx="840536" cy="23578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584552" y="7906287"/>
            <a:ext cx="8258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3  6  9</a:t>
            </a:r>
            <a:endParaRPr/>
          </a:p>
        </p:txBody>
      </p:sp>
      <p:sp>
        <p:nvSpPr>
          <p:cNvPr id="177" name="Google Shape;177;p15"/>
          <p:cNvSpPr txBox="1"/>
          <p:nvPr/>
        </p:nvSpPr>
        <p:spPr>
          <a:xfrm>
            <a:off x="1229411" y="7661991"/>
            <a:ext cx="6335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2  1</a:t>
            </a:r>
            <a:endParaRPr/>
          </a:p>
        </p:txBody>
      </p:sp>
      <p:pic>
        <p:nvPicPr>
          <p:cNvPr id="178" name="Google Shape;178;p15"/>
          <p:cNvPicPr preferRelativeResize="0"/>
          <p:nvPr/>
        </p:nvPicPr>
        <p:blipFill rotWithShape="1">
          <a:blip r:embed="rId6">
            <a:alphaModFix/>
          </a:blip>
          <a:srcRect b="12259" l="0" r="-9035" t="-1"/>
          <a:stretch/>
        </p:blipFill>
        <p:spPr>
          <a:xfrm>
            <a:off x="867757" y="7701890"/>
            <a:ext cx="279224" cy="234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5"/>
          <p:cNvPicPr preferRelativeResize="0"/>
          <p:nvPr/>
        </p:nvPicPr>
        <p:blipFill rotWithShape="1">
          <a:blip r:embed="rId6">
            <a:alphaModFix/>
          </a:blip>
          <a:srcRect b="12259" l="0" r="-9035" t="-1"/>
          <a:stretch/>
        </p:blipFill>
        <p:spPr>
          <a:xfrm>
            <a:off x="1099184" y="7706978"/>
            <a:ext cx="279224" cy="234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5"/>
          <p:cNvPicPr preferRelativeResize="0"/>
          <p:nvPr/>
        </p:nvPicPr>
        <p:blipFill rotWithShape="1">
          <a:blip r:embed="rId6">
            <a:alphaModFix/>
          </a:blip>
          <a:srcRect b="12259" l="0" r="-9035" t="-1"/>
          <a:stretch/>
        </p:blipFill>
        <p:spPr>
          <a:xfrm>
            <a:off x="1350606" y="7975947"/>
            <a:ext cx="279224" cy="234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5"/>
          <p:cNvPicPr preferRelativeResize="0"/>
          <p:nvPr/>
        </p:nvPicPr>
        <p:blipFill rotWithShape="1">
          <a:blip r:embed="rId6">
            <a:alphaModFix/>
          </a:blip>
          <a:srcRect b="12259" l="0" r="-9035" t="-1"/>
          <a:stretch/>
        </p:blipFill>
        <p:spPr>
          <a:xfrm>
            <a:off x="1588053" y="7975947"/>
            <a:ext cx="279224" cy="234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70250" y="7574228"/>
            <a:ext cx="1289675" cy="72425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/>
          <p:nvPr/>
        </p:nvSpPr>
        <p:spPr>
          <a:xfrm>
            <a:off x="3123600" y="7574228"/>
            <a:ext cx="936325" cy="33970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2721509" y="7983660"/>
            <a:ext cx="236212" cy="23578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3123600" y="8006663"/>
            <a:ext cx="840536" cy="23578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5"/>
          <p:cNvSpPr txBox="1"/>
          <p:nvPr/>
        </p:nvSpPr>
        <p:spPr>
          <a:xfrm>
            <a:off x="2765895" y="7936353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3032392" y="7695070"/>
            <a:ext cx="10823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3  0 </a:t>
            </a:r>
            <a:r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pic>
        <p:nvPicPr>
          <p:cNvPr id="188" name="Google Shape;188;p15"/>
          <p:cNvPicPr preferRelativeResize="0"/>
          <p:nvPr/>
        </p:nvPicPr>
        <p:blipFill rotWithShape="1">
          <a:blip r:embed="rId6">
            <a:alphaModFix/>
          </a:blip>
          <a:srcRect b="12259" l="0" r="-9035" t="-1"/>
          <a:stretch/>
        </p:blipFill>
        <p:spPr>
          <a:xfrm>
            <a:off x="3319001" y="8006013"/>
            <a:ext cx="279224" cy="234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5"/>
          <p:cNvPicPr preferRelativeResize="0"/>
          <p:nvPr/>
        </p:nvPicPr>
        <p:blipFill rotWithShape="1">
          <a:blip r:embed="rId6">
            <a:alphaModFix/>
          </a:blip>
          <a:srcRect b="12259" l="0" r="-9035" t="-1"/>
          <a:stretch/>
        </p:blipFill>
        <p:spPr>
          <a:xfrm>
            <a:off x="3070933" y="7998807"/>
            <a:ext cx="279224" cy="234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5"/>
          <p:cNvPicPr preferRelativeResize="0"/>
          <p:nvPr/>
        </p:nvPicPr>
        <p:blipFill rotWithShape="1">
          <a:blip r:embed="rId6">
            <a:alphaModFix/>
          </a:blip>
          <a:srcRect b="12259" l="0" r="-9035" t="-1"/>
          <a:stretch/>
        </p:blipFill>
        <p:spPr>
          <a:xfrm>
            <a:off x="3560193" y="8006013"/>
            <a:ext cx="279224" cy="234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5"/>
          <p:cNvPicPr preferRelativeResize="0"/>
          <p:nvPr/>
        </p:nvPicPr>
        <p:blipFill rotWithShape="1">
          <a:blip r:embed="rId6">
            <a:alphaModFix/>
          </a:blip>
          <a:srcRect b="12259" l="0" r="-9035" t="-1"/>
          <a:stretch/>
        </p:blipFill>
        <p:spPr>
          <a:xfrm>
            <a:off x="3805508" y="8006013"/>
            <a:ext cx="279224" cy="234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0472" y="7574033"/>
            <a:ext cx="1289675" cy="72425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5"/>
          <p:cNvSpPr/>
          <p:nvPr/>
        </p:nvSpPr>
        <p:spPr>
          <a:xfrm>
            <a:off x="5383822" y="7574033"/>
            <a:ext cx="936325" cy="33970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4981731" y="7983465"/>
            <a:ext cx="236212" cy="23578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5383822" y="8006468"/>
            <a:ext cx="840536" cy="23578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5"/>
          <p:cNvSpPr txBox="1"/>
          <p:nvPr/>
        </p:nvSpPr>
        <p:spPr>
          <a:xfrm>
            <a:off x="5000523" y="7936353"/>
            <a:ext cx="13388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4      8      0</a:t>
            </a:r>
            <a:endParaRPr/>
          </a:p>
        </p:txBody>
      </p:sp>
      <p:sp>
        <p:nvSpPr>
          <p:cNvPr id="197" name="Google Shape;197;p15"/>
          <p:cNvSpPr txBox="1"/>
          <p:nvPr/>
        </p:nvSpPr>
        <p:spPr>
          <a:xfrm>
            <a:off x="5290803" y="7661991"/>
            <a:ext cx="10481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2     1</a:t>
            </a:r>
            <a:endParaRPr/>
          </a:p>
        </p:txBody>
      </p:sp>
      <p:pic>
        <p:nvPicPr>
          <p:cNvPr id="198" name="Google Shape;198;p15"/>
          <p:cNvPicPr preferRelativeResize="0"/>
          <p:nvPr/>
        </p:nvPicPr>
        <p:blipFill rotWithShape="1">
          <a:blip r:embed="rId6">
            <a:alphaModFix/>
          </a:blip>
          <a:srcRect b="12259" l="0" r="-9035" t="-1"/>
          <a:stretch/>
        </p:blipFill>
        <p:spPr>
          <a:xfrm>
            <a:off x="5333458" y="8005818"/>
            <a:ext cx="279224" cy="234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5"/>
          <p:cNvPicPr preferRelativeResize="0"/>
          <p:nvPr/>
        </p:nvPicPr>
        <p:blipFill rotWithShape="1">
          <a:blip r:embed="rId6">
            <a:alphaModFix/>
          </a:blip>
          <a:srcRect b="12259" l="0" r="-9035" t="-1"/>
          <a:stretch/>
        </p:blipFill>
        <p:spPr>
          <a:xfrm>
            <a:off x="5540749" y="7736849"/>
            <a:ext cx="279224" cy="234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5"/>
          <p:cNvPicPr preferRelativeResize="0"/>
          <p:nvPr/>
        </p:nvPicPr>
        <p:blipFill rotWithShape="1">
          <a:blip r:embed="rId6">
            <a:alphaModFix/>
          </a:blip>
          <a:srcRect b="12259" l="0" r="-9035" t="-1"/>
          <a:stretch/>
        </p:blipFill>
        <p:spPr>
          <a:xfrm>
            <a:off x="5792171" y="8005818"/>
            <a:ext cx="279224" cy="234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5"/>
          <p:cNvPicPr preferRelativeResize="0"/>
          <p:nvPr/>
        </p:nvPicPr>
        <p:blipFill rotWithShape="1">
          <a:blip r:embed="rId6">
            <a:alphaModFix/>
          </a:blip>
          <a:srcRect b="12259" l="0" r="-9035" t="-1"/>
          <a:stretch/>
        </p:blipFill>
        <p:spPr>
          <a:xfrm>
            <a:off x="6032226" y="7726211"/>
            <a:ext cx="279224" cy="234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745" y="8548241"/>
            <a:ext cx="1289675" cy="724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5"/>
          <p:cNvSpPr/>
          <p:nvPr/>
        </p:nvSpPr>
        <p:spPr>
          <a:xfrm>
            <a:off x="976095" y="8548241"/>
            <a:ext cx="936325" cy="33970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5"/>
          <p:cNvSpPr/>
          <p:nvPr/>
        </p:nvSpPr>
        <p:spPr>
          <a:xfrm>
            <a:off x="574004" y="8957673"/>
            <a:ext cx="236212" cy="23578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5"/>
          <p:cNvSpPr/>
          <p:nvPr/>
        </p:nvSpPr>
        <p:spPr>
          <a:xfrm>
            <a:off x="976095" y="8980676"/>
            <a:ext cx="840536" cy="23578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5"/>
          <p:cNvSpPr txBox="1"/>
          <p:nvPr/>
        </p:nvSpPr>
        <p:spPr>
          <a:xfrm>
            <a:off x="618390" y="8910366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207" name="Google Shape;207;p15"/>
          <p:cNvSpPr txBox="1"/>
          <p:nvPr/>
        </p:nvSpPr>
        <p:spPr>
          <a:xfrm>
            <a:off x="825770" y="8644240"/>
            <a:ext cx="10823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1  0 1  0</a:t>
            </a:r>
            <a:endParaRPr/>
          </a:p>
        </p:txBody>
      </p:sp>
      <p:pic>
        <p:nvPicPr>
          <p:cNvPr id="208" name="Google Shape;208;p15"/>
          <p:cNvPicPr preferRelativeResize="0"/>
          <p:nvPr/>
        </p:nvPicPr>
        <p:blipFill rotWithShape="1">
          <a:blip r:embed="rId6">
            <a:alphaModFix/>
          </a:blip>
          <a:srcRect b="12259" l="0" r="-9035" t="-1"/>
          <a:stretch/>
        </p:blipFill>
        <p:spPr>
          <a:xfrm>
            <a:off x="925614" y="8968611"/>
            <a:ext cx="279224" cy="234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5"/>
          <p:cNvPicPr preferRelativeResize="0"/>
          <p:nvPr/>
        </p:nvPicPr>
        <p:blipFill rotWithShape="1">
          <a:blip r:embed="rId6">
            <a:alphaModFix/>
          </a:blip>
          <a:srcRect b="12259" l="0" r="-9035" t="-1"/>
          <a:stretch/>
        </p:blipFill>
        <p:spPr>
          <a:xfrm>
            <a:off x="1157041" y="8973699"/>
            <a:ext cx="279224" cy="234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5"/>
          <p:cNvPicPr preferRelativeResize="0"/>
          <p:nvPr/>
        </p:nvPicPr>
        <p:blipFill rotWithShape="1">
          <a:blip r:embed="rId6">
            <a:alphaModFix/>
          </a:blip>
          <a:srcRect b="12259" l="0" r="-9035" t="-1"/>
          <a:stretch/>
        </p:blipFill>
        <p:spPr>
          <a:xfrm>
            <a:off x="1384444" y="8980026"/>
            <a:ext cx="279224" cy="234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5"/>
          <p:cNvPicPr preferRelativeResize="0"/>
          <p:nvPr/>
        </p:nvPicPr>
        <p:blipFill rotWithShape="1">
          <a:blip r:embed="rId6">
            <a:alphaModFix/>
          </a:blip>
          <a:srcRect b="12259" l="0" r="-9035" t="-1"/>
          <a:stretch/>
        </p:blipFill>
        <p:spPr>
          <a:xfrm>
            <a:off x="1621891" y="8980026"/>
            <a:ext cx="279224" cy="234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4088" y="8578307"/>
            <a:ext cx="1289675" cy="72425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5"/>
          <p:cNvSpPr/>
          <p:nvPr/>
        </p:nvSpPr>
        <p:spPr>
          <a:xfrm>
            <a:off x="3157438" y="8578307"/>
            <a:ext cx="936325" cy="33970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5"/>
          <p:cNvSpPr/>
          <p:nvPr/>
        </p:nvSpPr>
        <p:spPr>
          <a:xfrm>
            <a:off x="2755347" y="8987739"/>
            <a:ext cx="236212" cy="23578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5"/>
          <p:cNvSpPr/>
          <p:nvPr/>
        </p:nvSpPr>
        <p:spPr>
          <a:xfrm>
            <a:off x="3157438" y="9010742"/>
            <a:ext cx="840536" cy="23578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5"/>
          <p:cNvSpPr txBox="1"/>
          <p:nvPr/>
        </p:nvSpPr>
        <p:spPr>
          <a:xfrm>
            <a:off x="2799733" y="8940432"/>
            <a:ext cx="8258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8  8  0</a:t>
            </a:r>
            <a:endParaRPr/>
          </a:p>
        </p:txBody>
      </p:sp>
      <p:sp>
        <p:nvSpPr>
          <p:cNvPr id="217" name="Google Shape;217;p15"/>
          <p:cNvSpPr txBox="1"/>
          <p:nvPr/>
        </p:nvSpPr>
        <p:spPr>
          <a:xfrm>
            <a:off x="3066230" y="8699149"/>
            <a:ext cx="10038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1 </a:t>
            </a: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pic>
        <p:nvPicPr>
          <p:cNvPr id="218" name="Google Shape;218;p15"/>
          <p:cNvPicPr preferRelativeResize="0"/>
          <p:nvPr/>
        </p:nvPicPr>
        <p:blipFill rotWithShape="1">
          <a:blip r:embed="rId6">
            <a:alphaModFix/>
          </a:blip>
          <a:srcRect b="12259" l="0" r="-9035" t="-1"/>
          <a:stretch/>
        </p:blipFill>
        <p:spPr>
          <a:xfrm>
            <a:off x="3357120" y="8733744"/>
            <a:ext cx="279224" cy="234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5"/>
          <p:cNvPicPr preferRelativeResize="0"/>
          <p:nvPr/>
        </p:nvPicPr>
        <p:blipFill rotWithShape="1">
          <a:blip r:embed="rId6">
            <a:alphaModFix/>
          </a:blip>
          <a:srcRect b="12259" l="0" r="-9035" t="-1"/>
          <a:stretch/>
        </p:blipFill>
        <p:spPr>
          <a:xfrm>
            <a:off x="3111381" y="8731856"/>
            <a:ext cx="279224" cy="234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5"/>
          <p:cNvPicPr preferRelativeResize="0"/>
          <p:nvPr/>
        </p:nvPicPr>
        <p:blipFill rotWithShape="1">
          <a:blip r:embed="rId6">
            <a:alphaModFix/>
          </a:blip>
          <a:srcRect b="12259" l="0" r="-9035" t="-1"/>
          <a:stretch/>
        </p:blipFill>
        <p:spPr>
          <a:xfrm>
            <a:off x="3569817" y="9009897"/>
            <a:ext cx="279224" cy="234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5"/>
          <p:cNvPicPr preferRelativeResize="0"/>
          <p:nvPr/>
        </p:nvPicPr>
        <p:blipFill rotWithShape="1">
          <a:blip r:embed="rId6">
            <a:alphaModFix/>
          </a:blip>
          <a:srcRect b="12259" l="0" r="-9035" t="-1"/>
          <a:stretch/>
        </p:blipFill>
        <p:spPr>
          <a:xfrm>
            <a:off x="3815531" y="9009897"/>
            <a:ext cx="279224" cy="234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64310" y="8578112"/>
            <a:ext cx="1289675" cy="72425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5"/>
          <p:cNvSpPr/>
          <p:nvPr/>
        </p:nvSpPr>
        <p:spPr>
          <a:xfrm>
            <a:off x="5417660" y="8578112"/>
            <a:ext cx="936325" cy="33970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5"/>
          <p:cNvSpPr/>
          <p:nvPr/>
        </p:nvSpPr>
        <p:spPr>
          <a:xfrm>
            <a:off x="5015569" y="8987544"/>
            <a:ext cx="236212" cy="23578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5"/>
          <p:cNvSpPr/>
          <p:nvPr/>
        </p:nvSpPr>
        <p:spPr>
          <a:xfrm>
            <a:off x="5417660" y="9010547"/>
            <a:ext cx="840536" cy="23578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5"/>
          <p:cNvSpPr txBox="1"/>
          <p:nvPr/>
        </p:nvSpPr>
        <p:spPr>
          <a:xfrm>
            <a:off x="5034361" y="8940432"/>
            <a:ext cx="13388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227" name="Google Shape;227;p15"/>
          <p:cNvSpPr txBox="1"/>
          <p:nvPr/>
        </p:nvSpPr>
        <p:spPr>
          <a:xfrm>
            <a:off x="5324641" y="8666070"/>
            <a:ext cx="10481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2  1 0  1   1</a:t>
            </a:r>
            <a:endParaRPr/>
          </a:p>
        </p:txBody>
      </p:sp>
      <p:pic>
        <p:nvPicPr>
          <p:cNvPr id="228" name="Google Shape;228;p15"/>
          <p:cNvPicPr preferRelativeResize="0"/>
          <p:nvPr/>
        </p:nvPicPr>
        <p:blipFill rotWithShape="1">
          <a:blip r:embed="rId6">
            <a:alphaModFix/>
          </a:blip>
          <a:srcRect b="12259" l="0" r="-9035" t="-1"/>
          <a:stretch/>
        </p:blipFill>
        <p:spPr>
          <a:xfrm>
            <a:off x="5367296" y="9009897"/>
            <a:ext cx="279224" cy="234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5"/>
          <p:cNvPicPr preferRelativeResize="0"/>
          <p:nvPr/>
        </p:nvPicPr>
        <p:blipFill rotWithShape="1">
          <a:blip r:embed="rId6">
            <a:alphaModFix/>
          </a:blip>
          <a:srcRect b="12259" l="0" r="-9035" t="-1"/>
          <a:stretch/>
        </p:blipFill>
        <p:spPr>
          <a:xfrm>
            <a:off x="6082716" y="9009897"/>
            <a:ext cx="279224" cy="234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5"/>
          <p:cNvPicPr preferRelativeResize="0"/>
          <p:nvPr/>
        </p:nvPicPr>
        <p:blipFill rotWithShape="1">
          <a:blip r:embed="rId6">
            <a:alphaModFix/>
          </a:blip>
          <a:srcRect b="12259" l="0" r="-9035" t="-1"/>
          <a:stretch/>
        </p:blipFill>
        <p:spPr>
          <a:xfrm>
            <a:off x="5837928" y="9009897"/>
            <a:ext cx="279224" cy="234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5"/>
          <p:cNvPicPr preferRelativeResize="0"/>
          <p:nvPr/>
        </p:nvPicPr>
        <p:blipFill rotWithShape="1">
          <a:blip r:embed="rId6">
            <a:alphaModFix/>
          </a:blip>
          <a:srcRect b="12259" l="0" r="-9035" t="-1"/>
          <a:stretch/>
        </p:blipFill>
        <p:spPr>
          <a:xfrm>
            <a:off x="5599026" y="9009897"/>
            <a:ext cx="279224" cy="23446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5"/>
          <p:cNvSpPr txBox="1"/>
          <p:nvPr/>
        </p:nvSpPr>
        <p:spPr>
          <a:xfrm>
            <a:off x="837802" y="6449677"/>
            <a:ext cx="947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1          3</a:t>
            </a:r>
            <a:endParaRPr/>
          </a:p>
        </p:txBody>
      </p:sp>
      <p:sp>
        <p:nvSpPr>
          <p:cNvPr id="233" name="Google Shape;233;p15"/>
          <p:cNvSpPr txBox="1"/>
          <p:nvPr/>
        </p:nvSpPr>
        <p:spPr>
          <a:xfrm>
            <a:off x="1267582" y="678496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34" name="Google Shape;234;p15"/>
          <p:cNvSpPr txBox="1"/>
          <p:nvPr/>
        </p:nvSpPr>
        <p:spPr>
          <a:xfrm>
            <a:off x="3250993" y="6782967"/>
            <a:ext cx="683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0   8  </a:t>
            </a:r>
            <a:endParaRPr/>
          </a:p>
        </p:txBody>
      </p:sp>
      <p:sp>
        <p:nvSpPr>
          <p:cNvPr id="235" name="Google Shape;235;p15"/>
          <p:cNvSpPr txBox="1"/>
          <p:nvPr/>
        </p:nvSpPr>
        <p:spPr>
          <a:xfrm>
            <a:off x="3728431" y="645152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6" name="Google Shape;236;p15"/>
          <p:cNvSpPr txBox="1"/>
          <p:nvPr/>
        </p:nvSpPr>
        <p:spPr>
          <a:xfrm>
            <a:off x="5247429" y="6707508"/>
            <a:ext cx="11288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4  8  4   0  </a:t>
            </a:r>
            <a:endParaRPr/>
          </a:p>
        </p:txBody>
      </p:sp>
      <p:sp>
        <p:nvSpPr>
          <p:cNvPr id="237" name="Google Shape;237;p15"/>
          <p:cNvSpPr txBox="1"/>
          <p:nvPr/>
        </p:nvSpPr>
        <p:spPr>
          <a:xfrm>
            <a:off x="840489" y="7647239"/>
            <a:ext cx="6303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2  3  </a:t>
            </a:r>
            <a:endParaRPr/>
          </a:p>
        </p:txBody>
      </p:sp>
      <p:sp>
        <p:nvSpPr>
          <p:cNvPr id="238" name="Google Shape;238;p15"/>
          <p:cNvSpPr txBox="1"/>
          <p:nvPr/>
        </p:nvSpPr>
        <p:spPr>
          <a:xfrm>
            <a:off x="1318162" y="7909548"/>
            <a:ext cx="6303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6  3  </a:t>
            </a:r>
            <a:endParaRPr/>
          </a:p>
        </p:txBody>
      </p:sp>
      <p:sp>
        <p:nvSpPr>
          <p:cNvPr id="239" name="Google Shape;239;p15"/>
          <p:cNvSpPr txBox="1"/>
          <p:nvPr/>
        </p:nvSpPr>
        <p:spPr>
          <a:xfrm>
            <a:off x="3055466" y="7931198"/>
            <a:ext cx="11288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9  0  3   6  </a:t>
            </a:r>
            <a:endParaRPr/>
          </a:p>
        </p:txBody>
      </p:sp>
      <p:sp>
        <p:nvSpPr>
          <p:cNvPr id="240" name="Google Shape;240;p15"/>
          <p:cNvSpPr txBox="1"/>
          <p:nvPr/>
        </p:nvSpPr>
        <p:spPr>
          <a:xfrm>
            <a:off x="5287566" y="7928952"/>
            <a:ext cx="788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8       4</a:t>
            </a:r>
            <a:endParaRPr/>
          </a:p>
        </p:txBody>
      </p:sp>
      <p:sp>
        <p:nvSpPr>
          <p:cNvPr id="241" name="Google Shape;241;p15"/>
          <p:cNvSpPr txBox="1"/>
          <p:nvPr/>
        </p:nvSpPr>
        <p:spPr>
          <a:xfrm>
            <a:off x="5519947" y="7661991"/>
            <a:ext cx="8947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2       0  </a:t>
            </a:r>
            <a:endParaRPr/>
          </a:p>
        </p:txBody>
      </p:sp>
      <p:sp>
        <p:nvSpPr>
          <p:cNvPr id="242" name="Google Shape;242;p15"/>
          <p:cNvSpPr txBox="1"/>
          <p:nvPr/>
        </p:nvSpPr>
        <p:spPr>
          <a:xfrm>
            <a:off x="912075" y="8901177"/>
            <a:ext cx="11288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7  0  7   0  </a:t>
            </a:r>
            <a:endParaRPr/>
          </a:p>
        </p:txBody>
      </p:sp>
      <p:sp>
        <p:nvSpPr>
          <p:cNvPr id="243" name="Google Shape;243;p15"/>
          <p:cNvSpPr txBox="1"/>
          <p:nvPr/>
        </p:nvSpPr>
        <p:spPr>
          <a:xfrm>
            <a:off x="3100544" y="8650696"/>
            <a:ext cx="5245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1  0</a:t>
            </a:r>
            <a:endParaRPr/>
          </a:p>
        </p:txBody>
      </p:sp>
      <p:sp>
        <p:nvSpPr>
          <p:cNvPr id="244" name="Google Shape;244;p15"/>
          <p:cNvSpPr txBox="1"/>
          <p:nvPr/>
        </p:nvSpPr>
        <p:spPr>
          <a:xfrm>
            <a:off x="3544120" y="8925732"/>
            <a:ext cx="5245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8  0</a:t>
            </a:r>
            <a:endParaRPr/>
          </a:p>
        </p:txBody>
      </p:sp>
      <p:sp>
        <p:nvSpPr>
          <p:cNvPr id="245" name="Google Shape;245;p15"/>
          <p:cNvSpPr txBox="1"/>
          <p:nvPr/>
        </p:nvSpPr>
        <p:spPr>
          <a:xfrm>
            <a:off x="5355264" y="8935775"/>
            <a:ext cx="11288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3  6  0   6 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0" name="Google Shape;250;p16"/>
          <p:cNvGraphicFramePr/>
          <p:nvPr/>
        </p:nvGraphicFramePr>
        <p:xfrm>
          <a:off x="164101" y="1143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{0F8F8192-2474-478D-8824-46B0F8A9C52B}</a:tableStyleId>
              </a:tblPr>
              <a:tblGrid>
                <a:gridCol w="2190825"/>
                <a:gridCol w="2190825"/>
                <a:gridCol w="2190825"/>
              </a:tblGrid>
              <a:tr h="4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3</a:t>
                      </a:r>
                      <a:endParaRPr/>
                    </a:p>
                  </a:txBody>
                  <a:tcPr marT="45725" marB="45725" marR="91450" marL="9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4</a:t>
                      </a:r>
                      <a:endParaRPr/>
                    </a:p>
                  </a:txBody>
                  <a:tcPr marT="45725" marB="45725" marR="91450" marL="9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5</a:t>
                      </a:r>
                      <a:endParaRPr/>
                    </a:p>
                  </a:txBody>
                  <a:tcPr marT="45725" marB="45725" marR="91450" marL="9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 toy costs £6.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Over a week, a shop makes £660 from selling the toy.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How many toys were sold?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 group of 3 friends take a journey in a taxi.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The total cost of the journey is £96.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The friends share the cost equally.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How much does each person pay?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 journey lasts 707 days.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How many weeks is this? 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6</a:t>
                      </a:r>
                      <a:endParaRPr/>
                    </a:p>
                  </a:txBody>
                  <a:tcPr marT="45725" marB="45725" marR="91450" marL="9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7</a:t>
                      </a:r>
                      <a:endParaRPr/>
                    </a:p>
                  </a:txBody>
                  <a:tcPr marT="45725" marB="45725" marR="91450" marL="9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8</a:t>
                      </a:r>
                      <a:endParaRPr/>
                    </a:p>
                  </a:txBody>
                  <a:tcPr marT="45725" marB="45725" marR="91450" marL="9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 school has 4 year groups and 884 students in total.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Each year group has an equal number of students.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How many students are in each year group?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Miss Jenkins has 26 bags of sweets. Each bag contains 34 sweets.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Miss Jenkins shares as many sweets as possible equally among her 4 classes.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many sweets do each class get?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James hired a holiday cottage for 7 days for £840.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Ben hires the same cottage, at the same price per day, for 4 days.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How much will this cost Ben?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51" name="Google Shape;251;p16"/>
          <p:cNvSpPr txBox="1"/>
          <p:nvPr>
            <p:ph idx="12" type="sldNum"/>
          </p:nvPr>
        </p:nvSpPr>
        <p:spPr>
          <a:xfrm>
            <a:off x="5317040" y="948414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1047750" y="4320271"/>
            <a:ext cx="1257300" cy="466725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3248025" y="4320271"/>
            <a:ext cx="1257300" cy="466725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5381625" y="4320271"/>
            <a:ext cx="1257300" cy="466725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1047750" y="8901796"/>
            <a:ext cx="1257300" cy="466725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3248025" y="8901796"/>
            <a:ext cx="1257300" cy="466725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5381625" y="8901796"/>
            <a:ext cx="1257300" cy="466725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6"/>
          <p:cNvSpPr txBox="1"/>
          <p:nvPr/>
        </p:nvSpPr>
        <p:spPr>
          <a:xfrm>
            <a:off x="1291518" y="4368967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110</a:t>
            </a:r>
            <a:endParaRPr/>
          </a:p>
        </p:txBody>
      </p:sp>
      <p:sp>
        <p:nvSpPr>
          <p:cNvPr id="259" name="Google Shape;259;p16"/>
          <p:cNvSpPr txBox="1"/>
          <p:nvPr/>
        </p:nvSpPr>
        <p:spPr>
          <a:xfrm>
            <a:off x="3667323" y="4368967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£23</a:t>
            </a:r>
            <a:endParaRPr/>
          </a:p>
        </p:txBody>
      </p:sp>
      <p:sp>
        <p:nvSpPr>
          <p:cNvPr id="260" name="Google Shape;260;p16"/>
          <p:cNvSpPr txBox="1"/>
          <p:nvPr/>
        </p:nvSpPr>
        <p:spPr>
          <a:xfrm>
            <a:off x="5800923" y="4368967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101</a:t>
            </a:r>
            <a:endParaRPr/>
          </a:p>
        </p:txBody>
      </p:sp>
      <p:sp>
        <p:nvSpPr>
          <p:cNvPr id="261" name="Google Shape;261;p16"/>
          <p:cNvSpPr txBox="1"/>
          <p:nvPr/>
        </p:nvSpPr>
        <p:spPr>
          <a:xfrm>
            <a:off x="1419854" y="8933224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221</a:t>
            </a:r>
            <a:endParaRPr/>
          </a:p>
        </p:txBody>
      </p:sp>
      <p:sp>
        <p:nvSpPr>
          <p:cNvPr id="262" name="Google Shape;262;p16"/>
          <p:cNvSpPr txBox="1"/>
          <p:nvPr/>
        </p:nvSpPr>
        <p:spPr>
          <a:xfrm>
            <a:off x="3795659" y="8933224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221</a:t>
            </a:r>
            <a:endParaRPr/>
          </a:p>
        </p:txBody>
      </p:sp>
      <p:sp>
        <p:nvSpPr>
          <p:cNvPr id="263" name="Google Shape;263;p16"/>
          <p:cNvSpPr txBox="1"/>
          <p:nvPr/>
        </p:nvSpPr>
        <p:spPr>
          <a:xfrm>
            <a:off x="5929259" y="8933224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£440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414" y="4223655"/>
            <a:ext cx="6247171" cy="5395284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7"/>
          <p:cNvSpPr txBox="1"/>
          <p:nvPr/>
        </p:nvSpPr>
        <p:spPr>
          <a:xfrm>
            <a:off x="160392" y="204594"/>
            <a:ext cx="6541104" cy="338554"/>
          </a:xfrm>
          <a:prstGeom prst="rect">
            <a:avLst/>
          </a:prstGeom>
          <a:solidFill>
            <a:srgbClr val="7E234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7"/>
          <p:cNvSpPr/>
          <p:nvPr/>
        </p:nvSpPr>
        <p:spPr>
          <a:xfrm>
            <a:off x="160392" y="542888"/>
            <a:ext cx="6543302" cy="194764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7"/>
          <p:cNvSpPr txBox="1"/>
          <p:nvPr>
            <p:ph idx="12" type="sldNum"/>
          </p:nvPr>
        </p:nvSpPr>
        <p:spPr>
          <a:xfrm>
            <a:off x="5317040" y="948414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272" name="Google Shape;27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350" y="621623"/>
            <a:ext cx="3143250" cy="177419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7"/>
          <p:cNvSpPr/>
          <p:nvPr/>
        </p:nvSpPr>
        <p:spPr>
          <a:xfrm>
            <a:off x="157349" y="2491552"/>
            <a:ext cx="6543302" cy="194764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number goes in the box?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3                B. 1               C. 0          D. 9</a:t>
            </a:r>
            <a:endParaRPr/>
          </a:p>
        </p:txBody>
      </p:sp>
      <p:pic>
        <p:nvPicPr>
          <p:cNvPr id="274" name="Google Shape;27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94433" y="2828831"/>
            <a:ext cx="1289675" cy="724251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7"/>
          <p:cNvSpPr/>
          <p:nvPr/>
        </p:nvSpPr>
        <p:spPr>
          <a:xfrm>
            <a:off x="3047783" y="2828831"/>
            <a:ext cx="936325" cy="33970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2645692" y="3238263"/>
            <a:ext cx="236212" cy="23578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3047783" y="3261266"/>
            <a:ext cx="840536" cy="23578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7"/>
          <p:cNvSpPr txBox="1"/>
          <p:nvPr/>
        </p:nvSpPr>
        <p:spPr>
          <a:xfrm>
            <a:off x="2690078" y="3190956"/>
            <a:ext cx="10182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3  6  9 6</a:t>
            </a:r>
            <a:endParaRPr/>
          </a:p>
        </p:txBody>
      </p:sp>
      <p:sp>
        <p:nvSpPr>
          <p:cNvPr id="279" name="Google Shape;279;p17"/>
          <p:cNvSpPr txBox="1"/>
          <p:nvPr/>
        </p:nvSpPr>
        <p:spPr>
          <a:xfrm>
            <a:off x="2897591" y="2932563"/>
            <a:ext cx="10182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2  3 2 0</a:t>
            </a:r>
            <a:endParaRPr/>
          </a:p>
        </p:txBody>
      </p:sp>
      <p:pic>
        <p:nvPicPr>
          <p:cNvPr id="280" name="Google Shape;280;p17"/>
          <p:cNvPicPr preferRelativeResize="0"/>
          <p:nvPr/>
        </p:nvPicPr>
        <p:blipFill rotWithShape="1">
          <a:blip r:embed="rId6">
            <a:alphaModFix/>
          </a:blip>
          <a:srcRect b="12259" l="0" r="-9035" t="-1"/>
          <a:stretch/>
        </p:blipFill>
        <p:spPr>
          <a:xfrm>
            <a:off x="3636594" y="3259736"/>
            <a:ext cx="279224" cy="234464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7"/>
          <p:cNvSpPr/>
          <p:nvPr/>
        </p:nvSpPr>
        <p:spPr>
          <a:xfrm>
            <a:off x="1794350" y="1973179"/>
            <a:ext cx="996976" cy="422634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3635339" y="3818681"/>
            <a:ext cx="996976" cy="422634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