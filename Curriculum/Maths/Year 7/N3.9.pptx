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9906000" cx="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7592356-FB9D-41DD-B6C9-966551D9E283}">
  <a:tblStyle styleId="{C7592356-FB9D-41DD-B6C9-966551D9E283}"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82: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83: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8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84: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85: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86: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2" name="Google Shape;22;p3"/>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4"/>
          <p:cNvSpPr txBox="1"/>
          <p:nvPr>
            <p:ph type="ctrTitle"/>
          </p:nvPr>
        </p:nvSpPr>
        <p:spPr>
          <a:xfrm>
            <a:off x="514350" y="1621191"/>
            <a:ext cx="5829300" cy="344875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subTitle"/>
          </p:nvPr>
        </p:nvSpPr>
        <p:spPr>
          <a:xfrm>
            <a:off x="857250" y="5202944"/>
            <a:ext cx="5143500" cy="239165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8" name="Google Shape;28;p4"/>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5"/>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6"/>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471488"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9" name="Google Shape;39;p6"/>
          <p:cNvSpPr txBox="1"/>
          <p:nvPr>
            <p:ph idx="2" type="body"/>
          </p:nvPr>
        </p:nvSpPr>
        <p:spPr>
          <a:xfrm>
            <a:off x="3471863"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0" name="Google Shape;40;p6"/>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 name="Shape 43"/>
        <p:cNvGrpSpPr/>
        <p:nvPr/>
      </p:nvGrpSpPr>
      <p:grpSpPr>
        <a:xfrm>
          <a:off x="0" y="0"/>
          <a:ext cx="0" cy="0"/>
          <a:chOff x="0" y="0"/>
          <a:chExt cx="0" cy="0"/>
        </a:xfrm>
      </p:grpSpPr>
      <p:sp>
        <p:nvSpPr>
          <p:cNvPr id="44" name="Google Shape;44;p7"/>
          <p:cNvSpPr txBox="1"/>
          <p:nvPr>
            <p:ph type="title"/>
          </p:nvPr>
        </p:nvSpPr>
        <p:spPr>
          <a:xfrm>
            <a:off x="467916" y="2469624"/>
            <a:ext cx="5915025" cy="412062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7"/>
          <p:cNvSpPr txBox="1"/>
          <p:nvPr>
            <p:ph idx="1" type="body"/>
          </p:nvPr>
        </p:nvSpPr>
        <p:spPr>
          <a:xfrm>
            <a:off x="467916" y="6629226"/>
            <a:ext cx="5915025" cy="21669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sz="1800">
                <a:solidFill>
                  <a:schemeClr val="dk1"/>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46" name="Google Shape;46;p7"/>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8"/>
          <p:cNvSpPr txBox="1"/>
          <p:nvPr>
            <p:ph type="title"/>
          </p:nvPr>
        </p:nvSpPr>
        <p:spPr>
          <a:xfrm>
            <a:off x="472381"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 type="body"/>
          </p:nvPr>
        </p:nvSpPr>
        <p:spPr>
          <a:xfrm>
            <a:off x="472381" y="2428347"/>
            <a:ext cx="2901255"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2" name="Google Shape;52;p8"/>
          <p:cNvSpPr txBox="1"/>
          <p:nvPr>
            <p:ph idx="2" type="body"/>
          </p:nvPr>
        </p:nvSpPr>
        <p:spPr>
          <a:xfrm>
            <a:off x="472381" y="3618442"/>
            <a:ext cx="2901255"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3" name="Google Shape;53;p8"/>
          <p:cNvSpPr txBox="1"/>
          <p:nvPr>
            <p:ph idx="3" type="body"/>
          </p:nvPr>
        </p:nvSpPr>
        <p:spPr>
          <a:xfrm>
            <a:off x="3471863" y="2428347"/>
            <a:ext cx="2915543"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4" name="Google Shape;54;p8"/>
          <p:cNvSpPr txBox="1"/>
          <p:nvPr>
            <p:ph idx="4" type="body"/>
          </p:nvPr>
        </p:nvSpPr>
        <p:spPr>
          <a:xfrm>
            <a:off x="3471863" y="3618442"/>
            <a:ext cx="2915543"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5" name="Google Shape;55;p8"/>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72381" y="660400"/>
            <a:ext cx="2211884"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2915543" y="1426283"/>
            <a:ext cx="3471863" cy="7039681"/>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1" name="Google Shape;61;p9"/>
          <p:cNvSpPr txBox="1"/>
          <p:nvPr>
            <p:ph idx="2" type="body"/>
          </p:nvPr>
        </p:nvSpPr>
        <p:spPr>
          <a:xfrm>
            <a:off x="472381" y="2971800"/>
            <a:ext cx="2211884"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2" name="Google Shape;62;p9"/>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472381" y="660400"/>
            <a:ext cx="2211884"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2915543" y="1426283"/>
            <a:ext cx="3471863" cy="7039681"/>
          </a:xfrm>
          <a:prstGeom prst="rect">
            <a:avLst/>
          </a:prstGeom>
          <a:noFill/>
          <a:ln>
            <a:noFill/>
          </a:ln>
        </p:spPr>
      </p:sp>
      <p:sp>
        <p:nvSpPr>
          <p:cNvPr id="68" name="Google Shape;68;p10"/>
          <p:cNvSpPr txBox="1"/>
          <p:nvPr>
            <p:ph idx="1" type="body"/>
          </p:nvPr>
        </p:nvSpPr>
        <p:spPr>
          <a:xfrm>
            <a:off x="472381" y="2971800"/>
            <a:ext cx="2211884"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9" name="Google Shape;69;p10"/>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86367" y="2822135"/>
            <a:ext cx="6285266" cy="59150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11"/>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1449696" y="3985464"/>
            <a:ext cx="8394877" cy="14787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550679" y="2549570"/>
            <a:ext cx="8394877" cy="43505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12"/>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graphicFrame>
        <p:nvGraphicFramePr>
          <p:cNvPr id="89" name="Google Shape;89;p13"/>
          <p:cNvGraphicFramePr/>
          <p:nvPr/>
        </p:nvGraphicFramePr>
        <p:xfrm>
          <a:off x="159048" y="5556309"/>
          <a:ext cx="3000000" cy="3000000"/>
        </p:xfrm>
        <a:graphic>
          <a:graphicData uri="http://schemas.openxmlformats.org/drawingml/2006/table">
            <a:tbl>
              <a:tblPr bandRow="1" firstRow="1">
                <a:noFill/>
                <a:tableStyleId>{C7592356-FB9D-41DD-B6C9-966551D9E283}</a:tableStyleId>
              </a:tblPr>
              <a:tblGrid>
                <a:gridCol w="1323000"/>
                <a:gridCol w="1729675"/>
                <a:gridCol w="1729675"/>
                <a:gridCol w="1729675"/>
              </a:tblGrid>
              <a:tr h="300225">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Calculate the following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Calculate the following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Calculate the following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678025">
                <a:tc>
                  <a:txBody>
                    <a:bodyPr/>
                    <a:lstStyle/>
                    <a:p>
                      <a:pPr indent="0" lvl="0" marL="0" marR="0" rtl="0" algn="l">
                        <a:spcBef>
                          <a:spcPts val="0"/>
                        </a:spcBef>
                        <a:spcAft>
                          <a:spcPts val="0"/>
                        </a:spcAft>
                        <a:buClr>
                          <a:schemeClr val="dk1"/>
                        </a:buClr>
                        <a:buSzPts val="1200"/>
                        <a:buFont typeface="Calibri"/>
                        <a:buNone/>
                      </a:pPr>
                      <a:r>
                        <a:rPr lang="en-GB" sz="1200">
                          <a:solidFill>
                            <a:schemeClr val="dk1"/>
                          </a:solidFill>
                        </a:rPr>
                        <a:t>1) Determine which operations are in the question</a:t>
                      </a:r>
                      <a:br>
                        <a:rPr lang="en-GB" sz="1200">
                          <a:solidFill>
                            <a:schemeClr val="dk1"/>
                          </a:solidFill>
                        </a:rPr>
                      </a:br>
                      <a:endParaRPr sz="1200">
                        <a:solidFill>
                          <a:schemeClr val="dk1"/>
                        </a:solidFill>
                      </a:endParaRPr>
                    </a:p>
                    <a:p>
                      <a:pPr indent="0" lvl="0" marL="0" marR="0" rtl="0" algn="l">
                        <a:spcBef>
                          <a:spcPts val="0"/>
                        </a:spcBef>
                        <a:spcAft>
                          <a:spcPts val="0"/>
                        </a:spcAft>
                        <a:buNone/>
                      </a:pPr>
                      <a:r>
                        <a:rPr lang="en-GB" sz="1200">
                          <a:solidFill>
                            <a:schemeClr val="dk1"/>
                          </a:solidFill>
                        </a:rPr>
                        <a:t>2) Determine the correct order to perform the calculation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90" name="Google Shape;90;p13"/>
          <p:cNvSpPr txBox="1"/>
          <p:nvPr/>
        </p:nvSpPr>
        <p:spPr>
          <a:xfrm>
            <a:off x="1705296" y="5311912"/>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1 - I do…</a:t>
            </a:r>
            <a:endParaRPr/>
          </a:p>
        </p:txBody>
      </p:sp>
      <p:sp>
        <p:nvSpPr>
          <p:cNvPr id="91" name="Google Shape;91;p13"/>
          <p:cNvSpPr txBox="1"/>
          <p:nvPr/>
        </p:nvSpPr>
        <p:spPr>
          <a:xfrm>
            <a:off x="5143491" y="5313006"/>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3 – You do…</a:t>
            </a:r>
            <a:endParaRPr/>
          </a:p>
        </p:txBody>
      </p:sp>
      <p:sp>
        <p:nvSpPr>
          <p:cNvPr id="92" name="Google Shape;92;p13"/>
          <p:cNvSpPr txBox="1"/>
          <p:nvPr>
            <p:ph idx="12" type="sldNum"/>
          </p:nvPr>
        </p:nvSpPr>
        <p:spPr>
          <a:xfrm>
            <a:off x="5269733" y="941524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solidFill>
                  <a:schemeClr val="dk1"/>
                </a:solidFill>
              </a:rPr>
              <a:t>‹#›</a:t>
            </a:fld>
            <a:endParaRPr>
              <a:solidFill>
                <a:schemeClr val="dk1"/>
              </a:solidFill>
            </a:endParaRPr>
          </a:p>
        </p:txBody>
      </p:sp>
      <p:sp>
        <p:nvSpPr>
          <p:cNvPr id="93" name="Google Shape;93;p13"/>
          <p:cNvSpPr/>
          <p:nvPr/>
        </p:nvSpPr>
        <p:spPr>
          <a:xfrm>
            <a:off x="157866" y="318368"/>
            <a:ext cx="6513235" cy="111600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rgbClr val="000000"/>
              </a:solidFill>
              <a:latin typeface="Calibri"/>
              <a:ea typeface="Calibri"/>
              <a:cs typeface="Calibri"/>
              <a:sym typeface="Calibri"/>
            </a:endParaRPr>
          </a:p>
        </p:txBody>
      </p:sp>
      <p:sp>
        <p:nvSpPr>
          <p:cNvPr id="94" name="Google Shape;94;p13"/>
          <p:cNvSpPr/>
          <p:nvPr/>
        </p:nvSpPr>
        <p:spPr>
          <a:xfrm>
            <a:off x="0" y="0"/>
            <a:ext cx="6858000" cy="291917"/>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Calibri"/>
                <a:ea typeface="Calibri"/>
                <a:cs typeface="Calibri"/>
                <a:sym typeface="Calibri"/>
              </a:rPr>
              <a:t>Subtopic N3.9 – Order of Operations</a:t>
            </a:r>
            <a:endParaRPr/>
          </a:p>
        </p:txBody>
      </p:sp>
      <p:sp>
        <p:nvSpPr>
          <p:cNvPr id="95" name="Google Shape;95;p13"/>
          <p:cNvSpPr txBox="1"/>
          <p:nvPr/>
        </p:nvSpPr>
        <p:spPr>
          <a:xfrm>
            <a:off x="110929" y="661228"/>
            <a:ext cx="139976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Objectives:</a:t>
            </a:r>
            <a:endParaRPr/>
          </a:p>
        </p:txBody>
      </p:sp>
      <p:sp>
        <p:nvSpPr>
          <p:cNvPr id="96" name="Google Shape;96;p13"/>
          <p:cNvSpPr txBox="1"/>
          <p:nvPr/>
        </p:nvSpPr>
        <p:spPr>
          <a:xfrm>
            <a:off x="148501" y="859616"/>
            <a:ext cx="4864666" cy="646331"/>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correctly apply order of operations with the four operations.</a:t>
            </a:r>
            <a:endParaRPr/>
          </a:p>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correctly apply order of operations including indices and brackets.</a:t>
            </a:r>
            <a:endParaRPr/>
          </a:p>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insert brackets into calculations to make them correct.</a:t>
            </a:r>
            <a:endParaRPr/>
          </a:p>
        </p:txBody>
      </p:sp>
      <p:sp>
        <p:nvSpPr>
          <p:cNvPr id="97" name="Google Shape;97;p13"/>
          <p:cNvSpPr txBox="1"/>
          <p:nvPr/>
        </p:nvSpPr>
        <p:spPr>
          <a:xfrm>
            <a:off x="418729" y="373024"/>
            <a:ext cx="4864666" cy="276999"/>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Calibri"/>
                <a:ea typeface="Calibri"/>
                <a:cs typeface="Calibri"/>
                <a:sym typeface="Calibri"/>
              </a:rPr>
              <a:t>LEARNING OUTCOME: To understand and apply correct order of operations</a:t>
            </a:r>
            <a:endParaRPr/>
          </a:p>
        </p:txBody>
      </p:sp>
      <p:sp>
        <p:nvSpPr>
          <p:cNvPr id="98" name="Google Shape;98;p13"/>
          <p:cNvSpPr txBox="1"/>
          <p:nvPr/>
        </p:nvSpPr>
        <p:spPr>
          <a:xfrm>
            <a:off x="5641380" y="372198"/>
            <a:ext cx="988027" cy="1015663"/>
          </a:xfrm>
          <a:prstGeom prst="rect">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u="sng">
                <a:solidFill>
                  <a:schemeClr val="dk1"/>
                </a:solidFill>
                <a:latin typeface="Calibri"/>
                <a:ea typeface="Calibri"/>
                <a:cs typeface="Calibri"/>
                <a:sym typeface="Calibri"/>
              </a:rPr>
              <a:t>Keywords:</a:t>
            </a:r>
            <a:endParaRPr sz="1200">
              <a:solidFill>
                <a:schemeClr val="dk1"/>
              </a:solidFill>
              <a:latin typeface="Calibri"/>
              <a:ea typeface="Calibri"/>
              <a:cs typeface="Calibri"/>
              <a:sym typeface="Calibri"/>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Operation</a:t>
            </a:r>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Index</a:t>
            </a:r>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Power</a:t>
            </a:r>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Root</a:t>
            </a:r>
            <a:endParaRPr/>
          </a:p>
        </p:txBody>
      </p:sp>
      <p:cxnSp>
        <p:nvCxnSpPr>
          <p:cNvPr id="99" name="Google Shape;99;p13"/>
          <p:cNvCxnSpPr/>
          <p:nvPr/>
        </p:nvCxnSpPr>
        <p:spPr>
          <a:xfrm flipH="1" rot="10800000">
            <a:off x="930464" y="4606458"/>
            <a:ext cx="5541513" cy="22822"/>
          </a:xfrm>
          <a:prstGeom prst="straightConnector1">
            <a:avLst/>
          </a:prstGeom>
          <a:noFill/>
          <a:ln cap="flat" cmpd="sng" w="9525">
            <a:solidFill>
              <a:schemeClr val="lt1"/>
            </a:solidFill>
            <a:prstDash val="solid"/>
            <a:miter lim="800000"/>
            <a:headEnd len="sm" w="sm" type="none"/>
            <a:tailEnd len="sm" w="sm" type="none"/>
          </a:ln>
        </p:spPr>
      </p:cxnSp>
      <p:sp>
        <p:nvSpPr>
          <p:cNvPr id="100" name="Google Shape;100;p13"/>
          <p:cNvSpPr/>
          <p:nvPr/>
        </p:nvSpPr>
        <p:spPr>
          <a:xfrm>
            <a:off x="159048" y="2675863"/>
            <a:ext cx="6512054" cy="2038881"/>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101" name="Google Shape;101;p13"/>
          <p:cNvCxnSpPr/>
          <p:nvPr/>
        </p:nvCxnSpPr>
        <p:spPr>
          <a:xfrm>
            <a:off x="157866" y="3479303"/>
            <a:ext cx="6516000" cy="0"/>
          </a:xfrm>
          <a:prstGeom prst="straightConnector1">
            <a:avLst/>
          </a:prstGeom>
          <a:noFill/>
          <a:ln cap="flat" cmpd="sng" w="9525">
            <a:solidFill>
              <a:schemeClr val="dk1"/>
            </a:solidFill>
            <a:prstDash val="solid"/>
            <a:miter lim="800000"/>
            <a:headEnd len="sm" w="sm" type="none"/>
            <a:tailEnd len="sm" w="sm" type="none"/>
          </a:ln>
        </p:spPr>
      </p:cxnSp>
      <p:cxnSp>
        <p:nvCxnSpPr>
          <p:cNvPr id="102" name="Google Shape;102;p13"/>
          <p:cNvCxnSpPr>
            <a:stCxn id="100" idx="2"/>
            <a:endCxn id="100" idx="0"/>
          </p:cNvCxnSpPr>
          <p:nvPr/>
        </p:nvCxnSpPr>
        <p:spPr>
          <a:xfrm rot="10800000">
            <a:off x="3415075" y="2675944"/>
            <a:ext cx="0" cy="2038800"/>
          </a:xfrm>
          <a:prstGeom prst="straightConnector1">
            <a:avLst/>
          </a:prstGeom>
          <a:noFill/>
          <a:ln cap="flat" cmpd="sng" w="9525">
            <a:solidFill>
              <a:schemeClr val="dk1"/>
            </a:solidFill>
            <a:prstDash val="solid"/>
            <a:miter lim="800000"/>
            <a:headEnd len="sm" w="sm" type="none"/>
            <a:tailEnd len="sm" w="sm" type="none"/>
          </a:ln>
        </p:spPr>
      </p:cxnSp>
      <p:sp>
        <p:nvSpPr>
          <p:cNvPr id="103" name="Google Shape;103;p13"/>
          <p:cNvSpPr txBox="1"/>
          <p:nvPr/>
        </p:nvSpPr>
        <p:spPr>
          <a:xfrm>
            <a:off x="139258" y="2675862"/>
            <a:ext cx="82471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Definition</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4" name="Google Shape;104;p13"/>
          <p:cNvSpPr txBox="1"/>
          <p:nvPr/>
        </p:nvSpPr>
        <p:spPr>
          <a:xfrm>
            <a:off x="5644651" y="2642246"/>
            <a:ext cx="111222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Characteristics</a:t>
            </a:r>
            <a:endParaRPr b="1" sz="1200">
              <a:solidFill>
                <a:schemeClr val="dk1"/>
              </a:solidFill>
              <a:latin typeface="Calibri"/>
              <a:ea typeface="Calibri"/>
              <a:cs typeface="Calibri"/>
              <a:sym typeface="Calibri"/>
            </a:endParaRPr>
          </a:p>
        </p:txBody>
      </p:sp>
      <p:sp>
        <p:nvSpPr>
          <p:cNvPr id="105" name="Google Shape;105;p13"/>
          <p:cNvSpPr txBox="1"/>
          <p:nvPr/>
        </p:nvSpPr>
        <p:spPr>
          <a:xfrm>
            <a:off x="78445" y="3502194"/>
            <a:ext cx="3425305" cy="12157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Examples</a:t>
            </a:r>
            <a:endParaRPr/>
          </a:p>
          <a:p>
            <a:pPr indent="0" lvl="0" marL="0" marR="0" rtl="0" algn="l">
              <a:spcBef>
                <a:spcPts val="0"/>
              </a:spcBef>
              <a:spcAft>
                <a:spcPts val="0"/>
              </a:spcAft>
              <a:buNone/>
            </a:pPr>
            <a:r>
              <a:t/>
            </a:r>
            <a:endParaRPr b="1" sz="100">
              <a:solidFill>
                <a:schemeClr val="dk1"/>
              </a:solidFill>
              <a:latin typeface="Calibri"/>
              <a:ea typeface="Calibri"/>
              <a:cs typeface="Calibri"/>
              <a:sym typeface="Calibri"/>
            </a:endParaRPr>
          </a:p>
          <a:p>
            <a:pPr indent="-171450" lvl="0" marL="171450" marR="0" rtl="0" algn="l">
              <a:spcBef>
                <a:spcPts val="0"/>
              </a:spcBef>
              <a:spcAft>
                <a:spcPts val="0"/>
              </a:spcAft>
              <a:buClr>
                <a:schemeClr val="dk1"/>
              </a:buClr>
              <a:buSzPts val="1200"/>
              <a:buFont typeface="Arial"/>
              <a:buChar char="•"/>
            </a:pPr>
            <a:r>
              <a:rPr b="0" i="0" lang="en-GB" sz="1200">
                <a:solidFill>
                  <a:schemeClr val="dk1"/>
                </a:solidFill>
                <a:latin typeface="Calibri"/>
                <a:ea typeface="Calibri"/>
                <a:cs typeface="Calibri"/>
                <a:sym typeface="Calibri"/>
              </a:rPr>
              <a:t>In the expression 3 + 4, the operation is addition, which combines 3 and 4 to give a sum of 7.</a:t>
            </a:r>
            <a:endParaRPr/>
          </a:p>
          <a:p>
            <a:pPr indent="-171450" lvl="0" marL="171450" marR="0" rtl="0" algn="l">
              <a:spcBef>
                <a:spcPts val="0"/>
              </a:spcBef>
              <a:spcAft>
                <a:spcPts val="0"/>
              </a:spcAft>
              <a:buClr>
                <a:schemeClr val="dk1"/>
              </a:buClr>
              <a:buSzPts val="1200"/>
              <a:buFont typeface="Arial"/>
              <a:buChar char="•"/>
            </a:pPr>
            <a:r>
              <a:rPr b="0" i="0" lang="en-GB" sz="1200">
                <a:solidFill>
                  <a:schemeClr val="dk1"/>
                </a:solidFill>
                <a:latin typeface="Calibri"/>
                <a:ea typeface="Calibri"/>
                <a:cs typeface="Calibri"/>
                <a:sym typeface="Calibri"/>
              </a:rPr>
              <a:t>In the expression 12 ÷ 3, the operation is division, indicating that 12 is shared into 3 equal parts, resulting in 4</a:t>
            </a:r>
            <a:endParaRPr b="1" sz="1200">
              <a:solidFill>
                <a:schemeClr val="dk1"/>
              </a:solidFill>
              <a:latin typeface="Calibri"/>
              <a:ea typeface="Calibri"/>
              <a:cs typeface="Calibri"/>
              <a:sym typeface="Calibri"/>
            </a:endParaRPr>
          </a:p>
        </p:txBody>
      </p:sp>
      <p:sp>
        <p:nvSpPr>
          <p:cNvPr id="106" name="Google Shape;106;p13"/>
          <p:cNvSpPr txBox="1"/>
          <p:nvPr/>
        </p:nvSpPr>
        <p:spPr>
          <a:xfrm>
            <a:off x="5577191" y="3480956"/>
            <a:ext cx="117288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Non - Examples</a:t>
            </a:r>
            <a:endParaRPr b="1" sz="1200">
              <a:solidFill>
                <a:schemeClr val="dk1"/>
              </a:solidFill>
              <a:latin typeface="Calibri"/>
              <a:ea typeface="Calibri"/>
              <a:cs typeface="Calibri"/>
              <a:sym typeface="Calibri"/>
            </a:endParaRPr>
          </a:p>
        </p:txBody>
      </p:sp>
      <p:sp>
        <p:nvSpPr>
          <p:cNvPr id="107" name="Google Shape;107;p13"/>
          <p:cNvSpPr txBox="1"/>
          <p:nvPr/>
        </p:nvSpPr>
        <p:spPr>
          <a:xfrm>
            <a:off x="139258" y="2844008"/>
            <a:ext cx="323033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200">
                <a:solidFill>
                  <a:schemeClr val="dk1"/>
                </a:solidFill>
                <a:latin typeface="Arial"/>
                <a:ea typeface="Arial"/>
                <a:cs typeface="Arial"/>
                <a:sym typeface="Arial"/>
              </a:rPr>
              <a:t>Operations in mathematics refer to the basic mathematical actions or processes used to perform calculations and solve problems. </a:t>
            </a:r>
            <a:endParaRPr sz="1200">
              <a:solidFill>
                <a:schemeClr val="dk1"/>
              </a:solidFill>
              <a:latin typeface="Calibri"/>
              <a:ea typeface="Calibri"/>
              <a:cs typeface="Calibri"/>
              <a:sym typeface="Calibri"/>
            </a:endParaRPr>
          </a:p>
        </p:txBody>
      </p:sp>
      <p:sp>
        <p:nvSpPr>
          <p:cNvPr id="108" name="Google Shape;108;p13"/>
          <p:cNvSpPr txBox="1"/>
          <p:nvPr/>
        </p:nvSpPr>
        <p:spPr>
          <a:xfrm>
            <a:off x="2824221" y="3295577"/>
            <a:ext cx="1131592" cy="369332"/>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Operation</a:t>
            </a:r>
            <a:endParaRPr sz="1800">
              <a:solidFill>
                <a:schemeClr val="dk1"/>
              </a:solidFill>
              <a:latin typeface="Calibri"/>
              <a:ea typeface="Calibri"/>
              <a:cs typeface="Calibri"/>
              <a:sym typeface="Calibri"/>
            </a:endParaRPr>
          </a:p>
        </p:txBody>
      </p:sp>
      <p:sp>
        <p:nvSpPr>
          <p:cNvPr id="109" name="Google Shape;109;p13"/>
          <p:cNvSpPr txBox="1"/>
          <p:nvPr/>
        </p:nvSpPr>
        <p:spPr>
          <a:xfrm>
            <a:off x="3376951" y="5295611"/>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2 – We do…</a:t>
            </a:r>
            <a:endParaRPr/>
          </a:p>
        </p:txBody>
      </p:sp>
      <p:sp>
        <p:nvSpPr>
          <p:cNvPr id="110" name="Google Shape;110;p13"/>
          <p:cNvSpPr txBox="1"/>
          <p:nvPr/>
        </p:nvSpPr>
        <p:spPr>
          <a:xfrm>
            <a:off x="3731540" y="2892643"/>
            <a:ext cx="33371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600">
                <a:solidFill>
                  <a:schemeClr val="dk1"/>
                </a:solidFill>
                <a:latin typeface="Calibri"/>
                <a:ea typeface="Calibri"/>
                <a:cs typeface="Calibri"/>
                <a:sym typeface="Calibri"/>
              </a:rPr>
              <a:t>+</a:t>
            </a:r>
            <a:endParaRPr/>
          </a:p>
        </p:txBody>
      </p:sp>
      <p:sp>
        <p:nvSpPr>
          <p:cNvPr id="111" name="Google Shape;111;p13"/>
          <p:cNvSpPr txBox="1"/>
          <p:nvPr/>
        </p:nvSpPr>
        <p:spPr>
          <a:xfrm>
            <a:off x="3955813" y="3836924"/>
            <a:ext cx="50983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23</a:t>
            </a:r>
            <a:endParaRPr/>
          </a:p>
        </p:txBody>
      </p:sp>
      <p:sp>
        <p:nvSpPr>
          <p:cNvPr id="112" name="Google Shape;112;p13"/>
          <p:cNvSpPr/>
          <p:nvPr/>
        </p:nvSpPr>
        <p:spPr>
          <a:xfrm>
            <a:off x="151983" y="4751119"/>
            <a:ext cx="3477103" cy="237537"/>
          </a:xfrm>
          <a:prstGeom prst="rect">
            <a:avLst/>
          </a:prstGeom>
          <a:blipFill rotWithShape="1">
            <a:blip r:embed="rId3">
              <a:alphaModFix/>
            </a:blip>
            <a:stretch>
              <a:fillRect b="-28205" l="-175" r="0" t="-769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113" name="Google Shape;113;p13"/>
          <p:cNvSpPr txBox="1"/>
          <p:nvPr/>
        </p:nvSpPr>
        <p:spPr>
          <a:xfrm>
            <a:off x="4279082" y="2688462"/>
            <a:ext cx="33371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600">
                <a:solidFill>
                  <a:schemeClr val="dk1"/>
                </a:solidFill>
                <a:latin typeface="Calibri"/>
                <a:ea typeface="Calibri"/>
                <a:cs typeface="Calibri"/>
                <a:sym typeface="Calibri"/>
              </a:rPr>
              <a:t>-</a:t>
            </a:r>
            <a:endParaRPr/>
          </a:p>
        </p:txBody>
      </p:sp>
      <p:sp>
        <p:nvSpPr>
          <p:cNvPr id="114" name="Google Shape;114;p13"/>
          <p:cNvSpPr txBox="1"/>
          <p:nvPr/>
        </p:nvSpPr>
        <p:spPr>
          <a:xfrm>
            <a:off x="6209349" y="2881547"/>
            <a:ext cx="333718" cy="338554"/>
          </a:xfrm>
          <a:prstGeom prst="rect">
            <a:avLst/>
          </a:prstGeom>
          <a:blipFill rotWithShape="1">
            <a:blip r:embed="rId4">
              <a:alphaModFix/>
            </a:blip>
            <a:stretch>
              <a:fillRect b="-931104" l="-952003" r="-952003" t="-233137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115" name="Google Shape;115;p13"/>
          <p:cNvSpPr txBox="1"/>
          <p:nvPr/>
        </p:nvSpPr>
        <p:spPr>
          <a:xfrm>
            <a:off x="4760594" y="2936394"/>
            <a:ext cx="333718" cy="356957"/>
          </a:xfrm>
          <a:prstGeom prst="rect">
            <a:avLst/>
          </a:prstGeom>
          <a:blipFill rotWithShape="1">
            <a:blip r:embed="rId5">
              <a:alphaModFix/>
            </a:blip>
            <a:stretch>
              <a:fillRect b="-1524605" l="-1161884" r="-1158253" t="-232484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116" name="Google Shape;116;p13"/>
          <p:cNvSpPr txBox="1"/>
          <p:nvPr/>
        </p:nvSpPr>
        <p:spPr>
          <a:xfrm>
            <a:off x="5328214" y="2720525"/>
            <a:ext cx="333718" cy="338554"/>
          </a:xfrm>
          <a:prstGeom prst="rect">
            <a:avLst/>
          </a:prstGeom>
          <a:blipFill rotWithShape="1">
            <a:blip r:embed="rId6">
              <a:alphaModFix/>
            </a:blip>
            <a:stretch>
              <a:fillRect b="-1162699" l="-1160009" r="-1163645" t="-282728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117" name="Google Shape;117;p13"/>
          <p:cNvSpPr txBox="1"/>
          <p:nvPr/>
        </p:nvSpPr>
        <p:spPr>
          <a:xfrm>
            <a:off x="4697288" y="3760146"/>
            <a:ext cx="50983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4.76</a:t>
            </a:r>
            <a:endParaRPr/>
          </a:p>
        </p:txBody>
      </p:sp>
      <p:sp>
        <p:nvSpPr>
          <p:cNvPr id="118" name="Google Shape;118;p13"/>
          <p:cNvSpPr/>
          <p:nvPr/>
        </p:nvSpPr>
        <p:spPr>
          <a:xfrm>
            <a:off x="5713646" y="3848868"/>
            <a:ext cx="509833" cy="498474"/>
          </a:xfrm>
          <a:prstGeom prst="triangle">
            <a:avLst>
              <a:gd fmla="val 50000"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119" name="Google Shape;119;p13"/>
          <p:cNvGraphicFramePr/>
          <p:nvPr/>
        </p:nvGraphicFramePr>
        <p:xfrm>
          <a:off x="153061" y="7971059"/>
          <a:ext cx="3000000" cy="3000000"/>
        </p:xfrm>
        <a:graphic>
          <a:graphicData uri="http://schemas.openxmlformats.org/drawingml/2006/table">
            <a:tbl>
              <a:tblPr bandRow="1" firstRow="1">
                <a:noFill/>
                <a:tableStyleId>{C7592356-FB9D-41DD-B6C9-966551D9E283}</a:tableStyleId>
              </a:tblPr>
              <a:tblGrid>
                <a:gridCol w="1605850"/>
                <a:gridCol w="4924925"/>
              </a:tblGrid>
              <a:tr h="403850">
                <a:tc>
                  <a:txBody>
                    <a:bodyPr/>
                    <a:lstStyle/>
                    <a:p>
                      <a:pPr indent="0" lvl="0" marL="0" marR="0" rtl="0" algn="ctr">
                        <a:spcBef>
                          <a:spcPts val="0"/>
                        </a:spcBef>
                        <a:spcAft>
                          <a:spcPts val="0"/>
                        </a:spcAft>
                        <a:buNone/>
                      </a:pPr>
                      <a:r>
                        <a:rPr b="0" lang="en-GB" sz="1350">
                          <a:solidFill>
                            <a:schemeClr val="dk1"/>
                          </a:solidFill>
                        </a:rPr>
                        <a:t>Question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350">
                          <a:solidFill>
                            <a:schemeClr val="dk1"/>
                          </a:solidFill>
                        </a:rPr>
                        <a:t>Answer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38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rgbClr val="FF0000"/>
                          </a:solidFill>
                        </a:rPr>
                        <a:t>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38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rgbClr val="FF0000"/>
                          </a:solidFill>
                        </a:rPr>
                        <a:t>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38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rgbClr val="FF0000"/>
                          </a:solidFill>
                        </a:rPr>
                        <a:t>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20" name="Google Shape;120;p13"/>
          <p:cNvSpPr txBox="1"/>
          <p:nvPr/>
        </p:nvSpPr>
        <p:spPr>
          <a:xfrm>
            <a:off x="1721872" y="7657387"/>
            <a:ext cx="323033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1. Work out the answers to the following:</a:t>
            </a:r>
            <a:endParaRPr/>
          </a:p>
        </p:txBody>
      </p:sp>
      <p:sp>
        <p:nvSpPr>
          <p:cNvPr id="121" name="Google Shape;121;p13"/>
          <p:cNvSpPr/>
          <p:nvPr/>
        </p:nvSpPr>
        <p:spPr>
          <a:xfrm>
            <a:off x="153061" y="7611667"/>
            <a:ext cx="1582715" cy="276999"/>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sp>
        <p:nvSpPr>
          <p:cNvPr id="122" name="Google Shape;122;p13"/>
          <p:cNvSpPr/>
          <p:nvPr/>
        </p:nvSpPr>
        <p:spPr>
          <a:xfrm>
            <a:off x="148502" y="1481844"/>
            <a:ext cx="6522600" cy="1160402"/>
          </a:xfrm>
          <a:prstGeom prst="rect">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1200" u="sng">
                <a:solidFill>
                  <a:srgbClr val="000000"/>
                </a:solidFill>
                <a:latin typeface="Calibri"/>
                <a:ea typeface="Calibri"/>
                <a:cs typeface="Calibri"/>
                <a:sym typeface="Calibri"/>
              </a:rPr>
              <a:t>Introduction – read and annotate:</a:t>
            </a:r>
            <a:br>
              <a:rPr b="1" lang="en-GB" sz="1200" u="sng">
                <a:solidFill>
                  <a:srgbClr val="000000"/>
                </a:solidFill>
                <a:latin typeface="Calibri"/>
                <a:ea typeface="Calibri"/>
                <a:cs typeface="Calibri"/>
                <a:sym typeface="Calibri"/>
              </a:rPr>
            </a:br>
            <a:r>
              <a:rPr lang="en-GB" sz="1200">
                <a:solidFill>
                  <a:srgbClr val="000000"/>
                </a:solidFill>
                <a:latin typeface="Calibri"/>
                <a:ea typeface="Calibri"/>
                <a:cs typeface="Calibri"/>
                <a:sym typeface="Calibri"/>
              </a:rPr>
              <a:t>In this unit so far, you’ve built strong foundations using the four operations. Now, you’ll apply that knowledge to solve problems using the correct order of operations. The order of operations follows a specific sequence: brackets first, then multiplication and division (from left to right), followed by addition and subtraction (from left to right). Understanding and applying this order is essential for solving multi-step problems accurately.</a:t>
            </a:r>
            <a:endParaRPr sz="1200">
              <a:solidFill>
                <a:srgbClr val="000000"/>
              </a:solidFill>
              <a:latin typeface="Calibri"/>
              <a:ea typeface="Calibri"/>
              <a:cs typeface="Calibri"/>
              <a:sym typeface="Calibri"/>
            </a:endParaRPr>
          </a:p>
        </p:txBody>
      </p:sp>
      <p:sp>
        <p:nvSpPr>
          <p:cNvPr id="123" name="Google Shape;123;p13"/>
          <p:cNvSpPr txBox="1"/>
          <p:nvPr/>
        </p:nvSpPr>
        <p:spPr>
          <a:xfrm>
            <a:off x="72414" y="4997719"/>
            <a:ext cx="678558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When calculations have only addition and subtraction OR only multiplication and division, work from left to right.</a:t>
            </a:r>
            <a:endParaRPr/>
          </a:p>
        </p:txBody>
      </p:sp>
      <p:sp>
        <p:nvSpPr>
          <p:cNvPr id="124" name="Google Shape;124;p13"/>
          <p:cNvSpPr txBox="1"/>
          <p:nvPr/>
        </p:nvSpPr>
        <p:spPr>
          <a:xfrm>
            <a:off x="1705296" y="6503533"/>
            <a:ext cx="1302590"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GB" sz="1200">
                <a:solidFill>
                  <a:srgbClr val="FF0000"/>
                </a:solidFill>
                <a:latin typeface="Calibri"/>
                <a:ea typeface="Calibri"/>
                <a:cs typeface="Calibri"/>
                <a:sym typeface="Calibri"/>
              </a:rPr>
              <a:t>9</a:t>
            </a:r>
            <a:endParaRPr/>
          </a:p>
        </p:txBody>
      </p:sp>
      <p:sp>
        <p:nvSpPr>
          <p:cNvPr id="125" name="Google Shape;125;p13"/>
          <p:cNvSpPr txBox="1"/>
          <p:nvPr/>
        </p:nvSpPr>
        <p:spPr>
          <a:xfrm>
            <a:off x="3432938" y="6576722"/>
            <a:ext cx="1302590"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GB" sz="1200">
                <a:solidFill>
                  <a:srgbClr val="FF0000"/>
                </a:solidFill>
                <a:latin typeface="Calibri"/>
                <a:ea typeface="Calibri"/>
                <a:cs typeface="Calibri"/>
                <a:sym typeface="Calibri"/>
              </a:rPr>
              <a:t>16</a:t>
            </a:r>
            <a:endParaRPr/>
          </a:p>
        </p:txBody>
      </p:sp>
      <p:sp>
        <p:nvSpPr>
          <p:cNvPr id="126" name="Google Shape;126;p13"/>
          <p:cNvSpPr txBox="1"/>
          <p:nvPr/>
        </p:nvSpPr>
        <p:spPr>
          <a:xfrm>
            <a:off x="5195232" y="6546712"/>
            <a:ext cx="1302590"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GB" sz="1200">
                <a:solidFill>
                  <a:srgbClr val="FF0000"/>
                </a:solidFill>
                <a:latin typeface="Calibri"/>
                <a:ea typeface="Calibri"/>
                <a:cs typeface="Calibri"/>
                <a:sym typeface="Calibri"/>
              </a:rPr>
              <a:t>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graphicFrame>
        <p:nvGraphicFramePr>
          <p:cNvPr id="131" name="Google Shape;131;p14"/>
          <p:cNvGraphicFramePr/>
          <p:nvPr/>
        </p:nvGraphicFramePr>
        <p:xfrm>
          <a:off x="163614" y="99798"/>
          <a:ext cx="3000000" cy="3000000"/>
        </p:xfrm>
        <a:graphic>
          <a:graphicData uri="http://schemas.openxmlformats.org/drawingml/2006/table">
            <a:tbl>
              <a:tblPr bandRow="1" firstRow="1">
                <a:noFill/>
                <a:tableStyleId>{C7592356-FB9D-41DD-B6C9-966551D9E283}</a:tableStyleId>
              </a:tblPr>
              <a:tblGrid>
                <a:gridCol w="1605850"/>
                <a:gridCol w="4924925"/>
              </a:tblGrid>
              <a:tr h="39600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rgbClr val="FF0000"/>
                          </a:solidFill>
                        </a:rPr>
                        <a:t>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9600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rgbClr val="FF0000"/>
                          </a:solidFill>
                        </a:rPr>
                        <a:t>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9600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rgbClr val="FF0000"/>
                          </a:solidFill>
                        </a:rPr>
                        <a:t>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9600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rgbClr val="FF0000"/>
                          </a:solidFill>
                        </a:rPr>
                        <a:t>21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9600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rgbClr val="FF0000"/>
                          </a:solidFill>
                        </a:rPr>
                        <a:t>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9600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rgbClr val="FF0000"/>
                          </a:solidFill>
                        </a:rPr>
                        <a:t>16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9600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1200"/>
                        <a:buFont typeface="Calibri"/>
                        <a:buNone/>
                      </a:pPr>
                      <a:r>
                        <a:rPr lang="en-GB" sz="1200">
                          <a:solidFill>
                            <a:srgbClr val="FF0000"/>
                          </a:solidFill>
                        </a:rPr>
                        <a:t>28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graphicFrame>
        <p:nvGraphicFramePr>
          <p:cNvPr id="132" name="Google Shape;132;p14"/>
          <p:cNvGraphicFramePr/>
          <p:nvPr/>
        </p:nvGraphicFramePr>
        <p:xfrm>
          <a:off x="163614" y="3455943"/>
          <a:ext cx="3000000" cy="3000000"/>
        </p:xfrm>
        <a:graphic>
          <a:graphicData uri="http://schemas.openxmlformats.org/drawingml/2006/table">
            <a:tbl>
              <a:tblPr bandRow="1" firstRow="1">
                <a:noFill/>
                <a:tableStyleId>{C7592356-FB9D-41DD-B6C9-966551D9E283}</a:tableStyleId>
              </a:tblPr>
              <a:tblGrid>
                <a:gridCol w="1710900"/>
                <a:gridCol w="1606625"/>
                <a:gridCol w="1606625"/>
                <a:gridCol w="1606625"/>
              </a:tblGrid>
              <a:tr h="277300">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Calculate the following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Calculate the following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Calculate the following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21615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33" name="Google Shape;133;p14"/>
          <p:cNvSpPr txBox="1"/>
          <p:nvPr/>
        </p:nvSpPr>
        <p:spPr>
          <a:xfrm>
            <a:off x="2038655" y="3210485"/>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4 - I do…</a:t>
            </a:r>
            <a:endParaRPr/>
          </a:p>
        </p:txBody>
      </p:sp>
      <p:sp>
        <p:nvSpPr>
          <p:cNvPr id="134" name="Google Shape;134;p14"/>
          <p:cNvSpPr txBox="1"/>
          <p:nvPr/>
        </p:nvSpPr>
        <p:spPr>
          <a:xfrm>
            <a:off x="5178537" y="3212640"/>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6 – You do…</a:t>
            </a:r>
            <a:endParaRPr/>
          </a:p>
        </p:txBody>
      </p:sp>
      <p:sp>
        <p:nvSpPr>
          <p:cNvPr id="135" name="Google Shape;135;p14"/>
          <p:cNvSpPr txBox="1"/>
          <p:nvPr/>
        </p:nvSpPr>
        <p:spPr>
          <a:xfrm>
            <a:off x="3492245" y="3210485"/>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5 – We do…</a:t>
            </a:r>
            <a:endParaRPr/>
          </a:p>
        </p:txBody>
      </p:sp>
      <p:sp>
        <p:nvSpPr>
          <p:cNvPr id="136" name="Google Shape;136;p14"/>
          <p:cNvSpPr/>
          <p:nvPr/>
        </p:nvSpPr>
        <p:spPr>
          <a:xfrm>
            <a:off x="152228" y="5377384"/>
            <a:ext cx="1600372" cy="277000"/>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graphicFrame>
        <p:nvGraphicFramePr>
          <p:cNvPr id="137" name="Google Shape;137;p14"/>
          <p:cNvGraphicFramePr/>
          <p:nvPr/>
        </p:nvGraphicFramePr>
        <p:xfrm>
          <a:off x="146611" y="5713064"/>
          <a:ext cx="3000000" cy="3000000"/>
        </p:xfrm>
        <a:graphic>
          <a:graphicData uri="http://schemas.openxmlformats.org/drawingml/2006/table">
            <a:tbl>
              <a:tblPr bandRow="1" firstRow="1">
                <a:noFill/>
                <a:tableStyleId>{C7592356-FB9D-41DD-B6C9-966551D9E283}</a:tableStyleId>
              </a:tblPr>
              <a:tblGrid>
                <a:gridCol w="1605850"/>
                <a:gridCol w="4924925"/>
              </a:tblGrid>
              <a:tr h="230525">
                <a:tc>
                  <a:txBody>
                    <a:bodyPr/>
                    <a:lstStyle/>
                    <a:p>
                      <a:pPr indent="0" lvl="0" marL="0" marR="0" rtl="0" algn="ctr">
                        <a:spcBef>
                          <a:spcPts val="0"/>
                        </a:spcBef>
                        <a:spcAft>
                          <a:spcPts val="0"/>
                        </a:spcAft>
                        <a:buNone/>
                      </a:pPr>
                      <a:r>
                        <a:rPr b="1" lang="en-GB" sz="1350">
                          <a:solidFill>
                            <a:schemeClr val="dk1"/>
                          </a:solidFill>
                        </a:rPr>
                        <a:t>Question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chemeClr val="dk1"/>
                          </a:solidFill>
                        </a:rPr>
                        <a:t>Answer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38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rgbClr val="FF0000"/>
                          </a:solidFill>
                        </a:rPr>
                        <a:t>13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38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rgbClr val="FF0000"/>
                          </a:solidFill>
                        </a:rPr>
                        <a:t>17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38" name="Google Shape;138;p14"/>
          <p:cNvSpPr txBox="1"/>
          <p:nvPr>
            <p:ph idx="12" type="sldNum"/>
          </p:nvPr>
        </p:nvSpPr>
        <p:spPr>
          <a:xfrm>
            <a:off x="5223510" y="9481540"/>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39" name="Google Shape;139;p14"/>
          <p:cNvSpPr txBox="1"/>
          <p:nvPr/>
        </p:nvSpPr>
        <p:spPr>
          <a:xfrm>
            <a:off x="1752600" y="5388010"/>
            <a:ext cx="323033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2. Work out the answers to the following:</a:t>
            </a:r>
            <a:endParaRPr/>
          </a:p>
        </p:txBody>
      </p:sp>
      <p:sp>
        <p:nvSpPr>
          <p:cNvPr id="140" name="Google Shape;140;p14"/>
          <p:cNvSpPr/>
          <p:nvPr/>
        </p:nvSpPr>
        <p:spPr>
          <a:xfrm>
            <a:off x="163614" y="2922220"/>
            <a:ext cx="2640546" cy="302444"/>
          </a:xfrm>
          <a:prstGeom prst="rect">
            <a:avLst/>
          </a:prstGeom>
          <a:blipFill rotWithShape="1">
            <a:blip r:embed="rId3">
              <a:alphaModFix/>
            </a:blip>
            <a:stretch>
              <a:fillRect b="-12000" l="-231"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graphicFrame>
        <p:nvGraphicFramePr>
          <p:cNvPr id="141" name="Google Shape;141;p14"/>
          <p:cNvGraphicFramePr/>
          <p:nvPr/>
        </p:nvGraphicFramePr>
        <p:xfrm>
          <a:off x="148374" y="6817916"/>
          <a:ext cx="3000000" cy="3000000"/>
        </p:xfrm>
        <a:graphic>
          <a:graphicData uri="http://schemas.openxmlformats.org/drawingml/2006/table">
            <a:tbl>
              <a:tblPr bandRow="1" firstRow="1">
                <a:noFill/>
                <a:tableStyleId>{C7592356-FB9D-41DD-B6C9-966551D9E283}</a:tableStyleId>
              </a:tblPr>
              <a:tblGrid>
                <a:gridCol w="1605850"/>
                <a:gridCol w="4924925"/>
              </a:tblGrid>
              <a:tr h="4038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rgbClr val="FF0000"/>
                          </a:solidFill>
                        </a:rPr>
                        <a:t>20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38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rgbClr val="FF0000"/>
                          </a:solidFill>
                        </a:rPr>
                        <a:t>10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38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rgbClr val="FF0000"/>
                          </a:solidFill>
                        </a:rPr>
                        <a:t>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38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rgbClr val="FF0000"/>
                          </a:solidFill>
                        </a:rPr>
                        <a:t>18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38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rgbClr val="FF0000"/>
                          </a:solidFill>
                        </a:rPr>
                        <a:t>20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38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rgbClr val="FF0000"/>
                          </a:solidFill>
                        </a:rPr>
                        <a:t>13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38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rgbClr val="FF0000"/>
                          </a:solidFill>
                        </a:rPr>
                        <a:t>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42" name="Google Shape;142;p14"/>
          <p:cNvSpPr txBox="1"/>
          <p:nvPr/>
        </p:nvSpPr>
        <p:spPr>
          <a:xfrm>
            <a:off x="2065177" y="4315337"/>
            <a:ext cx="1302590"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GB" sz="1200">
                <a:solidFill>
                  <a:srgbClr val="FF0000"/>
                </a:solidFill>
                <a:latin typeface="Calibri"/>
                <a:ea typeface="Calibri"/>
                <a:cs typeface="Calibri"/>
                <a:sym typeface="Calibri"/>
              </a:rPr>
              <a:t>12</a:t>
            </a:r>
            <a:endParaRPr/>
          </a:p>
        </p:txBody>
      </p:sp>
      <p:sp>
        <p:nvSpPr>
          <p:cNvPr id="143" name="Google Shape;143;p14"/>
          <p:cNvSpPr txBox="1"/>
          <p:nvPr/>
        </p:nvSpPr>
        <p:spPr>
          <a:xfrm>
            <a:off x="3662652" y="4315337"/>
            <a:ext cx="1302590"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GB" sz="1200">
                <a:solidFill>
                  <a:srgbClr val="FF0000"/>
                </a:solidFill>
                <a:latin typeface="Calibri"/>
                <a:ea typeface="Calibri"/>
                <a:cs typeface="Calibri"/>
                <a:sym typeface="Calibri"/>
              </a:rPr>
              <a:t>9</a:t>
            </a:r>
            <a:endParaRPr/>
          </a:p>
        </p:txBody>
      </p:sp>
      <p:sp>
        <p:nvSpPr>
          <p:cNvPr id="144" name="Google Shape;144;p14"/>
          <p:cNvSpPr txBox="1"/>
          <p:nvPr/>
        </p:nvSpPr>
        <p:spPr>
          <a:xfrm>
            <a:off x="5260127" y="4314286"/>
            <a:ext cx="1302590"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GB" sz="1200">
                <a:solidFill>
                  <a:srgbClr val="FF0000"/>
                </a:solidFill>
                <a:latin typeface="Calibri"/>
                <a:ea typeface="Calibri"/>
                <a:cs typeface="Calibri"/>
                <a:sym typeface="Calibri"/>
              </a:rPr>
              <a:t>15</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graphicFrame>
        <p:nvGraphicFramePr>
          <p:cNvPr id="149" name="Google Shape;149;p15"/>
          <p:cNvGraphicFramePr/>
          <p:nvPr/>
        </p:nvGraphicFramePr>
        <p:xfrm>
          <a:off x="157497" y="582880"/>
          <a:ext cx="3000000" cy="3000000"/>
        </p:xfrm>
        <a:graphic>
          <a:graphicData uri="http://schemas.openxmlformats.org/drawingml/2006/table">
            <a:tbl>
              <a:tblPr bandRow="1" firstRow="1">
                <a:noFill/>
                <a:tableStyleId>{C7592356-FB9D-41DD-B6C9-966551D9E283}</a:tableStyleId>
              </a:tblPr>
              <a:tblGrid>
                <a:gridCol w="1503675"/>
                <a:gridCol w="1689600"/>
                <a:gridCol w="1689600"/>
                <a:gridCol w="1689600"/>
              </a:tblGrid>
              <a:tr h="274325">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Calculate the following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Calculate the following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Calculate the following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66400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50" name="Google Shape;150;p15"/>
          <p:cNvSpPr txBox="1"/>
          <p:nvPr/>
        </p:nvSpPr>
        <p:spPr>
          <a:xfrm>
            <a:off x="1879829" y="352700"/>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7 - I do…</a:t>
            </a:r>
            <a:endParaRPr/>
          </a:p>
        </p:txBody>
      </p:sp>
      <p:sp>
        <p:nvSpPr>
          <p:cNvPr id="151" name="Google Shape;151;p15"/>
          <p:cNvSpPr txBox="1"/>
          <p:nvPr/>
        </p:nvSpPr>
        <p:spPr>
          <a:xfrm>
            <a:off x="5176849" y="335199"/>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9 – You do…</a:t>
            </a:r>
            <a:endParaRPr/>
          </a:p>
        </p:txBody>
      </p:sp>
      <p:sp>
        <p:nvSpPr>
          <p:cNvPr id="152" name="Google Shape;152;p15"/>
          <p:cNvSpPr txBox="1"/>
          <p:nvPr/>
        </p:nvSpPr>
        <p:spPr>
          <a:xfrm>
            <a:off x="3471091" y="334036"/>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8 – We do…</a:t>
            </a:r>
            <a:endParaRPr/>
          </a:p>
        </p:txBody>
      </p:sp>
      <p:sp>
        <p:nvSpPr>
          <p:cNvPr id="153" name="Google Shape;153;p15"/>
          <p:cNvSpPr/>
          <p:nvPr/>
        </p:nvSpPr>
        <p:spPr>
          <a:xfrm>
            <a:off x="140652" y="3562239"/>
            <a:ext cx="1581467" cy="277000"/>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graphicFrame>
        <p:nvGraphicFramePr>
          <p:cNvPr id="154" name="Google Shape;154;p15"/>
          <p:cNvGraphicFramePr/>
          <p:nvPr/>
        </p:nvGraphicFramePr>
        <p:xfrm>
          <a:off x="140652" y="3895518"/>
          <a:ext cx="3000000" cy="3000000"/>
        </p:xfrm>
        <a:graphic>
          <a:graphicData uri="http://schemas.openxmlformats.org/drawingml/2006/table">
            <a:tbl>
              <a:tblPr bandRow="1" firstRow="1">
                <a:noFill/>
                <a:tableStyleId>{C7592356-FB9D-41DD-B6C9-966551D9E283}</a:tableStyleId>
              </a:tblPr>
              <a:tblGrid>
                <a:gridCol w="1523850"/>
                <a:gridCol w="5065450"/>
              </a:tblGrid>
              <a:tr h="274325">
                <a:tc>
                  <a:txBody>
                    <a:bodyPr/>
                    <a:lstStyle/>
                    <a:p>
                      <a:pPr indent="0" lvl="0" marL="0" marR="0" rtl="0" algn="ctr">
                        <a:spcBef>
                          <a:spcPts val="0"/>
                        </a:spcBef>
                        <a:spcAft>
                          <a:spcPts val="0"/>
                        </a:spcAft>
                        <a:buNone/>
                      </a:pPr>
                      <a:r>
                        <a:rPr b="1" lang="en-GB" sz="1200">
                          <a:solidFill>
                            <a:schemeClr val="dk1"/>
                          </a:solidFill>
                        </a:rPr>
                        <a:t>Question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200">
                          <a:solidFill>
                            <a:schemeClr val="dk1"/>
                          </a:solidFill>
                        </a:rPr>
                        <a:t>Answer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350">
                          <a:solidFill>
                            <a:srgbClr val="FF0000"/>
                          </a:solidFill>
                        </a:rPr>
                        <a:t>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350">
                          <a:solidFill>
                            <a:srgbClr val="FF0000"/>
                          </a:solidFill>
                        </a:rPr>
                        <a:t>16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350">
                          <a:solidFill>
                            <a:srgbClr val="FF0000"/>
                          </a:solidFill>
                        </a:rPr>
                        <a:t>82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350">
                          <a:solidFill>
                            <a:srgbClr val="FF0000"/>
                          </a:solidFill>
                        </a:rPr>
                        <a:t>11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350">
                          <a:solidFill>
                            <a:srgbClr val="FF0000"/>
                          </a:solidFill>
                        </a:rPr>
                        <a:t>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350">
                          <a:solidFill>
                            <a:srgbClr val="FF0000"/>
                          </a:solidFill>
                        </a:rPr>
                        <a:t>20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350">
                          <a:solidFill>
                            <a:srgbClr val="FF0000"/>
                          </a:solidFill>
                        </a:rPr>
                        <a:t>13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350">
                          <a:solidFill>
                            <a:srgbClr val="FF0000"/>
                          </a:solidFill>
                        </a:rPr>
                        <a:t>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350">
                          <a:solidFill>
                            <a:srgbClr val="FF0000"/>
                          </a:solidFill>
                        </a:rPr>
                        <a:t>34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350">
                          <a:solidFill>
                            <a:srgbClr val="FF0000"/>
                          </a:solidFill>
                        </a:rPr>
                        <a:t>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350">
                          <a:solidFill>
                            <a:srgbClr val="FF0000"/>
                          </a:solidFill>
                        </a:rPr>
                        <a:t>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350">
                          <a:solidFill>
                            <a:srgbClr val="FF0000"/>
                          </a:solidFill>
                        </a:rPr>
                        <a:t>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55" name="Google Shape;155;p15"/>
          <p:cNvSpPr txBox="1"/>
          <p:nvPr/>
        </p:nvSpPr>
        <p:spPr>
          <a:xfrm>
            <a:off x="1722119" y="3592719"/>
            <a:ext cx="323033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3.  Work out the answers to the following:</a:t>
            </a:r>
            <a:endParaRPr/>
          </a:p>
        </p:txBody>
      </p:sp>
      <p:sp>
        <p:nvSpPr>
          <p:cNvPr id="156" name="Google Shape;156;p15"/>
          <p:cNvSpPr/>
          <p:nvPr/>
        </p:nvSpPr>
        <p:spPr>
          <a:xfrm>
            <a:off x="171133" y="109856"/>
            <a:ext cx="3257867" cy="27699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Order of operations involving powers and roots</a:t>
            </a:r>
            <a:endParaRPr/>
          </a:p>
        </p:txBody>
      </p:sp>
      <p:graphicFrame>
        <p:nvGraphicFramePr>
          <p:cNvPr id="157" name="Google Shape;157;p15"/>
          <p:cNvGraphicFramePr/>
          <p:nvPr/>
        </p:nvGraphicFramePr>
        <p:xfrm>
          <a:off x="142256" y="8612933"/>
          <a:ext cx="3000000" cy="3000000"/>
        </p:xfrm>
        <a:graphic>
          <a:graphicData uri="http://schemas.openxmlformats.org/drawingml/2006/table">
            <a:tbl>
              <a:tblPr bandRow="1" firstRow="1">
                <a:noFill/>
                <a:tableStyleId>{C7592356-FB9D-41DD-B6C9-966551D9E283}</a:tableStyleId>
              </a:tblPr>
              <a:tblGrid>
                <a:gridCol w="1518900"/>
                <a:gridCol w="5056175"/>
              </a:tblGrid>
              <a:tr h="37085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1200"/>
                        <a:buFont typeface="Calibri"/>
                        <a:buNone/>
                      </a:pPr>
                      <a:r>
                        <a:rPr lang="en-GB" sz="1200">
                          <a:solidFill>
                            <a:srgbClr val="FF0000"/>
                          </a:solidFill>
                        </a:rPr>
                        <a:t>94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1200"/>
                        <a:buFont typeface="Calibri"/>
                        <a:buNone/>
                      </a:pPr>
                      <a:r>
                        <a:rPr lang="en-GB" sz="1200">
                          <a:solidFill>
                            <a:srgbClr val="FF0000"/>
                          </a:solidFill>
                        </a:rPr>
                        <a:t>48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rgbClr val="FF0000"/>
                          </a:solidFill>
                        </a:rPr>
                        <a:t>108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58" name="Google Shape;158;p15"/>
          <p:cNvSpPr txBox="1"/>
          <p:nvPr>
            <p:ph idx="12" type="sldNum"/>
          </p:nvPr>
        </p:nvSpPr>
        <p:spPr>
          <a:xfrm>
            <a:off x="5114496" y="9323120"/>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59" name="Google Shape;159;p15"/>
          <p:cNvSpPr txBox="1"/>
          <p:nvPr/>
        </p:nvSpPr>
        <p:spPr>
          <a:xfrm>
            <a:off x="2018624" y="1198409"/>
            <a:ext cx="529261"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rgbClr val="FF0000"/>
                </a:solidFill>
                <a:latin typeface="Calibri"/>
                <a:ea typeface="Calibri"/>
                <a:cs typeface="Calibri"/>
                <a:sym typeface="Calibri"/>
              </a:rPr>
              <a:t>2</a:t>
            </a:r>
            <a:endParaRPr b="0" sz="1200">
              <a:solidFill>
                <a:srgbClr val="FF0000"/>
              </a:solidFill>
              <a:latin typeface="Calibri"/>
              <a:ea typeface="Calibri"/>
              <a:cs typeface="Calibri"/>
              <a:sym typeface="Calibri"/>
            </a:endParaRPr>
          </a:p>
        </p:txBody>
      </p:sp>
      <p:sp>
        <p:nvSpPr>
          <p:cNvPr id="160" name="Google Shape;160;p15"/>
          <p:cNvSpPr txBox="1"/>
          <p:nvPr/>
        </p:nvSpPr>
        <p:spPr>
          <a:xfrm>
            <a:off x="3918224" y="1198409"/>
            <a:ext cx="529261"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rgbClr val="FF0000"/>
                </a:solidFill>
                <a:latin typeface="Calibri"/>
                <a:ea typeface="Calibri"/>
                <a:cs typeface="Calibri"/>
                <a:sym typeface="Calibri"/>
              </a:rPr>
              <a:t>16</a:t>
            </a:r>
            <a:endParaRPr b="0" sz="1200">
              <a:solidFill>
                <a:srgbClr val="FF0000"/>
              </a:solidFill>
              <a:latin typeface="Calibri"/>
              <a:ea typeface="Calibri"/>
              <a:cs typeface="Calibri"/>
              <a:sym typeface="Calibri"/>
            </a:endParaRPr>
          </a:p>
        </p:txBody>
      </p:sp>
      <p:sp>
        <p:nvSpPr>
          <p:cNvPr id="161" name="Google Shape;161;p15"/>
          <p:cNvSpPr txBox="1"/>
          <p:nvPr/>
        </p:nvSpPr>
        <p:spPr>
          <a:xfrm>
            <a:off x="5849310" y="1206655"/>
            <a:ext cx="529261"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rgbClr val="FF0000"/>
                </a:solidFill>
                <a:latin typeface="Calibri"/>
                <a:ea typeface="Calibri"/>
                <a:cs typeface="Calibri"/>
                <a:sym typeface="Calibri"/>
              </a:rPr>
              <a:t>4</a:t>
            </a:r>
            <a:endParaRPr b="0" sz="1200">
              <a:solidFill>
                <a:srgbClr val="FF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6"/>
          <p:cNvSpPr/>
          <p:nvPr/>
        </p:nvSpPr>
        <p:spPr>
          <a:xfrm>
            <a:off x="139152" y="144222"/>
            <a:ext cx="2721749" cy="317973"/>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Order of operations involving brackets</a:t>
            </a:r>
            <a:endParaRPr/>
          </a:p>
        </p:txBody>
      </p:sp>
      <p:graphicFrame>
        <p:nvGraphicFramePr>
          <p:cNvPr id="167" name="Google Shape;167;p16"/>
          <p:cNvGraphicFramePr/>
          <p:nvPr/>
        </p:nvGraphicFramePr>
        <p:xfrm>
          <a:off x="139152" y="692341"/>
          <a:ext cx="3000000" cy="3000000"/>
        </p:xfrm>
        <a:graphic>
          <a:graphicData uri="http://schemas.openxmlformats.org/drawingml/2006/table">
            <a:tbl>
              <a:tblPr bandRow="1" firstRow="1">
                <a:noFill/>
                <a:tableStyleId>{C7592356-FB9D-41DD-B6C9-966551D9E283}</a:tableStyleId>
              </a:tblPr>
              <a:tblGrid>
                <a:gridCol w="1204775"/>
                <a:gridCol w="1789225"/>
                <a:gridCol w="1789225"/>
                <a:gridCol w="1789225"/>
              </a:tblGrid>
              <a:tr h="199775">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Calculate: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Calculate: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Calculate: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988825">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68" name="Google Shape;168;p16"/>
          <p:cNvSpPr txBox="1"/>
          <p:nvPr/>
        </p:nvSpPr>
        <p:spPr>
          <a:xfrm>
            <a:off x="1570142" y="461062"/>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10 - I do…</a:t>
            </a:r>
            <a:endParaRPr/>
          </a:p>
        </p:txBody>
      </p:sp>
      <p:sp>
        <p:nvSpPr>
          <p:cNvPr id="169" name="Google Shape;169;p16"/>
          <p:cNvSpPr txBox="1"/>
          <p:nvPr/>
        </p:nvSpPr>
        <p:spPr>
          <a:xfrm>
            <a:off x="5026519" y="439274"/>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12 – You do…</a:t>
            </a:r>
            <a:endParaRPr/>
          </a:p>
        </p:txBody>
      </p:sp>
      <p:sp>
        <p:nvSpPr>
          <p:cNvPr id="170" name="Google Shape;170;p16"/>
          <p:cNvSpPr txBox="1"/>
          <p:nvPr/>
        </p:nvSpPr>
        <p:spPr>
          <a:xfrm>
            <a:off x="3216953" y="463206"/>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11 – We do…</a:t>
            </a:r>
            <a:endParaRPr/>
          </a:p>
        </p:txBody>
      </p:sp>
      <p:sp>
        <p:nvSpPr>
          <p:cNvPr id="171" name="Google Shape;171;p16"/>
          <p:cNvSpPr/>
          <p:nvPr/>
        </p:nvSpPr>
        <p:spPr>
          <a:xfrm>
            <a:off x="123912" y="3861220"/>
            <a:ext cx="1643928" cy="276999"/>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sp>
        <p:nvSpPr>
          <p:cNvPr id="172" name="Google Shape;172;p16"/>
          <p:cNvSpPr txBox="1"/>
          <p:nvPr/>
        </p:nvSpPr>
        <p:spPr>
          <a:xfrm>
            <a:off x="1767465" y="3921139"/>
            <a:ext cx="323033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4. Work out the answers to the following:</a:t>
            </a:r>
            <a:endParaRPr/>
          </a:p>
        </p:txBody>
      </p:sp>
      <p:graphicFrame>
        <p:nvGraphicFramePr>
          <p:cNvPr id="173" name="Google Shape;173;p16"/>
          <p:cNvGraphicFramePr/>
          <p:nvPr/>
        </p:nvGraphicFramePr>
        <p:xfrm>
          <a:off x="117989" y="4194834"/>
          <a:ext cx="3000000" cy="3000000"/>
        </p:xfrm>
        <a:graphic>
          <a:graphicData uri="http://schemas.openxmlformats.org/drawingml/2006/table">
            <a:tbl>
              <a:tblPr bandRow="1" firstRow="1">
                <a:noFill/>
                <a:tableStyleId>{C7592356-FB9D-41DD-B6C9-966551D9E283}</a:tableStyleId>
              </a:tblPr>
              <a:tblGrid>
                <a:gridCol w="1911925"/>
                <a:gridCol w="4681725"/>
              </a:tblGrid>
              <a:tr h="194275">
                <a:tc>
                  <a:txBody>
                    <a:bodyPr/>
                    <a:lstStyle/>
                    <a:p>
                      <a:pPr indent="0" lvl="0" marL="0" marR="0" rtl="0" algn="ctr">
                        <a:spcBef>
                          <a:spcPts val="0"/>
                        </a:spcBef>
                        <a:spcAft>
                          <a:spcPts val="0"/>
                        </a:spcAft>
                        <a:buNone/>
                      </a:pPr>
                      <a:r>
                        <a:rPr b="1" lang="en-GB" sz="1200">
                          <a:solidFill>
                            <a:schemeClr val="dk1"/>
                          </a:solidFill>
                        </a:rPr>
                        <a:t>Question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200">
                          <a:solidFill>
                            <a:schemeClr val="dk1"/>
                          </a:solidFill>
                        </a:rPr>
                        <a:t>Answer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38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rgbClr val="FF0000"/>
                          </a:solidFill>
                        </a:rPr>
                        <a:t>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38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rgbClr val="FF0000"/>
                          </a:solidFill>
                        </a:rPr>
                        <a:t>100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74" name="Google Shape;174;p16"/>
          <p:cNvSpPr txBox="1"/>
          <p:nvPr>
            <p:ph idx="12" type="sldNum"/>
          </p:nvPr>
        </p:nvSpPr>
        <p:spPr>
          <a:xfrm>
            <a:off x="5360670" y="9512753"/>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75" name="Google Shape;175;p16"/>
          <p:cNvGraphicFramePr/>
          <p:nvPr/>
        </p:nvGraphicFramePr>
        <p:xfrm>
          <a:off x="117990" y="5276842"/>
          <a:ext cx="3000000" cy="3000000"/>
        </p:xfrm>
        <a:graphic>
          <a:graphicData uri="http://schemas.openxmlformats.org/drawingml/2006/table">
            <a:tbl>
              <a:tblPr bandRow="1" firstRow="1">
                <a:noFill/>
                <a:tableStyleId>{C7592356-FB9D-41DD-B6C9-966551D9E283}</a:tableStyleId>
              </a:tblPr>
              <a:tblGrid>
                <a:gridCol w="1913075"/>
                <a:gridCol w="4680575"/>
              </a:tblGrid>
              <a:tr h="40320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1200"/>
                        <a:buFont typeface="Calibri"/>
                        <a:buNone/>
                      </a:pPr>
                      <a:r>
                        <a:rPr b="0" lang="en-GB" sz="1200">
                          <a:solidFill>
                            <a:srgbClr val="FF0000"/>
                          </a:solidFill>
                        </a:rPr>
                        <a:t>27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320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1200"/>
                        <a:buFont typeface="Calibri"/>
                        <a:buNone/>
                      </a:pPr>
                      <a:r>
                        <a:rPr lang="en-GB" sz="1200">
                          <a:solidFill>
                            <a:srgbClr val="FF0000"/>
                          </a:solidFill>
                        </a:rPr>
                        <a:t>15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320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1200"/>
                        <a:buFont typeface="Calibri"/>
                        <a:buNone/>
                      </a:pPr>
                      <a:r>
                        <a:rPr lang="en-GB" sz="1200">
                          <a:solidFill>
                            <a:srgbClr val="FF0000"/>
                          </a:solidFill>
                        </a:rPr>
                        <a:t>23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320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1200"/>
                        <a:buFont typeface="Calibri"/>
                        <a:buNone/>
                      </a:pPr>
                      <a:r>
                        <a:rPr lang="en-GB" sz="1200">
                          <a:solidFill>
                            <a:srgbClr val="FF0000"/>
                          </a:solidFill>
                        </a:rPr>
                        <a:t>99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320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1200"/>
                        <a:buFont typeface="Calibri"/>
                        <a:buNone/>
                      </a:pPr>
                      <a:r>
                        <a:rPr lang="en-GB" sz="1200">
                          <a:solidFill>
                            <a:srgbClr val="FF0000"/>
                          </a:solidFill>
                        </a:rPr>
                        <a:t>36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graphicFrame>
        <p:nvGraphicFramePr>
          <p:cNvPr id="176" name="Google Shape;176;p16"/>
          <p:cNvGraphicFramePr/>
          <p:nvPr/>
        </p:nvGraphicFramePr>
        <p:xfrm>
          <a:off x="117989" y="7292842"/>
          <a:ext cx="3000000" cy="3000000"/>
        </p:xfrm>
        <a:graphic>
          <a:graphicData uri="http://schemas.openxmlformats.org/drawingml/2006/table">
            <a:tbl>
              <a:tblPr bandRow="1" firstRow="1">
                <a:noFill/>
                <a:tableStyleId>{C7592356-FB9D-41DD-B6C9-966551D9E283}</a:tableStyleId>
              </a:tblPr>
              <a:tblGrid>
                <a:gridCol w="1908750"/>
                <a:gridCol w="4684900"/>
              </a:tblGrid>
              <a:tr h="40320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1200"/>
                        <a:buFont typeface="Calibri"/>
                        <a:buNone/>
                      </a:pPr>
                      <a:r>
                        <a:rPr lang="en-GB" sz="1200">
                          <a:solidFill>
                            <a:srgbClr val="FF0000"/>
                          </a:solidFill>
                        </a:rPr>
                        <a:t>19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320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1200"/>
                        <a:buFont typeface="Calibri"/>
                        <a:buNone/>
                      </a:pPr>
                      <a:r>
                        <a:rPr lang="en-GB" sz="1200">
                          <a:solidFill>
                            <a:srgbClr val="FF0000"/>
                          </a:solidFill>
                        </a:rPr>
                        <a:t>20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320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1200"/>
                        <a:buFont typeface="Calibri"/>
                        <a:buNone/>
                      </a:pPr>
                      <a:r>
                        <a:rPr lang="en-GB" sz="1200">
                          <a:solidFill>
                            <a:srgbClr val="FF0000"/>
                          </a:solidFill>
                        </a:rPr>
                        <a:t>28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320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1200"/>
                        <a:buFont typeface="Calibri"/>
                        <a:buNone/>
                      </a:pPr>
                      <a:r>
                        <a:rPr lang="en-GB" sz="1200">
                          <a:solidFill>
                            <a:srgbClr val="FF0000"/>
                          </a:solidFill>
                        </a:rPr>
                        <a:t>48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320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1200"/>
                        <a:buFont typeface="Calibri"/>
                        <a:buNone/>
                      </a:pPr>
                      <a:r>
                        <a:rPr lang="en-GB" sz="1200">
                          <a:solidFill>
                            <a:srgbClr val="FF0000"/>
                          </a:solidFill>
                        </a:rPr>
                        <a:t>52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0320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1200"/>
                        <a:buFont typeface="Calibri"/>
                        <a:buNone/>
                      </a:pPr>
                      <a:r>
                        <a:rPr lang="en-GB" sz="1200">
                          <a:solidFill>
                            <a:srgbClr val="FF0000"/>
                          </a:solidFill>
                        </a:rPr>
                        <a:t>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77" name="Google Shape;177;p16"/>
          <p:cNvSpPr txBox="1"/>
          <p:nvPr/>
        </p:nvSpPr>
        <p:spPr>
          <a:xfrm>
            <a:off x="1917238" y="1559402"/>
            <a:ext cx="529261"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rgbClr val="FF0000"/>
                </a:solidFill>
                <a:latin typeface="Calibri"/>
                <a:ea typeface="Calibri"/>
                <a:cs typeface="Calibri"/>
                <a:sym typeface="Calibri"/>
              </a:rPr>
              <a:t>49</a:t>
            </a:r>
            <a:endParaRPr b="0" sz="1200">
              <a:solidFill>
                <a:srgbClr val="FF0000"/>
              </a:solidFill>
              <a:latin typeface="Calibri"/>
              <a:ea typeface="Calibri"/>
              <a:cs typeface="Calibri"/>
              <a:sym typeface="Calibri"/>
            </a:endParaRPr>
          </a:p>
        </p:txBody>
      </p:sp>
      <p:sp>
        <p:nvSpPr>
          <p:cNvPr id="178" name="Google Shape;178;p16"/>
          <p:cNvSpPr txBox="1"/>
          <p:nvPr/>
        </p:nvSpPr>
        <p:spPr>
          <a:xfrm>
            <a:off x="3798177" y="1554820"/>
            <a:ext cx="529261"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GB" sz="1200">
                <a:solidFill>
                  <a:srgbClr val="FF0000"/>
                </a:solidFill>
                <a:latin typeface="Calibri"/>
                <a:ea typeface="Calibri"/>
                <a:cs typeface="Calibri"/>
                <a:sym typeface="Calibri"/>
              </a:rPr>
              <a:t>27</a:t>
            </a:r>
            <a:endParaRPr/>
          </a:p>
        </p:txBody>
      </p:sp>
      <p:sp>
        <p:nvSpPr>
          <p:cNvPr id="179" name="Google Shape;179;p16"/>
          <p:cNvSpPr txBox="1"/>
          <p:nvPr/>
        </p:nvSpPr>
        <p:spPr>
          <a:xfrm>
            <a:off x="5716778" y="1554819"/>
            <a:ext cx="529261"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rgbClr val="FF0000"/>
                </a:solidFill>
                <a:latin typeface="Calibri"/>
                <a:ea typeface="Calibri"/>
                <a:cs typeface="Calibri"/>
                <a:sym typeface="Calibri"/>
              </a:rPr>
              <a:t>25</a:t>
            </a:r>
            <a:endParaRPr b="0" sz="1200">
              <a:solidFill>
                <a:srgbClr val="FF0000"/>
              </a:solidFill>
              <a:latin typeface="Calibri"/>
              <a:ea typeface="Calibri"/>
              <a:cs typeface="Calibri"/>
              <a:sym typeface="Calibri"/>
            </a:endParaRPr>
          </a:p>
        </p:txBody>
      </p:sp>
      <p:sp>
        <p:nvSpPr>
          <p:cNvPr id="180" name="Google Shape;180;p16"/>
          <p:cNvSpPr txBox="1"/>
          <p:nvPr/>
        </p:nvSpPr>
        <p:spPr>
          <a:xfrm>
            <a:off x="1917238" y="2727244"/>
            <a:ext cx="529261"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rgbClr val="FF0000"/>
                </a:solidFill>
                <a:latin typeface="Calibri"/>
                <a:ea typeface="Calibri"/>
                <a:cs typeface="Calibri"/>
                <a:sym typeface="Calibri"/>
              </a:rPr>
              <a:t>24</a:t>
            </a:r>
            <a:endParaRPr b="0" sz="1200">
              <a:solidFill>
                <a:srgbClr val="FF0000"/>
              </a:solidFill>
              <a:latin typeface="Calibri"/>
              <a:ea typeface="Calibri"/>
              <a:cs typeface="Calibri"/>
              <a:sym typeface="Calibri"/>
            </a:endParaRPr>
          </a:p>
        </p:txBody>
      </p:sp>
      <p:sp>
        <p:nvSpPr>
          <p:cNvPr id="181" name="Google Shape;181;p16"/>
          <p:cNvSpPr txBox="1"/>
          <p:nvPr/>
        </p:nvSpPr>
        <p:spPr>
          <a:xfrm>
            <a:off x="3798177" y="2722662"/>
            <a:ext cx="529261"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GB" sz="1200">
                <a:solidFill>
                  <a:srgbClr val="FF0000"/>
                </a:solidFill>
                <a:latin typeface="Calibri"/>
                <a:ea typeface="Calibri"/>
                <a:cs typeface="Calibri"/>
                <a:sym typeface="Calibri"/>
              </a:rPr>
              <a:t>2</a:t>
            </a:r>
            <a:endParaRPr/>
          </a:p>
        </p:txBody>
      </p:sp>
      <p:sp>
        <p:nvSpPr>
          <p:cNvPr id="182" name="Google Shape;182;p16"/>
          <p:cNvSpPr txBox="1"/>
          <p:nvPr/>
        </p:nvSpPr>
        <p:spPr>
          <a:xfrm>
            <a:off x="5716778" y="2722661"/>
            <a:ext cx="529261"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rgbClr val="FF0000"/>
                </a:solidFill>
                <a:latin typeface="Calibri"/>
                <a:ea typeface="Calibri"/>
                <a:cs typeface="Calibri"/>
                <a:sym typeface="Calibri"/>
              </a:rPr>
              <a:t>22</a:t>
            </a:r>
            <a:endParaRPr b="0" sz="1200">
              <a:solidFill>
                <a:srgbClr val="FF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7"/>
          <p:cNvSpPr txBox="1"/>
          <p:nvPr>
            <p:ph idx="12" type="sldNum"/>
          </p:nvPr>
        </p:nvSpPr>
        <p:spPr>
          <a:xfrm>
            <a:off x="5314950" y="9473178"/>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89" name="Google Shape;189;p17"/>
          <p:cNvGraphicFramePr/>
          <p:nvPr/>
        </p:nvGraphicFramePr>
        <p:xfrm>
          <a:off x="164101" y="652670"/>
          <a:ext cx="3000000" cy="3000000"/>
        </p:xfrm>
        <a:graphic>
          <a:graphicData uri="http://schemas.openxmlformats.org/drawingml/2006/table">
            <a:tbl>
              <a:tblPr bandRow="1" firstRow="1">
                <a:noFill/>
                <a:tableStyleId>{C7592356-FB9D-41DD-B6C9-966551D9E283}</a:tableStyleId>
              </a:tblPr>
              <a:tblGrid>
                <a:gridCol w="1344650"/>
                <a:gridCol w="1742600"/>
                <a:gridCol w="1742600"/>
                <a:gridCol w="1742600"/>
              </a:tblGrid>
              <a:tr h="396325">
                <a:tc>
                  <a:txBody>
                    <a:bodyPr/>
                    <a:lstStyle/>
                    <a:p>
                      <a:pPr indent="0" lvl="0" marL="0" marR="0" rtl="0" algn="l">
                        <a:spcBef>
                          <a:spcPts val="0"/>
                        </a:spcBef>
                        <a:spcAft>
                          <a:spcPts val="0"/>
                        </a:spcAft>
                        <a:buNone/>
                      </a:pPr>
                      <a:r>
                        <a:rPr b="1" lang="en-GB" sz="1100">
                          <a:solidFill>
                            <a:schemeClr val="dk1"/>
                          </a:solidFill>
                        </a:rPr>
                        <a:t>Steps</a:t>
                      </a:r>
                      <a:endParaRPr b="1"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Insert brackets to make the following calculation correct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Insert brackets to make the following calculation correct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Insert brackets to make the following calculation correct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584000">
                <a:tc>
                  <a:txBody>
                    <a:bodyPr/>
                    <a:lstStyle/>
                    <a:p>
                      <a:pPr indent="0" lvl="0" marL="0" marR="0" rtl="0" algn="l">
                        <a:spcBef>
                          <a:spcPts val="0"/>
                        </a:spcBef>
                        <a:spcAft>
                          <a:spcPts val="0"/>
                        </a:spcAft>
                        <a:buClr>
                          <a:schemeClr val="dk1"/>
                        </a:buClr>
                        <a:buSzPts val="1200"/>
                        <a:buFont typeface="Calibri"/>
                        <a:buNone/>
                      </a:pPr>
                      <a:r>
                        <a:rPr lang="en-GB" sz="1200">
                          <a:solidFill>
                            <a:schemeClr val="dk1"/>
                          </a:solidFill>
                        </a:rPr>
                        <a:t>1) Determine the current order of operations.</a:t>
                      </a:r>
                      <a:endParaRPr/>
                    </a:p>
                    <a:p>
                      <a:pPr indent="0" lvl="0" marL="0" marR="0" rtl="0" algn="l">
                        <a:spcBef>
                          <a:spcPts val="0"/>
                        </a:spcBef>
                        <a:spcAft>
                          <a:spcPts val="0"/>
                        </a:spcAft>
                        <a:buClr>
                          <a:schemeClr val="dk1"/>
                        </a:buClr>
                        <a:buSzPts val="1200"/>
                        <a:buFont typeface="Calibri"/>
                        <a:buNone/>
                      </a:pPr>
                      <a:r>
                        <a:t/>
                      </a:r>
                      <a:endParaRPr sz="1200">
                        <a:solidFill>
                          <a:schemeClr val="dk1"/>
                        </a:solidFill>
                      </a:endParaRPr>
                    </a:p>
                    <a:p>
                      <a:pPr indent="0" lvl="0" marL="0" marR="0" rtl="0" algn="l">
                        <a:spcBef>
                          <a:spcPts val="0"/>
                        </a:spcBef>
                        <a:spcAft>
                          <a:spcPts val="0"/>
                        </a:spcAft>
                        <a:buNone/>
                      </a:pPr>
                      <a:r>
                        <a:rPr lang="en-GB" sz="1200">
                          <a:solidFill>
                            <a:schemeClr val="dk1"/>
                          </a:solidFill>
                        </a:rPr>
                        <a:t>2) Insert brackets to change the order of operations.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90" name="Google Shape;190;p17"/>
          <p:cNvSpPr txBox="1"/>
          <p:nvPr/>
        </p:nvSpPr>
        <p:spPr>
          <a:xfrm>
            <a:off x="1752805" y="410728"/>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13 - I do…</a:t>
            </a:r>
            <a:endParaRPr/>
          </a:p>
        </p:txBody>
      </p:sp>
      <p:sp>
        <p:nvSpPr>
          <p:cNvPr id="191" name="Google Shape;191;p17"/>
          <p:cNvSpPr txBox="1"/>
          <p:nvPr/>
        </p:nvSpPr>
        <p:spPr>
          <a:xfrm>
            <a:off x="5105196" y="402342"/>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15 – You do…</a:t>
            </a:r>
            <a:endParaRPr/>
          </a:p>
        </p:txBody>
      </p:sp>
      <p:sp>
        <p:nvSpPr>
          <p:cNvPr id="192" name="Google Shape;192;p17"/>
          <p:cNvSpPr txBox="1"/>
          <p:nvPr/>
        </p:nvSpPr>
        <p:spPr>
          <a:xfrm>
            <a:off x="3358370" y="389007"/>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14 – We do…</a:t>
            </a:r>
            <a:endParaRPr/>
          </a:p>
        </p:txBody>
      </p:sp>
      <p:sp>
        <p:nvSpPr>
          <p:cNvPr id="193" name="Google Shape;193;p17"/>
          <p:cNvSpPr/>
          <p:nvPr/>
        </p:nvSpPr>
        <p:spPr>
          <a:xfrm>
            <a:off x="148861" y="2957406"/>
            <a:ext cx="1137954" cy="340453"/>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sp>
        <p:nvSpPr>
          <p:cNvPr id="194" name="Google Shape;194;p17"/>
          <p:cNvSpPr txBox="1"/>
          <p:nvPr/>
        </p:nvSpPr>
        <p:spPr>
          <a:xfrm>
            <a:off x="1324315" y="3103452"/>
            <a:ext cx="420936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5.  </a:t>
            </a:r>
            <a:r>
              <a:rPr b="0" lang="en-GB" sz="1200">
                <a:solidFill>
                  <a:schemeClr val="dk1"/>
                </a:solidFill>
                <a:latin typeface="Calibri"/>
                <a:ea typeface="Calibri"/>
                <a:cs typeface="Calibri"/>
                <a:sym typeface="Calibri"/>
              </a:rPr>
              <a:t>Insert brackets to make the following calculations correct:</a:t>
            </a:r>
            <a:endParaRPr b="0" sz="1200">
              <a:solidFill>
                <a:schemeClr val="dk1"/>
              </a:solidFill>
              <a:latin typeface="Calibri"/>
              <a:ea typeface="Calibri"/>
              <a:cs typeface="Calibri"/>
              <a:sym typeface="Calibri"/>
            </a:endParaRPr>
          </a:p>
        </p:txBody>
      </p:sp>
      <p:sp>
        <p:nvSpPr>
          <p:cNvPr id="195" name="Google Shape;195;p17"/>
          <p:cNvSpPr/>
          <p:nvPr/>
        </p:nvSpPr>
        <p:spPr>
          <a:xfrm>
            <a:off x="164101" y="130209"/>
            <a:ext cx="1793036" cy="27699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Inserting Brackets</a:t>
            </a:r>
            <a:endParaRPr sz="1200">
              <a:solidFill>
                <a:schemeClr val="lt1"/>
              </a:solidFill>
              <a:latin typeface="Calibri"/>
              <a:ea typeface="Calibri"/>
              <a:cs typeface="Calibri"/>
              <a:sym typeface="Calibri"/>
            </a:endParaRPr>
          </a:p>
        </p:txBody>
      </p:sp>
      <p:graphicFrame>
        <p:nvGraphicFramePr>
          <p:cNvPr id="196" name="Google Shape;196;p17"/>
          <p:cNvGraphicFramePr/>
          <p:nvPr/>
        </p:nvGraphicFramePr>
        <p:xfrm>
          <a:off x="148861" y="3378515"/>
          <a:ext cx="3000000" cy="3000000"/>
        </p:xfrm>
        <a:graphic>
          <a:graphicData uri="http://schemas.openxmlformats.org/drawingml/2006/table">
            <a:tbl>
              <a:tblPr bandRow="1" firstRow="1">
                <a:noFill/>
                <a:tableStyleId>{C7592356-FB9D-41DD-B6C9-966551D9E283}</a:tableStyleId>
              </a:tblPr>
              <a:tblGrid>
                <a:gridCol w="6530150"/>
              </a:tblGrid>
              <a:tr h="438475">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8475">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8475">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8475">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8475">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8475">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8475">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8475">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8475">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8475">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8475">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8475">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8475">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8475">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