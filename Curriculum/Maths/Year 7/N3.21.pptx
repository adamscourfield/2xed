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ACF28C-F293-4A31-8C06-07FFF311FB83}">
  <a:tblStyle styleId="{F3ACF28C-F293-4A31-8C06-07FFF311FB8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1" Type="http://schemas.openxmlformats.org/officeDocument/2006/relationships/image" Target="../media/image4.png"/><Relationship Id="rId10" Type="http://schemas.openxmlformats.org/officeDocument/2006/relationships/image" Target="../media/image3.png"/><Relationship Id="rId9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7.png"/><Relationship Id="rId8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4.png"/><Relationship Id="rId11" Type="http://schemas.openxmlformats.org/officeDocument/2006/relationships/image" Target="../media/image10.png"/><Relationship Id="rId10" Type="http://schemas.openxmlformats.org/officeDocument/2006/relationships/image" Target="../media/image12.png"/><Relationship Id="rId13" Type="http://schemas.openxmlformats.org/officeDocument/2006/relationships/image" Target="../media/image53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9.png"/><Relationship Id="rId15" Type="http://schemas.openxmlformats.org/officeDocument/2006/relationships/image" Target="../media/image40.png"/><Relationship Id="rId14" Type="http://schemas.openxmlformats.org/officeDocument/2006/relationships/image" Target="../media/image25.png"/><Relationship Id="rId17" Type="http://schemas.openxmlformats.org/officeDocument/2006/relationships/image" Target="../media/image20.png"/><Relationship Id="rId16" Type="http://schemas.openxmlformats.org/officeDocument/2006/relationships/image" Target="../media/image22.png"/><Relationship Id="rId5" Type="http://schemas.openxmlformats.org/officeDocument/2006/relationships/image" Target="../media/image17.png"/><Relationship Id="rId19" Type="http://schemas.openxmlformats.org/officeDocument/2006/relationships/image" Target="../media/image23.png"/><Relationship Id="rId6" Type="http://schemas.openxmlformats.org/officeDocument/2006/relationships/image" Target="../media/image16.png"/><Relationship Id="rId18" Type="http://schemas.openxmlformats.org/officeDocument/2006/relationships/image" Target="../media/image15.png"/><Relationship Id="rId7" Type="http://schemas.openxmlformats.org/officeDocument/2006/relationships/image" Target="../media/image44.png"/><Relationship Id="rId8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1.png"/><Relationship Id="rId4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34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9" Type="http://schemas.openxmlformats.org/officeDocument/2006/relationships/image" Target="../media/image36.png"/><Relationship Id="rId5" Type="http://schemas.openxmlformats.org/officeDocument/2006/relationships/image" Target="../media/image78.png"/><Relationship Id="rId6" Type="http://schemas.openxmlformats.org/officeDocument/2006/relationships/image" Target="../media/image35.png"/><Relationship Id="rId7" Type="http://schemas.openxmlformats.org/officeDocument/2006/relationships/image" Target="../media/image29.png"/><Relationship Id="rId8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7.png"/><Relationship Id="rId4" Type="http://schemas.openxmlformats.org/officeDocument/2006/relationships/image" Target="../media/image33.png"/><Relationship Id="rId5" Type="http://schemas.openxmlformats.org/officeDocument/2006/relationships/image" Target="../media/image39.png"/><Relationship Id="rId6" Type="http://schemas.openxmlformats.org/officeDocument/2006/relationships/image" Target="../media/image51.png"/><Relationship Id="rId7" Type="http://schemas.openxmlformats.org/officeDocument/2006/relationships/image" Target="../media/image50.png"/><Relationship Id="rId8" Type="http://schemas.openxmlformats.org/officeDocument/2006/relationships/image" Target="../media/image3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1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Relationship Id="rId6" Type="http://schemas.openxmlformats.org/officeDocument/2006/relationships/image" Target="../media/image42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56.png"/><Relationship Id="rId10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Relationship Id="rId9" Type="http://schemas.openxmlformats.org/officeDocument/2006/relationships/image" Target="../media/image47.png"/><Relationship Id="rId5" Type="http://schemas.openxmlformats.org/officeDocument/2006/relationships/image" Target="../media/image79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4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0.png"/><Relationship Id="rId4" Type="http://schemas.openxmlformats.org/officeDocument/2006/relationships/image" Target="../media/image55.png"/><Relationship Id="rId9" Type="http://schemas.openxmlformats.org/officeDocument/2006/relationships/image" Target="../media/image69.png"/><Relationship Id="rId5" Type="http://schemas.openxmlformats.org/officeDocument/2006/relationships/image" Target="../media/image59.png"/><Relationship Id="rId6" Type="http://schemas.openxmlformats.org/officeDocument/2006/relationships/image" Target="../media/image80.png"/><Relationship Id="rId7" Type="http://schemas.openxmlformats.org/officeDocument/2006/relationships/image" Target="../media/image71.png"/><Relationship Id="rId8" Type="http://schemas.openxmlformats.org/officeDocument/2006/relationships/image" Target="../media/image6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74.png"/><Relationship Id="rId6" Type="http://schemas.openxmlformats.org/officeDocument/2006/relationships/image" Target="../media/image72.png"/><Relationship Id="rId7" Type="http://schemas.openxmlformats.org/officeDocument/2006/relationships/image" Target="../media/image76.png"/><Relationship Id="rId8" Type="http://schemas.openxmlformats.org/officeDocument/2006/relationships/image" Target="../media/image7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5.png"/><Relationship Id="rId4" Type="http://schemas.openxmlformats.org/officeDocument/2006/relationships/image" Target="../media/image41.png"/><Relationship Id="rId5" Type="http://schemas.openxmlformats.org/officeDocument/2006/relationships/image" Target="../media/image29.png"/><Relationship Id="rId6" Type="http://schemas.openxmlformats.org/officeDocument/2006/relationships/image" Target="../media/image16.png"/><Relationship Id="rId7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3"/>
          <p:cNvGraphicFramePr/>
          <p:nvPr/>
        </p:nvGraphicFramePr>
        <p:xfrm>
          <a:off x="174070" y="6677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{F3ACF28C-F293-4A31-8C06-07FFF311FB83}</a:tableStyleId>
              </a:tblPr>
              <a:tblGrid>
                <a:gridCol w="819025"/>
                <a:gridCol w="1917825"/>
                <a:gridCol w="1917825"/>
                <a:gridCol w="1917825"/>
              </a:tblGrid>
              <a:tr h="84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66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Divide the area by the length given.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1293465" y="6397566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– I do…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068070" y="639939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5313541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129826" y="639450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370" y="6762097"/>
            <a:ext cx="1555799" cy="105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3555" y="6701137"/>
            <a:ext cx="1538990" cy="1011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01050" y="6711758"/>
            <a:ext cx="1451787" cy="101020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1287059" y="8144721"/>
            <a:ext cx="1312969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4589" l="0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169333" y="8137886"/>
            <a:ext cx="1312969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4591" l="0" r="0" t="-983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3124360" y="8059398"/>
            <a:ext cx="1312969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86108" y="303800"/>
            <a:ext cx="6679742" cy="156840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N3.21 - </a:t>
            </a:r>
            <a:r>
              <a:rPr b="0" i="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Area: finding missing lengths given the area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93829" y="5535426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Finding a missing length given the area of a rectangle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08887" y="685008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124034" y="895274"/>
            <a:ext cx="476202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use a given area to find the missing length of a rectangle.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use a given area to find the missing length of a parallelogram.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use a given area to find the missing length of a triangle.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use a given area to find the missing length of a compound shape.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5605218" y="641504"/>
            <a:ext cx="1133772" cy="120032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Area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Length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Width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Height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Perpendicular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157360" y="338387"/>
            <a:ext cx="6578276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understand how to use a given area to find missing lengths of various shapes 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749729" y="5782130"/>
            <a:ext cx="5536480" cy="66133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08" name="Google Shape;108;p13"/>
          <p:cNvCxnSpPr/>
          <p:nvPr/>
        </p:nvCxnSpPr>
        <p:spPr>
          <a:xfrm flipH="1" rot="10800000">
            <a:off x="950624" y="5091990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" name="Google Shape;109;p13"/>
          <p:cNvSpPr/>
          <p:nvPr/>
        </p:nvSpPr>
        <p:spPr>
          <a:xfrm>
            <a:off x="95944" y="3161395"/>
            <a:ext cx="6654848" cy="227690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13"/>
          <p:cNvCxnSpPr/>
          <p:nvPr/>
        </p:nvCxnSpPr>
        <p:spPr>
          <a:xfrm>
            <a:off x="95942" y="4107853"/>
            <a:ext cx="66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" name="Google Shape;111;p13"/>
          <p:cNvCxnSpPr>
            <a:stCxn id="109" idx="2"/>
            <a:endCxn id="109" idx="0"/>
          </p:cNvCxnSpPr>
          <p:nvPr/>
        </p:nvCxnSpPr>
        <p:spPr>
          <a:xfrm rot="10800000">
            <a:off x="3423368" y="3161300"/>
            <a:ext cx="0" cy="227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13"/>
          <p:cNvSpPr txBox="1"/>
          <p:nvPr/>
        </p:nvSpPr>
        <p:spPr>
          <a:xfrm>
            <a:off x="73506" y="3161394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5601402" y="3140099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80032" y="4082100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5537430" y="4071269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103254" y="3368046"/>
            <a:ext cx="3477873" cy="478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measure of space in two dimensions contained within a boundary (perimeter).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3510580" y="3314228"/>
            <a:ext cx="32303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inside of a 2-D shape</a:t>
            </a:r>
            <a:endParaRPr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Usually measured using squares of length one unit (where a unit can be cm, metre, inch etc.)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3109302" y="3964013"/>
            <a:ext cx="620876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0072" y="4153801"/>
            <a:ext cx="2007208" cy="1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608635" y="4372476"/>
            <a:ext cx="2241244" cy="104951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3"/>
          <p:cNvSpPr/>
          <p:nvPr/>
        </p:nvSpPr>
        <p:spPr>
          <a:xfrm>
            <a:off x="86108" y="1901185"/>
            <a:ext cx="6664167" cy="117497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38246" y="1891272"/>
            <a:ext cx="680123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 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far in this booklet, you’ve explored multiplication and how it relates to calculating area. Now, you’re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going to use the division skills developed over the last few subtopics to find missing lengths when the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area is given. This process demonstrates how division can be used to work backwards from an area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measurement to determine a side length, reinforcing the connection between multiplication and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 in geometric contexts.</a:t>
            </a:r>
            <a:endParaRPr b="1"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" name="Google Shape;127;p14"/>
          <p:cNvGraphicFramePr/>
          <p:nvPr/>
        </p:nvGraphicFramePr>
        <p:xfrm>
          <a:off x="144897" y="1747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{F3ACF28C-F293-4A31-8C06-07FFF311FB83}</a:tableStyleId>
              </a:tblPr>
              <a:tblGrid>
                <a:gridCol w="2190825"/>
                <a:gridCol w="2190825"/>
                <a:gridCol w="2190825"/>
              </a:tblGrid>
              <a:tr h="4680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194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4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8" name="Google Shape;128;p14"/>
          <p:cNvSpPr/>
          <p:nvPr/>
        </p:nvSpPr>
        <p:spPr>
          <a:xfrm>
            <a:off x="140625" y="234504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29" name="Google Shape;129;p14"/>
          <p:cNvSpPr txBox="1"/>
          <p:nvPr>
            <p:ph idx="12" type="sldNum"/>
          </p:nvPr>
        </p:nvSpPr>
        <p:spPr>
          <a:xfrm>
            <a:off x="5252705" y="943888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159" y="686462"/>
            <a:ext cx="1960736" cy="754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4594" y="686462"/>
            <a:ext cx="1701997" cy="7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42230" y="690352"/>
            <a:ext cx="1701997" cy="772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9865" y="2586189"/>
            <a:ext cx="1934833" cy="754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78562" y="2641431"/>
            <a:ext cx="1808529" cy="60284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4"/>
          <p:cNvSpPr txBox="1"/>
          <p:nvPr/>
        </p:nvSpPr>
        <p:spPr>
          <a:xfrm>
            <a:off x="1277396" y="358916"/>
            <a:ext cx="430320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1. For each of the following, find the value of P.</a:t>
            </a:r>
            <a:endParaRPr/>
          </a:p>
        </p:txBody>
      </p:sp>
      <p:graphicFrame>
        <p:nvGraphicFramePr>
          <p:cNvPr id="136" name="Google Shape;136;p14"/>
          <p:cNvGraphicFramePr/>
          <p:nvPr/>
        </p:nvGraphicFramePr>
        <p:xfrm>
          <a:off x="140625" y="45340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{F3ACF28C-F293-4A31-8C06-07FFF311FB83}</a:tableStyleId>
              </a:tblPr>
              <a:tblGrid>
                <a:gridCol w="2190825"/>
                <a:gridCol w="2190825"/>
                <a:gridCol w="2190825"/>
              </a:tblGrid>
              <a:tr h="194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37" name="Google Shape;13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20942" y="2635189"/>
            <a:ext cx="1856453" cy="635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71632" y="4587529"/>
            <a:ext cx="1210941" cy="1129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213580" y="4543789"/>
            <a:ext cx="1210941" cy="1159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90567" y="4592318"/>
            <a:ext cx="1886828" cy="72251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4"/>
          <p:cNvSpPr txBox="1"/>
          <p:nvPr/>
        </p:nvSpPr>
        <p:spPr>
          <a:xfrm>
            <a:off x="74080" y="6664894"/>
            <a:ext cx="34315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2. Fill in the blanks with integer values.</a:t>
            </a:r>
            <a:endParaRPr/>
          </a:p>
        </p:txBody>
      </p:sp>
      <p:graphicFrame>
        <p:nvGraphicFramePr>
          <p:cNvPr id="142" name="Google Shape;142;p14"/>
          <p:cNvGraphicFramePr/>
          <p:nvPr/>
        </p:nvGraphicFramePr>
        <p:xfrm>
          <a:off x="140625" y="69418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{F3ACF28C-F293-4A31-8C06-07FFF311FB83}</a:tableStyleId>
              </a:tblPr>
              <a:tblGrid>
                <a:gridCol w="2190825"/>
                <a:gridCol w="2190825"/>
                <a:gridCol w="21908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Length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Width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Area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3" name="Google Shape;143;p14"/>
          <p:cNvSpPr txBox="1"/>
          <p:nvPr/>
        </p:nvSpPr>
        <p:spPr>
          <a:xfrm>
            <a:off x="654267" y="1604772"/>
            <a:ext cx="1312969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2772515" y="1604772"/>
            <a:ext cx="1312969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4999880" y="1598689"/>
            <a:ext cx="1312969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606831" y="3777248"/>
            <a:ext cx="1312969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2725079" y="3777248"/>
            <a:ext cx="1312969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5136597" y="3668014"/>
            <a:ext cx="1312969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497162" y="5847662"/>
            <a:ext cx="1312969" cy="369332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2724527" y="5841579"/>
            <a:ext cx="1312969" cy="369332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5077496" y="5778654"/>
            <a:ext cx="1312969" cy="369332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" name="Google Shape;156;p15"/>
          <p:cNvGraphicFramePr/>
          <p:nvPr/>
        </p:nvGraphicFramePr>
        <p:xfrm>
          <a:off x="164101" y="3175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{F3ACF28C-F293-4A31-8C06-07FFF311FB83}</a:tableStyleId>
              </a:tblPr>
              <a:tblGrid>
                <a:gridCol w="3282475"/>
                <a:gridCol w="3290000"/>
              </a:tblGrid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3.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 rectangle has an area of 30cm².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down the length and width of three rectangles with an area of 30cm².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4.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These two rectangles have the same area.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length of the second rectangle.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5. </a:t>
                      </a:r>
                      <a:r>
                        <a:rPr lang="en-GB" sz="1200"/>
                        <a:t>Shown below is a square and a rectangle.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The square and rectangle have the same area.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Find the value of y.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6. </a:t>
                      </a:r>
                      <a:r>
                        <a:rPr lang="en-GB" sz="1200"/>
                        <a:t>A rectangle has an area of 36cm².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The length of the rectangle is 4 times greater than the width of the rectangle.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 out the dimensions of the rectangle.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7" name="Google Shape;157;p15"/>
          <p:cNvSpPr txBox="1"/>
          <p:nvPr>
            <p:ph idx="12" type="sldNum"/>
          </p:nvPr>
        </p:nvSpPr>
        <p:spPr>
          <a:xfrm>
            <a:off x="5193529" y="930382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158" name="Google Shape;15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8265" y="1063839"/>
            <a:ext cx="3040660" cy="904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2962" y="3365257"/>
            <a:ext cx="1992076" cy="151777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" name="Google Shape;160;p15"/>
          <p:cNvGraphicFramePr/>
          <p:nvPr/>
        </p:nvGraphicFramePr>
        <p:xfrm>
          <a:off x="164101" y="63175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{F3ACF28C-F293-4A31-8C06-07FFF311FB83}</a:tableStyleId>
              </a:tblPr>
              <a:tblGrid>
                <a:gridCol w="2190825"/>
                <a:gridCol w="2190825"/>
                <a:gridCol w="2190825"/>
              </a:tblGrid>
              <a:tr h="310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7.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 rectangle has an area of 80cm² and a perimeter of 48cm.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length and width of the rectangle. 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8.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 rectangle has an area of 100cm² and a perimeter of 104cm.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length and width of the rectangle.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9.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 football pitch is 110m long and has a perimeter of 360m.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area of the football pitch. 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1" name="Google Shape;161;p15"/>
          <p:cNvSpPr txBox="1"/>
          <p:nvPr/>
        </p:nvSpPr>
        <p:spPr>
          <a:xfrm>
            <a:off x="1447583" y="1709202"/>
            <a:ext cx="6303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x 6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220098" y="1263267"/>
            <a:ext cx="11460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E.g. 1 x 30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593394" y="1653680"/>
            <a:ext cx="7473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x 15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593394" y="2140136"/>
            <a:ext cx="7473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x 10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5735257" y="2529881"/>
            <a:ext cx="702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20cm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1447583" y="2153740"/>
            <a:ext cx="8082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x 7.5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2539621" y="5676624"/>
            <a:ext cx="5854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4cm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5306468" y="5702680"/>
            <a:ext cx="13147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3cm x 12cm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683322" y="8690813"/>
            <a:ext cx="13147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4cm x 20cm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2826280" y="8673112"/>
            <a:ext cx="13147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2cm x 50cm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5215001" y="8690813"/>
            <a:ext cx="9188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7700m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 txBox="1"/>
          <p:nvPr>
            <p:ph idx="12" type="sldNum"/>
          </p:nvPr>
        </p:nvSpPr>
        <p:spPr>
          <a:xfrm>
            <a:off x="5189578" y="944436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77" name="Google Shape;177;p16"/>
          <p:cNvGraphicFramePr/>
          <p:nvPr/>
        </p:nvGraphicFramePr>
        <p:xfrm>
          <a:off x="142761" y="11073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{F3ACF28C-F293-4A31-8C06-07FFF311FB83}</a:tableStyleId>
              </a:tblPr>
              <a:tblGrid>
                <a:gridCol w="819025"/>
                <a:gridCol w="1917825"/>
                <a:gridCol w="1917825"/>
                <a:gridCol w="1917825"/>
              </a:tblGrid>
              <a:tr h="7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7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Divide the area by the length given.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8" name="Google Shape;178;p16"/>
          <p:cNvSpPr txBox="1"/>
          <p:nvPr/>
        </p:nvSpPr>
        <p:spPr>
          <a:xfrm>
            <a:off x="1215314" y="827380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– I do…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4989919" y="82921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3051675" y="82432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142761" y="122682"/>
            <a:ext cx="4020046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Finding a missing length given the area of a parallelogram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4358" y="1171944"/>
            <a:ext cx="1574525" cy="85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5314" y="1161234"/>
            <a:ext cx="1550943" cy="84893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6"/>
          <p:cNvSpPr txBox="1"/>
          <p:nvPr/>
        </p:nvSpPr>
        <p:spPr>
          <a:xfrm>
            <a:off x="-697623" y="401856"/>
            <a:ext cx="7691382" cy="47160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89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85" name="Google Shape;18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48068" y="1112345"/>
            <a:ext cx="1355089" cy="97429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6" name="Google Shape;186;p16"/>
          <p:cNvGraphicFramePr/>
          <p:nvPr/>
        </p:nvGraphicFramePr>
        <p:xfrm>
          <a:off x="127506" y="36097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{F3ACF28C-F293-4A31-8C06-07FFF311FB83}</a:tableStyleId>
              </a:tblPr>
              <a:tblGrid>
                <a:gridCol w="2190825"/>
                <a:gridCol w="2190825"/>
                <a:gridCol w="2190825"/>
              </a:tblGrid>
              <a:tr h="177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87" name="Google Shape;18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5843" y="3642310"/>
            <a:ext cx="1789149" cy="1082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42457" y="3660640"/>
            <a:ext cx="1629830" cy="107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28019" y="3647451"/>
            <a:ext cx="1629831" cy="896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3142" y="5472611"/>
            <a:ext cx="1789150" cy="961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944296" y="5439188"/>
            <a:ext cx="1541842" cy="1085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363253" y="5439188"/>
            <a:ext cx="1306351" cy="123661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6"/>
          <p:cNvSpPr/>
          <p:nvPr/>
        </p:nvSpPr>
        <p:spPr>
          <a:xfrm>
            <a:off x="125372" y="3202633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1244389" y="3328422"/>
            <a:ext cx="55602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10. For each of the following, calculate the length of the missing side, x.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18694" y="7240620"/>
            <a:ext cx="38481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11. Fill in the blanks with values. </a:t>
            </a:r>
            <a:endParaRPr/>
          </a:p>
        </p:txBody>
      </p:sp>
      <p:graphicFrame>
        <p:nvGraphicFramePr>
          <p:cNvPr id="196" name="Google Shape;196;p16"/>
          <p:cNvGraphicFramePr/>
          <p:nvPr/>
        </p:nvGraphicFramePr>
        <p:xfrm>
          <a:off x="125372" y="75291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{F3ACF28C-F293-4A31-8C06-07FFF311FB83}</a:tableStyleId>
              </a:tblPr>
              <a:tblGrid>
                <a:gridCol w="2190825"/>
                <a:gridCol w="2190825"/>
                <a:gridCol w="21908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Perpendicular Height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Area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3.125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97" name="Google Shape;197;p16"/>
          <p:cNvSpPr txBox="1"/>
          <p:nvPr/>
        </p:nvSpPr>
        <p:spPr>
          <a:xfrm>
            <a:off x="1699575" y="2388381"/>
            <a:ext cx="5854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 txBox="1"/>
          <p:nvPr/>
        </p:nvSpPr>
        <p:spPr>
          <a:xfrm>
            <a:off x="5562841" y="2388381"/>
            <a:ext cx="5854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 txBox="1"/>
          <p:nvPr/>
        </p:nvSpPr>
        <p:spPr>
          <a:xfrm>
            <a:off x="3425222" y="2388381"/>
            <a:ext cx="9973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11.25cm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 txBox="1"/>
          <p:nvPr/>
        </p:nvSpPr>
        <p:spPr>
          <a:xfrm>
            <a:off x="952281" y="4897990"/>
            <a:ext cx="5854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3148068" y="4888101"/>
            <a:ext cx="5854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5252767" y="4865216"/>
            <a:ext cx="702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 txBox="1"/>
          <p:nvPr/>
        </p:nvSpPr>
        <p:spPr>
          <a:xfrm>
            <a:off x="986180" y="6735780"/>
            <a:ext cx="6062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3181967" y="6725891"/>
            <a:ext cx="7633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7.5cm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 txBox="1"/>
          <p:nvPr/>
        </p:nvSpPr>
        <p:spPr>
          <a:xfrm>
            <a:off x="5286666" y="6703006"/>
            <a:ext cx="7633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4.7cm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"/>
          <p:cNvSpPr txBox="1"/>
          <p:nvPr>
            <p:ph idx="12" type="sldNum"/>
          </p:nvPr>
        </p:nvSpPr>
        <p:spPr>
          <a:xfrm>
            <a:off x="5172189" y="934849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12" name="Google Shape;212;p17"/>
          <p:cNvGraphicFramePr/>
          <p:nvPr/>
        </p:nvGraphicFramePr>
        <p:xfrm>
          <a:off x="157181" y="4093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{F3ACF28C-F293-4A31-8C06-07FFF311FB83}</a:tableStyleId>
              </a:tblPr>
              <a:tblGrid>
                <a:gridCol w="3286250"/>
                <a:gridCol w="3286250"/>
              </a:tblGrid>
              <a:tr h="4933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12. The diagram shows a right-angled triangle and a parallelogram.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area of the parallelogram is four times the area of the triangle.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perpendicular height of the parallelogram is </a:t>
                      </a:r>
                      <a:r>
                        <a:rPr b="0" i="1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</a:t>
                      </a: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Find the value of </a:t>
                      </a:r>
                      <a:r>
                        <a:rPr b="0" i="1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</a:t>
                      </a: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13.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 shape is made from 4 congruent parallelograms.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area of the shape is 792cm².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y 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13" name="Google Shape;2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130" y="949659"/>
            <a:ext cx="3011338" cy="1017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9495" y="905881"/>
            <a:ext cx="2810918" cy="114260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7"/>
          <p:cNvSpPr/>
          <p:nvPr/>
        </p:nvSpPr>
        <p:spPr>
          <a:xfrm>
            <a:off x="157181" y="5554362"/>
            <a:ext cx="3455014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Finding a missing length given the area of a triangle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6" name="Google Shape;216;p17"/>
          <p:cNvGraphicFramePr/>
          <p:nvPr/>
        </p:nvGraphicFramePr>
        <p:xfrm>
          <a:off x="157181" y="68788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{F3ACF28C-F293-4A31-8C06-07FFF311FB83}</a:tableStyleId>
              </a:tblPr>
              <a:tblGrid>
                <a:gridCol w="1149100"/>
                <a:gridCol w="1587725"/>
                <a:gridCol w="1917825"/>
                <a:gridCol w="1917825"/>
              </a:tblGrid>
              <a:tr h="206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40900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1) Multiply the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area by 2.</a:t>
                      </a:r>
                      <a:endParaRPr/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2) Divide by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either the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base or the perpendicular height, depending on what you are finding.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4157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7" name="Google Shape;217;p17"/>
          <p:cNvSpPr txBox="1"/>
          <p:nvPr/>
        </p:nvSpPr>
        <p:spPr>
          <a:xfrm>
            <a:off x="1229734" y="6598874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13 – I do…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5004339" y="660070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15 – You do…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3066095" y="659581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14 – We do…</a:t>
            </a:r>
            <a:endParaRPr/>
          </a:p>
        </p:txBody>
      </p:sp>
      <p:pic>
        <p:nvPicPr>
          <p:cNvPr id="220" name="Google Shape;22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6559" y="7012147"/>
            <a:ext cx="1393744" cy="957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75697" y="6930820"/>
            <a:ext cx="1429540" cy="1039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64725" y="6930820"/>
            <a:ext cx="1315327" cy="109316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7"/>
          <p:cNvSpPr txBox="1"/>
          <p:nvPr/>
        </p:nvSpPr>
        <p:spPr>
          <a:xfrm>
            <a:off x="2579308" y="3973129"/>
            <a:ext cx="5854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 txBox="1"/>
          <p:nvPr/>
        </p:nvSpPr>
        <p:spPr>
          <a:xfrm>
            <a:off x="5863710" y="3963773"/>
            <a:ext cx="8803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40.5cm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5565192" y="8346878"/>
            <a:ext cx="5854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3529679" y="8316908"/>
            <a:ext cx="5854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 txBox="1"/>
          <p:nvPr/>
        </p:nvSpPr>
        <p:spPr>
          <a:xfrm>
            <a:off x="1653003" y="8346878"/>
            <a:ext cx="5854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 txBox="1"/>
          <p:nvPr/>
        </p:nvSpPr>
        <p:spPr>
          <a:xfrm>
            <a:off x="-416691" y="5967042"/>
            <a:ext cx="7691382" cy="47160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519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3" name="Google Shape;233;p18"/>
          <p:cNvGraphicFramePr/>
          <p:nvPr/>
        </p:nvGraphicFramePr>
        <p:xfrm>
          <a:off x="142761" y="5390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{F3ACF28C-F293-4A31-8C06-07FFF311FB83}</a:tableStyleId>
              </a:tblPr>
              <a:tblGrid>
                <a:gridCol w="2190825"/>
                <a:gridCol w="2207925"/>
                <a:gridCol w="2173725"/>
              </a:tblGrid>
              <a:tr h="295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area of the triangle is 20cm², find x. 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The area of the triangle is 30cm², find y.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area of the triangle is 12cm², find z. 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34" name="Google Shape;234;p18"/>
          <p:cNvSpPr txBox="1"/>
          <p:nvPr>
            <p:ph idx="12" type="sldNum"/>
          </p:nvPr>
        </p:nvSpPr>
        <p:spPr>
          <a:xfrm>
            <a:off x="5172189" y="936695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144184" y="174463"/>
            <a:ext cx="1798049" cy="30368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1961971" y="262047"/>
            <a:ext cx="34330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14.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339" y="1030454"/>
            <a:ext cx="1071651" cy="1087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14464" y="1071102"/>
            <a:ext cx="1776568" cy="100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17310" y="999062"/>
            <a:ext cx="1071651" cy="115054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0" name="Google Shape;240;p18"/>
          <p:cNvGraphicFramePr/>
          <p:nvPr/>
        </p:nvGraphicFramePr>
        <p:xfrm>
          <a:off x="148383" y="34840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{F3ACF28C-F293-4A31-8C06-07FFF311FB83}</a:tableStyleId>
              </a:tblPr>
              <a:tblGrid>
                <a:gridCol w="2188950"/>
                <a:gridCol w="2188950"/>
                <a:gridCol w="2188950"/>
              </a:tblGrid>
              <a:tr h="31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d)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area of the triangle is 56cm², find a. 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area of the triangle is 165cm², find b.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 </a:t>
                      </a:r>
                      <a:r>
                        <a:rPr b="0" i="1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5cm and the area of the triangle is 20 cm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 Calculate the height of triangle </a:t>
                      </a:r>
                      <a:r>
                        <a:rPr b="0" i="1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</a:t>
                      </a: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b="0" i="1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41" name="Google Shape;24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9738" y="3991532"/>
            <a:ext cx="1462233" cy="961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44496" y="4068440"/>
            <a:ext cx="1462233" cy="884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99685" y="4158532"/>
            <a:ext cx="1458577" cy="105753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8"/>
          <p:cNvSpPr txBox="1"/>
          <p:nvPr/>
        </p:nvSpPr>
        <p:spPr>
          <a:xfrm>
            <a:off x="77531" y="6657127"/>
            <a:ext cx="5000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15 – fill in the blanks with values.</a:t>
            </a:r>
            <a:endParaRPr/>
          </a:p>
        </p:txBody>
      </p:sp>
      <p:graphicFrame>
        <p:nvGraphicFramePr>
          <p:cNvPr id="245" name="Google Shape;245;p18"/>
          <p:cNvGraphicFramePr/>
          <p:nvPr/>
        </p:nvGraphicFramePr>
        <p:xfrm>
          <a:off x="142761" y="69368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{F3ACF28C-F293-4A31-8C06-07FFF311FB83}</a:tableStyleId>
              </a:tblPr>
              <a:tblGrid>
                <a:gridCol w="2190825"/>
                <a:gridCol w="2190825"/>
                <a:gridCol w="2190825"/>
              </a:tblGrid>
              <a:tr h="36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Perpendicular Height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Area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6.25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46" name="Google Shape;246;p18"/>
          <p:cNvSpPr txBox="1"/>
          <p:nvPr/>
        </p:nvSpPr>
        <p:spPr>
          <a:xfrm>
            <a:off x="1051573" y="2923681"/>
            <a:ext cx="5854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 txBox="1"/>
          <p:nvPr/>
        </p:nvSpPr>
        <p:spPr>
          <a:xfrm>
            <a:off x="3191343" y="2933762"/>
            <a:ext cx="702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5439440" y="2933762"/>
            <a:ext cx="5854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1107002" y="5810296"/>
            <a:ext cx="702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3255285" y="5810296"/>
            <a:ext cx="702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 txBox="1"/>
          <p:nvPr/>
        </p:nvSpPr>
        <p:spPr>
          <a:xfrm>
            <a:off x="5466300" y="5810296"/>
            <a:ext cx="5854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" name="Google Shape;256;p19"/>
          <p:cNvGraphicFramePr/>
          <p:nvPr/>
        </p:nvGraphicFramePr>
        <p:xfrm>
          <a:off x="182448" y="611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{F3ACF28C-F293-4A31-8C06-07FFF311FB83}</a:tableStyleId>
              </a:tblPr>
              <a:tblGrid>
                <a:gridCol w="2160450"/>
                <a:gridCol w="2160450"/>
                <a:gridCol w="2160450"/>
              </a:tblGrid>
              <a:tr h="109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57" name="Google Shape;257;p19"/>
          <p:cNvSpPr txBox="1"/>
          <p:nvPr/>
        </p:nvSpPr>
        <p:spPr>
          <a:xfrm>
            <a:off x="615247" y="365212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19 – I do…</a:t>
            </a:r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4762384" y="34486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21 – You do…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2725660" y="36137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20 – We do…</a:t>
            </a:r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182449" y="63799"/>
            <a:ext cx="4026899" cy="2830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Finding a missing length given the area of a compound shape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662" y="673602"/>
            <a:ext cx="1535183" cy="1050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96524" y="632483"/>
            <a:ext cx="1380665" cy="1133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34768" y="632483"/>
            <a:ext cx="1612661" cy="113322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4" name="Google Shape;264;p19"/>
          <p:cNvGraphicFramePr/>
          <p:nvPr/>
        </p:nvGraphicFramePr>
        <p:xfrm>
          <a:off x="173240" y="35960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{F3ACF28C-F293-4A31-8C06-07FFF311FB83}</a:tableStyleId>
              </a:tblPr>
              <a:tblGrid>
                <a:gridCol w="2160450"/>
                <a:gridCol w="2160450"/>
                <a:gridCol w="2160450"/>
              </a:tblGrid>
              <a:tr h="107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899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65" name="Google Shape;265;p19"/>
          <p:cNvSpPr txBox="1"/>
          <p:nvPr/>
        </p:nvSpPr>
        <p:spPr>
          <a:xfrm>
            <a:off x="615247" y="3325986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22 – I do…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4832051" y="336307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24 – You do…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2725661" y="335669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23 – We do…</a:t>
            </a:r>
            <a:endParaRPr/>
          </a:p>
        </p:txBody>
      </p:sp>
      <p:pic>
        <p:nvPicPr>
          <p:cNvPr id="268" name="Google Shape;26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9749" y="3648864"/>
            <a:ext cx="1657773" cy="1101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66172" y="3648864"/>
            <a:ext cx="1649702" cy="1068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57720" y="3711514"/>
            <a:ext cx="1525790" cy="100586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9"/>
          <p:cNvSpPr/>
          <p:nvPr/>
        </p:nvSpPr>
        <p:spPr>
          <a:xfrm>
            <a:off x="182645" y="6717673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272" name="Google Shape;272;p19"/>
          <p:cNvGraphicFramePr/>
          <p:nvPr/>
        </p:nvGraphicFramePr>
        <p:xfrm>
          <a:off x="182449" y="71043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{F3ACF28C-F293-4A31-8C06-07FFF311FB83}</a:tableStyleId>
              </a:tblPr>
              <a:tblGrid>
                <a:gridCol w="2160450"/>
                <a:gridCol w="2160450"/>
                <a:gridCol w="2160450"/>
              </a:tblGrid>
              <a:tr h="261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73" name="Google Shape;27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6743" y="7152730"/>
            <a:ext cx="1678102" cy="1121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812305" y="7129657"/>
            <a:ext cx="1438836" cy="1119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135659" y="7137561"/>
            <a:ext cx="1302363" cy="1310452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9"/>
          <p:cNvSpPr txBox="1"/>
          <p:nvPr/>
        </p:nvSpPr>
        <p:spPr>
          <a:xfrm>
            <a:off x="1320599" y="6860562"/>
            <a:ext cx="553740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16. For each of the following, calculate the length of the missing side, x.</a:t>
            </a:r>
            <a:endParaRPr/>
          </a:p>
        </p:txBody>
      </p:sp>
      <p:sp>
        <p:nvSpPr>
          <p:cNvPr id="277" name="Google Shape;277;p19"/>
          <p:cNvSpPr txBox="1"/>
          <p:nvPr>
            <p:ph idx="12" type="sldNum"/>
          </p:nvPr>
        </p:nvSpPr>
        <p:spPr>
          <a:xfrm>
            <a:off x="5177790" y="941980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78" name="Google Shape;278;p19"/>
          <p:cNvSpPr txBox="1"/>
          <p:nvPr/>
        </p:nvSpPr>
        <p:spPr>
          <a:xfrm>
            <a:off x="1587985" y="2088358"/>
            <a:ext cx="649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4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9"/>
          <p:cNvSpPr txBox="1"/>
          <p:nvPr/>
        </p:nvSpPr>
        <p:spPr>
          <a:xfrm>
            <a:off x="3470157" y="2123411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10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 txBox="1"/>
          <p:nvPr/>
        </p:nvSpPr>
        <p:spPr>
          <a:xfrm>
            <a:off x="5537401" y="2138412"/>
            <a:ext cx="649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1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 txBox="1"/>
          <p:nvPr/>
        </p:nvSpPr>
        <p:spPr>
          <a:xfrm>
            <a:off x="1565081" y="5574024"/>
            <a:ext cx="649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3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3531723" y="5564979"/>
            <a:ext cx="6286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4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5477526" y="5593923"/>
            <a:ext cx="649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2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1050302" y="8812166"/>
            <a:ext cx="649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2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3158525" y="8832508"/>
            <a:ext cx="6286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9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9"/>
          <p:cNvSpPr txBox="1"/>
          <p:nvPr/>
        </p:nvSpPr>
        <p:spPr>
          <a:xfrm>
            <a:off x="5426975" y="8832508"/>
            <a:ext cx="649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4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0651" y="3340447"/>
            <a:ext cx="1292747" cy="16459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2" name="Google Shape;292;p20"/>
          <p:cNvGraphicFramePr/>
          <p:nvPr/>
        </p:nvGraphicFramePr>
        <p:xfrm>
          <a:off x="142761" y="1056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{F3ACF28C-F293-4A31-8C06-07FFF311FB83}</a:tableStyleId>
              </a:tblPr>
              <a:tblGrid>
                <a:gridCol w="2190825"/>
                <a:gridCol w="2190825"/>
                <a:gridCol w="2190825"/>
              </a:tblGrid>
              <a:tr h="31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93" name="Google Shape;29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3428" y="197112"/>
            <a:ext cx="1756694" cy="1091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55069" y="127183"/>
            <a:ext cx="1832783" cy="1177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7958" y="122055"/>
            <a:ext cx="1919425" cy="112195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6" name="Google Shape;296;p20"/>
          <p:cNvGraphicFramePr/>
          <p:nvPr/>
        </p:nvGraphicFramePr>
        <p:xfrm>
          <a:off x="145474" y="33052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{F3ACF28C-F293-4A31-8C06-07FFF311FB83}</a:tableStyleId>
              </a:tblPr>
              <a:tblGrid>
                <a:gridCol w="2190825"/>
                <a:gridCol w="2190825"/>
                <a:gridCol w="2190825"/>
              </a:tblGrid>
              <a:tr h="32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roman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Area = 28cm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  <a:p>
                      <a:pPr indent="-2095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095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97" name="Google Shape;29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9603" y="3340447"/>
            <a:ext cx="1866530" cy="1037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80262" y="3340448"/>
            <a:ext cx="1927909" cy="12550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9" name="Google Shape;299;p20"/>
          <p:cNvGraphicFramePr/>
          <p:nvPr/>
        </p:nvGraphicFramePr>
        <p:xfrm>
          <a:off x="142934" y="65048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{F3ACF28C-F293-4A31-8C06-07FFF311FB83}</a:tableStyleId>
              </a:tblPr>
              <a:tblGrid>
                <a:gridCol w="2190825"/>
                <a:gridCol w="2190825"/>
                <a:gridCol w="2190825"/>
              </a:tblGrid>
              <a:tr h="32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j) Area = 48cm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k) Area = 46cm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l) Area = 54cm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300" name="Google Shape;300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2217" y="6729018"/>
            <a:ext cx="1554194" cy="1431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996396" y="6743478"/>
            <a:ext cx="1516641" cy="1597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518814" y="6645978"/>
            <a:ext cx="1184398" cy="159774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0"/>
          <p:cNvSpPr txBox="1"/>
          <p:nvPr>
            <p:ph idx="12" type="sldNum"/>
          </p:nvPr>
        </p:nvSpPr>
        <p:spPr>
          <a:xfrm>
            <a:off x="5220622" y="9361008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304" name="Google Shape;304;p20"/>
          <p:cNvSpPr txBox="1"/>
          <p:nvPr/>
        </p:nvSpPr>
        <p:spPr>
          <a:xfrm>
            <a:off x="1068845" y="2731999"/>
            <a:ext cx="649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2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0"/>
          <p:cNvSpPr txBox="1"/>
          <p:nvPr/>
        </p:nvSpPr>
        <p:spPr>
          <a:xfrm>
            <a:off x="3177068" y="2752341"/>
            <a:ext cx="6286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4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 txBox="1"/>
          <p:nvPr/>
        </p:nvSpPr>
        <p:spPr>
          <a:xfrm>
            <a:off x="5445518" y="2752341"/>
            <a:ext cx="649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0"/>
          <p:cNvSpPr txBox="1"/>
          <p:nvPr/>
        </p:nvSpPr>
        <p:spPr>
          <a:xfrm>
            <a:off x="888173" y="5978516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16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0"/>
          <p:cNvSpPr txBox="1"/>
          <p:nvPr/>
        </p:nvSpPr>
        <p:spPr>
          <a:xfrm>
            <a:off x="2996396" y="5998858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11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0"/>
          <p:cNvSpPr txBox="1"/>
          <p:nvPr/>
        </p:nvSpPr>
        <p:spPr>
          <a:xfrm>
            <a:off x="5264846" y="5998858"/>
            <a:ext cx="649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 txBox="1"/>
          <p:nvPr/>
        </p:nvSpPr>
        <p:spPr>
          <a:xfrm>
            <a:off x="911751" y="8971334"/>
            <a:ext cx="8066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0.5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 txBox="1"/>
          <p:nvPr/>
        </p:nvSpPr>
        <p:spPr>
          <a:xfrm>
            <a:off x="3019974" y="8991676"/>
            <a:ext cx="6286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 txBox="1"/>
          <p:nvPr/>
        </p:nvSpPr>
        <p:spPr>
          <a:xfrm>
            <a:off x="5288424" y="8991676"/>
            <a:ext cx="649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3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1"/>
          <p:cNvSpPr txBox="1"/>
          <p:nvPr>
            <p:ph idx="12" type="sldNum"/>
          </p:nvPr>
        </p:nvSpPr>
        <p:spPr>
          <a:xfrm>
            <a:off x="5025737" y="929328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318" name="Google Shape;318;p21"/>
          <p:cNvGraphicFramePr/>
          <p:nvPr/>
        </p:nvGraphicFramePr>
        <p:xfrm>
          <a:off x="142761" y="2464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{F3ACF28C-F293-4A31-8C06-07FFF311FB83}</a:tableStyleId>
              </a:tblPr>
              <a:tblGrid>
                <a:gridCol w="2190825"/>
                <a:gridCol w="2190825"/>
                <a:gridCol w="2190825"/>
              </a:tblGrid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m) Area = 33cm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n) Area = 55cm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o) Area = 132cm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  <a:p>
                      <a:pPr indent="-2095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319" name="Google Shape;3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666" y="517289"/>
            <a:ext cx="1791573" cy="1577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9093" y="517289"/>
            <a:ext cx="1416518" cy="1577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9160" y="517289"/>
            <a:ext cx="1461494" cy="157748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2" name="Google Shape;322;p21"/>
          <p:cNvGraphicFramePr/>
          <p:nvPr/>
        </p:nvGraphicFramePr>
        <p:xfrm>
          <a:off x="142761" y="34468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{F3ACF28C-F293-4A31-8C06-07FFF311FB83}</a:tableStyleId>
              </a:tblPr>
              <a:tblGrid>
                <a:gridCol w="3286250"/>
                <a:gridCol w="3286250"/>
              </a:tblGrid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323" name="Google Shape;32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6499" y="3461299"/>
            <a:ext cx="2150473" cy="149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87377" y="3476539"/>
            <a:ext cx="1996960" cy="1620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1"/>
          <p:cNvPicPr preferRelativeResize="0"/>
          <p:nvPr/>
        </p:nvPicPr>
        <p:blipFill rotWithShape="1">
          <a:blip r:embed="rId8">
            <a:alphaModFix/>
          </a:blip>
          <a:srcRect b="1172" l="847" r="539" t="43723"/>
          <a:stretch/>
        </p:blipFill>
        <p:spPr>
          <a:xfrm>
            <a:off x="268371" y="6532973"/>
            <a:ext cx="6321257" cy="276031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1"/>
          <p:cNvSpPr txBox="1"/>
          <p:nvPr/>
        </p:nvSpPr>
        <p:spPr>
          <a:xfrm>
            <a:off x="1058127" y="2492249"/>
            <a:ext cx="649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1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3166350" y="2512591"/>
            <a:ext cx="6286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6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5434800" y="2512591"/>
            <a:ext cx="649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4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1707664" y="5608440"/>
            <a:ext cx="9236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6.25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4866337" y="5636238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25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2"/>
          <p:cNvSpPr txBox="1"/>
          <p:nvPr>
            <p:ph idx="12" type="sldNum"/>
          </p:nvPr>
        </p:nvSpPr>
        <p:spPr>
          <a:xfrm>
            <a:off x="5030107" y="917510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2014697" y="1094986"/>
            <a:ext cx="1257300" cy="466725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2"/>
          <p:cNvSpPr/>
          <p:nvPr/>
        </p:nvSpPr>
        <p:spPr>
          <a:xfrm>
            <a:off x="5190517" y="1124849"/>
            <a:ext cx="1257300" cy="466725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8" name="Google Shape;338;p22"/>
          <p:cNvGraphicFramePr/>
          <p:nvPr/>
        </p:nvGraphicFramePr>
        <p:xfrm>
          <a:off x="153464" y="2187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{F3ACF28C-F293-4A31-8C06-07FFF311FB83}</a:tableStyleId>
              </a:tblPr>
              <a:tblGrid>
                <a:gridCol w="6551075"/>
              </a:tblGrid>
              <a:tr h="37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Skills Check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2341"/>
                    </a:solidFill>
                  </a:tcPr>
                </a:tc>
              </a:tr>
              <a:tr h="133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The area of the triangle is 60cm², find y. 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The area of the triangle is 60cm², find y. 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339" name="Google Shape;339;p22"/>
          <p:cNvPicPr preferRelativeResize="0"/>
          <p:nvPr/>
        </p:nvPicPr>
        <p:blipFill rotWithShape="1">
          <a:blip r:embed="rId3">
            <a:alphaModFix/>
          </a:blip>
          <a:srcRect b="73069" l="0" r="0" t="0"/>
          <a:stretch/>
        </p:blipFill>
        <p:spPr>
          <a:xfrm>
            <a:off x="174738" y="4821015"/>
            <a:ext cx="2694361" cy="370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980" y="3791748"/>
            <a:ext cx="1572531" cy="8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2"/>
          <p:cNvSpPr txBox="1"/>
          <p:nvPr/>
        </p:nvSpPr>
        <p:spPr>
          <a:xfrm>
            <a:off x="3424230" y="3562324"/>
            <a:ext cx="302358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UcPeriod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10cm                B.  360cm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  20cm                D. 36cm</a:t>
            </a:r>
            <a:endParaRPr/>
          </a:p>
        </p:txBody>
      </p:sp>
      <p:pic>
        <p:nvPicPr>
          <p:cNvPr id="342" name="Google Shape;34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6812" y="2184740"/>
            <a:ext cx="1928865" cy="1167044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2"/>
          <p:cNvSpPr txBox="1"/>
          <p:nvPr/>
        </p:nvSpPr>
        <p:spPr>
          <a:xfrm>
            <a:off x="3424230" y="2112032"/>
            <a:ext cx="302358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UcPeriod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10cm                B.  11cm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  275cm                D. 5cm</a:t>
            </a:r>
            <a:endParaRPr/>
          </a:p>
        </p:txBody>
      </p:sp>
      <p:sp>
        <p:nvSpPr>
          <p:cNvPr id="344" name="Google Shape;344;p22"/>
          <p:cNvSpPr/>
          <p:nvPr/>
        </p:nvSpPr>
        <p:spPr>
          <a:xfrm>
            <a:off x="1038376" y="3095670"/>
            <a:ext cx="481263" cy="25611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2"/>
          <p:cNvSpPr/>
          <p:nvPr/>
        </p:nvSpPr>
        <p:spPr>
          <a:xfrm>
            <a:off x="1094463" y="2220835"/>
            <a:ext cx="617682" cy="31734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2"/>
          <p:cNvSpPr txBox="1"/>
          <p:nvPr/>
        </p:nvSpPr>
        <p:spPr>
          <a:xfrm>
            <a:off x="1038376" y="2168852"/>
            <a:ext cx="7793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55cm</a:t>
            </a:r>
            <a:r>
              <a:rPr b="1" baseline="30000" lang="en-GB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47" name="Google Shape;347;p22"/>
          <p:cNvSpPr txBox="1"/>
          <p:nvPr/>
        </p:nvSpPr>
        <p:spPr>
          <a:xfrm>
            <a:off x="951920" y="2971704"/>
            <a:ext cx="6541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5cm</a:t>
            </a:r>
            <a:endParaRPr b="1" baseline="30000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8" name="Google Shape;34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2244" y="742009"/>
            <a:ext cx="1934833" cy="754128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2"/>
          <p:cNvSpPr/>
          <p:nvPr/>
        </p:nvSpPr>
        <p:spPr>
          <a:xfrm>
            <a:off x="1491717" y="892565"/>
            <a:ext cx="481263" cy="25611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2"/>
          <p:cNvSpPr txBox="1"/>
          <p:nvPr/>
        </p:nvSpPr>
        <p:spPr>
          <a:xfrm>
            <a:off x="1443338" y="835956"/>
            <a:ext cx="65417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45cm</a:t>
            </a:r>
            <a:endParaRPr b="1" baseline="30000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3444691" y="710304"/>
            <a:ext cx="302358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UcPeriod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15cm                B.  48cm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  135cm                D. 43cm</a:t>
            </a:r>
            <a:endParaRPr/>
          </a:p>
        </p:txBody>
      </p:sp>
      <p:sp>
        <p:nvSpPr>
          <p:cNvPr id="352" name="Google Shape;352;p22"/>
          <p:cNvSpPr txBox="1"/>
          <p:nvPr/>
        </p:nvSpPr>
        <p:spPr>
          <a:xfrm>
            <a:off x="3424230" y="5006174"/>
            <a:ext cx="302358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UcPeriod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3cm                B.  5cm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  21cm                D. 12cm</a:t>
            </a:r>
            <a:endParaRPr/>
          </a:p>
        </p:txBody>
      </p:sp>
      <p:pic>
        <p:nvPicPr>
          <p:cNvPr id="353" name="Google Shape;353;p22"/>
          <p:cNvPicPr preferRelativeResize="0"/>
          <p:nvPr/>
        </p:nvPicPr>
        <p:blipFill rotWithShape="1">
          <a:blip r:embed="rId3">
            <a:alphaModFix/>
          </a:blip>
          <a:srcRect b="0" l="33049" r="0" t="27196"/>
          <a:stretch/>
        </p:blipFill>
        <p:spPr>
          <a:xfrm>
            <a:off x="210795" y="5276668"/>
            <a:ext cx="1803902" cy="1001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2"/>
          <p:cNvPicPr preferRelativeResize="0"/>
          <p:nvPr/>
        </p:nvPicPr>
        <p:blipFill rotWithShape="1">
          <a:blip r:embed="rId7">
            <a:alphaModFix/>
          </a:blip>
          <a:srcRect b="1172" l="847" r="539" t="43723"/>
          <a:stretch/>
        </p:blipFill>
        <p:spPr>
          <a:xfrm>
            <a:off x="263601" y="6482345"/>
            <a:ext cx="6321257" cy="2760312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2"/>
          <p:cNvSpPr/>
          <p:nvPr/>
        </p:nvSpPr>
        <p:spPr>
          <a:xfrm>
            <a:off x="3269972" y="688316"/>
            <a:ext cx="1335505" cy="40667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2"/>
          <p:cNvSpPr/>
          <p:nvPr/>
        </p:nvSpPr>
        <p:spPr>
          <a:xfrm>
            <a:off x="4890386" y="2079148"/>
            <a:ext cx="1335505" cy="40667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3252311" y="4399742"/>
            <a:ext cx="1335505" cy="40667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4810805" y="4929088"/>
            <a:ext cx="1335505" cy="40667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