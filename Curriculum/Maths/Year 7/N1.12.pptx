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1D5EA4-DCDA-4472-BBA6-16A842F65514}">
  <a:tblStyle styleId="{C21D5EA4-DCDA-4472-BBA6-16A842F655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402765" y="958891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4124" y="5655851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identify the nearest numbers to 1 decimal place and round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13"/>
          <p:cNvGraphicFramePr/>
          <p:nvPr/>
        </p:nvGraphicFramePr>
        <p:xfrm>
          <a:off x="97230" y="6313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939100"/>
                <a:gridCol w="1900925"/>
                <a:gridCol w="1900925"/>
                <a:gridCol w="1900925"/>
              </a:tblGrid>
              <a:tr h="5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decimal place above and below 8.571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decimal place above and below 23.92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Draw a number line showing the numbers with 1 decimal place above and below 1.26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15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1) Identify 1dp above and 1dp below.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Is it closer to the 1dp above or the 1dp below?</a:t>
                      </a:r>
                      <a:endParaRPr b="0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   8.5                              8.6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   23.9                            24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   1.2                             1.3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8.571 to 1 decimal place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23.92 to 1 decimal place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1.26 to 1 decimal place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8.6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23.9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13"/>
          <p:cNvSpPr txBox="1"/>
          <p:nvPr/>
        </p:nvSpPr>
        <p:spPr>
          <a:xfrm>
            <a:off x="1316588" y="605538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095690" y="60413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221649" y="920638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86108" y="318367"/>
            <a:ext cx="6679742" cy="125430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N1.12– Rounding to decimal places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63991" y="70524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84866" y="936004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round to 1, 2 or 3 decimal places using a number line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round to 1, 2 or 3 decimal places without  a number line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76846" y="387997"/>
            <a:ext cx="6535969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round numbers to 1, 2 or 3 decimal places.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5597301" y="699618"/>
            <a:ext cx="1112228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cxnSp>
        <p:nvCxnSpPr>
          <p:cNvPr id="101" name="Google Shape;101;p13"/>
          <p:cNvCxnSpPr/>
          <p:nvPr/>
        </p:nvCxnSpPr>
        <p:spPr>
          <a:xfrm flipH="1" rot="10800000">
            <a:off x="948805" y="5322803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/>
          <p:nvPr/>
        </p:nvSpPr>
        <p:spPr>
          <a:xfrm>
            <a:off x="94124" y="3146403"/>
            <a:ext cx="6668963" cy="24361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3"/>
          <p:cNvCxnSpPr>
            <a:stCxn id="102" idx="1"/>
            <a:endCxn id="102" idx="3"/>
          </p:cNvCxnSpPr>
          <p:nvPr/>
        </p:nvCxnSpPr>
        <p:spPr>
          <a:xfrm>
            <a:off x="94124" y="4364487"/>
            <a:ext cx="666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3"/>
          <p:cNvCxnSpPr>
            <a:stCxn id="102" idx="2"/>
            <a:endCxn id="102" idx="0"/>
          </p:cNvCxnSpPr>
          <p:nvPr/>
        </p:nvCxnSpPr>
        <p:spPr>
          <a:xfrm rot="10800000">
            <a:off x="3428606" y="3146270"/>
            <a:ext cx="0" cy="243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/>
        </p:nvSpPr>
        <p:spPr>
          <a:xfrm>
            <a:off x="75021" y="3125192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89355" y="3113317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75021" y="4357033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672204" y="433693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64209" y="3313961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finding an approximation for a number to a given accuracy.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3429278" y="3301137"/>
            <a:ext cx="327969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round up or down depending on the value they are closer to (and exactly halfway between rounds up).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decimal places of a number are the number of digits after the decimal point.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923118" y="4248060"/>
            <a:ext cx="10760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3184346" y="604609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86108" y="4608795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6.3802 = 6.4 to 1 decimal place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6.3802 = 6.38 to 2 decimal places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6.3802 = 6.380 to 3 decimal places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3444830" y="4436713"/>
            <a:ext cx="32303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6.3802 ≠ 6.3 to 1 decimal place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6.3802 ≠ 638 to 2 decimal places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6.3802 ≠ 6.38 to 3 decimal places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6888" y="1642017"/>
            <a:ext cx="6668962" cy="14027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Rounding decimals helps us find the closest value at a given point, such as the nearest tenth or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hundredth, making numbers easier to work with while keeping them accurate. This builds on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previous rounding subtopic, understanding of decimal place value, estimating positions on a number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line, and recognising midpoints to decide which way to round correctly. Rounding decimals is an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important skill that will help in future topics like measurements and money calculations. It also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improves our ability to estimate answers quickly and check if calculations are reasonable.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13"/>
          <p:cNvGrpSpPr/>
          <p:nvPr/>
        </p:nvGrpSpPr>
        <p:grpSpPr>
          <a:xfrm>
            <a:off x="1225738" y="7394299"/>
            <a:ext cx="1417470" cy="115672"/>
            <a:chOff x="1277321" y="6379072"/>
            <a:chExt cx="1417470" cy="115672"/>
          </a:xfrm>
        </p:grpSpPr>
        <p:cxnSp>
          <p:nvCxnSpPr>
            <p:cNvPr id="117" name="Google Shape;117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" name="Google Shape;120;p13"/>
          <p:cNvGrpSpPr/>
          <p:nvPr/>
        </p:nvGrpSpPr>
        <p:grpSpPr>
          <a:xfrm>
            <a:off x="3170428" y="7386277"/>
            <a:ext cx="1417470" cy="115672"/>
            <a:chOff x="1277321" y="6379072"/>
            <a:chExt cx="1417470" cy="115672"/>
          </a:xfrm>
        </p:grpSpPr>
        <p:cxnSp>
          <p:nvCxnSpPr>
            <p:cNvPr id="121" name="Google Shape;121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" name="Google Shape;122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" name="Google Shape;123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4" name="Google Shape;124;p13"/>
          <p:cNvGrpSpPr/>
          <p:nvPr/>
        </p:nvGrpSpPr>
        <p:grpSpPr>
          <a:xfrm>
            <a:off x="5052262" y="7386277"/>
            <a:ext cx="1417470" cy="115672"/>
            <a:chOff x="1277321" y="6379072"/>
            <a:chExt cx="1417470" cy="115672"/>
          </a:xfrm>
        </p:grpSpPr>
        <p:cxnSp>
          <p:nvCxnSpPr>
            <p:cNvPr id="125" name="Google Shape;125;p13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p13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4"/>
          <p:cNvGrpSpPr/>
          <p:nvPr/>
        </p:nvGrpSpPr>
        <p:grpSpPr>
          <a:xfrm>
            <a:off x="484857" y="2216974"/>
            <a:ext cx="1458579" cy="453115"/>
            <a:chOff x="389061" y="9002733"/>
            <a:chExt cx="1673691" cy="453115"/>
          </a:xfrm>
        </p:grpSpPr>
        <p:sp>
          <p:nvSpPr>
            <p:cNvPr id="133" name="Google Shape;133;p14"/>
            <p:cNvSpPr/>
            <p:nvPr/>
          </p:nvSpPr>
          <p:spPr>
            <a:xfrm>
              <a:off x="389061" y="9006547"/>
              <a:ext cx="483041" cy="28515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7.3</a:t>
              </a:r>
              <a:endParaRPr/>
            </a:p>
          </p:txBody>
        </p:sp>
        <p:cxnSp>
          <p:nvCxnSpPr>
            <p:cNvPr id="134" name="Google Shape;134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" name="Google Shape;138;p14"/>
            <p:cNvSpPr/>
            <p:nvPr/>
          </p:nvSpPr>
          <p:spPr>
            <a:xfrm>
              <a:off x="1571035" y="9002733"/>
              <a:ext cx="491717" cy="28973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7.4</a:t>
              </a:r>
              <a:endParaRPr/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2598206" y="2193077"/>
            <a:ext cx="1510111" cy="477012"/>
            <a:chOff x="356805" y="8978836"/>
            <a:chExt cx="1732827" cy="477012"/>
          </a:xfrm>
        </p:grpSpPr>
        <p:sp>
          <p:nvSpPr>
            <p:cNvPr id="140" name="Google Shape;140;p14"/>
            <p:cNvSpPr/>
            <p:nvPr/>
          </p:nvSpPr>
          <p:spPr>
            <a:xfrm>
              <a:off x="356805" y="8999451"/>
              <a:ext cx="556284" cy="29225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16.4</a:t>
              </a:r>
              <a:endParaRPr/>
            </a:p>
          </p:txBody>
        </p:sp>
        <p:cxnSp>
          <p:nvCxnSpPr>
            <p:cNvPr id="141" name="Google Shape;141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5" name="Google Shape;145;p14"/>
            <p:cNvSpPr/>
            <p:nvPr/>
          </p:nvSpPr>
          <p:spPr>
            <a:xfrm>
              <a:off x="1584444" y="8978836"/>
              <a:ext cx="505188" cy="309784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16.5</a:t>
              </a:r>
              <a:endParaRPr/>
            </a:p>
          </p:txBody>
        </p:sp>
      </p:grpSp>
      <p:grpSp>
        <p:nvGrpSpPr>
          <p:cNvPr id="146" name="Google Shape;146;p14"/>
          <p:cNvGrpSpPr/>
          <p:nvPr/>
        </p:nvGrpSpPr>
        <p:grpSpPr>
          <a:xfrm>
            <a:off x="4871056" y="2179076"/>
            <a:ext cx="1479872" cy="479265"/>
            <a:chOff x="373757" y="8976583"/>
            <a:chExt cx="1698123" cy="479265"/>
          </a:xfrm>
        </p:grpSpPr>
        <p:sp>
          <p:nvSpPr>
            <p:cNvPr id="147" name="Google Shape;147;p14"/>
            <p:cNvSpPr/>
            <p:nvPr/>
          </p:nvSpPr>
          <p:spPr>
            <a:xfrm>
              <a:off x="373757" y="8976583"/>
              <a:ext cx="497040" cy="31566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8.3</a:t>
              </a:r>
              <a:endParaRPr/>
            </a:p>
          </p:txBody>
        </p:sp>
        <p:cxnSp>
          <p:nvCxnSpPr>
            <p:cNvPr id="148" name="Google Shape;148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9" name="Google Shape;149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0" name="Google Shape;150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" name="Google Shape;151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2" name="Google Shape;152;p14"/>
            <p:cNvSpPr/>
            <p:nvPr/>
          </p:nvSpPr>
          <p:spPr>
            <a:xfrm>
              <a:off x="1574840" y="8978880"/>
              <a:ext cx="497040" cy="31566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8.4</a:t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>
            <a:off x="551228" y="3629053"/>
            <a:ext cx="1482224" cy="480250"/>
            <a:chOff x="401551" y="8975598"/>
            <a:chExt cx="1700825" cy="480250"/>
          </a:xfrm>
        </p:grpSpPr>
        <p:sp>
          <p:nvSpPr>
            <p:cNvPr id="154" name="Google Shape;154;p14"/>
            <p:cNvSpPr/>
            <p:nvPr/>
          </p:nvSpPr>
          <p:spPr>
            <a:xfrm>
              <a:off x="401551" y="8975598"/>
              <a:ext cx="531268" cy="31098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10.2</a:t>
              </a:r>
              <a:endParaRPr/>
            </a:p>
          </p:txBody>
        </p:sp>
        <p:cxnSp>
          <p:nvCxnSpPr>
            <p:cNvPr id="155" name="Google Shape;155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" name="Google Shape;156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9" name="Google Shape;159;p14"/>
            <p:cNvSpPr/>
            <p:nvPr/>
          </p:nvSpPr>
          <p:spPr>
            <a:xfrm>
              <a:off x="1557570" y="8978880"/>
              <a:ext cx="544806" cy="31566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10.3</a:t>
              </a:r>
              <a:endParaRPr/>
            </a:p>
          </p:txBody>
        </p:sp>
      </p:grpSp>
      <p:sp>
        <p:nvSpPr>
          <p:cNvPr id="160" name="Google Shape;160;p14"/>
          <p:cNvSpPr txBox="1"/>
          <p:nvPr/>
        </p:nvSpPr>
        <p:spPr>
          <a:xfrm>
            <a:off x="608088" y="5168293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9.8                   3.1                    5.2                 39.6                10.0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538794" y="5918235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93.3                 10.1                 0.8                 0.5                      62.9</a:t>
            </a:r>
            <a:endParaRPr/>
          </a:p>
        </p:txBody>
      </p:sp>
      <p:cxnSp>
        <p:nvCxnSpPr>
          <p:cNvPr id="162" name="Google Shape;162;p14"/>
          <p:cNvCxnSpPr/>
          <p:nvPr/>
        </p:nvCxnSpPr>
        <p:spPr>
          <a:xfrm rot="10800000">
            <a:off x="803369" y="2658341"/>
            <a:ext cx="0" cy="34670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" name="Google Shape;163;p14"/>
          <p:cNvCxnSpPr/>
          <p:nvPr/>
        </p:nvCxnSpPr>
        <p:spPr>
          <a:xfrm rot="10800000">
            <a:off x="3267187" y="2674383"/>
            <a:ext cx="0" cy="26649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" name="Google Shape;164;p14"/>
          <p:cNvCxnSpPr/>
          <p:nvPr/>
        </p:nvCxnSpPr>
        <p:spPr>
          <a:xfrm rot="10800000">
            <a:off x="5476333" y="2638573"/>
            <a:ext cx="0" cy="26649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" name="Google Shape;165;p14"/>
          <p:cNvCxnSpPr/>
          <p:nvPr/>
        </p:nvCxnSpPr>
        <p:spPr>
          <a:xfrm rot="10800000">
            <a:off x="1264037" y="4121618"/>
            <a:ext cx="0" cy="26649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6" name="Google Shape;166;p14"/>
          <p:cNvGrpSpPr/>
          <p:nvPr/>
        </p:nvGrpSpPr>
        <p:grpSpPr>
          <a:xfrm>
            <a:off x="398479" y="973373"/>
            <a:ext cx="1843369" cy="476967"/>
            <a:chOff x="373607" y="8978881"/>
            <a:chExt cx="1739168" cy="476967"/>
          </a:xfrm>
        </p:grpSpPr>
        <p:sp>
          <p:nvSpPr>
            <p:cNvPr id="167" name="Google Shape;167;p14"/>
            <p:cNvSpPr/>
            <p:nvPr/>
          </p:nvSpPr>
          <p:spPr>
            <a:xfrm>
              <a:off x="373607" y="9001354"/>
              <a:ext cx="466540" cy="31694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6.8</a:t>
              </a:r>
              <a:endParaRPr/>
            </a:p>
          </p:txBody>
        </p:sp>
        <p:cxnSp>
          <p:nvCxnSpPr>
            <p:cNvPr id="168" name="Google Shape;168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9" name="Google Shape;169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0" name="Google Shape;170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1" name="Google Shape;171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2" name="Google Shape;172;p14"/>
            <p:cNvSpPr/>
            <p:nvPr/>
          </p:nvSpPr>
          <p:spPr>
            <a:xfrm>
              <a:off x="1683090" y="8978881"/>
              <a:ext cx="429685" cy="3048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6.9</a:t>
              </a:r>
              <a:endParaRPr/>
            </a:p>
          </p:txBody>
        </p:sp>
        <p:cxnSp>
          <p:nvCxnSpPr>
            <p:cNvPr id="173" name="Google Shape;173;p14"/>
            <p:cNvCxnSpPr/>
            <p:nvPr/>
          </p:nvCxnSpPr>
          <p:spPr>
            <a:xfrm>
              <a:off x="1428265" y="9283680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4" name="Google Shape;174;p14"/>
            <p:cNvSpPr txBox="1"/>
            <p:nvPr/>
          </p:nvSpPr>
          <p:spPr>
            <a:xfrm>
              <a:off x="1184981" y="9035865"/>
              <a:ext cx="5049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6.87</a:t>
              </a:r>
              <a:endParaRPr/>
            </a:p>
          </p:txBody>
        </p:sp>
      </p:grpSp>
      <p:grpSp>
        <p:nvGrpSpPr>
          <p:cNvPr id="175" name="Google Shape;175;p14"/>
          <p:cNvGrpSpPr/>
          <p:nvPr/>
        </p:nvGrpSpPr>
        <p:grpSpPr>
          <a:xfrm>
            <a:off x="2599863" y="969394"/>
            <a:ext cx="1658274" cy="476967"/>
            <a:chOff x="400298" y="8978881"/>
            <a:chExt cx="1564534" cy="476967"/>
          </a:xfrm>
        </p:grpSpPr>
        <p:sp>
          <p:nvSpPr>
            <p:cNvPr id="176" name="Google Shape;176;p14"/>
            <p:cNvSpPr/>
            <p:nvPr/>
          </p:nvSpPr>
          <p:spPr>
            <a:xfrm>
              <a:off x="400298" y="8983548"/>
              <a:ext cx="353545" cy="31694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8.9</a:t>
              </a:r>
              <a:endParaRPr/>
            </a:p>
          </p:txBody>
        </p:sp>
        <p:cxnSp>
          <p:nvCxnSpPr>
            <p:cNvPr id="177" name="Google Shape;177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8" name="Google Shape;178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1" name="Google Shape;181;p14"/>
            <p:cNvSpPr/>
            <p:nvPr/>
          </p:nvSpPr>
          <p:spPr>
            <a:xfrm>
              <a:off x="1546181" y="8978881"/>
              <a:ext cx="407088" cy="29826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2" name="Google Shape;182;p14"/>
            <p:cNvCxnSpPr/>
            <p:nvPr/>
          </p:nvCxnSpPr>
          <p:spPr>
            <a:xfrm>
              <a:off x="1041817" y="9283680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3" name="Google Shape;183;p14"/>
            <p:cNvSpPr txBox="1"/>
            <p:nvPr/>
          </p:nvSpPr>
          <p:spPr>
            <a:xfrm>
              <a:off x="708121" y="9035865"/>
              <a:ext cx="59968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8.93</a:t>
              </a:r>
              <a:endParaRPr/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4761195" y="972364"/>
            <a:ext cx="1582165" cy="476968"/>
            <a:chOff x="472103" y="8978880"/>
            <a:chExt cx="1492729" cy="476968"/>
          </a:xfrm>
        </p:grpSpPr>
        <p:sp>
          <p:nvSpPr>
            <p:cNvPr id="185" name="Google Shape;185;p14"/>
            <p:cNvSpPr/>
            <p:nvPr/>
          </p:nvSpPr>
          <p:spPr>
            <a:xfrm>
              <a:off x="483665" y="8983549"/>
              <a:ext cx="407088" cy="31100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7.5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0" name="Google Shape;190;p14"/>
            <p:cNvSpPr/>
            <p:nvPr/>
          </p:nvSpPr>
          <p:spPr>
            <a:xfrm>
              <a:off x="1590150" y="8978880"/>
              <a:ext cx="363120" cy="33347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7.6</a:t>
              </a:r>
              <a:endParaRPr/>
            </a:p>
          </p:txBody>
        </p:sp>
        <p:cxnSp>
          <p:nvCxnSpPr>
            <p:cNvPr id="191" name="Google Shape;191;p14"/>
            <p:cNvCxnSpPr/>
            <p:nvPr/>
          </p:nvCxnSpPr>
          <p:spPr>
            <a:xfrm>
              <a:off x="1258945" y="9271201"/>
              <a:ext cx="0" cy="1647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2" name="Google Shape;192;p14"/>
            <p:cNvSpPr txBox="1"/>
            <p:nvPr/>
          </p:nvSpPr>
          <p:spPr>
            <a:xfrm>
              <a:off x="900495" y="9022083"/>
              <a:ext cx="6491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7.554</a:t>
              </a:r>
              <a:endParaRPr/>
            </a:p>
          </p:txBody>
        </p:sp>
      </p:grpSp>
      <p:graphicFrame>
        <p:nvGraphicFramePr>
          <p:cNvPr id="193" name="Google Shape;193;p14"/>
          <p:cNvGraphicFramePr/>
          <p:nvPr/>
        </p:nvGraphicFramePr>
        <p:xfrm>
          <a:off x="261066" y="574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2123100"/>
                <a:gridCol w="2123100"/>
                <a:gridCol w="2123100"/>
              </a:tblGrid>
              <a:tr h="127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7.31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16.48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8.342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10.25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10.251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10.98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14"/>
          <p:cNvSpPr txBox="1"/>
          <p:nvPr/>
        </p:nvSpPr>
        <p:spPr>
          <a:xfrm>
            <a:off x="5134029" y="946713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458487" y="665345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4933867" y="664159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3117790" y="664039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251232" y="6416297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 number line to identify the nearest numbers to 2 or 3 decimal places and round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261066" y="152400"/>
            <a:ext cx="103127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1267879" y="122977"/>
            <a:ext cx="55026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Identify the numbers with 1 decimal place above and below each number. , then round to the nearest 1 decimal place.</a:t>
            </a:r>
            <a:endParaRPr/>
          </a:p>
        </p:txBody>
      </p:sp>
      <p:graphicFrame>
        <p:nvGraphicFramePr>
          <p:cNvPr id="201" name="Google Shape;201;p14"/>
          <p:cNvGraphicFramePr/>
          <p:nvPr/>
        </p:nvGraphicFramePr>
        <p:xfrm>
          <a:off x="266307" y="49262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1273850"/>
                <a:gridCol w="1273850"/>
                <a:gridCol w="1273850"/>
                <a:gridCol w="1273850"/>
                <a:gridCol w="1273850"/>
              </a:tblGrid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9.77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3.14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5.191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39.555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9.99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93.2941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10.087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0.831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i) 0.54868696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 62.89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14"/>
          <p:cNvSpPr txBox="1"/>
          <p:nvPr/>
        </p:nvSpPr>
        <p:spPr>
          <a:xfrm>
            <a:off x="180994" y="4635017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 startAt="2"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 each number to 1 decimal place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14"/>
          <p:cNvGrpSpPr/>
          <p:nvPr/>
        </p:nvGrpSpPr>
        <p:grpSpPr>
          <a:xfrm>
            <a:off x="2543011" y="3590786"/>
            <a:ext cx="1886700" cy="621475"/>
            <a:chOff x="440606" y="8969587"/>
            <a:chExt cx="1589733" cy="486261"/>
          </a:xfrm>
        </p:grpSpPr>
        <p:sp>
          <p:nvSpPr>
            <p:cNvPr id="204" name="Google Shape;204;p14"/>
            <p:cNvSpPr/>
            <p:nvPr/>
          </p:nvSpPr>
          <p:spPr>
            <a:xfrm>
              <a:off x="440606" y="8974390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5" name="Google Shape;205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" name="Google Shape;206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9" name="Google Shape;209;p14"/>
            <p:cNvSpPr/>
            <p:nvPr/>
          </p:nvSpPr>
          <p:spPr>
            <a:xfrm>
              <a:off x="1654366" y="8969587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4654057" y="3573896"/>
            <a:ext cx="1886700" cy="621475"/>
            <a:chOff x="440606" y="8969587"/>
            <a:chExt cx="1589733" cy="486261"/>
          </a:xfrm>
        </p:grpSpPr>
        <p:sp>
          <p:nvSpPr>
            <p:cNvPr id="211" name="Google Shape;211;p14"/>
            <p:cNvSpPr/>
            <p:nvPr/>
          </p:nvSpPr>
          <p:spPr>
            <a:xfrm>
              <a:off x="440606" y="8974390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2" name="Google Shape;212;p14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4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14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14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6" name="Google Shape;216;p14"/>
            <p:cNvSpPr/>
            <p:nvPr/>
          </p:nvSpPr>
          <p:spPr>
            <a:xfrm>
              <a:off x="1654366" y="8969587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17" name="Google Shape;217;p14"/>
          <p:cNvGraphicFramePr/>
          <p:nvPr/>
        </p:nvGraphicFramePr>
        <p:xfrm>
          <a:off x="246294" y="6899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973900"/>
                <a:gridCol w="1797175"/>
                <a:gridCol w="1797175"/>
                <a:gridCol w="1797175"/>
              </a:tblGrid>
              <a:tr h="5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6.482 to 2 decimal places,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9.3205 to 2 decimal places,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35.647 to 2 decimal places,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1) Identify the dp above and the dp below.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Is it closer to the dp above or the dp below?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   6.48                           6.49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   9.32                           9.33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35.64                          35.65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6.4821 to 3 decimal places,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9.3205 to 3 decimal places,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35.6487 to 3 decimal places, by drawing a number line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   6.482                     6.483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   9.320                     9.321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35.648                   35.649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14"/>
          <p:cNvSpPr txBox="1"/>
          <p:nvPr/>
        </p:nvSpPr>
        <p:spPr>
          <a:xfrm>
            <a:off x="2490573" y="3588125"/>
            <a:ext cx="69675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3939492" y="3600010"/>
            <a:ext cx="13861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14"/>
          <p:cNvCxnSpPr/>
          <p:nvPr/>
        </p:nvCxnSpPr>
        <p:spPr>
          <a:xfrm rot="10800000">
            <a:off x="3523386" y="4204431"/>
            <a:ext cx="0" cy="26649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1" name="Google Shape;221;p14"/>
          <p:cNvCxnSpPr/>
          <p:nvPr/>
        </p:nvCxnSpPr>
        <p:spPr>
          <a:xfrm rot="10800000">
            <a:off x="5974341" y="4156908"/>
            <a:ext cx="0" cy="26649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2" name="Google Shape;222;p14"/>
          <p:cNvSpPr txBox="1"/>
          <p:nvPr/>
        </p:nvSpPr>
        <p:spPr>
          <a:xfrm>
            <a:off x="4599692" y="3616837"/>
            <a:ext cx="69675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6017393" y="3600010"/>
            <a:ext cx="13861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1092670" y="2940038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7.3                                          16.5                8.3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1615100" y="4329829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10.3                                    10.3                11.0</a:t>
            </a:r>
            <a:endParaRPr/>
          </a:p>
        </p:txBody>
      </p:sp>
      <p:grpSp>
        <p:nvGrpSpPr>
          <p:cNvPr id="226" name="Google Shape;226;p14"/>
          <p:cNvGrpSpPr/>
          <p:nvPr/>
        </p:nvGrpSpPr>
        <p:grpSpPr>
          <a:xfrm>
            <a:off x="1424988" y="7799870"/>
            <a:ext cx="1417470" cy="115672"/>
            <a:chOff x="1277321" y="6379072"/>
            <a:chExt cx="1417470" cy="115672"/>
          </a:xfrm>
        </p:grpSpPr>
        <p:cxnSp>
          <p:nvCxnSpPr>
            <p:cNvPr id="227" name="Google Shape;227;p14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14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14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0" name="Google Shape;230;p14"/>
          <p:cNvGrpSpPr/>
          <p:nvPr/>
        </p:nvGrpSpPr>
        <p:grpSpPr>
          <a:xfrm>
            <a:off x="3267187" y="7791848"/>
            <a:ext cx="1417470" cy="115672"/>
            <a:chOff x="1277321" y="6379072"/>
            <a:chExt cx="1417470" cy="115672"/>
          </a:xfrm>
        </p:grpSpPr>
        <p:cxnSp>
          <p:nvCxnSpPr>
            <p:cNvPr id="231" name="Google Shape;231;p14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14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14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4" name="Google Shape;234;p14"/>
          <p:cNvGrpSpPr/>
          <p:nvPr/>
        </p:nvGrpSpPr>
        <p:grpSpPr>
          <a:xfrm>
            <a:off x="5046834" y="7810212"/>
            <a:ext cx="1417470" cy="115672"/>
            <a:chOff x="1277321" y="6379072"/>
            <a:chExt cx="1417470" cy="115672"/>
          </a:xfrm>
        </p:grpSpPr>
        <p:cxnSp>
          <p:nvCxnSpPr>
            <p:cNvPr id="235" name="Google Shape;235;p14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14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14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8" name="Google Shape;238;p14"/>
          <p:cNvSpPr txBox="1"/>
          <p:nvPr/>
        </p:nvSpPr>
        <p:spPr>
          <a:xfrm>
            <a:off x="1800001" y="7864490"/>
            <a:ext cx="5785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6.48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3672353" y="7864490"/>
            <a:ext cx="5785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5373105" y="7898346"/>
            <a:ext cx="5785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35.65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14"/>
          <p:cNvGrpSpPr/>
          <p:nvPr/>
        </p:nvGrpSpPr>
        <p:grpSpPr>
          <a:xfrm>
            <a:off x="1377477" y="9119657"/>
            <a:ext cx="1417470" cy="115672"/>
            <a:chOff x="1277321" y="6379072"/>
            <a:chExt cx="1417470" cy="115672"/>
          </a:xfrm>
        </p:grpSpPr>
        <p:cxnSp>
          <p:nvCxnSpPr>
            <p:cNvPr id="242" name="Google Shape;242;p14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14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" name="Google Shape;244;p14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5" name="Google Shape;245;p14"/>
          <p:cNvGrpSpPr/>
          <p:nvPr/>
        </p:nvGrpSpPr>
        <p:grpSpPr>
          <a:xfrm>
            <a:off x="3219676" y="9111635"/>
            <a:ext cx="1417470" cy="115672"/>
            <a:chOff x="1277321" y="6379072"/>
            <a:chExt cx="1417470" cy="115672"/>
          </a:xfrm>
        </p:grpSpPr>
        <p:cxnSp>
          <p:nvCxnSpPr>
            <p:cNvPr id="246" name="Google Shape;246;p14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" name="Google Shape;247;p14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" name="Google Shape;248;p14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49" name="Google Shape;249;p14"/>
          <p:cNvGrpSpPr/>
          <p:nvPr/>
        </p:nvGrpSpPr>
        <p:grpSpPr>
          <a:xfrm>
            <a:off x="4999323" y="9129999"/>
            <a:ext cx="1417470" cy="115672"/>
            <a:chOff x="1277321" y="6379072"/>
            <a:chExt cx="1417470" cy="115672"/>
          </a:xfrm>
        </p:grpSpPr>
        <p:cxnSp>
          <p:nvCxnSpPr>
            <p:cNvPr id="250" name="Google Shape;250;p14"/>
            <p:cNvCxnSpPr/>
            <p:nvPr/>
          </p:nvCxnSpPr>
          <p:spPr>
            <a:xfrm>
              <a:off x="1277321" y="6459282"/>
              <a:ext cx="141747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1" name="Google Shape;251;p14"/>
            <p:cNvCxnSpPr/>
            <p:nvPr/>
          </p:nvCxnSpPr>
          <p:spPr>
            <a:xfrm>
              <a:off x="1372404" y="6379072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" name="Google Shape;252;p14"/>
            <p:cNvCxnSpPr/>
            <p:nvPr/>
          </p:nvCxnSpPr>
          <p:spPr>
            <a:xfrm>
              <a:off x="2599625" y="6387094"/>
              <a:ext cx="0" cy="10765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53" name="Google Shape;253;p14"/>
          <p:cNvSpPr txBox="1"/>
          <p:nvPr/>
        </p:nvSpPr>
        <p:spPr>
          <a:xfrm>
            <a:off x="1739665" y="9260189"/>
            <a:ext cx="5785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6.482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5333506" y="9221826"/>
            <a:ext cx="5785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35.649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3623929" y="9235974"/>
            <a:ext cx="11372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9.321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/>
        </p:nvSpPr>
        <p:spPr>
          <a:xfrm>
            <a:off x="557889" y="4860011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3.49                 2.61                 1.98                 10.05            8.16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548665" y="5625282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19.37              3.14                 6.07                4.26            93.46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737965" y="6510339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0.035                 6.757                    4.225                     1.758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776703" y="7191337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40.485               128.019                 0.506                    384.456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326409" y="1390424"/>
            <a:ext cx="59691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5.12                                7.87                               0.44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16.01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5158179" y="943359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6" name="Google Shape;266;p15"/>
          <p:cNvGraphicFramePr/>
          <p:nvPr/>
        </p:nvGraphicFramePr>
        <p:xfrm>
          <a:off x="256243" y="81619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2073300"/>
                <a:gridCol w="1432000"/>
                <a:gridCol w="1432000"/>
                <a:gridCol w="1432000"/>
              </a:tblGrid>
              <a:tr h="29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7.4754 to 3 decimal places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7.4754 to 2 decimal places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Round 7.4754 to 1 decimal place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Identify the digit to the right of the decimal place you want to round to. If it is 5 or above, round up. If it is below 5, keep it the same.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>
                          <a:solidFill>
                            <a:srgbClr val="FF0000"/>
                          </a:solidFill>
                        </a:rPr>
                        <a:t>7.475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>
                          <a:solidFill>
                            <a:srgbClr val="FF0000"/>
                          </a:solidFill>
                        </a:rPr>
                        <a:t>7.48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>
                          <a:solidFill>
                            <a:srgbClr val="FF0000"/>
                          </a:solidFill>
                        </a:rPr>
                        <a:t>7.5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15"/>
          <p:cNvSpPr txBox="1"/>
          <p:nvPr/>
        </p:nvSpPr>
        <p:spPr>
          <a:xfrm>
            <a:off x="2410438" y="791495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5179950" y="79195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3722557" y="791103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261066" y="7699873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Round to a given accuracy without a number line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15"/>
          <p:cNvGraphicFramePr/>
          <p:nvPr/>
        </p:nvGraphicFramePr>
        <p:xfrm>
          <a:off x="261066" y="5840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2123100"/>
                <a:gridCol w="2123100"/>
                <a:gridCol w="2123100"/>
              </a:tblGrid>
              <a:tr h="119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5.1234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0.3562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70.9545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9.30872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9.30972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15"/>
          <p:cNvSpPr/>
          <p:nvPr/>
        </p:nvSpPr>
        <p:spPr>
          <a:xfrm>
            <a:off x="261066" y="120307"/>
            <a:ext cx="1031274" cy="42301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1292340" y="92112"/>
            <a:ext cx="55026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For a) to d), identify the numbers with 2 decimal places above and below each number, then round to the nearest 2dp. For e) to i), do the same but for 3dp.</a:t>
            </a:r>
            <a:endParaRPr/>
          </a:p>
        </p:txBody>
      </p:sp>
      <p:grpSp>
        <p:nvGrpSpPr>
          <p:cNvPr id="274" name="Google Shape;274;p15"/>
          <p:cNvGrpSpPr/>
          <p:nvPr/>
        </p:nvGrpSpPr>
        <p:grpSpPr>
          <a:xfrm>
            <a:off x="2521114" y="2040059"/>
            <a:ext cx="1886700" cy="621475"/>
            <a:chOff x="440606" y="8969587"/>
            <a:chExt cx="1589733" cy="486261"/>
          </a:xfrm>
        </p:grpSpPr>
        <p:sp>
          <p:nvSpPr>
            <p:cNvPr id="275" name="Google Shape;275;p15"/>
            <p:cNvSpPr/>
            <p:nvPr/>
          </p:nvSpPr>
          <p:spPr>
            <a:xfrm>
              <a:off x="440606" y="8974390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6" name="Google Shape;276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" name="Google Shape;277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8" name="Google Shape;278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9" name="Google Shape;279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0" name="Google Shape;280;p15"/>
            <p:cNvSpPr/>
            <p:nvPr/>
          </p:nvSpPr>
          <p:spPr>
            <a:xfrm>
              <a:off x="1654366" y="8969587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5"/>
          <p:cNvGrpSpPr/>
          <p:nvPr/>
        </p:nvGrpSpPr>
        <p:grpSpPr>
          <a:xfrm>
            <a:off x="4657805" y="2034669"/>
            <a:ext cx="1886700" cy="621475"/>
            <a:chOff x="440606" y="8969587"/>
            <a:chExt cx="1589733" cy="486261"/>
          </a:xfrm>
        </p:grpSpPr>
        <p:sp>
          <p:nvSpPr>
            <p:cNvPr id="282" name="Google Shape;282;p15"/>
            <p:cNvSpPr/>
            <p:nvPr/>
          </p:nvSpPr>
          <p:spPr>
            <a:xfrm>
              <a:off x="440606" y="8974390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3" name="Google Shape;283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4" name="Google Shape;284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5" name="Google Shape;285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" name="Google Shape;286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7" name="Google Shape;287;p15"/>
            <p:cNvSpPr/>
            <p:nvPr/>
          </p:nvSpPr>
          <p:spPr>
            <a:xfrm>
              <a:off x="1654366" y="8969587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5"/>
          <p:cNvGrpSpPr/>
          <p:nvPr/>
        </p:nvGrpSpPr>
        <p:grpSpPr>
          <a:xfrm>
            <a:off x="380360" y="3316346"/>
            <a:ext cx="1886700" cy="621475"/>
            <a:chOff x="440606" y="8969587"/>
            <a:chExt cx="1589733" cy="486261"/>
          </a:xfrm>
        </p:grpSpPr>
        <p:sp>
          <p:nvSpPr>
            <p:cNvPr id="289" name="Google Shape;289;p15"/>
            <p:cNvSpPr/>
            <p:nvPr/>
          </p:nvSpPr>
          <p:spPr>
            <a:xfrm>
              <a:off x="440606" y="8974390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0" name="Google Shape;290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2" name="Google Shape;292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3" name="Google Shape;293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4" name="Google Shape;294;p15"/>
            <p:cNvSpPr/>
            <p:nvPr/>
          </p:nvSpPr>
          <p:spPr>
            <a:xfrm>
              <a:off x="1654366" y="8969587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15"/>
          <p:cNvGrpSpPr/>
          <p:nvPr/>
        </p:nvGrpSpPr>
        <p:grpSpPr>
          <a:xfrm>
            <a:off x="2518243" y="3316346"/>
            <a:ext cx="1886700" cy="621475"/>
            <a:chOff x="440606" y="8969587"/>
            <a:chExt cx="1589733" cy="486261"/>
          </a:xfrm>
        </p:grpSpPr>
        <p:sp>
          <p:nvSpPr>
            <p:cNvPr id="296" name="Google Shape;296;p15"/>
            <p:cNvSpPr/>
            <p:nvPr/>
          </p:nvSpPr>
          <p:spPr>
            <a:xfrm>
              <a:off x="440606" y="8974390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7" name="Google Shape;297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" name="Google Shape;298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9" name="Google Shape;299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0" name="Google Shape;300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1" name="Google Shape;301;p15"/>
            <p:cNvSpPr/>
            <p:nvPr/>
          </p:nvSpPr>
          <p:spPr>
            <a:xfrm>
              <a:off x="1654366" y="8969587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5"/>
          <p:cNvGrpSpPr/>
          <p:nvPr/>
        </p:nvGrpSpPr>
        <p:grpSpPr>
          <a:xfrm>
            <a:off x="4654607" y="3316346"/>
            <a:ext cx="1886700" cy="621475"/>
            <a:chOff x="440606" y="8969587"/>
            <a:chExt cx="1589733" cy="486261"/>
          </a:xfrm>
        </p:grpSpPr>
        <p:sp>
          <p:nvSpPr>
            <p:cNvPr id="303" name="Google Shape;303;p15"/>
            <p:cNvSpPr/>
            <p:nvPr/>
          </p:nvSpPr>
          <p:spPr>
            <a:xfrm>
              <a:off x="440606" y="8974390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4" name="Google Shape;304;p15"/>
            <p:cNvCxnSpPr/>
            <p:nvPr/>
          </p:nvCxnSpPr>
          <p:spPr>
            <a:xfrm>
              <a:off x="472103" y="9448456"/>
              <a:ext cx="1492729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5" name="Google Shape;305;p15"/>
            <p:cNvCxnSpPr/>
            <p:nvPr/>
          </p:nvCxnSpPr>
          <p:spPr>
            <a:xfrm>
              <a:off x="618754" y="9294552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6" name="Google Shape;306;p15"/>
            <p:cNvCxnSpPr/>
            <p:nvPr/>
          </p:nvCxnSpPr>
          <p:spPr>
            <a:xfrm>
              <a:off x="1821592" y="9296056"/>
              <a:ext cx="0" cy="15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15"/>
            <p:cNvCxnSpPr/>
            <p:nvPr/>
          </p:nvCxnSpPr>
          <p:spPr>
            <a:xfrm>
              <a:off x="1218467" y="9347848"/>
              <a:ext cx="0" cy="108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8" name="Google Shape;308;p15"/>
            <p:cNvSpPr/>
            <p:nvPr/>
          </p:nvSpPr>
          <p:spPr>
            <a:xfrm>
              <a:off x="1654366" y="8969587"/>
              <a:ext cx="375973" cy="31282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9" name="Google Shape;309;p15"/>
          <p:cNvPicPr preferRelativeResize="0"/>
          <p:nvPr/>
        </p:nvPicPr>
        <p:blipFill rotWithShape="1">
          <a:blip r:embed="rId3">
            <a:alphaModFix/>
          </a:blip>
          <a:srcRect b="0" l="77938" r="0" t="31536"/>
          <a:stretch/>
        </p:blipFill>
        <p:spPr>
          <a:xfrm>
            <a:off x="464664" y="1842550"/>
            <a:ext cx="1686033" cy="932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5"/>
          <p:cNvPicPr preferRelativeResize="0"/>
          <p:nvPr/>
        </p:nvPicPr>
        <p:blipFill rotWithShape="1">
          <a:blip r:embed="rId3">
            <a:alphaModFix/>
          </a:blip>
          <a:srcRect b="474" l="52895" r="22507" t="28632"/>
          <a:stretch/>
        </p:blipFill>
        <p:spPr>
          <a:xfrm>
            <a:off x="4810563" y="594485"/>
            <a:ext cx="1647767" cy="84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5"/>
          <p:cNvPicPr preferRelativeResize="0"/>
          <p:nvPr/>
        </p:nvPicPr>
        <p:blipFill rotWithShape="1">
          <a:blip r:embed="rId3">
            <a:alphaModFix/>
          </a:blip>
          <a:srcRect b="2705" l="27403" r="48905" t="30885"/>
          <a:stretch/>
        </p:blipFill>
        <p:spPr>
          <a:xfrm>
            <a:off x="2761431" y="660482"/>
            <a:ext cx="1562101" cy="780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5"/>
          <p:cNvPicPr preferRelativeResize="0"/>
          <p:nvPr/>
        </p:nvPicPr>
        <p:blipFill rotWithShape="1">
          <a:blip r:embed="rId3">
            <a:alphaModFix/>
          </a:blip>
          <a:srcRect b="0" l="0" r="74997" t="33590"/>
          <a:stretch/>
        </p:blipFill>
        <p:spPr>
          <a:xfrm>
            <a:off x="478892" y="644506"/>
            <a:ext cx="1790009" cy="8472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3" name="Google Shape;313;p15"/>
          <p:cNvGraphicFramePr/>
          <p:nvPr/>
        </p:nvGraphicFramePr>
        <p:xfrm>
          <a:off x="261067" y="46515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1273850"/>
                <a:gridCol w="1273850"/>
                <a:gridCol w="1273850"/>
                <a:gridCol w="1273850"/>
                <a:gridCol w="1273850"/>
              </a:tblGrid>
              <a:tr h="6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3.487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2.613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1.984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10.046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8.155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19.367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3.141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6.0698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i) 4.26317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 93.46197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" name="Google Shape;314;p15"/>
          <p:cNvSpPr txBox="1"/>
          <p:nvPr/>
        </p:nvSpPr>
        <p:spPr>
          <a:xfrm>
            <a:off x="175754" y="4360335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Round each number to 2 decimal places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" name="Google Shape;315;p15"/>
          <p:cNvGraphicFramePr/>
          <p:nvPr/>
        </p:nvGraphicFramePr>
        <p:xfrm>
          <a:off x="271953" y="62731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1592325"/>
                <a:gridCol w="1592325"/>
                <a:gridCol w="1592325"/>
                <a:gridCol w="1592325"/>
              </a:tblGrid>
              <a:tr h="6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0.0346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6.7568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4.2251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1.7583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40.48546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128.01891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0.5059802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h) 384.456094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15"/>
          <p:cNvSpPr txBox="1"/>
          <p:nvPr/>
        </p:nvSpPr>
        <p:spPr>
          <a:xfrm>
            <a:off x="178301" y="6002123"/>
            <a:ext cx="68808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Round each number to 2 decimal places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2389772" y="2062488"/>
            <a:ext cx="7223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5.123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3821142" y="2032202"/>
            <a:ext cx="85039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5.124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4581765" y="2080216"/>
            <a:ext cx="986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0.356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5953653" y="2077472"/>
            <a:ext cx="109194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0.357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335131" y="3313805"/>
            <a:ext cx="12131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70.954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-380601" y="3342272"/>
            <a:ext cx="47041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70.955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2412699" y="3373356"/>
            <a:ext cx="855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9.308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3821142" y="3355467"/>
            <a:ext cx="8331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9.309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3268287" y="2688787"/>
            <a:ext cx="12131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5.123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 txBox="1"/>
          <p:nvPr/>
        </p:nvSpPr>
        <p:spPr>
          <a:xfrm>
            <a:off x="5292023" y="2734552"/>
            <a:ext cx="12131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0.356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853934" y="4012293"/>
            <a:ext cx="12405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70.955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3091830" y="4015575"/>
            <a:ext cx="12405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9.309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581765" y="3342683"/>
            <a:ext cx="855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9.309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5990208" y="3324794"/>
            <a:ext cx="8331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5179950" y="3992119"/>
            <a:ext cx="23525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861" y="7200150"/>
            <a:ext cx="6159795" cy="260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 txBox="1"/>
          <p:nvPr/>
        </p:nvSpPr>
        <p:spPr>
          <a:xfrm>
            <a:off x="841460" y="7432269"/>
            <a:ext cx="5852438" cy="2723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66.14               66.144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9.7                                           9.697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761.863                                                     e.g. 761.863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8.5991       8.6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5.69                  5.690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0.0836                                                         e.g. 0.084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638.4471      e.g. 638.4                               e.g. 638.447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7.8142	                                                     e.g. 7.814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-1744624" y="1150705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" name="Google Shape;340;p16"/>
          <p:cNvGraphicFramePr/>
          <p:nvPr/>
        </p:nvGraphicFramePr>
        <p:xfrm>
          <a:off x="164102" y="2939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1142175"/>
                <a:gridCol w="1796150"/>
                <a:gridCol w="1796150"/>
                <a:gridCol w="1796150"/>
              </a:tblGrid>
              <a:tr h="17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1 decimal place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2 decimal places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Rounded to 3 decimal places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78.2079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78.2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78.21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78.108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5.3254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5.33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5.325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0.38294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0.383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10.0359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10.0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10.04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10.036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40.6666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40.7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40.67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40.667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9.99999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10.0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10.00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10.000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16"/>
          <p:cNvSpPr txBox="1"/>
          <p:nvPr/>
        </p:nvSpPr>
        <p:spPr>
          <a:xfrm>
            <a:off x="5150848" y="934086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53217" y="9699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1280285" y="211905"/>
            <a:ext cx="71096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Round each number to the required degree of accuracy.</a:t>
            </a:r>
            <a:endParaRPr/>
          </a:p>
        </p:txBody>
      </p:sp>
      <p:graphicFrame>
        <p:nvGraphicFramePr>
          <p:cNvPr id="344" name="Google Shape;344;p16"/>
          <p:cNvGraphicFramePr/>
          <p:nvPr/>
        </p:nvGraphicFramePr>
        <p:xfrm>
          <a:off x="164102" y="5624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1251050"/>
                <a:gridCol w="1759575"/>
                <a:gridCol w="1759575"/>
                <a:gridCol w="1759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Original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Rounds to 1.5 to 1 dp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Rounds to 1.47 to 2 dp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Rounds to 1.465 to 3 dp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1.468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1.4653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1.4649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35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5" name="Google Shape;345;p16"/>
          <p:cNvGraphicFramePr/>
          <p:nvPr/>
        </p:nvGraphicFramePr>
        <p:xfrm>
          <a:off x="164102" y="4716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{C21D5EA4-DCDA-4472-BBA6-16A842F65514}</a:tableStyleId>
              </a:tblPr>
              <a:tblGrid>
                <a:gridCol w="1632650"/>
                <a:gridCol w="1632650"/>
                <a:gridCol w="1632650"/>
                <a:gridCol w="1632650"/>
              </a:tblGrid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3.47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0.11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9.84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12.75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7.546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10.8691 (2dp)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9.3862 (3dp)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7.3093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0.0064 (3dp)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95.02 (1dp)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32.9745 (2dp)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0.4795 (3dp)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16"/>
          <p:cNvSpPr txBox="1"/>
          <p:nvPr/>
        </p:nvSpPr>
        <p:spPr>
          <a:xfrm>
            <a:off x="99713" y="2696584"/>
            <a:ext cx="71096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Round each of the numbers below to the given accuracy.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99712" y="6916456"/>
            <a:ext cx="71096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Complete the table. There are some boxes with more than one correct option.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99712" y="5193592"/>
            <a:ext cx="68372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8. A number rounds to 1.5 (1 decimal place), 1.47 (2 decimal places) and 1.465 (3 decimal places).</a:t>
            </a:r>
            <a:b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Fill in the table with ticks and crosses to show which of these numbers satisfy these conditions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349861" y="732070"/>
            <a:ext cx="59691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3.5                                0.1                        9.8                    12.8</a:t>
            </a:r>
            <a:endParaRPr/>
          </a:p>
        </p:txBody>
      </p:sp>
      <p:sp>
        <p:nvSpPr>
          <p:cNvPr id="350" name="Google Shape;350;p16"/>
          <p:cNvSpPr txBox="1"/>
          <p:nvPr/>
        </p:nvSpPr>
        <p:spPr>
          <a:xfrm>
            <a:off x="581558" y="1497204"/>
            <a:ext cx="14192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2152649" y="1423283"/>
            <a:ext cx="923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10.87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 txBox="1"/>
          <p:nvPr/>
        </p:nvSpPr>
        <p:spPr>
          <a:xfrm>
            <a:off x="3854038" y="1432324"/>
            <a:ext cx="923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9.386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 txBox="1"/>
          <p:nvPr/>
        </p:nvSpPr>
        <p:spPr>
          <a:xfrm>
            <a:off x="5555427" y="1460414"/>
            <a:ext cx="695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 txBox="1"/>
          <p:nvPr/>
        </p:nvSpPr>
        <p:spPr>
          <a:xfrm>
            <a:off x="631879" y="2170385"/>
            <a:ext cx="1296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2152649" y="2214984"/>
            <a:ext cx="923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3739103" y="2194930"/>
            <a:ext cx="1609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32.97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5402943" y="2156961"/>
            <a:ext cx="103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0.480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80277" y="6211171"/>
            <a:ext cx="751415" cy="29749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