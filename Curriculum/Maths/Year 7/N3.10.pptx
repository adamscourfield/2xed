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EAFEFE-D71E-4D57-A42C-64F9F39571C5}">
  <a:tblStyle styleId="{B7EAFEFE-D71E-4D57-A42C-64F9F39571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6D4EBCD-BBD9-4B72-AB08-3AF2A5CBFB4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8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9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0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1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2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3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25887" y="55636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1220950"/>
                <a:gridCol w="1800625"/>
                <a:gridCol w="1800625"/>
                <a:gridCol w="1800625"/>
              </a:tblGrid>
              <a:tr h="50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first five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first  five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first five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07500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times table of the number.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first five numbers in the times table of the number.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 x 12 = 12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 x 12 = 24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3 x 12 = 36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4 x 12 = 48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5 x 12 = 60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 x 7 = 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 x 7 = 14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 x 7 = 21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 x 7 = 28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 x 7 = 35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 x 4 = 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2 x 4 = 8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3 x 4 = 12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4 x 4 = 16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5 x 4 = 20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44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FF0000"/>
                          </a:solidFill>
                        </a:rPr>
                        <a:t>12, 24, 36, 48, 60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7, 14, 21, 28, 35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400">
                          <a:solidFill>
                            <a:srgbClr val="FF0000"/>
                          </a:solidFill>
                        </a:rPr>
                        <a:t>4, 8, 12, 16, 20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627187" y="528680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23775" y="527856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109272" y="327064"/>
            <a:ext cx="6679742" cy="1219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N3.10 – Multiples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22412" y="668192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34526" y="900338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the multiple of any given integer.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the multiples of a given integer in a list of numbers.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identify common multiples of two or more numbers.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85847" y="358228"/>
            <a:ext cx="5080430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 To understand and be able to list multiples of a number.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335820" y="370118"/>
            <a:ext cx="1399768" cy="101566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 number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 factor</a:t>
            </a:r>
            <a:endParaRPr/>
          </a:p>
        </p:txBody>
      </p:sp>
      <p:cxnSp>
        <p:nvCxnSpPr>
          <p:cNvPr id="98" name="Google Shape;98;p13"/>
          <p:cNvCxnSpPr/>
          <p:nvPr/>
        </p:nvCxnSpPr>
        <p:spPr>
          <a:xfrm flipH="1" rot="10800000">
            <a:off x="949702" y="4620080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3"/>
          <p:cNvSpPr/>
          <p:nvPr/>
        </p:nvSpPr>
        <p:spPr>
          <a:xfrm>
            <a:off x="103691" y="2689484"/>
            <a:ext cx="6681955" cy="226802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3"/>
          <p:cNvCxnSpPr/>
          <p:nvPr/>
        </p:nvCxnSpPr>
        <p:spPr>
          <a:xfrm>
            <a:off x="95021" y="3814676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" name="Google Shape;101;p13"/>
          <p:cNvCxnSpPr>
            <a:stCxn id="99" idx="2"/>
            <a:endCxn id="99" idx="0"/>
          </p:cNvCxnSpPr>
          <p:nvPr/>
        </p:nvCxnSpPr>
        <p:spPr>
          <a:xfrm rot="10800000">
            <a:off x="3444668" y="2689505"/>
            <a:ext cx="0" cy="226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2" name="Google Shape;102;p13"/>
          <p:cNvSpPr txBox="1"/>
          <p:nvPr/>
        </p:nvSpPr>
        <p:spPr>
          <a:xfrm>
            <a:off x="112776" y="2689484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737986" y="2669408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9767" y="3810484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677329" y="3833479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120275" y="2893093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multiple is the result of multiplying a positive integer by another positive integer.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3451957" y="2865903"/>
            <a:ext cx="32303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given as a list by multiplying the same number by 1, 2, 3, 4 etc. in turn.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always be greater than or equal to the starting number.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52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2878568" y="3626996"/>
            <a:ext cx="1066318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3348277" y="528547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23292" y="5059311"/>
            <a:ext cx="2601917" cy="22050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Listing multiples</a:t>
            </a:r>
            <a:endParaRPr/>
          </a:p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5265441" y="941846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120274" y="4011344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Multiples of 6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1 x 6= 12, 2 x 6 = 12, 3 x 6 = 18, 4 x 6 = 24 etc.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103691" y="4495840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Multiples of 19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1 x 19 = 19, 2 x 19 = 38, 3 x 19 = 57 etc.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3504142" y="4041492"/>
            <a:ext cx="32303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is not a multiple of 6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is not a multiple of 4 or 6 or 8 etc.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is not a multiple of any number except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05904" y="1589789"/>
            <a:ext cx="6679742" cy="103518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 far, you’ve been using multiplication to solve problems. Now, you’re going to learn about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multiples, which are the numbers you get when you count in times tables. For example, the multiples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4 are 4, 8, 12, 16, and so on. Understanding multiples will also help you later when you learn how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the lowest common multiple (LCM) of two or more numbers.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5219655" y="918940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9121" y="544165"/>
            <a:ext cx="422115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Write down the first five multiples of the following numbers: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2" name="Google Shape;122;p14"/>
          <p:cNvGraphicFramePr/>
          <p:nvPr/>
        </p:nvGraphicFramePr>
        <p:xfrm>
          <a:off x="123849" y="8712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2203425"/>
                <a:gridCol w="2203425"/>
                <a:gridCol w="2203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5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c) 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d) 9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20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g) 50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h) 35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i) 100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j)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k) 15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l) 25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m) 24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n) 22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o) 62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p) 74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q) 105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r) 98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18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s) 123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t) 321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u) 642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23" name="Google Shape;123;p14"/>
          <p:cNvSpPr/>
          <p:nvPr/>
        </p:nvSpPr>
        <p:spPr>
          <a:xfrm>
            <a:off x="123849" y="129845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421669" y="2525211"/>
            <a:ext cx="1686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9, 18, 27, 36, 45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2630009" y="2525211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11, 22, 33, 44, 55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4756063" y="2525211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20, 40, 60, 80, 100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25915" y="3692856"/>
            <a:ext cx="2271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50, 100, 150, 200, 250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2397691" y="3675757"/>
            <a:ext cx="21547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35, 70, 105, 140, 175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4448904" y="3675757"/>
            <a:ext cx="23887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100, 200, 300, 400, 500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50434" y="4845657"/>
            <a:ext cx="12186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1, 2, 3, 4, 5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2527150" y="4855718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15, 30, 45, 60, 75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4637573" y="4855718"/>
            <a:ext cx="20377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25, 50, 75, 100, 125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215985" y="6066198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24, 48, 72, 96, 120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2397691" y="6037599"/>
            <a:ext cx="1920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22, 44, 66, 88, 110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4448904" y="6037599"/>
            <a:ext cx="2271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62, 124, 186, 248, 310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100609" y="7229060"/>
            <a:ext cx="2271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74, 148, 222, 296, 370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477536" y="7229060"/>
            <a:ext cx="19848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105, 210, 315, 420,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525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4507413" y="7239121"/>
            <a:ext cx="227177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98, 196, 294, 392, 490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244077" y="8379299"/>
            <a:ext cx="19848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123, 246, 369, 492,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615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2405556" y="8379299"/>
            <a:ext cx="21018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321, 642, 963, 1284,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1605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4507413" y="8363879"/>
            <a:ext cx="23887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642, 1284, 1926, 2568,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3210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421669" y="1297417"/>
            <a:ext cx="16866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5, 10, 15, 20, 25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2630009" y="1297417"/>
            <a:ext cx="14526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3, 6, 9, 12, 15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4756063" y="1297417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10, 20, 30, 40, 50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9" name="Google Shape;149;p15"/>
          <p:cNvGraphicFramePr/>
          <p:nvPr/>
        </p:nvGraphicFramePr>
        <p:xfrm>
          <a:off x="146999" y="38908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2203425"/>
                <a:gridCol w="2203425"/>
                <a:gridCol w="2203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c) 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d) 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10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0" name="Google Shape;150;p15"/>
          <p:cNvSpPr txBox="1"/>
          <p:nvPr/>
        </p:nvSpPr>
        <p:spPr>
          <a:xfrm>
            <a:off x="109993" y="3599781"/>
            <a:ext cx="5881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List all the numbers between 40 and 60 (inclusive) that are multiples of: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15"/>
          <p:cNvGraphicFramePr/>
          <p:nvPr/>
        </p:nvGraphicFramePr>
        <p:xfrm>
          <a:off x="123849" y="5653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1196825"/>
                <a:gridCol w="1804500"/>
                <a:gridCol w="1804500"/>
                <a:gridCol w="1804500"/>
              </a:tblGrid>
              <a:tr h="760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List all the numbers between 20 and 50 (inclusive) that are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List all the numbers between 20 and 50 (inclusive) that are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 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List all the numbers between 20 and 50 (inclusive) that are </a:t>
                      </a: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multiples of 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2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1) Consider the times table of the number.</a:t>
                      </a:r>
                      <a:br>
                        <a:rPr lang="en-GB" sz="1200">
                          <a:solidFill>
                            <a:schemeClr val="dk1"/>
                          </a:solidFill>
                        </a:rPr>
                      </a:b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2) </a:t>
                      </a: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all the multiples within the specified range.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5"/>
          <p:cNvSpPr txBox="1"/>
          <p:nvPr/>
        </p:nvSpPr>
        <p:spPr>
          <a:xfrm>
            <a:off x="1576331" y="318126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4- I do…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324254" y="3157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151306" y="315735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146999" y="61267"/>
            <a:ext cx="3441153" cy="25446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Identifying multiples that fit specific conditions</a:t>
            </a:r>
            <a:endParaRPr/>
          </a:p>
        </p:txBody>
      </p:sp>
      <p:graphicFrame>
        <p:nvGraphicFramePr>
          <p:cNvPr id="156" name="Google Shape;156;p15"/>
          <p:cNvGraphicFramePr/>
          <p:nvPr/>
        </p:nvGraphicFramePr>
        <p:xfrm>
          <a:off x="146999" y="6941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2203425"/>
                <a:gridCol w="2203425"/>
                <a:gridCol w="22034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a) 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b) 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c) 9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d) 11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e) 18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f) 37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7" name="Google Shape;157;p15"/>
          <p:cNvSpPr txBox="1"/>
          <p:nvPr/>
        </p:nvSpPr>
        <p:spPr>
          <a:xfrm>
            <a:off x="46495" y="6659640"/>
            <a:ext cx="5881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List all the numbers between 15 and 35 (inclusive) that are multiples of: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>
            <p:ph idx="12" type="sldNum"/>
          </p:nvPr>
        </p:nvSpPr>
        <p:spPr>
          <a:xfrm>
            <a:off x="5314950" y="951016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123849" y="3184557"/>
            <a:ext cx="1123060" cy="382441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316376" y="1752973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21, 28, 35, 42, 49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943814" y="1752973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24, 30, 36, 42, 48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3120075" y="1738922"/>
            <a:ext cx="186301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20, 25, 30, 35, 40,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45, 50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11746" y="4258834"/>
            <a:ext cx="220925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40, 42, 44, 46, 48, 50,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52, 54, 56, 58, 60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520917" y="4258834"/>
            <a:ext cx="18710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42, 45, 48, 51, 54,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57, 60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584203" y="4275006"/>
            <a:ext cx="2149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40, 44, 48, 52, 56, 60</a:t>
            </a: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345059" y="5633684"/>
            <a:ext cx="18036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40, 45, 50, 55, 60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2987034" y="5645306"/>
            <a:ext cx="1111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40, 48, 56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5165051" y="5663357"/>
            <a:ext cx="1111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40, 50, 60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677562" y="7401263"/>
            <a:ext cx="1111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18, 24, 30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2954846" y="7401263"/>
            <a:ext cx="1111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21, 28, 35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5276700" y="7427198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18, 27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811378" y="8771563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22, 33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3219648" y="877156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5104329" y="8802361"/>
            <a:ext cx="11719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values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/>
        </p:nvSpPr>
        <p:spPr>
          <a:xfrm>
            <a:off x="133339" y="142935"/>
            <a:ext cx="655840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Here is a list of numbers: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12     15     17     20     22     25     27     30     32     35     39     40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list write down any numbers that are multiples of: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6"/>
          <p:cNvGraphicFramePr/>
          <p:nvPr/>
        </p:nvGraphicFramePr>
        <p:xfrm>
          <a:off x="237595" y="12424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1989675"/>
                <a:gridCol w="2245875"/>
                <a:gridCol w="221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 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b) 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 4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 10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e) 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 16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 15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n-GB" sz="1350"/>
                        <a:t>h) 25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 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1" name="Google Shape;181;p16"/>
          <p:cNvGraphicFramePr/>
          <p:nvPr/>
        </p:nvGraphicFramePr>
        <p:xfrm>
          <a:off x="237595" y="52534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1989675"/>
                <a:gridCol w="2245875"/>
                <a:gridCol w="22186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a)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b)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c) 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d) 4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e) 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f) 11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g) 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h) 12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/>
                        <a:t>i) 7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2" name="Google Shape;182;p16"/>
          <p:cNvSpPr txBox="1"/>
          <p:nvPr/>
        </p:nvSpPr>
        <p:spPr>
          <a:xfrm>
            <a:off x="133339" y="4176227"/>
            <a:ext cx="655840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Here is a list of numbers: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GB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100      101      102      103      104     105      106      107      108      109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the list write down any numbers that are multiples of: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chart&#10;&#10;Description automatically generated" id="183" name="Google Shape;183;p16"/>
          <p:cNvPicPr preferRelativeResize="0"/>
          <p:nvPr/>
        </p:nvPicPr>
        <p:blipFill rotWithShape="1">
          <a:blip r:embed="rId3">
            <a:alphaModFix/>
          </a:blip>
          <a:srcRect b="1" l="0" r="0" t="64299"/>
          <a:stretch/>
        </p:blipFill>
        <p:spPr>
          <a:xfrm>
            <a:off x="223740" y="8209519"/>
            <a:ext cx="6572477" cy="148937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>
            <p:ph idx="12" type="sldNum"/>
          </p:nvPr>
        </p:nvSpPr>
        <p:spPr>
          <a:xfrm>
            <a:off x="5253167" y="949936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77830" y="1558618"/>
            <a:ext cx="2149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12, 20, 22, 30, 32, 40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2327778" y="1558618"/>
            <a:ext cx="21499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15, 20, 25, 30, 35, 40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4856010" y="1574096"/>
            <a:ext cx="145745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12, 20, 32, 40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97203" y="2474873"/>
            <a:ext cx="11112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20, 30, 40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2943943" y="2429396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32, 40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375383" y="2474873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870327" y="3375650"/>
            <a:ext cx="7649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15, 30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3117067" y="337565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4941105" y="3358860"/>
            <a:ext cx="13328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 numbers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280615" y="5500784"/>
            <a:ext cx="19848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100, 102, 104, 106,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2671622" y="5560992"/>
            <a:ext cx="1462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102, 105, 108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108009" y="5560992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100, 105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536130" y="6478859"/>
            <a:ext cx="14622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100, 104, 108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3060571" y="6440379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99" name="Google Shape;199;p16"/>
          <p:cNvSpPr txBox="1"/>
          <p:nvPr/>
        </p:nvSpPr>
        <p:spPr>
          <a:xfrm>
            <a:off x="4843513" y="6463263"/>
            <a:ext cx="1527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None of these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73242" y="7387434"/>
            <a:ext cx="9989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102, 108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3106871" y="7387434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108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5316873" y="7370613"/>
            <a:ext cx="53572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/>
        </p:nvSpPr>
        <p:spPr>
          <a:xfrm>
            <a:off x="365503" y="87757"/>
            <a:ext cx="5881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Answer the following questions: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17"/>
          <p:cNvGraphicFramePr/>
          <p:nvPr/>
        </p:nvGraphicFramePr>
        <p:xfrm>
          <a:off x="379791" y="4131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3037600"/>
                <a:gridCol w="3037600"/>
              </a:tblGrid>
              <a:tr h="740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fourth multiple of 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fourth multiple of 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twelfth multiple of 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eighth multiple of 6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eighth multiple of 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eleventh multiple of 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eleventh multiple of 12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twentieth multiple of 12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0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twentieth multiple of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Write down the forty-fifth multiple of 2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7"/>
          <p:cNvSpPr txBox="1"/>
          <p:nvPr/>
        </p:nvSpPr>
        <p:spPr>
          <a:xfrm>
            <a:off x="379790" y="4197392"/>
            <a:ext cx="588107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Answer the following questions: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0" name="Google Shape;210;p17"/>
          <p:cNvGraphicFramePr/>
          <p:nvPr/>
        </p:nvGraphicFramePr>
        <p:xfrm>
          <a:off x="364808" y="44618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3052600"/>
                <a:gridCol w="3037600"/>
              </a:tblGrid>
              <a:tr h="121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largest number below 48 that is a multiple of 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smallest number above 48 that is a multiple of 7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1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smallest number above 200 that is a multiple of 6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Find the largest number below 200 that is a multiple of 6</a:t>
                      </a:r>
                      <a:endParaRPr b="0"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17"/>
          <p:cNvSpPr txBox="1"/>
          <p:nvPr>
            <p:ph idx="12" type="sldNum"/>
          </p:nvPr>
        </p:nvSpPr>
        <p:spPr>
          <a:xfrm>
            <a:off x="4935159" y="9340458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303848" y="6915277"/>
            <a:ext cx="67118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True or false?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3" name="Google Shape;213;p17"/>
          <p:cNvGraphicFramePr/>
          <p:nvPr/>
        </p:nvGraphicFramePr>
        <p:xfrm>
          <a:off x="379790" y="7293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1885725"/>
                <a:gridCol w="1163500"/>
                <a:gridCol w="1874750"/>
                <a:gridCol w="1174450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a) 3 is a multiple of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b) 6 is a multiple of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c) 9 is a multiple of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d) 9 is a multiple of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e) 18 is a multiple of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f) 18 is a multiple of 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14" name="Google Shape;214;p17"/>
          <p:cNvSpPr txBox="1"/>
          <p:nvPr/>
        </p:nvSpPr>
        <p:spPr>
          <a:xfrm>
            <a:off x="149829" y="737466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3302419" y="689080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49829" y="1475233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3302419" y="1426847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149829" y="2143193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56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3302419" y="2094807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77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149829" y="2901106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132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3302419" y="2852720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240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149829" y="3617464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3302419" y="3569078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0" y="5033318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3152590" y="4984932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0" y="6247305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204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3152590" y="6198919"/>
            <a:ext cx="35099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198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599675" y="7405917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5376303" y="7313596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2310308" y="7938124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5876275" y="7986156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2310308" y="855804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5297541" y="855804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"/>
          <p:cNvSpPr txBox="1"/>
          <p:nvPr>
            <p:ph idx="12" type="sldNum"/>
          </p:nvPr>
        </p:nvSpPr>
        <p:spPr>
          <a:xfrm>
            <a:off x="5168837" y="93785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39" name="Google Shape;239;p18"/>
          <p:cNvGraphicFramePr/>
          <p:nvPr/>
        </p:nvGraphicFramePr>
        <p:xfrm>
          <a:off x="160102" y="51521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{46D4EBCD-BBD9-4B72-AB08-3AF2A5CBFB44}</a:tableStyleId>
              </a:tblPr>
              <a:tblGrid>
                <a:gridCol w="6507325"/>
              </a:tblGrid>
              <a:tr h="21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9. A light flashes every 8 seconds. How many times will it flash in 3 minutes? 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240" name="Google Shape;240;p18"/>
          <p:cNvGraphicFramePr/>
          <p:nvPr/>
        </p:nvGraphicFramePr>
        <p:xfrm>
          <a:off x="175342" y="2207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{B7EAFEFE-D71E-4D57-A42C-64F9F39571C5}</a:tableStyleId>
              </a:tblPr>
              <a:tblGrid>
                <a:gridCol w="2012150"/>
                <a:gridCol w="1241500"/>
                <a:gridCol w="2000450"/>
                <a:gridCol w="1253200"/>
              </a:tblGrid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g) 18 is a multiple of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h) 18 is a multiple of 18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i) 18 is a multiple of 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j) 9 is a multiple of 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k) 7 is a multiple of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l) 17 is a multiple of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m) 27 is a multiple of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n) 37 is a multiple of 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o) 36 is a multiple of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p) 36 is a multiple of 12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q) 36 is a multiple of 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r) 6 is a multiple of 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s) 24 is a multiple of 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t) 24 is a multiple of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u) 1 is a multiple of 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v) 1 is a multiple of 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True/ False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18"/>
          <p:cNvSpPr txBox="1"/>
          <p:nvPr/>
        </p:nvSpPr>
        <p:spPr>
          <a:xfrm>
            <a:off x="158373" y="6836187"/>
            <a:ext cx="6524285" cy="339509"/>
          </a:xfrm>
          <a:prstGeom prst="rect">
            <a:avLst/>
          </a:prstGeom>
          <a:solidFill>
            <a:srgbClr val="7E234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146113" y="7175698"/>
            <a:ext cx="6536545" cy="261974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Sheila is listing the multiples of 7 in ascending order.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She starts with 7. What number should she write next?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these is not a multiple of 8?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18"/>
          <p:cNvPicPr preferRelativeResize="0"/>
          <p:nvPr/>
        </p:nvPicPr>
        <p:blipFill rotWithShape="1">
          <a:blip r:embed="rId3">
            <a:alphaModFix/>
          </a:blip>
          <a:srcRect b="0" l="0" r="0" t="70014"/>
          <a:stretch/>
        </p:blipFill>
        <p:spPr>
          <a:xfrm>
            <a:off x="1701188" y="7725352"/>
            <a:ext cx="3690135" cy="6871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4" name="Google Shape;244;p18"/>
          <p:cNvCxnSpPr/>
          <p:nvPr/>
        </p:nvCxnSpPr>
        <p:spPr>
          <a:xfrm>
            <a:off x="158373" y="8542826"/>
            <a:ext cx="651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5" name="Google Shape;245;p18"/>
          <p:cNvPicPr preferRelativeResize="0"/>
          <p:nvPr/>
        </p:nvPicPr>
        <p:blipFill rotWithShape="1">
          <a:blip r:embed="rId3">
            <a:alphaModFix/>
          </a:blip>
          <a:srcRect b="0" l="0" r="0" t="67412"/>
          <a:stretch/>
        </p:blipFill>
        <p:spPr>
          <a:xfrm>
            <a:off x="1701188" y="8882902"/>
            <a:ext cx="3690135" cy="7468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8"/>
          <p:cNvSpPr/>
          <p:nvPr/>
        </p:nvSpPr>
        <p:spPr>
          <a:xfrm>
            <a:off x="1701188" y="9404854"/>
            <a:ext cx="3690135" cy="26029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8"/>
          <p:cNvSpPr/>
          <p:nvPr/>
        </p:nvSpPr>
        <p:spPr>
          <a:xfrm>
            <a:off x="1790883" y="9439265"/>
            <a:ext cx="3882045" cy="1904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8                            4                           40                        800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2237725" y="276273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581000" y="276273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2237725" y="902449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581000" y="93299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2237725" y="1559168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019150" y="1525883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2694925" y="2152059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6031931" y="2152059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2237725" y="281580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5555392" y="2775493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2816459" y="332788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6019150" y="332788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2237725" y="4009591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5555392" y="3946116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2237725" y="4602482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6044025" y="4615064"/>
            <a:ext cx="578734" cy="451412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1680693" y="5607131"/>
            <a:ext cx="3429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3731905" y="7683018"/>
            <a:ext cx="752355" cy="82947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2568353" y="8929607"/>
            <a:ext cx="752355" cy="829474"/>
          </a:xfrm>
          <a:prstGeom prst="ellipse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