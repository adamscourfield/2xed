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9906000" cx="6858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7F622640-7F73-40B3-BA3B-6E99962658F5}">
  <a:tblStyle styleId="{7F622640-7F73-40B3-BA3B-6E99962658F5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9EFF7"/>
          </a:solidFill>
        </a:fill>
      </a:tcStyle>
    </a:wholeTbl>
    <a:band1H>
      <a:tcTxStyle/>
      <a:tcStyle>
        <a:fill>
          <a:solidFill>
            <a:srgbClr val="D0DEEF"/>
          </a:solidFill>
        </a:fill>
      </a:tcStyle>
    </a:band1H>
    <a:band2H>
      <a:tcTxStyle/>
    </a:band2H>
    <a:band1V>
      <a:tcTxStyle/>
      <a:tcStyle>
        <a:fill>
          <a:solidFill>
            <a:srgbClr val="D0DEEF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2360613" y="1143000"/>
            <a:ext cx="213677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GB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55:notes"/>
          <p:cNvSpPr/>
          <p:nvPr>
            <p:ph idx="2" type="sldImg"/>
          </p:nvPr>
        </p:nvSpPr>
        <p:spPr>
          <a:xfrm>
            <a:off x="2360613" y="1143000"/>
            <a:ext cx="213677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" name="Google Shape;86;p5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5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56:notes"/>
          <p:cNvSpPr/>
          <p:nvPr>
            <p:ph idx="2" type="sldImg"/>
          </p:nvPr>
        </p:nvSpPr>
        <p:spPr>
          <a:xfrm>
            <a:off x="2360613" y="1143000"/>
            <a:ext cx="213677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2" name="Google Shape;152;p5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5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5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57:notes"/>
          <p:cNvSpPr/>
          <p:nvPr>
            <p:ph idx="2" type="sldImg"/>
          </p:nvPr>
        </p:nvSpPr>
        <p:spPr>
          <a:xfrm>
            <a:off x="2360613" y="1143000"/>
            <a:ext cx="213677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5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58:notes"/>
          <p:cNvSpPr/>
          <p:nvPr>
            <p:ph idx="2" type="sldImg"/>
          </p:nvPr>
        </p:nvSpPr>
        <p:spPr>
          <a:xfrm>
            <a:off x="2360613" y="1143000"/>
            <a:ext cx="213677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5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59:notes"/>
          <p:cNvSpPr/>
          <p:nvPr>
            <p:ph idx="2" type="sldImg"/>
          </p:nvPr>
        </p:nvSpPr>
        <p:spPr>
          <a:xfrm>
            <a:off x="2360613" y="1143000"/>
            <a:ext cx="213677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6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60:notes"/>
          <p:cNvSpPr/>
          <p:nvPr>
            <p:ph idx="2" type="sldImg"/>
          </p:nvPr>
        </p:nvSpPr>
        <p:spPr>
          <a:xfrm>
            <a:off x="2360613" y="1143000"/>
            <a:ext cx="213677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61:notes"/>
          <p:cNvSpPr/>
          <p:nvPr>
            <p:ph idx="2" type="sldImg"/>
          </p:nvPr>
        </p:nvSpPr>
        <p:spPr>
          <a:xfrm>
            <a:off x="2360613" y="1143000"/>
            <a:ext cx="213677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5" name="Google Shape;335;p6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p6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6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2" name="Google Shape;382;p62:notes"/>
          <p:cNvSpPr/>
          <p:nvPr>
            <p:ph idx="2" type="sldImg"/>
          </p:nvPr>
        </p:nvSpPr>
        <p:spPr>
          <a:xfrm>
            <a:off x="2360613" y="1143000"/>
            <a:ext cx="213677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63:notes"/>
          <p:cNvSpPr/>
          <p:nvPr>
            <p:ph idx="2" type="sldImg"/>
          </p:nvPr>
        </p:nvSpPr>
        <p:spPr>
          <a:xfrm>
            <a:off x="2360613" y="1143000"/>
            <a:ext cx="213677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6" name="Google Shape;416;p6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7" name="Google Shape;417;p6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6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1" name="Google Shape;461;p64:notes"/>
          <p:cNvSpPr/>
          <p:nvPr>
            <p:ph idx="2" type="sldImg"/>
          </p:nvPr>
        </p:nvSpPr>
        <p:spPr>
          <a:xfrm>
            <a:off x="2360613" y="1143000"/>
            <a:ext cx="213677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p6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2" name="Google Shape;482;p65:notes"/>
          <p:cNvSpPr/>
          <p:nvPr>
            <p:ph idx="2" type="sldImg"/>
          </p:nvPr>
        </p:nvSpPr>
        <p:spPr>
          <a:xfrm>
            <a:off x="2360613" y="1143000"/>
            <a:ext cx="213677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7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p6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9" name="Google Shape;539;p66:notes"/>
          <p:cNvSpPr/>
          <p:nvPr>
            <p:ph idx="2" type="sldImg"/>
          </p:nvPr>
        </p:nvSpPr>
        <p:spPr>
          <a:xfrm>
            <a:off x="2360613" y="1143000"/>
            <a:ext cx="213677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7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Google Shape;568;p67:notes"/>
          <p:cNvSpPr/>
          <p:nvPr>
            <p:ph idx="2" type="sldImg"/>
          </p:nvPr>
        </p:nvSpPr>
        <p:spPr>
          <a:xfrm>
            <a:off x="2360613" y="1143000"/>
            <a:ext cx="213677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9" name="Google Shape;569;p6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0" name="Google Shape;570;p6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4" name="Shape 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" name="Google Shape;605;p68:notes"/>
          <p:cNvSpPr/>
          <p:nvPr>
            <p:ph idx="2" type="sldImg"/>
          </p:nvPr>
        </p:nvSpPr>
        <p:spPr>
          <a:xfrm>
            <a:off x="2360613" y="1143000"/>
            <a:ext cx="213677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6" name="Google Shape;606;p6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7" name="Google Shape;607;p6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7" name="Shape 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Google Shape;638;p6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9" name="Google Shape;639;p69:notes"/>
          <p:cNvSpPr/>
          <p:nvPr>
            <p:ph idx="2" type="sldImg"/>
          </p:nvPr>
        </p:nvSpPr>
        <p:spPr>
          <a:xfrm>
            <a:off x="2360613" y="1143000"/>
            <a:ext cx="213677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/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1" type="body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 txBox="1"/>
          <p:nvPr>
            <p:ph type="ctrTitle"/>
          </p:nvPr>
        </p:nvSpPr>
        <p:spPr>
          <a:xfrm>
            <a:off x="514350" y="1621191"/>
            <a:ext cx="5829300" cy="344875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" type="subTitle"/>
          </p:nvPr>
        </p:nvSpPr>
        <p:spPr>
          <a:xfrm>
            <a:off x="857250" y="5202944"/>
            <a:ext cx="5143500" cy="2391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28" name="Google Shape;28;p4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 txBox="1"/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5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/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" type="body"/>
          </p:nvPr>
        </p:nvSpPr>
        <p:spPr>
          <a:xfrm>
            <a:off x="471488" y="2637014"/>
            <a:ext cx="2914650" cy="62852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2" type="body"/>
          </p:nvPr>
        </p:nvSpPr>
        <p:spPr>
          <a:xfrm>
            <a:off x="3471863" y="2637014"/>
            <a:ext cx="2914650" cy="62852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6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6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6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7"/>
          <p:cNvSpPr txBox="1"/>
          <p:nvPr>
            <p:ph type="title"/>
          </p:nvPr>
        </p:nvSpPr>
        <p:spPr>
          <a:xfrm>
            <a:off x="467916" y="2469624"/>
            <a:ext cx="5915025" cy="41206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7"/>
          <p:cNvSpPr txBox="1"/>
          <p:nvPr>
            <p:ph idx="1" type="body"/>
          </p:nvPr>
        </p:nvSpPr>
        <p:spPr>
          <a:xfrm>
            <a:off x="467916" y="6629226"/>
            <a:ext cx="5915025" cy="21669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72381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" type="body"/>
          </p:nvPr>
        </p:nvSpPr>
        <p:spPr>
          <a:xfrm>
            <a:off x="472381" y="2428347"/>
            <a:ext cx="2901255" cy="119009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 sz="135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52" name="Google Shape;52;p8"/>
          <p:cNvSpPr txBox="1"/>
          <p:nvPr>
            <p:ph idx="2" type="body"/>
          </p:nvPr>
        </p:nvSpPr>
        <p:spPr>
          <a:xfrm>
            <a:off x="472381" y="3618442"/>
            <a:ext cx="2901255" cy="53221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3" type="body"/>
          </p:nvPr>
        </p:nvSpPr>
        <p:spPr>
          <a:xfrm>
            <a:off x="3471863" y="2428347"/>
            <a:ext cx="2915543" cy="119009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 sz="135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54" name="Google Shape;54;p8"/>
          <p:cNvSpPr txBox="1"/>
          <p:nvPr>
            <p:ph idx="4" type="body"/>
          </p:nvPr>
        </p:nvSpPr>
        <p:spPr>
          <a:xfrm>
            <a:off x="3471863" y="3618442"/>
            <a:ext cx="2915543" cy="53221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5" name="Google Shape;55;p8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8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8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/>
          <p:nvPr>
            <p:ph type="title"/>
          </p:nvPr>
        </p:nvSpPr>
        <p:spPr>
          <a:xfrm>
            <a:off x="472381" y="660400"/>
            <a:ext cx="2211884" cy="231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" type="body"/>
          </p:nvPr>
        </p:nvSpPr>
        <p:spPr>
          <a:xfrm>
            <a:off x="2915543" y="1426283"/>
            <a:ext cx="3471863" cy="70396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61" name="Google Shape;61;p9"/>
          <p:cNvSpPr txBox="1"/>
          <p:nvPr>
            <p:ph idx="2" type="body"/>
          </p:nvPr>
        </p:nvSpPr>
        <p:spPr>
          <a:xfrm>
            <a:off x="472381" y="2971800"/>
            <a:ext cx="2211884" cy="55056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/>
        </p:txBody>
      </p:sp>
      <p:sp>
        <p:nvSpPr>
          <p:cNvPr id="62" name="Google Shape;62;p9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9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9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/>
          <p:nvPr>
            <p:ph type="title"/>
          </p:nvPr>
        </p:nvSpPr>
        <p:spPr>
          <a:xfrm>
            <a:off x="472381" y="660400"/>
            <a:ext cx="2211884" cy="231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/>
          <p:nvPr>
            <p:ph idx="2" type="pic"/>
          </p:nvPr>
        </p:nvSpPr>
        <p:spPr>
          <a:xfrm>
            <a:off x="2915543" y="1426283"/>
            <a:ext cx="3471863" cy="7039681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0"/>
          <p:cNvSpPr txBox="1"/>
          <p:nvPr>
            <p:ph idx="1" type="body"/>
          </p:nvPr>
        </p:nvSpPr>
        <p:spPr>
          <a:xfrm>
            <a:off x="472381" y="2971800"/>
            <a:ext cx="2211884" cy="55056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/>
        </p:txBody>
      </p:sp>
      <p:sp>
        <p:nvSpPr>
          <p:cNvPr id="69" name="Google Shape;69;p10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0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0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/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1"/>
          <p:cNvSpPr txBox="1"/>
          <p:nvPr>
            <p:ph idx="1" type="body"/>
          </p:nvPr>
        </p:nvSpPr>
        <p:spPr>
          <a:xfrm rot="5400000">
            <a:off x="286367" y="2822135"/>
            <a:ext cx="6285266" cy="5915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1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1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/>
          <p:nvPr>
            <p:ph type="title"/>
          </p:nvPr>
        </p:nvSpPr>
        <p:spPr>
          <a:xfrm rot="5400000">
            <a:off x="1449696" y="3985464"/>
            <a:ext cx="8394877" cy="14787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2"/>
          <p:cNvSpPr txBox="1"/>
          <p:nvPr>
            <p:ph idx="1" type="body"/>
          </p:nvPr>
        </p:nvSpPr>
        <p:spPr>
          <a:xfrm rot="5400000">
            <a:off x="-1550679" y="2549570"/>
            <a:ext cx="8394877" cy="43505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12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2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2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9.png"/><Relationship Id="rId5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0.png"/><Relationship Id="rId4" Type="http://schemas.openxmlformats.org/officeDocument/2006/relationships/image" Target="../media/image5.png"/><Relationship Id="rId5" Type="http://schemas.openxmlformats.org/officeDocument/2006/relationships/image" Target="../media/image4.png"/><Relationship Id="rId6" Type="http://schemas.openxmlformats.org/officeDocument/2006/relationships/image" Target="../media/image27.png"/><Relationship Id="rId7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1" Type="http://schemas.openxmlformats.org/officeDocument/2006/relationships/image" Target="../media/image12.png"/><Relationship Id="rId10" Type="http://schemas.openxmlformats.org/officeDocument/2006/relationships/image" Target="../media/image18.png"/><Relationship Id="rId13" Type="http://schemas.openxmlformats.org/officeDocument/2006/relationships/image" Target="../media/image13.png"/><Relationship Id="rId12" Type="http://schemas.openxmlformats.org/officeDocument/2006/relationships/image" Target="../media/image24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1.png"/><Relationship Id="rId4" Type="http://schemas.openxmlformats.org/officeDocument/2006/relationships/image" Target="../media/image38.png"/><Relationship Id="rId9" Type="http://schemas.openxmlformats.org/officeDocument/2006/relationships/image" Target="../media/image14.png"/><Relationship Id="rId14" Type="http://schemas.openxmlformats.org/officeDocument/2006/relationships/image" Target="../media/image15.png"/><Relationship Id="rId5" Type="http://schemas.openxmlformats.org/officeDocument/2006/relationships/image" Target="../media/image8.png"/><Relationship Id="rId6" Type="http://schemas.openxmlformats.org/officeDocument/2006/relationships/image" Target="../media/image19.png"/><Relationship Id="rId7" Type="http://schemas.openxmlformats.org/officeDocument/2006/relationships/image" Target="../media/image20.png"/><Relationship Id="rId8" Type="http://schemas.openxmlformats.org/officeDocument/2006/relationships/image" Target="../media/image1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0.png"/><Relationship Id="rId4" Type="http://schemas.openxmlformats.org/officeDocument/2006/relationships/image" Target="../media/image35.png"/><Relationship Id="rId5" Type="http://schemas.openxmlformats.org/officeDocument/2006/relationships/image" Target="../media/image16.png"/><Relationship Id="rId6" Type="http://schemas.openxmlformats.org/officeDocument/2006/relationships/image" Target="../media/image39.png"/><Relationship Id="rId7" Type="http://schemas.openxmlformats.org/officeDocument/2006/relationships/image" Target="../media/image2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6.xml.rels><?xml version="1.0" encoding="UTF-8" standalone="yes"?><Relationships xmlns="http://schemas.openxmlformats.org/package/2006/relationships"><Relationship Id="rId11" Type="http://schemas.openxmlformats.org/officeDocument/2006/relationships/image" Target="../media/image23.png"/><Relationship Id="rId10" Type="http://schemas.openxmlformats.org/officeDocument/2006/relationships/image" Target="../media/image33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3.png"/><Relationship Id="rId4" Type="http://schemas.openxmlformats.org/officeDocument/2006/relationships/image" Target="../media/image28.png"/><Relationship Id="rId9" Type="http://schemas.openxmlformats.org/officeDocument/2006/relationships/image" Target="../media/image65.png"/><Relationship Id="rId5" Type="http://schemas.openxmlformats.org/officeDocument/2006/relationships/image" Target="../media/image26.png"/><Relationship Id="rId6" Type="http://schemas.openxmlformats.org/officeDocument/2006/relationships/image" Target="../media/image31.png"/><Relationship Id="rId7" Type="http://schemas.openxmlformats.org/officeDocument/2006/relationships/image" Target="../media/image37.png"/><Relationship Id="rId8" Type="http://schemas.openxmlformats.org/officeDocument/2006/relationships/image" Target="../media/image30.png"/></Relationships>
</file>

<file path=ppt/slides/_rels/slide7.xml.rels><?xml version="1.0" encoding="UTF-8" standalone="yes"?><Relationships xmlns="http://schemas.openxmlformats.org/package/2006/relationships"><Relationship Id="rId11" Type="http://schemas.openxmlformats.org/officeDocument/2006/relationships/image" Target="../media/image44.png"/><Relationship Id="rId10" Type="http://schemas.openxmlformats.org/officeDocument/2006/relationships/image" Target="../media/image54.png"/><Relationship Id="rId12" Type="http://schemas.openxmlformats.org/officeDocument/2006/relationships/image" Target="../media/image36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3.png"/><Relationship Id="rId4" Type="http://schemas.openxmlformats.org/officeDocument/2006/relationships/image" Target="../media/image57.png"/><Relationship Id="rId9" Type="http://schemas.openxmlformats.org/officeDocument/2006/relationships/image" Target="../media/image41.png"/><Relationship Id="rId5" Type="http://schemas.openxmlformats.org/officeDocument/2006/relationships/image" Target="../media/image42.png"/><Relationship Id="rId6" Type="http://schemas.openxmlformats.org/officeDocument/2006/relationships/image" Target="../media/image53.png"/><Relationship Id="rId7" Type="http://schemas.openxmlformats.org/officeDocument/2006/relationships/image" Target="../media/image32.png"/><Relationship Id="rId8" Type="http://schemas.openxmlformats.org/officeDocument/2006/relationships/image" Target="../media/image51.png"/></Relationships>
</file>

<file path=ppt/slides/_rels/slide8.xml.rels><?xml version="1.0" encoding="UTF-8" standalone="yes"?><Relationships xmlns="http://schemas.openxmlformats.org/package/2006/relationships"><Relationship Id="rId10" Type="http://schemas.openxmlformats.org/officeDocument/2006/relationships/image" Target="../media/image49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6.png"/><Relationship Id="rId4" Type="http://schemas.openxmlformats.org/officeDocument/2006/relationships/image" Target="../media/image60.png"/><Relationship Id="rId9" Type="http://schemas.openxmlformats.org/officeDocument/2006/relationships/image" Target="../media/image47.png"/><Relationship Id="rId5" Type="http://schemas.openxmlformats.org/officeDocument/2006/relationships/image" Target="../media/image50.png"/><Relationship Id="rId6" Type="http://schemas.openxmlformats.org/officeDocument/2006/relationships/image" Target="../media/image45.png"/><Relationship Id="rId7" Type="http://schemas.openxmlformats.org/officeDocument/2006/relationships/image" Target="../media/image62.png"/><Relationship Id="rId8" Type="http://schemas.openxmlformats.org/officeDocument/2006/relationships/image" Target="../media/image97.png"/></Relationships>
</file>

<file path=ppt/slides/_rels/slide9.xml.rels><?xml version="1.0" encoding="UTF-8" standalone="yes"?><Relationships xmlns="http://schemas.openxmlformats.org/package/2006/relationships"><Relationship Id="rId11" Type="http://schemas.openxmlformats.org/officeDocument/2006/relationships/image" Target="../media/image76.png"/><Relationship Id="rId10" Type="http://schemas.openxmlformats.org/officeDocument/2006/relationships/image" Target="../media/image66.png"/><Relationship Id="rId12" Type="http://schemas.openxmlformats.org/officeDocument/2006/relationships/image" Target="../media/image83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2.png"/><Relationship Id="rId4" Type="http://schemas.openxmlformats.org/officeDocument/2006/relationships/image" Target="../media/image48.png"/><Relationship Id="rId9" Type="http://schemas.openxmlformats.org/officeDocument/2006/relationships/image" Target="../media/image58.png"/><Relationship Id="rId5" Type="http://schemas.openxmlformats.org/officeDocument/2006/relationships/image" Target="../media/image63.png"/><Relationship Id="rId6" Type="http://schemas.openxmlformats.org/officeDocument/2006/relationships/image" Target="../media/image55.png"/><Relationship Id="rId7" Type="http://schemas.openxmlformats.org/officeDocument/2006/relationships/image" Target="../media/image89.png"/><Relationship Id="rId8" Type="http://schemas.openxmlformats.org/officeDocument/2006/relationships/image" Target="../media/image7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8.png"/><Relationship Id="rId4" Type="http://schemas.openxmlformats.org/officeDocument/2006/relationships/image" Target="../media/image61.png"/><Relationship Id="rId5" Type="http://schemas.openxmlformats.org/officeDocument/2006/relationships/image" Target="../media/image59.png"/><Relationship Id="rId6" Type="http://schemas.openxmlformats.org/officeDocument/2006/relationships/image" Target="../media/image6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1.png"/><Relationship Id="rId4" Type="http://schemas.openxmlformats.org/officeDocument/2006/relationships/image" Target="../media/image68.png"/><Relationship Id="rId5" Type="http://schemas.openxmlformats.org/officeDocument/2006/relationships/image" Target="../media/image67.png"/><Relationship Id="rId6" Type="http://schemas.openxmlformats.org/officeDocument/2006/relationships/image" Target="../media/image85.png"/></Relationships>
</file>

<file path=ppt/slides/_rels/slide12.xml.rels><?xml version="1.0" encoding="UTF-8" standalone="yes"?><Relationships xmlns="http://schemas.openxmlformats.org/package/2006/relationships"><Relationship Id="rId11" Type="http://schemas.openxmlformats.org/officeDocument/2006/relationships/image" Target="../media/image72.png"/><Relationship Id="rId10" Type="http://schemas.openxmlformats.org/officeDocument/2006/relationships/image" Target="../media/image80.png"/><Relationship Id="rId13" Type="http://schemas.openxmlformats.org/officeDocument/2006/relationships/image" Target="../media/image94.png"/><Relationship Id="rId12" Type="http://schemas.openxmlformats.org/officeDocument/2006/relationships/image" Target="../media/image82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9.png"/><Relationship Id="rId4" Type="http://schemas.openxmlformats.org/officeDocument/2006/relationships/image" Target="../media/image74.png"/><Relationship Id="rId9" Type="http://schemas.openxmlformats.org/officeDocument/2006/relationships/image" Target="../media/image77.png"/><Relationship Id="rId14" Type="http://schemas.openxmlformats.org/officeDocument/2006/relationships/image" Target="../media/image107.png"/><Relationship Id="rId5" Type="http://schemas.openxmlformats.org/officeDocument/2006/relationships/image" Target="../media/image73.png"/><Relationship Id="rId6" Type="http://schemas.openxmlformats.org/officeDocument/2006/relationships/image" Target="../media/image79.png"/><Relationship Id="rId7" Type="http://schemas.openxmlformats.org/officeDocument/2006/relationships/image" Target="../media/image75.png"/><Relationship Id="rId8" Type="http://schemas.openxmlformats.org/officeDocument/2006/relationships/image" Target="../media/image90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91.png"/><Relationship Id="rId4" Type="http://schemas.openxmlformats.org/officeDocument/2006/relationships/image" Target="../media/image88.png"/><Relationship Id="rId9" Type="http://schemas.openxmlformats.org/officeDocument/2006/relationships/image" Target="../media/image86.png"/><Relationship Id="rId5" Type="http://schemas.openxmlformats.org/officeDocument/2006/relationships/image" Target="../media/image93.png"/><Relationship Id="rId6" Type="http://schemas.openxmlformats.org/officeDocument/2006/relationships/image" Target="../media/image96.png"/><Relationship Id="rId7" Type="http://schemas.openxmlformats.org/officeDocument/2006/relationships/image" Target="../media/image84.png"/><Relationship Id="rId8" Type="http://schemas.openxmlformats.org/officeDocument/2006/relationships/image" Target="../media/image10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87.png"/><Relationship Id="rId4" Type="http://schemas.openxmlformats.org/officeDocument/2006/relationships/image" Target="../media/image110.png"/><Relationship Id="rId5" Type="http://schemas.openxmlformats.org/officeDocument/2006/relationships/image" Target="../media/image98.png"/><Relationship Id="rId6" Type="http://schemas.openxmlformats.org/officeDocument/2006/relationships/image" Target="../media/image95.png"/><Relationship Id="rId7" Type="http://schemas.openxmlformats.org/officeDocument/2006/relationships/image" Target="../media/image111.png"/></Relationships>
</file>

<file path=ppt/slides/_rels/slide15.xml.rels><?xml version="1.0" encoding="UTF-8" standalone="yes"?><Relationships xmlns="http://schemas.openxmlformats.org/package/2006/relationships"><Relationship Id="rId11" Type="http://schemas.openxmlformats.org/officeDocument/2006/relationships/image" Target="../media/image99.png"/><Relationship Id="rId10" Type="http://schemas.openxmlformats.org/officeDocument/2006/relationships/image" Target="../media/image106.png"/><Relationship Id="rId13" Type="http://schemas.openxmlformats.org/officeDocument/2006/relationships/image" Target="../media/image100.png"/><Relationship Id="rId12" Type="http://schemas.openxmlformats.org/officeDocument/2006/relationships/image" Target="../media/image109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87.png"/><Relationship Id="rId4" Type="http://schemas.openxmlformats.org/officeDocument/2006/relationships/image" Target="../media/image104.png"/><Relationship Id="rId9" Type="http://schemas.openxmlformats.org/officeDocument/2006/relationships/image" Target="../media/image108.png"/><Relationship Id="rId5" Type="http://schemas.openxmlformats.org/officeDocument/2006/relationships/image" Target="../media/image102.png"/><Relationship Id="rId6" Type="http://schemas.openxmlformats.org/officeDocument/2006/relationships/image" Target="../media/image105.png"/><Relationship Id="rId7" Type="http://schemas.openxmlformats.org/officeDocument/2006/relationships/image" Target="../media/image113.png"/><Relationship Id="rId8" Type="http://schemas.openxmlformats.org/officeDocument/2006/relationships/image" Target="../media/image10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9" name="Google Shape;89;p13"/>
          <p:cNvGraphicFramePr/>
          <p:nvPr/>
        </p:nvGraphicFramePr>
        <p:xfrm>
          <a:off x="86792" y="504821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{7F622640-7F73-40B3-BA3B-6E99962658F5}</a:tableStyleId>
              </a:tblPr>
              <a:tblGrid>
                <a:gridCol w="1005250"/>
                <a:gridCol w="1893275"/>
                <a:gridCol w="1893275"/>
                <a:gridCol w="1893275"/>
              </a:tblGrid>
              <a:tr h="568275">
                <a:tc gridSpan="4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  <a:tc hMerge="1"/>
                <a:tc hMerge="1"/>
              </a:tr>
              <a:tr h="2435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chemeClr val="dk1"/>
                          </a:solidFill>
                        </a:rPr>
                        <a:t>Steps</a:t>
                      </a:r>
                      <a:endParaRPr b="1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Work out the area 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Work out the area 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Work out the area 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490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1) Make sure the units are the same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br>
                        <a:rPr lang="en-GB" sz="1200">
                          <a:solidFill>
                            <a:schemeClr val="dk1"/>
                          </a:solidFill>
                        </a:rPr>
                      </a:b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2) Multiply the length by the width 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br>
                        <a:rPr lang="en-GB" sz="1200">
                          <a:solidFill>
                            <a:schemeClr val="dk1"/>
                          </a:solidFill>
                        </a:rPr>
                      </a:b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3) Include the units in your answer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90" name="Google Shape;90;p13"/>
          <p:cNvSpPr txBox="1"/>
          <p:nvPr/>
        </p:nvSpPr>
        <p:spPr>
          <a:xfrm>
            <a:off x="1353198" y="5433293"/>
            <a:ext cx="141070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Example 1 - I do…</a:t>
            </a:r>
            <a:endParaRPr/>
          </a:p>
        </p:txBody>
      </p:sp>
      <p:sp>
        <p:nvSpPr>
          <p:cNvPr id="91" name="Google Shape;91;p13"/>
          <p:cNvSpPr txBox="1"/>
          <p:nvPr/>
        </p:nvSpPr>
        <p:spPr>
          <a:xfrm>
            <a:off x="5127803" y="5435126"/>
            <a:ext cx="164340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Example 3 – You do…</a:t>
            </a:r>
            <a:endParaRPr/>
          </a:p>
        </p:txBody>
      </p:sp>
      <p:sp>
        <p:nvSpPr>
          <p:cNvPr id="92" name="Google Shape;92;p13"/>
          <p:cNvSpPr txBox="1"/>
          <p:nvPr>
            <p:ph idx="12" type="sldNum"/>
          </p:nvPr>
        </p:nvSpPr>
        <p:spPr>
          <a:xfrm>
            <a:off x="5241702" y="93785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</p:txBody>
      </p:sp>
      <p:sp>
        <p:nvSpPr>
          <p:cNvPr id="93" name="Google Shape;93;p13"/>
          <p:cNvSpPr/>
          <p:nvPr/>
        </p:nvSpPr>
        <p:spPr>
          <a:xfrm>
            <a:off x="86108" y="309815"/>
            <a:ext cx="6664167" cy="1276047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3"/>
          <p:cNvSpPr/>
          <p:nvPr/>
        </p:nvSpPr>
        <p:spPr>
          <a:xfrm>
            <a:off x="-4884" y="3807"/>
            <a:ext cx="6862883" cy="27113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Subtopic N3.6 – Area of Rectangles, Parallelograms, Triangles and Compound Shapes</a:t>
            </a:r>
            <a:endParaRPr sz="1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3"/>
          <p:cNvSpPr txBox="1"/>
          <p:nvPr/>
        </p:nvSpPr>
        <p:spPr>
          <a:xfrm>
            <a:off x="27428" y="652273"/>
            <a:ext cx="1399768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Objectives:</a:t>
            </a:r>
            <a:endParaRPr/>
          </a:p>
        </p:txBody>
      </p:sp>
      <p:sp>
        <p:nvSpPr>
          <p:cNvPr id="96" name="Google Shape;96;p13"/>
          <p:cNvSpPr txBox="1"/>
          <p:nvPr/>
        </p:nvSpPr>
        <p:spPr>
          <a:xfrm>
            <a:off x="78749" y="882730"/>
            <a:ext cx="547676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 find the area of rectangles, parallelograms and triangles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 apply those skills to be able to solve problems involving compound shapes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3"/>
          <p:cNvSpPr txBox="1"/>
          <p:nvPr/>
        </p:nvSpPr>
        <p:spPr>
          <a:xfrm>
            <a:off x="300284" y="352526"/>
            <a:ext cx="5044522" cy="276999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LEARNING OUTCOME: To understand how to find the area of different shapes.</a:t>
            </a:r>
            <a:endParaRPr/>
          </a:p>
        </p:txBody>
      </p:sp>
      <p:sp>
        <p:nvSpPr>
          <p:cNvPr id="98" name="Google Shape;98;p13"/>
          <p:cNvSpPr txBox="1"/>
          <p:nvPr/>
        </p:nvSpPr>
        <p:spPr>
          <a:xfrm>
            <a:off x="5484972" y="346214"/>
            <a:ext cx="1225144" cy="1200329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Keywords: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-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Area</a:t>
            </a:r>
            <a:endParaRPr/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-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Shape</a:t>
            </a:r>
            <a:endParaRPr/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-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Height</a:t>
            </a:r>
            <a:endParaRPr/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-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Base</a:t>
            </a:r>
            <a:endParaRPr/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-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Perpendicular</a:t>
            </a:r>
            <a:endParaRPr/>
          </a:p>
        </p:txBody>
      </p:sp>
      <p:sp>
        <p:nvSpPr>
          <p:cNvPr id="99" name="Google Shape;99;p13"/>
          <p:cNvSpPr txBox="1"/>
          <p:nvPr/>
        </p:nvSpPr>
        <p:spPr>
          <a:xfrm>
            <a:off x="3189559" y="5430234"/>
            <a:ext cx="164340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Example 2 – We do…</a:t>
            </a:r>
            <a:endParaRPr/>
          </a:p>
        </p:txBody>
      </p:sp>
      <p:sp>
        <p:nvSpPr>
          <p:cNvPr id="100" name="Google Shape;100;p13"/>
          <p:cNvSpPr/>
          <p:nvPr/>
        </p:nvSpPr>
        <p:spPr>
          <a:xfrm>
            <a:off x="86109" y="5141696"/>
            <a:ext cx="3399966" cy="289861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Calculating the area of rectangles and squares</a:t>
            </a:r>
            <a:endParaRPr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1" name="Google Shape;101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14213" y="6071536"/>
            <a:ext cx="1410704" cy="71849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2" name="Google Shape;102;p13"/>
          <p:cNvGrpSpPr/>
          <p:nvPr/>
        </p:nvGrpSpPr>
        <p:grpSpPr>
          <a:xfrm>
            <a:off x="3289349" y="6052259"/>
            <a:ext cx="1360969" cy="1298180"/>
            <a:chOff x="3289349" y="5779545"/>
            <a:chExt cx="1360969" cy="1298180"/>
          </a:xfrm>
        </p:grpSpPr>
        <p:sp>
          <p:nvSpPr>
            <p:cNvPr id="103" name="Google Shape;103;p13"/>
            <p:cNvSpPr/>
            <p:nvPr/>
          </p:nvSpPr>
          <p:spPr>
            <a:xfrm rot="5400000">
              <a:off x="3547355" y="6250686"/>
              <a:ext cx="811033" cy="363365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" name="Google Shape;104;p13"/>
            <p:cNvSpPr txBox="1"/>
            <p:nvPr/>
          </p:nvSpPr>
          <p:spPr>
            <a:xfrm>
              <a:off x="3705673" y="5779545"/>
              <a:ext cx="563470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3cm</a:t>
              </a:r>
              <a:endParaRPr/>
            </a:p>
          </p:txBody>
        </p:sp>
        <p:sp>
          <p:nvSpPr>
            <p:cNvPr id="105" name="Google Shape;105;p13"/>
            <p:cNvSpPr txBox="1"/>
            <p:nvPr/>
          </p:nvSpPr>
          <p:spPr>
            <a:xfrm>
              <a:off x="4086848" y="6263070"/>
              <a:ext cx="563470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12cm</a:t>
              </a:r>
              <a:endParaRPr/>
            </a:p>
          </p:txBody>
        </p:sp>
        <p:sp>
          <p:nvSpPr>
            <p:cNvPr id="106" name="Google Shape;106;p13"/>
            <p:cNvSpPr txBox="1"/>
            <p:nvPr/>
          </p:nvSpPr>
          <p:spPr>
            <a:xfrm>
              <a:off x="3289349" y="6261574"/>
              <a:ext cx="563470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12cm</a:t>
              </a:r>
              <a:endParaRPr/>
            </a:p>
          </p:txBody>
        </p:sp>
        <p:sp>
          <p:nvSpPr>
            <p:cNvPr id="107" name="Google Shape;107;p13"/>
            <p:cNvSpPr txBox="1"/>
            <p:nvPr/>
          </p:nvSpPr>
          <p:spPr>
            <a:xfrm>
              <a:off x="3734146" y="6800726"/>
              <a:ext cx="563470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3cm</a:t>
              </a:r>
              <a:endParaRPr/>
            </a:p>
          </p:txBody>
        </p:sp>
      </p:grpSp>
      <p:grpSp>
        <p:nvGrpSpPr>
          <p:cNvPr id="108" name="Google Shape;108;p13"/>
          <p:cNvGrpSpPr/>
          <p:nvPr/>
        </p:nvGrpSpPr>
        <p:grpSpPr>
          <a:xfrm rot="5400000">
            <a:off x="5369345" y="5615428"/>
            <a:ext cx="903981" cy="1722225"/>
            <a:chOff x="3516046" y="5518442"/>
            <a:chExt cx="903981" cy="1722225"/>
          </a:xfrm>
        </p:grpSpPr>
        <p:sp>
          <p:nvSpPr>
            <p:cNvPr id="109" name="Google Shape;109;p13"/>
            <p:cNvSpPr/>
            <p:nvPr/>
          </p:nvSpPr>
          <p:spPr>
            <a:xfrm rot="5400000">
              <a:off x="3547355" y="6250686"/>
              <a:ext cx="811033" cy="363365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" name="Google Shape;110;p13"/>
            <p:cNvSpPr txBox="1"/>
            <p:nvPr/>
          </p:nvSpPr>
          <p:spPr>
            <a:xfrm rot="-5400000">
              <a:off x="3680060" y="5661677"/>
              <a:ext cx="563470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6cm</a:t>
              </a:r>
              <a:endParaRPr/>
            </a:p>
          </p:txBody>
        </p:sp>
        <p:sp>
          <p:nvSpPr>
            <p:cNvPr id="111" name="Google Shape;111;p13"/>
            <p:cNvSpPr txBox="1"/>
            <p:nvPr/>
          </p:nvSpPr>
          <p:spPr>
            <a:xfrm rot="-5400000">
              <a:off x="3999792" y="6225147"/>
              <a:ext cx="563470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8cm</a:t>
              </a:r>
              <a:endParaRPr/>
            </a:p>
          </p:txBody>
        </p:sp>
        <p:sp>
          <p:nvSpPr>
            <p:cNvPr id="112" name="Google Shape;112;p13"/>
            <p:cNvSpPr txBox="1"/>
            <p:nvPr/>
          </p:nvSpPr>
          <p:spPr>
            <a:xfrm rot="-5400000">
              <a:off x="3372810" y="6225147"/>
              <a:ext cx="563470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8cm</a:t>
              </a:r>
              <a:endParaRPr/>
            </a:p>
          </p:txBody>
        </p:sp>
        <p:sp>
          <p:nvSpPr>
            <p:cNvPr id="113" name="Google Shape;113;p13"/>
            <p:cNvSpPr txBox="1"/>
            <p:nvPr/>
          </p:nvSpPr>
          <p:spPr>
            <a:xfrm rot="-5400000">
              <a:off x="3671137" y="6820432"/>
              <a:ext cx="563470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6cm</a:t>
              </a:r>
              <a:endParaRPr/>
            </a:p>
          </p:txBody>
        </p:sp>
      </p:grpSp>
      <p:sp>
        <p:nvSpPr>
          <p:cNvPr id="114" name="Google Shape;114;p13"/>
          <p:cNvSpPr/>
          <p:nvPr/>
        </p:nvSpPr>
        <p:spPr>
          <a:xfrm>
            <a:off x="1640168" y="8049805"/>
            <a:ext cx="705853" cy="718495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3"/>
          <p:cNvSpPr/>
          <p:nvPr/>
        </p:nvSpPr>
        <p:spPr>
          <a:xfrm>
            <a:off x="3591763" y="8049805"/>
            <a:ext cx="705853" cy="718495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3"/>
          <p:cNvSpPr/>
          <p:nvPr/>
        </p:nvSpPr>
        <p:spPr>
          <a:xfrm>
            <a:off x="5451227" y="8044662"/>
            <a:ext cx="705853" cy="718495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3"/>
          <p:cNvSpPr txBox="1"/>
          <p:nvPr/>
        </p:nvSpPr>
        <p:spPr>
          <a:xfrm>
            <a:off x="1757425" y="8763157"/>
            <a:ext cx="56347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12cm</a:t>
            </a:r>
            <a:endParaRPr/>
          </a:p>
        </p:txBody>
      </p:sp>
      <p:sp>
        <p:nvSpPr>
          <p:cNvPr id="118" name="Google Shape;118;p13"/>
          <p:cNvSpPr txBox="1"/>
          <p:nvPr/>
        </p:nvSpPr>
        <p:spPr>
          <a:xfrm>
            <a:off x="1752474" y="7792985"/>
            <a:ext cx="56347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12cm</a:t>
            </a:r>
            <a:endParaRPr/>
          </a:p>
        </p:txBody>
      </p:sp>
      <p:sp>
        <p:nvSpPr>
          <p:cNvPr id="119" name="Google Shape;119;p13"/>
          <p:cNvSpPr txBox="1"/>
          <p:nvPr/>
        </p:nvSpPr>
        <p:spPr>
          <a:xfrm>
            <a:off x="1118923" y="8265409"/>
            <a:ext cx="56347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12cm</a:t>
            </a:r>
            <a:endParaRPr/>
          </a:p>
        </p:txBody>
      </p:sp>
      <p:sp>
        <p:nvSpPr>
          <p:cNvPr id="120" name="Google Shape;120;p13"/>
          <p:cNvSpPr txBox="1"/>
          <p:nvPr/>
        </p:nvSpPr>
        <p:spPr>
          <a:xfrm>
            <a:off x="2303796" y="8275592"/>
            <a:ext cx="56347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12cm</a:t>
            </a:r>
            <a:endParaRPr/>
          </a:p>
        </p:txBody>
      </p:sp>
      <p:sp>
        <p:nvSpPr>
          <p:cNvPr id="121" name="Google Shape;121;p13"/>
          <p:cNvSpPr txBox="1"/>
          <p:nvPr/>
        </p:nvSpPr>
        <p:spPr>
          <a:xfrm>
            <a:off x="3729526" y="8881400"/>
            <a:ext cx="56347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7cm</a:t>
            </a:r>
            <a:endParaRPr/>
          </a:p>
        </p:txBody>
      </p:sp>
      <p:sp>
        <p:nvSpPr>
          <p:cNvPr id="122" name="Google Shape;122;p13"/>
          <p:cNvSpPr txBox="1"/>
          <p:nvPr/>
        </p:nvSpPr>
        <p:spPr>
          <a:xfrm>
            <a:off x="5569805" y="7799034"/>
            <a:ext cx="56347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5cm</a:t>
            </a:r>
            <a:endParaRPr/>
          </a:p>
        </p:txBody>
      </p:sp>
      <p:sp>
        <p:nvSpPr>
          <p:cNvPr id="123" name="Google Shape;123;p13"/>
          <p:cNvSpPr txBox="1"/>
          <p:nvPr/>
        </p:nvSpPr>
        <p:spPr>
          <a:xfrm>
            <a:off x="5035455" y="8275591"/>
            <a:ext cx="56347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5cm</a:t>
            </a:r>
            <a:endParaRPr/>
          </a:p>
        </p:txBody>
      </p:sp>
      <p:cxnSp>
        <p:nvCxnSpPr>
          <p:cNvPr id="124" name="Google Shape;124;p13"/>
          <p:cNvCxnSpPr/>
          <p:nvPr/>
        </p:nvCxnSpPr>
        <p:spPr>
          <a:xfrm>
            <a:off x="3944689" y="8552590"/>
            <a:ext cx="0" cy="349066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25" name="Google Shape;125;p13"/>
          <p:cNvCxnSpPr/>
          <p:nvPr/>
        </p:nvCxnSpPr>
        <p:spPr>
          <a:xfrm>
            <a:off x="3944689" y="7870129"/>
            <a:ext cx="0" cy="349066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26" name="Google Shape;126;p13"/>
          <p:cNvCxnSpPr/>
          <p:nvPr/>
        </p:nvCxnSpPr>
        <p:spPr>
          <a:xfrm rot="10800000">
            <a:off x="4309087" y="8229375"/>
            <a:ext cx="0" cy="349066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27" name="Google Shape;127;p13"/>
          <p:cNvCxnSpPr/>
          <p:nvPr/>
        </p:nvCxnSpPr>
        <p:spPr>
          <a:xfrm rot="10800000">
            <a:off x="3531140" y="8227224"/>
            <a:ext cx="0" cy="349066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28" name="Google Shape;128;p13"/>
          <p:cNvCxnSpPr/>
          <p:nvPr/>
        </p:nvCxnSpPr>
        <p:spPr>
          <a:xfrm flipH="1" rot="10800000">
            <a:off x="944957" y="4721831"/>
            <a:ext cx="5541513" cy="22822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29" name="Google Shape;129;p13"/>
          <p:cNvSpPr/>
          <p:nvPr/>
        </p:nvSpPr>
        <p:spPr>
          <a:xfrm>
            <a:off x="90277" y="2791236"/>
            <a:ext cx="6644972" cy="2276905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0" name="Google Shape;130;p13"/>
          <p:cNvCxnSpPr/>
          <p:nvPr/>
        </p:nvCxnSpPr>
        <p:spPr>
          <a:xfrm>
            <a:off x="90275" y="3737694"/>
            <a:ext cx="6660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31" name="Google Shape;131;p13"/>
          <p:cNvCxnSpPr>
            <a:stCxn id="129" idx="2"/>
            <a:endCxn id="129" idx="0"/>
          </p:cNvCxnSpPr>
          <p:nvPr/>
        </p:nvCxnSpPr>
        <p:spPr>
          <a:xfrm rot="10800000">
            <a:off x="3412763" y="2791141"/>
            <a:ext cx="0" cy="2277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32" name="Google Shape;132;p13"/>
          <p:cNvSpPr txBox="1"/>
          <p:nvPr/>
        </p:nvSpPr>
        <p:spPr>
          <a:xfrm>
            <a:off x="108031" y="2791235"/>
            <a:ext cx="82471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Definition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3"/>
          <p:cNvSpPr txBox="1"/>
          <p:nvPr/>
        </p:nvSpPr>
        <p:spPr>
          <a:xfrm>
            <a:off x="5706263" y="2769940"/>
            <a:ext cx="1112228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Characteristics</a:t>
            </a:r>
            <a:endParaRPr b="1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3"/>
          <p:cNvSpPr txBox="1"/>
          <p:nvPr/>
        </p:nvSpPr>
        <p:spPr>
          <a:xfrm>
            <a:off x="74365" y="3711941"/>
            <a:ext cx="78816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Examples</a:t>
            </a:r>
            <a:endParaRPr b="1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3"/>
          <p:cNvSpPr txBox="1"/>
          <p:nvPr/>
        </p:nvSpPr>
        <p:spPr>
          <a:xfrm>
            <a:off x="5662387" y="3731254"/>
            <a:ext cx="117288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Non - Examples</a:t>
            </a:r>
            <a:endParaRPr b="1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3"/>
          <p:cNvSpPr txBox="1"/>
          <p:nvPr/>
        </p:nvSpPr>
        <p:spPr>
          <a:xfrm>
            <a:off x="97587" y="2997887"/>
            <a:ext cx="3477873" cy="4788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measure of space in two dimensions contained within a boundary (perimeter).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3"/>
          <p:cNvSpPr txBox="1"/>
          <p:nvPr/>
        </p:nvSpPr>
        <p:spPr>
          <a:xfrm>
            <a:off x="3504913" y="2944069"/>
            <a:ext cx="3230335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762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inside of a 2-D shape</a:t>
            </a:r>
            <a:endParaRPr/>
          </a:p>
          <a:p>
            <a:pPr indent="-762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Usually measured using squares of length one unit (where a unit can be cm, metre, inch etc.)</a:t>
            </a:r>
            <a:endParaRPr/>
          </a:p>
        </p:txBody>
      </p:sp>
      <p:sp>
        <p:nvSpPr>
          <p:cNvPr id="138" name="Google Shape;138;p13"/>
          <p:cNvSpPr txBox="1"/>
          <p:nvPr/>
        </p:nvSpPr>
        <p:spPr>
          <a:xfrm>
            <a:off x="3103635" y="3593854"/>
            <a:ext cx="620876" cy="369332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Area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9" name="Google Shape;139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64405" y="3783642"/>
            <a:ext cx="2007208" cy="1165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602968" y="4002317"/>
            <a:ext cx="2241244" cy="1049512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3"/>
          <p:cNvSpPr/>
          <p:nvPr/>
        </p:nvSpPr>
        <p:spPr>
          <a:xfrm>
            <a:off x="86108" y="1631594"/>
            <a:ext cx="6647737" cy="1074219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3"/>
          <p:cNvSpPr txBox="1"/>
          <p:nvPr/>
        </p:nvSpPr>
        <p:spPr>
          <a:xfrm>
            <a:off x="60796" y="1586018"/>
            <a:ext cx="6774476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2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Introduction – read and annotate:</a:t>
            </a:r>
            <a:endParaRPr/>
          </a:p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Area is the amount of space a shape covers, and we measure it in square units like cm² or m². Finding</a:t>
            </a:r>
            <a:endParaRPr/>
          </a:p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area of squares and rectangles is an application of all the multiplying you've been practicing</a:t>
            </a:r>
            <a:endParaRPr/>
          </a:p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because we work it out by multiplying the length by the width. Sometimes, you’ll be asked to find the</a:t>
            </a:r>
            <a:endParaRPr/>
          </a:p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area of a shaded part, which might involve working out just a section of the shape. Being confident</a:t>
            </a:r>
            <a:endParaRPr/>
          </a:p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with multiplication helps you solve these problems accurately.</a:t>
            </a:r>
            <a:endParaRPr i="0" sz="1200" u="sng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3"/>
          <p:cNvSpPr txBox="1"/>
          <p:nvPr/>
        </p:nvSpPr>
        <p:spPr>
          <a:xfrm>
            <a:off x="3522728" y="5119577"/>
            <a:ext cx="3209468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Area of a rectangle = length x width</a:t>
            </a:r>
            <a:endParaRPr/>
          </a:p>
        </p:txBody>
      </p:sp>
      <p:sp>
        <p:nvSpPr>
          <p:cNvPr id="144" name="Google Shape;144;p13"/>
          <p:cNvSpPr txBox="1"/>
          <p:nvPr/>
        </p:nvSpPr>
        <p:spPr>
          <a:xfrm>
            <a:off x="1612573" y="6729215"/>
            <a:ext cx="77938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45cm</a:t>
            </a:r>
            <a:r>
              <a:rPr b="1" baseline="30000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145" name="Google Shape;145;p13"/>
          <p:cNvSpPr txBox="1"/>
          <p:nvPr/>
        </p:nvSpPr>
        <p:spPr>
          <a:xfrm>
            <a:off x="1585207" y="8900602"/>
            <a:ext cx="89800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144cm</a:t>
            </a:r>
            <a:r>
              <a:rPr b="1" baseline="30000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146" name="Google Shape;146;p13"/>
          <p:cNvSpPr txBox="1"/>
          <p:nvPr/>
        </p:nvSpPr>
        <p:spPr>
          <a:xfrm>
            <a:off x="3630548" y="7269010"/>
            <a:ext cx="78098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36cm</a:t>
            </a:r>
            <a:r>
              <a:rPr b="1" baseline="30000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147" name="Google Shape;147;p13"/>
          <p:cNvSpPr txBox="1"/>
          <p:nvPr/>
        </p:nvSpPr>
        <p:spPr>
          <a:xfrm>
            <a:off x="3620769" y="8988760"/>
            <a:ext cx="78098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49cm</a:t>
            </a:r>
            <a:r>
              <a:rPr b="1" baseline="30000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148" name="Google Shape;148;p13"/>
          <p:cNvSpPr txBox="1"/>
          <p:nvPr/>
        </p:nvSpPr>
        <p:spPr>
          <a:xfrm>
            <a:off x="5450859" y="6884479"/>
            <a:ext cx="78098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48cm</a:t>
            </a:r>
            <a:r>
              <a:rPr b="1" baseline="30000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149" name="Google Shape;149;p13"/>
          <p:cNvSpPr txBox="1"/>
          <p:nvPr/>
        </p:nvSpPr>
        <p:spPr>
          <a:xfrm>
            <a:off x="5458894" y="8761423"/>
            <a:ext cx="78098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25cm</a:t>
            </a:r>
            <a:r>
              <a:rPr b="1" baseline="30000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4"/>
          <p:cNvSpPr txBox="1"/>
          <p:nvPr>
            <p:ph idx="12" type="sldNum"/>
          </p:nvPr>
        </p:nvSpPr>
        <p:spPr>
          <a:xfrm>
            <a:off x="5243667" y="9479090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</p:txBody>
      </p:sp>
      <p:graphicFrame>
        <p:nvGraphicFramePr>
          <p:cNvPr id="156" name="Google Shape;156;p14"/>
          <p:cNvGraphicFramePr/>
          <p:nvPr/>
        </p:nvGraphicFramePr>
        <p:xfrm>
          <a:off x="142761" y="33851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{7F622640-7F73-40B3-BA3B-6E99962658F5}</a:tableStyleId>
              </a:tblPr>
              <a:tblGrid>
                <a:gridCol w="988300"/>
                <a:gridCol w="1861400"/>
                <a:gridCol w="1861400"/>
                <a:gridCol w="1861400"/>
              </a:tblGrid>
              <a:tr h="2088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100">
                          <a:solidFill>
                            <a:schemeClr val="dk1"/>
                          </a:solidFill>
                        </a:rPr>
                        <a:t>Steps</a:t>
                      </a:r>
                      <a:endParaRPr b="1" sz="11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Work out the area 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Work out the area 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Work out the area 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7289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b="0" i="0" lang="en-GB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1) Make sure the units are the same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br>
                        <a:rPr b="0" i="0" lang="en-GB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</a:br>
                      <a:r>
                        <a:rPr b="0" i="0" lang="en-GB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2) Multiply the length by the width 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br>
                        <a:rPr b="0" i="0" lang="en-GB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</a:br>
                      <a:r>
                        <a:rPr b="0" i="0" lang="en-GB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3) Include the units in your answer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157" name="Google Shape;157;p14"/>
          <p:cNvSpPr txBox="1"/>
          <p:nvPr/>
        </p:nvSpPr>
        <p:spPr>
          <a:xfrm>
            <a:off x="1334082" y="54812"/>
            <a:ext cx="141070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Example 4 - I do…</a:t>
            </a:r>
            <a:endParaRPr/>
          </a:p>
        </p:txBody>
      </p:sp>
      <p:sp>
        <p:nvSpPr>
          <p:cNvPr id="158" name="Google Shape;158;p14"/>
          <p:cNvSpPr txBox="1"/>
          <p:nvPr/>
        </p:nvSpPr>
        <p:spPr>
          <a:xfrm>
            <a:off x="5006366" y="57420"/>
            <a:ext cx="164340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Example 6 – You do…</a:t>
            </a:r>
            <a:endParaRPr/>
          </a:p>
        </p:txBody>
      </p:sp>
      <p:sp>
        <p:nvSpPr>
          <p:cNvPr id="159" name="Google Shape;159;p14"/>
          <p:cNvSpPr txBox="1"/>
          <p:nvPr/>
        </p:nvSpPr>
        <p:spPr>
          <a:xfrm>
            <a:off x="3068123" y="54812"/>
            <a:ext cx="164340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Example 5 – We do…</a:t>
            </a:r>
            <a:endParaRPr/>
          </a:p>
        </p:txBody>
      </p:sp>
      <p:pic>
        <p:nvPicPr>
          <p:cNvPr id="160" name="Google Shape;160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26009" y="652954"/>
            <a:ext cx="1212579" cy="74202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61" name="Google Shape;161;p14"/>
          <p:cNvGrpSpPr/>
          <p:nvPr/>
        </p:nvGrpSpPr>
        <p:grpSpPr>
          <a:xfrm>
            <a:off x="3579202" y="647147"/>
            <a:ext cx="1242405" cy="556436"/>
            <a:chOff x="3460899" y="821592"/>
            <a:chExt cx="1242405" cy="556436"/>
          </a:xfrm>
        </p:grpSpPr>
        <p:sp>
          <p:nvSpPr>
            <p:cNvPr id="162" name="Google Shape;162;p14"/>
            <p:cNvSpPr/>
            <p:nvPr/>
          </p:nvSpPr>
          <p:spPr>
            <a:xfrm>
              <a:off x="3460899" y="1073266"/>
              <a:ext cx="685139" cy="304762"/>
            </a:xfrm>
            <a:prstGeom prst="rect">
              <a:avLst/>
            </a:prstGeom>
            <a:solidFill>
              <a:schemeClr val="lt1"/>
            </a:solidFill>
            <a:ln cap="flat" cmpd="sng" w="1905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3" name="Google Shape;163;p14"/>
            <p:cNvSpPr txBox="1"/>
            <p:nvPr/>
          </p:nvSpPr>
          <p:spPr>
            <a:xfrm>
              <a:off x="4114139" y="1073266"/>
              <a:ext cx="589165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5.2cm</a:t>
              </a:r>
              <a:endParaRPr/>
            </a:p>
          </p:txBody>
        </p:sp>
        <p:sp>
          <p:nvSpPr>
            <p:cNvPr id="164" name="Google Shape;164;p14"/>
            <p:cNvSpPr txBox="1"/>
            <p:nvPr/>
          </p:nvSpPr>
          <p:spPr>
            <a:xfrm>
              <a:off x="3499363" y="821592"/>
              <a:ext cx="589165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7.1cm</a:t>
              </a:r>
              <a:endParaRPr/>
            </a:p>
          </p:txBody>
        </p:sp>
      </p:grpSp>
      <p:grpSp>
        <p:nvGrpSpPr>
          <p:cNvPr id="165" name="Google Shape;165;p14"/>
          <p:cNvGrpSpPr/>
          <p:nvPr/>
        </p:nvGrpSpPr>
        <p:grpSpPr>
          <a:xfrm>
            <a:off x="5442469" y="658301"/>
            <a:ext cx="1161888" cy="724485"/>
            <a:chOff x="5402765" y="792350"/>
            <a:chExt cx="1161888" cy="724485"/>
          </a:xfrm>
        </p:grpSpPr>
        <p:sp>
          <p:nvSpPr>
            <p:cNvPr id="166" name="Google Shape;166;p14"/>
            <p:cNvSpPr/>
            <p:nvPr/>
          </p:nvSpPr>
          <p:spPr>
            <a:xfrm>
              <a:off x="5402765" y="1034615"/>
              <a:ext cx="577541" cy="482220"/>
            </a:xfrm>
            <a:prstGeom prst="rect">
              <a:avLst/>
            </a:prstGeom>
            <a:solidFill>
              <a:schemeClr val="lt1"/>
            </a:solidFill>
            <a:ln cap="flat" cmpd="sng" w="1905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7" name="Google Shape;167;p14"/>
            <p:cNvSpPr txBox="1"/>
            <p:nvPr/>
          </p:nvSpPr>
          <p:spPr>
            <a:xfrm>
              <a:off x="5402926" y="792350"/>
              <a:ext cx="589165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4.9cm</a:t>
              </a:r>
              <a:endParaRPr/>
            </a:p>
          </p:txBody>
        </p:sp>
        <p:sp>
          <p:nvSpPr>
            <p:cNvPr id="168" name="Google Shape;168;p14"/>
            <p:cNvSpPr txBox="1"/>
            <p:nvPr/>
          </p:nvSpPr>
          <p:spPr>
            <a:xfrm>
              <a:off x="5975488" y="1087147"/>
              <a:ext cx="589165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4.8cm</a:t>
              </a:r>
              <a:endParaRPr/>
            </a:p>
          </p:txBody>
        </p:sp>
      </p:grpSp>
      <p:sp>
        <p:nvSpPr>
          <p:cNvPr id="169" name="Google Shape;169;p14"/>
          <p:cNvSpPr txBox="1"/>
          <p:nvPr/>
        </p:nvSpPr>
        <p:spPr>
          <a:xfrm>
            <a:off x="3640868" y="1191263"/>
            <a:ext cx="58916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7.1cm</a:t>
            </a:r>
            <a:endParaRPr/>
          </a:p>
        </p:txBody>
      </p:sp>
      <p:sp>
        <p:nvSpPr>
          <p:cNvPr id="170" name="Google Shape;170;p14"/>
          <p:cNvSpPr txBox="1"/>
          <p:nvPr/>
        </p:nvSpPr>
        <p:spPr>
          <a:xfrm>
            <a:off x="3022415" y="898821"/>
            <a:ext cx="58916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5.2cm</a:t>
            </a:r>
            <a:endParaRPr/>
          </a:p>
        </p:txBody>
      </p:sp>
      <p:sp>
        <p:nvSpPr>
          <p:cNvPr id="171" name="Google Shape;171;p14"/>
          <p:cNvSpPr/>
          <p:nvPr/>
        </p:nvSpPr>
        <p:spPr>
          <a:xfrm>
            <a:off x="134704" y="2775890"/>
            <a:ext cx="1681900" cy="288934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Independent Practice</a:t>
            </a:r>
            <a:endParaRPr/>
          </a:p>
        </p:txBody>
      </p:sp>
      <p:sp>
        <p:nvSpPr>
          <p:cNvPr id="172" name="Google Shape;172;p14"/>
          <p:cNvSpPr txBox="1"/>
          <p:nvPr/>
        </p:nvSpPr>
        <p:spPr>
          <a:xfrm>
            <a:off x="1386971" y="2847548"/>
            <a:ext cx="4922803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b="0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 Calculate the area of each shape. Remember to include units.</a:t>
            </a:r>
            <a:endParaRPr/>
          </a:p>
        </p:txBody>
      </p:sp>
      <p:graphicFrame>
        <p:nvGraphicFramePr>
          <p:cNvPr id="173" name="Google Shape;173;p14"/>
          <p:cNvGraphicFramePr/>
          <p:nvPr/>
        </p:nvGraphicFramePr>
        <p:xfrm>
          <a:off x="142761" y="312385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{7F622640-7F73-40B3-BA3B-6E99962658F5}</a:tableStyleId>
              </a:tblPr>
              <a:tblGrid>
                <a:gridCol w="1643125"/>
                <a:gridCol w="1643125"/>
                <a:gridCol w="1643125"/>
                <a:gridCol w="1643125"/>
              </a:tblGrid>
              <a:tr h="19895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a)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b)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c)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d)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90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e)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f)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g)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h)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174" name="Google Shape;174;p14"/>
          <p:cNvPicPr preferRelativeResize="0"/>
          <p:nvPr/>
        </p:nvPicPr>
        <p:blipFill rotWithShape="1">
          <a:blip r:embed="rId4">
            <a:alphaModFix/>
          </a:blip>
          <a:srcRect b="21120" l="3799" r="74017" t="26407"/>
          <a:stretch/>
        </p:blipFill>
        <p:spPr>
          <a:xfrm>
            <a:off x="346480" y="3467250"/>
            <a:ext cx="1339702" cy="7147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14"/>
          <p:cNvPicPr preferRelativeResize="0"/>
          <p:nvPr/>
        </p:nvPicPr>
        <p:blipFill rotWithShape="1">
          <a:blip r:embed="rId4">
            <a:alphaModFix/>
          </a:blip>
          <a:srcRect b="16697" l="32439" r="48105" t="22415"/>
          <a:stretch/>
        </p:blipFill>
        <p:spPr>
          <a:xfrm>
            <a:off x="2174206" y="3425289"/>
            <a:ext cx="1174899" cy="829341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14"/>
          <p:cNvPicPr preferRelativeResize="0"/>
          <p:nvPr/>
        </p:nvPicPr>
        <p:blipFill rotWithShape="1">
          <a:blip r:embed="rId4">
            <a:alphaModFix/>
          </a:blip>
          <a:srcRect b="22377" l="54037" r="22194" t="30612"/>
          <a:stretch/>
        </p:blipFill>
        <p:spPr>
          <a:xfrm>
            <a:off x="3605212" y="3467250"/>
            <a:ext cx="1435395" cy="6403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14"/>
          <p:cNvPicPr preferRelativeResize="0"/>
          <p:nvPr/>
        </p:nvPicPr>
        <p:blipFill rotWithShape="1">
          <a:blip r:embed="rId4">
            <a:alphaModFix/>
          </a:blip>
          <a:srcRect b="0" l="84647" r="0" t="19556"/>
          <a:stretch/>
        </p:blipFill>
        <p:spPr>
          <a:xfrm>
            <a:off x="5585454" y="3425289"/>
            <a:ext cx="927113" cy="109570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" name="Google Shape;178;p14"/>
          <p:cNvPicPr preferRelativeResize="0"/>
          <p:nvPr/>
        </p:nvPicPr>
        <p:blipFill rotWithShape="1">
          <a:blip r:embed="rId4">
            <a:alphaModFix/>
          </a:blip>
          <a:srcRect b="36716" l="45891" r="49002" t="43466"/>
          <a:stretch/>
        </p:blipFill>
        <p:spPr>
          <a:xfrm>
            <a:off x="1873031" y="3685707"/>
            <a:ext cx="308344" cy="2699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14"/>
          <p:cNvPicPr preferRelativeResize="0"/>
          <p:nvPr/>
        </p:nvPicPr>
        <p:blipFill rotWithShape="1">
          <a:blip r:embed="rId4">
            <a:alphaModFix/>
          </a:blip>
          <a:srcRect b="68098" l="32619" r="47925" t="18021"/>
          <a:stretch/>
        </p:blipFill>
        <p:spPr>
          <a:xfrm>
            <a:off x="2174205" y="4160098"/>
            <a:ext cx="1174899" cy="189063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80;p14"/>
          <p:cNvPicPr preferRelativeResize="0"/>
          <p:nvPr/>
        </p:nvPicPr>
        <p:blipFill rotWithShape="1">
          <a:blip r:embed="rId4">
            <a:alphaModFix/>
          </a:blip>
          <a:srcRect b="30958" l="91099" r="2523" t="54785"/>
          <a:stretch/>
        </p:blipFill>
        <p:spPr>
          <a:xfrm>
            <a:off x="5285808" y="3900290"/>
            <a:ext cx="385751" cy="194513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" name="Google Shape;181;p14"/>
          <p:cNvPicPr preferRelativeResize="0"/>
          <p:nvPr/>
        </p:nvPicPr>
        <p:blipFill rotWithShape="1">
          <a:blip r:embed="rId4">
            <a:alphaModFix/>
          </a:blip>
          <a:srcRect b="66163" l="84647" r="7676" t="19556"/>
          <a:stretch/>
        </p:blipFill>
        <p:spPr>
          <a:xfrm>
            <a:off x="5585454" y="4386765"/>
            <a:ext cx="463621" cy="194513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p14"/>
          <p:cNvPicPr preferRelativeResize="0"/>
          <p:nvPr/>
        </p:nvPicPr>
        <p:blipFill rotWithShape="1">
          <a:blip r:embed="rId5">
            <a:alphaModFix/>
          </a:blip>
          <a:srcRect b="-2618" l="3180" r="79361" t="23691"/>
          <a:stretch/>
        </p:blipFill>
        <p:spPr>
          <a:xfrm>
            <a:off x="405601" y="5179671"/>
            <a:ext cx="1005294" cy="904848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Google Shape;183;p14"/>
          <p:cNvPicPr preferRelativeResize="0"/>
          <p:nvPr/>
        </p:nvPicPr>
        <p:blipFill rotWithShape="1">
          <a:blip r:embed="rId5">
            <a:alphaModFix/>
          </a:blip>
          <a:srcRect b="13293" l="52404" r="27621" t="38042"/>
          <a:stretch/>
        </p:blipFill>
        <p:spPr>
          <a:xfrm>
            <a:off x="3638323" y="5246648"/>
            <a:ext cx="1150119" cy="557906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14"/>
          <p:cNvPicPr preferRelativeResize="0"/>
          <p:nvPr/>
        </p:nvPicPr>
        <p:blipFill rotWithShape="1">
          <a:blip r:embed="rId5">
            <a:alphaModFix/>
          </a:blip>
          <a:srcRect b="9741" l="75648" r="0" t="32147"/>
          <a:stretch/>
        </p:blipFill>
        <p:spPr>
          <a:xfrm>
            <a:off x="5285808" y="5207403"/>
            <a:ext cx="1402149" cy="66621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85" name="Google Shape;185;p14"/>
          <p:cNvGrpSpPr/>
          <p:nvPr/>
        </p:nvGrpSpPr>
        <p:grpSpPr>
          <a:xfrm>
            <a:off x="1824661" y="5207403"/>
            <a:ext cx="1578014" cy="904970"/>
            <a:chOff x="1776370" y="7145458"/>
            <a:chExt cx="1578014" cy="904970"/>
          </a:xfrm>
        </p:grpSpPr>
        <p:pic>
          <p:nvPicPr>
            <p:cNvPr id="186" name="Google Shape;186;p14"/>
            <p:cNvPicPr preferRelativeResize="0"/>
            <p:nvPr/>
          </p:nvPicPr>
          <p:blipFill rotWithShape="1">
            <a:blip r:embed="rId5">
              <a:alphaModFix/>
            </a:blip>
            <a:srcRect b="0" l="28006" r="50820" t="27455"/>
            <a:stretch/>
          </p:blipFill>
          <p:spPr>
            <a:xfrm>
              <a:off x="2135183" y="7145458"/>
              <a:ext cx="1219201" cy="83167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7" name="Google Shape;187;p14"/>
            <p:cNvPicPr preferRelativeResize="0"/>
            <p:nvPr/>
          </p:nvPicPr>
          <p:blipFill rotWithShape="1">
            <a:blip r:embed="rId5">
              <a:alphaModFix/>
            </a:blip>
            <a:srcRect b="59758" l="28006" r="50820" t="27455"/>
            <a:stretch/>
          </p:blipFill>
          <p:spPr>
            <a:xfrm>
              <a:off x="2135182" y="7903840"/>
              <a:ext cx="1219201" cy="14658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8" name="Google Shape;188;p14"/>
            <p:cNvPicPr preferRelativeResize="0"/>
            <p:nvPr/>
          </p:nvPicPr>
          <p:blipFill rotWithShape="1">
            <a:blip r:embed="rId5">
              <a:alphaModFix/>
            </a:blip>
            <a:srcRect b="23880" l="41562" r="51474" t="56337"/>
            <a:stretch/>
          </p:blipFill>
          <p:spPr>
            <a:xfrm>
              <a:off x="1776370" y="7503487"/>
              <a:ext cx="400999" cy="22679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89" name="Google Shape;189;p14"/>
          <p:cNvSpPr txBox="1"/>
          <p:nvPr/>
        </p:nvSpPr>
        <p:spPr>
          <a:xfrm>
            <a:off x="-775220" y="7204359"/>
            <a:ext cx="4922803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b="0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2. The shapes below are rectangles. True or false?</a:t>
            </a:r>
            <a:endParaRPr/>
          </a:p>
        </p:txBody>
      </p:sp>
      <p:graphicFrame>
        <p:nvGraphicFramePr>
          <p:cNvPr id="190" name="Google Shape;190;p14"/>
          <p:cNvGraphicFramePr/>
          <p:nvPr/>
        </p:nvGraphicFramePr>
        <p:xfrm>
          <a:off x="142760" y="745807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{7F622640-7F73-40B3-BA3B-6E99962658F5}</a:tableStyleId>
              </a:tblPr>
              <a:tblGrid>
                <a:gridCol w="2164275"/>
                <a:gridCol w="1121975"/>
                <a:gridCol w="2157625"/>
                <a:gridCol w="1128600"/>
              </a:tblGrid>
              <a:tr h="257775">
                <a:tc gridSpan="2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a)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gridSpan="2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b)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True / False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b="0" i="0" lang="en-GB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True / False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191" name="Google Shape;191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10720" y="7869581"/>
            <a:ext cx="1910782" cy="1481831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528054" y="7883884"/>
            <a:ext cx="1779617" cy="1453224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14"/>
          <p:cNvSpPr txBox="1"/>
          <p:nvPr/>
        </p:nvSpPr>
        <p:spPr>
          <a:xfrm>
            <a:off x="1511410" y="2409038"/>
            <a:ext cx="95891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24.8cm</a:t>
            </a:r>
            <a:r>
              <a:rPr b="1" baseline="30000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194" name="Google Shape;194;p14"/>
          <p:cNvSpPr txBox="1"/>
          <p:nvPr/>
        </p:nvSpPr>
        <p:spPr>
          <a:xfrm>
            <a:off x="3376369" y="2431203"/>
            <a:ext cx="107593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36.92cm</a:t>
            </a:r>
            <a:r>
              <a:rPr b="1" baseline="30000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195" name="Google Shape;195;p14"/>
          <p:cNvSpPr txBox="1"/>
          <p:nvPr/>
        </p:nvSpPr>
        <p:spPr>
          <a:xfrm>
            <a:off x="5262426" y="2431203"/>
            <a:ext cx="107593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23.52cm</a:t>
            </a:r>
            <a:r>
              <a:rPr b="1" baseline="30000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196" name="Google Shape;196;p14"/>
          <p:cNvSpPr txBox="1"/>
          <p:nvPr/>
        </p:nvSpPr>
        <p:spPr>
          <a:xfrm>
            <a:off x="565509" y="4472309"/>
            <a:ext cx="78098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45cm</a:t>
            </a:r>
            <a:r>
              <a:rPr b="1" baseline="30000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197" name="Google Shape;197;p14"/>
          <p:cNvSpPr txBox="1"/>
          <p:nvPr/>
        </p:nvSpPr>
        <p:spPr>
          <a:xfrm>
            <a:off x="2224497" y="4472309"/>
            <a:ext cx="78098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56cm</a:t>
            </a:r>
            <a:r>
              <a:rPr b="1" baseline="30000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198" name="Google Shape;198;p14"/>
          <p:cNvSpPr txBox="1"/>
          <p:nvPr/>
        </p:nvSpPr>
        <p:spPr>
          <a:xfrm>
            <a:off x="3933460" y="4472309"/>
            <a:ext cx="78098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24cm</a:t>
            </a:r>
            <a:r>
              <a:rPr b="1" baseline="30000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199" name="Google Shape;199;p14"/>
          <p:cNvSpPr txBox="1"/>
          <p:nvPr/>
        </p:nvSpPr>
        <p:spPr>
          <a:xfrm>
            <a:off x="5524313" y="4472309"/>
            <a:ext cx="78098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45cm</a:t>
            </a:r>
            <a:r>
              <a:rPr b="1" baseline="30000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200" name="Google Shape;200;p14"/>
          <p:cNvSpPr txBox="1"/>
          <p:nvPr/>
        </p:nvSpPr>
        <p:spPr>
          <a:xfrm>
            <a:off x="369493" y="6272806"/>
            <a:ext cx="95891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51.3cm</a:t>
            </a:r>
            <a:r>
              <a:rPr b="1" baseline="30000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201" name="Google Shape;201;p14"/>
          <p:cNvSpPr txBox="1"/>
          <p:nvPr/>
        </p:nvSpPr>
        <p:spPr>
          <a:xfrm>
            <a:off x="2019225" y="6296089"/>
            <a:ext cx="107593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38.86cm</a:t>
            </a:r>
            <a:r>
              <a:rPr b="1" baseline="30000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202" name="Google Shape;202;p14"/>
          <p:cNvSpPr txBox="1"/>
          <p:nvPr/>
        </p:nvSpPr>
        <p:spPr>
          <a:xfrm>
            <a:off x="3757481" y="6304472"/>
            <a:ext cx="86273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0.27m</a:t>
            </a:r>
            <a:r>
              <a:rPr b="1" baseline="30000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203" name="Google Shape;203;p14"/>
          <p:cNvSpPr txBox="1"/>
          <p:nvPr/>
        </p:nvSpPr>
        <p:spPr>
          <a:xfrm>
            <a:off x="5412099" y="6288863"/>
            <a:ext cx="97334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0.78km</a:t>
            </a:r>
            <a:r>
              <a:rPr b="1" baseline="30000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204" name="Google Shape;204;p14"/>
          <p:cNvSpPr/>
          <p:nvPr/>
        </p:nvSpPr>
        <p:spPr>
          <a:xfrm>
            <a:off x="2866115" y="8565997"/>
            <a:ext cx="458092" cy="257648"/>
          </a:xfrm>
          <a:prstGeom prst="ellipse">
            <a:avLst/>
          </a:prstGeom>
          <a:noFill/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4"/>
          <p:cNvSpPr/>
          <p:nvPr/>
        </p:nvSpPr>
        <p:spPr>
          <a:xfrm>
            <a:off x="5592329" y="8565997"/>
            <a:ext cx="458092" cy="257648"/>
          </a:xfrm>
          <a:prstGeom prst="ellipse">
            <a:avLst/>
          </a:prstGeom>
          <a:noFill/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10" name="Google Shape;210;p15"/>
          <p:cNvGraphicFramePr/>
          <p:nvPr/>
        </p:nvGraphicFramePr>
        <p:xfrm>
          <a:off x="285750" y="25023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{7F622640-7F73-40B3-BA3B-6E99962658F5}</a:tableStyleId>
              </a:tblPr>
              <a:tblGrid>
                <a:gridCol w="2070100"/>
                <a:gridCol w="1073150"/>
                <a:gridCol w="2063750"/>
                <a:gridCol w="1079500"/>
              </a:tblGrid>
              <a:tr h="222200">
                <a:tc gridSpan="2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c)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gridSpan="2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d)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b="0" i="0" lang="en-GB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True / False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b="0" i="0" lang="en-GB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True / False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4750">
                <a:tc gridSpan="2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e)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gridSpan="2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f)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b="0" i="0" lang="en-GB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True / False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b="0" i="0" lang="en-GB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True / False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4575">
                <a:tc gridSpan="2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g)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gridSpan="2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h)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b="0" i="0" lang="en-GB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True / False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b="0" i="0" lang="en-GB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True / False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211" name="Google Shape;211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4469" y="699512"/>
            <a:ext cx="1727200" cy="1421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12" name="Google Shape;212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02775" y="722873"/>
            <a:ext cx="1885598" cy="134288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3" name="Google Shape;213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23944" y="2952532"/>
            <a:ext cx="1100554" cy="11323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14" name="Google Shape;214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73939" y="4176315"/>
            <a:ext cx="988259" cy="420644"/>
          </a:xfrm>
          <a:prstGeom prst="rect">
            <a:avLst/>
          </a:prstGeom>
          <a:noFill/>
          <a:ln>
            <a:noFill/>
          </a:ln>
        </p:spPr>
      </p:pic>
      <p:pic>
        <p:nvPicPr>
          <p:cNvPr id="215" name="Google Shape;215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796904" y="2952532"/>
            <a:ext cx="1343025" cy="1085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6" name="Google Shape;216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035931" y="4241186"/>
            <a:ext cx="988259" cy="355773"/>
          </a:xfrm>
          <a:prstGeom prst="rect">
            <a:avLst/>
          </a:prstGeom>
          <a:noFill/>
          <a:ln>
            <a:noFill/>
          </a:ln>
        </p:spPr>
      </p:pic>
      <p:pic>
        <p:nvPicPr>
          <p:cNvPr id="217" name="Google Shape;217;p1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89900" y="5470739"/>
            <a:ext cx="1401806" cy="1181522"/>
          </a:xfrm>
          <a:prstGeom prst="rect">
            <a:avLst/>
          </a:prstGeom>
          <a:noFill/>
          <a:ln>
            <a:noFill/>
          </a:ln>
        </p:spPr>
      </p:pic>
      <p:pic>
        <p:nvPicPr>
          <p:cNvPr id="218" name="Google Shape;218;p1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3782106" y="5450851"/>
            <a:ext cx="1357823" cy="999438"/>
          </a:xfrm>
          <a:prstGeom prst="rect">
            <a:avLst/>
          </a:prstGeom>
          <a:noFill/>
          <a:ln>
            <a:noFill/>
          </a:ln>
        </p:spPr>
      </p:pic>
      <p:pic>
        <p:nvPicPr>
          <p:cNvPr id="219" name="Google Shape;219;p15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873939" y="6697927"/>
            <a:ext cx="933451" cy="350636"/>
          </a:xfrm>
          <a:prstGeom prst="rect">
            <a:avLst/>
          </a:prstGeom>
          <a:noFill/>
          <a:ln>
            <a:noFill/>
          </a:ln>
        </p:spPr>
      </p:pic>
      <p:pic>
        <p:nvPicPr>
          <p:cNvPr id="220" name="Google Shape;220;p15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4054982" y="6450289"/>
            <a:ext cx="933451" cy="347663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15"/>
          <p:cNvSpPr txBox="1"/>
          <p:nvPr>
            <p:ph idx="12" type="sldNum"/>
          </p:nvPr>
        </p:nvSpPr>
        <p:spPr>
          <a:xfrm>
            <a:off x="5314950" y="947774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22" name="Google Shape;222;p15"/>
          <p:cNvSpPr txBox="1"/>
          <p:nvPr/>
        </p:nvSpPr>
        <p:spPr>
          <a:xfrm>
            <a:off x="-708963" y="7306167"/>
            <a:ext cx="4922803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b="0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3. Calculate the areas of the following squares.</a:t>
            </a:r>
            <a:endParaRPr/>
          </a:p>
        </p:txBody>
      </p:sp>
      <p:graphicFrame>
        <p:nvGraphicFramePr>
          <p:cNvPr id="223" name="Google Shape;223;p15"/>
          <p:cNvGraphicFramePr/>
          <p:nvPr/>
        </p:nvGraphicFramePr>
        <p:xfrm>
          <a:off x="285750" y="75679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{7F622640-7F73-40B3-BA3B-6E99962658F5}</a:tableStyleId>
              </a:tblPr>
              <a:tblGrid>
                <a:gridCol w="3143250"/>
                <a:gridCol w="3143250"/>
              </a:tblGrid>
              <a:tr h="222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a)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b)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7081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224" name="Google Shape;224;p15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3726820" y="7883540"/>
            <a:ext cx="1297370" cy="108837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25" name="Google Shape;225;p15"/>
          <p:cNvGrpSpPr/>
          <p:nvPr/>
        </p:nvGrpSpPr>
        <p:grpSpPr>
          <a:xfrm>
            <a:off x="367916" y="7883540"/>
            <a:ext cx="1421676" cy="1088372"/>
            <a:chOff x="537660" y="909446"/>
            <a:chExt cx="2743200" cy="2066801"/>
          </a:xfrm>
        </p:grpSpPr>
        <p:pic>
          <p:nvPicPr>
            <p:cNvPr id="226" name="Google Shape;226;p15"/>
            <p:cNvPicPr preferRelativeResize="0"/>
            <p:nvPr/>
          </p:nvPicPr>
          <p:blipFill rotWithShape="1">
            <a:blip r:embed="rId14">
              <a:alphaModFix/>
            </a:blip>
            <a:srcRect b="0" l="0" r="0" t="0"/>
            <a:stretch/>
          </p:blipFill>
          <p:spPr>
            <a:xfrm>
              <a:off x="537660" y="909446"/>
              <a:ext cx="2743200" cy="20193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27" name="Google Shape;227;p15"/>
            <p:cNvSpPr/>
            <p:nvPr/>
          </p:nvSpPr>
          <p:spPr>
            <a:xfrm>
              <a:off x="553702" y="1732547"/>
              <a:ext cx="553203" cy="368969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8" name="Google Shape;228;p15"/>
            <p:cNvSpPr/>
            <p:nvPr/>
          </p:nvSpPr>
          <p:spPr>
            <a:xfrm>
              <a:off x="1632658" y="2607278"/>
              <a:ext cx="553203" cy="368969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9" name="Google Shape;229;p15"/>
            <p:cNvSpPr/>
            <p:nvPr/>
          </p:nvSpPr>
          <p:spPr>
            <a:xfrm>
              <a:off x="2655969" y="2393884"/>
              <a:ext cx="553203" cy="368969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0" name="Google Shape;230;p15"/>
            <p:cNvSpPr/>
            <p:nvPr/>
          </p:nvSpPr>
          <p:spPr>
            <a:xfrm>
              <a:off x="553701" y="2451093"/>
              <a:ext cx="553203" cy="368969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1" name="Google Shape;231;p15"/>
            <p:cNvSpPr/>
            <p:nvPr/>
          </p:nvSpPr>
          <p:spPr>
            <a:xfrm>
              <a:off x="553700" y="995783"/>
              <a:ext cx="553203" cy="368969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2" name="Google Shape;232;p15"/>
            <p:cNvSpPr/>
            <p:nvPr/>
          </p:nvSpPr>
          <p:spPr>
            <a:xfrm>
              <a:off x="2655969" y="1036950"/>
              <a:ext cx="553203" cy="368969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33" name="Google Shape;233;p15"/>
          <p:cNvSpPr/>
          <p:nvPr/>
        </p:nvSpPr>
        <p:spPr>
          <a:xfrm>
            <a:off x="2450387" y="1318796"/>
            <a:ext cx="458092" cy="257648"/>
          </a:xfrm>
          <a:prstGeom prst="ellipse">
            <a:avLst/>
          </a:prstGeom>
          <a:noFill/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15"/>
          <p:cNvSpPr/>
          <p:nvPr/>
        </p:nvSpPr>
        <p:spPr>
          <a:xfrm>
            <a:off x="2450387" y="3758602"/>
            <a:ext cx="458092" cy="257648"/>
          </a:xfrm>
          <a:prstGeom prst="ellipse">
            <a:avLst/>
          </a:prstGeom>
          <a:noFill/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15"/>
          <p:cNvSpPr/>
          <p:nvPr/>
        </p:nvSpPr>
        <p:spPr>
          <a:xfrm>
            <a:off x="2908479" y="6101175"/>
            <a:ext cx="458092" cy="257648"/>
          </a:xfrm>
          <a:prstGeom prst="ellipse">
            <a:avLst/>
          </a:prstGeom>
          <a:noFill/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15"/>
          <p:cNvSpPr/>
          <p:nvPr/>
        </p:nvSpPr>
        <p:spPr>
          <a:xfrm>
            <a:off x="6085820" y="1330828"/>
            <a:ext cx="458092" cy="257648"/>
          </a:xfrm>
          <a:prstGeom prst="ellipse">
            <a:avLst/>
          </a:prstGeom>
          <a:noFill/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15"/>
          <p:cNvSpPr/>
          <p:nvPr/>
        </p:nvSpPr>
        <p:spPr>
          <a:xfrm>
            <a:off x="6056356" y="3754459"/>
            <a:ext cx="458092" cy="257648"/>
          </a:xfrm>
          <a:prstGeom prst="ellipse">
            <a:avLst/>
          </a:prstGeom>
          <a:noFill/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15"/>
          <p:cNvSpPr/>
          <p:nvPr/>
        </p:nvSpPr>
        <p:spPr>
          <a:xfrm>
            <a:off x="6056356" y="6101175"/>
            <a:ext cx="458092" cy="257648"/>
          </a:xfrm>
          <a:prstGeom prst="ellipse">
            <a:avLst/>
          </a:prstGeom>
          <a:noFill/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5"/>
          <p:cNvSpPr txBox="1"/>
          <p:nvPr/>
        </p:nvSpPr>
        <p:spPr>
          <a:xfrm>
            <a:off x="1507397" y="8924548"/>
            <a:ext cx="66396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4cm</a:t>
            </a:r>
            <a:r>
              <a:rPr b="1" baseline="30000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240" name="Google Shape;240;p15"/>
          <p:cNvSpPr txBox="1"/>
          <p:nvPr/>
        </p:nvSpPr>
        <p:spPr>
          <a:xfrm>
            <a:off x="4841895" y="8894976"/>
            <a:ext cx="66396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9cm</a:t>
            </a:r>
            <a:r>
              <a:rPr b="1" baseline="30000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" name="Google Shape;245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50345" y="506627"/>
            <a:ext cx="1017793" cy="1228081"/>
          </a:xfrm>
          <a:prstGeom prst="rect">
            <a:avLst/>
          </a:prstGeom>
          <a:noFill/>
          <a:ln>
            <a:noFill/>
          </a:ln>
        </p:spPr>
      </p:pic>
      <p:pic>
        <p:nvPicPr>
          <p:cNvPr id="246" name="Google Shape;246;p16"/>
          <p:cNvPicPr preferRelativeResize="0"/>
          <p:nvPr/>
        </p:nvPicPr>
        <p:blipFill rotWithShape="1">
          <a:blip r:embed="rId4">
            <a:alphaModFix/>
          </a:blip>
          <a:srcRect b="11947" l="0" r="0" t="0"/>
          <a:stretch/>
        </p:blipFill>
        <p:spPr>
          <a:xfrm>
            <a:off x="289258" y="499736"/>
            <a:ext cx="953704" cy="1088372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47" name="Google Shape;247;p16"/>
          <p:cNvGraphicFramePr/>
          <p:nvPr/>
        </p:nvGraphicFramePr>
        <p:xfrm>
          <a:off x="182479" y="14783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{7F622640-7F73-40B3-BA3B-6E99962658F5}</a:tableStyleId>
              </a:tblPr>
              <a:tblGrid>
                <a:gridCol w="3246525"/>
                <a:gridCol w="3246525"/>
              </a:tblGrid>
              <a:tr h="255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c)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d)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576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9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e)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f)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pSp>
        <p:nvGrpSpPr>
          <p:cNvPr id="248" name="Google Shape;248;p16"/>
          <p:cNvGrpSpPr/>
          <p:nvPr/>
        </p:nvGrpSpPr>
        <p:grpSpPr>
          <a:xfrm>
            <a:off x="3596611" y="2431523"/>
            <a:ext cx="871527" cy="974147"/>
            <a:chOff x="4420481" y="7073543"/>
            <a:chExt cx="1217572" cy="1404880"/>
          </a:xfrm>
        </p:grpSpPr>
        <p:pic>
          <p:nvPicPr>
            <p:cNvPr id="249" name="Google Shape;249;p16"/>
            <p:cNvPicPr preferRelativeResize="0"/>
            <p:nvPr/>
          </p:nvPicPr>
          <p:blipFill rotWithShape="1">
            <a:blip r:embed="rId4">
              <a:alphaModFix/>
            </a:blip>
            <a:srcRect b="11947" l="0" r="0" t="0"/>
            <a:stretch/>
          </p:blipFill>
          <p:spPr>
            <a:xfrm>
              <a:off x="4420481" y="7088924"/>
              <a:ext cx="1217572" cy="138949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0" name="Google Shape;250;p16"/>
            <p:cNvSpPr/>
            <p:nvPr/>
          </p:nvSpPr>
          <p:spPr>
            <a:xfrm>
              <a:off x="4420481" y="7088924"/>
              <a:ext cx="1017793" cy="338571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1" name="Google Shape;251;p16"/>
            <p:cNvSpPr txBox="1"/>
            <p:nvPr/>
          </p:nvSpPr>
          <p:spPr>
            <a:xfrm>
              <a:off x="4420481" y="7073543"/>
              <a:ext cx="845103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8.5mm</a:t>
              </a:r>
              <a:endParaRPr/>
            </a:p>
          </p:txBody>
        </p:sp>
      </p:grpSp>
      <p:grpSp>
        <p:nvGrpSpPr>
          <p:cNvPr id="252" name="Google Shape;252;p16"/>
          <p:cNvGrpSpPr/>
          <p:nvPr/>
        </p:nvGrpSpPr>
        <p:grpSpPr>
          <a:xfrm>
            <a:off x="269697" y="2463960"/>
            <a:ext cx="1749386" cy="1241389"/>
            <a:chOff x="217572" y="3424484"/>
            <a:chExt cx="3143250" cy="2237428"/>
          </a:xfrm>
        </p:grpSpPr>
        <p:pic>
          <p:nvPicPr>
            <p:cNvPr id="253" name="Google Shape;253;p16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217572" y="3483831"/>
              <a:ext cx="3143250" cy="21431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4" name="Google Shape;254;p16"/>
            <p:cNvSpPr/>
            <p:nvPr/>
          </p:nvSpPr>
          <p:spPr>
            <a:xfrm>
              <a:off x="609600" y="3483831"/>
              <a:ext cx="380999" cy="460072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5" name="Google Shape;255;p16"/>
            <p:cNvSpPr/>
            <p:nvPr/>
          </p:nvSpPr>
          <p:spPr>
            <a:xfrm rot="-193828">
              <a:off x="2599822" y="3554715"/>
              <a:ext cx="380999" cy="460072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6" name="Google Shape;256;p16"/>
            <p:cNvSpPr/>
            <p:nvPr/>
          </p:nvSpPr>
          <p:spPr>
            <a:xfrm>
              <a:off x="2593432" y="5061602"/>
              <a:ext cx="380999" cy="460072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7" name="Google Shape;257;p16"/>
            <p:cNvSpPr/>
            <p:nvPr/>
          </p:nvSpPr>
          <p:spPr>
            <a:xfrm>
              <a:off x="620503" y="5201840"/>
              <a:ext cx="380999" cy="460072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8" name="Google Shape;258;p16"/>
            <p:cNvSpPr/>
            <p:nvPr/>
          </p:nvSpPr>
          <p:spPr>
            <a:xfrm>
              <a:off x="2616736" y="4280592"/>
              <a:ext cx="580275" cy="460072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9" name="Google Shape;259;p16"/>
            <p:cNvSpPr/>
            <p:nvPr/>
          </p:nvSpPr>
          <p:spPr>
            <a:xfrm>
              <a:off x="1396613" y="3424484"/>
              <a:ext cx="987343" cy="289383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aphicFrame>
        <p:nvGraphicFramePr>
          <p:cNvPr id="260" name="Google Shape;260;p16"/>
          <p:cNvGraphicFramePr/>
          <p:nvPr/>
        </p:nvGraphicFramePr>
        <p:xfrm>
          <a:off x="182479" y="422758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{7F622640-7F73-40B3-BA3B-6E99962658F5}</a:tableStyleId>
              </a:tblPr>
              <a:tblGrid>
                <a:gridCol w="6565600"/>
              </a:tblGrid>
              <a:tr h="241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b="0" i="0" lang="en-GB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4. Shown below is a wooden picture frame. Work out the shaded area.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7575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pic>
        <p:nvPicPr>
          <p:cNvPr id="261" name="Google Shape;261;p16"/>
          <p:cNvPicPr preferRelativeResize="0"/>
          <p:nvPr/>
        </p:nvPicPr>
        <p:blipFill rotWithShape="1">
          <a:blip r:embed="rId6">
            <a:alphaModFix/>
          </a:blip>
          <a:srcRect b="15985" l="32598" r="0" t="14685"/>
          <a:stretch/>
        </p:blipFill>
        <p:spPr>
          <a:xfrm>
            <a:off x="263207" y="4539200"/>
            <a:ext cx="1779784" cy="168742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62" name="Google Shape;262;p16"/>
          <p:cNvGraphicFramePr/>
          <p:nvPr/>
        </p:nvGraphicFramePr>
        <p:xfrm>
          <a:off x="171593" y="632488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{7F622640-7F73-40B3-BA3B-6E99962658F5}</a:tableStyleId>
              </a:tblPr>
              <a:tblGrid>
                <a:gridCol w="6565600"/>
              </a:tblGrid>
              <a:tr h="2161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b="0" i="0" lang="en-GB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5. The perimeter of a square is 28cm. Find the area of the square.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076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63" name="Google Shape;263;p16"/>
          <p:cNvGraphicFramePr/>
          <p:nvPr/>
        </p:nvGraphicFramePr>
        <p:xfrm>
          <a:off x="171593" y="771726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{7F622640-7F73-40B3-BA3B-6E99962658F5}</a:tableStyleId>
              </a:tblPr>
              <a:tblGrid>
                <a:gridCol w="6565600"/>
              </a:tblGrid>
              <a:tr h="261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b="0" i="0" lang="en-GB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6. Jess wants to lay some grass on her lawn (diagram below). Each square metre costs £23. How much will the grass cost?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62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pic>
        <p:nvPicPr>
          <p:cNvPr id="264" name="Google Shape;264;p16"/>
          <p:cNvPicPr preferRelativeResize="0"/>
          <p:nvPr/>
        </p:nvPicPr>
        <p:blipFill rotWithShape="1">
          <a:blip r:embed="rId7">
            <a:alphaModFix/>
          </a:blip>
          <a:srcRect b="6994" l="0" r="0" t="0"/>
          <a:stretch/>
        </p:blipFill>
        <p:spPr>
          <a:xfrm>
            <a:off x="329959" y="8183599"/>
            <a:ext cx="1596081" cy="1520142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16"/>
          <p:cNvSpPr txBox="1"/>
          <p:nvPr>
            <p:ph idx="12" type="sldNum"/>
          </p:nvPr>
        </p:nvSpPr>
        <p:spPr>
          <a:xfrm>
            <a:off x="5143357" y="932416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66" name="Google Shape;266;p16"/>
          <p:cNvSpPr txBox="1"/>
          <p:nvPr/>
        </p:nvSpPr>
        <p:spPr>
          <a:xfrm>
            <a:off x="1642843" y="1040858"/>
            <a:ext cx="89800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196cm</a:t>
            </a:r>
            <a:r>
              <a:rPr b="1" baseline="30000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267" name="Google Shape;267;p16"/>
          <p:cNvSpPr txBox="1"/>
          <p:nvPr/>
        </p:nvSpPr>
        <p:spPr>
          <a:xfrm>
            <a:off x="5003736" y="1070112"/>
            <a:ext cx="78098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49cm</a:t>
            </a:r>
            <a:r>
              <a:rPr b="1" baseline="30000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268" name="Google Shape;268;p16"/>
          <p:cNvSpPr txBox="1"/>
          <p:nvPr/>
        </p:nvSpPr>
        <p:spPr>
          <a:xfrm>
            <a:off x="1827689" y="3291856"/>
            <a:ext cx="95891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6.25cm</a:t>
            </a:r>
            <a:r>
              <a:rPr b="1" baseline="30000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269" name="Google Shape;269;p16"/>
          <p:cNvSpPr txBox="1"/>
          <p:nvPr/>
        </p:nvSpPr>
        <p:spPr>
          <a:xfrm>
            <a:off x="4965806" y="3291856"/>
            <a:ext cx="116730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72.25mm</a:t>
            </a:r>
            <a:r>
              <a:rPr b="1" baseline="30000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270" name="Google Shape;270;p16"/>
          <p:cNvSpPr txBox="1"/>
          <p:nvPr/>
        </p:nvSpPr>
        <p:spPr>
          <a:xfrm>
            <a:off x="2815628" y="4995689"/>
            <a:ext cx="78098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88cm</a:t>
            </a:r>
            <a:r>
              <a:rPr b="1" baseline="30000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271" name="Google Shape;271;p16"/>
          <p:cNvSpPr txBox="1"/>
          <p:nvPr/>
        </p:nvSpPr>
        <p:spPr>
          <a:xfrm>
            <a:off x="2820644" y="6842906"/>
            <a:ext cx="78098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49cm</a:t>
            </a:r>
            <a:r>
              <a:rPr b="1" baseline="30000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272" name="Google Shape;272;p16"/>
          <p:cNvSpPr txBox="1"/>
          <p:nvPr/>
        </p:nvSpPr>
        <p:spPr>
          <a:xfrm>
            <a:off x="2826848" y="8759004"/>
            <a:ext cx="76976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£4416</a:t>
            </a:r>
            <a:endParaRPr b="1" baseline="30000"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77" name="Google Shape;277;p17"/>
          <p:cNvGraphicFramePr/>
          <p:nvPr/>
        </p:nvGraphicFramePr>
        <p:xfrm>
          <a:off x="146198" y="23168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{7F622640-7F73-40B3-BA3B-6E99962658F5}</a:tableStyleId>
              </a:tblPr>
              <a:tblGrid>
                <a:gridCol w="6565600"/>
              </a:tblGrid>
              <a:tr h="406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i="0" lang="en-GB" sz="12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7. </a:t>
                      </a: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Mr Jenkins has a grass lawn that is 24m wide and 30m long. He cuts the grass at a rate of 9m</a:t>
                      </a:r>
                      <a:r>
                        <a:rPr b="0" baseline="30000" lang="en-GB" sz="1200">
                          <a:solidFill>
                            <a:schemeClr val="dk1"/>
                          </a:solidFill>
                        </a:rPr>
                        <a:t>2</a:t>
                      </a: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 per minute. How long will it take Mr Jenkins to cut all the grass?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0768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78" name="Google Shape;278;p17"/>
          <p:cNvGraphicFramePr/>
          <p:nvPr/>
        </p:nvGraphicFramePr>
        <p:xfrm>
          <a:off x="146198" y="185339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{7F622640-7F73-40B3-BA3B-6E99962658F5}</a:tableStyleId>
              </a:tblPr>
              <a:tblGrid>
                <a:gridCol w="6565600"/>
              </a:tblGrid>
              <a:tr h="406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i="0" lang="en-GB" sz="12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8. </a:t>
                      </a:r>
                      <a:r>
                        <a:rPr b="0" i="0" lang="en-GB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 rectangular room is 14m long and 8m wide. Jessica is going carpet the room with carpet that costs £17.50 per square metre. She has saved up £2000. Does she have enough money to pay for the carpet? You must show your working. 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0768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279" name="Google Shape;279;p17"/>
          <p:cNvSpPr txBox="1"/>
          <p:nvPr>
            <p:ph idx="12" type="sldNum"/>
          </p:nvPr>
        </p:nvSpPr>
        <p:spPr>
          <a:xfrm>
            <a:off x="5314950" y="9410611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80" name="Google Shape;280;p17"/>
          <p:cNvSpPr/>
          <p:nvPr/>
        </p:nvSpPr>
        <p:spPr>
          <a:xfrm>
            <a:off x="305414" y="6351424"/>
            <a:ext cx="6247171" cy="2453773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81" name="Google Shape;281;p17"/>
          <p:cNvGraphicFramePr/>
          <p:nvPr/>
        </p:nvGraphicFramePr>
        <p:xfrm>
          <a:off x="146198" y="365797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{7F622640-7F73-40B3-BA3B-6E99962658F5}</a:tableStyleId>
              </a:tblPr>
              <a:tblGrid>
                <a:gridCol w="6565600"/>
              </a:tblGrid>
              <a:tr h="11124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b="0" i="0" lang="en-GB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9. Mrs Rodgers is tiling her bathroom wall. 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b="0" i="0" lang="en-GB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The bathroom wall is 360cm long and 240cm high. 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b="0" i="0" lang="en-GB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Each tile is 20cm by 20cm. 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b="0" i="0" lang="en-GB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The tiles are sold in boxes of 6. 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b="0" i="0" lang="en-GB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Each box costs £8. 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b="0" i="0" lang="en-GB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How much will it cost Mrs Rodgers to tile her bathroom wall?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332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pic>
        <p:nvPicPr>
          <p:cNvPr id="282" name="Google Shape;282;p17"/>
          <p:cNvPicPr preferRelativeResize="0"/>
          <p:nvPr/>
        </p:nvPicPr>
        <p:blipFill rotWithShape="1">
          <a:blip r:embed="rId3">
            <a:alphaModFix/>
          </a:blip>
          <a:srcRect b="26034" l="21418" r="15411" t="25842"/>
          <a:stretch/>
        </p:blipFill>
        <p:spPr>
          <a:xfrm>
            <a:off x="223285" y="4909365"/>
            <a:ext cx="2743878" cy="124401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83" name="Google Shape;283;p17"/>
          <p:cNvGraphicFramePr/>
          <p:nvPr/>
        </p:nvGraphicFramePr>
        <p:xfrm>
          <a:off x="146198" y="626636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{7F622640-7F73-40B3-BA3B-6E99962658F5}</a:tableStyleId>
              </a:tblPr>
              <a:tblGrid>
                <a:gridCol w="6565600"/>
              </a:tblGrid>
              <a:tr h="409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b="0" i="0" lang="en-GB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10. Rory made a rectangular logo, 8cm long and 10cm wide. There are 5 identical white squares and the rest of the logo is shaded. Find the area that is shaded. 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404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pic>
        <p:nvPicPr>
          <p:cNvPr id="284" name="Google Shape;284;p17"/>
          <p:cNvPicPr preferRelativeResize="0"/>
          <p:nvPr/>
        </p:nvPicPr>
        <p:blipFill rotWithShape="1">
          <a:blip r:embed="rId4">
            <a:alphaModFix/>
          </a:blip>
          <a:srcRect b="34275" l="26888" r="21970" t="14274"/>
          <a:stretch/>
        </p:blipFill>
        <p:spPr>
          <a:xfrm>
            <a:off x="223285" y="6880046"/>
            <a:ext cx="2164315" cy="1229118"/>
          </a:xfrm>
          <a:prstGeom prst="rect">
            <a:avLst/>
          </a:prstGeom>
          <a:noFill/>
          <a:ln>
            <a:noFill/>
          </a:ln>
        </p:spPr>
      </p:pic>
      <p:sp>
        <p:nvSpPr>
          <p:cNvPr id="285" name="Google Shape;285;p17"/>
          <p:cNvSpPr txBox="1"/>
          <p:nvPr/>
        </p:nvSpPr>
        <p:spPr>
          <a:xfrm>
            <a:off x="655746" y="6754290"/>
            <a:ext cx="787079" cy="338554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10cm</a:t>
            </a:r>
            <a:endParaRPr/>
          </a:p>
        </p:txBody>
      </p:sp>
      <p:graphicFrame>
        <p:nvGraphicFramePr>
          <p:cNvPr id="286" name="Google Shape;286;p17"/>
          <p:cNvGraphicFramePr/>
          <p:nvPr/>
        </p:nvGraphicFramePr>
        <p:xfrm>
          <a:off x="146197" y="825332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{7F622640-7F73-40B3-BA3B-6E99962658F5}</a:tableStyleId>
              </a:tblPr>
              <a:tblGrid>
                <a:gridCol w="6565600"/>
              </a:tblGrid>
              <a:tr h="225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b="0" i="0" lang="en-GB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11. A football pitch is 110m long and has a perimeter of 360m. Find the area of the football pitch.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044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287" name="Google Shape;287;p17"/>
          <p:cNvSpPr txBox="1"/>
          <p:nvPr/>
        </p:nvSpPr>
        <p:spPr>
          <a:xfrm>
            <a:off x="3709446" y="2985936"/>
            <a:ext cx="266765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Yes as it would cost £1960</a:t>
            </a:r>
            <a:endParaRPr b="1" baseline="30000"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17"/>
          <p:cNvSpPr txBox="1"/>
          <p:nvPr/>
        </p:nvSpPr>
        <p:spPr>
          <a:xfrm>
            <a:off x="2967163" y="1200147"/>
            <a:ext cx="124623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80 minutes</a:t>
            </a:r>
            <a:endParaRPr b="1" baseline="30000"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17"/>
          <p:cNvSpPr txBox="1"/>
          <p:nvPr/>
        </p:nvSpPr>
        <p:spPr>
          <a:xfrm>
            <a:off x="4456372" y="5310250"/>
            <a:ext cx="65274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£288</a:t>
            </a:r>
            <a:endParaRPr b="1" baseline="30000"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17"/>
          <p:cNvSpPr txBox="1"/>
          <p:nvPr/>
        </p:nvSpPr>
        <p:spPr>
          <a:xfrm>
            <a:off x="4440474" y="7609949"/>
            <a:ext cx="184731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baseline="30000"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17"/>
          <p:cNvSpPr txBox="1"/>
          <p:nvPr/>
        </p:nvSpPr>
        <p:spPr>
          <a:xfrm>
            <a:off x="4283259" y="7393976"/>
            <a:ext cx="78098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30cm</a:t>
            </a:r>
            <a:r>
              <a:rPr b="1" baseline="30000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292" name="Google Shape;292;p17"/>
          <p:cNvSpPr txBox="1"/>
          <p:nvPr/>
        </p:nvSpPr>
        <p:spPr>
          <a:xfrm>
            <a:off x="4668934" y="8997165"/>
            <a:ext cx="91884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7700m</a:t>
            </a:r>
            <a:r>
              <a:rPr b="1" baseline="30000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18"/>
          <p:cNvSpPr txBox="1"/>
          <p:nvPr>
            <p:ph idx="12" type="sldNum"/>
          </p:nvPr>
        </p:nvSpPr>
        <p:spPr>
          <a:xfrm>
            <a:off x="5168752" y="9482274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98" name="Google Shape;298;p18"/>
          <p:cNvSpPr/>
          <p:nvPr/>
        </p:nvSpPr>
        <p:spPr>
          <a:xfrm>
            <a:off x="305414" y="245084"/>
            <a:ext cx="6247171" cy="2453773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99" name="Google Shape;299;p18"/>
          <p:cNvGraphicFramePr/>
          <p:nvPr/>
        </p:nvGraphicFramePr>
        <p:xfrm>
          <a:off x="146198" y="16002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{7F622640-7F73-40B3-BA3B-6E99962658F5}</a:tableStyleId>
              </a:tblPr>
              <a:tblGrid>
                <a:gridCol w="6565600"/>
              </a:tblGrid>
              <a:tr h="4423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b="0" i="0" lang="en-GB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12a) A rectangle is 3cm by 6cm. Six of the rectangles are used to make a larger rectangle. Work out the area of the larger rectangle.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232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08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12b) Calculate the perimeter of the larger rectangle.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pic>
        <p:nvPicPr>
          <p:cNvPr id="300" name="Google Shape;300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3285" y="729058"/>
            <a:ext cx="813378" cy="99130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1" name="Google Shape;301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32455" y="949037"/>
            <a:ext cx="2183786" cy="734286"/>
          </a:xfrm>
          <a:prstGeom prst="rect">
            <a:avLst/>
          </a:prstGeom>
          <a:noFill/>
          <a:ln>
            <a:noFill/>
          </a:ln>
        </p:spPr>
      </p:pic>
      <p:sp>
        <p:nvSpPr>
          <p:cNvPr id="302" name="Google Shape;302;p18"/>
          <p:cNvSpPr txBox="1"/>
          <p:nvPr/>
        </p:nvSpPr>
        <p:spPr>
          <a:xfrm>
            <a:off x="4548778" y="2235350"/>
            <a:ext cx="70243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48cm</a:t>
            </a:r>
            <a:endParaRPr b="1" baseline="30000"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18"/>
          <p:cNvSpPr txBox="1"/>
          <p:nvPr/>
        </p:nvSpPr>
        <p:spPr>
          <a:xfrm>
            <a:off x="4549523" y="1006417"/>
            <a:ext cx="89800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108cm</a:t>
            </a:r>
            <a:r>
              <a:rPr b="1" baseline="30000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304" name="Google Shape;304;p18"/>
          <p:cNvSpPr/>
          <p:nvPr/>
        </p:nvSpPr>
        <p:spPr>
          <a:xfrm>
            <a:off x="158768" y="3089112"/>
            <a:ext cx="1755790" cy="31369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Area of a parallelogram </a:t>
            </a:r>
            <a:endParaRPr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05" name="Google Shape;305;p18"/>
          <p:cNvGraphicFramePr/>
          <p:nvPr/>
        </p:nvGraphicFramePr>
        <p:xfrm>
          <a:off x="133097" y="370822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{7F622640-7F73-40B3-BA3B-6E99962658F5}</a:tableStyleId>
              </a:tblPr>
              <a:tblGrid>
                <a:gridCol w="1087325"/>
                <a:gridCol w="1828375"/>
                <a:gridCol w="1828375"/>
                <a:gridCol w="1828375"/>
              </a:tblGrid>
              <a:tr h="152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chemeClr val="dk1"/>
                          </a:solidFill>
                        </a:rPr>
                        <a:t>Steps</a:t>
                      </a:r>
                      <a:endParaRPr b="1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Work out the area 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Work out the area 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Work out the area 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263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1) Make sure all your units are the same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2) Multiply the base by the perpendicular height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3) Remember to add the units to your answer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306" name="Google Shape;306;p18"/>
          <p:cNvSpPr txBox="1"/>
          <p:nvPr/>
        </p:nvSpPr>
        <p:spPr>
          <a:xfrm>
            <a:off x="1298749" y="3434881"/>
            <a:ext cx="141070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Example 7 - I do…</a:t>
            </a:r>
            <a:endParaRPr/>
          </a:p>
        </p:txBody>
      </p:sp>
      <p:sp>
        <p:nvSpPr>
          <p:cNvPr id="307" name="Google Shape;307;p18"/>
          <p:cNvSpPr txBox="1"/>
          <p:nvPr/>
        </p:nvSpPr>
        <p:spPr>
          <a:xfrm>
            <a:off x="4942536" y="3436114"/>
            <a:ext cx="164340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Example 9 – You do…</a:t>
            </a:r>
            <a:endParaRPr/>
          </a:p>
        </p:txBody>
      </p:sp>
      <p:sp>
        <p:nvSpPr>
          <p:cNvPr id="308" name="Google Shape;308;p18"/>
          <p:cNvSpPr txBox="1"/>
          <p:nvPr/>
        </p:nvSpPr>
        <p:spPr>
          <a:xfrm>
            <a:off x="3004292" y="3431222"/>
            <a:ext cx="164340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Example 8 – We do…</a:t>
            </a:r>
            <a:endParaRPr/>
          </a:p>
        </p:txBody>
      </p:sp>
      <p:pic>
        <p:nvPicPr>
          <p:cNvPr id="309" name="Google Shape;309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271050" y="4156041"/>
            <a:ext cx="1635475" cy="664412"/>
          </a:xfrm>
          <a:prstGeom prst="rect">
            <a:avLst/>
          </a:prstGeom>
          <a:noFill/>
          <a:ln>
            <a:noFill/>
          </a:ln>
        </p:spPr>
      </p:pic>
      <p:pic>
        <p:nvPicPr>
          <p:cNvPr id="310" name="Google Shape;310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996965" y="4149973"/>
            <a:ext cx="1643406" cy="67048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1" name="Google Shape;311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095375" y="4058500"/>
            <a:ext cx="1772286" cy="617861"/>
          </a:xfrm>
          <a:prstGeom prst="rect">
            <a:avLst/>
          </a:prstGeom>
          <a:noFill/>
          <a:ln>
            <a:noFill/>
          </a:ln>
        </p:spPr>
      </p:pic>
      <p:pic>
        <p:nvPicPr>
          <p:cNvPr id="312" name="Google Shape;312;p1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358762" y="5644328"/>
            <a:ext cx="1623765" cy="814306"/>
          </a:xfrm>
          <a:prstGeom prst="rect">
            <a:avLst/>
          </a:prstGeom>
          <a:noFill/>
          <a:ln>
            <a:noFill/>
          </a:ln>
        </p:spPr>
      </p:pic>
      <p:pic>
        <p:nvPicPr>
          <p:cNvPr id="313" name="Google Shape;313;p1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3437149" y="5447966"/>
            <a:ext cx="1210548" cy="1089089"/>
          </a:xfrm>
          <a:prstGeom prst="rect">
            <a:avLst/>
          </a:prstGeom>
          <a:noFill/>
          <a:ln>
            <a:noFill/>
          </a:ln>
        </p:spPr>
      </p:pic>
      <p:pic>
        <p:nvPicPr>
          <p:cNvPr id="314" name="Google Shape;314;p18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4930811" y="5585357"/>
            <a:ext cx="1734366" cy="814306"/>
          </a:xfrm>
          <a:prstGeom prst="rect">
            <a:avLst/>
          </a:prstGeom>
          <a:noFill/>
          <a:ln>
            <a:noFill/>
          </a:ln>
        </p:spPr>
      </p:pic>
      <p:sp>
        <p:nvSpPr>
          <p:cNvPr id="315" name="Google Shape;315;p18"/>
          <p:cNvSpPr txBox="1"/>
          <p:nvPr/>
        </p:nvSpPr>
        <p:spPr>
          <a:xfrm>
            <a:off x="1942841" y="3058249"/>
            <a:ext cx="4788170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Area of a parallelogram = base x perpendicular height</a:t>
            </a:r>
            <a:endParaRPr/>
          </a:p>
        </p:txBody>
      </p:sp>
      <p:sp>
        <p:nvSpPr>
          <p:cNvPr id="316" name="Google Shape;316;p18"/>
          <p:cNvSpPr txBox="1"/>
          <p:nvPr/>
        </p:nvSpPr>
        <p:spPr>
          <a:xfrm>
            <a:off x="1676119" y="4800410"/>
            <a:ext cx="78098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24cm</a:t>
            </a:r>
            <a:r>
              <a:rPr b="1" baseline="30000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317" name="Google Shape;317;p18"/>
          <p:cNvSpPr txBox="1"/>
          <p:nvPr/>
        </p:nvSpPr>
        <p:spPr>
          <a:xfrm>
            <a:off x="1676118" y="6775536"/>
            <a:ext cx="78098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18cm</a:t>
            </a:r>
            <a:r>
              <a:rPr b="1" baseline="30000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318" name="Google Shape;318;p18"/>
          <p:cNvSpPr txBox="1"/>
          <p:nvPr/>
        </p:nvSpPr>
        <p:spPr>
          <a:xfrm>
            <a:off x="5405481" y="4878658"/>
            <a:ext cx="78098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48cm</a:t>
            </a:r>
            <a:r>
              <a:rPr b="1" baseline="30000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319" name="Google Shape;319;p18"/>
          <p:cNvSpPr txBox="1"/>
          <p:nvPr/>
        </p:nvSpPr>
        <p:spPr>
          <a:xfrm>
            <a:off x="3510982" y="6792294"/>
            <a:ext cx="78098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30cm</a:t>
            </a:r>
            <a:r>
              <a:rPr b="1" baseline="30000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320" name="Google Shape;320;p18"/>
          <p:cNvSpPr txBox="1"/>
          <p:nvPr/>
        </p:nvSpPr>
        <p:spPr>
          <a:xfrm>
            <a:off x="3462156" y="4932928"/>
            <a:ext cx="107593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58.24cm</a:t>
            </a:r>
            <a:r>
              <a:rPr b="1" baseline="30000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321" name="Google Shape;321;p18"/>
          <p:cNvSpPr txBox="1"/>
          <p:nvPr/>
        </p:nvSpPr>
        <p:spPr>
          <a:xfrm>
            <a:off x="5405482" y="6799451"/>
            <a:ext cx="78098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27cm</a:t>
            </a:r>
            <a:r>
              <a:rPr b="1" baseline="30000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322" name="Google Shape;322;p18"/>
          <p:cNvSpPr/>
          <p:nvPr/>
        </p:nvSpPr>
        <p:spPr>
          <a:xfrm>
            <a:off x="116061" y="7266889"/>
            <a:ext cx="1137954" cy="352182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Independent Practice</a:t>
            </a:r>
            <a:endParaRPr/>
          </a:p>
        </p:txBody>
      </p:sp>
      <p:sp>
        <p:nvSpPr>
          <p:cNvPr id="323" name="Google Shape;323;p18"/>
          <p:cNvSpPr txBox="1"/>
          <p:nvPr/>
        </p:nvSpPr>
        <p:spPr>
          <a:xfrm>
            <a:off x="1281714" y="7391198"/>
            <a:ext cx="2345608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13. Find the area:</a:t>
            </a:r>
            <a:endParaRPr/>
          </a:p>
        </p:txBody>
      </p:sp>
      <p:graphicFrame>
        <p:nvGraphicFramePr>
          <p:cNvPr id="324" name="Google Shape;324;p18"/>
          <p:cNvGraphicFramePr/>
          <p:nvPr/>
        </p:nvGraphicFramePr>
        <p:xfrm>
          <a:off x="146198" y="768831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{7F622640-7F73-40B3-BA3B-6E99962658F5}</a:tableStyleId>
              </a:tblPr>
              <a:tblGrid>
                <a:gridCol w="1643125"/>
                <a:gridCol w="1643125"/>
                <a:gridCol w="1643125"/>
                <a:gridCol w="1643125"/>
              </a:tblGrid>
              <a:tr h="2005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a)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b)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c)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d)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325" name="Google Shape;325;p18"/>
          <p:cNvPicPr preferRelativeResize="0"/>
          <p:nvPr/>
        </p:nvPicPr>
        <p:blipFill rotWithShape="1">
          <a:blip r:embed="rId11">
            <a:alphaModFix/>
          </a:blip>
          <a:srcRect b="60107" l="0" r="66822" t="13366"/>
          <a:stretch/>
        </p:blipFill>
        <p:spPr>
          <a:xfrm>
            <a:off x="139322" y="8087216"/>
            <a:ext cx="1614523" cy="505771"/>
          </a:xfrm>
          <a:prstGeom prst="rect">
            <a:avLst/>
          </a:prstGeom>
          <a:noFill/>
          <a:ln>
            <a:noFill/>
          </a:ln>
        </p:spPr>
      </p:pic>
      <p:pic>
        <p:nvPicPr>
          <p:cNvPr id="326" name="Google Shape;326;p18"/>
          <p:cNvPicPr preferRelativeResize="0"/>
          <p:nvPr/>
        </p:nvPicPr>
        <p:blipFill rotWithShape="1">
          <a:blip r:embed="rId11">
            <a:alphaModFix/>
          </a:blip>
          <a:srcRect b="58878" l="70023" r="2772" t="9585"/>
          <a:stretch/>
        </p:blipFill>
        <p:spPr>
          <a:xfrm>
            <a:off x="3563045" y="7969262"/>
            <a:ext cx="1495919" cy="679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7" name="Google Shape;327;p18"/>
          <p:cNvPicPr preferRelativeResize="0"/>
          <p:nvPr/>
        </p:nvPicPr>
        <p:blipFill rotWithShape="1">
          <a:blip r:embed="rId11">
            <a:alphaModFix/>
          </a:blip>
          <a:srcRect b="3467" l="2466" r="71896" t="60870"/>
          <a:stretch/>
        </p:blipFill>
        <p:spPr>
          <a:xfrm>
            <a:off x="5302101" y="8028587"/>
            <a:ext cx="1409701" cy="768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8" name="Google Shape;328;p18"/>
          <p:cNvPicPr preferRelativeResize="0"/>
          <p:nvPr/>
        </p:nvPicPr>
        <p:blipFill rotWithShape="1">
          <a:blip r:embed="rId11">
            <a:alphaModFix/>
          </a:blip>
          <a:srcRect b="53328" l="36683" r="35832" t="12777"/>
          <a:stretch/>
        </p:blipFill>
        <p:spPr>
          <a:xfrm>
            <a:off x="1865651" y="8028233"/>
            <a:ext cx="1511301" cy="730250"/>
          </a:xfrm>
          <a:prstGeom prst="rect">
            <a:avLst/>
          </a:prstGeom>
          <a:noFill/>
          <a:ln>
            <a:noFill/>
          </a:ln>
        </p:spPr>
      </p:pic>
      <p:sp>
        <p:nvSpPr>
          <p:cNvPr id="329" name="Google Shape;329;p18"/>
          <p:cNvSpPr txBox="1"/>
          <p:nvPr/>
        </p:nvSpPr>
        <p:spPr>
          <a:xfrm>
            <a:off x="577779" y="9026940"/>
            <a:ext cx="78098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16cm</a:t>
            </a:r>
            <a:r>
              <a:rPr b="1" baseline="30000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330" name="Google Shape;330;p18"/>
          <p:cNvSpPr txBox="1"/>
          <p:nvPr/>
        </p:nvSpPr>
        <p:spPr>
          <a:xfrm>
            <a:off x="2412643" y="9043698"/>
            <a:ext cx="78098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20cm</a:t>
            </a:r>
            <a:r>
              <a:rPr b="1" baseline="30000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331" name="Google Shape;331;p18"/>
          <p:cNvSpPr txBox="1"/>
          <p:nvPr/>
        </p:nvSpPr>
        <p:spPr>
          <a:xfrm>
            <a:off x="3985163" y="9039856"/>
            <a:ext cx="78098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96cm</a:t>
            </a:r>
            <a:r>
              <a:rPr b="1" baseline="30000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332" name="Google Shape;332;p18"/>
          <p:cNvSpPr txBox="1"/>
          <p:nvPr/>
        </p:nvSpPr>
        <p:spPr>
          <a:xfrm>
            <a:off x="5599936" y="9039856"/>
            <a:ext cx="78098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45cm</a:t>
            </a:r>
            <a:r>
              <a:rPr b="1" baseline="30000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19"/>
          <p:cNvSpPr txBox="1"/>
          <p:nvPr/>
        </p:nvSpPr>
        <p:spPr>
          <a:xfrm>
            <a:off x="5197625" y="9436836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19"/>
          <p:cNvSpPr txBox="1"/>
          <p:nvPr/>
        </p:nvSpPr>
        <p:spPr>
          <a:xfrm>
            <a:off x="565672" y="2230234"/>
            <a:ext cx="98937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630mm</a:t>
            </a:r>
            <a:r>
              <a:rPr b="1" baseline="30000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340" name="Google Shape;340;p19"/>
          <p:cNvSpPr txBox="1"/>
          <p:nvPr/>
        </p:nvSpPr>
        <p:spPr>
          <a:xfrm>
            <a:off x="2400536" y="2246992"/>
            <a:ext cx="78098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18cm</a:t>
            </a:r>
            <a:r>
              <a:rPr b="1" baseline="30000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341" name="Google Shape;341;p19"/>
          <p:cNvSpPr txBox="1"/>
          <p:nvPr/>
        </p:nvSpPr>
        <p:spPr>
          <a:xfrm>
            <a:off x="3973056" y="2243150"/>
            <a:ext cx="78098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15cm</a:t>
            </a:r>
            <a:r>
              <a:rPr b="1" baseline="30000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342" name="Google Shape;342;p19"/>
          <p:cNvSpPr txBox="1"/>
          <p:nvPr/>
        </p:nvSpPr>
        <p:spPr>
          <a:xfrm>
            <a:off x="5587829" y="2243150"/>
            <a:ext cx="78098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12cm</a:t>
            </a:r>
            <a:r>
              <a:rPr b="1" baseline="30000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graphicFrame>
        <p:nvGraphicFramePr>
          <p:cNvPr id="343" name="Google Shape;343;p19"/>
          <p:cNvGraphicFramePr/>
          <p:nvPr/>
        </p:nvGraphicFramePr>
        <p:xfrm>
          <a:off x="142760" y="65168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{7F622640-7F73-40B3-BA3B-6E99962658F5}</a:tableStyleId>
              </a:tblPr>
              <a:tblGrid>
                <a:gridCol w="1643125"/>
                <a:gridCol w="1643125"/>
                <a:gridCol w="1643125"/>
                <a:gridCol w="1643125"/>
              </a:tblGrid>
              <a:tr h="2426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e)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f)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g)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h)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344" name="Google Shape;344;p19"/>
          <p:cNvPicPr preferRelativeResize="0"/>
          <p:nvPr/>
        </p:nvPicPr>
        <p:blipFill rotWithShape="1">
          <a:blip r:embed="rId3">
            <a:alphaModFix/>
          </a:blip>
          <a:srcRect b="2876" l="37342" r="35173" t="59396"/>
          <a:stretch/>
        </p:blipFill>
        <p:spPr>
          <a:xfrm>
            <a:off x="1931449" y="904363"/>
            <a:ext cx="1511301" cy="812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5" name="Google Shape;345;p19"/>
          <p:cNvPicPr preferRelativeResize="0"/>
          <p:nvPr/>
        </p:nvPicPr>
        <p:blipFill rotWithShape="1">
          <a:blip r:embed="rId3">
            <a:alphaModFix/>
          </a:blip>
          <a:srcRect b="7074" l="67343" r="0" t="60668"/>
          <a:stretch/>
        </p:blipFill>
        <p:spPr>
          <a:xfrm>
            <a:off x="230118" y="904363"/>
            <a:ext cx="1533672" cy="593559"/>
          </a:xfrm>
          <a:prstGeom prst="rect">
            <a:avLst/>
          </a:prstGeom>
          <a:noFill/>
          <a:ln>
            <a:noFill/>
          </a:ln>
        </p:spPr>
      </p:pic>
      <p:pic>
        <p:nvPicPr>
          <p:cNvPr id="346" name="Google Shape;346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31786" y="880602"/>
            <a:ext cx="1447189" cy="836561"/>
          </a:xfrm>
          <a:prstGeom prst="rect">
            <a:avLst/>
          </a:prstGeom>
          <a:noFill/>
          <a:ln>
            <a:noFill/>
          </a:ln>
        </p:spPr>
      </p:pic>
      <p:pic>
        <p:nvPicPr>
          <p:cNvPr id="347" name="Google Shape;347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307550" y="899160"/>
            <a:ext cx="1180453" cy="97490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48" name="Google Shape;348;p19"/>
          <p:cNvGraphicFramePr/>
          <p:nvPr/>
        </p:nvGraphicFramePr>
        <p:xfrm>
          <a:off x="142760" y="307775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{7F622640-7F73-40B3-BA3B-6E99962658F5}</a:tableStyleId>
              </a:tblPr>
              <a:tblGrid>
                <a:gridCol w="1643125"/>
                <a:gridCol w="1643125"/>
                <a:gridCol w="1643125"/>
                <a:gridCol w="1643125"/>
              </a:tblGrid>
              <a:tr h="227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i)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j)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k)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l)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879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3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m)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n)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o)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p)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879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349" name="Google Shape;349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763764" y="3378119"/>
            <a:ext cx="1117851" cy="831572"/>
          </a:xfrm>
          <a:prstGeom prst="rect">
            <a:avLst/>
          </a:prstGeom>
          <a:noFill/>
          <a:ln>
            <a:noFill/>
          </a:ln>
        </p:spPr>
      </p:pic>
      <p:pic>
        <p:nvPicPr>
          <p:cNvPr id="350" name="Google Shape;350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43389" y="3378119"/>
            <a:ext cx="896313" cy="1016393"/>
          </a:xfrm>
          <a:prstGeom prst="rect">
            <a:avLst/>
          </a:prstGeom>
          <a:noFill/>
          <a:ln>
            <a:noFill/>
          </a:ln>
        </p:spPr>
      </p:pic>
      <p:pic>
        <p:nvPicPr>
          <p:cNvPr id="351" name="Google Shape;351;p1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194886" y="3378119"/>
            <a:ext cx="1397741" cy="516764"/>
          </a:xfrm>
          <a:prstGeom prst="rect">
            <a:avLst/>
          </a:prstGeom>
          <a:noFill/>
          <a:ln>
            <a:noFill/>
          </a:ln>
        </p:spPr>
      </p:pic>
      <p:pic>
        <p:nvPicPr>
          <p:cNvPr id="352" name="Google Shape;352;p19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352932" y="5648302"/>
            <a:ext cx="1325620" cy="76107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3" name="Google Shape;353;p19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903685" y="3378119"/>
            <a:ext cx="1381775" cy="842019"/>
          </a:xfrm>
          <a:prstGeom prst="rect">
            <a:avLst/>
          </a:prstGeom>
          <a:noFill/>
          <a:ln>
            <a:noFill/>
          </a:ln>
        </p:spPr>
      </p:pic>
      <p:pic>
        <p:nvPicPr>
          <p:cNvPr id="354" name="Google Shape;354;p19"/>
          <p:cNvPicPr preferRelativeResize="0"/>
          <p:nvPr/>
        </p:nvPicPr>
        <p:blipFill rotWithShape="1">
          <a:blip r:embed="rId11">
            <a:alphaModFix/>
          </a:blip>
          <a:srcRect b="39683" l="60354" r="26291" t="43413"/>
          <a:stretch/>
        </p:blipFill>
        <p:spPr>
          <a:xfrm>
            <a:off x="5210325" y="5597926"/>
            <a:ext cx="1310182" cy="932779"/>
          </a:xfrm>
          <a:prstGeom prst="rect">
            <a:avLst/>
          </a:prstGeom>
          <a:noFill/>
          <a:ln>
            <a:noFill/>
          </a:ln>
        </p:spPr>
      </p:pic>
      <p:pic>
        <p:nvPicPr>
          <p:cNvPr id="355" name="Google Shape;355;p19"/>
          <p:cNvPicPr preferRelativeResize="0"/>
          <p:nvPr/>
        </p:nvPicPr>
        <p:blipFill rotWithShape="1">
          <a:blip r:embed="rId11">
            <a:alphaModFix/>
          </a:blip>
          <a:srcRect b="18728" l="45893" r="40316" t="63906"/>
          <a:stretch/>
        </p:blipFill>
        <p:spPr>
          <a:xfrm>
            <a:off x="1881527" y="5648302"/>
            <a:ext cx="1464802" cy="1037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6" name="Google Shape;356;p19"/>
          <p:cNvPicPr preferRelativeResize="0"/>
          <p:nvPr/>
        </p:nvPicPr>
        <p:blipFill rotWithShape="1">
          <a:blip r:embed="rId11">
            <a:alphaModFix/>
          </a:blip>
          <a:srcRect b="18702" l="76677" r="13718" t="62640"/>
          <a:stretch/>
        </p:blipFill>
        <p:spPr>
          <a:xfrm>
            <a:off x="3749097" y="5648302"/>
            <a:ext cx="970201" cy="1060071"/>
          </a:xfrm>
          <a:prstGeom prst="rect">
            <a:avLst/>
          </a:prstGeom>
          <a:noFill/>
          <a:ln>
            <a:noFill/>
          </a:ln>
        </p:spPr>
      </p:pic>
      <p:sp>
        <p:nvSpPr>
          <p:cNvPr id="357" name="Google Shape;357;p19"/>
          <p:cNvSpPr/>
          <p:nvPr/>
        </p:nvSpPr>
        <p:spPr>
          <a:xfrm>
            <a:off x="1881527" y="5597926"/>
            <a:ext cx="111991" cy="115222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19"/>
          <p:cNvSpPr/>
          <p:nvPr/>
        </p:nvSpPr>
        <p:spPr>
          <a:xfrm>
            <a:off x="5189014" y="5590691"/>
            <a:ext cx="111991" cy="115222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19"/>
          <p:cNvSpPr txBox="1"/>
          <p:nvPr/>
        </p:nvSpPr>
        <p:spPr>
          <a:xfrm rot="-5400000">
            <a:off x="1721137" y="5851036"/>
            <a:ext cx="405856" cy="2308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cm</a:t>
            </a:r>
            <a:endParaRPr/>
          </a:p>
        </p:txBody>
      </p:sp>
      <p:sp>
        <p:nvSpPr>
          <p:cNvPr id="360" name="Google Shape;360;p19"/>
          <p:cNvSpPr txBox="1"/>
          <p:nvPr/>
        </p:nvSpPr>
        <p:spPr>
          <a:xfrm>
            <a:off x="2607731" y="6530705"/>
            <a:ext cx="405856" cy="2308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cm</a:t>
            </a:r>
            <a:endParaRPr/>
          </a:p>
        </p:txBody>
      </p:sp>
      <p:sp>
        <p:nvSpPr>
          <p:cNvPr id="361" name="Google Shape;361;p19"/>
          <p:cNvSpPr txBox="1"/>
          <p:nvPr/>
        </p:nvSpPr>
        <p:spPr>
          <a:xfrm>
            <a:off x="2442249" y="5572617"/>
            <a:ext cx="405856" cy="2308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cm</a:t>
            </a:r>
            <a:endParaRPr/>
          </a:p>
        </p:txBody>
      </p:sp>
      <p:sp>
        <p:nvSpPr>
          <p:cNvPr id="362" name="Google Shape;362;p19"/>
          <p:cNvSpPr txBox="1"/>
          <p:nvPr/>
        </p:nvSpPr>
        <p:spPr>
          <a:xfrm rot="2173904">
            <a:off x="4177461" y="5773271"/>
            <a:ext cx="405856" cy="2308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cm</a:t>
            </a:r>
            <a:endParaRPr/>
          </a:p>
        </p:txBody>
      </p:sp>
      <p:sp>
        <p:nvSpPr>
          <p:cNvPr id="363" name="Google Shape;363;p19"/>
          <p:cNvSpPr txBox="1"/>
          <p:nvPr/>
        </p:nvSpPr>
        <p:spPr>
          <a:xfrm rot="-6859159">
            <a:off x="3649808" y="5753860"/>
            <a:ext cx="405856" cy="2308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cm</a:t>
            </a:r>
            <a:endParaRPr/>
          </a:p>
        </p:txBody>
      </p:sp>
      <p:sp>
        <p:nvSpPr>
          <p:cNvPr id="364" name="Google Shape;364;p19"/>
          <p:cNvSpPr txBox="1"/>
          <p:nvPr/>
        </p:nvSpPr>
        <p:spPr>
          <a:xfrm rot="-1465065">
            <a:off x="4221196" y="6001698"/>
            <a:ext cx="405856" cy="20005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cm</a:t>
            </a:r>
            <a:endParaRPr/>
          </a:p>
        </p:txBody>
      </p:sp>
      <p:sp>
        <p:nvSpPr>
          <p:cNvPr id="365" name="Google Shape;365;p19"/>
          <p:cNvSpPr txBox="1"/>
          <p:nvPr/>
        </p:nvSpPr>
        <p:spPr>
          <a:xfrm rot="-2915974">
            <a:off x="5589104" y="5668500"/>
            <a:ext cx="405856" cy="2308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cm</a:t>
            </a:r>
            <a:endParaRPr/>
          </a:p>
        </p:txBody>
      </p:sp>
      <p:sp>
        <p:nvSpPr>
          <p:cNvPr id="366" name="Google Shape;366;p19"/>
          <p:cNvSpPr txBox="1"/>
          <p:nvPr/>
        </p:nvSpPr>
        <p:spPr>
          <a:xfrm>
            <a:off x="6150632" y="5540121"/>
            <a:ext cx="405856" cy="2308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cm</a:t>
            </a:r>
            <a:endParaRPr/>
          </a:p>
        </p:txBody>
      </p:sp>
      <p:sp>
        <p:nvSpPr>
          <p:cNvPr id="367" name="Google Shape;367;p19"/>
          <p:cNvSpPr txBox="1"/>
          <p:nvPr/>
        </p:nvSpPr>
        <p:spPr>
          <a:xfrm rot="3815496">
            <a:off x="5856116" y="5904279"/>
            <a:ext cx="405856" cy="2308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cm</a:t>
            </a:r>
            <a:endParaRPr/>
          </a:p>
        </p:txBody>
      </p:sp>
      <p:sp>
        <p:nvSpPr>
          <p:cNvPr id="368" name="Google Shape;368;p19"/>
          <p:cNvSpPr txBox="1"/>
          <p:nvPr/>
        </p:nvSpPr>
        <p:spPr>
          <a:xfrm rot="2126266">
            <a:off x="5608372" y="6210319"/>
            <a:ext cx="405856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cm</a:t>
            </a:r>
            <a:endParaRPr/>
          </a:p>
        </p:txBody>
      </p:sp>
      <p:graphicFrame>
        <p:nvGraphicFramePr>
          <p:cNvPr id="369" name="Google Shape;369;p19"/>
          <p:cNvGraphicFramePr/>
          <p:nvPr/>
        </p:nvGraphicFramePr>
        <p:xfrm>
          <a:off x="149636" y="755422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{7F622640-7F73-40B3-BA3B-6E99962658F5}</a:tableStyleId>
              </a:tblPr>
              <a:tblGrid>
                <a:gridCol w="6565600"/>
              </a:tblGrid>
              <a:tr h="252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b="0" i="0" lang="en-GB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14. The logo below is created by joining two congruent parallelograms. Calculate the area of the logo.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264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pic>
        <p:nvPicPr>
          <p:cNvPr id="370" name="Google Shape;370;p19"/>
          <p:cNvPicPr preferRelativeResize="0"/>
          <p:nvPr/>
        </p:nvPicPr>
        <p:blipFill rotWithShape="1">
          <a:blip r:embed="rId12">
            <a:alphaModFix/>
          </a:blip>
          <a:srcRect b="8043" l="0" r="0" t="0"/>
          <a:stretch/>
        </p:blipFill>
        <p:spPr>
          <a:xfrm>
            <a:off x="238088" y="7866651"/>
            <a:ext cx="1665597" cy="1184457"/>
          </a:xfrm>
          <a:prstGeom prst="rect">
            <a:avLst/>
          </a:prstGeom>
          <a:noFill/>
          <a:ln>
            <a:noFill/>
          </a:ln>
        </p:spPr>
      </p:pic>
      <p:sp>
        <p:nvSpPr>
          <p:cNvPr id="371" name="Google Shape;371;p19"/>
          <p:cNvSpPr txBox="1"/>
          <p:nvPr/>
        </p:nvSpPr>
        <p:spPr>
          <a:xfrm>
            <a:off x="505659" y="4583668"/>
            <a:ext cx="78098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28cm</a:t>
            </a:r>
            <a:r>
              <a:rPr b="1" baseline="30000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372" name="Google Shape;372;p19"/>
          <p:cNvSpPr txBox="1"/>
          <p:nvPr/>
        </p:nvSpPr>
        <p:spPr>
          <a:xfrm>
            <a:off x="2340523" y="4600426"/>
            <a:ext cx="78098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48cm</a:t>
            </a:r>
            <a:r>
              <a:rPr b="1" baseline="30000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373" name="Google Shape;373;p19"/>
          <p:cNvSpPr txBox="1"/>
          <p:nvPr/>
        </p:nvSpPr>
        <p:spPr>
          <a:xfrm>
            <a:off x="3913043" y="4596584"/>
            <a:ext cx="74571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0.2m</a:t>
            </a:r>
            <a:r>
              <a:rPr b="1" baseline="30000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374" name="Google Shape;374;p19"/>
          <p:cNvSpPr txBox="1"/>
          <p:nvPr/>
        </p:nvSpPr>
        <p:spPr>
          <a:xfrm>
            <a:off x="5656055" y="4596584"/>
            <a:ext cx="56778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1m</a:t>
            </a:r>
            <a:r>
              <a:rPr b="1" baseline="30000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375" name="Google Shape;375;p19"/>
          <p:cNvSpPr txBox="1"/>
          <p:nvPr/>
        </p:nvSpPr>
        <p:spPr>
          <a:xfrm>
            <a:off x="565672" y="6870474"/>
            <a:ext cx="84189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2.4cm</a:t>
            </a:r>
            <a:r>
              <a:rPr b="1" baseline="30000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376" name="Google Shape;376;p19"/>
          <p:cNvSpPr txBox="1"/>
          <p:nvPr/>
        </p:nvSpPr>
        <p:spPr>
          <a:xfrm>
            <a:off x="2400536" y="6887232"/>
            <a:ext cx="78098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40cm</a:t>
            </a:r>
            <a:r>
              <a:rPr b="1" baseline="30000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377" name="Google Shape;377;p19"/>
          <p:cNvSpPr txBox="1"/>
          <p:nvPr/>
        </p:nvSpPr>
        <p:spPr>
          <a:xfrm>
            <a:off x="3973056" y="6883390"/>
            <a:ext cx="78098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78cm</a:t>
            </a:r>
            <a:r>
              <a:rPr b="1" baseline="30000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378" name="Google Shape;378;p19"/>
          <p:cNvSpPr txBox="1"/>
          <p:nvPr/>
        </p:nvSpPr>
        <p:spPr>
          <a:xfrm>
            <a:off x="5587829" y="6883390"/>
            <a:ext cx="78098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48cm</a:t>
            </a:r>
            <a:r>
              <a:rPr b="1" baseline="30000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379" name="Google Shape;379;p19"/>
          <p:cNvSpPr txBox="1"/>
          <p:nvPr/>
        </p:nvSpPr>
        <p:spPr>
          <a:xfrm>
            <a:off x="3948102" y="8314958"/>
            <a:ext cx="89800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660cm</a:t>
            </a:r>
            <a:r>
              <a:rPr b="1" baseline="30000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20"/>
          <p:cNvSpPr txBox="1"/>
          <p:nvPr>
            <p:ph idx="12" type="sldNum"/>
          </p:nvPr>
        </p:nvSpPr>
        <p:spPr>
          <a:xfrm>
            <a:off x="5322212" y="956688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385" name="Google Shape;385;p20"/>
          <p:cNvPicPr preferRelativeResize="0"/>
          <p:nvPr/>
        </p:nvPicPr>
        <p:blipFill rotWithShape="1">
          <a:blip r:embed="rId3">
            <a:alphaModFix/>
          </a:blip>
          <a:srcRect b="29177" l="8311" r="15470" t="3916"/>
          <a:stretch/>
        </p:blipFill>
        <p:spPr>
          <a:xfrm>
            <a:off x="163196" y="2175089"/>
            <a:ext cx="2167539" cy="1318464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86" name="Google Shape;386;p20"/>
          <p:cNvGraphicFramePr/>
          <p:nvPr/>
        </p:nvGraphicFramePr>
        <p:xfrm>
          <a:off x="142759" y="7597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{7F622640-7F73-40B3-BA3B-6E99962658F5}</a:tableStyleId>
              </a:tblPr>
              <a:tblGrid>
                <a:gridCol w="6565600"/>
              </a:tblGrid>
              <a:tr h="252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b="0" i="0" lang="en-GB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15. The logo below is created by joining two congruent parallelograms. Calculate the area of the logo.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264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pic>
        <p:nvPicPr>
          <p:cNvPr id="387" name="Google Shape;387;p20"/>
          <p:cNvPicPr preferRelativeResize="0"/>
          <p:nvPr/>
        </p:nvPicPr>
        <p:blipFill rotWithShape="1">
          <a:blip r:embed="rId4">
            <a:alphaModFix/>
          </a:blip>
          <a:srcRect b="14810" l="18621" r="0" t="16326"/>
          <a:stretch/>
        </p:blipFill>
        <p:spPr>
          <a:xfrm>
            <a:off x="180800" y="418771"/>
            <a:ext cx="1700726" cy="1091533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88" name="Google Shape;388;p20"/>
          <p:cNvGraphicFramePr/>
          <p:nvPr/>
        </p:nvGraphicFramePr>
        <p:xfrm>
          <a:off x="142761" y="347826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{7F622640-7F73-40B3-BA3B-6E99962658F5}</a:tableStyleId>
              </a:tblPr>
              <a:tblGrid>
                <a:gridCol w="988300"/>
                <a:gridCol w="1748525"/>
                <a:gridCol w="1917825"/>
                <a:gridCol w="1917825"/>
              </a:tblGrid>
              <a:tr h="485350">
                <a:tc gridSpan="4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  <a:tc hMerge="1"/>
                <a:tc hMerge="1"/>
              </a:tr>
              <a:tr h="315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100">
                          <a:solidFill>
                            <a:schemeClr val="dk1"/>
                          </a:solidFill>
                        </a:rPr>
                        <a:t>Steps</a:t>
                      </a:r>
                      <a:endParaRPr b="1" sz="11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Work out the area 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Work out the area 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Work out the area 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4437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rPr lang="en-GB" sz="1100">
                          <a:solidFill>
                            <a:schemeClr val="dk1"/>
                          </a:solidFill>
                        </a:rPr>
                        <a:t>1) Make sure all your units are the same.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rPr lang="en-GB" sz="1100">
                          <a:solidFill>
                            <a:schemeClr val="dk1"/>
                          </a:solidFill>
                        </a:rPr>
                        <a:t>2) Multiply the base by the perpendicular height.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rPr lang="en-GB" sz="1100">
                          <a:solidFill>
                            <a:schemeClr val="dk1"/>
                          </a:solidFill>
                        </a:rPr>
                        <a:t>3) Remember to add the units to your answer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389" name="Google Shape;389;p20"/>
          <p:cNvSpPr txBox="1"/>
          <p:nvPr/>
        </p:nvSpPr>
        <p:spPr>
          <a:xfrm>
            <a:off x="1281696" y="3876185"/>
            <a:ext cx="141070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Example 10 - I do…</a:t>
            </a:r>
            <a:endParaRPr/>
          </a:p>
        </p:txBody>
      </p:sp>
      <p:sp>
        <p:nvSpPr>
          <p:cNvPr id="390" name="Google Shape;390;p20"/>
          <p:cNvSpPr txBox="1"/>
          <p:nvPr/>
        </p:nvSpPr>
        <p:spPr>
          <a:xfrm>
            <a:off x="5031633" y="3859128"/>
            <a:ext cx="164340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Example 12 – You do…</a:t>
            </a:r>
            <a:endParaRPr/>
          </a:p>
        </p:txBody>
      </p:sp>
      <p:sp>
        <p:nvSpPr>
          <p:cNvPr id="391" name="Google Shape;391;p20"/>
          <p:cNvSpPr txBox="1"/>
          <p:nvPr/>
        </p:nvSpPr>
        <p:spPr>
          <a:xfrm>
            <a:off x="3040314" y="3876184"/>
            <a:ext cx="164340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Example 11 – We do…</a:t>
            </a:r>
            <a:endParaRPr/>
          </a:p>
        </p:txBody>
      </p:sp>
      <p:pic>
        <p:nvPicPr>
          <p:cNvPr id="392" name="Google Shape;392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422511" y="4478524"/>
            <a:ext cx="904948" cy="1090897"/>
          </a:xfrm>
          <a:prstGeom prst="rect">
            <a:avLst/>
          </a:prstGeom>
          <a:noFill/>
          <a:ln>
            <a:noFill/>
          </a:ln>
        </p:spPr>
      </p:pic>
      <p:pic>
        <p:nvPicPr>
          <p:cNvPr id="393" name="Google Shape;393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239747" y="4493661"/>
            <a:ext cx="1409652" cy="1111612"/>
          </a:xfrm>
          <a:prstGeom prst="rect">
            <a:avLst/>
          </a:prstGeom>
          <a:noFill/>
          <a:ln>
            <a:noFill/>
          </a:ln>
        </p:spPr>
      </p:pic>
      <p:pic>
        <p:nvPicPr>
          <p:cNvPr id="394" name="Google Shape;394;p2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343800" y="4478524"/>
            <a:ext cx="804205" cy="1304459"/>
          </a:xfrm>
          <a:prstGeom prst="rect">
            <a:avLst/>
          </a:prstGeom>
          <a:noFill/>
          <a:ln>
            <a:noFill/>
          </a:ln>
        </p:spPr>
      </p:pic>
      <p:sp>
        <p:nvSpPr>
          <p:cNvPr id="395" name="Google Shape;395;p20"/>
          <p:cNvSpPr/>
          <p:nvPr/>
        </p:nvSpPr>
        <p:spPr>
          <a:xfrm>
            <a:off x="142759" y="3575003"/>
            <a:ext cx="1619678" cy="317777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Area of a triangle </a:t>
            </a:r>
            <a:endParaRPr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20"/>
          <p:cNvSpPr txBox="1"/>
          <p:nvPr/>
        </p:nvSpPr>
        <p:spPr>
          <a:xfrm>
            <a:off x="1942784" y="3579849"/>
            <a:ext cx="4672754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Area of a triangle = (base x perpendicular height) ÷ 2</a:t>
            </a:r>
            <a:endParaRPr/>
          </a:p>
        </p:txBody>
      </p:sp>
      <p:graphicFrame>
        <p:nvGraphicFramePr>
          <p:cNvPr id="397" name="Google Shape;397;p20"/>
          <p:cNvGraphicFramePr/>
          <p:nvPr/>
        </p:nvGraphicFramePr>
        <p:xfrm>
          <a:off x="126082" y="708020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{7F622640-7F73-40B3-BA3B-6E99962658F5}</a:tableStyleId>
              </a:tblPr>
              <a:tblGrid>
                <a:gridCol w="988300"/>
                <a:gridCol w="1748525"/>
                <a:gridCol w="1917825"/>
                <a:gridCol w="1917825"/>
              </a:tblGrid>
              <a:tr h="303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100">
                          <a:solidFill>
                            <a:schemeClr val="dk1"/>
                          </a:solidFill>
                        </a:rPr>
                        <a:t>Steps</a:t>
                      </a:r>
                      <a:endParaRPr b="1" sz="11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Work out the area 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Work out the area 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Work out the area 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4437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rPr lang="en-GB" sz="1100">
                          <a:solidFill>
                            <a:schemeClr val="dk1"/>
                          </a:solidFill>
                        </a:rPr>
                        <a:t>1) Make sure all your units are the same.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rPr lang="en-GB" sz="1100">
                          <a:solidFill>
                            <a:schemeClr val="dk1"/>
                          </a:solidFill>
                        </a:rPr>
                        <a:t>2) Multiply the base by the perpendicular height.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rPr lang="en-GB" sz="1100">
                          <a:solidFill>
                            <a:schemeClr val="dk1"/>
                          </a:solidFill>
                        </a:rPr>
                        <a:t>3) Remember to add the units to your answer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398" name="Google Shape;398;p20"/>
          <p:cNvSpPr txBox="1"/>
          <p:nvPr/>
        </p:nvSpPr>
        <p:spPr>
          <a:xfrm>
            <a:off x="1281696" y="6849097"/>
            <a:ext cx="141070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Example 13 - I do…</a:t>
            </a:r>
            <a:endParaRPr/>
          </a:p>
        </p:txBody>
      </p:sp>
      <p:sp>
        <p:nvSpPr>
          <p:cNvPr id="399" name="Google Shape;399;p20"/>
          <p:cNvSpPr txBox="1"/>
          <p:nvPr/>
        </p:nvSpPr>
        <p:spPr>
          <a:xfrm>
            <a:off x="5031632" y="6849097"/>
            <a:ext cx="164340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Example 15 – You do…</a:t>
            </a:r>
            <a:endParaRPr/>
          </a:p>
        </p:txBody>
      </p:sp>
      <p:sp>
        <p:nvSpPr>
          <p:cNvPr id="400" name="Google Shape;400;p20"/>
          <p:cNvSpPr txBox="1"/>
          <p:nvPr/>
        </p:nvSpPr>
        <p:spPr>
          <a:xfrm>
            <a:off x="3060414" y="6850117"/>
            <a:ext cx="164340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Example 14 – We do…</a:t>
            </a:r>
            <a:endParaRPr/>
          </a:p>
        </p:txBody>
      </p:sp>
      <p:pic>
        <p:nvPicPr>
          <p:cNvPr id="401" name="Google Shape;401;p2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3176198" y="7717366"/>
            <a:ext cx="1413797" cy="832273"/>
          </a:xfrm>
          <a:prstGeom prst="rect">
            <a:avLst/>
          </a:prstGeom>
          <a:noFill/>
          <a:ln>
            <a:noFill/>
          </a:ln>
        </p:spPr>
      </p:pic>
      <p:pic>
        <p:nvPicPr>
          <p:cNvPr id="402" name="Google Shape;402;p20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262357" y="7708451"/>
            <a:ext cx="1577591" cy="832273"/>
          </a:xfrm>
          <a:prstGeom prst="rect">
            <a:avLst/>
          </a:prstGeom>
          <a:noFill/>
          <a:ln>
            <a:noFill/>
          </a:ln>
        </p:spPr>
      </p:pic>
      <p:pic>
        <p:nvPicPr>
          <p:cNvPr id="403" name="Google Shape;403;p20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5237695" y="7708451"/>
            <a:ext cx="1018376" cy="1079479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404" name="Google Shape;404;p20"/>
          <p:cNvGraphicFramePr/>
          <p:nvPr/>
        </p:nvGraphicFramePr>
        <p:xfrm>
          <a:off x="142759" y="170157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{7F622640-7F73-40B3-BA3B-6E99962658F5}</a:tableStyleId>
              </a:tblPr>
              <a:tblGrid>
                <a:gridCol w="6565600"/>
              </a:tblGrid>
              <a:tr h="252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b="0" i="0" lang="en-GB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16. The diagram shows a logo that is made up of 5 identical parallelograms. Find the area of one parallelogram.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264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405" name="Google Shape;405;p20"/>
          <p:cNvSpPr txBox="1"/>
          <p:nvPr/>
        </p:nvSpPr>
        <p:spPr>
          <a:xfrm>
            <a:off x="5172189" y="9383839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90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20"/>
          <p:cNvSpPr txBox="1"/>
          <p:nvPr/>
        </p:nvSpPr>
        <p:spPr>
          <a:xfrm>
            <a:off x="3787434" y="990899"/>
            <a:ext cx="101502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2800cm</a:t>
            </a:r>
            <a:r>
              <a:rPr b="1" baseline="30000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407" name="Google Shape;407;p20"/>
          <p:cNvSpPr txBox="1"/>
          <p:nvPr/>
        </p:nvSpPr>
        <p:spPr>
          <a:xfrm>
            <a:off x="3751396" y="2548605"/>
            <a:ext cx="89800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250cm</a:t>
            </a:r>
            <a:r>
              <a:rPr b="1" baseline="30000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408" name="Google Shape;408;p20"/>
          <p:cNvSpPr txBox="1"/>
          <p:nvPr/>
        </p:nvSpPr>
        <p:spPr>
          <a:xfrm>
            <a:off x="1636656" y="5808305"/>
            <a:ext cx="78098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36cm</a:t>
            </a:r>
            <a:r>
              <a:rPr b="1" baseline="30000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409" name="Google Shape;409;p20"/>
          <p:cNvSpPr txBox="1"/>
          <p:nvPr/>
        </p:nvSpPr>
        <p:spPr>
          <a:xfrm>
            <a:off x="3471520" y="5825063"/>
            <a:ext cx="80182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180m</a:t>
            </a:r>
            <a:r>
              <a:rPr b="1" baseline="30000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410" name="Google Shape;410;p20"/>
          <p:cNvSpPr txBox="1"/>
          <p:nvPr/>
        </p:nvSpPr>
        <p:spPr>
          <a:xfrm>
            <a:off x="5406438" y="5820522"/>
            <a:ext cx="55976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9in</a:t>
            </a:r>
            <a:r>
              <a:rPr b="1" baseline="30000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411" name="Google Shape;411;p20"/>
          <p:cNvSpPr txBox="1"/>
          <p:nvPr/>
        </p:nvSpPr>
        <p:spPr>
          <a:xfrm>
            <a:off x="1468632" y="9155452"/>
            <a:ext cx="80182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336m</a:t>
            </a:r>
            <a:r>
              <a:rPr b="1" baseline="30000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412" name="Google Shape;412;p20"/>
          <p:cNvSpPr txBox="1"/>
          <p:nvPr/>
        </p:nvSpPr>
        <p:spPr>
          <a:xfrm>
            <a:off x="3303496" y="9172210"/>
            <a:ext cx="78098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25cm</a:t>
            </a:r>
            <a:r>
              <a:rPr b="1" baseline="30000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413" name="Google Shape;413;p20"/>
          <p:cNvSpPr txBox="1"/>
          <p:nvPr/>
        </p:nvSpPr>
        <p:spPr>
          <a:xfrm>
            <a:off x="5238414" y="9167669"/>
            <a:ext cx="78098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30cm</a:t>
            </a:r>
            <a:r>
              <a:rPr b="1" baseline="30000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21"/>
          <p:cNvSpPr txBox="1"/>
          <p:nvPr/>
        </p:nvSpPr>
        <p:spPr>
          <a:xfrm>
            <a:off x="5255076" y="9413949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21"/>
          <p:cNvSpPr txBox="1"/>
          <p:nvPr/>
        </p:nvSpPr>
        <p:spPr>
          <a:xfrm>
            <a:off x="549741" y="2173133"/>
            <a:ext cx="78098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14cm</a:t>
            </a:r>
            <a:r>
              <a:rPr b="1" baseline="30000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421" name="Google Shape;421;p21"/>
          <p:cNvSpPr txBox="1"/>
          <p:nvPr/>
        </p:nvSpPr>
        <p:spPr>
          <a:xfrm>
            <a:off x="2384605" y="2189891"/>
            <a:ext cx="78098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27cm</a:t>
            </a:r>
            <a:r>
              <a:rPr b="1" baseline="30000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422" name="Google Shape;422;p21"/>
          <p:cNvSpPr txBox="1"/>
          <p:nvPr/>
        </p:nvSpPr>
        <p:spPr>
          <a:xfrm>
            <a:off x="3957125" y="2186049"/>
            <a:ext cx="78098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48cm</a:t>
            </a:r>
            <a:r>
              <a:rPr b="1" baseline="30000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423" name="Google Shape;423;p21"/>
          <p:cNvSpPr txBox="1"/>
          <p:nvPr/>
        </p:nvSpPr>
        <p:spPr>
          <a:xfrm>
            <a:off x="5571898" y="2186049"/>
            <a:ext cx="68480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24m</a:t>
            </a:r>
            <a:r>
              <a:rPr b="1" baseline="30000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424" name="Google Shape;424;p21"/>
          <p:cNvSpPr/>
          <p:nvPr/>
        </p:nvSpPr>
        <p:spPr>
          <a:xfrm>
            <a:off x="119235" y="143917"/>
            <a:ext cx="1137954" cy="427668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Independent Practice</a:t>
            </a:r>
            <a:endParaRPr/>
          </a:p>
        </p:txBody>
      </p:sp>
      <p:graphicFrame>
        <p:nvGraphicFramePr>
          <p:cNvPr id="425" name="Google Shape;425;p21"/>
          <p:cNvGraphicFramePr/>
          <p:nvPr/>
        </p:nvGraphicFramePr>
        <p:xfrm>
          <a:off x="142760" y="66954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{7F622640-7F73-40B3-BA3B-6E99962658F5}</a:tableStyleId>
              </a:tblPr>
              <a:tblGrid>
                <a:gridCol w="1643125"/>
                <a:gridCol w="1643125"/>
                <a:gridCol w="1643125"/>
                <a:gridCol w="1643125"/>
              </a:tblGrid>
              <a:tr h="227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a)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b)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c)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d)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879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426" name="Google Shape;426;p21"/>
          <p:cNvSpPr txBox="1"/>
          <p:nvPr/>
        </p:nvSpPr>
        <p:spPr>
          <a:xfrm>
            <a:off x="1298374" y="341302"/>
            <a:ext cx="2345608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17. Calculate the area:</a:t>
            </a:r>
            <a:endParaRPr/>
          </a:p>
        </p:txBody>
      </p:sp>
      <p:grpSp>
        <p:nvGrpSpPr>
          <p:cNvPr id="427" name="Google Shape;427;p21"/>
          <p:cNvGrpSpPr/>
          <p:nvPr/>
        </p:nvGrpSpPr>
        <p:grpSpPr>
          <a:xfrm>
            <a:off x="5155072" y="1054865"/>
            <a:ext cx="1429880" cy="656758"/>
            <a:chOff x="4924188" y="6808150"/>
            <a:chExt cx="1429880" cy="656758"/>
          </a:xfrm>
        </p:grpSpPr>
        <p:pic>
          <p:nvPicPr>
            <p:cNvPr id="428" name="Google Shape;428;p21"/>
            <p:cNvPicPr preferRelativeResize="0"/>
            <p:nvPr/>
          </p:nvPicPr>
          <p:blipFill rotWithShape="1">
            <a:blip r:embed="rId3">
              <a:alphaModFix/>
            </a:blip>
            <a:srcRect b="79684" l="6817" r="44375" t="5753"/>
            <a:stretch/>
          </p:blipFill>
          <p:spPr>
            <a:xfrm>
              <a:off x="4990442" y="6808150"/>
              <a:ext cx="1363626" cy="65675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9" name="Google Shape;429;p21"/>
            <p:cNvSpPr/>
            <p:nvPr/>
          </p:nvSpPr>
          <p:spPr>
            <a:xfrm>
              <a:off x="4924188" y="6817836"/>
              <a:ext cx="186744" cy="206893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430" name="Google Shape;430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03072" y="1021753"/>
            <a:ext cx="1478719" cy="851618"/>
          </a:xfrm>
          <a:prstGeom prst="rect">
            <a:avLst/>
          </a:prstGeom>
          <a:noFill/>
          <a:ln>
            <a:noFill/>
          </a:ln>
        </p:spPr>
      </p:pic>
      <p:pic>
        <p:nvPicPr>
          <p:cNvPr id="431" name="Google Shape;431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892644" y="973362"/>
            <a:ext cx="1478719" cy="88233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2" name="Google Shape;432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639838" y="973362"/>
            <a:ext cx="1117354" cy="1319915"/>
          </a:xfrm>
          <a:prstGeom prst="rect">
            <a:avLst/>
          </a:prstGeom>
          <a:noFill/>
          <a:ln>
            <a:noFill/>
          </a:ln>
        </p:spPr>
      </p:pic>
      <p:sp>
        <p:nvSpPr>
          <p:cNvPr id="433" name="Google Shape;433;p21"/>
          <p:cNvSpPr/>
          <p:nvPr/>
        </p:nvSpPr>
        <p:spPr>
          <a:xfrm>
            <a:off x="5456486" y="1398123"/>
            <a:ext cx="129597" cy="147931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rgbClr val="26415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434" name="Google Shape;434;p21"/>
          <p:cNvGraphicFramePr/>
          <p:nvPr/>
        </p:nvGraphicFramePr>
        <p:xfrm>
          <a:off x="142760" y="283316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{7F622640-7F73-40B3-BA3B-6E99962658F5}</a:tableStyleId>
              </a:tblPr>
              <a:tblGrid>
                <a:gridCol w="1643125"/>
                <a:gridCol w="1643125"/>
                <a:gridCol w="1643125"/>
                <a:gridCol w="1643125"/>
              </a:tblGrid>
              <a:tr h="227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e)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f)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g)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h)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879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3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i)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j)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k)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l)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879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Find the area of a triangle with a base of 12cm and a perpendicular height of 9cm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Find the area of a triangle with base 9cm and perpendicular height 14cm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Find the area of a triangle with base 19cm and height of 7cm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64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m)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n)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o)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p)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879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435" name="Google Shape;435;p21"/>
          <p:cNvPicPr preferRelativeResize="0"/>
          <p:nvPr/>
        </p:nvPicPr>
        <p:blipFill rotWithShape="1">
          <a:blip r:embed="rId3">
            <a:alphaModFix/>
          </a:blip>
          <a:srcRect b="5619" l="12196" r="51710" t="78017"/>
          <a:stretch/>
        </p:blipFill>
        <p:spPr>
          <a:xfrm>
            <a:off x="5241214" y="3177139"/>
            <a:ext cx="1220448" cy="893134"/>
          </a:xfrm>
          <a:prstGeom prst="rect">
            <a:avLst/>
          </a:prstGeom>
          <a:noFill/>
          <a:ln>
            <a:noFill/>
          </a:ln>
        </p:spPr>
      </p:pic>
      <p:pic>
        <p:nvPicPr>
          <p:cNvPr id="436" name="Google Shape;436;p21"/>
          <p:cNvPicPr preferRelativeResize="0"/>
          <p:nvPr/>
        </p:nvPicPr>
        <p:blipFill rotWithShape="1">
          <a:blip r:embed="rId3">
            <a:alphaModFix/>
          </a:blip>
          <a:srcRect b="50735" l="14854" r="53388" t="35466"/>
          <a:stretch/>
        </p:blipFill>
        <p:spPr>
          <a:xfrm>
            <a:off x="439351" y="5332465"/>
            <a:ext cx="1073888" cy="75314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7" name="Google Shape;437;p21"/>
          <p:cNvPicPr preferRelativeResize="0"/>
          <p:nvPr/>
        </p:nvPicPr>
        <p:blipFill rotWithShape="1">
          <a:blip r:embed="rId3">
            <a:alphaModFix/>
          </a:blip>
          <a:srcRect b="22729" l="62892" r="1015" t="64219"/>
          <a:stretch/>
        </p:blipFill>
        <p:spPr>
          <a:xfrm>
            <a:off x="3767189" y="3265973"/>
            <a:ext cx="1220447" cy="712382"/>
          </a:xfrm>
          <a:prstGeom prst="rect">
            <a:avLst/>
          </a:prstGeom>
          <a:noFill/>
          <a:ln>
            <a:noFill/>
          </a:ln>
        </p:spPr>
      </p:pic>
      <p:pic>
        <p:nvPicPr>
          <p:cNvPr id="438" name="Google Shape;438;p2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39351" y="3174056"/>
            <a:ext cx="891373" cy="896217"/>
          </a:xfrm>
          <a:prstGeom prst="rect">
            <a:avLst/>
          </a:prstGeom>
          <a:noFill/>
          <a:ln>
            <a:noFill/>
          </a:ln>
        </p:spPr>
      </p:pic>
      <p:pic>
        <p:nvPicPr>
          <p:cNvPr id="439" name="Google Shape;439;p2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2128931" y="3115929"/>
            <a:ext cx="891373" cy="974776"/>
          </a:xfrm>
          <a:prstGeom prst="rect">
            <a:avLst/>
          </a:prstGeom>
          <a:noFill/>
          <a:ln>
            <a:noFill/>
          </a:ln>
        </p:spPr>
      </p:pic>
      <p:pic>
        <p:nvPicPr>
          <p:cNvPr id="440" name="Google Shape;440;p21"/>
          <p:cNvPicPr preferRelativeResize="0"/>
          <p:nvPr/>
        </p:nvPicPr>
        <p:blipFill rotWithShape="1">
          <a:blip r:embed="rId9">
            <a:alphaModFix/>
          </a:blip>
          <a:srcRect b="0" l="0" r="6878" t="6195"/>
          <a:stretch/>
        </p:blipFill>
        <p:spPr>
          <a:xfrm>
            <a:off x="1814207" y="7596392"/>
            <a:ext cx="1584439" cy="805184"/>
          </a:xfrm>
          <a:prstGeom prst="rect">
            <a:avLst/>
          </a:prstGeom>
          <a:noFill/>
          <a:ln>
            <a:noFill/>
          </a:ln>
        </p:spPr>
      </p:pic>
      <p:pic>
        <p:nvPicPr>
          <p:cNvPr id="441" name="Google Shape;441;p21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372015" y="7494539"/>
            <a:ext cx="1142235" cy="1046249"/>
          </a:xfrm>
          <a:prstGeom prst="rect">
            <a:avLst/>
          </a:prstGeom>
          <a:noFill/>
          <a:ln>
            <a:noFill/>
          </a:ln>
        </p:spPr>
      </p:pic>
      <p:sp>
        <p:nvSpPr>
          <p:cNvPr id="442" name="Google Shape;442;p21"/>
          <p:cNvSpPr txBox="1"/>
          <p:nvPr/>
        </p:nvSpPr>
        <p:spPr>
          <a:xfrm rot="-5400000">
            <a:off x="640016" y="7863389"/>
            <a:ext cx="540533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8.3km</a:t>
            </a:r>
            <a:endParaRPr/>
          </a:p>
        </p:txBody>
      </p:sp>
      <p:pic>
        <p:nvPicPr>
          <p:cNvPr id="443" name="Google Shape;443;p21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3698603" y="7494539"/>
            <a:ext cx="1097578" cy="671987"/>
          </a:xfrm>
          <a:prstGeom prst="rect">
            <a:avLst/>
          </a:prstGeom>
          <a:noFill/>
          <a:ln>
            <a:noFill/>
          </a:ln>
        </p:spPr>
      </p:pic>
      <p:sp>
        <p:nvSpPr>
          <p:cNvPr id="444" name="Google Shape;444;p21"/>
          <p:cNvSpPr txBox="1"/>
          <p:nvPr/>
        </p:nvSpPr>
        <p:spPr>
          <a:xfrm rot="-5400000">
            <a:off x="4059375" y="7623802"/>
            <a:ext cx="463588" cy="2539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5.1m</a:t>
            </a:r>
            <a:endParaRPr/>
          </a:p>
        </p:txBody>
      </p:sp>
      <p:pic>
        <p:nvPicPr>
          <p:cNvPr id="445" name="Google Shape;445;p21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5535371" y="7494539"/>
            <a:ext cx="728544" cy="838217"/>
          </a:xfrm>
          <a:prstGeom prst="rect">
            <a:avLst/>
          </a:prstGeom>
          <a:noFill/>
          <a:ln>
            <a:noFill/>
          </a:ln>
        </p:spPr>
      </p:pic>
      <p:sp>
        <p:nvSpPr>
          <p:cNvPr id="446" name="Google Shape;446;p21"/>
          <p:cNvSpPr txBox="1"/>
          <p:nvPr/>
        </p:nvSpPr>
        <p:spPr>
          <a:xfrm rot="-5400000">
            <a:off x="5719145" y="7773269"/>
            <a:ext cx="360996" cy="2539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9m</a:t>
            </a:r>
            <a:endParaRPr/>
          </a:p>
        </p:txBody>
      </p:sp>
      <p:sp>
        <p:nvSpPr>
          <p:cNvPr id="447" name="Google Shape;447;p21"/>
          <p:cNvSpPr txBox="1"/>
          <p:nvPr/>
        </p:nvSpPr>
        <p:spPr>
          <a:xfrm>
            <a:off x="460432" y="4261159"/>
            <a:ext cx="78098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27cm</a:t>
            </a:r>
            <a:r>
              <a:rPr b="1" baseline="30000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448" name="Google Shape;448;p21"/>
          <p:cNvSpPr txBox="1"/>
          <p:nvPr/>
        </p:nvSpPr>
        <p:spPr>
          <a:xfrm>
            <a:off x="2295296" y="4277917"/>
            <a:ext cx="89800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500cm</a:t>
            </a:r>
            <a:r>
              <a:rPr b="1" baseline="30000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449" name="Google Shape;449;p21"/>
          <p:cNvSpPr txBox="1"/>
          <p:nvPr/>
        </p:nvSpPr>
        <p:spPr>
          <a:xfrm>
            <a:off x="3867816" y="4274075"/>
            <a:ext cx="78098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28cm</a:t>
            </a:r>
            <a:r>
              <a:rPr b="1" baseline="30000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450" name="Google Shape;450;p21"/>
          <p:cNvSpPr txBox="1"/>
          <p:nvPr/>
        </p:nvSpPr>
        <p:spPr>
          <a:xfrm>
            <a:off x="5482589" y="4274075"/>
            <a:ext cx="86273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31.5m</a:t>
            </a:r>
            <a:r>
              <a:rPr b="1" baseline="30000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451" name="Google Shape;451;p21"/>
          <p:cNvSpPr txBox="1"/>
          <p:nvPr/>
        </p:nvSpPr>
        <p:spPr>
          <a:xfrm>
            <a:off x="453218" y="6522308"/>
            <a:ext cx="95891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27.5cm</a:t>
            </a:r>
            <a:r>
              <a:rPr b="1" baseline="30000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452" name="Google Shape;452;p21"/>
          <p:cNvSpPr txBox="1"/>
          <p:nvPr/>
        </p:nvSpPr>
        <p:spPr>
          <a:xfrm>
            <a:off x="2288082" y="6539066"/>
            <a:ext cx="78098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54cm</a:t>
            </a:r>
            <a:r>
              <a:rPr b="1" baseline="30000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453" name="Google Shape;453;p21"/>
          <p:cNvSpPr txBox="1"/>
          <p:nvPr/>
        </p:nvSpPr>
        <p:spPr>
          <a:xfrm>
            <a:off x="3860602" y="6535224"/>
            <a:ext cx="78098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63cm</a:t>
            </a:r>
            <a:r>
              <a:rPr b="1" baseline="30000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454" name="Google Shape;454;p21"/>
          <p:cNvSpPr txBox="1"/>
          <p:nvPr/>
        </p:nvSpPr>
        <p:spPr>
          <a:xfrm>
            <a:off x="5475375" y="6535224"/>
            <a:ext cx="86273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66.5m</a:t>
            </a:r>
            <a:r>
              <a:rPr b="1" baseline="30000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455" name="Google Shape;455;p21"/>
          <p:cNvSpPr txBox="1"/>
          <p:nvPr/>
        </p:nvSpPr>
        <p:spPr>
          <a:xfrm>
            <a:off x="2034379" y="8743516"/>
            <a:ext cx="107593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19.44cm</a:t>
            </a:r>
            <a:r>
              <a:rPr b="1" baseline="30000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456" name="Google Shape;456;p21"/>
          <p:cNvSpPr txBox="1"/>
          <p:nvPr/>
        </p:nvSpPr>
        <p:spPr>
          <a:xfrm>
            <a:off x="397304" y="8773461"/>
            <a:ext cx="109036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20.14km</a:t>
            </a:r>
            <a:r>
              <a:rPr b="1" baseline="30000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457" name="Google Shape;457;p21"/>
          <p:cNvSpPr txBox="1"/>
          <p:nvPr/>
        </p:nvSpPr>
        <p:spPr>
          <a:xfrm>
            <a:off x="3719903" y="8756162"/>
            <a:ext cx="97975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21.58m</a:t>
            </a:r>
            <a:r>
              <a:rPr b="1" baseline="30000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458" name="Google Shape;458;p21"/>
          <p:cNvSpPr txBox="1"/>
          <p:nvPr/>
        </p:nvSpPr>
        <p:spPr>
          <a:xfrm>
            <a:off x="5309246" y="8756162"/>
            <a:ext cx="97975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22.05m</a:t>
            </a:r>
            <a:r>
              <a:rPr b="1" baseline="30000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63" name="Google Shape;463;p22"/>
          <p:cNvGraphicFramePr/>
          <p:nvPr/>
        </p:nvGraphicFramePr>
        <p:xfrm>
          <a:off x="153093" y="25151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{7F622640-7F73-40B3-BA3B-6E99962658F5}</a:tableStyleId>
              </a:tblPr>
              <a:tblGrid>
                <a:gridCol w="6565600"/>
              </a:tblGrid>
              <a:tr h="252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b="0" i="0" lang="en-GB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18. This shape is made from three congruent right-angled triangles. Find the total area of the shape.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264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pSp>
        <p:nvGrpSpPr>
          <p:cNvPr id="464" name="Google Shape;464;p22"/>
          <p:cNvGrpSpPr/>
          <p:nvPr/>
        </p:nvGrpSpPr>
        <p:grpSpPr>
          <a:xfrm>
            <a:off x="271358" y="513532"/>
            <a:ext cx="2758876" cy="2276248"/>
            <a:chOff x="261428" y="7302295"/>
            <a:chExt cx="2758876" cy="2276248"/>
          </a:xfrm>
        </p:grpSpPr>
        <p:pic>
          <p:nvPicPr>
            <p:cNvPr id="465" name="Google Shape;465;p22"/>
            <p:cNvPicPr preferRelativeResize="0"/>
            <p:nvPr/>
          </p:nvPicPr>
          <p:blipFill rotWithShape="1">
            <a:blip r:embed="rId3">
              <a:alphaModFix/>
            </a:blip>
            <a:srcRect b="15137" l="30718" r="19792" t="12663"/>
            <a:stretch/>
          </p:blipFill>
          <p:spPr>
            <a:xfrm>
              <a:off x="261428" y="7302295"/>
              <a:ext cx="2518924" cy="227624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6" name="Google Shape;466;p22"/>
            <p:cNvSpPr/>
            <p:nvPr/>
          </p:nvSpPr>
          <p:spPr>
            <a:xfrm>
              <a:off x="2128931" y="7540668"/>
              <a:ext cx="891373" cy="350729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67" name="Google Shape;467;p22"/>
          <p:cNvSpPr txBox="1"/>
          <p:nvPr/>
        </p:nvSpPr>
        <p:spPr>
          <a:xfrm>
            <a:off x="3996850" y="1523165"/>
            <a:ext cx="78098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48cm</a:t>
            </a:r>
            <a:r>
              <a:rPr b="1" baseline="30000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graphicFrame>
        <p:nvGraphicFramePr>
          <p:cNvPr id="468" name="Google Shape;468;p22"/>
          <p:cNvGraphicFramePr/>
          <p:nvPr/>
        </p:nvGraphicFramePr>
        <p:xfrm>
          <a:off x="153093" y="291039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{7F622640-7F73-40B3-BA3B-6E99962658F5}</a:tableStyleId>
              </a:tblPr>
              <a:tblGrid>
                <a:gridCol w="6565600"/>
              </a:tblGrid>
              <a:tr h="207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b="0" i="0" lang="en-GB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19. Shown below is a logo made from a square and two triangles. Calculate the area of the logo.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0084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pic>
        <p:nvPicPr>
          <p:cNvPr id="469" name="Google Shape;469;p22"/>
          <p:cNvPicPr preferRelativeResize="0"/>
          <p:nvPr/>
        </p:nvPicPr>
        <p:blipFill rotWithShape="1">
          <a:blip r:embed="rId4">
            <a:alphaModFix/>
          </a:blip>
          <a:srcRect b="0" l="34759" r="27917" t="18873"/>
          <a:stretch/>
        </p:blipFill>
        <p:spPr>
          <a:xfrm>
            <a:off x="262077" y="3318884"/>
            <a:ext cx="1520455" cy="180773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470" name="Google Shape;470;p22"/>
          <p:cNvGraphicFramePr/>
          <p:nvPr/>
        </p:nvGraphicFramePr>
        <p:xfrm>
          <a:off x="153093" y="526542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{7F622640-7F73-40B3-BA3B-6E99962658F5}</a:tableStyleId>
              </a:tblPr>
              <a:tblGrid>
                <a:gridCol w="6565600"/>
              </a:tblGrid>
              <a:tr h="405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b="0" i="0" lang="en-GB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20. Shown below is a triangular field. Each chicken requires 3m</a:t>
                      </a:r>
                      <a:r>
                        <a:rPr b="0" baseline="30000" i="0" lang="en-GB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r>
                        <a:rPr b="0" i="0" lang="en-GB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. How many chickens can be kept in this field?</a:t>
                      </a:r>
                      <a:endParaRPr b="0" baseline="30000" i="0" sz="12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779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pic>
        <p:nvPicPr>
          <p:cNvPr id="471" name="Google Shape;471;p22"/>
          <p:cNvPicPr preferRelativeResize="0"/>
          <p:nvPr/>
        </p:nvPicPr>
        <p:blipFill rotWithShape="1">
          <a:blip r:embed="rId5">
            <a:alphaModFix/>
          </a:blip>
          <a:srcRect b="0" l="37709" r="10185" t="34675"/>
          <a:stretch/>
        </p:blipFill>
        <p:spPr>
          <a:xfrm>
            <a:off x="262077" y="5788664"/>
            <a:ext cx="1905443" cy="1419182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472" name="Google Shape;472;p22"/>
          <p:cNvGraphicFramePr/>
          <p:nvPr/>
        </p:nvGraphicFramePr>
        <p:xfrm>
          <a:off x="153093" y="757419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{7F622640-7F73-40B3-BA3B-6E99962658F5}</a:tableStyleId>
              </a:tblPr>
              <a:tblGrid>
                <a:gridCol w="6565600"/>
              </a:tblGrid>
              <a:tr h="207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b="0" i="0" lang="en-GB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21. Shown is a square garden with a triangular pond. Find the area of the garden that is grass.</a:t>
                      </a:r>
                      <a:endParaRPr b="0" baseline="30000" i="0" sz="12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0084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pic>
        <p:nvPicPr>
          <p:cNvPr id="473" name="Google Shape;473;p22"/>
          <p:cNvPicPr preferRelativeResize="0"/>
          <p:nvPr/>
        </p:nvPicPr>
        <p:blipFill rotWithShape="1">
          <a:blip r:embed="rId6">
            <a:alphaModFix/>
          </a:blip>
          <a:srcRect b="1502" l="44715" r="15527" t="18326"/>
          <a:stretch/>
        </p:blipFill>
        <p:spPr>
          <a:xfrm>
            <a:off x="226930" y="7928914"/>
            <a:ext cx="1555602" cy="1773765"/>
          </a:xfrm>
          <a:prstGeom prst="rect">
            <a:avLst/>
          </a:prstGeom>
          <a:noFill/>
          <a:ln>
            <a:noFill/>
          </a:ln>
        </p:spPr>
      </p:pic>
      <p:sp>
        <p:nvSpPr>
          <p:cNvPr id="474" name="Google Shape;474;p22"/>
          <p:cNvSpPr/>
          <p:nvPr/>
        </p:nvSpPr>
        <p:spPr>
          <a:xfrm>
            <a:off x="1214798" y="5788664"/>
            <a:ext cx="287410" cy="263089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5" name="Google Shape;475;p22"/>
          <p:cNvSpPr txBox="1"/>
          <p:nvPr/>
        </p:nvSpPr>
        <p:spPr>
          <a:xfrm>
            <a:off x="1175709" y="5788664"/>
            <a:ext cx="42992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10</a:t>
            </a:r>
            <a:endParaRPr/>
          </a:p>
        </p:txBody>
      </p:sp>
      <p:sp>
        <p:nvSpPr>
          <p:cNvPr id="476" name="Google Shape;476;p22"/>
          <p:cNvSpPr txBox="1"/>
          <p:nvPr/>
        </p:nvSpPr>
        <p:spPr>
          <a:xfrm>
            <a:off x="3265437" y="3867111"/>
            <a:ext cx="89800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120cm</a:t>
            </a:r>
            <a:r>
              <a:rPr b="1" baseline="30000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477" name="Google Shape;477;p22"/>
          <p:cNvSpPr txBox="1"/>
          <p:nvPr/>
        </p:nvSpPr>
        <p:spPr>
          <a:xfrm>
            <a:off x="3265436" y="6383680"/>
            <a:ext cx="41870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30</a:t>
            </a:r>
            <a:endParaRPr b="1" baseline="30000"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8" name="Google Shape;478;p22"/>
          <p:cNvSpPr txBox="1"/>
          <p:nvPr/>
        </p:nvSpPr>
        <p:spPr>
          <a:xfrm>
            <a:off x="3132386" y="8620182"/>
            <a:ext cx="68480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24m</a:t>
            </a:r>
            <a:r>
              <a:rPr b="1" baseline="30000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479" name="Google Shape;479;p22"/>
          <p:cNvSpPr txBox="1"/>
          <p:nvPr>
            <p:ph idx="12" type="sldNum"/>
          </p:nvPr>
        </p:nvSpPr>
        <p:spPr>
          <a:xfrm>
            <a:off x="5088020" y="943897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p23"/>
          <p:cNvSpPr txBox="1"/>
          <p:nvPr>
            <p:ph idx="12" type="sldNum"/>
          </p:nvPr>
        </p:nvSpPr>
        <p:spPr>
          <a:xfrm>
            <a:off x="5168752" y="9423054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485" name="Google Shape;485;p23"/>
          <p:cNvSpPr txBox="1"/>
          <p:nvPr/>
        </p:nvSpPr>
        <p:spPr>
          <a:xfrm>
            <a:off x="4248639" y="1137665"/>
            <a:ext cx="68480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18m</a:t>
            </a:r>
            <a:r>
              <a:rPr b="1" baseline="30000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pic>
        <p:nvPicPr>
          <p:cNvPr id="486" name="Google Shape;486;p23"/>
          <p:cNvPicPr preferRelativeResize="0"/>
          <p:nvPr/>
        </p:nvPicPr>
        <p:blipFill rotWithShape="1">
          <a:blip r:embed="rId3">
            <a:alphaModFix/>
          </a:blip>
          <a:srcRect b="0" l="33659" r="21411" t="17453"/>
          <a:stretch/>
        </p:blipFill>
        <p:spPr>
          <a:xfrm>
            <a:off x="220035" y="522330"/>
            <a:ext cx="1566288" cy="1507769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487" name="Google Shape;487;p23"/>
          <p:cNvGraphicFramePr/>
          <p:nvPr/>
        </p:nvGraphicFramePr>
        <p:xfrm>
          <a:off x="139324" y="219496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{7F622640-7F73-40B3-BA3B-6E99962658F5}</a:tableStyleId>
              </a:tblPr>
              <a:tblGrid>
                <a:gridCol w="988300"/>
                <a:gridCol w="1748525"/>
                <a:gridCol w="1917825"/>
                <a:gridCol w="1917825"/>
              </a:tblGrid>
              <a:tr h="563550">
                <a:tc gridSpan="4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  <a:tc hMerge="1"/>
                <a:tc hMerge="1"/>
              </a:tr>
              <a:tr h="2735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100">
                          <a:solidFill>
                            <a:schemeClr val="dk1"/>
                          </a:solidFill>
                        </a:rPr>
                        <a:t>Steps</a:t>
                      </a:r>
                      <a:endParaRPr b="1" sz="11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Find the area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Find the area 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Find the area 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5951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1) Split the shape into rectangles/ squares</a:t>
                      </a:r>
                      <a:br>
                        <a:rPr lang="en-GB" sz="1200">
                          <a:solidFill>
                            <a:schemeClr val="dk1"/>
                          </a:solidFill>
                        </a:rPr>
                      </a:b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2) Work out the area of each shape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3) Add the areas together 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488" name="Google Shape;488;p23"/>
          <p:cNvSpPr txBox="1"/>
          <p:nvPr/>
        </p:nvSpPr>
        <p:spPr>
          <a:xfrm rot="5400000">
            <a:off x="2518440" y="3707864"/>
            <a:ext cx="407484" cy="246221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3cm</a:t>
            </a:r>
            <a:endParaRPr/>
          </a:p>
        </p:txBody>
      </p:sp>
      <p:sp>
        <p:nvSpPr>
          <p:cNvPr id="489" name="Google Shape;489;p23"/>
          <p:cNvSpPr txBox="1"/>
          <p:nvPr/>
        </p:nvSpPr>
        <p:spPr>
          <a:xfrm>
            <a:off x="1257636" y="2592391"/>
            <a:ext cx="141070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Example 16 - I do…</a:t>
            </a:r>
            <a:endParaRPr/>
          </a:p>
        </p:txBody>
      </p:sp>
      <p:sp>
        <p:nvSpPr>
          <p:cNvPr id="490" name="Google Shape;490;p23"/>
          <p:cNvSpPr txBox="1"/>
          <p:nvPr/>
        </p:nvSpPr>
        <p:spPr>
          <a:xfrm>
            <a:off x="5032241" y="2594224"/>
            <a:ext cx="164340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Example 18 – You do…</a:t>
            </a:r>
            <a:endParaRPr/>
          </a:p>
        </p:txBody>
      </p:sp>
      <p:sp>
        <p:nvSpPr>
          <p:cNvPr id="491" name="Google Shape;491;p23"/>
          <p:cNvSpPr txBox="1"/>
          <p:nvPr/>
        </p:nvSpPr>
        <p:spPr>
          <a:xfrm>
            <a:off x="3093997" y="2589332"/>
            <a:ext cx="164340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Example 17 – We do…</a:t>
            </a:r>
            <a:endParaRPr/>
          </a:p>
        </p:txBody>
      </p:sp>
      <p:pic>
        <p:nvPicPr>
          <p:cNvPr id="492" name="Google Shape;492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86653" y="3270353"/>
            <a:ext cx="1550170" cy="1080422"/>
          </a:xfrm>
          <a:prstGeom prst="rect">
            <a:avLst/>
          </a:prstGeom>
          <a:noFill/>
          <a:ln>
            <a:noFill/>
          </a:ln>
        </p:spPr>
      </p:pic>
      <p:sp>
        <p:nvSpPr>
          <p:cNvPr id="493" name="Google Shape;493;p23"/>
          <p:cNvSpPr/>
          <p:nvPr/>
        </p:nvSpPr>
        <p:spPr>
          <a:xfrm>
            <a:off x="134866" y="2347362"/>
            <a:ext cx="4602536" cy="245413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Area of compound shapes (squares and rectangles only)</a:t>
            </a:r>
            <a:endParaRPr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94" name="Google Shape;494;p23"/>
          <p:cNvGrpSpPr/>
          <p:nvPr/>
        </p:nvGrpSpPr>
        <p:grpSpPr>
          <a:xfrm>
            <a:off x="2950196" y="3106527"/>
            <a:ext cx="1807292" cy="1482281"/>
            <a:chOff x="2950196" y="3748261"/>
            <a:chExt cx="1807292" cy="1482281"/>
          </a:xfrm>
        </p:grpSpPr>
        <p:pic>
          <p:nvPicPr>
            <p:cNvPr id="495" name="Google Shape;495;p23"/>
            <p:cNvPicPr preferRelativeResize="0"/>
            <p:nvPr/>
          </p:nvPicPr>
          <p:blipFill rotWithShape="1">
            <a:blip r:embed="rId5">
              <a:alphaModFix/>
            </a:blip>
            <a:srcRect b="5853" l="0" r="0" t="6367"/>
            <a:stretch/>
          </p:blipFill>
          <p:spPr>
            <a:xfrm>
              <a:off x="3095950" y="3851635"/>
              <a:ext cx="1456618" cy="127059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6" name="Google Shape;496;p23"/>
            <p:cNvSpPr txBox="1"/>
            <p:nvPr/>
          </p:nvSpPr>
          <p:spPr>
            <a:xfrm>
              <a:off x="4305120" y="4348430"/>
              <a:ext cx="452368" cy="276999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8cm</a:t>
              </a:r>
              <a:endParaRPr/>
            </a:p>
          </p:txBody>
        </p:sp>
        <p:sp>
          <p:nvSpPr>
            <p:cNvPr id="497" name="Google Shape;497;p23"/>
            <p:cNvSpPr/>
            <p:nvPr/>
          </p:nvSpPr>
          <p:spPr>
            <a:xfrm>
              <a:off x="3849579" y="3829969"/>
              <a:ext cx="243956" cy="104078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8" name="Google Shape;498;p23"/>
            <p:cNvSpPr txBox="1"/>
            <p:nvPr/>
          </p:nvSpPr>
          <p:spPr>
            <a:xfrm>
              <a:off x="3688857" y="3748261"/>
              <a:ext cx="452368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5cm</a:t>
              </a:r>
              <a:endParaRPr/>
            </a:p>
          </p:txBody>
        </p:sp>
        <p:sp>
          <p:nvSpPr>
            <p:cNvPr id="499" name="Google Shape;499;p23"/>
            <p:cNvSpPr/>
            <p:nvPr/>
          </p:nvSpPr>
          <p:spPr>
            <a:xfrm>
              <a:off x="3623395" y="5007297"/>
              <a:ext cx="243956" cy="104078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0" name="Google Shape;500;p23"/>
            <p:cNvSpPr txBox="1"/>
            <p:nvPr/>
          </p:nvSpPr>
          <p:spPr>
            <a:xfrm>
              <a:off x="3507677" y="4953543"/>
              <a:ext cx="452368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6cm</a:t>
              </a:r>
              <a:endParaRPr/>
            </a:p>
          </p:txBody>
        </p:sp>
        <p:sp>
          <p:nvSpPr>
            <p:cNvPr id="501" name="Google Shape;501;p23"/>
            <p:cNvSpPr/>
            <p:nvPr/>
          </p:nvSpPr>
          <p:spPr>
            <a:xfrm>
              <a:off x="3089187" y="4783042"/>
              <a:ext cx="243956" cy="104078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2" name="Google Shape;502;p23"/>
            <p:cNvSpPr txBox="1"/>
            <p:nvPr/>
          </p:nvSpPr>
          <p:spPr>
            <a:xfrm>
              <a:off x="2950196" y="4676001"/>
              <a:ext cx="452368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2cm</a:t>
              </a:r>
              <a:endParaRPr/>
            </a:p>
          </p:txBody>
        </p:sp>
        <p:sp>
          <p:nvSpPr>
            <p:cNvPr id="503" name="Google Shape;503;p23"/>
            <p:cNvSpPr/>
            <p:nvPr/>
          </p:nvSpPr>
          <p:spPr>
            <a:xfrm>
              <a:off x="3501417" y="4611809"/>
              <a:ext cx="243956" cy="104078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4" name="Google Shape;504;p23"/>
            <p:cNvSpPr txBox="1"/>
            <p:nvPr/>
          </p:nvSpPr>
          <p:spPr>
            <a:xfrm>
              <a:off x="3397211" y="4499679"/>
              <a:ext cx="452368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4cm</a:t>
              </a:r>
              <a:endParaRPr/>
            </a:p>
          </p:txBody>
        </p:sp>
        <p:sp>
          <p:nvSpPr>
            <p:cNvPr id="505" name="Google Shape;505;p23"/>
            <p:cNvSpPr/>
            <p:nvPr/>
          </p:nvSpPr>
          <p:spPr>
            <a:xfrm>
              <a:off x="3337750" y="4045921"/>
              <a:ext cx="243956" cy="104078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6" name="Google Shape;506;p23"/>
            <p:cNvSpPr txBox="1"/>
            <p:nvPr/>
          </p:nvSpPr>
          <p:spPr>
            <a:xfrm>
              <a:off x="3233544" y="3948453"/>
              <a:ext cx="452368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2cm</a:t>
              </a:r>
              <a:endParaRPr/>
            </a:p>
          </p:txBody>
        </p:sp>
      </p:grpSp>
      <p:sp>
        <p:nvSpPr>
          <p:cNvPr id="507" name="Google Shape;507;p23"/>
          <p:cNvSpPr/>
          <p:nvPr/>
        </p:nvSpPr>
        <p:spPr>
          <a:xfrm>
            <a:off x="5640525" y="4225179"/>
            <a:ext cx="243956" cy="104078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8" name="Google Shape;508;p23"/>
          <p:cNvSpPr txBox="1"/>
          <p:nvPr/>
        </p:nvSpPr>
        <p:spPr>
          <a:xfrm>
            <a:off x="5702799" y="4227664"/>
            <a:ext cx="407484" cy="246221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3cm</a:t>
            </a:r>
            <a:endParaRPr/>
          </a:p>
        </p:txBody>
      </p:sp>
      <p:sp>
        <p:nvSpPr>
          <p:cNvPr id="509" name="Google Shape;509;p23"/>
          <p:cNvSpPr txBox="1"/>
          <p:nvPr/>
        </p:nvSpPr>
        <p:spPr>
          <a:xfrm>
            <a:off x="6294691" y="3675586"/>
            <a:ext cx="397550" cy="230832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3cm</a:t>
            </a:r>
            <a:endParaRPr/>
          </a:p>
        </p:txBody>
      </p:sp>
      <p:sp>
        <p:nvSpPr>
          <p:cNvPr id="510" name="Google Shape;510;p23"/>
          <p:cNvSpPr txBox="1"/>
          <p:nvPr/>
        </p:nvSpPr>
        <p:spPr>
          <a:xfrm>
            <a:off x="4811674" y="3468302"/>
            <a:ext cx="397742" cy="230832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1cm</a:t>
            </a:r>
            <a:endParaRPr/>
          </a:p>
        </p:txBody>
      </p:sp>
      <p:sp>
        <p:nvSpPr>
          <p:cNvPr id="511" name="Google Shape;511;p23"/>
          <p:cNvSpPr txBox="1"/>
          <p:nvPr/>
        </p:nvSpPr>
        <p:spPr>
          <a:xfrm>
            <a:off x="5640525" y="3152358"/>
            <a:ext cx="407484" cy="246221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4cm</a:t>
            </a:r>
            <a:endParaRPr/>
          </a:p>
        </p:txBody>
      </p:sp>
      <p:sp>
        <p:nvSpPr>
          <p:cNvPr id="512" name="Google Shape;512;p23"/>
          <p:cNvSpPr txBox="1"/>
          <p:nvPr/>
        </p:nvSpPr>
        <p:spPr>
          <a:xfrm>
            <a:off x="1758970" y="3159092"/>
            <a:ext cx="407484" cy="246221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7cm</a:t>
            </a:r>
            <a:endParaRPr/>
          </a:p>
        </p:txBody>
      </p:sp>
      <p:sp>
        <p:nvSpPr>
          <p:cNvPr id="513" name="Google Shape;513;p23"/>
          <p:cNvSpPr txBox="1"/>
          <p:nvPr/>
        </p:nvSpPr>
        <p:spPr>
          <a:xfrm rot="-5400000">
            <a:off x="1185353" y="3581988"/>
            <a:ext cx="407484" cy="246221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5cm</a:t>
            </a:r>
            <a:endParaRPr/>
          </a:p>
        </p:txBody>
      </p:sp>
      <p:sp>
        <p:nvSpPr>
          <p:cNvPr id="514" name="Google Shape;514;p23"/>
          <p:cNvSpPr txBox="1"/>
          <p:nvPr/>
        </p:nvSpPr>
        <p:spPr>
          <a:xfrm>
            <a:off x="1774991" y="3926545"/>
            <a:ext cx="473206" cy="246221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10cm</a:t>
            </a:r>
            <a:endParaRPr/>
          </a:p>
        </p:txBody>
      </p:sp>
      <p:grpSp>
        <p:nvGrpSpPr>
          <p:cNvPr id="515" name="Google Shape;515;p23"/>
          <p:cNvGrpSpPr/>
          <p:nvPr/>
        </p:nvGrpSpPr>
        <p:grpSpPr>
          <a:xfrm>
            <a:off x="1452744" y="3357060"/>
            <a:ext cx="1187665" cy="626635"/>
            <a:chOff x="1440711" y="3921517"/>
            <a:chExt cx="1187665" cy="626635"/>
          </a:xfrm>
        </p:grpSpPr>
        <p:cxnSp>
          <p:nvCxnSpPr>
            <p:cNvPr id="516" name="Google Shape;516;p23"/>
            <p:cNvCxnSpPr/>
            <p:nvPr/>
          </p:nvCxnSpPr>
          <p:spPr>
            <a:xfrm>
              <a:off x="1440712" y="3934047"/>
              <a:ext cx="946297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17" name="Google Shape;517;p23"/>
            <p:cNvCxnSpPr/>
            <p:nvPr/>
          </p:nvCxnSpPr>
          <p:spPr>
            <a:xfrm>
              <a:off x="1440711" y="4548152"/>
              <a:ext cx="1180215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18" name="Google Shape;518;p23"/>
            <p:cNvCxnSpPr/>
            <p:nvPr/>
          </p:nvCxnSpPr>
          <p:spPr>
            <a:xfrm rot="10800000">
              <a:off x="1453462" y="3921517"/>
              <a:ext cx="0" cy="626635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19" name="Google Shape;519;p23"/>
            <p:cNvCxnSpPr/>
            <p:nvPr/>
          </p:nvCxnSpPr>
          <p:spPr>
            <a:xfrm rot="10800000">
              <a:off x="2620926" y="4225452"/>
              <a:ext cx="0" cy="3227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20" name="Google Shape;520;p23"/>
            <p:cNvCxnSpPr/>
            <p:nvPr/>
          </p:nvCxnSpPr>
          <p:spPr>
            <a:xfrm rot="10800000">
              <a:off x="2387009" y="3921517"/>
              <a:ext cx="0" cy="303935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21" name="Google Shape;521;p23"/>
            <p:cNvCxnSpPr/>
            <p:nvPr/>
          </p:nvCxnSpPr>
          <p:spPr>
            <a:xfrm>
              <a:off x="2376376" y="4225452"/>
              <a:ext cx="2520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aphicFrame>
        <p:nvGraphicFramePr>
          <p:cNvPr id="522" name="Google Shape;522;p23"/>
          <p:cNvGraphicFramePr/>
          <p:nvPr/>
        </p:nvGraphicFramePr>
        <p:xfrm>
          <a:off x="146198" y="12988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{7F622640-7F73-40B3-BA3B-6E99962658F5}</a:tableStyleId>
              </a:tblPr>
              <a:tblGrid>
                <a:gridCol w="6565600"/>
              </a:tblGrid>
              <a:tr h="2431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b="0" i="0" lang="en-GB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22. Shown is a triangular brick wall with a rectangular window. Find the area of the wall that is brick.</a:t>
                      </a:r>
                      <a:endParaRPr b="0" baseline="30000" i="0" sz="12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780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523" name="Google Shape;523;p23"/>
          <p:cNvSpPr/>
          <p:nvPr/>
        </p:nvSpPr>
        <p:spPr>
          <a:xfrm>
            <a:off x="134866" y="5518336"/>
            <a:ext cx="1009006" cy="416021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Independent Practice</a:t>
            </a:r>
            <a:endParaRPr/>
          </a:p>
        </p:txBody>
      </p:sp>
      <p:graphicFrame>
        <p:nvGraphicFramePr>
          <p:cNvPr id="524" name="Google Shape;524;p23"/>
          <p:cNvGraphicFramePr/>
          <p:nvPr/>
        </p:nvGraphicFramePr>
        <p:xfrm>
          <a:off x="138302" y="598420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{7F622640-7F73-40B3-BA3B-6E99962658F5}</a:tableStyleId>
              </a:tblPr>
              <a:tblGrid>
                <a:gridCol w="1643125"/>
                <a:gridCol w="1643125"/>
                <a:gridCol w="1643125"/>
                <a:gridCol w="1643125"/>
              </a:tblGrid>
              <a:tr h="227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a)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b)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c)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d)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879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525" name="Google Shape;525;p23"/>
          <p:cNvSpPr txBox="1"/>
          <p:nvPr/>
        </p:nvSpPr>
        <p:spPr>
          <a:xfrm>
            <a:off x="1211147" y="5726346"/>
            <a:ext cx="2345608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23. Calculate the area:</a:t>
            </a:r>
            <a:endParaRPr/>
          </a:p>
        </p:txBody>
      </p:sp>
      <p:pic>
        <p:nvPicPr>
          <p:cNvPr id="526" name="Google Shape;526;p23"/>
          <p:cNvPicPr preferRelativeResize="0"/>
          <p:nvPr/>
        </p:nvPicPr>
        <p:blipFill rotWithShape="1">
          <a:blip r:embed="rId6">
            <a:alphaModFix/>
          </a:blip>
          <a:srcRect b="66729" l="4373" r="68757" t="7611"/>
          <a:stretch/>
        </p:blipFill>
        <p:spPr>
          <a:xfrm>
            <a:off x="177067" y="6281461"/>
            <a:ext cx="1577445" cy="1230947"/>
          </a:xfrm>
          <a:prstGeom prst="rect">
            <a:avLst/>
          </a:prstGeom>
          <a:noFill/>
          <a:ln>
            <a:noFill/>
          </a:ln>
        </p:spPr>
      </p:pic>
      <p:pic>
        <p:nvPicPr>
          <p:cNvPr id="527" name="Google Shape;527;p23"/>
          <p:cNvPicPr preferRelativeResize="0"/>
          <p:nvPr/>
        </p:nvPicPr>
        <p:blipFill rotWithShape="1">
          <a:blip r:embed="rId6">
            <a:alphaModFix/>
          </a:blip>
          <a:srcRect b="66401" l="40983" r="33254" t="3711"/>
          <a:stretch/>
        </p:blipFill>
        <p:spPr>
          <a:xfrm>
            <a:off x="1848852" y="6270887"/>
            <a:ext cx="1504543" cy="142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528" name="Google Shape;528;p23"/>
          <p:cNvPicPr preferRelativeResize="0"/>
          <p:nvPr/>
        </p:nvPicPr>
        <p:blipFill rotWithShape="1">
          <a:blip r:embed="rId6">
            <a:alphaModFix/>
          </a:blip>
          <a:srcRect b="66402" l="68822" r="4739" t="10135"/>
          <a:stretch/>
        </p:blipFill>
        <p:spPr>
          <a:xfrm>
            <a:off x="3469211" y="6281461"/>
            <a:ext cx="1558856" cy="1130459"/>
          </a:xfrm>
          <a:prstGeom prst="rect">
            <a:avLst/>
          </a:prstGeom>
          <a:noFill/>
          <a:ln>
            <a:noFill/>
          </a:ln>
        </p:spPr>
      </p:pic>
      <p:pic>
        <p:nvPicPr>
          <p:cNvPr id="529" name="Google Shape;529;p23"/>
          <p:cNvPicPr preferRelativeResize="0"/>
          <p:nvPr/>
        </p:nvPicPr>
        <p:blipFill rotWithShape="1">
          <a:blip r:embed="rId6">
            <a:alphaModFix/>
          </a:blip>
          <a:srcRect b="32717" l="4594" r="65008" t="42800"/>
          <a:stretch/>
        </p:blipFill>
        <p:spPr>
          <a:xfrm>
            <a:off x="5143883" y="6310512"/>
            <a:ext cx="1506938" cy="991722"/>
          </a:xfrm>
          <a:prstGeom prst="rect">
            <a:avLst/>
          </a:prstGeom>
          <a:noFill/>
          <a:ln>
            <a:noFill/>
          </a:ln>
        </p:spPr>
      </p:pic>
      <p:sp>
        <p:nvSpPr>
          <p:cNvPr id="530" name="Google Shape;530;p23"/>
          <p:cNvSpPr txBox="1"/>
          <p:nvPr/>
        </p:nvSpPr>
        <p:spPr>
          <a:xfrm>
            <a:off x="1582018" y="4863541"/>
            <a:ext cx="78098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44cm</a:t>
            </a:r>
            <a:r>
              <a:rPr b="1" baseline="30000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531" name="Google Shape;531;p23"/>
          <p:cNvSpPr txBox="1"/>
          <p:nvPr/>
        </p:nvSpPr>
        <p:spPr>
          <a:xfrm>
            <a:off x="3453495" y="4876859"/>
            <a:ext cx="78098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30cm</a:t>
            </a:r>
            <a:r>
              <a:rPr b="1" baseline="30000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532" name="Google Shape;532;p23"/>
          <p:cNvSpPr txBox="1"/>
          <p:nvPr/>
        </p:nvSpPr>
        <p:spPr>
          <a:xfrm>
            <a:off x="5415483" y="4882719"/>
            <a:ext cx="78098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10cm</a:t>
            </a:r>
            <a:r>
              <a:rPr b="1" baseline="30000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533" name="Google Shape;533;p23"/>
          <p:cNvSpPr txBox="1"/>
          <p:nvPr/>
        </p:nvSpPr>
        <p:spPr>
          <a:xfrm>
            <a:off x="542792" y="8242885"/>
            <a:ext cx="78098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36cm</a:t>
            </a:r>
            <a:r>
              <a:rPr b="1" baseline="30000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534" name="Google Shape;534;p23"/>
          <p:cNvSpPr txBox="1"/>
          <p:nvPr/>
        </p:nvSpPr>
        <p:spPr>
          <a:xfrm>
            <a:off x="2277848" y="8254497"/>
            <a:ext cx="78098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26cm</a:t>
            </a:r>
            <a:r>
              <a:rPr b="1" baseline="30000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535" name="Google Shape;535;p23"/>
          <p:cNvSpPr txBox="1"/>
          <p:nvPr/>
        </p:nvSpPr>
        <p:spPr>
          <a:xfrm>
            <a:off x="3938213" y="8261036"/>
            <a:ext cx="78098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78cm</a:t>
            </a:r>
            <a:r>
              <a:rPr b="1" baseline="30000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536" name="Google Shape;536;p23"/>
          <p:cNvSpPr txBox="1"/>
          <p:nvPr/>
        </p:nvSpPr>
        <p:spPr>
          <a:xfrm>
            <a:off x="5524897" y="8261036"/>
            <a:ext cx="89800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186cm</a:t>
            </a:r>
            <a:r>
              <a:rPr b="1" baseline="30000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0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41" name="Google Shape;541;p24"/>
          <p:cNvGraphicFramePr/>
          <p:nvPr/>
        </p:nvGraphicFramePr>
        <p:xfrm>
          <a:off x="142760" y="18312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{7F622640-7F73-40B3-BA3B-6E99962658F5}</a:tableStyleId>
              </a:tblPr>
              <a:tblGrid>
                <a:gridCol w="1643125"/>
                <a:gridCol w="1643125"/>
                <a:gridCol w="1643125"/>
                <a:gridCol w="1643125"/>
              </a:tblGrid>
              <a:tr h="227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e)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f)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g)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h)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52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i)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j)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k)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l)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52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m)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n)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o)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p)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52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Work out the shaded area: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Work out the shaded area: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Work out the shaded area: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542" name="Google Shape;542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77769" y="519254"/>
            <a:ext cx="1550281" cy="933332"/>
          </a:xfrm>
          <a:prstGeom prst="rect">
            <a:avLst/>
          </a:prstGeom>
          <a:noFill/>
          <a:ln>
            <a:noFill/>
          </a:ln>
        </p:spPr>
      </p:pic>
      <p:pic>
        <p:nvPicPr>
          <p:cNvPr id="543" name="Google Shape;543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212819" y="503233"/>
            <a:ext cx="1222856" cy="1234127"/>
          </a:xfrm>
          <a:prstGeom prst="rect">
            <a:avLst/>
          </a:prstGeom>
          <a:noFill/>
          <a:ln>
            <a:noFill/>
          </a:ln>
        </p:spPr>
      </p:pic>
      <p:pic>
        <p:nvPicPr>
          <p:cNvPr id="544" name="Google Shape;544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066362" y="519254"/>
            <a:ext cx="1222856" cy="1323710"/>
          </a:xfrm>
          <a:prstGeom prst="rect">
            <a:avLst/>
          </a:prstGeom>
          <a:noFill/>
          <a:ln>
            <a:noFill/>
          </a:ln>
        </p:spPr>
      </p:pic>
      <p:pic>
        <p:nvPicPr>
          <p:cNvPr id="545" name="Google Shape;545;p2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75807" y="3618523"/>
            <a:ext cx="1537418" cy="1194615"/>
          </a:xfrm>
          <a:prstGeom prst="rect">
            <a:avLst/>
          </a:prstGeom>
          <a:noFill/>
          <a:ln>
            <a:noFill/>
          </a:ln>
        </p:spPr>
      </p:pic>
      <p:pic>
        <p:nvPicPr>
          <p:cNvPr id="546" name="Google Shape;546;p2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857259" y="3618523"/>
            <a:ext cx="1292848" cy="1142387"/>
          </a:xfrm>
          <a:prstGeom prst="rect">
            <a:avLst/>
          </a:prstGeom>
          <a:noFill/>
          <a:ln>
            <a:noFill/>
          </a:ln>
        </p:spPr>
      </p:pic>
      <p:pic>
        <p:nvPicPr>
          <p:cNvPr id="547" name="Google Shape;547;p24"/>
          <p:cNvPicPr preferRelativeResize="0"/>
          <p:nvPr/>
        </p:nvPicPr>
        <p:blipFill rotWithShape="1">
          <a:blip r:embed="rId8">
            <a:alphaModFix/>
          </a:blip>
          <a:srcRect b="0" l="0" r="10095" t="0"/>
          <a:stretch/>
        </p:blipFill>
        <p:spPr>
          <a:xfrm>
            <a:off x="3444940" y="3618523"/>
            <a:ext cx="1508201" cy="1077331"/>
          </a:xfrm>
          <a:prstGeom prst="rect">
            <a:avLst/>
          </a:prstGeom>
          <a:noFill/>
          <a:ln>
            <a:noFill/>
          </a:ln>
        </p:spPr>
      </p:pic>
      <p:pic>
        <p:nvPicPr>
          <p:cNvPr id="548" name="Google Shape;548;p2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22325" y="466414"/>
            <a:ext cx="1247671" cy="1039726"/>
          </a:xfrm>
          <a:prstGeom prst="rect">
            <a:avLst/>
          </a:prstGeom>
          <a:noFill/>
          <a:ln>
            <a:noFill/>
          </a:ln>
        </p:spPr>
      </p:pic>
      <p:pic>
        <p:nvPicPr>
          <p:cNvPr id="549" name="Google Shape;549;p24"/>
          <p:cNvPicPr preferRelativeResize="0"/>
          <p:nvPr/>
        </p:nvPicPr>
        <p:blipFill rotWithShape="1">
          <a:blip r:embed="rId10">
            <a:alphaModFix/>
          </a:blip>
          <a:srcRect b="0" l="0" r="0" t="5315"/>
          <a:stretch/>
        </p:blipFill>
        <p:spPr>
          <a:xfrm>
            <a:off x="5098513" y="3618523"/>
            <a:ext cx="1522914" cy="894210"/>
          </a:xfrm>
          <a:prstGeom prst="rect">
            <a:avLst/>
          </a:prstGeom>
          <a:noFill/>
          <a:ln>
            <a:noFill/>
          </a:ln>
        </p:spPr>
      </p:pic>
      <p:pic>
        <p:nvPicPr>
          <p:cNvPr id="550" name="Google Shape;550;p24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303526" y="6759807"/>
            <a:ext cx="1366470" cy="1323090"/>
          </a:xfrm>
          <a:prstGeom prst="rect">
            <a:avLst/>
          </a:prstGeom>
          <a:noFill/>
          <a:ln>
            <a:noFill/>
          </a:ln>
        </p:spPr>
      </p:pic>
      <p:sp>
        <p:nvSpPr>
          <p:cNvPr id="551" name="Google Shape;551;p24"/>
          <p:cNvSpPr txBox="1"/>
          <p:nvPr>
            <p:ph idx="12" type="sldNum"/>
          </p:nvPr>
        </p:nvSpPr>
        <p:spPr>
          <a:xfrm>
            <a:off x="5212819" y="9459172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552" name="Google Shape;552;p24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1922749" y="7121825"/>
            <a:ext cx="1458456" cy="812762"/>
          </a:xfrm>
          <a:prstGeom prst="rect">
            <a:avLst/>
          </a:prstGeom>
          <a:noFill/>
          <a:ln>
            <a:noFill/>
          </a:ln>
        </p:spPr>
      </p:pic>
      <p:pic>
        <p:nvPicPr>
          <p:cNvPr id="553" name="Google Shape;553;p24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3440948" y="7121824"/>
            <a:ext cx="1592609" cy="1323090"/>
          </a:xfrm>
          <a:prstGeom prst="rect">
            <a:avLst/>
          </a:prstGeom>
          <a:noFill/>
          <a:ln>
            <a:noFill/>
          </a:ln>
        </p:spPr>
      </p:pic>
      <p:pic>
        <p:nvPicPr>
          <p:cNvPr id="554" name="Google Shape;554;p24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5084523" y="7092672"/>
            <a:ext cx="1617398" cy="1292293"/>
          </a:xfrm>
          <a:prstGeom prst="rect">
            <a:avLst/>
          </a:prstGeom>
          <a:noFill/>
          <a:ln>
            <a:noFill/>
          </a:ln>
        </p:spPr>
      </p:pic>
      <p:sp>
        <p:nvSpPr>
          <p:cNvPr id="555" name="Google Shape;555;p24"/>
          <p:cNvSpPr txBox="1"/>
          <p:nvPr/>
        </p:nvSpPr>
        <p:spPr>
          <a:xfrm>
            <a:off x="555567" y="2105373"/>
            <a:ext cx="68480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65m</a:t>
            </a:r>
            <a:r>
              <a:rPr b="1" baseline="30000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556" name="Google Shape;556;p24"/>
          <p:cNvSpPr txBox="1"/>
          <p:nvPr/>
        </p:nvSpPr>
        <p:spPr>
          <a:xfrm>
            <a:off x="2290623" y="2116985"/>
            <a:ext cx="89800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107cm</a:t>
            </a:r>
            <a:r>
              <a:rPr b="1" baseline="30000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557" name="Google Shape;557;p24"/>
          <p:cNvSpPr txBox="1"/>
          <p:nvPr/>
        </p:nvSpPr>
        <p:spPr>
          <a:xfrm>
            <a:off x="3950988" y="2123524"/>
            <a:ext cx="78098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72cm</a:t>
            </a:r>
            <a:r>
              <a:rPr b="1" baseline="30000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558" name="Google Shape;558;p24"/>
          <p:cNvSpPr txBox="1"/>
          <p:nvPr/>
        </p:nvSpPr>
        <p:spPr>
          <a:xfrm>
            <a:off x="5537672" y="2123524"/>
            <a:ext cx="89800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360cm</a:t>
            </a:r>
            <a:r>
              <a:rPr b="1" baseline="30000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559" name="Google Shape;559;p24"/>
          <p:cNvSpPr txBox="1"/>
          <p:nvPr/>
        </p:nvSpPr>
        <p:spPr>
          <a:xfrm>
            <a:off x="606792" y="5176334"/>
            <a:ext cx="78098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92cm</a:t>
            </a:r>
            <a:r>
              <a:rPr b="1" baseline="30000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560" name="Google Shape;560;p24"/>
          <p:cNvSpPr txBox="1"/>
          <p:nvPr/>
        </p:nvSpPr>
        <p:spPr>
          <a:xfrm>
            <a:off x="2341848" y="5187946"/>
            <a:ext cx="78098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47cm</a:t>
            </a:r>
            <a:r>
              <a:rPr b="1" baseline="30000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561" name="Google Shape;561;p24"/>
          <p:cNvSpPr txBox="1"/>
          <p:nvPr/>
        </p:nvSpPr>
        <p:spPr>
          <a:xfrm>
            <a:off x="4002213" y="5194485"/>
            <a:ext cx="78098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31cm</a:t>
            </a:r>
            <a:r>
              <a:rPr b="1" baseline="30000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562" name="Google Shape;562;p24"/>
          <p:cNvSpPr txBox="1"/>
          <p:nvPr/>
        </p:nvSpPr>
        <p:spPr>
          <a:xfrm>
            <a:off x="5588897" y="5194485"/>
            <a:ext cx="89800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360cm</a:t>
            </a:r>
            <a:r>
              <a:rPr b="1" baseline="30000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563" name="Google Shape;563;p24"/>
          <p:cNvSpPr txBox="1"/>
          <p:nvPr/>
        </p:nvSpPr>
        <p:spPr>
          <a:xfrm>
            <a:off x="534051" y="8701188"/>
            <a:ext cx="89800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168cm</a:t>
            </a:r>
            <a:r>
              <a:rPr b="1" baseline="30000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564" name="Google Shape;564;p24"/>
          <p:cNvSpPr txBox="1"/>
          <p:nvPr/>
        </p:nvSpPr>
        <p:spPr>
          <a:xfrm>
            <a:off x="2269107" y="8712800"/>
            <a:ext cx="78098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33cm</a:t>
            </a:r>
            <a:r>
              <a:rPr b="1" baseline="30000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565" name="Google Shape;565;p24"/>
          <p:cNvSpPr txBox="1"/>
          <p:nvPr/>
        </p:nvSpPr>
        <p:spPr>
          <a:xfrm>
            <a:off x="3929472" y="8719339"/>
            <a:ext cx="78098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70cm</a:t>
            </a:r>
            <a:r>
              <a:rPr b="1" baseline="30000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566" name="Google Shape;566;p24"/>
          <p:cNvSpPr txBox="1"/>
          <p:nvPr/>
        </p:nvSpPr>
        <p:spPr>
          <a:xfrm>
            <a:off x="5516156" y="8719339"/>
            <a:ext cx="89800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195cm</a:t>
            </a:r>
            <a:r>
              <a:rPr b="1" baseline="30000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1" name="Shape 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72" name="Google Shape;572;p25"/>
          <p:cNvGraphicFramePr/>
          <p:nvPr/>
        </p:nvGraphicFramePr>
        <p:xfrm>
          <a:off x="146372" y="389236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{7F622640-7F73-40B3-BA3B-6E99962658F5}</a:tableStyleId>
              </a:tblPr>
              <a:tblGrid>
                <a:gridCol w="1643125"/>
                <a:gridCol w="1643125"/>
                <a:gridCol w="1643125"/>
                <a:gridCol w="1643125"/>
              </a:tblGrid>
              <a:tr h="152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a)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b)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c)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d)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12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52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e)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f)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g)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h)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12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573" name="Google Shape;573;p25"/>
          <p:cNvGraphicFramePr/>
          <p:nvPr/>
        </p:nvGraphicFramePr>
        <p:xfrm>
          <a:off x="142761" y="61148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{7F622640-7F73-40B3-BA3B-6E99962658F5}</a:tableStyleId>
              </a:tblPr>
              <a:tblGrid>
                <a:gridCol w="1098200"/>
                <a:gridCol w="1638625"/>
                <a:gridCol w="1917825"/>
                <a:gridCol w="1917825"/>
              </a:tblGrid>
              <a:tr h="261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100">
                          <a:solidFill>
                            <a:schemeClr val="dk1"/>
                          </a:solidFill>
                        </a:rPr>
                        <a:t>Steps</a:t>
                      </a:r>
                      <a:endParaRPr b="1" sz="11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Find the area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Find the area 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Find the area 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6158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1) Split the shape into shapes you can work out the area of</a:t>
                      </a:r>
                      <a:br>
                        <a:rPr lang="en-GB" sz="1200">
                          <a:solidFill>
                            <a:schemeClr val="dk1"/>
                          </a:solidFill>
                        </a:rPr>
                      </a:b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2)Work out the area of each shape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3) Add the areas together 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574" name="Google Shape;574;p25"/>
          <p:cNvSpPr txBox="1"/>
          <p:nvPr/>
        </p:nvSpPr>
        <p:spPr>
          <a:xfrm>
            <a:off x="1253101" y="335020"/>
            <a:ext cx="141070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Example 19 - I do…</a:t>
            </a:r>
            <a:endParaRPr/>
          </a:p>
        </p:txBody>
      </p:sp>
      <p:sp>
        <p:nvSpPr>
          <p:cNvPr id="575" name="Google Shape;575;p25"/>
          <p:cNvSpPr txBox="1"/>
          <p:nvPr/>
        </p:nvSpPr>
        <p:spPr>
          <a:xfrm>
            <a:off x="5027706" y="336853"/>
            <a:ext cx="164340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Example 21 – You do…</a:t>
            </a:r>
            <a:endParaRPr/>
          </a:p>
        </p:txBody>
      </p:sp>
      <p:sp>
        <p:nvSpPr>
          <p:cNvPr id="576" name="Google Shape;576;p25"/>
          <p:cNvSpPr txBox="1"/>
          <p:nvPr/>
        </p:nvSpPr>
        <p:spPr>
          <a:xfrm>
            <a:off x="3089462" y="331961"/>
            <a:ext cx="164340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Example 20 – We do…</a:t>
            </a:r>
            <a:endParaRPr/>
          </a:p>
        </p:txBody>
      </p:sp>
      <p:sp>
        <p:nvSpPr>
          <p:cNvPr id="577" name="Google Shape;577;p25"/>
          <p:cNvSpPr/>
          <p:nvPr/>
        </p:nvSpPr>
        <p:spPr>
          <a:xfrm>
            <a:off x="146374" y="3290534"/>
            <a:ext cx="1023945" cy="544660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Independent Practice</a:t>
            </a:r>
            <a:endParaRPr/>
          </a:p>
        </p:txBody>
      </p:sp>
      <p:pic>
        <p:nvPicPr>
          <p:cNvPr id="578" name="Google Shape;578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37814" y="956025"/>
            <a:ext cx="1007704" cy="1160103"/>
          </a:xfrm>
          <a:prstGeom prst="rect">
            <a:avLst/>
          </a:prstGeom>
          <a:noFill/>
          <a:ln>
            <a:noFill/>
          </a:ln>
        </p:spPr>
      </p:pic>
      <p:sp>
        <p:nvSpPr>
          <p:cNvPr id="579" name="Google Shape;579;p25"/>
          <p:cNvSpPr/>
          <p:nvPr/>
        </p:nvSpPr>
        <p:spPr>
          <a:xfrm>
            <a:off x="4279930" y="983189"/>
            <a:ext cx="312821" cy="276999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80" name="Google Shape;580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127353" y="926270"/>
            <a:ext cx="1426302" cy="1160103"/>
          </a:xfrm>
          <a:prstGeom prst="rect">
            <a:avLst/>
          </a:prstGeom>
          <a:noFill/>
          <a:ln>
            <a:noFill/>
          </a:ln>
        </p:spPr>
      </p:pic>
      <p:sp>
        <p:nvSpPr>
          <p:cNvPr id="581" name="Google Shape;581;p25"/>
          <p:cNvSpPr txBox="1"/>
          <p:nvPr/>
        </p:nvSpPr>
        <p:spPr>
          <a:xfrm>
            <a:off x="1256714" y="3558195"/>
            <a:ext cx="3663523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24. Find the area of each shape.</a:t>
            </a:r>
            <a:endParaRPr/>
          </a:p>
        </p:txBody>
      </p:sp>
      <p:pic>
        <p:nvPicPr>
          <p:cNvPr id="582" name="Google Shape;582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253101" y="951899"/>
            <a:ext cx="1606733" cy="974406"/>
          </a:xfrm>
          <a:prstGeom prst="rect">
            <a:avLst/>
          </a:prstGeom>
          <a:noFill/>
          <a:ln>
            <a:noFill/>
          </a:ln>
        </p:spPr>
      </p:pic>
      <p:sp>
        <p:nvSpPr>
          <p:cNvPr id="583" name="Google Shape;583;p25"/>
          <p:cNvSpPr/>
          <p:nvPr/>
        </p:nvSpPr>
        <p:spPr>
          <a:xfrm>
            <a:off x="46863" y="53651"/>
            <a:ext cx="4602536" cy="245413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Area of compound shapes (mixture of all previous shapes)</a:t>
            </a:r>
            <a:endParaRPr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84" name="Google Shape;584;p25"/>
          <p:cNvPicPr preferRelativeResize="0"/>
          <p:nvPr/>
        </p:nvPicPr>
        <p:blipFill rotWithShape="1">
          <a:blip r:embed="rId6">
            <a:alphaModFix/>
          </a:blip>
          <a:srcRect b="4118" l="77771" r="6190" t="45622"/>
          <a:stretch/>
        </p:blipFill>
        <p:spPr>
          <a:xfrm>
            <a:off x="532001" y="7195585"/>
            <a:ext cx="1038143" cy="1674789"/>
          </a:xfrm>
          <a:prstGeom prst="rect">
            <a:avLst/>
          </a:prstGeom>
          <a:noFill/>
          <a:ln>
            <a:noFill/>
          </a:ln>
        </p:spPr>
      </p:pic>
      <p:pic>
        <p:nvPicPr>
          <p:cNvPr id="585" name="Google Shape;585;p25"/>
          <p:cNvPicPr preferRelativeResize="0"/>
          <p:nvPr/>
        </p:nvPicPr>
        <p:blipFill rotWithShape="1">
          <a:blip r:embed="rId6">
            <a:alphaModFix/>
          </a:blip>
          <a:srcRect b="56684" l="9198" r="64990" t="7608"/>
          <a:stretch/>
        </p:blipFill>
        <p:spPr>
          <a:xfrm>
            <a:off x="309422" y="4205321"/>
            <a:ext cx="1389321" cy="989540"/>
          </a:xfrm>
          <a:prstGeom prst="rect">
            <a:avLst/>
          </a:prstGeom>
          <a:noFill/>
          <a:ln>
            <a:noFill/>
          </a:ln>
        </p:spPr>
      </p:pic>
      <p:pic>
        <p:nvPicPr>
          <p:cNvPr id="586" name="Google Shape;586;p25"/>
          <p:cNvPicPr preferRelativeResize="0"/>
          <p:nvPr/>
        </p:nvPicPr>
        <p:blipFill rotWithShape="1">
          <a:blip r:embed="rId6">
            <a:alphaModFix/>
          </a:blip>
          <a:srcRect b="56684" l="42121" r="32804" t="7608"/>
          <a:stretch/>
        </p:blipFill>
        <p:spPr>
          <a:xfrm>
            <a:off x="1987554" y="4205321"/>
            <a:ext cx="1349656" cy="989540"/>
          </a:xfrm>
          <a:prstGeom prst="rect">
            <a:avLst/>
          </a:prstGeom>
          <a:noFill/>
          <a:ln>
            <a:noFill/>
          </a:ln>
        </p:spPr>
      </p:pic>
      <p:pic>
        <p:nvPicPr>
          <p:cNvPr id="587" name="Google Shape;587;p25"/>
          <p:cNvPicPr preferRelativeResize="0"/>
          <p:nvPr/>
        </p:nvPicPr>
        <p:blipFill rotWithShape="1">
          <a:blip r:embed="rId6">
            <a:alphaModFix/>
          </a:blip>
          <a:srcRect b="57452" l="72445" r="5545" t="10063"/>
          <a:stretch/>
        </p:blipFill>
        <p:spPr>
          <a:xfrm>
            <a:off x="3626021" y="4249979"/>
            <a:ext cx="1184676" cy="900223"/>
          </a:xfrm>
          <a:prstGeom prst="rect">
            <a:avLst/>
          </a:prstGeom>
          <a:noFill/>
          <a:ln>
            <a:noFill/>
          </a:ln>
        </p:spPr>
      </p:pic>
      <p:pic>
        <p:nvPicPr>
          <p:cNvPr id="588" name="Google Shape;588;p25"/>
          <p:cNvPicPr preferRelativeResize="0"/>
          <p:nvPr/>
        </p:nvPicPr>
        <p:blipFill rotWithShape="1">
          <a:blip r:embed="rId6">
            <a:alphaModFix/>
          </a:blip>
          <a:srcRect b="11665" l="5642" r="64727" t="53803"/>
          <a:stretch/>
        </p:blipFill>
        <p:spPr>
          <a:xfrm>
            <a:off x="5158236" y="4255295"/>
            <a:ext cx="1491512" cy="894907"/>
          </a:xfrm>
          <a:prstGeom prst="rect">
            <a:avLst/>
          </a:prstGeom>
          <a:noFill/>
          <a:ln>
            <a:noFill/>
          </a:ln>
        </p:spPr>
      </p:pic>
      <p:sp>
        <p:nvSpPr>
          <p:cNvPr id="589" name="Google Shape;589;p25"/>
          <p:cNvSpPr txBox="1"/>
          <p:nvPr>
            <p:ph idx="12" type="sldNum"/>
          </p:nvPr>
        </p:nvSpPr>
        <p:spPr>
          <a:xfrm>
            <a:off x="5363076" y="9554038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590" name="Google Shape;590;p25"/>
          <p:cNvPicPr preferRelativeResize="0"/>
          <p:nvPr/>
        </p:nvPicPr>
        <p:blipFill rotWithShape="1">
          <a:blip r:embed="rId7">
            <a:alphaModFix/>
          </a:blip>
          <a:srcRect b="18410" l="8070" r="15408" t="7338"/>
          <a:stretch/>
        </p:blipFill>
        <p:spPr>
          <a:xfrm>
            <a:off x="1936652" y="7195585"/>
            <a:ext cx="1400558" cy="1322055"/>
          </a:xfrm>
          <a:prstGeom prst="rect">
            <a:avLst/>
          </a:prstGeom>
          <a:noFill/>
          <a:ln>
            <a:noFill/>
          </a:ln>
        </p:spPr>
      </p:pic>
      <p:pic>
        <p:nvPicPr>
          <p:cNvPr id="591" name="Google Shape;591;p2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3454911" y="7138515"/>
            <a:ext cx="1559804" cy="823230"/>
          </a:xfrm>
          <a:prstGeom prst="rect">
            <a:avLst/>
          </a:prstGeom>
          <a:noFill/>
          <a:ln>
            <a:noFill/>
          </a:ln>
        </p:spPr>
      </p:pic>
      <p:pic>
        <p:nvPicPr>
          <p:cNvPr id="592" name="Google Shape;592;p2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127353" y="7146554"/>
            <a:ext cx="1411417" cy="1119991"/>
          </a:xfrm>
          <a:prstGeom prst="rect">
            <a:avLst/>
          </a:prstGeom>
          <a:noFill/>
          <a:ln>
            <a:noFill/>
          </a:ln>
        </p:spPr>
      </p:pic>
      <p:sp>
        <p:nvSpPr>
          <p:cNvPr id="593" name="Google Shape;593;p25"/>
          <p:cNvSpPr txBox="1"/>
          <p:nvPr/>
        </p:nvSpPr>
        <p:spPr>
          <a:xfrm>
            <a:off x="1597062" y="2484742"/>
            <a:ext cx="80182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470m</a:t>
            </a:r>
            <a:r>
              <a:rPr b="1" baseline="30000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594" name="Google Shape;594;p25"/>
          <p:cNvSpPr txBox="1"/>
          <p:nvPr/>
        </p:nvSpPr>
        <p:spPr>
          <a:xfrm>
            <a:off x="3468539" y="2498060"/>
            <a:ext cx="74571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4.5m</a:t>
            </a:r>
            <a:r>
              <a:rPr b="1" baseline="30000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595" name="Google Shape;595;p25"/>
          <p:cNvSpPr txBox="1"/>
          <p:nvPr/>
        </p:nvSpPr>
        <p:spPr>
          <a:xfrm>
            <a:off x="5430527" y="2503920"/>
            <a:ext cx="80182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273m</a:t>
            </a:r>
            <a:r>
              <a:rPr b="1" baseline="30000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596" name="Google Shape;596;p25"/>
          <p:cNvSpPr txBox="1"/>
          <p:nvPr/>
        </p:nvSpPr>
        <p:spPr>
          <a:xfrm>
            <a:off x="527132" y="5564968"/>
            <a:ext cx="78098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33cm</a:t>
            </a:r>
            <a:r>
              <a:rPr b="1" baseline="30000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597" name="Google Shape;597;p25"/>
          <p:cNvSpPr txBox="1"/>
          <p:nvPr/>
        </p:nvSpPr>
        <p:spPr>
          <a:xfrm>
            <a:off x="2262188" y="5576580"/>
            <a:ext cx="89800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100cm</a:t>
            </a:r>
            <a:r>
              <a:rPr b="1" baseline="30000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598" name="Google Shape;598;p25"/>
          <p:cNvSpPr txBox="1"/>
          <p:nvPr/>
        </p:nvSpPr>
        <p:spPr>
          <a:xfrm>
            <a:off x="3922553" y="5583119"/>
            <a:ext cx="95891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45.5cm</a:t>
            </a:r>
            <a:r>
              <a:rPr b="1" baseline="30000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599" name="Google Shape;599;p25"/>
          <p:cNvSpPr txBox="1"/>
          <p:nvPr/>
        </p:nvSpPr>
        <p:spPr>
          <a:xfrm>
            <a:off x="5509237" y="5583119"/>
            <a:ext cx="80182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690m</a:t>
            </a:r>
            <a:r>
              <a:rPr b="1" baseline="30000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600" name="Google Shape;600;p25"/>
          <p:cNvSpPr txBox="1"/>
          <p:nvPr/>
        </p:nvSpPr>
        <p:spPr>
          <a:xfrm>
            <a:off x="593807" y="9064465"/>
            <a:ext cx="78098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40cm</a:t>
            </a:r>
            <a:r>
              <a:rPr b="1" baseline="30000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601" name="Google Shape;601;p25"/>
          <p:cNvSpPr txBox="1"/>
          <p:nvPr/>
        </p:nvSpPr>
        <p:spPr>
          <a:xfrm>
            <a:off x="2328863" y="9076077"/>
            <a:ext cx="78098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53cm</a:t>
            </a:r>
            <a:r>
              <a:rPr b="1" baseline="30000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602" name="Google Shape;602;p25"/>
          <p:cNvSpPr txBox="1"/>
          <p:nvPr/>
        </p:nvSpPr>
        <p:spPr>
          <a:xfrm>
            <a:off x="3989228" y="9082616"/>
            <a:ext cx="78098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50cm</a:t>
            </a:r>
            <a:r>
              <a:rPr b="1" baseline="30000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603" name="Google Shape;603;p25"/>
          <p:cNvSpPr txBox="1"/>
          <p:nvPr/>
        </p:nvSpPr>
        <p:spPr>
          <a:xfrm>
            <a:off x="5575912" y="9082616"/>
            <a:ext cx="78098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30cm</a:t>
            </a:r>
            <a:r>
              <a:rPr b="1" baseline="30000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8" name="Shape 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09" name="Google Shape;609;p26"/>
          <p:cNvGrpSpPr/>
          <p:nvPr/>
        </p:nvGrpSpPr>
        <p:grpSpPr>
          <a:xfrm>
            <a:off x="0" y="0"/>
            <a:ext cx="6804000" cy="9591040"/>
            <a:chOff x="0" y="0"/>
            <a:chExt cx="6804000" cy="9591040"/>
          </a:xfrm>
        </p:grpSpPr>
        <p:grpSp>
          <p:nvGrpSpPr>
            <p:cNvPr id="610" name="Google Shape;610;p26"/>
            <p:cNvGrpSpPr/>
            <p:nvPr/>
          </p:nvGrpSpPr>
          <p:grpSpPr>
            <a:xfrm>
              <a:off x="0" y="0"/>
              <a:ext cx="6779619" cy="9591040"/>
              <a:chOff x="0" y="0"/>
              <a:chExt cx="6779619" cy="9591040"/>
            </a:xfrm>
          </p:grpSpPr>
          <p:grpSp>
            <p:nvGrpSpPr>
              <p:cNvPr id="611" name="Google Shape;611;p26"/>
              <p:cNvGrpSpPr/>
              <p:nvPr/>
            </p:nvGrpSpPr>
            <p:grpSpPr>
              <a:xfrm>
                <a:off x="0" y="0"/>
                <a:ext cx="6779619" cy="9591040"/>
                <a:chOff x="0" y="0"/>
                <a:chExt cx="6779619" cy="9591040"/>
              </a:xfrm>
            </p:grpSpPr>
            <p:pic>
              <p:nvPicPr>
                <p:cNvPr id="612" name="Google Shape;612;p26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 b="3452" l="3025" r="4130" t="4979"/>
                <a:stretch/>
              </p:blipFill>
              <p:spPr>
                <a:xfrm>
                  <a:off x="0" y="0"/>
                  <a:ext cx="4984291" cy="6353298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613" name="Google Shape;613;p26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 b="47240" l="3025" r="4130" t="5293"/>
                <a:stretch/>
              </p:blipFill>
              <p:spPr>
                <a:xfrm>
                  <a:off x="0" y="6297642"/>
                  <a:ext cx="4984291" cy="3293398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614" name="Google Shape;614;p26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 b="43762" l="7910" r="58113" t="4980"/>
                <a:stretch/>
              </p:blipFill>
              <p:spPr>
                <a:xfrm>
                  <a:off x="4955623" y="6024363"/>
                  <a:ext cx="1823994" cy="3556517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615" name="Google Shape;615;p26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 b="5410" l="7910" r="58113" t="5294"/>
                <a:stretch/>
              </p:blipFill>
              <p:spPr>
                <a:xfrm>
                  <a:off x="4955623" y="21772"/>
                  <a:ext cx="1823996" cy="6195686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  <p:cxnSp>
            <p:nvCxnSpPr>
              <p:cNvPr id="616" name="Google Shape;616;p26"/>
              <p:cNvCxnSpPr/>
              <p:nvPr/>
            </p:nvCxnSpPr>
            <p:spPr>
              <a:xfrm flipH="1">
                <a:off x="3749040" y="16476"/>
                <a:ext cx="3175" cy="9564404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accent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617" name="Google Shape;617;p26"/>
              <p:cNvCxnSpPr/>
              <p:nvPr/>
            </p:nvCxnSpPr>
            <p:spPr>
              <a:xfrm flipH="1">
                <a:off x="3474720" y="16476"/>
                <a:ext cx="17897" cy="9574564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accent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618" name="Google Shape;618;p26"/>
              <p:cNvCxnSpPr/>
              <p:nvPr/>
            </p:nvCxnSpPr>
            <p:spPr>
              <a:xfrm>
                <a:off x="289103" y="24219"/>
                <a:ext cx="5537" cy="9566821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accent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sp>
          <p:nvSpPr>
            <p:cNvPr id="619" name="Google Shape;619;p26"/>
            <p:cNvSpPr/>
            <p:nvPr/>
          </p:nvSpPr>
          <p:spPr>
            <a:xfrm>
              <a:off x="0" y="5408"/>
              <a:ext cx="6804000" cy="7523910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aphicFrame>
        <p:nvGraphicFramePr>
          <p:cNvPr id="620" name="Google Shape;620;p26"/>
          <p:cNvGraphicFramePr/>
          <p:nvPr/>
        </p:nvGraphicFramePr>
        <p:xfrm>
          <a:off x="146198" y="16499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{7F622640-7F73-40B3-BA3B-6E99962658F5}</a:tableStyleId>
              </a:tblPr>
              <a:tblGrid>
                <a:gridCol w="6565600"/>
              </a:tblGrid>
              <a:tr h="398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b="0" i="0" lang="en-GB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25. William is painting the side of his house. He has 8 litres of paint and each litre of paint covers 16m</a:t>
                      </a:r>
                      <a:r>
                        <a:rPr b="0" baseline="30000" i="0" lang="en-GB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r>
                        <a:rPr b="0" i="0" lang="en-GB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. Does William have enough paint?</a:t>
                      </a:r>
                      <a:endParaRPr b="0" baseline="30000" i="0" sz="12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334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pic>
        <p:nvPicPr>
          <p:cNvPr id="621" name="Google Shape;621;p26"/>
          <p:cNvPicPr preferRelativeResize="0"/>
          <p:nvPr/>
        </p:nvPicPr>
        <p:blipFill rotWithShape="1">
          <a:blip r:embed="rId4">
            <a:alphaModFix/>
          </a:blip>
          <a:srcRect b="0" l="9956" r="43157" t="32914"/>
          <a:stretch/>
        </p:blipFill>
        <p:spPr>
          <a:xfrm>
            <a:off x="228479" y="676078"/>
            <a:ext cx="1487873" cy="1221642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622" name="Google Shape;622;p26"/>
          <p:cNvGraphicFramePr/>
          <p:nvPr/>
        </p:nvGraphicFramePr>
        <p:xfrm>
          <a:off x="146198" y="202425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{7F622640-7F73-40B3-BA3B-6E99962658F5}</a:tableStyleId>
              </a:tblPr>
              <a:tblGrid>
                <a:gridCol w="6565600"/>
              </a:tblGrid>
              <a:tr h="398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b="0" i="0" lang="en-GB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26. The diagram represents the side view of a shed with a sloping roof. Calculate the area of the side view of the shed.</a:t>
                      </a:r>
                      <a:endParaRPr b="0" baseline="30000" i="0" sz="12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334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pSp>
        <p:nvGrpSpPr>
          <p:cNvPr id="623" name="Google Shape;623;p26"/>
          <p:cNvGrpSpPr/>
          <p:nvPr/>
        </p:nvGrpSpPr>
        <p:grpSpPr>
          <a:xfrm>
            <a:off x="296838" y="2535935"/>
            <a:ext cx="1105700" cy="1258020"/>
            <a:chOff x="296838" y="8512555"/>
            <a:chExt cx="1105700" cy="1258020"/>
          </a:xfrm>
        </p:grpSpPr>
        <p:pic>
          <p:nvPicPr>
            <p:cNvPr id="624" name="Google Shape;624;p26"/>
            <p:cNvPicPr preferRelativeResize="0"/>
            <p:nvPr/>
          </p:nvPicPr>
          <p:blipFill rotWithShape="1">
            <a:blip r:embed="rId5">
              <a:alphaModFix/>
            </a:blip>
            <a:srcRect b="24729" l="9463" r="46775" t="0"/>
            <a:stretch/>
          </p:blipFill>
          <p:spPr>
            <a:xfrm>
              <a:off x="296838" y="8512555"/>
              <a:ext cx="1057574" cy="125802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5" name="Google Shape;625;p26"/>
            <p:cNvSpPr/>
            <p:nvPr/>
          </p:nvSpPr>
          <p:spPr>
            <a:xfrm>
              <a:off x="1271910" y="8559609"/>
              <a:ext cx="130628" cy="247507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26" name="Google Shape;626;p26"/>
          <p:cNvSpPr txBox="1"/>
          <p:nvPr/>
        </p:nvSpPr>
        <p:spPr>
          <a:xfrm>
            <a:off x="5280152" y="9518794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90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627" name="Google Shape;627;p26"/>
          <p:cNvGraphicFramePr/>
          <p:nvPr/>
        </p:nvGraphicFramePr>
        <p:xfrm>
          <a:off x="146198" y="388510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{7F622640-7F73-40B3-BA3B-6E99962658F5}</a:tableStyleId>
              </a:tblPr>
              <a:tblGrid>
                <a:gridCol w="6565600"/>
              </a:tblGrid>
              <a:tr h="4026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b="0" i="0" lang="en-GB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27. Farmer Martin keeps chickens in the field below. Each chicken needs 3m</a:t>
                      </a:r>
                      <a:r>
                        <a:rPr b="0" baseline="30000" i="0" lang="en-GB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r>
                        <a:rPr b="0" i="0" lang="en-GB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. What is the maximum number of chickens that he can keep?</a:t>
                      </a:r>
                      <a:endParaRPr b="0" baseline="30000" i="0" sz="12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354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28" name="Google Shape;628;p26"/>
          <p:cNvGraphicFramePr/>
          <p:nvPr/>
        </p:nvGraphicFramePr>
        <p:xfrm>
          <a:off x="145452" y="573772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{7F622640-7F73-40B3-BA3B-6E99962658F5}</a:tableStyleId>
              </a:tblPr>
              <a:tblGrid>
                <a:gridCol w="6565600"/>
              </a:tblGrid>
              <a:tr h="398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b="0" i="0" lang="en-GB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28. The diagram shows the plan of a field. The farmer sells the field for £3 per square metre. Work out the total amount of money the farmer should get. </a:t>
                      </a:r>
                      <a:endParaRPr b="0" baseline="30000" i="0" sz="12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334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pic>
        <p:nvPicPr>
          <p:cNvPr id="629" name="Google Shape;629;p26"/>
          <p:cNvPicPr preferRelativeResize="0"/>
          <p:nvPr/>
        </p:nvPicPr>
        <p:blipFill rotWithShape="1">
          <a:blip r:embed="rId6">
            <a:alphaModFix/>
          </a:blip>
          <a:srcRect b="0" l="11346" r="20495" t="31331"/>
          <a:stretch/>
        </p:blipFill>
        <p:spPr>
          <a:xfrm>
            <a:off x="228479" y="4415002"/>
            <a:ext cx="2057521" cy="1207103"/>
          </a:xfrm>
          <a:prstGeom prst="rect">
            <a:avLst/>
          </a:prstGeom>
          <a:noFill/>
          <a:ln>
            <a:noFill/>
          </a:ln>
        </p:spPr>
      </p:pic>
      <p:pic>
        <p:nvPicPr>
          <p:cNvPr id="630" name="Google Shape;630;p26"/>
          <p:cNvPicPr preferRelativeResize="0"/>
          <p:nvPr/>
        </p:nvPicPr>
        <p:blipFill rotWithShape="1">
          <a:blip r:embed="rId7">
            <a:alphaModFix/>
          </a:blip>
          <a:srcRect b="40132" l="0" r="33333" t="0"/>
          <a:stretch/>
        </p:blipFill>
        <p:spPr>
          <a:xfrm>
            <a:off x="246021" y="6247690"/>
            <a:ext cx="2542032" cy="1185988"/>
          </a:xfrm>
          <a:prstGeom prst="rect">
            <a:avLst/>
          </a:prstGeom>
          <a:noFill/>
          <a:ln>
            <a:noFill/>
          </a:ln>
        </p:spPr>
      </p:pic>
      <p:sp>
        <p:nvSpPr>
          <p:cNvPr id="631" name="Google Shape;631;p26"/>
          <p:cNvSpPr/>
          <p:nvPr/>
        </p:nvSpPr>
        <p:spPr>
          <a:xfrm>
            <a:off x="228479" y="4843627"/>
            <a:ext cx="257296" cy="241632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2" name="Google Shape;632;p26"/>
          <p:cNvSpPr txBox="1"/>
          <p:nvPr/>
        </p:nvSpPr>
        <p:spPr>
          <a:xfrm>
            <a:off x="208317" y="4817785"/>
            <a:ext cx="37382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7F7F7F"/>
                </a:solidFill>
                <a:latin typeface="Comic Sans MS"/>
                <a:ea typeface="Comic Sans MS"/>
                <a:cs typeface="Comic Sans MS"/>
                <a:sym typeface="Comic Sans MS"/>
              </a:rPr>
              <a:t>95</a:t>
            </a:r>
            <a:endParaRPr/>
          </a:p>
        </p:txBody>
      </p:sp>
      <p:sp>
        <p:nvSpPr>
          <p:cNvPr id="633" name="Google Shape;633;p26"/>
          <p:cNvSpPr txBox="1"/>
          <p:nvPr/>
        </p:nvSpPr>
        <p:spPr>
          <a:xfrm>
            <a:off x="4763379" y="3167184"/>
            <a:ext cx="74571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4.5m</a:t>
            </a:r>
            <a:r>
              <a:rPr b="1" baseline="30000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634" name="Google Shape;634;p26"/>
          <p:cNvSpPr txBox="1"/>
          <p:nvPr/>
        </p:nvSpPr>
        <p:spPr>
          <a:xfrm>
            <a:off x="4390333" y="993042"/>
            <a:ext cx="93833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128cm</a:t>
            </a:r>
            <a:r>
              <a:rPr b="1" baseline="30000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635" name="Google Shape;635;p26"/>
          <p:cNvSpPr txBox="1"/>
          <p:nvPr/>
        </p:nvSpPr>
        <p:spPr>
          <a:xfrm>
            <a:off x="4705335" y="6711305"/>
            <a:ext cx="88678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£31425</a:t>
            </a:r>
            <a:endParaRPr b="1" baseline="30000"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6" name="Google Shape;636;p26"/>
          <p:cNvSpPr txBox="1"/>
          <p:nvPr/>
        </p:nvSpPr>
        <p:spPr>
          <a:xfrm>
            <a:off x="4598247" y="4764130"/>
            <a:ext cx="65274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4000</a:t>
            </a:r>
            <a:endParaRPr b="1" baseline="30000"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0" name="Shape 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41" name="Google Shape;641;p27"/>
          <p:cNvGrpSpPr/>
          <p:nvPr/>
        </p:nvGrpSpPr>
        <p:grpSpPr>
          <a:xfrm>
            <a:off x="0" y="0"/>
            <a:ext cx="6804000" cy="9591040"/>
            <a:chOff x="0" y="0"/>
            <a:chExt cx="6804000" cy="9591040"/>
          </a:xfrm>
        </p:grpSpPr>
        <p:grpSp>
          <p:nvGrpSpPr>
            <p:cNvPr id="642" name="Google Shape;642;p27"/>
            <p:cNvGrpSpPr/>
            <p:nvPr/>
          </p:nvGrpSpPr>
          <p:grpSpPr>
            <a:xfrm>
              <a:off x="0" y="0"/>
              <a:ext cx="6779619" cy="9591040"/>
              <a:chOff x="0" y="0"/>
              <a:chExt cx="6779619" cy="9591040"/>
            </a:xfrm>
          </p:grpSpPr>
          <p:grpSp>
            <p:nvGrpSpPr>
              <p:cNvPr id="643" name="Google Shape;643;p27"/>
              <p:cNvGrpSpPr/>
              <p:nvPr/>
            </p:nvGrpSpPr>
            <p:grpSpPr>
              <a:xfrm>
                <a:off x="0" y="0"/>
                <a:ext cx="6779619" cy="9591040"/>
                <a:chOff x="0" y="0"/>
                <a:chExt cx="6779619" cy="9591040"/>
              </a:xfrm>
            </p:grpSpPr>
            <p:pic>
              <p:nvPicPr>
                <p:cNvPr id="644" name="Google Shape;644;p27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 b="3452" l="3025" r="4130" t="4979"/>
                <a:stretch/>
              </p:blipFill>
              <p:spPr>
                <a:xfrm>
                  <a:off x="0" y="0"/>
                  <a:ext cx="4984291" cy="6353298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645" name="Google Shape;645;p27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 b="47240" l="3025" r="4130" t="5293"/>
                <a:stretch/>
              </p:blipFill>
              <p:spPr>
                <a:xfrm>
                  <a:off x="0" y="6297642"/>
                  <a:ext cx="4984291" cy="3293398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646" name="Google Shape;646;p27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 b="43762" l="7910" r="58113" t="4980"/>
                <a:stretch/>
              </p:blipFill>
              <p:spPr>
                <a:xfrm>
                  <a:off x="4955623" y="6024363"/>
                  <a:ext cx="1823994" cy="3556517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647" name="Google Shape;647;p27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 b="5410" l="7910" r="58113" t="5294"/>
                <a:stretch/>
              </p:blipFill>
              <p:spPr>
                <a:xfrm>
                  <a:off x="4955623" y="21772"/>
                  <a:ext cx="1823996" cy="6195686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  <p:cxnSp>
            <p:nvCxnSpPr>
              <p:cNvPr id="648" name="Google Shape;648;p27"/>
              <p:cNvCxnSpPr/>
              <p:nvPr/>
            </p:nvCxnSpPr>
            <p:spPr>
              <a:xfrm flipH="1">
                <a:off x="3749040" y="16476"/>
                <a:ext cx="3175" cy="9564404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accent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649" name="Google Shape;649;p27"/>
              <p:cNvCxnSpPr/>
              <p:nvPr/>
            </p:nvCxnSpPr>
            <p:spPr>
              <a:xfrm flipH="1">
                <a:off x="3474720" y="16476"/>
                <a:ext cx="17897" cy="9574564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accent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650" name="Google Shape;650;p27"/>
              <p:cNvCxnSpPr/>
              <p:nvPr/>
            </p:nvCxnSpPr>
            <p:spPr>
              <a:xfrm>
                <a:off x="289103" y="24219"/>
                <a:ext cx="5537" cy="9566821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accent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sp>
          <p:nvSpPr>
            <p:cNvPr id="651" name="Google Shape;651;p27"/>
            <p:cNvSpPr/>
            <p:nvPr/>
          </p:nvSpPr>
          <p:spPr>
            <a:xfrm>
              <a:off x="0" y="5408"/>
              <a:ext cx="6804000" cy="6825502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652" name="Google Shape;652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560666" y="2725239"/>
            <a:ext cx="1013343" cy="1103994"/>
          </a:xfrm>
          <a:prstGeom prst="rect">
            <a:avLst/>
          </a:prstGeom>
          <a:noFill/>
          <a:ln>
            <a:noFill/>
          </a:ln>
        </p:spPr>
      </p:pic>
      <p:sp>
        <p:nvSpPr>
          <p:cNvPr id="653" name="Google Shape;653;p27"/>
          <p:cNvSpPr txBox="1"/>
          <p:nvPr>
            <p:ph idx="12" type="sldNum"/>
          </p:nvPr>
        </p:nvSpPr>
        <p:spPr>
          <a:xfrm>
            <a:off x="5260950" y="9368470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graphicFrame>
        <p:nvGraphicFramePr>
          <p:cNvPr id="654" name="Google Shape;654;p27"/>
          <p:cNvGraphicFramePr/>
          <p:nvPr/>
        </p:nvGraphicFramePr>
        <p:xfrm>
          <a:off x="165772" y="19704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{7F622640-7F73-40B3-BA3B-6E99962658F5}</a:tableStyleId>
              </a:tblPr>
              <a:tblGrid>
                <a:gridCol w="3285350"/>
                <a:gridCol w="3285350"/>
              </a:tblGrid>
              <a:tr h="323775">
                <a:tc grid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/>
                        <a:t>Skills Check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E2341"/>
                    </a:solidFill>
                  </a:tcPr>
                </a:tc>
                <a:tc hMerge="1"/>
              </a:tr>
              <a:tr h="2054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50"/>
                        <a:t>Calculate the area of the rectangle: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50"/>
                        <a:t>Calculate the area of the parallelogram: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836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50"/>
                        <a:t>Calculate the area of a parallelogram with a base of 1.2m and a height of 45cm.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50"/>
                        <a:buFont typeface="Calibri"/>
                        <a:buNone/>
                      </a:pPr>
                      <a:r>
                        <a:rPr lang="en-GB" sz="1350"/>
                        <a:t>Calculate the area of the triangle: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800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50"/>
                        <a:buFont typeface="Calibri"/>
                        <a:buNone/>
                      </a:pPr>
                      <a:r>
                        <a:rPr lang="en-GB" sz="1350"/>
                        <a:t>Calculate the area of the compound shape: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50"/>
                        <a:buFont typeface="Calibri"/>
                        <a:buNone/>
                      </a:pPr>
                      <a:r>
                        <a:rPr lang="en-GB" sz="1350"/>
                        <a:t>Calculate the area of the compound shape: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655" name="Google Shape;655;p2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052707" y="853802"/>
            <a:ext cx="1825513" cy="1072535"/>
          </a:xfrm>
          <a:prstGeom prst="rect">
            <a:avLst/>
          </a:prstGeom>
          <a:noFill/>
          <a:ln>
            <a:noFill/>
          </a:ln>
        </p:spPr>
      </p:pic>
      <p:pic>
        <p:nvPicPr>
          <p:cNvPr id="656" name="Google Shape;656;p2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480254" y="1953082"/>
            <a:ext cx="3193576" cy="692204"/>
          </a:xfrm>
          <a:prstGeom prst="rect">
            <a:avLst/>
          </a:prstGeom>
          <a:noFill/>
          <a:ln>
            <a:noFill/>
          </a:ln>
        </p:spPr>
      </p:pic>
      <p:pic>
        <p:nvPicPr>
          <p:cNvPr id="657" name="Google Shape;657;p2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488370" y="3814665"/>
            <a:ext cx="3138142" cy="639622"/>
          </a:xfrm>
          <a:prstGeom prst="rect">
            <a:avLst/>
          </a:prstGeom>
          <a:noFill/>
          <a:ln>
            <a:noFill/>
          </a:ln>
        </p:spPr>
      </p:pic>
      <p:pic>
        <p:nvPicPr>
          <p:cNvPr id="658" name="Google Shape;658;p2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446827" y="797692"/>
            <a:ext cx="655949" cy="1017563"/>
          </a:xfrm>
          <a:prstGeom prst="rect">
            <a:avLst/>
          </a:prstGeom>
          <a:noFill/>
          <a:ln>
            <a:noFill/>
          </a:ln>
        </p:spPr>
      </p:pic>
      <p:pic>
        <p:nvPicPr>
          <p:cNvPr id="659" name="Google Shape;659;p2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334413" y="1880949"/>
            <a:ext cx="2880967" cy="751556"/>
          </a:xfrm>
          <a:prstGeom prst="rect">
            <a:avLst/>
          </a:prstGeom>
          <a:noFill/>
          <a:ln>
            <a:noFill/>
          </a:ln>
        </p:spPr>
      </p:pic>
      <p:pic>
        <p:nvPicPr>
          <p:cNvPr id="660" name="Google Shape;660;p27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057641" y="4784349"/>
            <a:ext cx="1477351" cy="889521"/>
          </a:xfrm>
          <a:prstGeom prst="rect">
            <a:avLst/>
          </a:prstGeom>
          <a:noFill/>
          <a:ln>
            <a:noFill/>
          </a:ln>
        </p:spPr>
      </p:pic>
      <p:pic>
        <p:nvPicPr>
          <p:cNvPr id="661" name="Google Shape;661;p27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269205" y="5656292"/>
            <a:ext cx="3026870" cy="640985"/>
          </a:xfrm>
          <a:prstGeom prst="rect">
            <a:avLst/>
          </a:prstGeom>
          <a:noFill/>
          <a:ln>
            <a:noFill/>
          </a:ln>
        </p:spPr>
      </p:pic>
      <p:pic>
        <p:nvPicPr>
          <p:cNvPr id="662" name="Google Shape;662;p27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3528818" y="5691090"/>
            <a:ext cx="3158617" cy="625351"/>
          </a:xfrm>
          <a:prstGeom prst="rect">
            <a:avLst/>
          </a:prstGeom>
          <a:noFill/>
          <a:ln>
            <a:noFill/>
          </a:ln>
        </p:spPr>
      </p:pic>
      <p:pic>
        <p:nvPicPr>
          <p:cNvPr id="663" name="Google Shape;663;p27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4435108" y="4805007"/>
            <a:ext cx="1308848" cy="935318"/>
          </a:xfrm>
          <a:prstGeom prst="rect">
            <a:avLst/>
          </a:prstGeom>
          <a:noFill/>
          <a:ln>
            <a:noFill/>
          </a:ln>
        </p:spPr>
      </p:pic>
      <p:sp>
        <p:nvSpPr>
          <p:cNvPr id="664" name="Google Shape;664;p27"/>
          <p:cNvSpPr/>
          <p:nvPr/>
        </p:nvSpPr>
        <p:spPr>
          <a:xfrm>
            <a:off x="4385704" y="6147819"/>
            <a:ext cx="254000" cy="10160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5" name="Google Shape;665;p27"/>
          <p:cNvSpPr/>
          <p:nvPr/>
        </p:nvSpPr>
        <p:spPr>
          <a:xfrm>
            <a:off x="5282569" y="6159808"/>
            <a:ext cx="254000" cy="10160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6" name="Google Shape;666;p27"/>
          <p:cNvSpPr txBox="1"/>
          <p:nvPr/>
        </p:nvSpPr>
        <p:spPr>
          <a:xfrm>
            <a:off x="4419271" y="6094834"/>
            <a:ext cx="347134" cy="2308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48</a:t>
            </a:r>
            <a:endParaRPr/>
          </a:p>
        </p:txBody>
      </p:sp>
      <p:sp>
        <p:nvSpPr>
          <p:cNvPr id="667" name="Google Shape;667;p27"/>
          <p:cNvSpPr txBox="1"/>
          <p:nvPr/>
        </p:nvSpPr>
        <p:spPr>
          <a:xfrm>
            <a:off x="5194270" y="6094834"/>
            <a:ext cx="462588" cy="2308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3612</a:t>
            </a:r>
            <a:endParaRPr/>
          </a:p>
        </p:txBody>
      </p:sp>
      <p:pic>
        <p:nvPicPr>
          <p:cNvPr id="668" name="Google Shape;668;p2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33717" y="3775160"/>
            <a:ext cx="3138142" cy="639622"/>
          </a:xfrm>
          <a:prstGeom prst="rect">
            <a:avLst/>
          </a:prstGeom>
          <a:noFill/>
          <a:ln>
            <a:noFill/>
          </a:ln>
        </p:spPr>
      </p:pic>
      <p:sp>
        <p:nvSpPr>
          <p:cNvPr id="669" name="Google Shape;669;p27"/>
          <p:cNvSpPr/>
          <p:nvPr/>
        </p:nvSpPr>
        <p:spPr>
          <a:xfrm>
            <a:off x="236222" y="4269728"/>
            <a:ext cx="176912" cy="145054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0" name="Google Shape;670;p27"/>
          <p:cNvSpPr/>
          <p:nvPr/>
        </p:nvSpPr>
        <p:spPr>
          <a:xfrm>
            <a:off x="1137624" y="4290650"/>
            <a:ext cx="273892" cy="100431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1" name="Google Shape;671;p27"/>
          <p:cNvSpPr/>
          <p:nvPr/>
        </p:nvSpPr>
        <p:spPr>
          <a:xfrm>
            <a:off x="2021195" y="4272312"/>
            <a:ext cx="273893" cy="124132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2" name="Google Shape;672;p27"/>
          <p:cNvSpPr/>
          <p:nvPr/>
        </p:nvSpPr>
        <p:spPr>
          <a:xfrm>
            <a:off x="2853531" y="4266949"/>
            <a:ext cx="335186" cy="124132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3" name="Google Shape;673;p27"/>
          <p:cNvSpPr txBox="1"/>
          <p:nvPr/>
        </p:nvSpPr>
        <p:spPr>
          <a:xfrm>
            <a:off x="163145" y="4217741"/>
            <a:ext cx="347134" cy="2308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5.4</a:t>
            </a:r>
            <a:endParaRPr/>
          </a:p>
        </p:txBody>
      </p:sp>
      <p:sp>
        <p:nvSpPr>
          <p:cNvPr id="674" name="Google Shape;674;p27"/>
          <p:cNvSpPr txBox="1"/>
          <p:nvPr/>
        </p:nvSpPr>
        <p:spPr>
          <a:xfrm>
            <a:off x="1146722" y="4225449"/>
            <a:ext cx="347134" cy="2308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5.4</a:t>
            </a:r>
            <a:endParaRPr/>
          </a:p>
        </p:txBody>
      </p:sp>
      <p:sp>
        <p:nvSpPr>
          <p:cNvPr id="675" name="Google Shape;675;p27"/>
          <p:cNvSpPr txBox="1"/>
          <p:nvPr/>
        </p:nvSpPr>
        <p:spPr>
          <a:xfrm>
            <a:off x="1956445" y="4226587"/>
            <a:ext cx="480688" cy="2308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5400</a:t>
            </a:r>
            <a:endParaRPr/>
          </a:p>
        </p:txBody>
      </p:sp>
      <p:sp>
        <p:nvSpPr>
          <p:cNvPr id="676" name="Google Shape;676;p27"/>
          <p:cNvSpPr txBox="1"/>
          <p:nvPr/>
        </p:nvSpPr>
        <p:spPr>
          <a:xfrm>
            <a:off x="2939744" y="4213766"/>
            <a:ext cx="480688" cy="2308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5.4</a:t>
            </a:r>
            <a:endParaRPr/>
          </a:p>
        </p:txBody>
      </p:sp>
      <p:sp>
        <p:nvSpPr>
          <p:cNvPr id="677" name="Google Shape;677;p27"/>
          <p:cNvSpPr/>
          <p:nvPr/>
        </p:nvSpPr>
        <p:spPr>
          <a:xfrm>
            <a:off x="1753293" y="1849284"/>
            <a:ext cx="655948" cy="687033"/>
          </a:xfrm>
          <a:prstGeom prst="ellipse">
            <a:avLst/>
          </a:prstGeom>
          <a:noFill/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8" name="Google Shape;678;p27"/>
          <p:cNvSpPr/>
          <p:nvPr/>
        </p:nvSpPr>
        <p:spPr>
          <a:xfrm>
            <a:off x="5200851" y="1934565"/>
            <a:ext cx="655948" cy="687033"/>
          </a:xfrm>
          <a:prstGeom prst="ellipse">
            <a:avLst/>
          </a:prstGeom>
          <a:noFill/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9" name="Google Shape;679;p27"/>
          <p:cNvSpPr/>
          <p:nvPr/>
        </p:nvSpPr>
        <p:spPr>
          <a:xfrm>
            <a:off x="1935133" y="3775160"/>
            <a:ext cx="655948" cy="687033"/>
          </a:xfrm>
          <a:prstGeom prst="ellipse">
            <a:avLst/>
          </a:prstGeom>
          <a:noFill/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0" name="Google Shape;680;p27"/>
          <p:cNvSpPr/>
          <p:nvPr/>
        </p:nvSpPr>
        <p:spPr>
          <a:xfrm>
            <a:off x="6048031" y="3775753"/>
            <a:ext cx="655948" cy="687033"/>
          </a:xfrm>
          <a:prstGeom prst="ellipse">
            <a:avLst/>
          </a:prstGeom>
          <a:noFill/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1" name="Google Shape;681;p27"/>
          <p:cNvSpPr/>
          <p:nvPr/>
        </p:nvSpPr>
        <p:spPr>
          <a:xfrm>
            <a:off x="1914985" y="5672608"/>
            <a:ext cx="655948" cy="687033"/>
          </a:xfrm>
          <a:prstGeom prst="ellipse">
            <a:avLst/>
          </a:prstGeom>
          <a:noFill/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2" name="Google Shape;682;p27"/>
          <p:cNvSpPr/>
          <p:nvPr/>
        </p:nvSpPr>
        <p:spPr>
          <a:xfrm>
            <a:off x="4311730" y="5674044"/>
            <a:ext cx="655948" cy="687033"/>
          </a:xfrm>
          <a:prstGeom prst="ellipse">
            <a:avLst/>
          </a:prstGeom>
          <a:noFill/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