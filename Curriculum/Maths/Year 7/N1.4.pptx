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961D0D-3FB2-415C-91BB-4616E758C1A7}">
  <a:tblStyle styleId="{72961D0D-3FB2-415C-91BB-4616E758C1A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11" Type="http://schemas.openxmlformats.org/officeDocument/2006/relationships/image" Target="../media/image8.png"/><Relationship Id="rId10" Type="http://schemas.openxmlformats.org/officeDocument/2006/relationships/image" Target="../media/image16.png"/><Relationship Id="rId12" Type="http://schemas.openxmlformats.org/officeDocument/2006/relationships/image" Target="../media/image2.png"/><Relationship Id="rId9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17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145981" y="46612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{72961D0D-3FB2-415C-91BB-4616E758C1A7}</a:tableStyleId>
              </a:tblPr>
              <a:tblGrid>
                <a:gridCol w="1301825"/>
                <a:gridCol w="1756875"/>
                <a:gridCol w="1756875"/>
                <a:gridCol w="1756875"/>
              </a:tblGrid>
              <a:tr h="478925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For the following questions, list the numbers in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descending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order.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872, 802, 870, 780, 827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542, 412, 585, 591, 572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333, 395, 299, 313, 329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Look at the place value of the leftmost digit. Write down the number with the largest place value.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FF0000"/>
                          </a:solidFill>
                        </a:rPr>
                        <a:t>872, 870, 827, 802, 780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FF0000"/>
                          </a:solidFill>
                        </a:rPr>
                        <a:t>591, 585, 572, 542, 412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FF0000"/>
                          </a:solidFill>
                        </a:rPr>
                        <a:t>395, 333, 329, 313, 299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If any have the same place value, look at the digit to the right and write down the number with the largest value. Repeat until all numbers have been ordered.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1739784" y="5297534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145857" y="528229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358661" y="528229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109488" y="4740359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Ordering integers without a number line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5210430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86108" y="364088"/>
            <a:ext cx="6679742" cy="1476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N1.4 – Order a List of Integers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74628" y="735899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209445" y="1014186"/>
            <a:ext cx="46679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order integers using a number line.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order integers without a number line.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solve problems involving ordering integers.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241405" y="430499"/>
            <a:ext cx="6482957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understand how to order integers.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5618677" y="746267"/>
            <a:ext cx="1080745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 Value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Ascending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Descending</a:t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91213" y="1916737"/>
            <a:ext cx="6679742" cy="97640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Ordering a list of integers builds on our understanding of place value and comparing numbers. By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arranging numbers from smallest to largest (or vice versa), we practise reading, writing, and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interpreting values accurately — whether they're written in digits or words.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" name="Google Shape;102;p13"/>
          <p:cNvGrpSpPr/>
          <p:nvPr/>
        </p:nvGrpSpPr>
        <p:grpSpPr>
          <a:xfrm>
            <a:off x="90863" y="2950423"/>
            <a:ext cx="6751305" cy="1706622"/>
            <a:chOff x="59782" y="2276673"/>
            <a:chExt cx="6751305" cy="2046788"/>
          </a:xfrm>
        </p:grpSpPr>
        <p:cxnSp>
          <p:nvCxnSpPr>
            <p:cNvPr id="103" name="Google Shape;103;p13"/>
            <p:cNvCxnSpPr/>
            <p:nvPr/>
          </p:nvCxnSpPr>
          <p:spPr>
            <a:xfrm flipH="1" rot="10800000">
              <a:off x="951826" y="3974185"/>
              <a:ext cx="5541513" cy="22822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4" name="Google Shape;104;p13"/>
            <p:cNvSpPr/>
            <p:nvPr/>
          </p:nvSpPr>
          <p:spPr>
            <a:xfrm>
              <a:off x="59782" y="2297490"/>
              <a:ext cx="6679742" cy="2025971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5" name="Google Shape;105;p13"/>
            <p:cNvCxnSpPr/>
            <p:nvPr/>
          </p:nvCxnSpPr>
          <p:spPr>
            <a:xfrm>
              <a:off x="59782" y="3302639"/>
              <a:ext cx="669921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" name="Google Shape;106;p13"/>
            <p:cNvCxnSpPr>
              <a:stCxn id="104" idx="2"/>
              <a:endCxn id="104" idx="0"/>
            </p:cNvCxnSpPr>
            <p:nvPr/>
          </p:nvCxnSpPr>
          <p:spPr>
            <a:xfrm rot="10800000">
              <a:off x="3399653" y="2297561"/>
              <a:ext cx="0" cy="2025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7" name="Google Shape;107;p13"/>
            <p:cNvSpPr txBox="1"/>
            <p:nvPr/>
          </p:nvSpPr>
          <p:spPr>
            <a:xfrm>
              <a:off x="114900" y="2309059"/>
              <a:ext cx="82471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Definition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3"/>
            <p:cNvSpPr txBox="1"/>
            <p:nvPr/>
          </p:nvSpPr>
          <p:spPr>
            <a:xfrm>
              <a:off x="5638951" y="2276673"/>
              <a:ext cx="11122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Characteristics</a:t>
              </a:r>
              <a:endParaRPr b="1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3"/>
            <p:cNvSpPr txBox="1"/>
            <p:nvPr/>
          </p:nvSpPr>
          <p:spPr>
            <a:xfrm>
              <a:off x="130359" y="3348731"/>
              <a:ext cx="78816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Examples</a:t>
              </a:r>
              <a:endParaRPr b="1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3"/>
            <p:cNvSpPr txBox="1"/>
            <p:nvPr/>
          </p:nvSpPr>
          <p:spPr>
            <a:xfrm>
              <a:off x="5638202" y="3348732"/>
              <a:ext cx="117288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 - Examples</a:t>
              </a:r>
              <a:endParaRPr b="1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3"/>
            <p:cNvSpPr txBox="1"/>
            <p:nvPr/>
          </p:nvSpPr>
          <p:spPr>
            <a:xfrm>
              <a:off x="118476" y="2534065"/>
              <a:ext cx="323033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whole number. </a:t>
              </a:r>
              <a:endParaRPr/>
            </a:p>
          </p:txBody>
        </p:sp>
        <p:sp>
          <p:nvSpPr>
            <p:cNvPr id="112" name="Google Shape;112;p13"/>
            <p:cNvSpPr txBox="1"/>
            <p:nvPr/>
          </p:nvSpPr>
          <p:spPr>
            <a:xfrm>
              <a:off x="3425979" y="2315157"/>
              <a:ext cx="32303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952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Can be positive or negative.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 decimal or fractional part when simplified.</a:t>
              </a:r>
              <a:endParaRPr/>
            </a:p>
          </p:txBody>
        </p:sp>
        <p:sp>
          <p:nvSpPr>
            <p:cNvPr id="113" name="Google Shape;113;p13"/>
            <p:cNvSpPr txBox="1"/>
            <p:nvPr/>
          </p:nvSpPr>
          <p:spPr>
            <a:xfrm>
              <a:off x="2997486" y="3093237"/>
              <a:ext cx="854593" cy="36933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Integer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3"/>
            <p:cNvSpPr txBox="1"/>
            <p:nvPr/>
          </p:nvSpPr>
          <p:spPr>
            <a:xfrm>
              <a:off x="280391" y="3746521"/>
              <a:ext cx="41965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/>
            </a:p>
          </p:txBody>
        </p:sp>
        <p:sp>
          <p:nvSpPr>
            <p:cNvPr id="115" name="Google Shape;115;p13"/>
            <p:cNvSpPr txBox="1"/>
            <p:nvPr/>
          </p:nvSpPr>
          <p:spPr>
            <a:xfrm>
              <a:off x="1547436" y="3372258"/>
              <a:ext cx="419656" cy="3322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-42</a:t>
              </a:r>
              <a:endParaRPr/>
            </a:p>
          </p:txBody>
        </p:sp>
        <p:sp>
          <p:nvSpPr>
            <p:cNvPr id="116" name="Google Shape;116;p13"/>
            <p:cNvSpPr txBox="1"/>
            <p:nvPr/>
          </p:nvSpPr>
          <p:spPr>
            <a:xfrm>
              <a:off x="2059091" y="3360891"/>
              <a:ext cx="419656" cy="45397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17743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7" name="Google Shape;117;p13"/>
            <p:cNvSpPr txBox="1"/>
            <p:nvPr/>
          </p:nvSpPr>
          <p:spPr>
            <a:xfrm>
              <a:off x="3846340" y="3392234"/>
              <a:ext cx="41965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1.1</a:t>
              </a:r>
              <a:endParaRPr/>
            </a:p>
          </p:txBody>
        </p:sp>
        <p:sp>
          <p:nvSpPr>
            <p:cNvPr id="118" name="Google Shape;118;p13"/>
            <p:cNvSpPr txBox="1"/>
            <p:nvPr/>
          </p:nvSpPr>
          <p:spPr>
            <a:xfrm>
              <a:off x="4418372" y="3446216"/>
              <a:ext cx="4776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-8.5</a:t>
              </a:r>
              <a:endParaRPr/>
            </a:p>
          </p:txBody>
        </p:sp>
        <p:sp>
          <p:nvSpPr>
            <p:cNvPr id="119" name="Google Shape;119;p13"/>
            <p:cNvSpPr txBox="1"/>
            <p:nvPr/>
          </p:nvSpPr>
          <p:spPr>
            <a:xfrm>
              <a:off x="4896069" y="3350205"/>
              <a:ext cx="419656" cy="45397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17743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20" name="Google Shape;120;p13"/>
            <p:cNvSpPr txBox="1"/>
            <p:nvPr/>
          </p:nvSpPr>
          <p:spPr>
            <a:xfrm>
              <a:off x="5395998" y="3574805"/>
              <a:ext cx="419656" cy="29873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750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21" name="Google Shape;121;p13"/>
            <p:cNvSpPr txBox="1"/>
            <p:nvPr/>
          </p:nvSpPr>
          <p:spPr>
            <a:xfrm>
              <a:off x="2562074" y="3372980"/>
              <a:ext cx="419656" cy="27699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5263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22" name="Google Shape;122;p13"/>
            <p:cNvSpPr txBox="1"/>
            <p:nvPr/>
          </p:nvSpPr>
          <p:spPr>
            <a:xfrm>
              <a:off x="883968" y="3778463"/>
              <a:ext cx="41965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-11</a:t>
              </a:r>
              <a:endParaRPr/>
            </a:p>
          </p:txBody>
        </p:sp>
        <p:sp>
          <p:nvSpPr>
            <p:cNvPr id="123" name="Google Shape;123;p13"/>
            <p:cNvSpPr txBox="1"/>
            <p:nvPr/>
          </p:nvSpPr>
          <p:spPr>
            <a:xfrm>
              <a:off x="1757264" y="3788164"/>
              <a:ext cx="419656" cy="45397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16129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24" name="Google Shape;124;p13"/>
            <p:cNvSpPr txBox="1"/>
            <p:nvPr/>
          </p:nvSpPr>
          <p:spPr>
            <a:xfrm>
              <a:off x="2386817" y="3865854"/>
              <a:ext cx="350514" cy="332211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-1578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25" name="Google Shape;125;p13"/>
            <p:cNvSpPr txBox="1"/>
            <p:nvPr/>
          </p:nvSpPr>
          <p:spPr>
            <a:xfrm>
              <a:off x="2871440" y="3788164"/>
              <a:ext cx="419656" cy="276999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2633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26" name="Google Shape;126;p13"/>
            <p:cNvSpPr txBox="1"/>
            <p:nvPr/>
          </p:nvSpPr>
          <p:spPr>
            <a:xfrm>
              <a:off x="1041562" y="3371596"/>
              <a:ext cx="419656" cy="276999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-2633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27" name="Google Shape;127;p13"/>
            <p:cNvSpPr txBox="1"/>
            <p:nvPr/>
          </p:nvSpPr>
          <p:spPr>
            <a:xfrm>
              <a:off x="3461224" y="3727355"/>
              <a:ext cx="4776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27.5</a:t>
              </a:r>
              <a:endParaRPr/>
            </a:p>
          </p:txBody>
        </p:sp>
        <p:sp>
          <p:nvSpPr>
            <p:cNvPr id="128" name="Google Shape;128;p13"/>
            <p:cNvSpPr txBox="1"/>
            <p:nvPr/>
          </p:nvSpPr>
          <p:spPr>
            <a:xfrm>
              <a:off x="4157657" y="3812624"/>
              <a:ext cx="4776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0.42</a:t>
              </a:r>
              <a:endParaRPr/>
            </a:p>
          </p:txBody>
        </p:sp>
        <p:sp>
          <p:nvSpPr>
            <p:cNvPr id="129" name="Google Shape;129;p13"/>
            <p:cNvSpPr txBox="1"/>
            <p:nvPr/>
          </p:nvSpPr>
          <p:spPr>
            <a:xfrm>
              <a:off x="5930471" y="3710245"/>
              <a:ext cx="419656" cy="439223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21666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30" name="Google Shape;130;p13"/>
            <p:cNvSpPr txBox="1"/>
            <p:nvPr/>
          </p:nvSpPr>
          <p:spPr>
            <a:xfrm>
              <a:off x="4864213" y="3929856"/>
              <a:ext cx="419656" cy="302519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9756" l="0" r="-20291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>
            <p:ph idx="12" type="sldNum"/>
          </p:nvPr>
        </p:nvSpPr>
        <p:spPr>
          <a:xfrm>
            <a:off x="5269288" y="940516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158001" y="4059248"/>
            <a:ext cx="1137954" cy="4320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138" name="Google Shape;138;p14"/>
          <p:cNvGraphicFramePr/>
          <p:nvPr/>
        </p:nvGraphicFramePr>
        <p:xfrm>
          <a:off x="157055" y="45624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{72961D0D-3FB2-415C-91BB-4616E758C1A7}</a:tableStyleId>
              </a:tblPr>
              <a:tblGrid>
                <a:gridCol w="3286250"/>
                <a:gridCol w="3286250"/>
              </a:tblGrid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8, 5, 9, 10, 2 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11, 20, 9, 15, 14, 3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 </a:t>
                      </a:r>
                      <a:r>
                        <a:rPr lang="en-GB" sz="1200"/>
                        <a:t>40, 60, 20, 30, 90, 10 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d) </a:t>
                      </a:r>
                      <a:r>
                        <a:rPr lang="en-GB" sz="1200"/>
                        <a:t>83, 18, 45, 37, 90, 21 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 </a:t>
                      </a:r>
                      <a:r>
                        <a:rPr lang="en-GB" sz="1200"/>
                        <a:t>140, 180, 210, 70, 300 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 </a:t>
                      </a:r>
                      <a:r>
                        <a:rPr lang="en-GB" sz="1200"/>
                        <a:t>605, 56, 566, 655, 506, 65, 555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g) </a:t>
                      </a:r>
                      <a:r>
                        <a:rPr lang="en-GB" sz="1200"/>
                        <a:t>2000, 375, 7100, 2900, 999, 400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h) 3</a:t>
                      </a:r>
                      <a:r>
                        <a:rPr lang="en-GB" sz="1200"/>
                        <a:t>000, 375, 3100, 3900, 399, 300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Google Shape;139;p14"/>
          <p:cNvGraphicFramePr/>
          <p:nvPr/>
        </p:nvGraphicFramePr>
        <p:xfrm>
          <a:off x="164101" y="3304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{72961D0D-3FB2-415C-91BB-4616E758C1A7}</a:tableStyleId>
              </a:tblPr>
              <a:tblGrid>
                <a:gridCol w="1391750"/>
                <a:gridCol w="1726900"/>
                <a:gridCol w="1726900"/>
                <a:gridCol w="1726900"/>
              </a:tblGrid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562, 56, 5620, 526, 5260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7312, 7321, 732, 73, 723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32, 372, 3372, 3732, 327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Look at the place value of the leftmost digit. Write down the number with the smallest place value.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56, 526, 562, 5260, 5620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73, 723, 732, 7312, 7321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32, 327, 372, 3372, 3732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If any have the same place value, look at the digit to the right and write down the number with the smallest value. Repeat until all numbers have been ordered.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40" name="Google Shape;140;p14"/>
          <p:cNvSpPr txBox="1"/>
          <p:nvPr/>
        </p:nvSpPr>
        <p:spPr>
          <a:xfrm>
            <a:off x="1782134" y="357836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10 - I do…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5093173" y="35783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12 – You do…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3395790" y="35783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11 – We do…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-333376" y="120786"/>
            <a:ext cx="50125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the following questions, list the numbers in </a:t>
            </a:r>
            <a:r>
              <a:rPr b="1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ascending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order.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1295955" y="4209316"/>
            <a:ext cx="50025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For the following questions, list the numbers in </a:t>
            </a:r>
            <a:r>
              <a:rPr b="1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ascending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order.</a:t>
            </a:r>
            <a:endParaRPr/>
          </a:p>
        </p:txBody>
      </p:sp>
      <p:graphicFrame>
        <p:nvGraphicFramePr>
          <p:cNvPr id="145" name="Google Shape;145;p14"/>
          <p:cNvGraphicFramePr/>
          <p:nvPr/>
        </p:nvGraphicFramePr>
        <p:xfrm>
          <a:off x="157055" y="84691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{72961D0D-3FB2-415C-91BB-4616E758C1A7}</a:tableStyleId>
              </a:tblPr>
              <a:tblGrid>
                <a:gridCol w="6572475"/>
              </a:tblGrid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 Order the following temperatures from coldest to warmest:  </a:t>
                      </a: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8°C, 12°C, 9°C, 15°C, 11°C, 7°C, 2°C 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6" name="Google Shape;146;p14"/>
          <p:cNvGraphicFramePr/>
          <p:nvPr/>
        </p:nvGraphicFramePr>
        <p:xfrm>
          <a:off x="164101" y="46489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{72961D0D-3FB2-415C-91BB-4616E758C1A7}</a:tableStyleId>
              </a:tblPr>
              <a:tblGrid>
                <a:gridCol w="3286250"/>
                <a:gridCol w="3286250"/>
              </a:tblGrid>
              <a:tr h="2208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2, 5, 8, 9, 10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3, 9, 11, 14, 15, 20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10, 20, 30, 40, 60, 90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18, 21, 37, 45, 83, 90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70, 140, 180, 210, 300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56, 65, 506, 555, 566, 605, 655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375,  400, 999, 2000, 2900, 7100 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" name="Google Shape;147;p14"/>
          <p:cNvSpPr txBox="1"/>
          <p:nvPr/>
        </p:nvSpPr>
        <p:spPr>
          <a:xfrm>
            <a:off x="3192838" y="7735759"/>
            <a:ext cx="36195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300, 375, 399, 3000, 3100, 3900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1693090" y="8897736"/>
            <a:ext cx="3619500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" name="Google Shape;153;p15"/>
          <p:cNvGraphicFramePr/>
          <p:nvPr/>
        </p:nvGraphicFramePr>
        <p:xfrm>
          <a:off x="142761" y="4359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{72961D0D-3FB2-415C-91BB-4616E758C1A7}</a:tableStyleId>
              </a:tblPr>
              <a:tblGrid>
                <a:gridCol w="3286250"/>
                <a:gridCol w="3286250"/>
              </a:tblGrid>
              <a:tr h="13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321, 301, 312, 213, 212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1031, 1021, 2021, 1030, 2020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21031, 20121, 32021, 31030, 32020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d)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21531, 21331, 21351, 231151, 23151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20531, 20031, 25031, 23051, 21053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90531, 95031, 91530, 95130, 95101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4" name="Google Shape;154;p15"/>
          <p:cNvSpPr txBox="1"/>
          <p:nvPr/>
        </p:nvSpPr>
        <p:spPr>
          <a:xfrm>
            <a:off x="91440" y="143756"/>
            <a:ext cx="82219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For the following questions, list the numbers in </a:t>
            </a:r>
            <a:r>
              <a:rPr b="1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descending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order.</a:t>
            </a:r>
            <a:endParaRPr/>
          </a:p>
        </p:txBody>
      </p:sp>
      <p:graphicFrame>
        <p:nvGraphicFramePr>
          <p:cNvPr id="155" name="Google Shape;155;p15"/>
          <p:cNvGraphicFramePr/>
          <p:nvPr/>
        </p:nvGraphicFramePr>
        <p:xfrm>
          <a:off x="152400" y="47103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{72961D0D-3FB2-415C-91BB-4616E758C1A7}</a:tableStyleId>
              </a:tblPr>
              <a:tblGrid>
                <a:gridCol w="6572475"/>
              </a:tblGrid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4. Shown below are the heights of five hills.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List the hills in order of size, starting with the largest.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56" name="Google Shape;1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5217687"/>
            <a:ext cx="2076740" cy="15432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" name="Google Shape;157;p15"/>
          <p:cNvGraphicFramePr/>
          <p:nvPr/>
        </p:nvGraphicFramePr>
        <p:xfrm>
          <a:off x="152400" y="69837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{72961D0D-3FB2-415C-91BB-4616E758C1A7}</a:tableStyleId>
              </a:tblPr>
              <a:tblGrid>
                <a:gridCol w="6572475"/>
              </a:tblGrid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5. The table shows the prices of five televisions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down the televisions in order of price. Start with the cheapest television.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58" name="Google Shape;15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0" y="7390808"/>
            <a:ext cx="2331720" cy="1855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5"/>
          <p:cNvSpPr txBox="1"/>
          <p:nvPr/>
        </p:nvSpPr>
        <p:spPr>
          <a:xfrm>
            <a:off x="1348740" y="4947050"/>
            <a:ext cx="76708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Heathmount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Donard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Altmore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Cley Hill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Slemish</a:t>
            </a:r>
            <a:endParaRPr/>
          </a:p>
        </p:txBody>
      </p:sp>
      <p:graphicFrame>
        <p:nvGraphicFramePr>
          <p:cNvPr id="160" name="Google Shape;160;p15"/>
          <p:cNvGraphicFramePr/>
          <p:nvPr/>
        </p:nvGraphicFramePr>
        <p:xfrm>
          <a:off x="182880" y="8838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{72961D0D-3FB2-415C-91BB-4616E758C1A7}</a:tableStyleId>
              </a:tblPr>
              <a:tblGrid>
                <a:gridCol w="3286250"/>
                <a:gridCol w="3286250"/>
              </a:tblGrid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321, 312, 301, 213, 212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2021, 2020, 1031, 1030, 1021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32021, 32020, 31030, 21031, 20121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231151, 23151, 21531, 21351, 21331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25031, 23051, 21053, 20531, 20031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91530, 95130, 95101, 95031, 90531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" name="Google Shape;161;p15"/>
          <p:cNvSpPr txBox="1"/>
          <p:nvPr/>
        </p:nvSpPr>
        <p:spPr>
          <a:xfrm>
            <a:off x="2363557" y="7544845"/>
            <a:ext cx="451236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Deko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Edge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Supersonic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6" name="Google Shape;166;p16"/>
          <p:cNvGraphicFramePr/>
          <p:nvPr/>
        </p:nvGraphicFramePr>
        <p:xfrm>
          <a:off x="164101" y="1541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{72961D0D-3FB2-415C-91BB-4616E758C1A7}</a:tableStyleId>
              </a:tblPr>
              <a:tblGrid>
                <a:gridCol w="6572475"/>
              </a:tblGrid>
              <a:tr h="2400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6. The table below shows the average attendance for five football teams last season.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down the teams in order of average attendance. Start with the highest.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160" y="569844"/>
            <a:ext cx="2542764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 txBox="1"/>
          <p:nvPr/>
        </p:nvSpPr>
        <p:spPr>
          <a:xfrm>
            <a:off x="3307579" y="649356"/>
            <a:ext cx="3429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Blues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Wanderers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Albion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Saints</a:t>
            </a:r>
            <a:endParaRPr/>
          </a:p>
        </p:txBody>
      </p:sp>
      <p:graphicFrame>
        <p:nvGraphicFramePr>
          <p:cNvPr id="169" name="Google Shape;169;p16"/>
          <p:cNvGraphicFramePr/>
          <p:nvPr/>
        </p:nvGraphicFramePr>
        <p:xfrm>
          <a:off x="144223" y="27199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{72961D0D-3FB2-415C-91BB-4616E758C1A7}</a:tableStyleId>
              </a:tblPr>
              <a:tblGrid>
                <a:gridCol w="6572475"/>
              </a:tblGrid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7. Here are the populations of five countries in 2022.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Arrange the countries in order of population, starting with the smallest.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0" name="Google Shape;170;p16"/>
          <p:cNvSpPr txBox="1"/>
          <p:nvPr/>
        </p:nvSpPr>
        <p:spPr>
          <a:xfrm>
            <a:off x="3450340" y="3398642"/>
            <a:ext cx="3429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Chad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Guatemala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Senegal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Netherlands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Ecuador</a:t>
            </a:r>
            <a:endParaRPr/>
          </a:p>
        </p:txBody>
      </p:sp>
      <p:pic>
        <p:nvPicPr>
          <p:cNvPr id="171" name="Google Shape;1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648" y="3161972"/>
            <a:ext cx="2705478" cy="21434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2" name="Google Shape;172;p16"/>
          <p:cNvGraphicFramePr/>
          <p:nvPr/>
        </p:nvGraphicFramePr>
        <p:xfrm>
          <a:off x="144223" y="54574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{72961D0D-3FB2-415C-91BB-4616E758C1A7}</a:tableStyleId>
              </a:tblPr>
              <a:tblGrid>
                <a:gridCol w="6572475"/>
              </a:tblGrid>
              <a:tr h="1738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8. Arrange these numbers in ascending order.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73" name="Google Shape;17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3160" y="5707623"/>
            <a:ext cx="2229161" cy="112410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 txBox="1"/>
          <p:nvPr/>
        </p:nvSpPr>
        <p:spPr>
          <a:xfrm>
            <a:off x="3313989" y="5554626"/>
            <a:ext cx="343893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Ninety-seven thousand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Half a million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Six hundred and ten thousand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Two million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One billion</a:t>
            </a:r>
            <a:endParaRPr/>
          </a:p>
        </p:txBody>
      </p:sp>
      <p:sp>
        <p:nvSpPr>
          <p:cNvPr id="175" name="Google Shape;175;p16"/>
          <p:cNvSpPr txBox="1"/>
          <p:nvPr>
            <p:ph idx="12" type="sldNum"/>
          </p:nvPr>
        </p:nvSpPr>
        <p:spPr>
          <a:xfrm>
            <a:off x="5164840" y="937591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76" name="Google Shape;176;p16"/>
          <p:cNvGraphicFramePr/>
          <p:nvPr/>
        </p:nvGraphicFramePr>
        <p:xfrm>
          <a:off x="144223" y="72802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{72961D0D-3FB2-415C-91BB-4616E758C1A7}</a:tableStyleId>
              </a:tblPr>
              <a:tblGrid>
                <a:gridCol w="6572475"/>
              </a:tblGrid>
              <a:tr h="224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9. How many different four-digit numbers can you make using the cards below? Put your numbers in order, starting with the smallest.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77" name="Google Shape;177;p16"/>
          <p:cNvPicPr preferRelativeResize="0"/>
          <p:nvPr/>
        </p:nvPicPr>
        <p:blipFill rotWithShape="1">
          <a:blip r:embed="rId6">
            <a:alphaModFix/>
          </a:blip>
          <a:srcRect b="22715" l="23550" r="32416" t="36250"/>
          <a:stretch/>
        </p:blipFill>
        <p:spPr>
          <a:xfrm>
            <a:off x="2147715" y="7710610"/>
            <a:ext cx="2332548" cy="68669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 txBox="1"/>
          <p:nvPr/>
        </p:nvSpPr>
        <p:spPr>
          <a:xfrm>
            <a:off x="293160" y="8751381"/>
            <a:ext cx="81600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combinations: </a:t>
            </a:r>
            <a:b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4489, 4498, 4849, 4894, 4948, 4984, 8449, 8494, 8944, 9448, 9484, 9844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17"/>
          <p:cNvGrpSpPr/>
          <p:nvPr/>
        </p:nvGrpSpPr>
        <p:grpSpPr>
          <a:xfrm>
            <a:off x="309527" y="4200511"/>
            <a:ext cx="6227700" cy="5358463"/>
            <a:chOff x="325500" y="4397830"/>
            <a:chExt cx="6227700" cy="5358463"/>
          </a:xfrm>
        </p:grpSpPr>
        <p:pic>
          <p:nvPicPr>
            <p:cNvPr descr="A picture containing chart&#10;&#10;Description automatically generated" id="184" name="Google Shape;184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5500" y="4416862"/>
              <a:ext cx="6206999" cy="53394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7"/>
            <p:cNvSpPr/>
            <p:nvPr/>
          </p:nvSpPr>
          <p:spPr>
            <a:xfrm>
              <a:off x="326571" y="4397830"/>
              <a:ext cx="6226629" cy="75249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17"/>
          <p:cNvSpPr txBox="1"/>
          <p:nvPr/>
        </p:nvSpPr>
        <p:spPr>
          <a:xfrm>
            <a:off x="130812" y="149707"/>
            <a:ext cx="6585130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160392" y="554920"/>
            <a:ext cx="6543302" cy="404257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 txBox="1"/>
          <p:nvPr>
            <p:ph idx="12" type="sldNum"/>
          </p:nvPr>
        </p:nvSpPr>
        <p:spPr>
          <a:xfrm>
            <a:off x="5257125" y="935108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9" name="Google Shape;18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444" y="780667"/>
            <a:ext cx="5694195" cy="365979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/>
          <p:nvPr/>
        </p:nvSpPr>
        <p:spPr>
          <a:xfrm>
            <a:off x="4012442" y="3125337"/>
            <a:ext cx="1897039" cy="1315125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