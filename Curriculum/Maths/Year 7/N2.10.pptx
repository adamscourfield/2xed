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A28F30-DB6E-4CFE-B165-6801EEBAD467}">
  <a:tblStyle styleId="{09A28F30-DB6E-4CFE-B165-6801EEBAD46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33.png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9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35.png"/><Relationship Id="rId13" Type="http://schemas.openxmlformats.org/officeDocument/2006/relationships/image" Target="../media/image10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9.png"/><Relationship Id="rId15" Type="http://schemas.openxmlformats.org/officeDocument/2006/relationships/image" Target="../media/image15.png"/><Relationship Id="rId14" Type="http://schemas.openxmlformats.org/officeDocument/2006/relationships/image" Target="../media/image28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23.png"/><Relationship Id="rId13" Type="http://schemas.openxmlformats.org/officeDocument/2006/relationships/image" Target="../media/image39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openxmlformats.org/officeDocument/2006/relationships/image" Target="../media/image37.png"/><Relationship Id="rId14" Type="http://schemas.openxmlformats.org/officeDocument/2006/relationships/image" Target="../media/image40.png"/><Relationship Id="rId5" Type="http://schemas.openxmlformats.org/officeDocument/2006/relationships/image" Target="../media/image16.png"/><Relationship Id="rId6" Type="http://schemas.openxmlformats.org/officeDocument/2006/relationships/image" Target="../media/image38.png"/><Relationship Id="rId7" Type="http://schemas.openxmlformats.org/officeDocument/2006/relationships/image" Target="../media/image24.png"/><Relationship Id="rId8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36.png"/><Relationship Id="rId5" Type="http://schemas.openxmlformats.org/officeDocument/2006/relationships/image" Target="../media/image34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150338" y="53334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{09A28F30-DB6E-4CFE-B165-6801EEBAD467}</a:tableStyleId>
              </a:tblPr>
              <a:tblGrid>
                <a:gridCol w="960000"/>
                <a:gridCol w="1776825"/>
                <a:gridCol w="1917825"/>
                <a:gridCol w="1917825"/>
              </a:tblGrid>
              <a:tr h="25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Tick the regular polygon: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 the regular polygon: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 the regular polygon: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4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 Check whether all sides are equal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 Check whether all angles are equal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222891" y="507309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032569" y="504157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5314950" y="952885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N2.10 – Perimeter of Regular</a:t>
            </a:r>
            <a:r>
              <a:rPr lang="en-GB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Polygons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150338" y="7193809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cxnSp>
        <p:nvCxnSpPr>
          <p:cNvPr id="95" name="Google Shape;95;p13"/>
          <p:cNvCxnSpPr/>
          <p:nvPr/>
        </p:nvCxnSpPr>
        <p:spPr>
          <a:xfrm flipH="1" rot="10800000">
            <a:off x="866882" y="4709817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3"/>
          <p:cNvSpPr/>
          <p:nvPr/>
        </p:nvSpPr>
        <p:spPr>
          <a:xfrm>
            <a:off x="150338" y="2779222"/>
            <a:ext cx="6561082" cy="20198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13"/>
          <p:cNvCxnSpPr/>
          <p:nvPr/>
        </p:nvCxnSpPr>
        <p:spPr>
          <a:xfrm>
            <a:off x="163457" y="3725816"/>
            <a:ext cx="655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13"/>
          <p:cNvCxnSpPr>
            <a:stCxn id="96" idx="2"/>
            <a:endCxn id="96" idx="0"/>
          </p:cNvCxnSpPr>
          <p:nvPr/>
        </p:nvCxnSpPr>
        <p:spPr>
          <a:xfrm rot="10800000">
            <a:off x="3430879" y="2779210"/>
            <a:ext cx="0" cy="201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13"/>
          <p:cNvSpPr txBox="1"/>
          <p:nvPr/>
        </p:nvSpPr>
        <p:spPr>
          <a:xfrm>
            <a:off x="110752" y="2779028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5634514" y="2769476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127338" y="3699550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5598172" y="3729968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8476" y="2994312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polygon with all sides the same length and all angles equal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3470415" y="2755986"/>
            <a:ext cx="323033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we know the length of one side of a regular polygon, we can find the perimeter, which is the total distance around the outside.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3056873" y="504157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147289" y="4840293"/>
            <a:ext cx="2737423" cy="23377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 regular polygons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pe, polygon&#10;&#10;Description automatically generated" id="107" name="Google Shape;1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7370" y="5730979"/>
            <a:ext cx="1821543" cy="8077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, rectangle, square&#10;&#10;Description automatically generated" id="108" name="Google Shape;10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199" y="5733395"/>
            <a:ext cx="1415143" cy="1223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, polygon&#10;&#10;Description automatically generated" id="109" name="Google Shape;10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62284" y="5733646"/>
            <a:ext cx="1807029" cy="104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85801" y="7572326"/>
            <a:ext cx="664184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 the regular polygons</a:t>
            </a:r>
            <a:endParaRPr/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0224" y="7951978"/>
            <a:ext cx="2787530" cy="146273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/>
        </p:nvSpPr>
        <p:spPr>
          <a:xfrm>
            <a:off x="2472174" y="3547796"/>
            <a:ext cx="177927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Regular Polygons</a:t>
            </a:r>
            <a:endParaRPr/>
          </a:p>
        </p:txBody>
      </p:sp>
      <p:pic>
        <p:nvPicPr>
          <p:cNvPr id="113" name="Google Shape;11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675" y="3953973"/>
            <a:ext cx="959361" cy="800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71569" y="3804549"/>
            <a:ext cx="999614" cy="949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 rotWithShape="1">
          <a:blip r:embed="rId9">
            <a:alphaModFix/>
          </a:blip>
          <a:srcRect b="0" l="0" r="39072" t="0"/>
          <a:stretch/>
        </p:blipFill>
        <p:spPr>
          <a:xfrm>
            <a:off x="4587901" y="3775848"/>
            <a:ext cx="758006" cy="92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49152" y="4000732"/>
            <a:ext cx="1138397" cy="600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03059" y="3976549"/>
            <a:ext cx="1287674" cy="6378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3"/>
          <p:cNvSpPr/>
          <p:nvPr/>
        </p:nvSpPr>
        <p:spPr>
          <a:xfrm>
            <a:off x="141429" y="364088"/>
            <a:ext cx="6577247" cy="141300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85801" y="667035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127338" y="883567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recognise a regular polygon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find the perimeter of a regular polygon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find missing lengths in a regular polygon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180675" y="402226"/>
            <a:ext cx="5521060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problems involving the perimeter of regular polygons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5740981" y="395903"/>
            <a:ext cx="933500" cy="138499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Regular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Polygon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Length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" name="Google Shape;123;p13"/>
          <p:cNvGraphicFramePr/>
          <p:nvPr/>
        </p:nvGraphicFramePr>
        <p:xfrm>
          <a:off x="156535" y="76038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{09A28F30-DB6E-4CFE-B165-6801EEBAD467}</a:tableStyleId>
              </a:tblPr>
              <a:tblGrid>
                <a:gridCol w="3277450"/>
                <a:gridCol w="3277450"/>
              </a:tblGrid>
              <a:tr h="205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13"/>
          <p:cNvSpPr txBox="1"/>
          <p:nvPr/>
        </p:nvSpPr>
        <p:spPr>
          <a:xfrm>
            <a:off x="3491776" y="7475528"/>
            <a:ext cx="3257641" cy="1887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Fill in the gaps: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regular 4-sided shape is called a ____________. 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regular 3-sided shape is an</a:t>
            </a: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____________ triangle.</a:t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141430" y="1844442"/>
            <a:ext cx="6584913" cy="87714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regular polygon is different from an irregular one because all its sides and angles are equal. To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 the perimeter of a regular polygon, you can make the calculation quicker and efficient by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multiplying the length of one side by the total number of sides, since all sides are equal in length. 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 flipH="1" rot="8159811">
            <a:off x="1227201" y="5854045"/>
            <a:ext cx="735597" cy="388335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 flipH="1" rot="8159811">
            <a:off x="3068962" y="5928368"/>
            <a:ext cx="735597" cy="388335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/>
          <p:nvPr/>
        </p:nvSpPr>
        <p:spPr>
          <a:xfrm flipH="1" rot="8159811">
            <a:off x="5909638" y="6294599"/>
            <a:ext cx="735597" cy="388335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 flipH="1" rot="8159811">
            <a:off x="433535" y="8040589"/>
            <a:ext cx="735597" cy="388335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 flipH="1" rot="8159811">
            <a:off x="335392" y="9014714"/>
            <a:ext cx="735597" cy="388335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 flipH="1" rot="8159811">
            <a:off x="2654466" y="8106432"/>
            <a:ext cx="735597" cy="388335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 flipH="1" rot="8159811">
            <a:off x="2604000" y="9054068"/>
            <a:ext cx="735597" cy="388335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3542242" y="8234518"/>
            <a:ext cx="831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square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5391738" y="8609052"/>
            <a:ext cx="12152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equilateral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Google Shape;140;p14"/>
          <p:cNvGraphicFramePr/>
          <p:nvPr/>
        </p:nvGraphicFramePr>
        <p:xfrm>
          <a:off x="168963" y="84109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{09A28F30-DB6E-4CFE-B165-6801EEBAD467}</a:tableStyleId>
              </a:tblPr>
              <a:tblGrid>
                <a:gridCol w="6489750"/>
              </a:tblGrid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" name="Google Shape;141;p14"/>
          <p:cNvSpPr txBox="1"/>
          <p:nvPr/>
        </p:nvSpPr>
        <p:spPr>
          <a:xfrm>
            <a:off x="164101" y="3011414"/>
            <a:ext cx="6471649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							b)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							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							f)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							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							j)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a) A equilateral triangle has side length 2.8 m. What is its perimeter?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b) A regular pentagon has side length 7.38 cm. What is its perimeter?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>
            <p:ph idx="12" type="sldNum"/>
          </p:nvPr>
        </p:nvSpPr>
        <p:spPr>
          <a:xfrm>
            <a:off x="5167861" y="938173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43" name="Google Shape;143;p14"/>
          <p:cNvGraphicFramePr/>
          <p:nvPr/>
        </p:nvGraphicFramePr>
        <p:xfrm>
          <a:off x="164101" y="2795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{09A28F30-DB6E-4CFE-B165-6801EEBAD467}</a:tableStyleId>
              </a:tblPr>
              <a:tblGrid>
                <a:gridCol w="1011550"/>
                <a:gridCol w="1725275"/>
                <a:gridCol w="1917825"/>
                <a:gridCol w="1917825"/>
              </a:tblGrid>
              <a:tr h="39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perimeter of the regular shape below: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perimeter of the regular shape below: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perimeter of the regular shape below: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0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 Identify the number of sides the shape has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 Find the perimeter by adding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44" name="Google Shape;144;p14"/>
          <p:cNvSpPr txBox="1"/>
          <p:nvPr/>
        </p:nvSpPr>
        <p:spPr>
          <a:xfrm>
            <a:off x="1456418" y="57050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5067506" y="3572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3158445" y="3572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148175" y="2535022"/>
            <a:ext cx="1137954" cy="400292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1004" y="765553"/>
            <a:ext cx="1014412" cy="1135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7282" y="751439"/>
            <a:ext cx="1483629" cy="1004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3954" y="768014"/>
            <a:ext cx="1367043" cy="1025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70337" y="3089688"/>
            <a:ext cx="635000" cy="85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1069" y="4046259"/>
            <a:ext cx="853536" cy="99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4106" y="6206576"/>
            <a:ext cx="904995" cy="1101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0069" y="3075400"/>
            <a:ext cx="791989" cy="923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2255" y="5139441"/>
            <a:ext cx="1034163" cy="104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06677" y="6206539"/>
            <a:ext cx="894696" cy="1032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70337" y="5148945"/>
            <a:ext cx="894696" cy="99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25539" y="4134055"/>
            <a:ext cx="1194246" cy="81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71829" y="7307759"/>
            <a:ext cx="1067793" cy="797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734056" y="7300682"/>
            <a:ext cx="1067794" cy="83665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4"/>
          <p:cNvSpPr/>
          <p:nvPr/>
        </p:nvSpPr>
        <p:spPr>
          <a:xfrm>
            <a:off x="2320016" y="3645700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5594807" y="3645700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2351627" y="4727028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5626418" y="4727028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2320016" y="5782543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5594807" y="5782543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2320016" y="6836288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5594807" y="6836288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2332285" y="7906458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5607076" y="7906458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4744986" y="8495119"/>
            <a:ext cx="1872000" cy="347641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4751112" y="9036515"/>
            <a:ext cx="1872000" cy="347641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 txBox="1"/>
          <p:nvPr/>
        </p:nvSpPr>
        <p:spPr>
          <a:xfrm>
            <a:off x="1286129" y="2714875"/>
            <a:ext cx="51754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Each shape below is a </a:t>
            </a:r>
            <a:r>
              <a:rPr b="1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regular polygon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 the perimeter of each shape:</a:t>
            </a:r>
            <a:endParaRPr/>
          </a:p>
        </p:txBody>
      </p:sp>
      <p:graphicFrame>
        <p:nvGraphicFramePr>
          <p:cNvPr id="174" name="Google Shape;174;p14"/>
          <p:cNvGraphicFramePr/>
          <p:nvPr/>
        </p:nvGraphicFramePr>
        <p:xfrm>
          <a:off x="164101" y="29939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{09A28F30-DB6E-4CFE-B165-6801EEBAD467}</a:tableStyleId>
              </a:tblPr>
              <a:tblGrid>
                <a:gridCol w="3252750"/>
                <a:gridCol w="3252750"/>
              </a:tblGrid>
              <a:tr h="106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14"/>
          <p:cNvSpPr txBox="1"/>
          <p:nvPr/>
        </p:nvSpPr>
        <p:spPr>
          <a:xfrm>
            <a:off x="1700456" y="2037170"/>
            <a:ext cx="6511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9cm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3506115" y="2075679"/>
            <a:ext cx="7008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48cm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5388117" y="2001755"/>
            <a:ext cx="8977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77cm</a:t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2683674" y="3645700"/>
            <a:ext cx="695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24cm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5869105" y="4807221"/>
            <a:ext cx="9638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136cm</a:t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2645892" y="4670444"/>
            <a:ext cx="8535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85cm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2497242" y="5793178"/>
            <a:ext cx="1034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13.5cm</a:t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5941307" y="5870579"/>
            <a:ext cx="825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42cm</a:t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5984799" y="3712545"/>
            <a:ext cx="804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60cm</a:t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 flipH="1">
            <a:off x="2676835" y="6870486"/>
            <a:ext cx="7916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3.6m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5825508" y="6870486"/>
            <a:ext cx="9638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0.78cm</a:t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2498169" y="7947794"/>
            <a:ext cx="1034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24.8cm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5849513" y="7888275"/>
            <a:ext cx="9638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55.8cm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4801850" y="8493006"/>
            <a:ext cx="8945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8.4m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4786447" y="9048330"/>
            <a:ext cx="8945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36.9cm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/>
          <p:nvPr>
            <p:ph idx="12" type="sldNum"/>
          </p:nvPr>
        </p:nvSpPr>
        <p:spPr>
          <a:xfrm>
            <a:off x="5221821" y="946143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96" name="Google Shape;196;p15"/>
          <p:cNvGraphicFramePr/>
          <p:nvPr/>
        </p:nvGraphicFramePr>
        <p:xfrm>
          <a:off x="164101" y="3666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{09A28F30-DB6E-4CFE-B165-6801EEBAD467}</a:tableStyleId>
              </a:tblPr>
              <a:tblGrid>
                <a:gridCol w="1076875"/>
                <a:gridCol w="1659975"/>
                <a:gridCol w="1917825"/>
                <a:gridCol w="1917825"/>
              </a:tblGrid>
              <a:tr h="64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Given the perimeter of the shape below, find the side lengths.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Given the perimeter of the shape below, find the side lengths.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Given the perimeter of the shape below, find the side lengths.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 Count the number of sides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Perimeter = 12 cm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Perimeter = 160cm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Perimeter = 45 cm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4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 Work out the side length to give this perimeter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97" name="Google Shape;197;p15"/>
          <p:cNvSpPr txBox="1"/>
          <p:nvPr/>
        </p:nvSpPr>
        <p:spPr>
          <a:xfrm>
            <a:off x="1429295" y="14075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5050494" y="11402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3144883" y="11507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153322" y="2768792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pic>
        <p:nvPicPr>
          <p:cNvPr id="201" name="Google Shape;201;p15"/>
          <p:cNvPicPr preferRelativeResize="0"/>
          <p:nvPr/>
        </p:nvPicPr>
        <p:blipFill rotWithShape="1">
          <a:blip r:embed="rId3">
            <a:alphaModFix/>
          </a:blip>
          <a:srcRect b="21551" l="0" r="0" t="0"/>
          <a:stretch/>
        </p:blipFill>
        <p:spPr>
          <a:xfrm>
            <a:off x="1531069" y="1025673"/>
            <a:ext cx="1016762" cy="955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5"/>
          <p:cNvPicPr preferRelativeResize="0"/>
          <p:nvPr/>
        </p:nvPicPr>
        <p:blipFill rotWithShape="1">
          <a:blip r:embed="rId4">
            <a:alphaModFix/>
          </a:blip>
          <a:srcRect b="20772" l="0" r="0" t="0"/>
          <a:stretch/>
        </p:blipFill>
        <p:spPr>
          <a:xfrm>
            <a:off x="5206279" y="1025673"/>
            <a:ext cx="1018427" cy="1008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5"/>
          <p:cNvPicPr preferRelativeResize="0"/>
          <p:nvPr/>
        </p:nvPicPr>
        <p:blipFill rotWithShape="1">
          <a:blip r:embed="rId5">
            <a:alphaModFix/>
          </a:blip>
          <a:srcRect b="23328" l="0" r="0" t="0"/>
          <a:stretch/>
        </p:blipFill>
        <p:spPr>
          <a:xfrm>
            <a:off x="3277699" y="1037650"/>
            <a:ext cx="1198712" cy="11148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5"/>
          <p:cNvSpPr txBox="1"/>
          <p:nvPr/>
        </p:nvSpPr>
        <p:spPr>
          <a:xfrm>
            <a:off x="164101" y="3085717"/>
            <a:ext cx="6471649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Each shape below is a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regular polygon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the perimeter of each shape, find its side lengths.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			Perimeter = 20 cm		b)			Perimeter = 18 cm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			Perimeter = 500 cm		d)			Perimeter = 48 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			Perimeter = 20 m		f)			Perimeter = 240 cm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			Perimeter = 240 cm		h)			Perimeter = 240 cm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			Perimeter = 180 m		j)			Perimeter = 2.7 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5"/>
          <p:cNvPicPr preferRelativeResize="0"/>
          <p:nvPr/>
        </p:nvPicPr>
        <p:blipFill rotWithShape="1">
          <a:blip r:embed="rId6">
            <a:alphaModFix/>
          </a:blip>
          <a:srcRect b="25342" l="9182" r="10341" t="0"/>
          <a:stretch/>
        </p:blipFill>
        <p:spPr>
          <a:xfrm>
            <a:off x="420914" y="3627024"/>
            <a:ext cx="1008381" cy="770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5"/>
          <p:cNvPicPr preferRelativeResize="0"/>
          <p:nvPr/>
        </p:nvPicPr>
        <p:blipFill rotWithShape="1">
          <a:blip r:embed="rId7">
            <a:alphaModFix/>
          </a:blip>
          <a:srcRect b="19197" l="9441" r="19308" t="0"/>
          <a:stretch/>
        </p:blipFill>
        <p:spPr>
          <a:xfrm>
            <a:off x="3877055" y="3688096"/>
            <a:ext cx="959187" cy="869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5"/>
          <p:cNvPicPr preferRelativeResize="0"/>
          <p:nvPr/>
        </p:nvPicPr>
        <p:blipFill rotWithShape="1">
          <a:blip r:embed="rId8">
            <a:alphaModFix/>
          </a:blip>
          <a:srcRect b="18318" l="0" r="0" t="0"/>
          <a:stretch/>
        </p:blipFill>
        <p:spPr>
          <a:xfrm>
            <a:off x="447827" y="6106773"/>
            <a:ext cx="1149045" cy="96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5"/>
          <p:cNvPicPr preferRelativeResize="0"/>
          <p:nvPr/>
        </p:nvPicPr>
        <p:blipFill rotWithShape="1">
          <a:blip r:embed="rId9">
            <a:alphaModFix/>
          </a:blip>
          <a:srcRect b="23669" l="13695" r="24348" t="0"/>
          <a:stretch/>
        </p:blipFill>
        <p:spPr>
          <a:xfrm>
            <a:off x="544234" y="7299103"/>
            <a:ext cx="986835" cy="737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5"/>
          <p:cNvPicPr preferRelativeResize="0"/>
          <p:nvPr/>
        </p:nvPicPr>
        <p:blipFill rotWithShape="1">
          <a:blip r:embed="rId10">
            <a:alphaModFix/>
          </a:blip>
          <a:srcRect b="23303" l="22032" r="18917" t="0"/>
          <a:stretch/>
        </p:blipFill>
        <p:spPr>
          <a:xfrm>
            <a:off x="3779457" y="6187484"/>
            <a:ext cx="940551" cy="817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5"/>
          <p:cNvPicPr preferRelativeResize="0"/>
          <p:nvPr/>
        </p:nvPicPr>
        <p:blipFill rotWithShape="1">
          <a:blip r:embed="rId11">
            <a:alphaModFix/>
          </a:blip>
          <a:srcRect b="18788" l="12409" r="12940" t="0"/>
          <a:stretch/>
        </p:blipFill>
        <p:spPr>
          <a:xfrm>
            <a:off x="636248" y="4976008"/>
            <a:ext cx="1001251" cy="824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5"/>
          <p:cNvPicPr preferRelativeResize="0"/>
          <p:nvPr/>
        </p:nvPicPr>
        <p:blipFill rotWithShape="1">
          <a:blip r:embed="rId12">
            <a:alphaModFix/>
          </a:blip>
          <a:srcRect b="20470" l="25565" r="17077" t="0"/>
          <a:stretch/>
        </p:blipFill>
        <p:spPr>
          <a:xfrm>
            <a:off x="3799863" y="4993085"/>
            <a:ext cx="900668" cy="807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5"/>
          <p:cNvPicPr preferRelativeResize="0"/>
          <p:nvPr/>
        </p:nvPicPr>
        <p:blipFill rotWithShape="1">
          <a:blip r:embed="rId13">
            <a:alphaModFix/>
          </a:blip>
          <a:srcRect b="23669" l="8595" r="19331" t="0"/>
          <a:stretch/>
        </p:blipFill>
        <p:spPr>
          <a:xfrm>
            <a:off x="3627248" y="8686308"/>
            <a:ext cx="1008381" cy="737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5"/>
          <p:cNvPicPr preferRelativeResize="0"/>
          <p:nvPr/>
        </p:nvPicPr>
        <p:blipFill rotWithShape="1">
          <a:blip r:embed="rId14">
            <a:alphaModFix/>
          </a:blip>
          <a:srcRect b="24940" l="21149" r="11340" t="0"/>
          <a:stretch/>
        </p:blipFill>
        <p:spPr>
          <a:xfrm>
            <a:off x="598934" y="8626068"/>
            <a:ext cx="863359" cy="737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5"/>
          <p:cNvPicPr preferRelativeResize="0"/>
          <p:nvPr/>
        </p:nvPicPr>
        <p:blipFill rotWithShape="1">
          <a:blip r:embed="rId5">
            <a:alphaModFix/>
          </a:blip>
          <a:srcRect b="23328" l="0" r="0" t="0"/>
          <a:stretch/>
        </p:blipFill>
        <p:spPr>
          <a:xfrm>
            <a:off x="3694175" y="7266412"/>
            <a:ext cx="986835" cy="91781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5" name="Google Shape;215;p15"/>
          <p:cNvGraphicFramePr/>
          <p:nvPr/>
        </p:nvGraphicFramePr>
        <p:xfrm>
          <a:off x="153322" y="35681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{09A28F30-DB6E-4CFE-B165-6801EEBAD467}</a:tableStyleId>
              </a:tblPr>
              <a:tblGrid>
                <a:gridCol w="3272850"/>
                <a:gridCol w="3272850"/>
              </a:tblGrid>
              <a:tr h="12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15"/>
          <p:cNvSpPr/>
          <p:nvPr/>
        </p:nvSpPr>
        <p:spPr>
          <a:xfrm>
            <a:off x="5603505" y="4342283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2358022" y="5555847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5608608" y="5568859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2351751" y="6798103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5602337" y="6762989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/>
          <p:nvPr/>
        </p:nvSpPr>
        <p:spPr>
          <a:xfrm>
            <a:off x="2367054" y="8007448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5617640" y="8020460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2334843" y="9185215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5585429" y="9198227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 txBox="1"/>
          <p:nvPr/>
        </p:nvSpPr>
        <p:spPr>
          <a:xfrm>
            <a:off x="1718731" y="2370496"/>
            <a:ext cx="7370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/>
          </a:p>
        </p:txBody>
      </p:sp>
      <p:sp>
        <p:nvSpPr>
          <p:cNvPr id="226" name="Google Shape;226;p15"/>
          <p:cNvSpPr txBox="1"/>
          <p:nvPr/>
        </p:nvSpPr>
        <p:spPr>
          <a:xfrm>
            <a:off x="3482498" y="2349481"/>
            <a:ext cx="10383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20cm</a:t>
            </a:r>
            <a:endParaRPr/>
          </a:p>
        </p:txBody>
      </p:sp>
      <p:sp>
        <p:nvSpPr>
          <p:cNvPr id="227" name="Google Shape;227;p15"/>
          <p:cNvSpPr txBox="1"/>
          <p:nvPr/>
        </p:nvSpPr>
        <p:spPr>
          <a:xfrm>
            <a:off x="5357509" y="2323361"/>
            <a:ext cx="8671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9cm</a:t>
            </a:r>
            <a:endParaRPr/>
          </a:p>
        </p:txBody>
      </p:sp>
      <p:sp>
        <p:nvSpPr>
          <p:cNvPr id="228" name="Google Shape;228;p15"/>
          <p:cNvSpPr txBox="1"/>
          <p:nvPr/>
        </p:nvSpPr>
        <p:spPr>
          <a:xfrm>
            <a:off x="2541690" y="4364792"/>
            <a:ext cx="9591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/>
          </a:p>
        </p:txBody>
      </p:sp>
      <p:sp>
        <p:nvSpPr>
          <p:cNvPr id="229" name="Google Shape;229;p15"/>
          <p:cNvSpPr txBox="1"/>
          <p:nvPr/>
        </p:nvSpPr>
        <p:spPr>
          <a:xfrm>
            <a:off x="5918803" y="4358005"/>
            <a:ext cx="8053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/>
          </a:p>
        </p:txBody>
      </p:sp>
      <p:sp>
        <p:nvSpPr>
          <p:cNvPr id="230" name="Google Shape;230;p15"/>
          <p:cNvSpPr txBox="1"/>
          <p:nvPr/>
        </p:nvSpPr>
        <p:spPr>
          <a:xfrm flipH="1">
            <a:off x="2508606" y="5613123"/>
            <a:ext cx="961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100cm</a:t>
            </a:r>
            <a:endParaRPr/>
          </a:p>
        </p:txBody>
      </p:sp>
      <p:sp>
        <p:nvSpPr>
          <p:cNvPr id="231" name="Google Shape;231;p15"/>
          <p:cNvSpPr txBox="1"/>
          <p:nvPr/>
        </p:nvSpPr>
        <p:spPr>
          <a:xfrm flipH="1">
            <a:off x="5619217" y="9148777"/>
            <a:ext cx="961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0.27m</a:t>
            </a:r>
            <a:endParaRPr/>
          </a:p>
        </p:txBody>
      </p:sp>
      <p:sp>
        <p:nvSpPr>
          <p:cNvPr id="232" name="Google Shape;232;p15"/>
          <p:cNvSpPr txBox="1"/>
          <p:nvPr/>
        </p:nvSpPr>
        <p:spPr>
          <a:xfrm flipH="1">
            <a:off x="2413644" y="9167651"/>
            <a:ext cx="961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30m</a:t>
            </a:r>
            <a:endParaRPr/>
          </a:p>
        </p:txBody>
      </p:sp>
      <p:sp>
        <p:nvSpPr>
          <p:cNvPr id="233" name="Google Shape;233;p15"/>
          <p:cNvSpPr txBox="1"/>
          <p:nvPr/>
        </p:nvSpPr>
        <p:spPr>
          <a:xfrm flipH="1">
            <a:off x="5697495" y="7966785"/>
            <a:ext cx="961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30cm</a:t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 flipH="1">
            <a:off x="2467046" y="7978507"/>
            <a:ext cx="961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80cm</a:t>
            </a:r>
            <a:endParaRPr/>
          </a:p>
        </p:txBody>
      </p:sp>
      <p:sp>
        <p:nvSpPr>
          <p:cNvPr id="235" name="Google Shape;235;p15"/>
          <p:cNvSpPr txBox="1"/>
          <p:nvPr/>
        </p:nvSpPr>
        <p:spPr>
          <a:xfrm flipH="1">
            <a:off x="2504404" y="6822862"/>
            <a:ext cx="961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4m</a:t>
            </a:r>
            <a:endParaRPr/>
          </a:p>
        </p:txBody>
      </p:sp>
      <p:sp>
        <p:nvSpPr>
          <p:cNvPr id="236" name="Google Shape;236;p15"/>
          <p:cNvSpPr txBox="1"/>
          <p:nvPr/>
        </p:nvSpPr>
        <p:spPr>
          <a:xfrm flipH="1">
            <a:off x="5794561" y="6789003"/>
            <a:ext cx="961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60cm</a:t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 flipH="1">
            <a:off x="5814968" y="5589727"/>
            <a:ext cx="961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8m</a:t>
            </a: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2355798" y="4319503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/>
          <p:nvPr/>
        </p:nvSpPr>
        <p:spPr>
          <a:xfrm>
            <a:off x="159067" y="4814236"/>
            <a:ext cx="6539864" cy="10113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 txBox="1"/>
          <p:nvPr>
            <p:ph idx="12" type="sldNum"/>
          </p:nvPr>
        </p:nvSpPr>
        <p:spPr>
          <a:xfrm>
            <a:off x="5133333" y="948527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45" name="Google Shape;245;p16"/>
          <p:cNvGraphicFramePr/>
          <p:nvPr/>
        </p:nvGraphicFramePr>
        <p:xfrm>
          <a:off x="302510" y="1956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{09A28F30-DB6E-4CFE-B165-6801EEBAD467}</a:tableStyleId>
              </a:tblPr>
              <a:tblGrid>
                <a:gridCol w="6344425"/>
              </a:tblGrid>
              <a:tr h="112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 a) An equilateral triangle has perimeter 12 m. Find the side length of one of its sides.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3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A square has perimeter 48 cm. Find the side length of one of its sides in cm.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eriod" startAt="7"/>
                      </a:pPr>
                      <a:r>
                        <a:rPr lang="en-GB" sz="1200"/>
                        <a:t>Shown is an equilateral triangle with side length of 8cm. Six of the triangles are put together to make a larger shape. Find the perimeter of the larger shape. 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46" name="Google Shape;246;p16"/>
          <p:cNvPicPr preferRelativeResize="0"/>
          <p:nvPr/>
        </p:nvPicPr>
        <p:blipFill rotWithShape="1">
          <a:blip r:embed="rId3">
            <a:alphaModFix/>
          </a:blip>
          <a:srcRect b="0" l="22331" r="10300" t="35808"/>
          <a:stretch/>
        </p:blipFill>
        <p:spPr>
          <a:xfrm>
            <a:off x="445518" y="3254271"/>
            <a:ext cx="3305874" cy="138751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6"/>
          <p:cNvSpPr/>
          <p:nvPr/>
        </p:nvSpPr>
        <p:spPr>
          <a:xfrm>
            <a:off x="5477624" y="5100197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725814" y="9348099"/>
            <a:ext cx="1975236" cy="2151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 txBox="1"/>
          <p:nvPr/>
        </p:nvSpPr>
        <p:spPr>
          <a:xfrm>
            <a:off x="181617" y="4963802"/>
            <a:ext cx="65520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181617" y="5287095"/>
            <a:ext cx="6543302" cy="427617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							 2.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                                            				  4.</a:t>
            </a:r>
            <a:endParaRPr/>
          </a:p>
        </p:txBody>
      </p:sp>
      <p:pic>
        <p:nvPicPr>
          <p:cNvPr id="251" name="Google Shape;251;p16"/>
          <p:cNvPicPr preferRelativeResize="0"/>
          <p:nvPr/>
        </p:nvPicPr>
        <p:blipFill rotWithShape="1">
          <a:blip r:embed="rId4">
            <a:alphaModFix/>
          </a:blip>
          <a:srcRect b="0" l="0" r="0" t="12924"/>
          <a:stretch/>
        </p:blipFill>
        <p:spPr>
          <a:xfrm>
            <a:off x="211020" y="5501278"/>
            <a:ext cx="3168000" cy="1910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1471" y="5423007"/>
            <a:ext cx="3015445" cy="1948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8916" y="7701739"/>
            <a:ext cx="3168000" cy="143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7960" y="7701739"/>
            <a:ext cx="3168000" cy="13961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Google Shape;255;p16"/>
          <p:cNvCxnSpPr>
            <a:stCxn id="250" idx="0"/>
            <a:endCxn id="250" idx="2"/>
          </p:cNvCxnSpPr>
          <p:nvPr/>
        </p:nvCxnSpPr>
        <p:spPr>
          <a:xfrm>
            <a:off x="3453268" y="5287095"/>
            <a:ext cx="0" cy="42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6" name="Google Shape;256;p16"/>
          <p:cNvCxnSpPr/>
          <p:nvPr/>
        </p:nvCxnSpPr>
        <p:spPr>
          <a:xfrm>
            <a:off x="181616" y="7522525"/>
            <a:ext cx="654330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7" name="Google Shape;257;p16"/>
          <p:cNvSpPr txBox="1"/>
          <p:nvPr/>
        </p:nvSpPr>
        <p:spPr>
          <a:xfrm flipH="1">
            <a:off x="5591718" y="4299456"/>
            <a:ext cx="961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48cm</a:t>
            </a:r>
            <a:endParaRPr/>
          </a:p>
        </p:txBody>
      </p:sp>
      <p:sp>
        <p:nvSpPr>
          <p:cNvPr id="258" name="Google Shape;258;p16"/>
          <p:cNvSpPr/>
          <p:nvPr/>
        </p:nvSpPr>
        <p:spPr>
          <a:xfrm>
            <a:off x="5477624" y="4279588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 txBox="1"/>
          <p:nvPr/>
        </p:nvSpPr>
        <p:spPr>
          <a:xfrm flipH="1">
            <a:off x="5550422" y="2062343"/>
            <a:ext cx="961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12cm</a:t>
            </a:r>
            <a:endParaRPr/>
          </a:p>
        </p:txBody>
      </p:sp>
      <p:sp>
        <p:nvSpPr>
          <p:cNvPr id="260" name="Google Shape;260;p16"/>
          <p:cNvSpPr txBox="1"/>
          <p:nvPr/>
        </p:nvSpPr>
        <p:spPr>
          <a:xfrm flipH="1">
            <a:off x="5518920" y="758788"/>
            <a:ext cx="14517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4m</a:t>
            </a:r>
            <a:endParaRPr/>
          </a:p>
        </p:txBody>
      </p:sp>
      <p:sp>
        <p:nvSpPr>
          <p:cNvPr id="261" name="Google Shape;261;p16"/>
          <p:cNvSpPr/>
          <p:nvPr/>
        </p:nvSpPr>
        <p:spPr>
          <a:xfrm>
            <a:off x="5518920" y="2079499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5518920" y="784798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232152" y="6738967"/>
            <a:ext cx="602118" cy="6910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2818643" y="8428965"/>
            <a:ext cx="602118" cy="6910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4448349" y="6637788"/>
            <a:ext cx="602118" cy="6910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5377131" y="8474532"/>
            <a:ext cx="602118" cy="6910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