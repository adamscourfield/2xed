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BFD414-1974-4CA5-93A0-840474655E9A}">
  <a:tblStyle styleId="{4FBFD414-1974-4CA5-93A0-840474655E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6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3.png"/><Relationship Id="rId13" Type="http://schemas.openxmlformats.org/officeDocument/2006/relationships/image" Target="../media/image8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7.png"/><Relationship Id="rId13" Type="http://schemas.openxmlformats.org/officeDocument/2006/relationships/image" Target="../media/image21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5.png"/><Relationship Id="rId15" Type="http://schemas.openxmlformats.org/officeDocument/2006/relationships/image" Target="../media/image22.png"/><Relationship Id="rId14" Type="http://schemas.openxmlformats.org/officeDocument/2006/relationships/image" Target="../media/image26.png"/><Relationship Id="rId16" Type="http://schemas.openxmlformats.org/officeDocument/2006/relationships/image" Target="../media/image23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0.png"/><Relationship Id="rId13" Type="http://schemas.openxmlformats.org/officeDocument/2006/relationships/image" Target="../media/image39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Relationship Id="rId15" Type="http://schemas.openxmlformats.org/officeDocument/2006/relationships/image" Target="../media/image37.png"/><Relationship Id="rId14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Relationship Id="rId8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62565" y="949310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108" y="320544"/>
            <a:ext cx="6679742" cy="1368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N1.11 – Position Decimals on a Number Line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0597" y="650142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69113" y="899753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position decimals on a number line.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work out intervals on a number line for decimals.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complete number lines with decimal intervals.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04767" y="342587"/>
            <a:ext cx="6462327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position decimals on a number line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664255" y="650913"/>
            <a:ext cx="1002839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894483" y="419329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88189" y="2566362"/>
            <a:ext cx="6681624" cy="198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>
            <a:stCxn id="97" idx="2"/>
            <a:endCxn id="97" idx="0"/>
          </p:cNvCxnSpPr>
          <p:nvPr/>
        </p:nvCxnSpPr>
        <p:spPr>
          <a:xfrm rot="10800000">
            <a:off x="3429001" y="2566362"/>
            <a:ext cx="0" cy="198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81228" y="254148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731486" y="254066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33936" y="3407451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672579" y="3420939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81228" y="2741802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decimal is a number that is not whole, as it lies between whole numbers.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3411196" y="2740217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whole and fraction parts are separated by a point called the decimal point.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terminating or recurring.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387524" y="3673330"/>
            <a:ext cx="3230335" cy="85696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3464929" y="4100310"/>
            <a:ext cx="337519" cy="33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" name="Google Shape;107;p13"/>
          <p:cNvSpPr txBox="1"/>
          <p:nvPr/>
        </p:nvSpPr>
        <p:spPr>
          <a:xfrm>
            <a:off x="4787564" y="3482438"/>
            <a:ext cx="842456" cy="6700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90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149918" y="3824786"/>
            <a:ext cx="842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5400349" y="3532368"/>
            <a:ext cx="842456" cy="6232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120597" y="3592494"/>
            <a:ext cx="3195392" cy="9874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1145" t="-6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560411" y="3942280"/>
            <a:ext cx="3230335" cy="82330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87081" y="1724441"/>
            <a:ext cx="6679742" cy="8012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will now build on your knowledge of integers on number lines, exploring where numbers with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parts less than one sit in relation to whole numbers and each other. This will develop your ability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estimate exact positions between marked values and sets up rounding decimals in the next section.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8296" y="8339361"/>
            <a:ext cx="2318885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48575" y="6977507"/>
            <a:ext cx="2393617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/>
          <p:nvPr/>
        </p:nvSpPr>
        <p:spPr>
          <a:xfrm>
            <a:off x="71796" y="4595946"/>
            <a:ext cx="3768978" cy="2810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Completing number lines and calculating midpoints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3"/>
          <p:cNvGraphicFramePr/>
          <p:nvPr/>
        </p:nvGraphicFramePr>
        <p:xfrm>
          <a:off x="90543" y="4908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{4FBFD414-1974-4CA5-93A0-840474655E9A}</a:tableStyleId>
              </a:tblPr>
              <a:tblGrid>
                <a:gridCol w="1772600"/>
                <a:gridCol w="2450075"/>
                <a:gridCol w="2450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Look at the increments that the scale is increasing by. Use this to complete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To find the midpoint, add the two numbers together and divide by two.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Fill in the missing values on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The arrow indicates the midpoint of two values. Calculate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Fill in the missing values on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The arrow indicates the midpoint of two values. Calculate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Fill in the missing values on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The arrow indicates the midpoint of two values. Calculate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49722" y="8346982"/>
            <a:ext cx="2413559" cy="39031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6162564" y="8362249"/>
            <a:ext cx="283856" cy="14054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3"/>
          <p:cNvGrpSpPr/>
          <p:nvPr/>
        </p:nvGrpSpPr>
        <p:grpSpPr>
          <a:xfrm>
            <a:off x="1893086" y="5578869"/>
            <a:ext cx="4816477" cy="455540"/>
            <a:chOff x="-5307018" y="5207027"/>
            <a:chExt cx="4816477" cy="455540"/>
          </a:xfrm>
        </p:grpSpPr>
        <p:pic>
          <p:nvPicPr>
            <p:cNvPr id="120" name="Google Shape;120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-5307018" y="5258963"/>
              <a:ext cx="2405949" cy="403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-2811036" y="5280735"/>
              <a:ext cx="2320495" cy="30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3"/>
            <p:cNvSpPr/>
            <p:nvPr/>
          </p:nvSpPr>
          <p:spPr>
            <a:xfrm>
              <a:off x="-3995057" y="5308442"/>
              <a:ext cx="283856" cy="14054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-1697754" y="5304262"/>
              <a:ext cx="283856" cy="14054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-4095976" y="5207027"/>
              <a:ext cx="8734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0.3</a:t>
              </a:r>
              <a:endParaRPr/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-1783592" y="5212387"/>
              <a:ext cx="8734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10.15</a:t>
              </a:r>
              <a:endParaRPr/>
            </a:p>
          </p:txBody>
        </p:sp>
      </p:grpSp>
      <p:sp>
        <p:nvSpPr>
          <p:cNvPr id="126" name="Google Shape;126;p13"/>
          <p:cNvSpPr txBox="1"/>
          <p:nvPr/>
        </p:nvSpPr>
        <p:spPr>
          <a:xfrm>
            <a:off x="6061303" y="8317589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5.0</a:t>
            </a:r>
            <a:endParaRPr/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13">
            <a:alphaModFix/>
          </a:blip>
          <a:srcRect b="55597" l="0" r="0" t="27303"/>
          <a:stretch/>
        </p:blipFill>
        <p:spPr>
          <a:xfrm>
            <a:off x="1956396" y="6965314"/>
            <a:ext cx="2300785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3567567" y="7028608"/>
            <a:ext cx="299541" cy="12694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3488903" y="6928397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7.8</a:t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2750270" y="8362186"/>
            <a:ext cx="219379" cy="1799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2647521" y="8286841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7.2</a:t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4874796" y="7013245"/>
            <a:ext cx="269353" cy="14230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707248" y="6906624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20.05</a:t>
            </a:r>
            <a:endParaRPr/>
          </a:p>
        </p:txBody>
      </p:sp>
      <p:cxnSp>
        <p:nvCxnSpPr>
          <p:cNvPr id="134" name="Google Shape;134;p13"/>
          <p:cNvCxnSpPr/>
          <p:nvPr/>
        </p:nvCxnSpPr>
        <p:spPr>
          <a:xfrm>
            <a:off x="88188" y="3449847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2821274" y="3331651"/>
            <a:ext cx="117288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3"/>
          <p:cNvCxnSpPr/>
          <p:nvPr/>
        </p:nvCxnSpPr>
        <p:spPr>
          <a:xfrm rot="10800000">
            <a:off x="2641220" y="5919304"/>
            <a:ext cx="0" cy="32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7" name="Google Shape;137;p13"/>
          <p:cNvCxnSpPr/>
          <p:nvPr/>
        </p:nvCxnSpPr>
        <p:spPr>
          <a:xfrm rot="10800000">
            <a:off x="5090506" y="5875760"/>
            <a:ext cx="0" cy="32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8" name="Google Shape;138;p13"/>
          <p:cNvCxnSpPr/>
          <p:nvPr/>
        </p:nvCxnSpPr>
        <p:spPr>
          <a:xfrm rot="10800000">
            <a:off x="3056576" y="7236174"/>
            <a:ext cx="0" cy="32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9" name="Google Shape;139;p13"/>
          <p:cNvCxnSpPr/>
          <p:nvPr/>
        </p:nvCxnSpPr>
        <p:spPr>
          <a:xfrm rot="10800000">
            <a:off x="5749541" y="7236174"/>
            <a:ext cx="0" cy="32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0" name="Google Shape;140;p13"/>
          <p:cNvCxnSpPr/>
          <p:nvPr/>
        </p:nvCxnSpPr>
        <p:spPr>
          <a:xfrm rot="10800000">
            <a:off x="3488903" y="8625366"/>
            <a:ext cx="0" cy="32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" name="Google Shape;141;p13"/>
          <p:cNvCxnSpPr/>
          <p:nvPr/>
        </p:nvCxnSpPr>
        <p:spPr>
          <a:xfrm rot="10800000">
            <a:off x="4972462" y="8625366"/>
            <a:ext cx="0" cy="324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" name="Google Shape;142;p13"/>
          <p:cNvSpPr txBox="1"/>
          <p:nvPr/>
        </p:nvSpPr>
        <p:spPr>
          <a:xfrm>
            <a:off x="2376217" y="6176068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0.15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2821274" y="7503981"/>
            <a:ext cx="476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7.5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3192187" y="8943061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7.35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4729030" y="6131120"/>
            <a:ext cx="8274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10.075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5360941" y="7530746"/>
            <a:ext cx="8274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20.125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4741080" y="8887036"/>
            <a:ext cx="476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2" type="sldNum"/>
          </p:nvPr>
        </p:nvSpPr>
        <p:spPr>
          <a:xfrm>
            <a:off x="5243485" y="939077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108654" y="133663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55" name="Google Shape;155;p14"/>
          <p:cNvPicPr preferRelativeResize="0"/>
          <p:nvPr/>
        </p:nvPicPr>
        <p:blipFill rotWithShape="1">
          <a:blip r:embed="rId3">
            <a:alphaModFix/>
          </a:blip>
          <a:srcRect b="53138" l="0" r="0" t="25806"/>
          <a:stretch/>
        </p:blipFill>
        <p:spPr>
          <a:xfrm>
            <a:off x="3849424" y="3954764"/>
            <a:ext cx="2651444" cy="49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4">
            <a:alphaModFix/>
          </a:blip>
          <a:srcRect b="55597" l="0" r="0" t="26306"/>
          <a:stretch/>
        </p:blipFill>
        <p:spPr>
          <a:xfrm>
            <a:off x="504972" y="4008153"/>
            <a:ext cx="2589879" cy="42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507" y="5144402"/>
            <a:ext cx="2834692" cy="442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3899" y="5103963"/>
            <a:ext cx="2746349" cy="428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14"/>
          <p:cNvCxnSpPr/>
          <p:nvPr/>
        </p:nvCxnSpPr>
        <p:spPr>
          <a:xfrm>
            <a:off x="2070261" y="5144402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60" name="Google Shape;16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7034" y="683560"/>
            <a:ext cx="2329866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91" y="1761289"/>
            <a:ext cx="234967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63147" y="2884295"/>
            <a:ext cx="242399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98259" y="6249166"/>
            <a:ext cx="2467115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51102" y="679758"/>
            <a:ext cx="2340131" cy="4036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4"/>
          <p:cNvGraphicFramePr/>
          <p:nvPr/>
        </p:nvGraphicFramePr>
        <p:xfrm>
          <a:off x="125077" y="595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{4FBFD414-1974-4CA5-93A0-840474655E9A}</a:tableStyleId>
              </a:tblPr>
              <a:tblGrid>
                <a:gridCol w="3293875"/>
                <a:gridCol w="3293875"/>
              </a:tblGrid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4"/>
          <p:cNvSpPr txBox="1"/>
          <p:nvPr/>
        </p:nvSpPr>
        <p:spPr>
          <a:xfrm>
            <a:off x="1246608" y="134305"/>
            <a:ext cx="53526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Fill in the missing values on the number line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calculate the </a:t>
            </a:r>
            <a:r>
              <a:rPr b="1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two values either side of the arrow.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957942" y="647100"/>
            <a:ext cx="266894" cy="2284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2271877" y="1761016"/>
            <a:ext cx="266894" cy="2284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5636645" y="6188085"/>
            <a:ext cx="266894" cy="2284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312355" y="651171"/>
            <a:ext cx="266894" cy="2284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773235" y="2844140"/>
            <a:ext cx="266894" cy="2284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868510" y="632430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257156" y="631517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1.4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2150791" y="1715252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5682262" y="2835896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5513689" y="6172678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30.2</a:t>
            </a:r>
            <a:endParaRPr/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81903" l="0" r="0" t="0"/>
          <a:stretch/>
        </p:blipFill>
        <p:spPr>
          <a:xfrm>
            <a:off x="3767783" y="1741211"/>
            <a:ext cx="2651444" cy="4288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/>
          <p:nvPr/>
        </p:nvSpPr>
        <p:spPr>
          <a:xfrm>
            <a:off x="5682262" y="1761016"/>
            <a:ext cx="357867" cy="144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5660489" y="1681051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 b="85188" l="0" r="0" t="0"/>
          <a:stretch/>
        </p:blipFill>
        <p:spPr>
          <a:xfrm>
            <a:off x="393110" y="2870995"/>
            <a:ext cx="2852186" cy="38656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/>
          <p:nvPr/>
        </p:nvSpPr>
        <p:spPr>
          <a:xfrm>
            <a:off x="1137749" y="2881881"/>
            <a:ext cx="190307" cy="17550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979207" y="2818014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</a:t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5077624" y="4069620"/>
            <a:ext cx="191188" cy="144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4932872" y="3974029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2405324" y="4008153"/>
            <a:ext cx="133447" cy="2054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2238922" y="4029925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7.8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979207" y="5144402"/>
            <a:ext cx="348845" cy="2113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3767783" y="5103963"/>
            <a:ext cx="195364" cy="2191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3763664" y="5059650"/>
            <a:ext cx="6592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190" name="Google Shape;19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0759" y="6274526"/>
            <a:ext cx="2852186" cy="29674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/>
          <p:nvPr/>
        </p:nvSpPr>
        <p:spPr>
          <a:xfrm>
            <a:off x="2405324" y="6279360"/>
            <a:ext cx="458033" cy="13895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2369001" y="6203704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1.28</a:t>
            </a:r>
            <a:endParaRPr/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4972" y="7444128"/>
            <a:ext cx="2747973" cy="40963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4"/>
          <p:cNvSpPr/>
          <p:nvPr/>
        </p:nvSpPr>
        <p:spPr>
          <a:xfrm>
            <a:off x="1328052" y="7648946"/>
            <a:ext cx="323109" cy="11671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1232735" y="7549975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3.22</a:t>
            </a:r>
            <a:endParaRPr/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75240" y="7385025"/>
            <a:ext cx="2995956" cy="49316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/>
          <p:nvPr/>
        </p:nvSpPr>
        <p:spPr>
          <a:xfrm>
            <a:off x="4503420" y="7631606"/>
            <a:ext cx="429452" cy="2069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4506199" y="7574460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3.3</a:t>
            </a:r>
            <a:endParaRPr/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501962" y="8593480"/>
            <a:ext cx="3143487" cy="34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4"/>
          <p:cNvSpPr/>
          <p:nvPr/>
        </p:nvSpPr>
        <p:spPr>
          <a:xfrm>
            <a:off x="4663440" y="8768355"/>
            <a:ext cx="480060" cy="10957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4602068" y="8669251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1.275</a:t>
            </a:r>
            <a:endParaRPr/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84680" y="8555536"/>
            <a:ext cx="2971638" cy="37605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/>
          <p:nvPr/>
        </p:nvSpPr>
        <p:spPr>
          <a:xfrm>
            <a:off x="2271877" y="8743562"/>
            <a:ext cx="395123" cy="2001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2197611" y="8687469"/>
            <a:ext cx="873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1.95</a:t>
            </a:r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1719994" y="674396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6" name="Google Shape;206;p14"/>
          <p:cNvCxnSpPr/>
          <p:nvPr/>
        </p:nvCxnSpPr>
        <p:spPr>
          <a:xfrm>
            <a:off x="4571588" y="656766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7" name="Google Shape;207;p14"/>
          <p:cNvCxnSpPr/>
          <p:nvPr/>
        </p:nvCxnSpPr>
        <p:spPr>
          <a:xfrm>
            <a:off x="2106192" y="1752235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8" name="Google Shape;208;p14"/>
          <p:cNvCxnSpPr/>
          <p:nvPr/>
        </p:nvCxnSpPr>
        <p:spPr>
          <a:xfrm>
            <a:off x="5243485" y="1737011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9" name="Google Shape;209;p14"/>
          <p:cNvCxnSpPr/>
          <p:nvPr/>
        </p:nvCxnSpPr>
        <p:spPr>
          <a:xfrm>
            <a:off x="2136476" y="2870995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0" name="Google Shape;210;p14"/>
          <p:cNvCxnSpPr/>
          <p:nvPr/>
        </p:nvCxnSpPr>
        <p:spPr>
          <a:xfrm>
            <a:off x="4216736" y="2857522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14"/>
          <p:cNvCxnSpPr/>
          <p:nvPr/>
        </p:nvCxnSpPr>
        <p:spPr>
          <a:xfrm>
            <a:off x="1257104" y="4047554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2" name="Google Shape;212;p14"/>
          <p:cNvCxnSpPr/>
          <p:nvPr/>
        </p:nvCxnSpPr>
        <p:spPr>
          <a:xfrm>
            <a:off x="4679850" y="4029925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3" name="Google Shape;213;p14"/>
          <p:cNvCxnSpPr/>
          <p:nvPr/>
        </p:nvCxnSpPr>
        <p:spPr>
          <a:xfrm>
            <a:off x="5660489" y="5103963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4" name="Google Shape;214;p14"/>
          <p:cNvCxnSpPr/>
          <p:nvPr/>
        </p:nvCxnSpPr>
        <p:spPr>
          <a:xfrm>
            <a:off x="1273514" y="6203158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14"/>
          <p:cNvCxnSpPr/>
          <p:nvPr/>
        </p:nvCxnSpPr>
        <p:spPr>
          <a:xfrm>
            <a:off x="5073705" y="6220674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6" name="Google Shape;216;p14"/>
          <p:cNvCxnSpPr/>
          <p:nvPr/>
        </p:nvCxnSpPr>
        <p:spPr>
          <a:xfrm>
            <a:off x="2469438" y="7307869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14"/>
          <p:cNvCxnSpPr/>
          <p:nvPr/>
        </p:nvCxnSpPr>
        <p:spPr>
          <a:xfrm>
            <a:off x="4903470" y="7307869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8" name="Google Shape;218;p14"/>
          <p:cNvCxnSpPr/>
          <p:nvPr/>
        </p:nvCxnSpPr>
        <p:spPr>
          <a:xfrm>
            <a:off x="5445802" y="8429290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" name="Google Shape;219;p14"/>
          <p:cNvCxnSpPr/>
          <p:nvPr/>
        </p:nvCxnSpPr>
        <p:spPr>
          <a:xfrm>
            <a:off x="1839565" y="8414951"/>
            <a:ext cx="0" cy="2725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0" name="Google Shape;220;p14"/>
          <p:cNvSpPr txBox="1"/>
          <p:nvPr/>
        </p:nvSpPr>
        <p:spPr>
          <a:xfrm>
            <a:off x="1411614" y="1170060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0.25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4305352" y="1063923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1.15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1846512" y="2092739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4960440" y="2084045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1832389" y="3200860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1.45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3951102" y="3186027"/>
            <a:ext cx="59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4.05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1018898" y="4332508"/>
            <a:ext cx="476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4457520" y="4326232"/>
            <a:ext cx="476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1799911" y="5396480"/>
            <a:ext cx="769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2.25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5360877" y="5371212"/>
            <a:ext cx="769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7.35</a:t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4663440" y="6498943"/>
            <a:ext cx="10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30.125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984448" y="6510149"/>
            <a:ext cx="10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1.23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2128035" y="7707304"/>
            <a:ext cx="10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3.245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4639616" y="7715773"/>
            <a:ext cx="10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3.31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1489606" y="8818109"/>
            <a:ext cx="10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1.725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5026519" y="8834335"/>
            <a:ext cx="10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1.3125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15"/>
          <p:cNvGraphicFramePr/>
          <p:nvPr/>
        </p:nvGraphicFramePr>
        <p:xfrm>
          <a:off x="84272" y="5048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{4FBFD414-1974-4CA5-93A0-840474655E9A}</a:tableStyleId>
              </a:tblPr>
              <a:tblGrid>
                <a:gridCol w="3344725"/>
                <a:gridCol w="3344725"/>
              </a:tblGrid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0.14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6.3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4.4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17.05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1.37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82.45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</a:t>
                      </a:r>
                      <a:r>
                        <a:rPr lang="en-GB" sz="1200"/>
                        <a:t>20.45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15"/>
          <p:cNvSpPr txBox="1"/>
          <p:nvPr/>
        </p:nvSpPr>
        <p:spPr>
          <a:xfrm>
            <a:off x="1336485" y="31282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5108605" y="31155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3181725" y="3161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pic>
        <p:nvPicPr>
          <p:cNvPr id="244" name="Google Shape;2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347" y="1092235"/>
            <a:ext cx="1879782" cy="401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4709" y="2936105"/>
            <a:ext cx="1879782" cy="4015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15"/>
          <p:cNvGrpSpPr/>
          <p:nvPr/>
        </p:nvGrpSpPr>
        <p:grpSpPr>
          <a:xfrm>
            <a:off x="1054600" y="1103259"/>
            <a:ext cx="1879782" cy="401507"/>
            <a:chOff x="1061338" y="6170455"/>
            <a:chExt cx="1879782" cy="401507"/>
          </a:xfrm>
        </p:grpSpPr>
        <p:pic>
          <p:nvPicPr>
            <p:cNvPr id="247" name="Google Shape;24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338" y="6170455"/>
              <a:ext cx="1879782" cy="40150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8" name="Google Shape;248;p15"/>
            <p:cNvCxnSpPr/>
            <p:nvPr/>
          </p:nvCxnSpPr>
          <p:spPr>
            <a:xfrm>
              <a:off x="1663631" y="6197750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49" name="Google Shape;249;p15"/>
          <p:cNvGrpSpPr/>
          <p:nvPr/>
        </p:nvGrpSpPr>
        <p:grpSpPr>
          <a:xfrm>
            <a:off x="1042106" y="1988845"/>
            <a:ext cx="1879782" cy="306315"/>
            <a:chOff x="1041152" y="7079811"/>
            <a:chExt cx="1879782" cy="306315"/>
          </a:xfrm>
        </p:grpSpPr>
        <p:pic>
          <p:nvPicPr>
            <p:cNvPr id="250" name="Google Shape;25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1152" y="7086798"/>
              <a:ext cx="1879782" cy="2993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1" name="Google Shape;251;p15"/>
            <p:cNvCxnSpPr/>
            <p:nvPr/>
          </p:nvCxnSpPr>
          <p:spPr>
            <a:xfrm>
              <a:off x="1515546" y="7079811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52" name="Google Shape;252;p15"/>
          <p:cNvGrpSpPr/>
          <p:nvPr/>
        </p:nvGrpSpPr>
        <p:grpSpPr>
          <a:xfrm>
            <a:off x="1042106" y="2941710"/>
            <a:ext cx="1879782" cy="401507"/>
            <a:chOff x="1052449" y="8014292"/>
            <a:chExt cx="1879782" cy="401507"/>
          </a:xfrm>
        </p:grpSpPr>
        <p:pic>
          <p:nvPicPr>
            <p:cNvPr id="253" name="Google Shape;25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52449" y="8014292"/>
              <a:ext cx="1879782" cy="40150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4" name="Google Shape;254;p15"/>
            <p:cNvCxnSpPr/>
            <p:nvPr/>
          </p:nvCxnSpPr>
          <p:spPr>
            <a:xfrm>
              <a:off x="1572413" y="8055236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55" name="Google Shape;255;p15"/>
          <p:cNvGrpSpPr/>
          <p:nvPr/>
        </p:nvGrpSpPr>
        <p:grpSpPr>
          <a:xfrm>
            <a:off x="1042106" y="3890554"/>
            <a:ext cx="1879782" cy="313548"/>
            <a:chOff x="1033809" y="9102028"/>
            <a:chExt cx="1879782" cy="313548"/>
          </a:xfrm>
        </p:grpSpPr>
        <p:pic>
          <p:nvPicPr>
            <p:cNvPr id="256" name="Google Shape;256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3809" y="9115676"/>
              <a:ext cx="1879782" cy="299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7" name="Google Shape;257;p15"/>
            <p:cNvCxnSpPr/>
            <p:nvPr/>
          </p:nvCxnSpPr>
          <p:spPr>
            <a:xfrm>
              <a:off x="2052180" y="9102028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258" name="Google Shape;258;p15"/>
          <p:cNvCxnSpPr/>
          <p:nvPr/>
        </p:nvCxnSpPr>
        <p:spPr>
          <a:xfrm>
            <a:off x="4548654" y="1139428"/>
            <a:ext cx="0" cy="21402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59" name="Google Shape;259;p15"/>
          <p:cNvGrpSpPr/>
          <p:nvPr/>
        </p:nvGrpSpPr>
        <p:grpSpPr>
          <a:xfrm>
            <a:off x="2978102" y="2002285"/>
            <a:ext cx="1879782" cy="306315"/>
            <a:chOff x="2955691" y="7079811"/>
            <a:chExt cx="1879782" cy="306315"/>
          </a:xfrm>
        </p:grpSpPr>
        <p:pic>
          <p:nvPicPr>
            <p:cNvPr id="260" name="Google Shape;26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5691" y="7086798"/>
              <a:ext cx="1879782" cy="2993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1" name="Google Shape;261;p15"/>
            <p:cNvCxnSpPr/>
            <p:nvPr/>
          </p:nvCxnSpPr>
          <p:spPr>
            <a:xfrm>
              <a:off x="4258747" y="7079811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62" name="Google Shape;262;p15"/>
          <p:cNvGrpSpPr/>
          <p:nvPr/>
        </p:nvGrpSpPr>
        <p:grpSpPr>
          <a:xfrm>
            <a:off x="2968025" y="2941709"/>
            <a:ext cx="1879782" cy="401507"/>
            <a:chOff x="2955691" y="8014292"/>
            <a:chExt cx="1879782" cy="401507"/>
          </a:xfrm>
        </p:grpSpPr>
        <p:pic>
          <p:nvPicPr>
            <p:cNvPr id="263" name="Google Shape;26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55691" y="8014292"/>
              <a:ext cx="1879782" cy="40150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4" name="Google Shape;264;p15"/>
            <p:cNvCxnSpPr/>
            <p:nvPr/>
          </p:nvCxnSpPr>
          <p:spPr>
            <a:xfrm>
              <a:off x="4301966" y="8055236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65" name="Google Shape;265;p15"/>
          <p:cNvGrpSpPr/>
          <p:nvPr/>
        </p:nvGrpSpPr>
        <p:grpSpPr>
          <a:xfrm>
            <a:off x="2964275" y="3909138"/>
            <a:ext cx="1879783" cy="329192"/>
            <a:chOff x="2955690" y="9115676"/>
            <a:chExt cx="1879783" cy="329192"/>
          </a:xfrm>
        </p:grpSpPr>
        <p:pic>
          <p:nvPicPr>
            <p:cNvPr id="266" name="Google Shape;266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55690" y="9115676"/>
              <a:ext cx="1879783" cy="32919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7" name="Google Shape;267;p15"/>
            <p:cNvCxnSpPr/>
            <p:nvPr/>
          </p:nvCxnSpPr>
          <p:spPr>
            <a:xfrm>
              <a:off x="3489377" y="9115676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68" name="Google Shape;268;p15"/>
          <p:cNvGrpSpPr/>
          <p:nvPr/>
        </p:nvGrpSpPr>
        <p:grpSpPr>
          <a:xfrm>
            <a:off x="4876023" y="1091153"/>
            <a:ext cx="1879782" cy="401507"/>
            <a:chOff x="4864699" y="6293736"/>
            <a:chExt cx="1879782" cy="401507"/>
          </a:xfrm>
        </p:grpSpPr>
        <p:pic>
          <p:nvPicPr>
            <p:cNvPr id="269" name="Google Shape;26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64699" y="6293736"/>
              <a:ext cx="1879782" cy="40150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0" name="Google Shape;270;p15"/>
            <p:cNvCxnSpPr/>
            <p:nvPr/>
          </p:nvCxnSpPr>
          <p:spPr>
            <a:xfrm>
              <a:off x="6128491" y="6334680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71" name="Google Shape;271;p15"/>
          <p:cNvGrpSpPr/>
          <p:nvPr/>
        </p:nvGrpSpPr>
        <p:grpSpPr>
          <a:xfrm>
            <a:off x="4899343" y="2009272"/>
            <a:ext cx="1879782" cy="299328"/>
            <a:chOff x="4882394" y="7079811"/>
            <a:chExt cx="1879782" cy="299328"/>
          </a:xfrm>
        </p:grpSpPr>
        <p:pic>
          <p:nvPicPr>
            <p:cNvPr id="272" name="Google Shape;27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82394" y="7079811"/>
              <a:ext cx="1879782" cy="2993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3" name="Google Shape;273;p15"/>
            <p:cNvCxnSpPr/>
            <p:nvPr/>
          </p:nvCxnSpPr>
          <p:spPr>
            <a:xfrm>
              <a:off x="5910127" y="7079811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274" name="Google Shape;274;p15"/>
          <p:cNvCxnSpPr/>
          <p:nvPr/>
        </p:nvCxnSpPr>
        <p:spPr>
          <a:xfrm>
            <a:off x="5759492" y="2990697"/>
            <a:ext cx="0" cy="21402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75" name="Google Shape;275;p15"/>
          <p:cNvGrpSpPr/>
          <p:nvPr/>
        </p:nvGrpSpPr>
        <p:grpSpPr>
          <a:xfrm>
            <a:off x="4911038" y="3903695"/>
            <a:ext cx="1865388" cy="305305"/>
            <a:chOff x="4896788" y="9102028"/>
            <a:chExt cx="1865388" cy="305305"/>
          </a:xfrm>
        </p:grpSpPr>
        <p:pic>
          <p:nvPicPr>
            <p:cNvPr id="276" name="Google Shape;27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96788" y="9115676"/>
              <a:ext cx="1865388" cy="29165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7" name="Google Shape;277;p15"/>
            <p:cNvCxnSpPr/>
            <p:nvPr/>
          </p:nvCxnSpPr>
          <p:spPr>
            <a:xfrm>
              <a:off x="5295978" y="9102028"/>
              <a:ext cx="0" cy="214029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aphicFrame>
        <p:nvGraphicFramePr>
          <p:cNvPr id="278" name="Google Shape;278;p15"/>
          <p:cNvGraphicFramePr/>
          <p:nvPr/>
        </p:nvGraphicFramePr>
        <p:xfrm>
          <a:off x="84273" y="5716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{4FBFD414-1974-4CA5-93A0-840474655E9A}</a:tableStyleId>
              </a:tblPr>
              <a:tblGrid>
                <a:gridCol w="936000"/>
                <a:gridCol w="1917825"/>
                <a:gridCol w="1917825"/>
                <a:gridCol w="1917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Mark with an arrow: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Mark with an arrow: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Mark with an arrow: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8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Identify the two values on the number line that the number we are estimating lies between.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2) Consider the midpoint. Will the value we are estimating be above or below this?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1.6</a:t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0.16</a:t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1.2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9.9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4.6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0.44</a:t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3.9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13.2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3.4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0.34</a:t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2.1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31.9</a:t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15"/>
          <p:cNvSpPr/>
          <p:nvPr/>
        </p:nvSpPr>
        <p:spPr>
          <a:xfrm>
            <a:off x="90059" y="466600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84273" y="63156"/>
            <a:ext cx="3768978" cy="2810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Estimate, label and draw decimals on number lines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84129" y="5311599"/>
            <a:ext cx="2371090" cy="416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53251" y="7521891"/>
            <a:ext cx="2584142" cy="434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90" y="5340677"/>
            <a:ext cx="2302698" cy="387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9190" y="6394976"/>
            <a:ext cx="2189352" cy="30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056473" y="6364340"/>
            <a:ext cx="2189353" cy="336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5663" y="8600824"/>
            <a:ext cx="2505827" cy="348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55664" y="7601331"/>
            <a:ext cx="2429749" cy="32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32428" y="8662444"/>
            <a:ext cx="3063424" cy="286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15"/>
          <p:cNvCxnSpPr/>
          <p:nvPr/>
        </p:nvCxnSpPr>
        <p:spPr>
          <a:xfrm rot="10800000">
            <a:off x="4546980" y="7840459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807491" y="5603761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1203312" y="6609627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2" name="Google Shape;292;p15"/>
          <p:cNvSpPr txBox="1"/>
          <p:nvPr/>
        </p:nvSpPr>
        <p:spPr>
          <a:xfrm>
            <a:off x="5243485" y="939077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1178976" y="4611941"/>
            <a:ext cx="5679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Label the arrows with estimated values, then mark an arrow to estimate the given value. </a:t>
            </a:r>
            <a:endParaRPr/>
          </a:p>
        </p:txBody>
      </p:sp>
      <p:cxnSp>
        <p:nvCxnSpPr>
          <p:cNvPr id="294" name="Google Shape;294;p15"/>
          <p:cNvCxnSpPr/>
          <p:nvPr/>
        </p:nvCxnSpPr>
        <p:spPr>
          <a:xfrm rot="10800000">
            <a:off x="2278151" y="5603761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5" name="Google Shape;295;p15"/>
          <p:cNvCxnSpPr/>
          <p:nvPr/>
        </p:nvCxnSpPr>
        <p:spPr>
          <a:xfrm rot="10800000">
            <a:off x="5085745" y="5613083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6" name="Google Shape;296;p15"/>
          <p:cNvCxnSpPr/>
          <p:nvPr/>
        </p:nvCxnSpPr>
        <p:spPr>
          <a:xfrm rot="10800000">
            <a:off x="5942316" y="5605463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7" name="Google Shape;297;p15"/>
          <p:cNvCxnSpPr/>
          <p:nvPr/>
        </p:nvCxnSpPr>
        <p:spPr>
          <a:xfrm rot="10800000">
            <a:off x="4760340" y="6593660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8" name="Google Shape;298;p15"/>
          <p:cNvCxnSpPr/>
          <p:nvPr/>
        </p:nvCxnSpPr>
        <p:spPr>
          <a:xfrm rot="10800000">
            <a:off x="1858632" y="6621997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9" name="Google Shape;299;p15"/>
          <p:cNvCxnSpPr/>
          <p:nvPr/>
        </p:nvCxnSpPr>
        <p:spPr>
          <a:xfrm rot="10800000">
            <a:off x="5185839" y="7838763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0" name="Google Shape;300;p15"/>
          <p:cNvCxnSpPr/>
          <p:nvPr/>
        </p:nvCxnSpPr>
        <p:spPr>
          <a:xfrm rot="10800000">
            <a:off x="5759492" y="6601831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1" name="Google Shape;301;p15"/>
          <p:cNvCxnSpPr/>
          <p:nvPr/>
        </p:nvCxnSpPr>
        <p:spPr>
          <a:xfrm rot="10800000">
            <a:off x="1402978" y="7840459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2" name="Google Shape;302;p15"/>
          <p:cNvCxnSpPr/>
          <p:nvPr/>
        </p:nvCxnSpPr>
        <p:spPr>
          <a:xfrm rot="10800000">
            <a:off x="2514371" y="7838763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3" name="Google Shape;303;p15"/>
          <p:cNvCxnSpPr/>
          <p:nvPr/>
        </p:nvCxnSpPr>
        <p:spPr>
          <a:xfrm rot="10800000">
            <a:off x="1662058" y="8841937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4" name="Google Shape;304;p15"/>
          <p:cNvCxnSpPr/>
          <p:nvPr/>
        </p:nvCxnSpPr>
        <p:spPr>
          <a:xfrm rot="10800000">
            <a:off x="2770049" y="8826316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5" name="Google Shape;305;p15"/>
          <p:cNvCxnSpPr/>
          <p:nvPr/>
        </p:nvCxnSpPr>
        <p:spPr>
          <a:xfrm rot="10800000">
            <a:off x="3864238" y="8870595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6" name="Google Shape;306;p15"/>
          <p:cNvCxnSpPr/>
          <p:nvPr/>
        </p:nvCxnSpPr>
        <p:spPr>
          <a:xfrm rot="10800000">
            <a:off x="5360849" y="8873620"/>
            <a:ext cx="0" cy="2140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7" name="Google Shape;307;p15"/>
          <p:cNvCxnSpPr/>
          <p:nvPr/>
        </p:nvCxnSpPr>
        <p:spPr>
          <a:xfrm>
            <a:off x="1324121" y="5311599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8" name="Google Shape;308;p15"/>
          <p:cNvCxnSpPr/>
          <p:nvPr/>
        </p:nvCxnSpPr>
        <p:spPr>
          <a:xfrm>
            <a:off x="4577861" y="5319219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9" name="Google Shape;309;p15"/>
          <p:cNvCxnSpPr/>
          <p:nvPr/>
        </p:nvCxnSpPr>
        <p:spPr>
          <a:xfrm>
            <a:off x="2060477" y="6329313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0" name="Google Shape;310;p15"/>
          <p:cNvCxnSpPr/>
          <p:nvPr/>
        </p:nvCxnSpPr>
        <p:spPr>
          <a:xfrm>
            <a:off x="5535197" y="6321142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1" name="Google Shape;311;p15"/>
          <p:cNvCxnSpPr/>
          <p:nvPr/>
        </p:nvCxnSpPr>
        <p:spPr>
          <a:xfrm>
            <a:off x="734597" y="7566245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2" name="Google Shape;312;p15"/>
          <p:cNvCxnSpPr/>
          <p:nvPr/>
        </p:nvCxnSpPr>
        <p:spPr>
          <a:xfrm>
            <a:off x="5672357" y="7566245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3" name="Google Shape;313;p15"/>
          <p:cNvCxnSpPr/>
          <p:nvPr/>
        </p:nvCxnSpPr>
        <p:spPr>
          <a:xfrm>
            <a:off x="2670077" y="8540109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4" name="Google Shape;314;p15"/>
          <p:cNvCxnSpPr/>
          <p:nvPr/>
        </p:nvCxnSpPr>
        <p:spPr>
          <a:xfrm>
            <a:off x="5070505" y="8600824"/>
            <a:ext cx="0" cy="27251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5" name="Google Shape;315;p15"/>
          <p:cNvSpPr txBox="1"/>
          <p:nvPr/>
        </p:nvSpPr>
        <p:spPr>
          <a:xfrm>
            <a:off x="1086004" y="5011748"/>
            <a:ext cx="4760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4309378" y="5011748"/>
            <a:ext cx="6707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0.14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1858632" y="6069645"/>
            <a:ext cx="6707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5298766" y="6054820"/>
            <a:ext cx="6707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417612" y="7360576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17.05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 txBox="1"/>
          <p:nvPr/>
        </p:nvSpPr>
        <p:spPr>
          <a:xfrm>
            <a:off x="5416140" y="7299259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1.37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2380170" y="8319868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82.45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4718726" y="8327439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20.45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544279" y="5745908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2060477" y="5754312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3.7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4790128" y="5742828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0.29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5684440" y="5759680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0.51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946606" y="6735280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640275" y="6757482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542773" y="6683113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5569885" y="6719898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1050947" y="7991084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17.35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2179339" y="7975287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17.82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4259463" y="7965924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1.13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4908887" y="7981285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1380659" y="8961450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8.22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2529236" y="8966702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8.47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3549009" y="9040345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20.05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5064843" y="9054544"/>
            <a:ext cx="779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20.58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 txBox="1"/>
          <p:nvPr/>
        </p:nvSpPr>
        <p:spPr>
          <a:xfrm>
            <a:off x="133947" y="181455"/>
            <a:ext cx="56790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3. Decide which section of the number line each of these numbers would go in:</a:t>
            </a:r>
            <a:endParaRPr/>
          </a:p>
        </p:txBody>
      </p:sp>
      <p:graphicFrame>
        <p:nvGraphicFramePr>
          <p:cNvPr id="344" name="Google Shape;344;p16"/>
          <p:cNvGraphicFramePr/>
          <p:nvPr/>
        </p:nvGraphicFramePr>
        <p:xfrm>
          <a:off x="228599" y="458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{4FBFD414-1974-4CA5-93A0-840474655E9A}</a:tableStyleId>
              </a:tblPr>
              <a:tblGrid>
                <a:gridCol w="1623875"/>
                <a:gridCol w="1623875"/>
                <a:gridCol w="1623875"/>
                <a:gridCol w="1623875"/>
              </a:tblGrid>
              <a:tr h="15240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0.801                          0.72                         0.852                      0.799                       0.7501                        0.78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                0.74                          0.845                      0.76                         0.709                            0.840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                                 0.89                          0.7499                     0.887                        0.820   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0"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1234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Would go in section 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Would go in section 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Would go in section 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Would go in section 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45" name="Google Shape;345;p16"/>
          <p:cNvPicPr preferRelativeResize="0"/>
          <p:nvPr/>
        </p:nvPicPr>
        <p:blipFill rotWithShape="1">
          <a:blip r:embed="rId3">
            <a:alphaModFix/>
          </a:blip>
          <a:srcRect b="74854" l="0" r="0" t="0"/>
          <a:stretch/>
        </p:blipFill>
        <p:spPr>
          <a:xfrm>
            <a:off x="866327" y="1929249"/>
            <a:ext cx="5219995" cy="80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6"/>
          <p:cNvPicPr preferRelativeResize="0"/>
          <p:nvPr/>
        </p:nvPicPr>
        <p:blipFill rotWithShape="1">
          <a:blip r:embed="rId3">
            <a:alphaModFix/>
          </a:blip>
          <a:srcRect b="9805" l="6888" r="77928" t="66667"/>
          <a:stretch/>
        </p:blipFill>
        <p:spPr>
          <a:xfrm>
            <a:off x="612533" y="3328916"/>
            <a:ext cx="884504" cy="84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6"/>
          <p:cNvPicPr preferRelativeResize="0"/>
          <p:nvPr/>
        </p:nvPicPr>
        <p:blipFill rotWithShape="1">
          <a:blip r:embed="rId3">
            <a:alphaModFix/>
          </a:blip>
          <a:srcRect b="11820" l="30109" r="53150" t="69501"/>
          <a:stretch/>
        </p:blipFill>
        <p:spPr>
          <a:xfrm>
            <a:off x="2128322" y="3360714"/>
            <a:ext cx="1135380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6"/>
          <p:cNvPicPr preferRelativeResize="0"/>
          <p:nvPr/>
        </p:nvPicPr>
        <p:blipFill rotWithShape="1">
          <a:blip r:embed="rId3">
            <a:alphaModFix/>
          </a:blip>
          <a:srcRect b="9805" l="53703" r="30897" t="69501"/>
          <a:stretch/>
        </p:blipFill>
        <p:spPr>
          <a:xfrm>
            <a:off x="3790651" y="3274721"/>
            <a:ext cx="1044528" cy="86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6"/>
          <p:cNvPicPr preferRelativeResize="0"/>
          <p:nvPr/>
        </p:nvPicPr>
        <p:blipFill rotWithShape="1">
          <a:blip r:embed="rId3">
            <a:alphaModFix/>
          </a:blip>
          <a:srcRect b="9805" l="77858" r="6741" t="69501"/>
          <a:stretch/>
        </p:blipFill>
        <p:spPr>
          <a:xfrm>
            <a:off x="5472904" y="3360714"/>
            <a:ext cx="1044528" cy="8610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0" name="Google Shape;350;p16"/>
          <p:cNvGrpSpPr/>
          <p:nvPr/>
        </p:nvGrpSpPr>
        <p:grpSpPr>
          <a:xfrm>
            <a:off x="164427" y="4629552"/>
            <a:ext cx="6614897" cy="3697720"/>
            <a:chOff x="164427" y="4629552"/>
            <a:chExt cx="6614897" cy="3697720"/>
          </a:xfrm>
        </p:grpSpPr>
        <p:pic>
          <p:nvPicPr>
            <p:cNvPr id="351" name="Google Shape;351;p16"/>
            <p:cNvPicPr preferRelativeResize="0"/>
            <p:nvPr/>
          </p:nvPicPr>
          <p:blipFill rotWithShape="1">
            <a:blip r:embed="rId4">
              <a:alphaModFix/>
            </a:blip>
            <a:srcRect b="8425" l="0" r="0" t="0"/>
            <a:stretch/>
          </p:blipFill>
          <p:spPr>
            <a:xfrm>
              <a:off x="848798" y="5198129"/>
              <a:ext cx="5160403" cy="30436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16"/>
            <p:cNvSpPr txBox="1"/>
            <p:nvPr/>
          </p:nvSpPr>
          <p:spPr>
            <a:xfrm>
              <a:off x="173324" y="4629552"/>
              <a:ext cx="6606000" cy="396000"/>
            </a:xfrm>
            <a:prstGeom prst="rect">
              <a:avLst/>
            </a:prstGeom>
            <a:solidFill>
              <a:srgbClr val="7E23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lang="en-GB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Skills Check</a:t>
              </a:r>
              <a:endParaRPr b="1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164427" y="5026502"/>
              <a:ext cx="6606000" cy="330077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16"/>
          <p:cNvSpPr/>
          <p:nvPr/>
        </p:nvSpPr>
        <p:spPr>
          <a:xfrm>
            <a:off x="4495800" y="7391400"/>
            <a:ext cx="1127760" cy="91547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