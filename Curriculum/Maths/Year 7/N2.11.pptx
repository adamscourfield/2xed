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A51B89-AD09-4B51-955F-B7FF7961E0B6}">
  <a:tblStyle styleId="{08A51B89-AD09-4B51-955F-B7FF7961E0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52994" y="6471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4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Label all known side lengths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5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Add up all the side lengths to find the perimeter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121751" y="618810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14041" y="620041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37675" y="945342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N2.11 – Perimeter of Rectangles and Parallelograms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6108" y="2812009"/>
            <a:ext cx="6699219" cy="155593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3"/>
          <p:cNvCxnSpPr>
            <a:stCxn id="94" idx="1"/>
            <a:endCxn id="94" idx="3"/>
          </p:cNvCxnSpPr>
          <p:nvPr/>
        </p:nvCxnSpPr>
        <p:spPr>
          <a:xfrm>
            <a:off x="86108" y="3589978"/>
            <a:ext cx="669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3"/>
          <p:cNvCxnSpPr>
            <a:stCxn id="94" idx="2"/>
            <a:endCxn id="94" idx="0"/>
          </p:cNvCxnSpPr>
          <p:nvPr/>
        </p:nvCxnSpPr>
        <p:spPr>
          <a:xfrm rot="10800000">
            <a:off x="3435718" y="2812147"/>
            <a:ext cx="0" cy="155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 txBox="1"/>
          <p:nvPr/>
        </p:nvSpPr>
        <p:spPr>
          <a:xfrm>
            <a:off x="103864" y="2812008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627914" y="2779622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19010" y="364064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556427" y="361626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15668" y="3021100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2D shape with four sides and four right angles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500745" y="2970313"/>
            <a:ext cx="32445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sides opposite each other have equal lengths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work out the perimeter, add up the lengths 	of all the sides.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891618" y="3454314"/>
            <a:ext cx="1102738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Rectangle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003037" y="620041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94604" y="4291340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1936" y="5900997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the perimeter of rectangles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 rot="-845826">
            <a:off x="938961" y="3785479"/>
            <a:ext cx="706363" cy="423181"/>
          </a:xfrm>
          <a:prstGeom prst="rect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2303280" y="7166349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cm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652294" y="7547116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cm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1382035" y="8255905"/>
            <a:ext cx="958950" cy="60581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2325453" y="8421561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0.6 m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586169" y="8822862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 m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5067175" y="8342795"/>
            <a:ext cx="1061010" cy="43162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6119378" y="8420445"/>
            <a:ext cx="6344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2.7cm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5291226" y="8717480"/>
            <a:ext cx="8208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5.8cm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6226348" y="6954459"/>
            <a:ext cx="64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565696" y="7231458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>
            <a:off x="1893724" y="3936375"/>
            <a:ext cx="1334494" cy="360098"/>
            <a:chOff x="1795532" y="3083378"/>
            <a:chExt cx="1334494" cy="360098"/>
          </a:xfrm>
        </p:grpSpPr>
        <p:sp>
          <p:nvSpPr>
            <p:cNvPr id="119" name="Google Shape;119;p13"/>
            <p:cNvSpPr/>
            <p:nvPr/>
          </p:nvSpPr>
          <p:spPr>
            <a:xfrm>
              <a:off x="1862290" y="3147239"/>
              <a:ext cx="1214863" cy="220416"/>
            </a:xfrm>
            <a:prstGeom prst="rect">
              <a:avLst/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" name="Google Shape;120;p13"/>
            <p:cNvCxnSpPr/>
            <p:nvPr/>
          </p:nvCxnSpPr>
          <p:spPr>
            <a:xfrm>
              <a:off x="2388009" y="3083378"/>
              <a:ext cx="0" cy="1239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3"/>
            <p:cNvCxnSpPr/>
            <p:nvPr/>
          </p:nvCxnSpPr>
          <p:spPr>
            <a:xfrm>
              <a:off x="2522717" y="3319544"/>
              <a:ext cx="0" cy="1239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3"/>
            <p:cNvCxnSpPr/>
            <p:nvPr/>
          </p:nvCxnSpPr>
          <p:spPr>
            <a:xfrm rot="10800000">
              <a:off x="1795532" y="3271926"/>
              <a:ext cx="10574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13"/>
            <p:cNvCxnSpPr/>
            <p:nvPr/>
          </p:nvCxnSpPr>
          <p:spPr>
            <a:xfrm rot="10800000">
              <a:off x="3024279" y="3261289"/>
              <a:ext cx="10574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4" name="Google Shape;124;p13"/>
          <p:cNvGrpSpPr/>
          <p:nvPr/>
        </p:nvGrpSpPr>
        <p:grpSpPr>
          <a:xfrm rot="1077297">
            <a:off x="4120562" y="3831579"/>
            <a:ext cx="652030" cy="347271"/>
            <a:chOff x="4110824" y="2729239"/>
            <a:chExt cx="652030" cy="347271"/>
          </a:xfrm>
        </p:grpSpPr>
        <p:cxnSp>
          <p:nvCxnSpPr>
            <p:cNvPr id="125" name="Google Shape;125;p13"/>
            <p:cNvCxnSpPr/>
            <p:nvPr/>
          </p:nvCxnSpPr>
          <p:spPr>
            <a:xfrm rot="10800000">
              <a:off x="4110824" y="2729239"/>
              <a:ext cx="52588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13"/>
            <p:cNvCxnSpPr/>
            <p:nvPr/>
          </p:nvCxnSpPr>
          <p:spPr>
            <a:xfrm rot="10800000">
              <a:off x="4110824" y="3070606"/>
              <a:ext cx="65203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p13"/>
            <p:cNvCxnSpPr/>
            <p:nvPr/>
          </p:nvCxnSpPr>
          <p:spPr>
            <a:xfrm>
              <a:off x="4110824" y="2729239"/>
              <a:ext cx="0" cy="34727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" name="Google Shape;128;p13"/>
            <p:cNvCxnSpPr/>
            <p:nvPr/>
          </p:nvCxnSpPr>
          <p:spPr>
            <a:xfrm>
              <a:off x="4639379" y="2730629"/>
              <a:ext cx="110920" cy="32944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9" name="Google Shape;129;p13"/>
          <p:cNvGrpSpPr/>
          <p:nvPr/>
        </p:nvGrpSpPr>
        <p:grpSpPr>
          <a:xfrm>
            <a:off x="4979103" y="3889440"/>
            <a:ext cx="922552" cy="349318"/>
            <a:chOff x="4969365" y="2707590"/>
            <a:chExt cx="922552" cy="349318"/>
          </a:xfrm>
        </p:grpSpPr>
        <p:cxnSp>
          <p:nvCxnSpPr>
            <p:cNvPr id="130" name="Google Shape;130;p13"/>
            <p:cNvCxnSpPr/>
            <p:nvPr/>
          </p:nvCxnSpPr>
          <p:spPr>
            <a:xfrm rot="10800000">
              <a:off x="4969365" y="2707590"/>
              <a:ext cx="92255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3"/>
            <p:cNvCxnSpPr/>
            <p:nvPr/>
          </p:nvCxnSpPr>
          <p:spPr>
            <a:xfrm rot="10800000">
              <a:off x="4969365" y="3056908"/>
              <a:ext cx="65203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13"/>
            <p:cNvCxnSpPr/>
            <p:nvPr/>
          </p:nvCxnSpPr>
          <p:spPr>
            <a:xfrm>
              <a:off x="4969365" y="2707590"/>
              <a:ext cx="0" cy="34727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13"/>
            <p:cNvCxnSpPr/>
            <p:nvPr/>
          </p:nvCxnSpPr>
          <p:spPr>
            <a:xfrm>
              <a:off x="5886994" y="2711241"/>
              <a:ext cx="0" cy="20961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13"/>
            <p:cNvCxnSpPr/>
            <p:nvPr/>
          </p:nvCxnSpPr>
          <p:spPr>
            <a:xfrm flipH="1">
              <a:off x="5618176" y="2920857"/>
              <a:ext cx="268818" cy="13294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5" name="Google Shape;135;p13"/>
          <p:cNvSpPr/>
          <p:nvPr/>
        </p:nvSpPr>
        <p:spPr>
          <a:xfrm>
            <a:off x="82050" y="4408641"/>
            <a:ext cx="6699219" cy="1450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3"/>
          <p:cNvCxnSpPr/>
          <p:nvPr/>
        </p:nvCxnSpPr>
        <p:spPr>
          <a:xfrm>
            <a:off x="75329" y="5159882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3"/>
          <p:cNvCxnSpPr>
            <a:stCxn id="135" idx="2"/>
            <a:endCxn id="135" idx="0"/>
          </p:cNvCxnSpPr>
          <p:nvPr/>
        </p:nvCxnSpPr>
        <p:spPr>
          <a:xfrm rot="10800000">
            <a:off x="3431660" y="4408575"/>
            <a:ext cx="0" cy="14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13"/>
          <p:cNvSpPr txBox="1"/>
          <p:nvPr/>
        </p:nvSpPr>
        <p:spPr>
          <a:xfrm>
            <a:off x="67148" y="4408640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5712850" y="4398104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64177" y="5149521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5662003" y="513811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82050" y="4617498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2D shape with four sides and two pairs of parallel sides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3496687" y="4566945"/>
            <a:ext cx="32445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sides opposite each other have equal lengths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angles opposite each other are equal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2689802" y="5006447"/>
            <a:ext cx="1470274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Parallelogram</a:t>
            </a:r>
            <a:endParaRPr/>
          </a:p>
        </p:txBody>
      </p:sp>
      <p:cxnSp>
        <p:nvCxnSpPr>
          <p:cNvPr id="145" name="Google Shape;145;p13"/>
          <p:cNvCxnSpPr/>
          <p:nvPr/>
        </p:nvCxnSpPr>
        <p:spPr>
          <a:xfrm>
            <a:off x="2000611" y="5249976"/>
            <a:ext cx="0" cy="1239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p13"/>
          <p:cNvCxnSpPr/>
          <p:nvPr/>
        </p:nvCxnSpPr>
        <p:spPr>
          <a:xfrm>
            <a:off x="2017144" y="5573603"/>
            <a:ext cx="0" cy="1239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7" name="Google Shape;147;p13"/>
          <p:cNvGrpSpPr/>
          <p:nvPr/>
        </p:nvGrpSpPr>
        <p:grpSpPr>
          <a:xfrm rot="1077297">
            <a:off x="4298882" y="5366094"/>
            <a:ext cx="652030" cy="347271"/>
            <a:chOff x="4110824" y="2729239"/>
            <a:chExt cx="652030" cy="347271"/>
          </a:xfrm>
        </p:grpSpPr>
        <p:cxnSp>
          <p:nvCxnSpPr>
            <p:cNvPr id="148" name="Google Shape;148;p13"/>
            <p:cNvCxnSpPr/>
            <p:nvPr/>
          </p:nvCxnSpPr>
          <p:spPr>
            <a:xfrm rot="10800000">
              <a:off x="4110824" y="2729239"/>
              <a:ext cx="52588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" name="Google Shape;149;p13"/>
            <p:cNvCxnSpPr/>
            <p:nvPr/>
          </p:nvCxnSpPr>
          <p:spPr>
            <a:xfrm rot="10800000">
              <a:off x="4110824" y="3070606"/>
              <a:ext cx="65203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" name="Google Shape;150;p13"/>
            <p:cNvCxnSpPr/>
            <p:nvPr/>
          </p:nvCxnSpPr>
          <p:spPr>
            <a:xfrm>
              <a:off x="4110824" y="2729239"/>
              <a:ext cx="0" cy="34727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" name="Google Shape;151;p13"/>
            <p:cNvCxnSpPr/>
            <p:nvPr/>
          </p:nvCxnSpPr>
          <p:spPr>
            <a:xfrm>
              <a:off x="4639379" y="2730629"/>
              <a:ext cx="110920" cy="32944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2" name="Google Shape;152;p13"/>
          <p:cNvGrpSpPr/>
          <p:nvPr/>
        </p:nvGrpSpPr>
        <p:grpSpPr>
          <a:xfrm rot="-810894">
            <a:off x="2550273" y="5427887"/>
            <a:ext cx="107073" cy="64937"/>
            <a:chOff x="3108675" y="4770641"/>
            <a:chExt cx="107073" cy="64937"/>
          </a:xfrm>
        </p:grpSpPr>
        <p:cxnSp>
          <p:nvCxnSpPr>
            <p:cNvPr id="153" name="Google Shape;153;p13"/>
            <p:cNvCxnSpPr/>
            <p:nvPr/>
          </p:nvCxnSpPr>
          <p:spPr>
            <a:xfrm rot="10800000">
              <a:off x="3108675" y="4770641"/>
              <a:ext cx="10574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" name="Google Shape;154;p13"/>
            <p:cNvCxnSpPr/>
            <p:nvPr/>
          </p:nvCxnSpPr>
          <p:spPr>
            <a:xfrm rot="10800000">
              <a:off x="3110001" y="4835578"/>
              <a:ext cx="10574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55" name="Google Shape;155;p13"/>
          <p:cNvSpPr/>
          <p:nvPr/>
        </p:nvSpPr>
        <p:spPr>
          <a:xfrm rot="-975586">
            <a:off x="437337" y="5420130"/>
            <a:ext cx="669954" cy="352502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 flipH="1">
            <a:off x="1354252" y="5319509"/>
            <a:ext cx="1296171" cy="324000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13"/>
          <p:cNvGrpSpPr/>
          <p:nvPr/>
        </p:nvGrpSpPr>
        <p:grpSpPr>
          <a:xfrm rot="-810894">
            <a:off x="1350614" y="5443822"/>
            <a:ext cx="107073" cy="64937"/>
            <a:chOff x="3108675" y="4770641"/>
            <a:chExt cx="107073" cy="64937"/>
          </a:xfrm>
        </p:grpSpPr>
        <p:cxnSp>
          <p:nvCxnSpPr>
            <p:cNvPr id="158" name="Google Shape;158;p13"/>
            <p:cNvCxnSpPr/>
            <p:nvPr/>
          </p:nvCxnSpPr>
          <p:spPr>
            <a:xfrm rot="10800000">
              <a:off x="3108675" y="4770641"/>
              <a:ext cx="10574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13"/>
            <p:cNvCxnSpPr/>
            <p:nvPr/>
          </p:nvCxnSpPr>
          <p:spPr>
            <a:xfrm rot="10800000">
              <a:off x="3110001" y="4835578"/>
              <a:ext cx="10574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0" name="Google Shape;160;p13"/>
          <p:cNvGrpSpPr/>
          <p:nvPr/>
        </p:nvGrpSpPr>
        <p:grpSpPr>
          <a:xfrm>
            <a:off x="5291226" y="5373908"/>
            <a:ext cx="1098337" cy="452894"/>
            <a:chOff x="5109215" y="4609124"/>
            <a:chExt cx="1098337" cy="452894"/>
          </a:xfrm>
        </p:grpSpPr>
        <p:cxnSp>
          <p:nvCxnSpPr>
            <p:cNvPr id="161" name="Google Shape;161;p13"/>
            <p:cNvCxnSpPr/>
            <p:nvPr/>
          </p:nvCxnSpPr>
          <p:spPr>
            <a:xfrm rot="10800000">
              <a:off x="5285000" y="4609124"/>
              <a:ext cx="92255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" name="Google Shape;162;p13"/>
            <p:cNvCxnSpPr/>
            <p:nvPr/>
          </p:nvCxnSpPr>
          <p:spPr>
            <a:xfrm rot="10800000">
              <a:off x="5109215" y="4953000"/>
              <a:ext cx="847509" cy="10901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p13"/>
            <p:cNvCxnSpPr/>
            <p:nvPr/>
          </p:nvCxnSpPr>
          <p:spPr>
            <a:xfrm flipH="1">
              <a:off x="5109215" y="4609124"/>
              <a:ext cx="175785" cy="3438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" name="Google Shape;164;p13"/>
            <p:cNvCxnSpPr/>
            <p:nvPr/>
          </p:nvCxnSpPr>
          <p:spPr>
            <a:xfrm flipH="1">
              <a:off x="5956724" y="4617642"/>
              <a:ext cx="244388" cy="44432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5" name="Google Shape;165;p13"/>
          <p:cNvSpPr/>
          <p:nvPr/>
        </p:nvSpPr>
        <p:spPr>
          <a:xfrm>
            <a:off x="1382084" y="6965233"/>
            <a:ext cx="958950" cy="60581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5311537" y="6962456"/>
            <a:ext cx="958950" cy="31152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86108" y="364088"/>
            <a:ext cx="6679742" cy="149449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100783" y="904123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113708" y="1110691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the perimeter of a rectangle or parallelogram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missing lengths in a rectangle or parallelogram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43256" y="405101"/>
            <a:ext cx="5259509" cy="46166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 the perimeter of rectangles and parallelograms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5428699" y="400067"/>
            <a:ext cx="1311216" cy="138499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Distance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Rectangle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Parallelogram</a:t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4252714" y="8441879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cm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3601728" y="8822646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cm</a:t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3331518" y="8240763"/>
            <a:ext cx="958950" cy="60581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1625067" y="6722944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cm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933185" y="7129638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cm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4271752" y="7142116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 cm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3614603" y="7535751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2.9 cm</a:t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3377988" y="6941000"/>
            <a:ext cx="958950" cy="60581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2826939" y="7116452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 cm</a:t>
            </a:r>
            <a:endParaRPr/>
          </a:p>
        </p:txBody>
      </p:sp>
      <p:sp>
        <p:nvSpPr>
          <p:cNvPr id="181" name="Google Shape;181;p13"/>
          <p:cNvSpPr txBox="1"/>
          <p:nvPr/>
        </p:nvSpPr>
        <p:spPr>
          <a:xfrm>
            <a:off x="3540122" y="6713174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2.9 cm</a:t>
            </a:r>
            <a:endParaRPr/>
          </a:p>
        </p:txBody>
      </p:sp>
      <p:sp>
        <p:nvSpPr>
          <p:cNvPr id="182" name="Google Shape;182;p13"/>
          <p:cNvSpPr txBox="1"/>
          <p:nvPr/>
        </p:nvSpPr>
        <p:spPr>
          <a:xfrm>
            <a:off x="4906108" y="6962456"/>
            <a:ext cx="64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5535069" y="6725414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84939" y="1899585"/>
            <a:ext cx="6695786" cy="85557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rectangle and a parallelogram both have opposite sides that are equal in length, which makes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calculating their perimeter easier. Sometimes, you will be given shapes where some side lengths are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missing. You will need to use this fact to find the missing sides before adding to get the perimeter.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2882910" y="7562696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2.9 m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1513502" y="7730224"/>
            <a:ext cx="8871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26cm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1570513" y="9283311"/>
            <a:ext cx="8871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3.8m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3502520" y="7735559"/>
            <a:ext cx="8871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7.2m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3525965" y="9287434"/>
            <a:ext cx="8871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32cm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5436966" y="7723941"/>
            <a:ext cx="8871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20m</a:t>
            </a:r>
            <a:endParaRPr/>
          </a:p>
        </p:txBody>
      </p:sp>
      <p:sp>
        <p:nvSpPr>
          <p:cNvPr id="191" name="Google Shape;191;p13"/>
          <p:cNvSpPr txBox="1"/>
          <p:nvPr/>
        </p:nvSpPr>
        <p:spPr>
          <a:xfrm>
            <a:off x="5460411" y="9275816"/>
            <a:ext cx="8871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17cm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4"/>
          <p:cNvGrpSpPr/>
          <p:nvPr/>
        </p:nvGrpSpPr>
        <p:grpSpPr>
          <a:xfrm>
            <a:off x="29957" y="7483813"/>
            <a:ext cx="6726165" cy="1874149"/>
            <a:chOff x="123535" y="7459764"/>
            <a:chExt cx="6726165" cy="1874149"/>
          </a:xfrm>
        </p:grpSpPr>
        <p:pic>
          <p:nvPicPr>
            <p:cNvPr id="197" name="Google Shape;197;p14"/>
            <p:cNvPicPr preferRelativeResize="0"/>
            <p:nvPr/>
          </p:nvPicPr>
          <p:blipFill rotWithShape="1">
            <a:blip r:embed="rId3">
              <a:alphaModFix/>
            </a:blip>
            <a:srcRect b="47240" l="3025" r="4130" t="25951"/>
            <a:stretch/>
          </p:blipFill>
          <p:spPr>
            <a:xfrm>
              <a:off x="123535" y="7473808"/>
              <a:ext cx="4984291" cy="1860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4"/>
            <p:cNvPicPr preferRelativeResize="0"/>
            <p:nvPr/>
          </p:nvPicPr>
          <p:blipFill rotWithShape="1">
            <a:blip r:embed="rId3">
              <a:alphaModFix/>
            </a:blip>
            <a:srcRect b="47432" l="4099" r="3882" t="25759"/>
            <a:stretch/>
          </p:blipFill>
          <p:spPr>
            <a:xfrm>
              <a:off x="1909824" y="7459764"/>
              <a:ext cx="4939876" cy="18601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14"/>
          <p:cNvSpPr/>
          <p:nvPr/>
        </p:nvSpPr>
        <p:spPr>
          <a:xfrm>
            <a:off x="112034" y="15401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112034" y="585394"/>
            <a:ext cx="66088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Find the perimeter of the following rectangles:</a:t>
            </a:r>
            <a:endParaRPr/>
          </a:p>
        </p:txBody>
      </p:sp>
      <p:pic>
        <p:nvPicPr>
          <p:cNvPr descr="A picture containing text, screenshot, diagram, design&#10;&#10;Description automatically generated" id="201" name="Google Shape;201;p14"/>
          <p:cNvPicPr preferRelativeResize="0"/>
          <p:nvPr/>
        </p:nvPicPr>
        <p:blipFill rotWithShape="1">
          <a:blip r:embed="rId4">
            <a:alphaModFix/>
          </a:blip>
          <a:srcRect b="0" l="0" r="0" t="54253"/>
          <a:stretch/>
        </p:blipFill>
        <p:spPr>
          <a:xfrm>
            <a:off x="29957" y="2933628"/>
            <a:ext cx="6462239" cy="106880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166594" y="7102805"/>
            <a:ext cx="64739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Draw three different rectangles with a perimeter of 16 squares:</a:t>
            </a:r>
            <a:endParaRPr/>
          </a:p>
        </p:txBody>
      </p:sp>
      <p:grpSp>
        <p:nvGrpSpPr>
          <p:cNvPr id="204" name="Google Shape;204;p14"/>
          <p:cNvGrpSpPr/>
          <p:nvPr/>
        </p:nvGrpSpPr>
        <p:grpSpPr>
          <a:xfrm>
            <a:off x="29958" y="976173"/>
            <a:ext cx="6461634" cy="1652691"/>
            <a:chOff x="166594" y="974361"/>
            <a:chExt cx="5964544" cy="1430966"/>
          </a:xfrm>
        </p:grpSpPr>
        <p:pic>
          <p:nvPicPr>
            <p:cNvPr descr="A picture containing text, screenshot, diagram, design&#10;&#10;Description automatically generated" id="205" name="Google Shape;205;p14"/>
            <p:cNvPicPr preferRelativeResize="0"/>
            <p:nvPr/>
          </p:nvPicPr>
          <p:blipFill rotWithShape="1">
            <a:blip r:embed="rId4">
              <a:alphaModFix/>
            </a:blip>
            <a:srcRect b="45268" l="0" r="0" t="0"/>
            <a:stretch/>
          </p:blipFill>
          <p:spPr>
            <a:xfrm>
              <a:off x="166594" y="974361"/>
              <a:ext cx="5964544" cy="1180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screenshot, diagram, design&#10;&#10;Description automatically generated" id="206" name="Google Shape;206;p14"/>
            <p:cNvPicPr preferRelativeResize="0"/>
            <p:nvPr/>
          </p:nvPicPr>
          <p:blipFill rotWithShape="1">
            <a:blip r:embed="rId4">
              <a:alphaModFix/>
            </a:blip>
            <a:srcRect b="62321" l="19581" r="73354" t="26834"/>
            <a:stretch/>
          </p:blipFill>
          <p:spPr>
            <a:xfrm>
              <a:off x="583836" y="1553942"/>
              <a:ext cx="421411" cy="233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screenshot, diagram, design&#10;&#10;Description automatically generated" id="207" name="Google Shape;207;p14"/>
            <p:cNvPicPr preferRelativeResize="0"/>
            <p:nvPr/>
          </p:nvPicPr>
          <p:blipFill rotWithShape="1">
            <a:blip r:embed="rId4">
              <a:alphaModFix/>
            </a:blip>
            <a:srcRect b="89195" l="13982" r="80419" t="605"/>
            <a:stretch/>
          </p:blipFill>
          <p:spPr>
            <a:xfrm>
              <a:off x="959090" y="2185356"/>
              <a:ext cx="333963" cy="2199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screenshot, diagram, design&#10;&#10;Description automatically generated" id="208" name="Google Shape;208;p14"/>
            <p:cNvPicPr preferRelativeResize="0"/>
            <p:nvPr/>
          </p:nvPicPr>
          <p:blipFill rotWithShape="1">
            <a:blip r:embed="rId4">
              <a:alphaModFix/>
            </a:blip>
            <a:srcRect b="79323" l="77326" r="15609" t="10191"/>
            <a:stretch/>
          </p:blipFill>
          <p:spPr>
            <a:xfrm>
              <a:off x="4810294" y="1913589"/>
              <a:ext cx="421411" cy="226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14"/>
          <p:cNvSpPr txBox="1"/>
          <p:nvPr/>
        </p:nvSpPr>
        <p:spPr>
          <a:xfrm>
            <a:off x="931584" y="5477144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6.73cm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 flipH="1">
            <a:off x="1670112" y="5140838"/>
            <a:ext cx="679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4.6cm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3407842" y="5416997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 flipH="1">
            <a:off x="2589321" y="5002494"/>
            <a:ext cx="8185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8.63cm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4854382" y="4922943"/>
            <a:ext cx="9052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19.3cm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 flipH="1">
            <a:off x="5779624" y="4825713"/>
            <a:ext cx="68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6.5cm</a:t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102154" y="4826946"/>
            <a:ext cx="3505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2337781" y="4821884"/>
            <a:ext cx="3577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4424862" y="4846604"/>
            <a:ext cx="3129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 flipH="1">
            <a:off x="373226" y="5095494"/>
            <a:ext cx="679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4.6cm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959117" y="4786152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6.73cm</a:t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892547" y="5066056"/>
            <a:ext cx="847630" cy="41108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3175678" y="4930220"/>
            <a:ext cx="958950" cy="4691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 rot="-2468521">
            <a:off x="5021781" y="5126672"/>
            <a:ext cx="958950" cy="4691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1249252" y="6343013"/>
            <a:ext cx="1609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22.66cm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1352740" y="2466567"/>
            <a:ext cx="946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3467669" y="2489386"/>
            <a:ext cx="8377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5570863" y="2531447"/>
            <a:ext cx="1138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110mm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400453" y="4396509"/>
            <a:ext cx="6794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6.6m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3520888" y="4416820"/>
            <a:ext cx="9345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360m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5581976" y="4398795"/>
            <a:ext cx="10808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3359888" y="6338628"/>
            <a:ext cx="1609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41.26cm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5546416" y="6301658"/>
            <a:ext cx="1609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51.6cm</a:t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557097" y="7833054"/>
            <a:ext cx="1722399" cy="241261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2782888" y="7570315"/>
            <a:ext cx="1476000" cy="504000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556246" y="8328019"/>
            <a:ext cx="1260000" cy="756000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2782888" y="8328019"/>
            <a:ext cx="1008000" cy="1008000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1244275" y="2493326"/>
            <a:ext cx="987007" cy="36219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3340753" y="2504819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5533594" y="2507237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244275" y="4398797"/>
            <a:ext cx="987007" cy="36219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3340753" y="441029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5533594" y="441270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1227881" y="6314699"/>
            <a:ext cx="987007" cy="36219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3324359" y="632619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5517200" y="632861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4"/>
          <p:cNvPicPr preferRelativeResize="0"/>
          <p:nvPr/>
        </p:nvPicPr>
        <p:blipFill rotWithShape="1">
          <a:blip r:embed="rId5">
            <a:alphaModFix/>
          </a:blip>
          <a:srcRect b="0" l="3038" r="0" t="0"/>
          <a:stretch/>
        </p:blipFill>
        <p:spPr>
          <a:xfrm>
            <a:off x="6007521" y="3435123"/>
            <a:ext cx="687713" cy="3005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14"/>
          <p:cNvGraphicFramePr/>
          <p:nvPr/>
        </p:nvGraphicFramePr>
        <p:xfrm>
          <a:off x="181930" y="9785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2157975"/>
                <a:gridCol w="2157975"/>
                <a:gridCol w="2157975"/>
              </a:tblGrid>
              <a:tr h="19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/>
          <p:nvPr/>
        </p:nvSpPr>
        <p:spPr>
          <a:xfrm>
            <a:off x="112034" y="453165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196932" y="4906108"/>
            <a:ext cx="64739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Find the perimeter of the following parallelograms:</a:t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534667" y="5495316"/>
            <a:ext cx="1137954" cy="503865"/>
          </a:xfrm>
          <a:prstGeom prst="parallelogram">
            <a:avLst>
              <a:gd fmla="val 25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2730750" y="5416293"/>
            <a:ext cx="996696" cy="430713"/>
          </a:xfrm>
          <a:prstGeom prst="parallelogram">
            <a:avLst>
              <a:gd fmla="val 133936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 flipH="1">
            <a:off x="4883379" y="5571831"/>
            <a:ext cx="1137954" cy="507031"/>
          </a:xfrm>
          <a:prstGeom prst="parallelogram">
            <a:avLst>
              <a:gd fmla="val 937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 flipH="1" rot="10800000">
            <a:off x="535359" y="7718539"/>
            <a:ext cx="772801" cy="340453"/>
          </a:xfrm>
          <a:prstGeom prst="parallelogram">
            <a:avLst>
              <a:gd fmla="val 25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2792113" y="7735200"/>
            <a:ext cx="1216152" cy="315943"/>
          </a:xfrm>
          <a:prstGeom prst="parallelogram">
            <a:avLst>
              <a:gd fmla="val 25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4672020" y="7631545"/>
            <a:ext cx="1664208" cy="200166"/>
          </a:xfrm>
          <a:prstGeom prst="parallelogram">
            <a:avLst>
              <a:gd fmla="val 107090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746944" y="5979882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 flipH="1">
            <a:off x="1549494" y="5642521"/>
            <a:ext cx="679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2690827" y="5820236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36cm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 flipH="1">
            <a:off x="2528622" y="5473244"/>
            <a:ext cx="8185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87cm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4911276" y="5333865"/>
            <a:ext cx="9052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472mm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 flipH="1">
            <a:off x="5753515" y="5603644"/>
            <a:ext cx="68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651mm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1227719" y="7742375"/>
            <a:ext cx="599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0.7m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620480" y="7492617"/>
            <a:ext cx="642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1.8m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 flipH="1">
            <a:off x="3168342" y="7495728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27.6m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3927687" y="7806128"/>
            <a:ext cx="5822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1.58m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 flipH="1">
            <a:off x="5157856" y="7787876"/>
            <a:ext cx="11209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29cm</a:t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6257167" y="7641159"/>
            <a:ext cx="5309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43cm</a:t>
            </a:r>
            <a:endParaRPr/>
          </a:p>
        </p:txBody>
      </p:sp>
      <p:sp>
        <p:nvSpPr>
          <p:cNvPr id="271" name="Google Shape;271;p15"/>
          <p:cNvSpPr txBox="1"/>
          <p:nvPr/>
        </p:nvSpPr>
        <p:spPr>
          <a:xfrm>
            <a:off x="87411" y="5281254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/>
          </a:p>
        </p:txBody>
      </p:sp>
      <p:sp>
        <p:nvSpPr>
          <p:cNvPr id="272" name="Google Shape;272;p15"/>
          <p:cNvSpPr txBox="1"/>
          <p:nvPr/>
        </p:nvSpPr>
        <p:spPr>
          <a:xfrm>
            <a:off x="2277082" y="5292634"/>
            <a:ext cx="3577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4530214" y="5320595"/>
            <a:ext cx="3433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64038" y="7578364"/>
            <a:ext cx="3577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2284267" y="7505187"/>
            <a:ext cx="3545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</a:t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4504426" y="7505186"/>
            <a:ext cx="3263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</a:t>
            </a:r>
            <a:endParaRPr/>
          </a:p>
        </p:txBody>
      </p:sp>
      <p:sp>
        <p:nvSpPr>
          <p:cNvPr id="277" name="Google Shape;277;p15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15"/>
          <p:cNvSpPr txBox="1"/>
          <p:nvPr/>
        </p:nvSpPr>
        <p:spPr>
          <a:xfrm flipH="1">
            <a:off x="3381248" y="5599577"/>
            <a:ext cx="8185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87cm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 flipH="1">
            <a:off x="212441" y="5598232"/>
            <a:ext cx="679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929427" y="5273826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2315352" y="7792570"/>
            <a:ext cx="5822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1.58m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 flipH="1">
            <a:off x="3073628" y="8051143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27.6m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1112013" y="35042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5004303" y="36273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2993299" y="36273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143256" y="116878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the perimeter of parallelograms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5"/>
          <p:cNvCxnSpPr/>
          <p:nvPr/>
        </p:nvCxnSpPr>
        <p:spPr>
          <a:xfrm>
            <a:off x="3593827" y="7739491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88" name="Google Shape;288;p15"/>
          <p:cNvSpPr txBox="1"/>
          <p:nvPr/>
        </p:nvSpPr>
        <p:spPr>
          <a:xfrm>
            <a:off x="3109431" y="7780341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 m</a:t>
            </a:r>
            <a:endParaRPr/>
          </a:p>
        </p:txBody>
      </p:sp>
      <p:cxnSp>
        <p:nvCxnSpPr>
          <p:cNvPr id="289" name="Google Shape;289;p15"/>
          <p:cNvCxnSpPr/>
          <p:nvPr/>
        </p:nvCxnSpPr>
        <p:spPr>
          <a:xfrm flipH="1">
            <a:off x="5406672" y="5880643"/>
            <a:ext cx="356124" cy="17131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90" name="Google Shape;290;p15"/>
          <p:cNvSpPr txBox="1"/>
          <p:nvPr/>
        </p:nvSpPr>
        <p:spPr>
          <a:xfrm>
            <a:off x="5089530" y="5696591"/>
            <a:ext cx="818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310mm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5934238" y="9136684"/>
            <a:ext cx="14755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144cm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3652461" y="9136684"/>
            <a:ext cx="1016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58.36m</a:t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1770357" y="9118880"/>
            <a:ext cx="820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5m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5669843" y="7013630"/>
            <a:ext cx="1191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2,246mm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3681511" y="7022129"/>
            <a:ext cx="820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246cm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1579612" y="7013630"/>
            <a:ext cx="820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28cm</a:t>
            </a:r>
            <a:endParaRPr/>
          </a:p>
        </p:txBody>
      </p:sp>
      <p:graphicFrame>
        <p:nvGraphicFramePr>
          <p:cNvPr id="297" name="Google Shape;297;p15"/>
          <p:cNvGraphicFramePr/>
          <p:nvPr/>
        </p:nvGraphicFramePr>
        <p:xfrm>
          <a:off x="143256" y="6343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4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the parallelogram: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the perimeter of the parallelogram: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the perimeter of the parallelogram: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8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Label all known side lengths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2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Add up all the side lengths to find the perimeter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98" name="Google Shape;298;p15"/>
          <p:cNvSpPr txBox="1"/>
          <p:nvPr/>
        </p:nvSpPr>
        <p:spPr>
          <a:xfrm>
            <a:off x="4229868" y="1546363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3641904" y="1884198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m</a:t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4184091" y="2835486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2.8 m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3262220" y="3176780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3.5 m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5343775" y="3164235"/>
            <a:ext cx="7083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6.7 cm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6052077" y="2925600"/>
            <a:ext cx="8208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4.03 cm</a:t>
            </a:r>
            <a:endParaRPr/>
          </a:p>
        </p:txBody>
      </p:sp>
      <p:sp>
        <p:nvSpPr>
          <p:cNvPr id="304" name="Google Shape;304;p15"/>
          <p:cNvSpPr txBox="1"/>
          <p:nvPr/>
        </p:nvSpPr>
        <p:spPr>
          <a:xfrm>
            <a:off x="5838149" y="1829888"/>
            <a:ext cx="64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cm</a:t>
            </a:r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5063955" y="1673225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cm</a:t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3399130" y="1361876"/>
            <a:ext cx="971024" cy="545860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3139271" y="2698452"/>
            <a:ext cx="1060498" cy="494320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5"/>
          <p:cNvCxnSpPr/>
          <p:nvPr/>
        </p:nvCxnSpPr>
        <p:spPr>
          <a:xfrm>
            <a:off x="3975220" y="2707072"/>
            <a:ext cx="0" cy="46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09" name="Google Shape;309;p15"/>
          <p:cNvSpPr/>
          <p:nvPr/>
        </p:nvSpPr>
        <p:spPr>
          <a:xfrm rot="3122720">
            <a:off x="5255663" y="1435818"/>
            <a:ext cx="838275" cy="389176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5203133" y="2751346"/>
            <a:ext cx="971024" cy="414641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3506882" y="2821255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2.2 m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1711787" y="3214815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6.1 cm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2343016" y="1545286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1647870" y="1874176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 m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469013" y="2692493"/>
            <a:ext cx="971024" cy="545860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1394764" y="1395553"/>
            <a:ext cx="1060498" cy="494320"/>
          </a:xfrm>
          <a:prstGeom prst="parallelogram">
            <a:avLst>
              <a:gd fmla="val 3192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5"/>
          <p:cNvCxnSpPr/>
          <p:nvPr/>
        </p:nvCxnSpPr>
        <p:spPr>
          <a:xfrm>
            <a:off x="2230713" y="1404173"/>
            <a:ext cx="0" cy="46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18" name="Google Shape;318;p15"/>
          <p:cNvSpPr txBox="1"/>
          <p:nvPr/>
        </p:nvSpPr>
        <p:spPr>
          <a:xfrm>
            <a:off x="1848209" y="1517438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1143143" y="2844559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cm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1754857" y="1166132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 m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1105537" y="1482466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</a:t>
            </a:r>
            <a:endParaRPr/>
          </a:p>
        </p:txBody>
      </p:sp>
      <p:sp>
        <p:nvSpPr>
          <p:cNvPr id="322" name="Google Shape;322;p15"/>
          <p:cNvSpPr txBox="1"/>
          <p:nvPr/>
        </p:nvSpPr>
        <p:spPr>
          <a:xfrm>
            <a:off x="3054282" y="1528359"/>
            <a:ext cx="624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3753429" y="1132874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m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5833092" y="1378938"/>
            <a:ext cx="900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cm</a:t>
            </a:r>
            <a:endParaRPr/>
          </a:p>
        </p:txBody>
      </p:sp>
      <p:sp>
        <p:nvSpPr>
          <p:cNvPr id="325" name="Google Shape;325;p15"/>
          <p:cNvSpPr txBox="1"/>
          <p:nvPr/>
        </p:nvSpPr>
        <p:spPr>
          <a:xfrm>
            <a:off x="5034200" y="1132718"/>
            <a:ext cx="64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cm</a:t>
            </a:r>
            <a:endParaRPr/>
          </a:p>
        </p:txBody>
      </p:sp>
      <p:cxnSp>
        <p:nvCxnSpPr>
          <p:cNvPr id="326" name="Google Shape;326;p15"/>
          <p:cNvCxnSpPr/>
          <p:nvPr/>
        </p:nvCxnSpPr>
        <p:spPr>
          <a:xfrm>
            <a:off x="5999753" y="2733561"/>
            <a:ext cx="0" cy="46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27" name="Google Shape;327;p15"/>
          <p:cNvSpPr txBox="1"/>
          <p:nvPr/>
        </p:nvSpPr>
        <p:spPr>
          <a:xfrm>
            <a:off x="5451601" y="2847720"/>
            <a:ext cx="63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 cm</a:t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4110336" y="1990537"/>
            <a:ext cx="820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26cm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3824140" y="3718611"/>
            <a:ext cx="900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12.6m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6081293" y="2026896"/>
            <a:ext cx="1118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20cm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5748348" y="3745424"/>
            <a:ext cx="11795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21.46cm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2171913" y="1983581"/>
            <a:ext cx="820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14m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1990021" y="3725961"/>
            <a:ext cx="900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30.2cm</a:t>
            </a:r>
            <a:endParaRPr/>
          </a:p>
        </p:txBody>
      </p:sp>
      <p:graphicFrame>
        <p:nvGraphicFramePr>
          <p:cNvPr id="334" name="Google Shape;334;p15"/>
          <p:cNvGraphicFramePr/>
          <p:nvPr/>
        </p:nvGraphicFramePr>
        <p:xfrm>
          <a:off x="100984" y="51765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2204925"/>
                <a:gridCol w="2204925"/>
                <a:gridCol w="2204925"/>
              </a:tblGrid>
              <a:tr h="225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p15"/>
          <p:cNvSpPr/>
          <p:nvPr/>
        </p:nvSpPr>
        <p:spPr>
          <a:xfrm>
            <a:off x="1205983" y="6963484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3405029" y="696776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437113" y="9122634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5613545" y="6976584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645629" y="9131456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1215610" y="911662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"/>
          <p:cNvSpPr txBox="1"/>
          <p:nvPr>
            <p:ph idx="12" type="sldNum"/>
          </p:nvPr>
        </p:nvSpPr>
        <p:spPr>
          <a:xfrm>
            <a:off x="5236977" y="926171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46" name="Google Shape;346;p16"/>
          <p:cNvGraphicFramePr/>
          <p:nvPr/>
        </p:nvGraphicFramePr>
        <p:xfrm>
          <a:off x="116044" y="208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6625900"/>
              </a:tblGrid>
              <a:tr h="137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 How much bigger is the rectangle’s perimeter than the parallelogram’s perimeter?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5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5. Three congruent rectangles are placed together to make the shape below. Find the perimeter of the shape. </a:t>
                      </a:r>
                      <a:endParaRPr/>
                    </a:p>
                    <a:p>
                      <a:pPr indent="-2667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2667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2667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2667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2667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7" name="Google Shape;347;p16"/>
          <p:cNvSpPr txBox="1"/>
          <p:nvPr/>
        </p:nvSpPr>
        <p:spPr>
          <a:xfrm flipH="1">
            <a:off x="463236" y="753930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470 cm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 flipH="1">
            <a:off x="4749754" y="711056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118 cm</a:t>
            </a:r>
            <a:endParaRPr/>
          </a:p>
        </p:txBody>
      </p:sp>
      <p:cxnSp>
        <p:nvCxnSpPr>
          <p:cNvPr id="349" name="Google Shape;349;p16"/>
          <p:cNvCxnSpPr/>
          <p:nvPr/>
        </p:nvCxnSpPr>
        <p:spPr>
          <a:xfrm>
            <a:off x="4356854" y="692511"/>
            <a:ext cx="0" cy="41052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50" name="Google Shape;350;p16"/>
          <p:cNvSpPr txBox="1"/>
          <p:nvPr/>
        </p:nvSpPr>
        <p:spPr>
          <a:xfrm>
            <a:off x="4006603" y="739623"/>
            <a:ext cx="6625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cm</a:t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 flipH="1" rot="10800000">
            <a:off x="3926368" y="682553"/>
            <a:ext cx="879324" cy="420485"/>
          </a:xfrm>
          <a:prstGeom prst="parallelogram">
            <a:avLst>
              <a:gd fmla="val 25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 rot="-2468521">
            <a:off x="627769" y="978985"/>
            <a:ext cx="958950" cy="28923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 txBox="1"/>
          <p:nvPr/>
        </p:nvSpPr>
        <p:spPr>
          <a:xfrm flipH="1">
            <a:off x="4040058" y="465286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245 cm</a:t>
            </a:r>
            <a:endParaRPr/>
          </a:p>
        </p:txBody>
      </p:sp>
      <p:sp>
        <p:nvSpPr>
          <p:cNvPr id="354" name="Google Shape;354;p16"/>
          <p:cNvSpPr txBox="1"/>
          <p:nvPr/>
        </p:nvSpPr>
        <p:spPr>
          <a:xfrm flipH="1">
            <a:off x="1428827" y="593132"/>
            <a:ext cx="897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87 cm</a:t>
            </a:r>
            <a:endParaRPr/>
          </a:p>
        </p:txBody>
      </p:sp>
      <p:pic>
        <p:nvPicPr>
          <p:cNvPr id="355" name="Google Shape;355;p16"/>
          <p:cNvPicPr preferRelativeResize="0"/>
          <p:nvPr/>
        </p:nvPicPr>
        <p:blipFill rotWithShape="1">
          <a:blip r:embed="rId3">
            <a:alphaModFix/>
          </a:blip>
          <a:srcRect b="18560" l="5291" r="34897" t="20522"/>
          <a:stretch/>
        </p:blipFill>
        <p:spPr>
          <a:xfrm>
            <a:off x="204246" y="2196680"/>
            <a:ext cx="3910961" cy="104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6"/>
          <p:cNvSpPr txBox="1"/>
          <p:nvPr/>
        </p:nvSpPr>
        <p:spPr>
          <a:xfrm>
            <a:off x="1575294" y="388988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357" name="Google Shape;357;p16"/>
          <p:cNvSpPr txBox="1"/>
          <p:nvPr/>
        </p:nvSpPr>
        <p:spPr>
          <a:xfrm>
            <a:off x="5080008" y="389978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3300769" y="388988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graphicFrame>
        <p:nvGraphicFramePr>
          <p:cNvPr id="359" name="Google Shape;359;p16"/>
          <p:cNvGraphicFramePr/>
          <p:nvPr/>
        </p:nvGraphicFramePr>
        <p:xfrm>
          <a:off x="123308" y="41427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1198325"/>
                <a:gridCol w="1791375"/>
                <a:gridCol w="1791375"/>
                <a:gridCol w="1791375"/>
              </a:tblGrid>
              <a:tr h="3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perimeter is given.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Find the missing length: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perimeter is given.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Find the missing length: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perimeter is given.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Find the missing length: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Label all known side lengths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Subtract to find the value of twice the missing length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4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3. Divide by 2 to find missing length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60" name="Google Shape;360;p16"/>
          <p:cNvSpPr/>
          <p:nvPr/>
        </p:nvSpPr>
        <p:spPr>
          <a:xfrm>
            <a:off x="123308" y="3616449"/>
            <a:ext cx="4424810" cy="27592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the length of a missing side in a rectangle or parallelogram</a:t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1633728" y="4660909"/>
            <a:ext cx="1059001" cy="51206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2692729" y="4778441"/>
            <a:ext cx="5010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363" name="Google Shape;363;p16"/>
          <p:cNvSpPr txBox="1"/>
          <p:nvPr/>
        </p:nvSpPr>
        <p:spPr>
          <a:xfrm>
            <a:off x="2035629" y="5172973"/>
            <a:ext cx="255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64" name="Google Shape;364;p16"/>
          <p:cNvSpPr txBox="1"/>
          <p:nvPr/>
        </p:nvSpPr>
        <p:spPr>
          <a:xfrm>
            <a:off x="1568017" y="5361837"/>
            <a:ext cx="18086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36cm</a:t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3397925" y="4660909"/>
            <a:ext cx="1133856" cy="496675"/>
          </a:xfrm>
          <a:prstGeom prst="parallelogram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3699677" y="5118219"/>
            <a:ext cx="5036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1.2m</a:t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4530404" y="4789084"/>
            <a:ext cx="2194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3223051" y="5348954"/>
            <a:ext cx="2377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3.4m </a:t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5236977" y="4660909"/>
            <a:ext cx="1199132" cy="5670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 txBox="1"/>
          <p:nvPr/>
        </p:nvSpPr>
        <p:spPr>
          <a:xfrm>
            <a:off x="5561011" y="5194087"/>
            <a:ext cx="5309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11cm</a:t>
            </a:r>
            <a:endParaRPr/>
          </a:p>
        </p:txBody>
      </p:sp>
      <p:sp>
        <p:nvSpPr>
          <p:cNvPr id="371" name="Google Shape;371;p16"/>
          <p:cNvSpPr txBox="1"/>
          <p:nvPr/>
        </p:nvSpPr>
        <p:spPr>
          <a:xfrm>
            <a:off x="6436109" y="4819021"/>
            <a:ext cx="255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72" name="Google Shape;372;p16"/>
          <p:cNvSpPr txBox="1"/>
          <p:nvPr/>
        </p:nvSpPr>
        <p:spPr>
          <a:xfrm>
            <a:off x="4983252" y="5358898"/>
            <a:ext cx="17401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28cm</a:t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102992" y="688230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1240946" y="6985979"/>
            <a:ext cx="5758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The perimeter of each shape is given. Find the length of the missing side.</a:t>
            </a:r>
            <a:endParaRPr/>
          </a:p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9128" y="7300872"/>
            <a:ext cx="1625619" cy="105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044" y="7343617"/>
            <a:ext cx="4699405" cy="9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6"/>
          <p:cNvSpPr txBox="1"/>
          <p:nvPr/>
        </p:nvSpPr>
        <p:spPr>
          <a:xfrm>
            <a:off x="5315414" y="7330606"/>
            <a:ext cx="3577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/>
          </a:p>
        </p:txBody>
      </p:sp>
      <p:graphicFrame>
        <p:nvGraphicFramePr>
          <p:cNvPr id="378" name="Google Shape;378;p16"/>
          <p:cNvGraphicFramePr/>
          <p:nvPr/>
        </p:nvGraphicFramePr>
        <p:xfrm>
          <a:off x="95728" y="73059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1656925"/>
                <a:gridCol w="1656925"/>
                <a:gridCol w="1656925"/>
                <a:gridCol w="1656925"/>
              </a:tblGrid>
              <a:tr h="212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9" name="Google Shape;379;p16"/>
          <p:cNvSpPr txBox="1"/>
          <p:nvPr/>
        </p:nvSpPr>
        <p:spPr>
          <a:xfrm>
            <a:off x="1470773" y="901639"/>
            <a:ext cx="14755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1,114cm</a:t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5266375" y="849555"/>
            <a:ext cx="14755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726cm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4631707" y="1355902"/>
            <a:ext cx="191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longer by 388cm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5279489" y="3041357"/>
            <a:ext cx="14755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74cm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1761326" y="5892244"/>
            <a:ext cx="10590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13cm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3709212" y="5888112"/>
            <a:ext cx="1203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0.5m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5593393" y="5833329"/>
            <a:ext cx="105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386" name="Google Shape;386;p16"/>
          <p:cNvSpPr txBox="1"/>
          <p:nvPr/>
        </p:nvSpPr>
        <p:spPr>
          <a:xfrm>
            <a:off x="1053327" y="9069342"/>
            <a:ext cx="6970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2701851" y="9108166"/>
            <a:ext cx="8104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4424867" y="9100798"/>
            <a:ext cx="6955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5836904" y="9130546"/>
            <a:ext cx="1157748" cy="37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13.5cm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42290" y="902526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2235520" y="901682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904378" y="9051061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5597608" y="9042621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 txBox="1"/>
          <p:nvPr>
            <p:ph idx="12" type="sldNum"/>
          </p:nvPr>
        </p:nvSpPr>
        <p:spPr>
          <a:xfrm>
            <a:off x="5292499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0" name="Google Shape;4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4648" y="274522"/>
            <a:ext cx="1451773" cy="94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186" y="349129"/>
            <a:ext cx="1451773" cy="79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2468" y="282262"/>
            <a:ext cx="1110591" cy="899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2454" y="244270"/>
            <a:ext cx="1374049" cy="12323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4" name="Google Shape;404;p17"/>
          <p:cNvGraphicFramePr/>
          <p:nvPr/>
        </p:nvGraphicFramePr>
        <p:xfrm>
          <a:off x="82907" y="245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1674275"/>
                <a:gridCol w="1674275"/>
                <a:gridCol w="1674275"/>
                <a:gridCol w="1674275"/>
              </a:tblGrid>
              <a:tr h="212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5" name="Google Shape;405;p17"/>
          <p:cNvSpPr txBox="1"/>
          <p:nvPr/>
        </p:nvSpPr>
        <p:spPr>
          <a:xfrm>
            <a:off x="121497" y="245171"/>
            <a:ext cx="53912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			        (f)                                             (g)	                                      (h)</a:t>
            </a:r>
            <a:endParaRPr/>
          </a:p>
        </p:txBody>
      </p:sp>
      <p:graphicFrame>
        <p:nvGraphicFramePr>
          <p:cNvPr id="406" name="Google Shape;406;p17"/>
          <p:cNvGraphicFramePr/>
          <p:nvPr/>
        </p:nvGraphicFramePr>
        <p:xfrm>
          <a:off x="82907" y="25824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{08A51B89-AD09-4B51-955F-B7FF7961E0B6}</a:tableStyleId>
              </a:tblPr>
              <a:tblGrid>
                <a:gridCol w="6697150"/>
              </a:tblGrid>
              <a:tr h="305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 Using the diagrams below, find the perimeter of one individual rectangle:</a:t>
                      </a: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endParaRPr b="0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8. The width of a rectangle is 2 metres less than the length.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perimeter of the rectangle is between 11 m and 15 m.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What could the dimensions of the rectangle be?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Give one possible answer.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GB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answers. E.g. If the perimeter is 12 m: Length = 4 m Width = 2 m.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9.  A rectangle has a perimeter of 18cm.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down 5 possible pairs of values for its length and width.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07" name="Google Shape;40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497" y="2817363"/>
            <a:ext cx="1475293" cy="277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96814" y="4328053"/>
            <a:ext cx="1475293" cy="1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2728" y="2620662"/>
            <a:ext cx="1020219" cy="51640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7"/>
          <p:cNvSpPr txBox="1"/>
          <p:nvPr/>
        </p:nvSpPr>
        <p:spPr>
          <a:xfrm>
            <a:off x="951277" y="1997234"/>
            <a:ext cx="980767" cy="37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5.5mm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5999253" y="2047772"/>
            <a:ext cx="875093" cy="37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0.43m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4446036" y="2026424"/>
            <a:ext cx="8455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2680162" y="2018458"/>
            <a:ext cx="980767" cy="37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5.5cm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648184" y="1950786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2341414" y="1942346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010272" y="1976585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5703502" y="1968145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5161326" y="4223949"/>
            <a:ext cx="10202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93178" y="8413280"/>
            <a:ext cx="61274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1cm&amp;8cm, 2cm&amp;7cm, 3cm&amp;6cm, 4cm&amp;5cm, 1.5cm&amp;7.5cm,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Any pair of numbers that sum to 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18"/>
          <p:cNvGrpSpPr/>
          <p:nvPr/>
        </p:nvGrpSpPr>
        <p:grpSpPr>
          <a:xfrm>
            <a:off x="166374" y="5198104"/>
            <a:ext cx="6539864" cy="4381500"/>
            <a:chOff x="159068" y="5311167"/>
            <a:chExt cx="6539864" cy="4381500"/>
          </a:xfrm>
        </p:grpSpPr>
        <p:pic>
          <p:nvPicPr>
            <p:cNvPr id="425" name="Google Shape;42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9068" y="5311167"/>
              <a:ext cx="5514975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18"/>
            <p:cNvPicPr preferRelativeResize="0"/>
            <p:nvPr/>
          </p:nvPicPr>
          <p:blipFill rotWithShape="1">
            <a:blip r:embed="rId3">
              <a:alphaModFix/>
            </a:blip>
            <a:srcRect b="0" l="69735" r="3662" t="0"/>
            <a:stretch/>
          </p:blipFill>
          <p:spPr>
            <a:xfrm>
              <a:off x="5231750" y="5311167"/>
              <a:ext cx="1467182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18"/>
            <p:cNvPicPr preferRelativeResize="0"/>
            <p:nvPr/>
          </p:nvPicPr>
          <p:blipFill rotWithShape="1">
            <a:blip r:embed="rId3">
              <a:alphaModFix/>
            </a:blip>
            <a:srcRect b="0" l="6619" r="0" t="0"/>
            <a:stretch/>
          </p:blipFill>
          <p:spPr>
            <a:xfrm>
              <a:off x="936852" y="5311167"/>
              <a:ext cx="5149954" cy="438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8" name="Google Shape;428;p18"/>
          <p:cNvSpPr/>
          <p:nvPr/>
        </p:nvSpPr>
        <p:spPr>
          <a:xfrm>
            <a:off x="157315" y="5213765"/>
            <a:ext cx="6543370" cy="30031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 txBox="1"/>
          <p:nvPr>
            <p:ph idx="12" type="sldNum"/>
          </p:nvPr>
        </p:nvSpPr>
        <p:spPr>
          <a:xfrm>
            <a:off x="5130819" y="938275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205795" y="326396"/>
            <a:ext cx="6446409" cy="25853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	The triangle and square have the same perimeter. Find 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	The length of a rectangular field is 60m greater that the width of the field.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field has a length of 310m. Find the perimeter of the field.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2224" y="523242"/>
            <a:ext cx="2133600" cy="83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2" name="Google Shape;432;p18"/>
          <p:cNvCxnSpPr/>
          <p:nvPr/>
        </p:nvCxnSpPr>
        <p:spPr>
          <a:xfrm>
            <a:off x="205795" y="1558287"/>
            <a:ext cx="640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3" name="Google Shape;433;p18"/>
          <p:cNvSpPr txBox="1"/>
          <p:nvPr/>
        </p:nvSpPr>
        <p:spPr>
          <a:xfrm>
            <a:off x="188861" y="3102019"/>
            <a:ext cx="649489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9265" y="3467880"/>
            <a:ext cx="3068300" cy="174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9919" y="5755701"/>
            <a:ext cx="3130766" cy="20498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6" name="Google Shape;436;p18"/>
          <p:cNvCxnSpPr/>
          <p:nvPr/>
        </p:nvCxnSpPr>
        <p:spPr>
          <a:xfrm>
            <a:off x="189737" y="5648938"/>
            <a:ext cx="648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7" name="Google Shape;437;p18"/>
          <p:cNvCxnSpPr/>
          <p:nvPr/>
        </p:nvCxnSpPr>
        <p:spPr>
          <a:xfrm>
            <a:off x="3530809" y="3428212"/>
            <a:ext cx="0" cy="468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38" name="Google Shape;43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366" y="3470184"/>
            <a:ext cx="3078640" cy="178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9736" y="5676133"/>
            <a:ext cx="3213059" cy="238043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8"/>
          <p:cNvSpPr txBox="1"/>
          <p:nvPr/>
        </p:nvSpPr>
        <p:spPr>
          <a:xfrm>
            <a:off x="189737" y="3467880"/>
            <a:ext cx="4815307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1.                                                                                            2.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3.                                                                                            4. </a:t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205795" y="3434028"/>
            <a:ext cx="6461770" cy="46794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 txBox="1"/>
          <p:nvPr/>
        </p:nvSpPr>
        <p:spPr>
          <a:xfrm>
            <a:off x="1364534" y="808666"/>
            <a:ext cx="9294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1364534" y="2268639"/>
            <a:ext cx="8370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1120m</a:t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3690868" y="4508874"/>
            <a:ext cx="467997" cy="635773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5230362" y="7124009"/>
            <a:ext cx="503532" cy="770726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952952" y="4812931"/>
            <a:ext cx="789661" cy="513988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408586" y="7329954"/>
            <a:ext cx="616228" cy="358836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