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734A8F-DFB3-4F28-AF70-45E2574C7922}">
  <a:tblStyle styleId="{4D734A8F-DFB3-4F28-AF70-45E2574C792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7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7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8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8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8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9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p13"/>
          <p:cNvGraphicFramePr/>
          <p:nvPr/>
        </p:nvGraphicFramePr>
        <p:xfrm>
          <a:off x="102501" y="47073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{4D734A8F-DFB3-4F28-AF70-45E2574C7922}</a:tableStyleId>
              </a:tblPr>
              <a:tblGrid>
                <a:gridCol w="940125"/>
                <a:gridCol w="1961725"/>
                <a:gridCol w="1853700"/>
                <a:gridCol w="1907700"/>
              </a:tblGrid>
              <a:tr h="72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Sarah spends a £7.40 in one store and £2.99 in another store. How much money has she spent in total?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George buys a vest for £2 and a pair of sunglasses for £4.20. How much has he spent in total?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Adil buys a t-shirt for £3.98 and a pair of sunglasses for £4.20. How much has he spent in total?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 Line up the correct place value.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2. Add the values together.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89" name="Google Shape;89;p13"/>
          <p:cNvSpPr txBox="1"/>
          <p:nvPr/>
        </p:nvSpPr>
        <p:spPr>
          <a:xfrm>
            <a:off x="1271600" y="444300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072135" y="443317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5271755" y="948379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86108" y="299920"/>
            <a:ext cx="6679742" cy="105177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N2.8 – Money Problems Involving Addition and Subtraction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92150" y="585865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33365" y="852327"/>
            <a:ext cx="48775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calculate basic addition and subtraction problems involving money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calculate multi-step money problems, involving change and savings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86513" y="332691"/>
            <a:ext cx="6451212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 To apply addition and subtraction of decimals to money problems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5604428" y="639519"/>
            <a:ext cx="1029337" cy="64633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Subtraction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3111934" y="443317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113650" y="4223955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Addition with money, working in both pounds and pence.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86109" y="2028113"/>
            <a:ext cx="6671207" cy="213870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13"/>
          <p:cNvCxnSpPr/>
          <p:nvPr/>
        </p:nvCxnSpPr>
        <p:spPr>
          <a:xfrm>
            <a:off x="86107" y="3185939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13"/>
          <p:cNvCxnSpPr>
            <a:stCxn id="100" idx="2"/>
            <a:endCxn id="100" idx="0"/>
          </p:cNvCxnSpPr>
          <p:nvPr/>
        </p:nvCxnSpPr>
        <p:spPr>
          <a:xfrm rot="10800000">
            <a:off x="3421713" y="2028121"/>
            <a:ext cx="0" cy="213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13"/>
          <p:cNvSpPr txBox="1"/>
          <p:nvPr/>
        </p:nvSpPr>
        <p:spPr>
          <a:xfrm>
            <a:off x="72012" y="2011860"/>
            <a:ext cx="333185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b="1"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Currency is the type of money that a country uses. It can be in the form of coins or bank notes.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5624758" y="1990336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37584" y="3161855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5685115" y="3177325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2759068" y="3104147"/>
            <a:ext cx="117288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Currency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3403867" y="2138747"/>
            <a:ext cx="341093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coin or note has a specific value written on it, such as £1, £5, or £10. That value tells you how much it's worth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currencies in the world have two decimal places, but some have more and some have less.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133365" y="3550790"/>
            <a:ext cx="633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£15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665977" y="3686803"/>
            <a:ext cx="633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£3.10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2745818" y="3581131"/>
            <a:ext cx="633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£7.03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115577" y="3889821"/>
            <a:ext cx="633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£82.36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2107610" y="3694932"/>
            <a:ext cx="633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£165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1480730" y="3881373"/>
            <a:ext cx="633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35p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43544" y="3364349"/>
            <a:ext cx="64729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how we write amounts of money: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3435716" y="3429174"/>
            <a:ext cx="32384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do not write amounts of money like this: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954914" y="3935234"/>
            <a:ext cx="633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6p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2317603" y="3906825"/>
            <a:ext cx="14733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£1 000 000.56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1400253" y="3574162"/>
            <a:ext cx="633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£0.86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3474117" y="3674131"/>
            <a:ext cx="633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£7.03p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4318377" y="3694932"/>
            <a:ext cx="633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£8.4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5162637" y="3692467"/>
            <a:ext cx="633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£0.9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5991528" y="3696385"/>
            <a:ext cx="633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£0.06p</a:t>
            </a:r>
            <a:endParaRPr/>
          </a:p>
        </p:txBody>
      </p:sp>
      <p:graphicFrame>
        <p:nvGraphicFramePr>
          <p:cNvPr id="124" name="Google Shape;124;p13"/>
          <p:cNvGraphicFramePr/>
          <p:nvPr/>
        </p:nvGraphicFramePr>
        <p:xfrm>
          <a:off x="113649" y="70296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{4D734A8F-DFB3-4F28-AF70-45E2574C7922}</a:tableStyleId>
              </a:tblPr>
              <a:tblGrid>
                <a:gridCol w="830775"/>
                <a:gridCol w="1956625"/>
                <a:gridCol w="2087050"/>
                <a:gridCol w="1779225"/>
              </a:tblGrid>
              <a:tr h="1007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Amira finds 74p in her purse. She finds 48p on the table. How much money has she found in total? Give your answer in pounds.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Fahad puts 39p into a charity collection tin. Ella puts 58p into the same tin. There was already £1.58 in the tin. How much money is now in the tin?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Jozef buys an apple for 65p, a loaf of bread that costs £1.19 and a yoghurt for 83p. How much did Jozef spend in total?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 Line up the correct place value.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2. Add the values together.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25" name="Google Shape;125;p13"/>
          <p:cNvSpPr txBox="1"/>
          <p:nvPr/>
        </p:nvSpPr>
        <p:spPr>
          <a:xfrm>
            <a:off x="1273196" y="679746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4- I do…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5073731" y="678763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3113530" y="678763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76306" y="1377813"/>
            <a:ext cx="6679742" cy="612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Adding and subtracting money is a real-life application of adding and subtracting decimals. In this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subtopic, you will use your knowledge of this. Remember that we use two decimal places in money. 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1348728" y="6180295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£10.39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3340975" y="6180295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£6.20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5187762" y="6168711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£8.18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1448533" y="892897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£1.22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3317330" y="887101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£2.55</a:t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5289070" y="893866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£2.67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/>
          <p:nvPr/>
        </p:nvSpPr>
        <p:spPr>
          <a:xfrm>
            <a:off x="109412" y="66642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pic>
        <p:nvPicPr>
          <p:cNvPr id="140" name="Google Shape;1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25" y="8829191"/>
            <a:ext cx="3343275" cy="828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1" name="Google Shape;141;p14"/>
          <p:cNvGraphicFramePr/>
          <p:nvPr/>
        </p:nvGraphicFramePr>
        <p:xfrm>
          <a:off x="97380" y="4968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{4D734A8F-DFB3-4F28-AF70-45E2574C7922}</a:tableStyleId>
              </a:tblPr>
              <a:tblGrid>
                <a:gridCol w="2221075"/>
                <a:gridCol w="2221075"/>
                <a:gridCol w="2221075"/>
              </a:tblGrid>
              <a:tr h="33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Jack had a bank balance of £7.20. He receives £1.40 from his father and puts it into his bank account. What is Jack’s new balance?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Lilian has £4.25 in her purse. She puts another £2.53 into the purse. How much is in Lilian’s purse altogether?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Marco buys a pizza for £5.19. He also buys fries for £3.73. How much did Marco spend in total?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Faizal gives £2.62 to his sister and £2.83 to his brother. How much money did Faizal give away?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Hafsa bought a cinema ticket for £5.86. She then bought a drink for £3.47. How much did she spend altogether?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Henry finds 67p in his bedroom and 39p in the kitchen. How much money did he find in total?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Georgina earns money from completing surveys. She earned 96p for taking survey A, 45p for taking survey B and £1.24 for taking survey C. How much money did she earn in total?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Eric bought a carrot for 45p, an orange for 58p and a butternut squash for £2.73. How much did Eric spend altogether?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Alicia bought a t-shirt for £8.50 and some shorts for £15.66. The carrier bag cost 45p. How much did she spend in total?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" name="Google Shape;142;p14"/>
          <p:cNvSpPr txBox="1"/>
          <p:nvPr/>
        </p:nvSpPr>
        <p:spPr>
          <a:xfrm>
            <a:off x="1278511" y="141096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Complete the following money problems: </a:t>
            </a:r>
            <a:endParaRPr/>
          </a:p>
        </p:txBody>
      </p:sp>
      <p:sp>
        <p:nvSpPr>
          <p:cNvPr id="143" name="Google Shape;143;p14"/>
          <p:cNvSpPr txBox="1"/>
          <p:nvPr>
            <p:ph idx="12" type="sldNum"/>
          </p:nvPr>
        </p:nvSpPr>
        <p:spPr>
          <a:xfrm>
            <a:off x="5314950" y="945446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screenshot of a computer&#10;&#10;Description automatically generated" id="144" name="Google Shape;144;p14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327949" y="1858082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45" name="Google Shape;145;p14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509583" y="185808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46" name="Google Shape;146;p14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754653" y="185808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47" name="Google Shape;147;p14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327949" y="422585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48" name="Google Shape;148;p14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509583" y="4225852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49" name="Google Shape;149;p14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752519" y="422585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50" name="Google Shape;150;p14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327949" y="702336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51" name="Google Shape;151;p14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509583" y="702336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52" name="Google Shape;152;p14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752519" y="7023359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4"/>
          <p:cNvSpPr txBox="1"/>
          <p:nvPr/>
        </p:nvSpPr>
        <p:spPr>
          <a:xfrm>
            <a:off x="0" y="8438959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Complete the following bar models:</a:t>
            </a:r>
            <a:endParaRPr/>
          </a:p>
        </p:txBody>
      </p:sp>
      <p:pic>
        <p:nvPicPr>
          <p:cNvPr id="154" name="Google Shape;1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1088" y="8832467"/>
            <a:ext cx="3343275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4"/>
          <p:cNvSpPr/>
          <p:nvPr/>
        </p:nvSpPr>
        <p:spPr>
          <a:xfrm>
            <a:off x="3912553" y="9300941"/>
            <a:ext cx="444571" cy="255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5568459" y="9303808"/>
            <a:ext cx="444571" cy="255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49225" y="8611565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3501088" y="8632072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/>
          </a:p>
        </p:txBody>
      </p:sp>
      <p:sp>
        <p:nvSpPr>
          <p:cNvPr id="159" name="Google Shape;159;p14"/>
          <p:cNvSpPr/>
          <p:nvPr/>
        </p:nvSpPr>
        <p:spPr>
          <a:xfrm>
            <a:off x="3551705" y="9268646"/>
            <a:ext cx="1048107" cy="28729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89p</a:t>
            </a: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5319303" y="9261058"/>
            <a:ext cx="767172" cy="30268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£2.05</a:t>
            </a:r>
            <a:endParaRPr/>
          </a:p>
        </p:txBody>
      </p:sp>
      <p:sp>
        <p:nvSpPr>
          <p:cNvPr id="161" name="Google Shape;161;p14"/>
          <p:cNvSpPr txBox="1"/>
          <p:nvPr/>
        </p:nvSpPr>
        <p:spPr>
          <a:xfrm>
            <a:off x="636639" y="2190905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£8.60</a:t>
            </a:r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2884862" y="2163176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£6.78</a:t>
            </a:r>
            <a:endParaRPr/>
          </a:p>
        </p:txBody>
      </p:sp>
      <p:sp>
        <p:nvSpPr>
          <p:cNvPr id="163" name="Google Shape;163;p14"/>
          <p:cNvSpPr txBox="1"/>
          <p:nvPr/>
        </p:nvSpPr>
        <p:spPr>
          <a:xfrm>
            <a:off x="5172725" y="2175738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£8.92</a:t>
            </a:r>
            <a:endParaRPr/>
          </a:p>
        </p:txBody>
      </p:sp>
      <p:sp>
        <p:nvSpPr>
          <p:cNvPr id="164" name="Google Shape;164;p14"/>
          <p:cNvSpPr txBox="1"/>
          <p:nvPr/>
        </p:nvSpPr>
        <p:spPr>
          <a:xfrm>
            <a:off x="679431" y="4518349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£5.45</a:t>
            </a:r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2888878" y="4518348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£9.33</a:t>
            </a:r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5123901" y="4549398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£1.06</a:t>
            </a:r>
            <a:endParaRPr/>
          </a:p>
        </p:txBody>
      </p:sp>
      <p:sp>
        <p:nvSpPr>
          <p:cNvPr id="167" name="Google Shape;167;p14"/>
          <p:cNvSpPr txBox="1"/>
          <p:nvPr/>
        </p:nvSpPr>
        <p:spPr>
          <a:xfrm>
            <a:off x="713080" y="7255814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£2.65</a:t>
            </a:r>
            <a:endParaRPr/>
          </a:p>
        </p:txBody>
      </p:sp>
      <p:sp>
        <p:nvSpPr>
          <p:cNvPr id="168" name="Google Shape;168;p14"/>
          <p:cNvSpPr txBox="1"/>
          <p:nvPr/>
        </p:nvSpPr>
        <p:spPr>
          <a:xfrm>
            <a:off x="2884862" y="726057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£3.76</a:t>
            </a:r>
            <a:endParaRPr/>
          </a:p>
        </p:txBody>
      </p:sp>
      <p:sp>
        <p:nvSpPr>
          <p:cNvPr id="169" name="Google Shape;169;p14"/>
          <p:cNvSpPr txBox="1"/>
          <p:nvPr/>
        </p:nvSpPr>
        <p:spPr>
          <a:xfrm>
            <a:off x="5082281" y="7295226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£24.61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1720862" y="876878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£3.82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5201403" y="8751666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£2.94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942" y="1014184"/>
            <a:ext cx="3013238" cy="26313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" name="Google Shape;177;p15"/>
          <p:cNvGraphicFramePr/>
          <p:nvPr/>
        </p:nvGraphicFramePr>
        <p:xfrm>
          <a:off x="153288" y="5088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{4D734A8F-DFB3-4F28-AF70-45E2574C7922}</a:tableStyleId>
              </a:tblPr>
              <a:tblGrid>
                <a:gridCol w="3274150"/>
                <a:gridCol w="3274150"/>
              </a:tblGrid>
              <a:tr h="152400"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92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total cost of the doll and vase.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total cost of the teddy, vase and ball.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0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Jim looks at the items for sale and chooses some to buy with his pocket money. Which items did he buy if he spent: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£4.98?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£4.97?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Could he spend £5.98?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4040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178" name="Google Shape;178;p15"/>
          <p:cNvSpPr txBox="1"/>
          <p:nvPr/>
        </p:nvSpPr>
        <p:spPr>
          <a:xfrm>
            <a:off x="61284" y="117042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Complete the following money problems: </a:t>
            </a:r>
            <a:endParaRPr/>
          </a:p>
        </p:txBody>
      </p:sp>
      <p:sp>
        <p:nvSpPr>
          <p:cNvPr id="179" name="Google Shape;179;p15"/>
          <p:cNvSpPr txBox="1"/>
          <p:nvPr>
            <p:ph idx="12" type="sldNum"/>
          </p:nvPr>
        </p:nvSpPr>
        <p:spPr>
          <a:xfrm>
            <a:off x="5314950" y="945446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screenshot of a computer&#10;&#10;Description automatically generated" id="180" name="Google Shape;180;p15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084968" y="1118777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81" name="Google Shape;181;p15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084968" y="2979509"/>
            <a:ext cx="1838834" cy="11949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15"/>
          <p:cNvGrpSpPr/>
          <p:nvPr/>
        </p:nvGrpSpPr>
        <p:grpSpPr>
          <a:xfrm>
            <a:off x="219991" y="5307159"/>
            <a:ext cx="3040823" cy="2389938"/>
            <a:chOff x="219991" y="5307159"/>
            <a:chExt cx="3040823" cy="2389938"/>
          </a:xfrm>
        </p:grpSpPr>
        <p:grpSp>
          <p:nvGrpSpPr>
            <p:cNvPr id="183" name="Google Shape;183;p15"/>
            <p:cNvGrpSpPr/>
            <p:nvPr/>
          </p:nvGrpSpPr>
          <p:grpSpPr>
            <a:xfrm>
              <a:off x="219991" y="5307159"/>
              <a:ext cx="3040823" cy="1194969"/>
              <a:chOff x="219991" y="5307159"/>
              <a:chExt cx="3040823" cy="1194969"/>
            </a:xfrm>
          </p:grpSpPr>
          <p:pic>
            <p:nvPicPr>
              <p:cNvPr descr="A screenshot of a computer&#10;&#10;Description automatically generated" id="184" name="Google Shape;184;p15"/>
              <p:cNvPicPr preferRelativeResize="0"/>
              <p:nvPr/>
            </p:nvPicPr>
            <p:blipFill rotWithShape="1">
              <a:blip r:embed="rId4">
                <a:alphaModFix/>
              </a:blip>
              <a:srcRect b="46867" l="37224" r="49991" t="34284"/>
              <a:stretch/>
            </p:blipFill>
            <p:spPr>
              <a:xfrm>
                <a:off x="219991" y="5307159"/>
                <a:ext cx="1838834" cy="11949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screenshot of a computer&#10;&#10;Description automatically generated" id="185" name="Google Shape;185;p15"/>
              <p:cNvPicPr preferRelativeResize="0"/>
              <p:nvPr/>
            </p:nvPicPr>
            <p:blipFill rotWithShape="1">
              <a:blip r:embed="rId4">
                <a:alphaModFix/>
              </a:blip>
              <a:srcRect b="46867" l="37224" r="49991" t="34284"/>
              <a:stretch/>
            </p:blipFill>
            <p:spPr>
              <a:xfrm>
                <a:off x="1421980" y="5307159"/>
                <a:ext cx="1838834" cy="119496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6" name="Google Shape;186;p15"/>
            <p:cNvGrpSpPr/>
            <p:nvPr/>
          </p:nvGrpSpPr>
          <p:grpSpPr>
            <a:xfrm>
              <a:off x="219991" y="6502128"/>
              <a:ext cx="3040823" cy="1194969"/>
              <a:chOff x="219991" y="5307159"/>
              <a:chExt cx="3040823" cy="1194969"/>
            </a:xfrm>
          </p:grpSpPr>
          <p:pic>
            <p:nvPicPr>
              <p:cNvPr descr="A screenshot of a computer&#10;&#10;Description automatically generated" id="187" name="Google Shape;187;p15"/>
              <p:cNvPicPr preferRelativeResize="0"/>
              <p:nvPr/>
            </p:nvPicPr>
            <p:blipFill rotWithShape="1">
              <a:blip r:embed="rId4">
                <a:alphaModFix/>
              </a:blip>
              <a:srcRect b="46867" l="37224" r="49991" t="34284"/>
              <a:stretch/>
            </p:blipFill>
            <p:spPr>
              <a:xfrm>
                <a:off x="219991" y="5307159"/>
                <a:ext cx="1838834" cy="11949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screenshot of a computer&#10;&#10;Description automatically generated" id="188" name="Google Shape;188;p15"/>
              <p:cNvPicPr preferRelativeResize="0"/>
              <p:nvPr/>
            </p:nvPicPr>
            <p:blipFill rotWithShape="1">
              <a:blip r:embed="rId4">
                <a:alphaModFix/>
              </a:blip>
              <a:srcRect b="46867" l="37224" r="49991" t="34284"/>
              <a:stretch/>
            </p:blipFill>
            <p:spPr>
              <a:xfrm>
                <a:off x="1421980" y="5307159"/>
                <a:ext cx="1838834" cy="119496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9" name="Google Shape;189;p15"/>
          <p:cNvGrpSpPr/>
          <p:nvPr/>
        </p:nvGrpSpPr>
        <p:grpSpPr>
          <a:xfrm>
            <a:off x="3561090" y="5315177"/>
            <a:ext cx="3040823" cy="2381919"/>
            <a:chOff x="3561090" y="5315177"/>
            <a:chExt cx="3040823" cy="2381919"/>
          </a:xfrm>
        </p:grpSpPr>
        <p:grpSp>
          <p:nvGrpSpPr>
            <p:cNvPr id="190" name="Google Shape;190;p15"/>
            <p:cNvGrpSpPr/>
            <p:nvPr/>
          </p:nvGrpSpPr>
          <p:grpSpPr>
            <a:xfrm>
              <a:off x="3561090" y="5315177"/>
              <a:ext cx="3040823" cy="1194969"/>
              <a:chOff x="219991" y="5307159"/>
              <a:chExt cx="3040823" cy="1194969"/>
            </a:xfrm>
          </p:grpSpPr>
          <p:pic>
            <p:nvPicPr>
              <p:cNvPr descr="A screenshot of a computer&#10;&#10;Description automatically generated" id="191" name="Google Shape;191;p15"/>
              <p:cNvPicPr preferRelativeResize="0"/>
              <p:nvPr/>
            </p:nvPicPr>
            <p:blipFill rotWithShape="1">
              <a:blip r:embed="rId4">
                <a:alphaModFix/>
              </a:blip>
              <a:srcRect b="46867" l="37224" r="49991" t="34284"/>
              <a:stretch/>
            </p:blipFill>
            <p:spPr>
              <a:xfrm>
                <a:off x="219991" y="5307159"/>
                <a:ext cx="1838834" cy="11949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screenshot of a computer&#10;&#10;Description automatically generated" id="192" name="Google Shape;192;p15"/>
              <p:cNvPicPr preferRelativeResize="0"/>
              <p:nvPr/>
            </p:nvPicPr>
            <p:blipFill rotWithShape="1">
              <a:blip r:embed="rId4">
                <a:alphaModFix/>
              </a:blip>
              <a:srcRect b="46867" l="37224" r="49991" t="34284"/>
              <a:stretch/>
            </p:blipFill>
            <p:spPr>
              <a:xfrm>
                <a:off x="1421980" y="5307159"/>
                <a:ext cx="1838834" cy="119496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3" name="Google Shape;193;p15"/>
            <p:cNvGrpSpPr/>
            <p:nvPr/>
          </p:nvGrpSpPr>
          <p:grpSpPr>
            <a:xfrm>
              <a:off x="3561090" y="6502127"/>
              <a:ext cx="3040823" cy="1194969"/>
              <a:chOff x="219991" y="5307159"/>
              <a:chExt cx="3040823" cy="1194969"/>
            </a:xfrm>
          </p:grpSpPr>
          <p:pic>
            <p:nvPicPr>
              <p:cNvPr descr="A screenshot of a computer&#10;&#10;Description automatically generated" id="194" name="Google Shape;194;p15"/>
              <p:cNvPicPr preferRelativeResize="0"/>
              <p:nvPr/>
            </p:nvPicPr>
            <p:blipFill rotWithShape="1">
              <a:blip r:embed="rId4">
                <a:alphaModFix/>
              </a:blip>
              <a:srcRect b="46867" l="37224" r="49991" t="34284"/>
              <a:stretch/>
            </p:blipFill>
            <p:spPr>
              <a:xfrm>
                <a:off x="219991" y="5307159"/>
                <a:ext cx="1838834" cy="11949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screenshot of a computer&#10;&#10;Description automatically generated" id="195" name="Google Shape;195;p15"/>
              <p:cNvPicPr preferRelativeResize="0"/>
              <p:nvPr/>
            </p:nvPicPr>
            <p:blipFill rotWithShape="1">
              <a:blip r:embed="rId4">
                <a:alphaModFix/>
              </a:blip>
              <a:srcRect b="46867" l="37224" r="49991" t="34284"/>
              <a:stretch/>
            </p:blipFill>
            <p:spPr>
              <a:xfrm>
                <a:off x="1421980" y="5307159"/>
                <a:ext cx="1838834" cy="119496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6" name="Google Shape;196;p15"/>
          <p:cNvGrpSpPr/>
          <p:nvPr/>
        </p:nvGrpSpPr>
        <p:grpSpPr>
          <a:xfrm>
            <a:off x="405545" y="8209099"/>
            <a:ext cx="6043788" cy="1200393"/>
            <a:chOff x="232023" y="8219862"/>
            <a:chExt cx="6043788" cy="1200393"/>
          </a:xfrm>
        </p:grpSpPr>
        <p:grpSp>
          <p:nvGrpSpPr>
            <p:cNvPr id="197" name="Google Shape;197;p15"/>
            <p:cNvGrpSpPr/>
            <p:nvPr/>
          </p:nvGrpSpPr>
          <p:grpSpPr>
            <a:xfrm>
              <a:off x="232023" y="8219863"/>
              <a:ext cx="3040823" cy="1200392"/>
              <a:chOff x="219991" y="5307159"/>
              <a:chExt cx="3040823" cy="1194969"/>
            </a:xfrm>
          </p:grpSpPr>
          <p:pic>
            <p:nvPicPr>
              <p:cNvPr descr="A screenshot of a computer&#10;&#10;Description automatically generated" id="198" name="Google Shape;198;p15"/>
              <p:cNvPicPr preferRelativeResize="0"/>
              <p:nvPr/>
            </p:nvPicPr>
            <p:blipFill rotWithShape="1">
              <a:blip r:embed="rId4">
                <a:alphaModFix/>
              </a:blip>
              <a:srcRect b="46867" l="37224" r="49991" t="34284"/>
              <a:stretch/>
            </p:blipFill>
            <p:spPr>
              <a:xfrm>
                <a:off x="219991" y="5307159"/>
                <a:ext cx="1838834" cy="11949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screenshot of a computer&#10;&#10;Description automatically generated" id="199" name="Google Shape;199;p15"/>
              <p:cNvPicPr preferRelativeResize="0"/>
              <p:nvPr/>
            </p:nvPicPr>
            <p:blipFill rotWithShape="1">
              <a:blip r:embed="rId4">
                <a:alphaModFix/>
              </a:blip>
              <a:srcRect b="46867" l="37224" r="49991" t="34284"/>
              <a:stretch/>
            </p:blipFill>
            <p:spPr>
              <a:xfrm>
                <a:off x="1421980" y="5307159"/>
                <a:ext cx="1838834" cy="119496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0" name="Google Shape;200;p15"/>
            <p:cNvGrpSpPr/>
            <p:nvPr/>
          </p:nvGrpSpPr>
          <p:grpSpPr>
            <a:xfrm>
              <a:off x="3234988" y="8219862"/>
              <a:ext cx="3040823" cy="1194969"/>
              <a:chOff x="219991" y="5307159"/>
              <a:chExt cx="3040823" cy="1194969"/>
            </a:xfrm>
          </p:grpSpPr>
          <p:pic>
            <p:nvPicPr>
              <p:cNvPr descr="A screenshot of a computer&#10;&#10;Description automatically generated" id="201" name="Google Shape;201;p15"/>
              <p:cNvPicPr preferRelativeResize="0"/>
              <p:nvPr/>
            </p:nvPicPr>
            <p:blipFill rotWithShape="1">
              <a:blip r:embed="rId4">
                <a:alphaModFix/>
              </a:blip>
              <a:srcRect b="46867" l="37224" r="49991" t="34284"/>
              <a:stretch/>
            </p:blipFill>
            <p:spPr>
              <a:xfrm>
                <a:off x="219991" y="5307159"/>
                <a:ext cx="1838834" cy="11949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screenshot of a computer&#10;&#10;Description automatically generated" id="202" name="Google Shape;202;p15"/>
              <p:cNvPicPr preferRelativeResize="0"/>
              <p:nvPr/>
            </p:nvPicPr>
            <p:blipFill rotWithShape="1">
              <a:blip r:embed="rId4">
                <a:alphaModFix/>
              </a:blip>
              <a:srcRect b="46867" l="37224" r="49991" t="34284"/>
              <a:stretch/>
            </p:blipFill>
            <p:spPr>
              <a:xfrm>
                <a:off x="1421980" y="5307159"/>
                <a:ext cx="1838834" cy="119496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03" name="Google Shape;203;p15"/>
          <p:cNvSpPr txBox="1"/>
          <p:nvPr/>
        </p:nvSpPr>
        <p:spPr>
          <a:xfrm>
            <a:off x="4348810" y="142387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£2.98</a:t>
            </a:r>
            <a:endParaRPr/>
          </a:p>
        </p:txBody>
      </p:sp>
      <p:sp>
        <p:nvSpPr>
          <p:cNvPr id="204" name="Google Shape;204;p15"/>
          <p:cNvSpPr txBox="1"/>
          <p:nvPr/>
        </p:nvSpPr>
        <p:spPr>
          <a:xfrm>
            <a:off x="4475897" y="3258245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£7.96</a:t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256999" y="5917352"/>
            <a:ext cx="284003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Teddy and doll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3827324" y="5925371"/>
            <a:ext cx="284003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Vase and ball</a:t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326795" y="8088755"/>
            <a:ext cx="596076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No, to get the 98p you would have to use either: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£3.98 and £2, but there isn’t an item for £2 or items that add to £2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Two of the items ending in 99p, but no items fit with those to make £5.98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/>
          <p:nvPr/>
        </p:nvSpPr>
        <p:spPr>
          <a:xfrm>
            <a:off x="79004" y="3828847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213" name="Google Shape;213;p16"/>
          <p:cNvGraphicFramePr/>
          <p:nvPr/>
        </p:nvGraphicFramePr>
        <p:xfrm>
          <a:off x="81724" y="8174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{4D734A8F-DFB3-4F28-AF70-45E2574C7922}</a:tableStyleId>
              </a:tblPr>
              <a:tblGrid>
                <a:gridCol w="977050"/>
                <a:gridCol w="1895400"/>
                <a:gridCol w="1895400"/>
                <a:gridCol w="1895400"/>
              </a:tblGrid>
              <a:tr h="86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Jenny has £7.40. Daniel has £2.30. How much more money does Jenny have compared to Daniel?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Vanessa has £9.40. She spends £2.32 in one store and 45p in another store. How much money does she have left?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Lucas had £5.40 in total. He gave £2.35 to a friend and spent 84p at the shop. How much money does he have left?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3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1. Line up the correct place value.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2. Add the values you are going to subtract, then carry out the subtraction.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14" name="Google Shape;214;p16"/>
          <p:cNvSpPr txBox="1"/>
          <p:nvPr/>
        </p:nvSpPr>
        <p:spPr>
          <a:xfrm>
            <a:off x="1250823" y="55315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5051358" y="54332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3091157" y="54332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83936" y="181349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Subtraction with money, working in both pounds and pence.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Google Shape;218;p16"/>
          <p:cNvGraphicFramePr/>
          <p:nvPr/>
        </p:nvGraphicFramePr>
        <p:xfrm>
          <a:off x="81723" y="42192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{4D734A8F-DFB3-4F28-AF70-45E2574C7922}</a:tableStyleId>
              </a:tblPr>
              <a:tblGrid>
                <a:gridCol w="2221075"/>
                <a:gridCol w="2221075"/>
                <a:gridCol w="2221075"/>
              </a:tblGrid>
              <a:tr h="19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1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Red trainers cost £12.75 and blue ones cost £27.40. How much more do the blue ones cost than the red ones?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 need £12.50 to enter a swimming competition, but I only have £7.08. How much more money do I need?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game I want to buy costs £29.50. I have saved £18.94. How much more do I need to save before I can buy the game?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1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Paul buys a book that costs £6.89 and pays with a £10 note. How much change should Paul get?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class has raised £100 to spend on a party. They spend £25.49 on pizzas, £13.85 on drinks and £18.75 on decorations. How much do they have left to spend on entertainment?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Maxine buys 3 magazines that cost £1.99, £2.45 and £3.70. She pays with a £50 note. Work out how much change she should receive.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p16"/>
          <p:cNvSpPr txBox="1"/>
          <p:nvPr/>
        </p:nvSpPr>
        <p:spPr>
          <a:xfrm>
            <a:off x="1262854" y="3863502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Complete the following money problems: </a:t>
            </a:r>
            <a:endParaRPr/>
          </a:p>
        </p:txBody>
      </p:sp>
      <p:pic>
        <p:nvPicPr>
          <p:cNvPr descr="A screenshot of a computer&#10;&#10;Description automatically generated" id="220" name="Google Shape;220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86952" y="5357302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21" name="Google Shape;221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71942" y="5352298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22" name="Google Shape;222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04837" y="5352297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23" name="Google Shape;223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82429" y="8316557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24" name="Google Shape;224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43771" y="831655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25" name="Google Shape;225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10769" y="8334767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6"/>
          <p:cNvSpPr txBox="1"/>
          <p:nvPr>
            <p:ph idx="12" type="sldNum"/>
          </p:nvPr>
        </p:nvSpPr>
        <p:spPr>
          <a:xfrm>
            <a:off x="5233227" y="946094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7" name="Google Shape;227;p16"/>
          <p:cNvSpPr txBox="1"/>
          <p:nvPr/>
        </p:nvSpPr>
        <p:spPr>
          <a:xfrm>
            <a:off x="1454420" y="2157544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£5.10</a:t>
            </a:r>
            <a:endParaRPr/>
          </a:p>
        </p:txBody>
      </p:sp>
      <p:sp>
        <p:nvSpPr>
          <p:cNvPr id="228" name="Google Shape;228;p16"/>
          <p:cNvSpPr txBox="1"/>
          <p:nvPr/>
        </p:nvSpPr>
        <p:spPr>
          <a:xfrm>
            <a:off x="3246016" y="2157544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£6.63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5206217" y="2157544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£2.21</a:t>
            </a:r>
            <a:endParaRPr/>
          </a:p>
        </p:txBody>
      </p:sp>
      <p:sp>
        <p:nvSpPr>
          <p:cNvPr id="230" name="Google Shape;230;p16"/>
          <p:cNvSpPr txBox="1"/>
          <p:nvPr/>
        </p:nvSpPr>
        <p:spPr>
          <a:xfrm>
            <a:off x="535475" y="5612399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£14.65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2788106" y="565739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£5.42</a:t>
            </a:r>
            <a:endParaRPr/>
          </a:p>
        </p:txBody>
      </p:sp>
      <p:sp>
        <p:nvSpPr>
          <p:cNvPr id="232" name="Google Shape;232;p16"/>
          <p:cNvSpPr txBox="1"/>
          <p:nvPr/>
        </p:nvSpPr>
        <p:spPr>
          <a:xfrm>
            <a:off x="4988839" y="565739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£10.56</a:t>
            </a:r>
            <a:endParaRPr/>
          </a:p>
        </p:txBody>
      </p:sp>
      <p:sp>
        <p:nvSpPr>
          <p:cNvPr id="233" name="Google Shape;233;p16"/>
          <p:cNvSpPr txBox="1"/>
          <p:nvPr/>
        </p:nvSpPr>
        <p:spPr>
          <a:xfrm>
            <a:off x="595904" y="863986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£3.11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2710978" y="863986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£41.91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5031097" y="8677584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£41.86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" name="Google Shape;240;p17"/>
          <p:cNvGraphicFramePr/>
          <p:nvPr/>
        </p:nvGraphicFramePr>
        <p:xfrm>
          <a:off x="97380" y="1823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{4D734A8F-DFB3-4F28-AF70-45E2574C7922}</a:tableStyleId>
              </a:tblPr>
              <a:tblGrid>
                <a:gridCol w="2221075"/>
                <a:gridCol w="2221075"/>
                <a:gridCol w="2221075"/>
              </a:tblGrid>
              <a:tr h="14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1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 screenshot of a computer&#10;&#10;Description automatically generated" id="241" name="Google Shape;241;p17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85058" y="145855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42" name="Google Shape;242;p17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15960" y="145855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43" name="Google Shape;243;p17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46862" y="1476767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7"/>
          <p:cNvSpPr txBox="1"/>
          <p:nvPr/>
        </p:nvSpPr>
        <p:spPr>
          <a:xfrm>
            <a:off x="0" y="3096938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Complete the following bar models:</a:t>
            </a:r>
            <a:endParaRPr/>
          </a:p>
        </p:txBody>
      </p:sp>
      <p:pic>
        <p:nvPicPr>
          <p:cNvPr id="245" name="Google Shape;2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80" y="3627221"/>
            <a:ext cx="3286125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4497" y="3572626"/>
            <a:ext cx="3343275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2121" y="5863759"/>
            <a:ext cx="328612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380" y="4733129"/>
            <a:ext cx="328612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84021" y="4702024"/>
            <a:ext cx="332422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7"/>
          <p:cNvSpPr txBox="1"/>
          <p:nvPr/>
        </p:nvSpPr>
        <p:spPr>
          <a:xfrm>
            <a:off x="36096" y="3332670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>
            <a:off x="3465693" y="5633296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3474497" y="3355502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36096" y="4471131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3474497" y="4493963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36096" y="5586760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/>
          </a:p>
        </p:txBody>
      </p:sp>
      <p:pic>
        <p:nvPicPr>
          <p:cNvPr id="256" name="Google Shape;25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80" y="5849333"/>
            <a:ext cx="332422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7"/>
          <p:cNvSpPr/>
          <p:nvPr/>
        </p:nvSpPr>
        <p:spPr>
          <a:xfrm>
            <a:off x="1087078" y="5951909"/>
            <a:ext cx="1048107" cy="28729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£34.65</a:t>
            </a:r>
            <a:endParaRPr/>
          </a:p>
        </p:txBody>
      </p:sp>
      <p:sp>
        <p:nvSpPr>
          <p:cNvPr id="258" name="Google Shape;258;p17"/>
          <p:cNvSpPr/>
          <p:nvPr/>
        </p:nvSpPr>
        <p:spPr>
          <a:xfrm>
            <a:off x="309122" y="6331694"/>
            <a:ext cx="457200" cy="27699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1382532" y="6331693"/>
            <a:ext cx="457200" cy="27699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 txBox="1"/>
          <p:nvPr/>
        </p:nvSpPr>
        <p:spPr>
          <a:xfrm>
            <a:off x="49762" y="6878468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Mark each calculation with a tick or cross:</a:t>
            </a:r>
            <a:endParaRPr/>
          </a:p>
        </p:txBody>
      </p:sp>
      <p:graphicFrame>
        <p:nvGraphicFramePr>
          <p:cNvPr id="261" name="Google Shape;261;p17"/>
          <p:cNvGraphicFramePr/>
          <p:nvPr/>
        </p:nvGraphicFramePr>
        <p:xfrm>
          <a:off x="113771" y="72147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{4D734A8F-DFB3-4F28-AF70-45E2574C7922}</a:tableStyleId>
              </a:tblPr>
              <a:tblGrid>
                <a:gridCol w="2531400"/>
                <a:gridCol w="672600"/>
              </a:tblGrid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£5.00 - £2.30 = £3.70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rgbClr val="FF0000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£10.00 - £1.70 - £8.30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35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b="0" sz="135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£3.90 + £1.10 = £5.00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350"/>
                        <a:buFont typeface="Calibri"/>
                        <a:buNone/>
                      </a:pPr>
                      <a:r>
                        <a:rPr b="0" i="0" lang="en-GB" sz="135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b="0" sz="135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£7.60 + £3.40 = £10.00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rgbClr val="FF0000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62" name="Google Shape;262;p17"/>
          <p:cNvGrpSpPr/>
          <p:nvPr/>
        </p:nvGrpSpPr>
        <p:grpSpPr>
          <a:xfrm>
            <a:off x="3460847" y="7231455"/>
            <a:ext cx="3347399" cy="2387807"/>
            <a:chOff x="3474495" y="7206968"/>
            <a:chExt cx="3347399" cy="2387807"/>
          </a:xfrm>
        </p:grpSpPr>
        <p:pic>
          <p:nvPicPr>
            <p:cNvPr descr="A screenshot of a computer&#10;&#10;Description automatically generated" id="263" name="Google Shape;263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3484021" y="7206968"/>
              <a:ext cx="1838834" cy="12159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64" name="Google Shape;264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978938" y="7214717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65" name="Google Shape;265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3474495" y="8399806"/>
              <a:ext cx="1848360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66" name="Google Shape;266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983060" y="8393907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" name="Google Shape;267;p17"/>
          <p:cNvSpPr txBox="1"/>
          <p:nvPr>
            <p:ph idx="12" type="sldNum"/>
          </p:nvPr>
        </p:nvSpPr>
        <p:spPr>
          <a:xfrm>
            <a:off x="5261074" y="945990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8" name="Google Shape;268;p17"/>
          <p:cNvSpPr/>
          <p:nvPr/>
        </p:nvSpPr>
        <p:spPr>
          <a:xfrm>
            <a:off x="133581" y="6306011"/>
            <a:ext cx="767172" cy="30268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£12.05</a:t>
            </a:r>
            <a:endParaRPr/>
          </a:p>
        </p:txBody>
      </p:sp>
      <p:sp>
        <p:nvSpPr>
          <p:cNvPr id="269" name="Google Shape;269;p17"/>
          <p:cNvSpPr/>
          <p:nvPr/>
        </p:nvSpPr>
        <p:spPr>
          <a:xfrm>
            <a:off x="1191539" y="6313013"/>
            <a:ext cx="767172" cy="27699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£3.76</a:t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108577" y="452888"/>
            <a:ext cx="21705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Tilly has £61. Georgina has 14p less than Tilly. How much money does Georgina have?</a:t>
            </a:r>
            <a:endParaRPr/>
          </a:p>
        </p:txBody>
      </p:sp>
      <p:sp>
        <p:nvSpPr>
          <p:cNvPr id="271" name="Google Shape;271;p17"/>
          <p:cNvSpPr txBox="1"/>
          <p:nvPr/>
        </p:nvSpPr>
        <p:spPr>
          <a:xfrm>
            <a:off x="2385073" y="452888"/>
            <a:ext cx="217059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Mohammed has £4.78. He spends £2.56, 18p and 78p. How much money does he have left?</a:t>
            </a:r>
            <a:endParaRPr/>
          </a:p>
        </p:txBody>
      </p:sp>
      <p:sp>
        <p:nvSpPr>
          <p:cNvPr id="272" name="Google Shape;272;p17"/>
          <p:cNvSpPr txBox="1"/>
          <p:nvPr/>
        </p:nvSpPr>
        <p:spPr>
          <a:xfrm>
            <a:off x="4555672" y="469290"/>
            <a:ext cx="217059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Emily has £6.86. She gives £1.24 to Matilda and 79p to Sophia. How much money does she have left?</a:t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548517" y="1775171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£60.86</a:t>
            </a:r>
            <a:endParaRPr/>
          </a:p>
        </p:txBody>
      </p:sp>
      <p:sp>
        <p:nvSpPr>
          <p:cNvPr id="274" name="Google Shape;274;p17"/>
          <p:cNvSpPr txBox="1"/>
          <p:nvPr/>
        </p:nvSpPr>
        <p:spPr>
          <a:xfrm>
            <a:off x="2855278" y="1799041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£1.26</a:t>
            </a:r>
            <a:endParaRPr/>
          </a:p>
        </p:txBody>
      </p:sp>
      <p:sp>
        <p:nvSpPr>
          <p:cNvPr id="275" name="Google Shape;275;p17"/>
          <p:cNvSpPr txBox="1"/>
          <p:nvPr/>
        </p:nvSpPr>
        <p:spPr>
          <a:xfrm>
            <a:off x="5136659" y="181603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£4.83</a:t>
            </a:r>
            <a:endParaRPr/>
          </a:p>
        </p:txBody>
      </p:sp>
      <p:sp>
        <p:nvSpPr>
          <p:cNvPr id="276" name="Google Shape;276;p17"/>
          <p:cNvSpPr txBox="1"/>
          <p:nvPr/>
        </p:nvSpPr>
        <p:spPr>
          <a:xfrm>
            <a:off x="2269822" y="391504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£1.60</a:t>
            </a:r>
            <a:endParaRPr/>
          </a:p>
        </p:txBody>
      </p:sp>
      <p:sp>
        <p:nvSpPr>
          <p:cNvPr id="277" name="Google Shape;277;p17"/>
          <p:cNvSpPr txBox="1"/>
          <p:nvPr/>
        </p:nvSpPr>
        <p:spPr>
          <a:xfrm>
            <a:off x="5640971" y="391504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£2.15</a:t>
            </a:r>
            <a:endParaRPr/>
          </a:p>
        </p:txBody>
      </p:sp>
      <p:sp>
        <p:nvSpPr>
          <p:cNvPr id="278" name="Google Shape;278;p17"/>
          <p:cNvSpPr txBox="1"/>
          <p:nvPr/>
        </p:nvSpPr>
        <p:spPr>
          <a:xfrm>
            <a:off x="2067238" y="5006698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£41.91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5557657" y="5007229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£7.55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2063754" y="614510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£18.84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5426934" y="613077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£41.91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7" name="Google Shape;287;p18"/>
          <p:cNvSpPr txBox="1"/>
          <p:nvPr/>
        </p:nvSpPr>
        <p:spPr>
          <a:xfrm>
            <a:off x="118001" y="207696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Fill in the missing numbers:</a:t>
            </a:r>
            <a:endParaRPr/>
          </a:p>
        </p:txBody>
      </p:sp>
      <p:graphicFrame>
        <p:nvGraphicFramePr>
          <p:cNvPr id="288" name="Google Shape;288;p18"/>
          <p:cNvGraphicFramePr/>
          <p:nvPr/>
        </p:nvGraphicFramePr>
        <p:xfrm>
          <a:off x="112872" y="5119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{4D734A8F-DFB3-4F28-AF70-45E2574C7922}</a:tableStyleId>
              </a:tblPr>
              <a:tblGrid>
                <a:gridCol w="2221075"/>
                <a:gridCol w="2221075"/>
                <a:gridCol w="2221075"/>
              </a:tblGrid>
              <a:tr h="19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1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£4.86 +                = £7.85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              +  £3.99 = £8.85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£3.97 =                +  £1.98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1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£4.97 = £2.99 +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£10 -                = £8.80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£5.00 -                   = £1.01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 screenshot of a computer&#10;&#10;Description automatically generated" id="289" name="Google Shape;289;p18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78681" y="158138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90" name="Google Shape;290;p18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09583" y="158138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91" name="Google Shape;291;p18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40485" y="1599597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92" name="Google Shape;292;p18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78681" y="412582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93" name="Google Shape;293;p18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09583" y="412582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94" name="Google Shape;294;p18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40485" y="4144032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8"/>
          <p:cNvSpPr/>
          <p:nvPr/>
        </p:nvSpPr>
        <p:spPr>
          <a:xfrm>
            <a:off x="1746298" y="3244781"/>
            <a:ext cx="467513" cy="24750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3141984" y="3244781"/>
            <a:ext cx="467513" cy="24750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5426145" y="3244780"/>
            <a:ext cx="467513" cy="24750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991841" y="812060"/>
            <a:ext cx="467513" cy="24750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2698056" y="810349"/>
            <a:ext cx="467513" cy="24750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5426144" y="810349"/>
            <a:ext cx="467513" cy="24750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18"/>
          <p:cNvGraphicFramePr/>
          <p:nvPr/>
        </p:nvGraphicFramePr>
        <p:xfrm>
          <a:off x="112872" y="64713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{4D734A8F-DFB3-4F28-AF70-45E2574C7922}</a:tableStyleId>
              </a:tblPr>
              <a:tblGrid>
                <a:gridCol w="845950"/>
                <a:gridCol w="1939100"/>
                <a:gridCol w="1939100"/>
                <a:gridCol w="1939100"/>
              </a:tblGrid>
              <a:tr h="86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Maryam spends 75p on a coffee. She has £1.23 left. How much money did she have originally?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Peter has £5.40 left after spending £7.75 in one store and £4.69 in another. How much money did Peter have originally?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Sally spends £4.50 on a sandwich and 96p on a packet of crisps. She has £12.30 left. How much money did Sally have originally?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33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Add what has been spent onto the amount they have left.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02" name="Google Shape;302;p18"/>
          <p:cNvSpPr txBox="1"/>
          <p:nvPr/>
        </p:nvSpPr>
        <p:spPr>
          <a:xfrm>
            <a:off x="1256783" y="620413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303" name="Google Shape;303;p18"/>
          <p:cNvSpPr txBox="1"/>
          <p:nvPr/>
        </p:nvSpPr>
        <p:spPr>
          <a:xfrm>
            <a:off x="5057318" y="619430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304" name="Google Shape;304;p18"/>
          <p:cNvSpPr txBox="1"/>
          <p:nvPr/>
        </p:nvSpPr>
        <p:spPr>
          <a:xfrm>
            <a:off x="3097117" y="619430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do…</a:t>
            </a:r>
            <a:endParaRPr/>
          </a:p>
        </p:txBody>
      </p:sp>
      <p:sp>
        <p:nvSpPr>
          <p:cNvPr id="305" name="Google Shape;305;p18"/>
          <p:cNvSpPr/>
          <p:nvPr/>
        </p:nvSpPr>
        <p:spPr>
          <a:xfrm>
            <a:off x="99428" y="5713540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Finding original amounts of money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 txBox="1"/>
          <p:nvPr/>
        </p:nvSpPr>
        <p:spPr>
          <a:xfrm>
            <a:off x="628449" y="1781196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£2.99</a:t>
            </a:r>
            <a:endParaRPr/>
          </a:p>
        </p:txBody>
      </p:sp>
      <p:sp>
        <p:nvSpPr>
          <p:cNvPr id="307" name="Google Shape;307;p18"/>
          <p:cNvSpPr txBox="1"/>
          <p:nvPr/>
        </p:nvSpPr>
        <p:spPr>
          <a:xfrm>
            <a:off x="2779397" y="1781196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£4.86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5052827" y="1799608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£1.99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628449" y="4508440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£1.98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2779397" y="4508440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£1.20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5052827" y="452685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£3.99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1313211" y="802969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£1.98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3207800" y="8005200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£17.84</a:t>
            </a:r>
            <a:endParaRPr/>
          </a:p>
        </p:txBody>
      </p:sp>
      <p:sp>
        <p:nvSpPr>
          <p:cNvPr id="314" name="Google Shape;314;p18"/>
          <p:cNvSpPr txBox="1"/>
          <p:nvPr/>
        </p:nvSpPr>
        <p:spPr>
          <a:xfrm>
            <a:off x="5212177" y="8005199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£17.76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>
            <p:ph idx="12" type="sldNum"/>
          </p:nvPr>
        </p:nvSpPr>
        <p:spPr>
          <a:xfrm>
            <a:off x="5231071" y="94010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0" name="Google Shape;320;p19"/>
          <p:cNvPicPr preferRelativeResize="0"/>
          <p:nvPr/>
        </p:nvPicPr>
        <p:blipFill rotWithShape="1">
          <a:blip r:embed="rId3">
            <a:alphaModFix/>
          </a:blip>
          <a:srcRect b="23142" l="0" r="0" t="0"/>
          <a:stretch/>
        </p:blipFill>
        <p:spPr>
          <a:xfrm>
            <a:off x="221552" y="1033450"/>
            <a:ext cx="3087189" cy="32577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1" name="Google Shape;321;p19"/>
          <p:cNvGraphicFramePr/>
          <p:nvPr/>
        </p:nvGraphicFramePr>
        <p:xfrm>
          <a:off x="154849" y="8986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{4D734A8F-DFB3-4F28-AF70-45E2574C7922}</a:tableStyleId>
              </a:tblPr>
              <a:tblGrid>
                <a:gridCol w="3274150"/>
                <a:gridCol w="3274150"/>
              </a:tblGrid>
              <a:tr h="152400"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92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Seb bought the toy house. He now has £12.70 left. How much money did he have to start with?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6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Teddy bought the bedtime stories book. He now has £3.89 left. How much money did he have to start with?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60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Mary bought the vase. She now has £2.44 left. How much money did she have to start with?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Khalood bought the vase and the drum. She now has £4.52 left. How much money did she have to start with?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Alex had £3.35 left after buying the aeroplane, the construction set and the house. How much money did they have to start with?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Sam had £1.85 left after buying the drum, the bedtime stories book and the aeroplane. How much money did they have to start with?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2" name="Google Shape;322;p19"/>
          <p:cNvSpPr txBox="1"/>
          <p:nvPr/>
        </p:nvSpPr>
        <p:spPr>
          <a:xfrm>
            <a:off x="62845" y="506798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Complete the following problems: </a:t>
            </a:r>
            <a:endParaRPr/>
          </a:p>
        </p:txBody>
      </p:sp>
      <p:pic>
        <p:nvPicPr>
          <p:cNvPr descr="A screenshot of a computer&#10;&#10;Description automatically generated" id="323" name="Google Shape;323;p19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122797" y="160532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24" name="Google Shape;324;p19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122797" y="383088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25" name="Google Shape;325;p19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845729" y="602127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26" name="Google Shape;326;p19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176561" y="602127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27" name="Google Shape;327;p19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845729" y="824486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28" name="Google Shape;328;p19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176561" y="8232847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9"/>
          <p:cNvSpPr/>
          <p:nvPr/>
        </p:nvSpPr>
        <p:spPr>
          <a:xfrm>
            <a:off x="150346" y="112211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30" name="Google Shape;330;p19"/>
          <p:cNvSpPr txBox="1"/>
          <p:nvPr/>
        </p:nvSpPr>
        <p:spPr>
          <a:xfrm>
            <a:off x="4429135" y="189969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£43.19</a:t>
            </a:r>
            <a:endParaRPr/>
          </a:p>
        </p:txBody>
      </p:sp>
      <p:sp>
        <p:nvSpPr>
          <p:cNvPr id="331" name="Google Shape;331;p19"/>
          <p:cNvSpPr txBox="1"/>
          <p:nvPr/>
        </p:nvSpPr>
        <p:spPr>
          <a:xfrm>
            <a:off x="4330257" y="4105698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£19.64</a:t>
            </a:r>
            <a:endParaRPr/>
          </a:p>
        </p:txBody>
      </p:sp>
      <p:sp>
        <p:nvSpPr>
          <p:cNvPr id="332" name="Google Shape;332;p19"/>
          <p:cNvSpPr txBox="1"/>
          <p:nvPr/>
        </p:nvSpPr>
        <p:spPr>
          <a:xfrm>
            <a:off x="1027912" y="6307796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£3.43</a:t>
            </a:r>
            <a:endParaRPr/>
          </a:p>
        </p:txBody>
      </p:sp>
      <p:sp>
        <p:nvSpPr>
          <p:cNvPr id="333" name="Google Shape;333;p19"/>
          <p:cNvSpPr txBox="1"/>
          <p:nvPr/>
        </p:nvSpPr>
        <p:spPr>
          <a:xfrm>
            <a:off x="4471640" y="633696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£11.38</a:t>
            </a:r>
            <a:endParaRPr/>
          </a:p>
        </p:txBody>
      </p:sp>
      <p:sp>
        <p:nvSpPr>
          <p:cNvPr id="334" name="Google Shape;334;p19"/>
          <p:cNvSpPr txBox="1"/>
          <p:nvPr/>
        </p:nvSpPr>
        <p:spPr>
          <a:xfrm>
            <a:off x="1099129" y="853794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£60.09</a:t>
            </a:r>
            <a:endParaRPr/>
          </a:p>
        </p:txBody>
      </p:sp>
      <p:sp>
        <p:nvSpPr>
          <p:cNvPr id="335" name="Google Shape;335;p19"/>
          <p:cNvSpPr txBox="1"/>
          <p:nvPr/>
        </p:nvSpPr>
        <p:spPr>
          <a:xfrm>
            <a:off x="4425185" y="858372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£26.17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"/>
          <p:cNvSpPr txBox="1"/>
          <p:nvPr>
            <p:ph idx="12" type="sldNum"/>
          </p:nvPr>
        </p:nvSpPr>
        <p:spPr>
          <a:xfrm>
            <a:off x="5116177" y="943806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41" name="Google Shape;341;p20"/>
          <p:cNvGraphicFramePr/>
          <p:nvPr/>
        </p:nvGraphicFramePr>
        <p:xfrm>
          <a:off x="97380" y="10470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{4D734A8F-DFB3-4F28-AF70-45E2574C7922}</a:tableStyleId>
              </a:tblPr>
              <a:tblGrid>
                <a:gridCol w="845950"/>
                <a:gridCol w="1939100"/>
                <a:gridCol w="1939100"/>
                <a:gridCol w="1939100"/>
              </a:tblGrid>
              <a:tr h="86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Sarah has £9.40. She spent £2.30. She was then given £4.50 by her mother. How much money does she have now?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Elijah has £9.40. He spends £5.50. He is then given an extra £14. How much money does he have now?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Arlo has £9.41. He spends £5.59. He is then given an extra £11.39. How much money does he have now?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3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Subtract any amounts spent and add on any amounts gained.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42" name="Google Shape;342;p20"/>
          <p:cNvSpPr txBox="1"/>
          <p:nvPr/>
        </p:nvSpPr>
        <p:spPr>
          <a:xfrm>
            <a:off x="1241291" y="77987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13 - I do…</a:t>
            </a:r>
            <a:endParaRPr/>
          </a:p>
        </p:txBody>
      </p:sp>
      <p:sp>
        <p:nvSpPr>
          <p:cNvPr id="343" name="Google Shape;343;p20"/>
          <p:cNvSpPr txBox="1"/>
          <p:nvPr/>
        </p:nvSpPr>
        <p:spPr>
          <a:xfrm>
            <a:off x="5041826" y="77004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15 – You do…</a:t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3081625" y="77004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14 – We do…</a:t>
            </a:r>
            <a:endParaRPr/>
          </a:p>
        </p:txBody>
      </p:sp>
      <p:sp>
        <p:nvSpPr>
          <p:cNvPr id="345" name="Google Shape;345;p20"/>
          <p:cNvSpPr/>
          <p:nvPr/>
        </p:nvSpPr>
        <p:spPr>
          <a:xfrm>
            <a:off x="97380" y="273642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Multi-step problems involving addition and subtraction of money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103337" y="3733942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32084" y="4113613"/>
            <a:ext cx="39950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Complete the following problems: </a:t>
            </a:r>
            <a:endParaRPr/>
          </a:p>
        </p:txBody>
      </p:sp>
      <p:graphicFrame>
        <p:nvGraphicFramePr>
          <p:cNvPr id="348" name="Google Shape;348;p20"/>
          <p:cNvGraphicFramePr/>
          <p:nvPr/>
        </p:nvGraphicFramePr>
        <p:xfrm>
          <a:off x="91423" y="44619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{4D734A8F-DFB3-4F28-AF70-45E2574C7922}</a:tableStyleId>
              </a:tblPr>
              <a:tblGrid>
                <a:gridCol w="2221075"/>
                <a:gridCol w="2221075"/>
                <a:gridCol w="2221075"/>
              </a:tblGrid>
              <a:tr h="19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1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Abi has £12.86. She paid £4.32 for a sandwich. She was then given £5.20 pocket money. How much money does she have now?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Harry has £31.26. He paid £8.62 for a toy. He was then given £3.86 pocket money. How much money does he have now?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Fern has £14.31. She paid 76p for some sweets. She was then given £3.56 pocket money. How much money does she have now?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1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Maddison has £9.74. They paid £1.42 for a drink. They were then given 87p. How much money do they have now?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Matilda has £91.43. She spends £15.89. She wants to reach her saving goal of £100. How much more money does Matilda need? 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Skye has £76.52. She spends £17.81. She wants to reach her saving goal of £150. How much more money does Skye need? 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 screenshot of a computer&#10;&#10;Description automatically generated" id="349" name="Google Shape;349;p20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7232" y="568925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50" name="Google Shape;350;p20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88134" y="566953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51" name="Google Shape;351;p20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19036" y="5677112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52" name="Google Shape;352;p20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57232" y="818207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53" name="Google Shape;353;p20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488134" y="8182073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54" name="Google Shape;354;p20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19036" y="8200284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0"/>
          <p:cNvSpPr txBox="1"/>
          <p:nvPr/>
        </p:nvSpPr>
        <p:spPr>
          <a:xfrm>
            <a:off x="1241291" y="2284210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£11.60</a:t>
            </a:r>
            <a:endParaRPr/>
          </a:p>
        </p:txBody>
      </p:sp>
      <p:sp>
        <p:nvSpPr>
          <p:cNvPr id="356" name="Google Shape;356;p20"/>
          <p:cNvSpPr txBox="1"/>
          <p:nvPr/>
        </p:nvSpPr>
        <p:spPr>
          <a:xfrm>
            <a:off x="3179735" y="2308478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£17.90</a:t>
            </a:r>
            <a:endParaRPr/>
          </a:p>
        </p:txBody>
      </p:sp>
      <p:sp>
        <p:nvSpPr>
          <p:cNvPr id="357" name="Google Shape;357;p20"/>
          <p:cNvSpPr txBox="1"/>
          <p:nvPr/>
        </p:nvSpPr>
        <p:spPr>
          <a:xfrm>
            <a:off x="5041826" y="2308478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£15.21</a:t>
            </a:r>
            <a:endParaRPr/>
          </a:p>
        </p:txBody>
      </p:sp>
      <p:sp>
        <p:nvSpPr>
          <p:cNvPr id="358" name="Google Shape;358;p20"/>
          <p:cNvSpPr txBox="1"/>
          <p:nvPr/>
        </p:nvSpPr>
        <p:spPr>
          <a:xfrm>
            <a:off x="574448" y="5974630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£13.74</a:t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2740708" y="5974629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£26.50</a:t>
            </a:r>
            <a:endParaRPr/>
          </a:p>
        </p:txBody>
      </p:sp>
      <p:sp>
        <p:nvSpPr>
          <p:cNvPr id="360" name="Google Shape;360;p20"/>
          <p:cNvSpPr txBox="1"/>
          <p:nvPr/>
        </p:nvSpPr>
        <p:spPr>
          <a:xfrm>
            <a:off x="4971610" y="5955901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£17.11</a:t>
            </a:r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542127" y="8539166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£9.19</a:t>
            </a:r>
            <a:endParaRPr/>
          </a:p>
        </p:txBody>
      </p:sp>
      <p:sp>
        <p:nvSpPr>
          <p:cNvPr id="362" name="Google Shape;362;p20"/>
          <p:cNvSpPr txBox="1"/>
          <p:nvPr/>
        </p:nvSpPr>
        <p:spPr>
          <a:xfrm>
            <a:off x="2708387" y="8539165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£24.46</a:t>
            </a:r>
            <a:endParaRPr/>
          </a:p>
        </p:txBody>
      </p:sp>
      <p:sp>
        <p:nvSpPr>
          <p:cNvPr id="363" name="Google Shape;363;p20"/>
          <p:cNvSpPr txBox="1"/>
          <p:nvPr/>
        </p:nvSpPr>
        <p:spPr>
          <a:xfrm>
            <a:off x="4939289" y="852043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£91.29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"/>
          <p:cNvSpPr txBox="1"/>
          <p:nvPr>
            <p:ph idx="12" type="sldNum"/>
          </p:nvPr>
        </p:nvSpPr>
        <p:spPr>
          <a:xfrm>
            <a:off x="5308161" y="944038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9" name="Google Shape;369;p21"/>
          <p:cNvSpPr/>
          <p:nvPr/>
        </p:nvSpPr>
        <p:spPr>
          <a:xfrm>
            <a:off x="149603" y="52822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Mixed money problems: applying all previous skills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0" name="Google Shape;370;p21"/>
          <p:cNvGraphicFramePr/>
          <p:nvPr/>
        </p:nvGraphicFramePr>
        <p:xfrm>
          <a:off x="144379" y="6313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{4D734A8F-DFB3-4F28-AF70-45E2574C7922}</a:tableStyleId>
              </a:tblPr>
              <a:tblGrid>
                <a:gridCol w="2124450"/>
                <a:gridCol w="2124450"/>
                <a:gridCol w="2124450"/>
              </a:tblGrid>
              <a:tr h="19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1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Jonathan buys a can of cola and a roll. Work out the total cost.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Sachin buys a cup of tea, a cup of coffee and 2 sandwiches. Work out the total cost.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 Kim buys a can of cola, a cup of coffee and a sandwich. She pays with a £5 note. Work out how much change she gets.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the difference in price in Jonathan and Sachin’s orders from part a) and b).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Jermaine bought a roll and a cup of coffee. His change was £7.55. How much money did he have to start?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71" name="Google Shape;371;p21"/>
          <p:cNvPicPr preferRelativeResize="0"/>
          <p:nvPr/>
        </p:nvPicPr>
        <p:blipFill rotWithShape="1">
          <a:blip r:embed="rId3">
            <a:alphaModFix/>
          </a:blip>
          <a:srcRect b="55785" l="3369" r="46069" t="0"/>
          <a:stretch/>
        </p:blipFill>
        <p:spPr>
          <a:xfrm>
            <a:off x="250862" y="982629"/>
            <a:ext cx="1935483" cy="1577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72" name="Google Shape;372;p21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411652" y="157186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73" name="Google Shape;373;p21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530358" y="157186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74" name="Google Shape;374;p21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98254" y="394227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75" name="Google Shape;375;p21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407111" y="394227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76" name="Google Shape;376;p21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525817" y="3942270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1"/>
          <p:cNvSpPr txBox="1"/>
          <p:nvPr/>
        </p:nvSpPr>
        <p:spPr>
          <a:xfrm>
            <a:off x="80209" y="321233"/>
            <a:ext cx="60838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The cost of items at Joe’s café are shown on the menu below:</a:t>
            </a:r>
            <a:endParaRPr/>
          </a:p>
        </p:txBody>
      </p:sp>
      <p:graphicFrame>
        <p:nvGraphicFramePr>
          <p:cNvPr id="378" name="Google Shape;378;p21"/>
          <p:cNvGraphicFramePr/>
          <p:nvPr/>
        </p:nvGraphicFramePr>
        <p:xfrm>
          <a:off x="144379" y="52865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{4D734A8F-DFB3-4F28-AF70-45E2574C7922}</a:tableStyleId>
              </a:tblPr>
              <a:tblGrid>
                <a:gridCol w="3196050"/>
                <a:gridCol w="3196050"/>
              </a:tblGrid>
              <a:tr h="447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11. Farah buys: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 pens at 84p each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3 folders at £1.35 each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 pencil case at £1.49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She pays with a £10 note.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how much change Farah should get from £10.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12.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Tony buys one child ticket and one senior ticket. Work out the total cost.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Kamala buys one adult ticket and two child tickets. She pays with a £20 note. How much change should she get?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79" name="Google Shape;379;p21"/>
          <p:cNvGrpSpPr/>
          <p:nvPr/>
        </p:nvGrpSpPr>
        <p:grpSpPr>
          <a:xfrm>
            <a:off x="250862" y="7025547"/>
            <a:ext cx="3040823" cy="1934799"/>
            <a:chOff x="219991" y="5307159"/>
            <a:chExt cx="3040823" cy="1934799"/>
          </a:xfrm>
        </p:grpSpPr>
        <p:grpSp>
          <p:nvGrpSpPr>
            <p:cNvPr id="380" name="Google Shape;380;p21"/>
            <p:cNvGrpSpPr/>
            <p:nvPr/>
          </p:nvGrpSpPr>
          <p:grpSpPr>
            <a:xfrm>
              <a:off x="219991" y="5307159"/>
              <a:ext cx="3040823" cy="1194969"/>
              <a:chOff x="219991" y="5307159"/>
              <a:chExt cx="3040823" cy="1194969"/>
            </a:xfrm>
          </p:grpSpPr>
          <p:pic>
            <p:nvPicPr>
              <p:cNvPr descr="A screenshot of a computer&#10;&#10;Description automatically generated" id="381" name="Google Shape;381;p21"/>
              <p:cNvPicPr preferRelativeResize="0"/>
              <p:nvPr/>
            </p:nvPicPr>
            <p:blipFill rotWithShape="1">
              <a:blip r:embed="rId4">
                <a:alphaModFix/>
              </a:blip>
              <a:srcRect b="46867" l="37224" r="49991" t="34284"/>
              <a:stretch/>
            </p:blipFill>
            <p:spPr>
              <a:xfrm>
                <a:off x="219991" y="5307159"/>
                <a:ext cx="1838834" cy="11949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screenshot of a computer&#10;&#10;Description automatically generated" id="382" name="Google Shape;382;p21"/>
              <p:cNvPicPr preferRelativeResize="0"/>
              <p:nvPr/>
            </p:nvPicPr>
            <p:blipFill rotWithShape="1">
              <a:blip r:embed="rId4">
                <a:alphaModFix/>
              </a:blip>
              <a:srcRect b="46867" l="37224" r="49991" t="34284"/>
              <a:stretch/>
            </p:blipFill>
            <p:spPr>
              <a:xfrm>
                <a:off x="1421980" y="5307159"/>
                <a:ext cx="1838834" cy="119496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3" name="Google Shape;383;p21"/>
            <p:cNvGrpSpPr/>
            <p:nvPr/>
          </p:nvGrpSpPr>
          <p:grpSpPr>
            <a:xfrm>
              <a:off x="219991" y="6502129"/>
              <a:ext cx="3040823" cy="739829"/>
              <a:chOff x="219991" y="5307160"/>
              <a:chExt cx="3040823" cy="739829"/>
            </a:xfrm>
          </p:grpSpPr>
          <p:pic>
            <p:nvPicPr>
              <p:cNvPr descr="A screenshot of a computer&#10;&#10;Description automatically generated" id="384" name="Google Shape;384;p21"/>
              <p:cNvPicPr preferRelativeResize="0"/>
              <p:nvPr/>
            </p:nvPicPr>
            <p:blipFill rotWithShape="1">
              <a:blip r:embed="rId4">
                <a:alphaModFix/>
              </a:blip>
              <a:srcRect b="54046" l="37224" r="49991" t="34284"/>
              <a:stretch/>
            </p:blipFill>
            <p:spPr>
              <a:xfrm>
                <a:off x="219991" y="5307160"/>
                <a:ext cx="1838834" cy="73982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screenshot of a computer&#10;&#10;Description automatically generated" id="385" name="Google Shape;385;p21"/>
              <p:cNvPicPr preferRelativeResize="0"/>
              <p:nvPr/>
            </p:nvPicPr>
            <p:blipFill rotWithShape="1">
              <a:blip r:embed="rId4">
                <a:alphaModFix/>
              </a:blip>
              <a:srcRect b="54046" l="37224" r="49991" t="34284"/>
              <a:stretch/>
            </p:blipFill>
            <p:spPr>
              <a:xfrm>
                <a:off x="1421980" y="5307160"/>
                <a:ext cx="1838834" cy="73982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86" name="Google Shape;386;p21"/>
          <p:cNvPicPr preferRelativeResize="0"/>
          <p:nvPr/>
        </p:nvPicPr>
        <p:blipFill rotWithShape="1">
          <a:blip r:embed="rId5">
            <a:alphaModFix/>
          </a:blip>
          <a:srcRect b="31850" l="37567" r="12353" t="13753"/>
          <a:stretch/>
        </p:blipFill>
        <p:spPr>
          <a:xfrm>
            <a:off x="4250486" y="5312785"/>
            <a:ext cx="1438002" cy="976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87" name="Google Shape;387;p21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3949007" y="672325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88" name="Google Shape;388;p21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3966189" y="8523620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1"/>
          <p:cNvSpPr txBox="1"/>
          <p:nvPr/>
        </p:nvSpPr>
        <p:spPr>
          <a:xfrm>
            <a:off x="633803" y="425071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£2.05</a:t>
            </a:r>
            <a:endParaRPr/>
          </a:p>
        </p:txBody>
      </p:sp>
      <p:sp>
        <p:nvSpPr>
          <p:cNvPr id="390" name="Google Shape;390;p21"/>
          <p:cNvSpPr txBox="1"/>
          <p:nvPr/>
        </p:nvSpPr>
        <p:spPr>
          <a:xfrm>
            <a:off x="2800063" y="4250712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£1.90</a:t>
            </a:r>
            <a:endParaRPr/>
          </a:p>
        </p:txBody>
      </p:sp>
      <p:sp>
        <p:nvSpPr>
          <p:cNvPr id="391" name="Google Shape;391;p21"/>
          <p:cNvSpPr txBox="1"/>
          <p:nvPr/>
        </p:nvSpPr>
        <p:spPr>
          <a:xfrm>
            <a:off x="5030965" y="4231984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£10.00</a:t>
            </a:r>
            <a:endParaRPr/>
          </a:p>
        </p:txBody>
      </p:sp>
      <p:sp>
        <p:nvSpPr>
          <p:cNvPr id="392" name="Google Shape;392;p21"/>
          <p:cNvSpPr txBox="1"/>
          <p:nvPr/>
        </p:nvSpPr>
        <p:spPr>
          <a:xfrm>
            <a:off x="2632503" y="1853331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£2.35</a:t>
            </a:r>
            <a:endParaRPr/>
          </a:p>
        </p:txBody>
      </p:sp>
      <p:sp>
        <p:nvSpPr>
          <p:cNvPr id="393" name="Google Shape;393;p21"/>
          <p:cNvSpPr txBox="1"/>
          <p:nvPr/>
        </p:nvSpPr>
        <p:spPr>
          <a:xfrm>
            <a:off x="4863405" y="1834603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£4.25</a:t>
            </a:r>
            <a:endParaRPr/>
          </a:p>
        </p:txBody>
      </p:sp>
      <p:sp>
        <p:nvSpPr>
          <p:cNvPr id="394" name="Google Shape;394;p21"/>
          <p:cNvSpPr txBox="1"/>
          <p:nvPr/>
        </p:nvSpPr>
        <p:spPr>
          <a:xfrm>
            <a:off x="959112" y="7343354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£7.22</a:t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4245945" y="7025547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£10.75</a:t>
            </a:r>
            <a:endParaRPr/>
          </a:p>
        </p:txBody>
      </p:sp>
      <p:sp>
        <p:nvSpPr>
          <p:cNvPr id="396" name="Google Shape;396;p21"/>
          <p:cNvSpPr txBox="1"/>
          <p:nvPr/>
        </p:nvSpPr>
        <p:spPr>
          <a:xfrm>
            <a:off x="4218763" y="8810868"/>
            <a:ext cx="1333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£1.55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"/>
          <p:cNvSpPr txBox="1"/>
          <p:nvPr>
            <p:ph idx="12" type="sldNum"/>
          </p:nvPr>
        </p:nvSpPr>
        <p:spPr>
          <a:xfrm>
            <a:off x="5275473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02" name="Google Shape;402;p22"/>
          <p:cNvPicPr preferRelativeResize="0"/>
          <p:nvPr/>
        </p:nvPicPr>
        <p:blipFill rotWithShape="1">
          <a:blip r:embed="rId3">
            <a:alphaModFix/>
          </a:blip>
          <a:srcRect b="17263" l="0" r="0" t="14747"/>
          <a:stretch/>
        </p:blipFill>
        <p:spPr>
          <a:xfrm>
            <a:off x="341523" y="487142"/>
            <a:ext cx="4214435" cy="1478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22"/>
          <p:cNvPicPr preferRelativeResize="0"/>
          <p:nvPr/>
        </p:nvPicPr>
        <p:blipFill rotWithShape="1">
          <a:blip r:embed="rId4">
            <a:alphaModFix/>
          </a:blip>
          <a:srcRect b="0" l="3948" r="0" t="20591"/>
          <a:stretch/>
        </p:blipFill>
        <p:spPr>
          <a:xfrm>
            <a:off x="289397" y="6945998"/>
            <a:ext cx="4266561" cy="2334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2"/>
          <p:cNvPicPr preferRelativeResize="0"/>
          <p:nvPr/>
        </p:nvPicPr>
        <p:blipFill rotWithShape="1">
          <a:blip r:embed="rId5">
            <a:alphaModFix/>
          </a:blip>
          <a:srcRect b="21870" l="0" r="6070" t="17331"/>
          <a:stretch/>
        </p:blipFill>
        <p:spPr>
          <a:xfrm>
            <a:off x="337523" y="4645053"/>
            <a:ext cx="4218436" cy="1887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2"/>
          <p:cNvPicPr preferRelativeResize="0"/>
          <p:nvPr/>
        </p:nvPicPr>
        <p:blipFill rotWithShape="1">
          <a:blip r:embed="rId6">
            <a:alphaModFix/>
          </a:blip>
          <a:srcRect b="16237" l="0" r="0" t="19985"/>
          <a:stretch/>
        </p:blipFill>
        <p:spPr>
          <a:xfrm>
            <a:off x="109353" y="2371505"/>
            <a:ext cx="4446605" cy="1892081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2"/>
          <p:cNvSpPr txBox="1"/>
          <p:nvPr/>
        </p:nvSpPr>
        <p:spPr>
          <a:xfrm>
            <a:off x="21265" y="105198"/>
            <a:ext cx="60838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 Fill in the missing values the following bank statements:</a:t>
            </a:r>
            <a:endParaRPr/>
          </a:p>
        </p:txBody>
      </p:sp>
      <p:sp>
        <p:nvSpPr>
          <p:cNvPr id="407" name="Google Shape;407;p22"/>
          <p:cNvSpPr txBox="1"/>
          <p:nvPr/>
        </p:nvSpPr>
        <p:spPr>
          <a:xfrm>
            <a:off x="101475" y="455058"/>
            <a:ext cx="60838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/>
          </a:p>
        </p:txBody>
      </p:sp>
      <p:sp>
        <p:nvSpPr>
          <p:cNvPr id="408" name="Google Shape;408;p22"/>
          <p:cNvSpPr txBox="1"/>
          <p:nvPr/>
        </p:nvSpPr>
        <p:spPr>
          <a:xfrm>
            <a:off x="101475" y="2345625"/>
            <a:ext cx="60838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/>
          </a:p>
        </p:txBody>
      </p:sp>
      <p:sp>
        <p:nvSpPr>
          <p:cNvPr id="409" name="Google Shape;409;p22"/>
          <p:cNvSpPr txBox="1"/>
          <p:nvPr/>
        </p:nvSpPr>
        <p:spPr>
          <a:xfrm>
            <a:off x="109353" y="4597847"/>
            <a:ext cx="60838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/>
          </a:p>
        </p:txBody>
      </p:sp>
      <p:grpSp>
        <p:nvGrpSpPr>
          <p:cNvPr id="410" name="Google Shape;410;p22"/>
          <p:cNvGrpSpPr/>
          <p:nvPr/>
        </p:nvGrpSpPr>
        <p:grpSpPr>
          <a:xfrm>
            <a:off x="4796006" y="510862"/>
            <a:ext cx="1838834" cy="1431212"/>
            <a:chOff x="4961614" y="487142"/>
            <a:chExt cx="1838834" cy="1431212"/>
          </a:xfrm>
        </p:grpSpPr>
        <p:pic>
          <p:nvPicPr>
            <p:cNvPr descr="A screenshot of a computer&#10;&#10;Description automatically generated" id="411" name="Google Shape;411;p22"/>
            <p:cNvPicPr preferRelativeResize="0"/>
            <p:nvPr/>
          </p:nvPicPr>
          <p:blipFill rotWithShape="1">
            <a:blip r:embed="rId7">
              <a:alphaModFix/>
            </a:blip>
            <a:srcRect b="46867" l="37224" r="49991" t="34284"/>
            <a:stretch/>
          </p:blipFill>
          <p:spPr>
            <a:xfrm>
              <a:off x="4961614" y="487142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412" name="Google Shape;412;p22"/>
            <p:cNvPicPr preferRelativeResize="0"/>
            <p:nvPr/>
          </p:nvPicPr>
          <p:blipFill rotWithShape="1">
            <a:blip r:embed="rId7">
              <a:alphaModFix/>
            </a:blip>
            <a:srcRect b="46867" l="37224" r="49991" t="34284"/>
            <a:stretch/>
          </p:blipFill>
          <p:spPr>
            <a:xfrm>
              <a:off x="4961614" y="723385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3" name="Google Shape;413;p22"/>
          <p:cNvGrpSpPr/>
          <p:nvPr/>
        </p:nvGrpSpPr>
        <p:grpSpPr>
          <a:xfrm>
            <a:off x="4818524" y="2368748"/>
            <a:ext cx="1838834" cy="1897549"/>
            <a:chOff x="4961614" y="487142"/>
            <a:chExt cx="1838834" cy="1897549"/>
          </a:xfrm>
        </p:grpSpPr>
        <p:pic>
          <p:nvPicPr>
            <p:cNvPr descr="A screenshot of a computer&#10;&#10;Description automatically generated" id="414" name="Google Shape;414;p22"/>
            <p:cNvPicPr preferRelativeResize="0"/>
            <p:nvPr/>
          </p:nvPicPr>
          <p:blipFill rotWithShape="1">
            <a:blip r:embed="rId7">
              <a:alphaModFix/>
            </a:blip>
            <a:srcRect b="46867" l="37224" r="49991" t="34284"/>
            <a:stretch/>
          </p:blipFill>
          <p:spPr>
            <a:xfrm>
              <a:off x="4961614" y="487142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415" name="Google Shape;415;p22"/>
            <p:cNvPicPr preferRelativeResize="0"/>
            <p:nvPr/>
          </p:nvPicPr>
          <p:blipFill rotWithShape="1">
            <a:blip r:embed="rId7">
              <a:alphaModFix/>
            </a:blip>
            <a:srcRect b="46867" l="37224" r="49991" t="34284"/>
            <a:stretch/>
          </p:blipFill>
          <p:spPr>
            <a:xfrm>
              <a:off x="4961614" y="1189722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6" name="Google Shape;416;p22"/>
          <p:cNvGrpSpPr/>
          <p:nvPr/>
        </p:nvGrpSpPr>
        <p:grpSpPr>
          <a:xfrm>
            <a:off x="4812048" y="4645053"/>
            <a:ext cx="1838834" cy="1887289"/>
            <a:chOff x="4961614" y="487142"/>
            <a:chExt cx="1838834" cy="1887289"/>
          </a:xfrm>
        </p:grpSpPr>
        <p:pic>
          <p:nvPicPr>
            <p:cNvPr descr="A screenshot of a computer&#10;&#10;Description automatically generated" id="417" name="Google Shape;417;p22"/>
            <p:cNvPicPr preferRelativeResize="0"/>
            <p:nvPr/>
          </p:nvPicPr>
          <p:blipFill rotWithShape="1">
            <a:blip r:embed="rId7">
              <a:alphaModFix/>
            </a:blip>
            <a:srcRect b="46867" l="37224" r="49991" t="34284"/>
            <a:stretch/>
          </p:blipFill>
          <p:spPr>
            <a:xfrm>
              <a:off x="4961614" y="487142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418" name="Google Shape;418;p22"/>
            <p:cNvPicPr preferRelativeResize="0"/>
            <p:nvPr/>
          </p:nvPicPr>
          <p:blipFill rotWithShape="1">
            <a:blip r:embed="rId7">
              <a:alphaModFix/>
            </a:blip>
            <a:srcRect b="46867" l="37224" r="49991" t="34284"/>
            <a:stretch/>
          </p:blipFill>
          <p:spPr>
            <a:xfrm>
              <a:off x="4961614" y="1179462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9" name="Google Shape;419;p22"/>
          <p:cNvSpPr txBox="1"/>
          <p:nvPr/>
        </p:nvSpPr>
        <p:spPr>
          <a:xfrm>
            <a:off x="98720" y="6932363"/>
            <a:ext cx="60838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/>
          </a:p>
        </p:txBody>
      </p:sp>
      <p:grpSp>
        <p:nvGrpSpPr>
          <p:cNvPr id="420" name="Google Shape;420;p22"/>
          <p:cNvGrpSpPr/>
          <p:nvPr/>
        </p:nvGrpSpPr>
        <p:grpSpPr>
          <a:xfrm>
            <a:off x="4817271" y="6979056"/>
            <a:ext cx="1838834" cy="2138968"/>
            <a:chOff x="4961614" y="487142"/>
            <a:chExt cx="1838834" cy="2138968"/>
          </a:xfrm>
        </p:grpSpPr>
        <p:pic>
          <p:nvPicPr>
            <p:cNvPr descr="A screenshot of a computer&#10;&#10;Description automatically generated" id="421" name="Google Shape;421;p22"/>
            <p:cNvPicPr preferRelativeResize="0"/>
            <p:nvPr/>
          </p:nvPicPr>
          <p:blipFill rotWithShape="1">
            <a:blip r:embed="rId7">
              <a:alphaModFix/>
            </a:blip>
            <a:srcRect b="46867" l="37224" r="49991" t="34284"/>
            <a:stretch/>
          </p:blipFill>
          <p:spPr>
            <a:xfrm>
              <a:off x="4961614" y="487142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422" name="Google Shape;422;p22"/>
            <p:cNvPicPr preferRelativeResize="0"/>
            <p:nvPr/>
          </p:nvPicPr>
          <p:blipFill rotWithShape="1">
            <a:blip r:embed="rId7">
              <a:alphaModFix/>
            </a:blip>
            <a:srcRect b="46867" l="37224" r="49991" t="34284"/>
            <a:stretch/>
          </p:blipFill>
          <p:spPr>
            <a:xfrm>
              <a:off x="4961614" y="1431141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3" name="Google Shape;423;p22"/>
          <p:cNvSpPr txBox="1"/>
          <p:nvPr/>
        </p:nvSpPr>
        <p:spPr>
          <a:xfrm>
            <a:off x="3690920" y="1211172"/>
            <a:ext cx="1333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£124.80</a:t>
            </a:r>
            <a:endParaRPr/>
          </a:p>
        </p:txBody>
      </p:sp>
      <p:sp>
        <p:nvSpPr>
          <p:cNvPr id="424" name="Google Shape;424;p22"/>
          <p:cNvSpPr txBox="1"/>
          <p:nvPr/>
        </p:nvSpPr>
        <p:spPr>
          <a:xfrm>
            <a:off x="3690920" y="1593324"/>
            <a:ext cx="1333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£64.80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3689668" y="3118586"/>
            <a:ext cx="1333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£422.16</a:t>
            </a:r>
            <a:endParaRPr/>
          </a:p>
        </p:txBody>
      </p:sp>
      <p:sp>
        <p:nvSpPr>
          <p:cNvPr id="426" name="Google Shape;426;p22"/>
          <p:cNvSpPr txBox="1"/>
          <p:nvPr/>
        </p:nvSpPr>
        <p:spPr>
          <a:xfrm>
            <a:off x="3656359" y="3495154"/>
            <a:ext cx="1333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£368.60</a:t>
            </a:r>
            <a:endParaRPr/>
          </a:p>
        </p:txBody>
      </p:sp>
      <p:sp>
        <p:nvSpPr>
          <p:cNvPr id="427" name="Google Shape;427;p22"/>
          <p:cNvSpPr txBox="1"/>
          <p:nvPr/>
        </p:nvSpPr>
        <p:spPr>
          <a:xfrm>
            <a:off x="3656359" y="3878655"/>
            <a:ext cx="1333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£3072.94</a:t>
            </a:r>
            <a:endParaRPr/>
          </a:p>
        </p:txBody>
      </p:sp>
      <p:sp>
        <p:nvSpPr>
          <p:cNvPr id="428" name="Google Shape;428;p22"/>
          <p:cNvSpPr txBox="1"/>
          <p:nvPr/>
        </p:nvSpPr>
        <p:spPr>
          <a:xfrm>
            <a:off x="3676968" y="5403343"/>
            <a:ext cx="1333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£2059.45</a:t>
            </a:r>
            <a:endParaRPr/>
          </a:p>
        </p:txBody>
      </p:sp>
      <p:sp>
        <p:nvSpPr>
          <p:cNvPr id="429" name="Google Shape;429;p22"/>
          <p:cNvSpPr txBox="1"/>
          <p:nvPr/>
        </p:nvSpPr>
        <p:spPr>
          <a:xfrm>
            <a:off x="3676968" y="5780968"/>
            <a:ext cx="1333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£1934.45</a:t>
            </a:r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3676968" y="6151865"/>
            <a:ext cx="1333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£2724.67</a:t>
            </a:r>
            <a:endParaRPr/>
          </a:p>
        </p:txBody>
      </p:sp>
      <p:sp>
        <p:nvSpPr>
          <p:cNvPr id="431" name="Google Shape;431;p22"/>
          <p:cNvSpPr txBox="1"/>
          <p:nvPr/>
        </p:nvSpPr>
        <p:spPr>
          <a:xfrm>
            <a:off x="2181744" y="7743766"/>
            <a:ext cx="1333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£2305.94</a:t>
            </a:r>
            <a:endParaRPr/>
          </a:p>
        </p:txBody>
      </p:sp>
      <p:sp>
        <p:nvSpPr>
          <p:cNvPr id="432" name="Google Shape;432;p22"/>
          <p:cNvSpPr txBox="1"/>
          <p:nvPr/>
        </p:nvSpPr>
        <p:spPr>
          <a:xfrm>
            <a:off x="3656359" y="8097914"/>
            <a:ext cx="1333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£2627.20</a:t>
            </a:r>
            <a:endParaRPr/>
          </a:p>
        </p:txBody>
      </p:sp>
      <p:sp>
        <p:nvSpPr>
          <p:cNvPr id="433" name="Google Shape;433;p22"/>
          <p:cNvSpPr txBox="1"/>
          <p:nvPr/>
        </p:nvSpPr>
        <p:spPr>
          <a:xfrm>
            <a:off x="3010125" y="8495128"/>
            <a:ext cx="1333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£35.00</a:t>
            </a:r>
            <a:endParaRPr/>
          </a:p>
        </p:txBody>
      </p:sp>
      <p:sp>
        <p:nvSpPr>
          <p:cNvPr id="434" name="Google Shape;434;p22"/>
          <p:cNvSpPr txBox="1"/>
          <p:nvPr/>
        </p:nvSpPr>
        <p:spPr>
          <a:xfrm>
            <a:off x="2989516" y="8893342"/>
            <a:ext cx="1333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£93.75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3"/>
          <p:cNvSpPr txBox="1"/>
          <p:nvPr>
            <p:ph idx="12" type="sldNum"/>
          </p:nvPr>
        </p:nvSpPr>
        <p:spPr>
          <a:xfrm>
            <a:off x="5116268" y="940371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40" name="Google Shape;440;p23"/>
          <p:cNvPicPr preferRelativeResize="0"/>
          <p:nvPr/>
        </p:nvPicPr>
        <p:blipFill rotWithShape="1">
          <a:blip r:embed="rId3">
            <a:alphaModFix/>
          </a:blip>
          <a:srcRect b="10662" l="7565" r="4947" t="23115"/>
          <a:stretch/>
        </p:blipFill>
        <p:spPr>
          <a:xfrm>
            <a:off x="326019" y="307789"/>
            <a:ext cx="4254859" cy="1948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3"/>
          <p:cNvPicPr preferRelativeResize="0"/>
          <p:nvPr/>
        </p:nvPicPr>
        <p:blipFill rotWithShape="1">
          <a:blip r:embed="rId4">
            <a:alphaModFix/>
          </a:blip>
          <a:srcRect b="8809" l="1039" r="9126" t="20912"/>
          <a:stretch/>
        </p:blipFill>
        <p:spPr>
          <a:xfrm>
            <a:off x="299386" y="2642303"/>
            <a:ext cx="4281492" cy="2336621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3"/>
          <p:cNvSpPr txBox="1"/>
          <p:nvPr/>
        </p:nvSpPr>
        <p:spPr>
          <a:xfrm>
            <a:off x="74428" y="290032"/>
            <a:ext cx="60838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/>
          </a:p>
        </p:txBody>
      </p:sp>
      <p:grpSp>
        <p:nvGrpSpPr>
          <p:cNvPr id="443" name="Google Shape;443;p23"/>
          <p:cNvGrpSpPr/>
          <p:nvPr/>
        </p:nvGrpSpPr>
        <p:grpSpPr>
          <a:xfrm>
            <a:off x="4777123" y="337238"/>
            <a:ext cx="1838834" cy="1887289"/>
            <a:chOff x="4961614" y="487142"/>
            <a:chExt cx="1838834" cy="1887289"/>
          </a:xfrm>
        </p:grpSpPr>
        <p:pic>
          <p:nvPicPr>
            <p:cNvPr descr="A screenshot of a computer&#10;&#10;Description automatically generated" id="444" name="Google Shape;444;p23"/>
            <p:cNvPicPr preferRelativeResize="0"/>
            <p:nvPr/>
          </p:nvPicPr>
          <p:blipFill rotWithShape="1">
            <a:blip r:embed="rId5">
              <a:alphaModFix/>
            </a:blip>
            <a:srcRect b="46867" l="37224" r="49991" t="34284"/>
            <a:stretch/>
          </p:blipFill>
          <p:spPr>
            <a:xfrm>
              <a:off x="4961614" y="487142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445" name="Google Shape;445;p23"/>
            <p:cNvPicPr preferRelativeResize="0"/>
            <p:nvPr/>
          </p:nvPicPr>
          <p:blipFill rotWithShape="1">
            <a:blip r:embed="rId5">
              <a:alphaModFix/>
            </a:blip>
            <a:srcRect b="46867" l="37224" r="49991" t="34284"/>
            <a:stretch/>
          </p:blipFill>
          <p:spPr>
            <a:xfrm>
              <a:off x="4961614" y="1179462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Google Shape;446;p23"/>
          <p:cNvSpPr txBox="1"/>
          <p:nvPr/>
        </p:nvSpPr>
        <p:spPr>
          <a:xfrm>
            <a:off x="63795" y="2624548"/>
            <a:ext cx="60838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</a:t>
            </a:r>
            <a:endParaRPr/>
          </a:p>
        </p:txBody>
      </p:sp>
      <p:grpSp>
        <p:nvGrpSpPr>
          <p:cNvPr id="447" name="Google Shape;447;p23"/>
          <p:cNvGrpSpPr/>
          <p:nvPr/>
        </p:nvGrpSpPr>
        <p:grpSpPr>
          <a:xfrm>
            <a:off x="4782346" y="2662363"/>
            <a:ext cx="1841384" cy="2360026"/>
            <a:chOff x="4961614" y="487142"/>
            <a:chExt cx="1841384" cy="2360026"/>
          </a:xfrm>
        </p:grpSpPr>
        <p:pic>
          <p:nvPicPr>
            <p:cNvPr descr="A screenshot of a computer&#10;&#10;Description automatically generated" id="448" name="Google Shape;448;p23"/>
            <p:cNvPicPr preferRelativeResize="0"/>
            <p:nvPr/>
          </p:nvPicPr>
          <p:blipFill rotWithShape="1">
            <a:blip r:embed="rId5">
              <a:alphaModFix/>
            </a:blip>
            <a:srcRect b="46867" l="37224" r="49991" t="34284"/>
            <a:stretch/>
          </p:blipFill>
          <p:spPr>
            <a:xfrm>
              <a:off x="4961614" y="487142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449" name="Google Shape;449;p23"/>
            <p:cNvPicPr preferRelativeResize="0"/>
            <p:nvPr/>
          </p:nvPicPr>
          <p:blipFill rotWithShape="1">
            <a:blip r:embed="rId5">
              <a:alphaModFix/>
            </a:blip>
            <a:srcRect b="46867" l="37224" r="49991" t="34284"/>
            <a:stretch/>
          </p:blipFill>
          <p:spPr>
            <a:xfrm>
              <a:off x="4964164" y="1652199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50" name="Google Shape;45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6019" y="5562185"/>
            <a:ext cx="5304760" cy="3946681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3"/>
          <p:cNvSpPr txBox="1"/>
          <p:nvPr/>
        </p:nvSpPr>
        <p:spPr>
          <a:xfrm>
            <a:off x="74428" y="5562185"/>
            <a:ext cx="60838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14)</a:t>
            </a:r>
            <a:endParaRPr/>
          </a:p>
        </p:txBody>
      </p:sp>
      <p:pic>
        <p:nvPicPr>
          <p:cNvPr descr="A screenshot of a computer&#10;&#10;Description automatically generated" id="452" name="Google Shape;452;p23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573843" y="717542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453" name="Google Shape;453;p23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2374243" y="717542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454" name="Google Shape;454;p23"/>
          <p:cNvPicPr preferRelativeResize="0"/>
          <p:nvPr/>
        </p:nvPicPr>
        <p:blipFill rotWithShape="1">
          <a:blip r:embed="rId5">
            <a:alphaModFix/>
          </a:blip>
          <a:srcRect b="46867" l="37224" r="49991" t="34284"/>
          <a:stretch/>
        </p:blipFill>
        <p:spPr>
          <a:xfrm>
            <a:off x="4165868" y="7173658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3"/>
          <p:cNvSpPr/>
          <p:nvPr/>
        </p:nvSpPr>
        <p:spPr>
          <a:xfrm>
            <a:off x="1429465" y="8374977"/>
            <a:ext cx="4385343" cy="3427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"/>
          <p:cNvSpPr txBox="1"/>
          <p:nvPr/>
        </p:nvSpPr>
        <p:spPr>
          <a:xfrm>
            <a:off x="3079270" y="1106827"/>
            <a:ext cx="1333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£30.00</a:t>
            </a:r>
            <a:endParaRPr/>
          </a:p>
        </p:txBody>
      </p:sp>
      <p:sp>
        <p:nvSpPr>
          <p:cNvPr id="457" name="Google Shape;457;p23"/>
          <p:cNvSpPr txBox="1"/>
          <p:nvPr/>
        </p:nvSpPr>
        <p:spPr>
          <a:xfrm>
            <a:off x="3782582" y="1502159"/>
            <a:ext cx="1333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£67.03</a:t>
            </a:r>
            <a:endParaRPr/>
          </a:p>
        </p:txBody>
      </p:sp>
      <p:sp>
        <p:nvSpPr>
          <p:cNvPr id="458" name="Google Shape;458;p23"/>
          <p:cNvSpPr txBox="1"/>
          <p:nvPr/>
        </p:nvSpPr>
        <p:spPr>
          <a:xfrm>
            <a:off x="3782582" y="1909067"/>
            <a:ext cx="1333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£748.18</a:t>
            </a:r>
            <a:endParaRPr/>
          </a:p>
        </p:txBody>
      </p:sp>
      <p:sp>
        <p:nvSpPr>
          <p:cNvPr id="459" name="Google Shape;459;p23"/>
          <p:cNvSpPr txBox="1"/>
          <p:nvPr/>
        </p:nvSpPr>
        <p:spPr>
          <a:xfrm>
            <a:off x="3773436" y="3064988"/>
            <a:ext cx="1333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£136.00</a:t>
            </a:r>
            <a:endParaRPr/>
          </a:p>
        </p:txBody>
      </p:sp>
      <p:sp>
        <p:nvSpPr>
          <p:cNvPr id="460" name="Google Shape;460;p23"/>
          <p:cNvSpPr txBox="1"/>
          <p:nvPr/>
        </p:nvSpPr>
        <p:spPr>
          <a:xfrm>
            <a:off x="3782582" y="3841185"/>
            <a:ext cx="1333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£361.00</a:t>
            </a:r>
            <a:endParaRPr/>
          </a:p>
        </p:txBody>
      </p:sp>
      <p:sp>
        <p:nvSpPr>
          <p:cNvPr id="461" name="Google Shape;461;p23"/>
          <p:cNvSpPr txBox="1"/>
          <p:nvPr/>
        </p:nvSpPr>
        <p:spPr>
          <a:xfrm>
            <a:off x="3782582" y="4222633"/>
            <a:ext cx="1333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£790.00</a:t>
            </a:r>
            <a:endParaRPr/>
          </a:p>
        </p:txBody>
      </p:sp>
      <p:sp>
        <p:nvSpPr>
          <p:cNvPr id="462" name="Google Shape;462;p23"/>
          <p:cNvSpPr txBox="1"/>
          <p:nvPr/>
        </p:nvSpPr>
        <p:spPr>
          <a:xfrm>
            <a:off x="2315588" y="4586287"/>
            <a:ext cx="1333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£45.00</a:t>
            </a:r>
            <a:endParaRPr/>
          </a:p>
        </p:txBody>
      </p:sp>
      <p:sp>
        <p:nvSpPr>
          <p:cNvPr id="463" name="Google Shape;463;p23"/>
          <p:cNvSpPr/>
          <p:nvPr/>
        </p:nvSpPr>
        <p:spPr>
          <a:xfrm>
            <a:off x="2003713" y="6629400"/>
            <a:ext cx="830466" cy="6604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4"/>
          <p:cNvGrpSpPr/>
          <p:nvPr/>
        </p:nvGrpSpPr>
        <p:grpSpPr>
          <a:xfrm>
            <a:off x="69850" y="5198620"/>
            <a:ext cx="6727189" cy="4381500"/>
            <a:chOff x="69850" y="5198620"/>
            <a:chExt cx="6727189" cy="4381500"/>
          </a:xfrm>
        </p:grpSpPr>
        <p:grpSp>
          <p:nvGrpSpPr>
            <p:cNvPr id="469" name="Google Shape;469;p24"/>
            <p:cNvGrpSpPr/>
            <p:nvPr/>
          </p:nvGrpSpPr>
          <p:grpSpPr>
            <a:xfrm>
              <a:off x="157188" y="5198620"/>
              <a:ext cx="6539864" cy="4381500"/>
              <a:chOff x="159068" y="5311167"/>
              <a:chExt cx="6539864" cy="4381500"/>
            </a:xfrm>
          </p:grpSpPr>
          <p:pic>
            <p:nvPicPr>
              <p:cNvPr id="470" name="Google Shape;470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9068" y="5311167"/>
                <a:ext cx="5514975" cy="438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1" name="Google Shape;471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69735" r="3662" t="0"/>
              <a:stretch/>
            </p:blipFill>
            <p:spPr>
              <a:xfrm>
                <a:off x="5231750" y="5311167"/>
                <a:ext cx="1467182" cy="438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2" name="Google Shape;472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6619" r="0" t="0"/>
              <a:stretch/>
            </p:blipFill>
            <p:spPr>
              <a:xfrm>
                <a:off x="936852" y="5311167"/>
                <a:ext cx="5149954" cy="4381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73" name="Google Shape;473;p24"/>
            <p:cNvSpPr/>
            <p:nvPr/>
          </p:nvSpPr>
          <p:spPr>
            <a:xfrm>
              <a:off x="69850" y="5198620"/>
              <a:ext cx="6727189" cy="100406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4" name="Google Shape;474;p24"/>
          <p:cNvSpPr txBox="1"/>
          <p:nvPr/>
        </p:nvSpPr>
        <p:spPr>
          <a:xfrm>
            <a:off x="130811" y="111263"/>
            <a:ext cx="658080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4"/>
          <p:cNvSpPr/>
          <p:nvPr/>
        </p:nvSpPr>
        <p:spPr>
          <a:xfrm>
            <a:off x="660563" y="4597492"/>
            <a:ext cx="1975236" cy="2151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4"/>
          <p:cNvSpPr txBox="1"/>
          <p:nvPr>
            <p:ph idx="12" type="sldNum"/>
          </p:nvPr>
        </p:nvSpPr>
        <p:spPr>
          <a:xfrm>
            <a:off x="5191461" y="943867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477" name="Google Shape;477;p24"/>
          <p:cNvGraphicFramePr/>
          <p:nvPr/>
        </p:nvGraphicFramePr>
        <p:xfrm>
          <a:off x="141828" y="4608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{4D734A8F-DFB3-4F28-AF70-45E2574C7922}</a:tableStyleId>
              </a:tblPr>
              <a:tblGrid>
                <a:gridCol w="3279500"/>
                <a:gridCol w="3279500"/>
              </a:tblGrid>
              <a:tr h="215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1. Kyle is saving money.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In January, he saves £17.89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In February, he saves £9.56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In March, Kyle saves £34.78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 how much he has saved in total.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342900" lvl="3" marL="137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£7.33 </a:t>
                      </a:r>
                      <a:endParaRPr/>
                    </a:p>
                    <a:p>
                      <a:pPr indent="-342900" lvl="3" marL="137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£52.67</a:t>
                      </a:r>
                      <a:endParaRPr/>
                    </a:p>
                    <a:p>
                      <a:pPr indent="-342900" lvl="3" marL="137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£60.22</a:t>
                      </a:r>
                      <a:endParaRPr/>
                    </a:p>
                    <a:p>
                      <a:pPr indent="-342900" lvl="3" marL="137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£62.23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2. Tom has £12.99.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Nia has £37.25.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much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more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does Nia have than Tom?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342900" lvl="3" marL="137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£24.26</a:t>
                      </a:r>
                      <a:endParaRPr/>
                    </a:p>
                    <a:p>
                      <a:pPr indent="-342900" lvl="3" marL="137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£50.24</a:t>
                      </a:r>
                      <a:endParaRPr/>
                    </a:p>
                    <a:p>
                      <a:pPr indent="-342900" lvl="3" marL="137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£25.74</a:t>
                      </a:r>
                      <a:endParaRPr/>
                    </a:p>
                    <a:p>
                      <a:pPr indent="-342900" lvl="3" marL="137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£24.24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3. Ali spent £7.24. They had 83p left. How much money did they have to start with?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342900" lvl="3" marL="137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£6.41</a:t>
                      </a:r>
                      <a:endParaRPr/>
                    </a:p>
                    <a:p>
                      <a:pPr indent="-342900" lvl="3" marL="137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£8.07</a:t>
                      </a:r>
                      <a:endParaRPr/>
                    </a:p>
                    <a:p>
                      <a:pPr indent="-342900" lvl="3" marL="137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£15.54</a:t>
                      </a:r>
                      <a:endParaRPr/>
                    </a:p>
                    <a:p>
                      <a:pPr indent="-342900" lvl="3" marL="137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£1.06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4. Emma buys 2 drinks for 73p each and a sandwich for £2.18.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She pays with a £5 note.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much change does she receive?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342900" lvl="3" marL="137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£3.64</a:t>
                      </a:r>
                      <a:endParaRPr/>
                    </a:p>
                    <a:p>
                      <a:pPr indent="-342900" lvl="3" marL="137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£1.36</a:t>
                      </a:r>
                      <a:endParaRPr/>
                    </a:p>
                    <a:p>
                      <a:pPr indent="-342900" lvl="3" marL="137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£2.09</a:t>
                      </a:r>
                      <a:endParaRPr/>
                    </a:p>
                    <a:p>
                      <a:pPr indent="-342900" lvl="3" marL="137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£2.91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5. Daniel has £185.72. He pays his phone bill of £39.99. How much more money does he need to reach his savings target of £200?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342900" lvl="8" marL="30861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£14.28</a:t>
                      </a:r>
                      <a:endParaRPr/>
                    </a:p>
                    <a:p>
                      <a:pPr indent="-342900" lvl="8" marL="30861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£145.73</a:t>
                      </a:r>
                      <a:endParaRPr/>
                    </a:p>
                    <a:p>
                      <a:pPr indent="-342900" lvl="8" marL="30861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£160.01</a:t>
                      </a:r>
                      <a:endParaRPr/>
                    </a:p>
                    <a:p>
                      <a:pPr indent="-342900" lvl="8" marL="30861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£54.27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478" name="Google Shape;478;p24"/>
          <p:cNvSpPr/>
          <p:nvPr/>
        </p:nvSpPr>
        <p:spPr>
          <a:xfrm>
            <a:off x="1079221" y="2306932"/>
            <a:ext cx="1168400" cy="21517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4"/>
          <p:cNvSpPr/>
          <p:nvPr/>
        </p:nvSpPr>
        <p:spPr>
          <a:xfrm>
            <a:off x="4366934" y="1393257"/>
            <a:ext cx="1168400" cy="21517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1079221" y="3379669"/>
            <a:ext cx="1168400" cy="21517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4"/>
          <p:cNvSpPr/>
          <p:nvPr/>
        </p:nvSpPr>
        <p:spPr>
          <a:xfrm>
            <a:off x="4366934" y="3925044"/>
            <a:ext cx="1168400" cy="21517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4"/>
          <p:cNvSpPr/>
          <p:nvPr/>
        </p:nvSpPr>
        <p:spPr>
          <a:xfrm>
            <a:off x="2852251" y="5714573"/>
            <a:ext cx="1168400" cy="21517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