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E101DD-E580-4875-A8C4-913725A40A9E}">
  <a:tblStyle styleId="{A7E101DD-E580-4875-A8C4-913725A40A9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7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89374" y="65363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943625"/>
                <a:gridCol w="1918525"/>
                <a:gridCol w="1918525"/>
                <a:gridCol w="1918525"/>
              </a:tblGrid>
              <a:tr h="7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Draw a number line showing the numbers with 1 significant figure above and below 372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Draw a number line showing the numbers with 1 significant figure above and below 62.03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Draw a number line showing the numbers with 1 significant figure above and below 237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75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Identify 1 sf above and 1 sf below.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Is it closer to the sf above or below?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300                              400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60                                70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rgbClr val="FF0000"/>
                          </a:solidFill>
                        </a:rPr>
                        <a:t>200                                 300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Calibri"/>
                        <a:buNone/>
                      </a:pPr>
                      <a:r>
                        <a:t/>
                      </a:r>
                      <a:endParaRPr b="0" sz="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04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372 to 1 significant figure (1sf)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62.03 to 1 significant figure (1sf)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Round 237 to 1 significant figure (1sf)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0000"/>
                          </a:solidFill>
                        </a:rPr>
                        <a:t>400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100">
                          <a:solidFill>
                            <a:srgbClr val="FF0000"/>
                          </a:solidFill>
                        </a:rPr>
                        <a:t>60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100">
                          <a:solidFill>
                            <a:srgbClr val="FF0000"/>
                          </a:solidFill>
                        </a:rPr>
                        <a:t>200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241769" y="6276384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868475" y="627593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252400" y="943131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6108" y="318368"/>
            <a:ext cx="6679742" cy="1044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N1.16 – Rounding to Significant Figures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22649" y="641896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38426" y="840333"/>
            <a:ext cx="46679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identify the significant figures in a given number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round to 1, 2 or 3 significant figures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204769" y="367347"/>
            <a:ext cx="6462326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round numbers to 1, 2 or 3 significant figures.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086999" y="684464"/>
            <a:ext cx="1572967" cy="64633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Rounding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Significant figures</a:t>
            </a:r>
            <a:endParaRPr/>
          </a:p>
        </p:txBody>
      </p:sp>
      <p:cxnSp>
        <p:nvCxnSpPr>
          <p:cNvPr id="99" name="Google Shape;99;p13"/>
          <p:cNvCxnSpPr/>
          <p:nvPr/>
        </p:nvCxnSpPr>
        <p:spPr>
          <a:xfrm flipH="1" rot="10800000">
            <a:off x="948678" y="5642496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3"/>
          <p:cNvSpPr/>
          <p:nvPr/>
        </p:nvSpPr>
        <p:spPr>
          <a:xfrm>
            <a:off x="93997" y="3711901"/>
            <a:ext cx="6699219" cy="223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3"/>
          <p:cNvCxnSpPr/>
          <p:nvPr/>
        </p:nvCxnSpPr>
        <p:spPr>
          <a:xfrm>
            <a:off x="93997" y="4965061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13"/>
          <p:cNvCxnSpPr>
            <a:stCxn id="100" idx="2"/>
            <a:endCxn id="100" idx="0"/>
          </p:cNvCxnSpPr>
          <p:nvPr/>
        </p:nvCxnSpPr>
        <p:spPr>
          <a:xfrm rot="10800000">
            <a:off x="3443607" y="3711901"/>
            <a:ext cx="0" cy="223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13"/>
          <p:cNvSpPr txBox="1"/>
          <p:nvPr/>
        </p:nvSpPr>
        <p:spPr>
          <a:xfrm>
            <a:off x="111752" y="3711900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5763399" y="3710931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75041" y="4953203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5655756" y="4945527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103735" y="3907467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process of finding an approximation for a number to a given accuracy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3508634" y="3874602"/>
            <a:ext cx="323033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round up or down depending on the value they are closer to (and exactly halfway between rounds up).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significant figure is the first non-zero digit. All following digits count as significant.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2929881" y="4831745"/>
            <a:ext cx="107600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061578" y="629116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79417" y="5132308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170.8 = 200 to 1 significant figure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107.8 = 110 to 2 significant figures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0.01079 = 0.0108 to 3 significant figures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0.01038 = 0.010 to 2 significant figures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3562881" y="4874783"/>
            <a:ext cx="3230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170.8 ≠ 2 to 1 significant figure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0.087 ≠ 0.1 to 1 significant figure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50.46 ≠ 50.5 to 2 significant figures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50.46 ≠ 50.00 to 2 significant figures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88495" y="5987509"/>
            <a:ext cx="6014442" cy="28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a number line to round numbers bigger than 1 to 1 significant figure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" name="Google Shape;114;p13"/>
          <p:cNvGrpSpPr/>
          <p:nvPr/>
        </p:nvGrpSpPr>
        <p:grpSpPr>
          <a:xfrm>
            <a:off x="1302629" y="7631781"/>
            <a:ext cx="1417470" cy="115672"/>
            <a:chOff x="1277321" y="6379072"/>
            <a:chExt cx="1417470" cy="115672"/>
          </a:xfrm>
        </p:grpSpPr>
        <p:cxnSp>
          <p:nvCxnSpPr>
            <p:cNvPr id="115" name="Google Shape;115;p13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" name="Google Shape;116;p13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" name="Google Shape;117;p13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8" name="Google Shape;118;p13"/>
          <p:cNvGrpSpPr/>
          <p:nvPr/>
        </p:nvGrpSpPr>
        <p:grpSpPr>
          <a:xfrm>
            <a:off x="3211322" y="7639803"/>
            <a:ext cx="1417470" cy="115672"/>
            <a:chOff x="1277321" y="6379072"/>
            <a:chExt cx="1417470" cy="115672"/>
          </a:xfrm>
        </p:grpSpPr>
        <p:cxnSp>
          <p:nvCxnSpPr>
            <p:cNvPr id="119" name="Google Shape;119;p13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" name="Google Shape;120;p13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" name="Google Shape;121;p13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2" name="Google Shape;122;p13"/>
          <p:cNvGrpSpPr/>
          <p:nvPr/>
        </p:nvGrpSpPr>
        <p:grpSpPr>
          <a:xfrm>
            <a:off x="5110856" y="7627770"/>
            <a:ext cx="1417470" cy="115672"/>
            <a:chOff x="1277321" y="6379072"/>
            <a:chExt cx="1417470" cy="115672"/>
          </a:xfrm>
        </p:grpSpPr>
        <p:cxnSp>
          <p:nvCxnSpPr>
            <p:cNvPr id="123" name="Google Shape;123;p13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" name="Google Shape;124;p13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" name="Google Shape;125;p13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6" name="Google Shape;126;p13"/>
          <p:cNvSpPr/>
          <p:nvPr/>
        </p:nvSpPr>
        <p:spPr>
          <a:xfrm>
            <a:off x="89876" y="1417019"/>
            <a:ext cx="6672205" cy="222956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Rounding to significant figures means keeping the digits that tell us about the size and accuracy of a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number, starting from the first non-zero digit. All non-zero digits are always significant. Zeros between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non-zero digits (like in 2,005) are also significant. Zeros before the first non-zero digit in a decimal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(like in 0.0061) are not significant, because they only help place the decimal point.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7" name="Google Shape;127;p13"/>
          <p:cNvGraphicFramePr/>
          <p:nvPr/>
        </p:nvGraphicFramePr>
        <p:xfrm>
          <a:off x="625630" y="27054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720750"/>
                <a:gridCol w="720750"/>
                <a:gridCol w="720750"/>
                <a:gridCol w="720750"/>
                <a:gridCol w="720750"/>
                <a:gridCol w="720750"/>
                <a:gridCol w="720750"/>
                <a:gridCol w="7207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600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604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620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60,000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663.2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6,007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60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60.2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" name="Google Shape;128;p13"/>
          <p:cNvSpPr/>
          <p:nvPr/>
        </p:nvSpPr>
        <p:spPr>
          <a:xfrm>
            <a:off x="583029" y="2728364"/>
            <a:ext cx="619397" cy="3324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794119" y="2723330"/>
            <a:ext cx="619397" cy="3324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4931442" y="2741214"/>
            <a:ext cx="619397" cy="3324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74001" y="2433597"/>
            <a:ext cx="62455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Circle the numbers which have 1 significant figure</a:t>
            </a:r>
            <a:endParaRPr/>
          </a:p>
        </p:txBody>
      </p:sp>
      <p:graphicFrame>
        <p:nvGraphicFramePr>
          <p:cNvPr id="132" name="Google Shape;132;p13"/>
          <p:cNvGraphicFramePr/>
          <p:nvPr/>
        </p:nvGraphicFramePr>
        <p:xfrm>
          <a:off x="560603" y="33368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720750"/>
                <a:gridCol w="720750"/>
                <a:gridCol w="720750"/>
                <a:gridCol w="720750"/>
                <a:gridCol w="720750"/>
                <a:gridCol w="720750"/>
                <a:gridCol w="720750"/>
                <a:gridCol w="7207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0.43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0.3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0.604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0.002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0.007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0.0200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0.1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0.035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13"/>
          <p:cNvSpPr/>
          <p:nvPr/>
        </p:nvSpPr>
        <p:spPr>
          <a:xfrm>
            <a:off x="1232517" y="3388009"/>
            <a:ext cx="619397" cy="3324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4828126" y="3417803"/>
            <a:ext cx="619397" cy="3324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2644203" y="3399799"/>
            <a:ext cx="619397" cy="3324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3405484" y="3399797"/>
            <a:ext cx="619397" cy="3324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4137130" y="3409110"/>
            <a:ext cx="619397" cy="3324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69407" y="3057587"/>
            <a:ext cx="59391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Circle the decimals which have 1 significant figure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idx="12" type="sldNum"/>
          </p:nvPr>
        </p:nvSpPr>
        <p:spPr>
          <a:xfrm>
            <a:off x="5250749" y="939792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44" name="Google Shape;144;p14"/>
          <p:cNvGrpSpPr/>
          <p:nvPr/>
        </p:nvGrpSpPr>
        <p:grpSpPr>
          <a:xfrm>
            <a:off x="2609564" y="2540809"/>
            <a:ext cx="1638872" cy="424172"/>
            <a:chOff x="418602" y="9031676"/>
            <a:chExt cx="1546230" cy="424172"/>
          </a:xfrm>
        </p:grpSpPr>
        <p:sp>
          <p:nvSpPr>
            <p:cNvPr id="145" name="Google Shape;145;p14"/>
            <p:cNvSpPr/>
            <p:nvPr/>
          </p:nvSpPr>
          <p:spPr>
            <a:xfrm>
              <a:off x="418602" y="9031676"/>
              <a:ext cx="399253" cy="24964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400</a:t>
              </a:r>
              <a:endParaRPr/>
            </a:p>
          </p:txBody>
        </p:sp>
        <p:cxnSp>
          <p:nvCxnSpPr>
            <p:cNvPr id="146" name="Google Shape;146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" name="Google Shape;147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8" name="Google Shape;148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" name="Google Shape;149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0" name="Google Shape;150;p14"/>
            <p:cNvCxnSpPr/>
            <p:nvPr/>
          </p:nvCxnSpPr>
          <p:spPr>
            <a:xfrm>
              <a:off x="1428265" y="9283680"/>
              <a:ext cx="0" cy="16477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51" name="Google Shape;151;p14"/>
            <p:cNvSpPr txBox="1"/>
            <p:nvPr/>
          </p:nvSpPr>
          <p:spPr>
            <a:xfrm>
              <a:off x="1184981" y="9035865"/>
              <a:ext cx="5049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467</a:t>
              </a:r>
              <a:endParaRPr/>
            </a:p>
          </p:txBody>
        </p:sp>
      </p:grpSp>
      <p:sp>
        <p:nvSpPr>
          <p:cNvPr id="152" name="Google Shape;152;p14"/>
          <p:cNvSpPr/>
          <p:nvPr/>
        </p:nvSpPr>
        <p:spPr>
          <a:xfrm>
            <a:off x="3879812" y="2548106"/>
            <a:ext cx="423174" cy="24964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/>
          </a:p>
        </p:txBody>
      </p:sp>
      <p:grpSp>
        <p:nvGrpSpPr>
          <p:cNvPr id="153" name="Google Shape;153;p14"/>
          <p:cNvGrpSpPr/>
          <p:nvPr/>
        </p:nvGrpSpPr>
        <p:grpSpPr>
          <a:xfrm>
            <a:off x="4714088" y="2536630"/>
            <a:ext cx="1711552" cy="428351"/>
            <a:chOff x="-4186579" y="3477961"/>
            <a:chExt cx="1711552" cy="428351"/>
          </a:xfrm>
        </p:grpSpPr>
        <p:grpSp>
          <p:nvGrpSpPr>
            <p:cNvPr id="154" name="Google Shape;154;p14"/>
            <p:cNvGrpSpPr/>
            <p:nvPr/>
          </p:nvGrpSpPr>
          <p:grpSpPr>
            <a:xfrm>
              <a:off x="-4122641" y="3486329"/>
              <a:ext cx="1582167" cy="419983"/>
              <a:chOff x="472103" y="9035865"/>
              <a:chExt cx="1492729" cy="419983"/>
            </a:xfrm>
          </p:grpSpPr>
          <p:cxnSp>
            <p:nvCxnSpPr>
              <p:cNvPr id="155" name="Google Shape;155;p14"/>
              <p:cNvCxnSpPr/>
              <p:nvPr/>
            </p:nvCxnSpPr>
            <p:spPr>
              <a:xfrm>
                <a:off x="472103" y="9448456"/>
                <a:ext cx="149272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>
                <a:off x="618754" y="9294552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7" name="Google Shape;157;p14"/>
              <p:cNvCxnSpPr/>
              <p:nvPr/>
            </p:nvCxnSpPr>
            <p:spPr>
              <a:xfrm>
                <a:off x="1821592" y="9296056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8" name="Google Shape;158;p14"/>
              <p:cNvCxnSpPr/>
              <p:nvPr/>
            </p:nvCxnSpPr>
            <p:spPr>
              <a:xfrm>
                <a:off x="1218467" y="9347848"/>
                <a:ext cx="0" cy="108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14"/>
              <p:cNvCxnSpPr/>
              <p:nvPr/>
            </p:nvCxnSpPr>
            <p:spPr>
              <a:xfrm>
                <a:off x="1002602" y="9283680"/>
                <a:ext cx="0" cy="16477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0" name="Google Shape;160;p14"/>
              <p:cNvSpPr txBox="1"/>
              <p:nvPr/>
            </p:nvSpPr>
            <p:spPr>
              <a:xfrm>
                <a:off x="682368" y="9035865"/>
                <a:ext cx="59968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23.7</a:t>
                </a:r>
                <a:endParaRPr/>
              </a:p>
            </p:txBody>
          </p:sp>
        </p:grpSp>
        <p:sp>
          <p:nvSpPr>
            <p:cNvPr id="161" name="Google Shape;161;p14"/>
            <p:cNvSpPr/>
            <p:nvPr/>
          </p:nvSpPr>
          <p:spPr>
            <a:xfrm>
              <a:off x="-4186579" y="3477961"/>
              <a:ext cx="423174" cy="24964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-2898201" y="3477961"/>
              <a:ext cx="423174" cy="24964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/>
            </a:p>
          </p:txBody>
        </p:sp>
      </p:grpSp>
      <p:grpSp>
        <p:nvGrpSpPr>
          <p:cNvPr id="163" name="Google Shape;163;p14"/>
          <p:cNvGrpSpPr/>
          <p:nvPr/>
        </p:nvGrpSpPr>
        <p:grpSpPr>
          <a:xfrm>
            <a:off x="377122" y="4169140"/>
            <a:ext cx="1784741" cy="433765"/>
            <a:chOff x="-2368331" y="3478488"/>
            <a:chExt cx="1784741" cy="433765"/>
          </a:xfrm>
        </p:grpSpPr>
        <p:grpSp>
          <p:nvGrpSpPr>
            <p:cNvPr id="164" name="Google Shape;164;p14"/>
            <p:cNvGrpSpPr/>
            <p:nvPr/>
          </p:nvGrpSpPr>
          <p:grpSpPr>
            <a:xfrm>
              <a:off x="-2274056" y="3478488"/>
              <a:ext cx="1582165" cy="433765"/>
              <a:chOff x="472103" y="9022083"/>
              <a:chExt cx="1492729" cy="433765"/>
            </a:xfrm>
          </p:grpSpPr>
          <p:cxnSp>
            <p:nvCxnSpPr>
              <p:cNvPr id="165" name="Google Shape;165;p14"/>
              <p:cNvCxnSpPr/>
              <p:nvPr/>
            </p:nvCxnSpPr>
            <p:spPr>
              <a:xfrm>
                <a:off x="472103" y="9448456"/>
                <a:ext cx="149272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14"/>
              <p:cNvCxnSpPr/>
              <p:nvPr/>
            </p:nvCxnSpPr>
            <p:spPr>
              <a:xfrm>
                <a:off x="618754" y="9294552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7" name="Google Shape;167;p14"/>
              <p:cNvCxnSpPr/>
              <p:nvPr/>
            </p:nvCxnSpPr>
            <p:spPr>
              <a:xfrm>
                <a:off x="1821592" y="9296056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8" name="Google Shape;168;p14"/>
              <p:cNvCxnSpPr/>
              <p:nvPr/>
            </p:nvCxnSpPr>
            <p:spPr>
              <a:xfrm>
                <a:off x="1218467" y="9347848"/>
                <a:ext cx="0" cy="108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9" name="Google Shape;169;p14"/>
              <p:cNvCxnSpPr/>
              <p:nvPr/>
            </p:nvCxnSpPr>
            <p:spPr>
              <a:xfrm>
                <a:off x="1219729" y="9271201"/>
                <a:ext cx="0" cy="16477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70" name="Google Shape;170;p14"/>
              <p:cNvSpPr txBox="1"/>
              <p:nvPr/>
            </p:nvSpPr>
            <p:spPr>
              <a:xfrm>
                <a:off x="900495" y="9022083"/>
                <a:ext cx="64917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1500</a:t>
                </a:r>
                <a:endParaRPr/>
              </a:p>
            </p:txBody>
          </p:sp>
        </p:grpSp>
        <p:sp>
          <p:nvSpPr>
            <p:cNvPr id="171" name="Google Shape;171;p14"/>
            <p:cNvSpPr/>
            <p:nvPr/>
          </p:nvSpPr>
          <p:spPr>
            <a:xfrm>
              <a:off x="-2368331" y="3501311"/>
              <a:ext cx="512237" cy="24964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1000</a:t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-1095827" y="3508302"/>
              <a:ext cx="512237" cy="24964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2000</a:t>
              </a:r>
              <a:endParaRPr/>
            </a:p>
          </p:txBody>
        </p:sp>
      </p:grpSp>
      <p:grpSp>
        <p:nvGrpSpPr>
          <p:cNvPr id="173" name="Google Shape;173;p14"/>
          <p:cNvGrpSpPr/>
          <p:nvPr/>
        </p:nvGrpSpPr>
        <p:grpSpPr>
          <a:xfrm>
            <a:off x="2561637" y="4070474"/>
            <a:ext cx="1720445" cy="560621"/>
            <a:chOff x="-6370883" y="5507076"/>
            <a:chExt cx="1467939" cy="422023"/>
          </a:xfrm>
        </p:grpSpPr>
        <p:grpSp>
          <p:nvGrpSpPr>
            <p:cNvPr id="174" name="Google Shape;174;p14"/>
            <p:cNvGrpSpPr/>
            <p:nvPr/>
          </p:nvGrpSpPr>
          <p:grpSpPr>
            <a:xfrm>
              <a:off x="-6287099" y="5767803"/>
              <a:ext cx="1300876" cy="161296"/>
              <a:chOff x="472103" y="9294552"/>
              <a:chExt cx="1492729" cy="161296"/>
            </a:xfrm>
          </p:grpSpPr>
          <p:cxnSp>
            <p:nvCxnSpPr>
              <p:cNvPr id="175" name="Google Shape;175;p14"/>
              <p:cNvCxnSpPr/>
              <p:nvPr/>
            </p:nvCxnSpPr>
            <p:spPr>
              <a:xfrm>
                <a:off x="472103" y="9448456"/>
                <a:ext cx="149272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p14"/>
              <p:cNvCxnSpPr/>
              <p:nvPr/>
            </p:nvCxnSpPr>
            <p:spPr>
              <a:xfrm>
                <a:off x="618754" y="9294552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14"/>
              <p:cNvCxnSpPr/>
              <p:nvPr/>
            </p:nvCxnSpPr>
            <p:spPr>
              <a:xfrm>
                <a:off x="1821592" y="9296056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14"/>
              <p:cNvCxnSpPr/>
              <p:nvPr/>
            </p:nvCxnSpPr>
            <p:spPr>
              <a:xfrm>
                <a:off x="1218467" y="9347848"/>
                <a:ext cx="0" cy="108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79" name="Google Shape;179;p14"/>
            <p:cNvSpPr/>
            <p:nvPr/>
          </p:nvSpPr>
          <p:spPr>
            <a:xfrm>
              <a:off x="-6370883" y="5517406"/>
              <a:ext cx="423174" cy="24964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60</a:t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-5326118" y="5507076"/>
              <a:ext cx="423174" cy="24964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4728138" y="4039000"/>
            <a:ext cx="1726741" cy="593959"/>
            <a:chOff x="-4838517" y="5507075"/>
            <a:chExt cx="1442950" cy="422024"/>
          </a:xfrm>
        </p:grpSpPr>
        <p:grpSp>
          <p:nvGrpSpPr>
            <p:cNvPr id="182" name="Google Shape;182;p14"/>
            <p:cNvGrpSpPr/>
            <p:nvPr/>
          </p:nvGrpSpPr>
          <p:grpSpPr>
            <a:xfrm>
              <a:off x="-4775013" y="5767803"/>
              <a:ext cx="1300876" cy="161296"/>
              <a:chOff x="472103" y="9294552"/>
              <a:chExt cx="1492729" cy="161296"/>
            </a:xfrm>
          </p:grpSpPr>
          <p:cxnSp>
            <p:nvCxnSpPr>
              <p:cNvPr id="183" name="Google Shape;183;p14"/>
              <p:cNvCxnSpPr/>
              <p:nvPr/>
            </p:nvCxnSpPr>
            <p:spPr>
              <a:xfrm>
                <a:off x="472103" y="9448456"/>
                <a:ext cx="149272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14"/>
              <p:cNvCxnSpPr/>
              <p:nvPr/>
            </p:nvCxnSpPr>
            <p:spPr>
              <a:xfrm>
                <a:off x="618754" y="9294552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14"/>
              <p:cNvCxnSpPr/>
              <p:nvPr/>
            </p:nvCxnSpPr>
            <p:spPr>
              <a:xfrm>
                <a:off x="1821592" y="9296056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14"/>
              <p:cNvCxnSpPr/>
              <p:nvPr/>
            </p:nvCxnSpPr>
            <p:spPr>
              <a:xfrm>
                <a:off x="1218467" y="9347848"/>
                <a:ext cx="0" cy="108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87" name="Google Shape;187;p14"/>
            <p:cNvSpPr/>
            <p:nvPr/>
          </p:nvSpPr>
          <p:spPr>
            <a:xfrm>
              <a:off x="-4838517" y="5517406"/>
              <a:ext cx="423174" cy="24964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-3818741" y="5507075"/>
              <a:ext cx="423174" cy="24964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  <p:pic>
        <p:nvPicPr>
          <p:cNvPr id="189" name="Google Shape;1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675" y="2255084"/>
            <a:ext cx="1484021" cy="91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58" y="669866"/>
            <a:ext cx="1484021" cy="8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17493" y="737827"/>
            <a:ext cx="1484021" cy="79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2935" y="724268"/>
            <a:ext cx="1726742" cy="81035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3" name="Google Shape;193;p14"/>
          <p:cNvGraphicFramePr/>
          <p:nvPr/>
        </p:nvGraphicFramePr>
        <p:xfrm>
          <a:off x="261066" y="574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2123100"/>
                <a:gridCol w="2123100"/>
                <a:gridCol w="2123100"/>
              </a:tblGrid>
              <a:tr h="158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8.24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" name="Google Shape;194;p14"/>
          <p:cNvSpPr/>
          <p:nvPr/>
        </p:nvSpPr>
        <p:spPr>
          <a:xfrm>
            <a:off x="261066" y="15065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95" name="Google Shape;195;p14"/>
          <p:cNvGraphicFramePr/>
          <p:nvPr/>
        </p:nvGraphicFramePr>
        <p:xfrm>
          <a:off x="261066" y="58177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1592325"/>
                <a:gridCol w="1592325"/>
                <a:gridCol w="1592325"/>
                <a:gridCol w="1592325"/>
              </a:tblGrid>
              <a:tr h="1047525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68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148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74500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3.2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e) 46.81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 6349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 408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 248220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i) 8.482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j) 8099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k) 3900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l) 99.99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14"/>
          <p:cNvSpPr txBox="1"/>
          <p:nvPr/>
        </p:nvSpPr>
        <p:spPr>
          <a:xfrm>
            <a:off x="190827" y="5498145"/>
            <a:ext cx="68808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 startAt="2"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Round each number to the 1 significant figure.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1118650" y="16578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3253218" y="1643297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5418704" y="1657860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400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1104264" y="327247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01" name="Google Shape;201;p14"/>
          <p:cNvSpPr txBox="1"/>
          <p:nvPr/>
        </p:nvSpPr>
        <p:spPr>
          <a:xfrm>
            <a:off x="3238832" y="3257912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/>
          </a:p>
        </p:txBody>
      </p:sp>
      <p:sp>
        <p:nvSpPr>
          <p:cNvPr id="202" name="Google Shape;202;p14"/>
          <p:cNvSpPr txBox="1"/>
          <p:nvPr/>
        </p:nvSpPr>
        <p:spPr>
          <a:xfrm>
            <a:off x="5404318" y="327247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03" name="Google Shape;203;p14"/>
          <p:cNvSpPr txBox="1"/>
          <p:nvPr/>
        </p:nvSpPr>
        <p:spPr>
          <a:xfrm>
            <a:off x="1058527" y="4934284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2000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3193095" y="491972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/>
          </a:p>
        </p:txBody>
      </p:sp>
      <p:sp>
        <p:nvSpPr>
          <p:cNvPr id="205" name="Google Shape;205;p14"/>
          <p:cNvSpPr txBox="1"/>
          <p:nvPr/>
        </p:nvSpPr>
        <p:spPr>
          <a:xfrm>
            <a:off x="5358581" y="493428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06" name="Google Shape;206;p14"/>
          <p:cNvSpPr txBox="1"/>
          <p:nvPr/>
        </p:nvSpPr>
        <p:spPr>
          <a:xfrm>
            <a:off x="1420336" y="243092"/>
            <a:ext cx="52100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Round the following numbers to 1 significant figure.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 txBox="1"/>
          <p:nvPr/>
        </p:nvSpPr>
        <p:spPr>
          <a:xfrm>
            <a:off x="792085" y="6094003"/>
            <a:ext cx="6065915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60                                   100                                70000                                   3</a:t>
            </a: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50                                  6000                                  400                              200000</a:t>
            </a: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8                                      8000                               4000                               100</a:t>
            </a:r>
            <a:endParaRPr b="1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"/>
          <p:cNvSpPr txBox="1"/>
          <p:nvPr>
            <p:ph idx="12" type="sldNum"/>
          </p:nvPr>
        </p:nvSpPr>
        <p:spPr>
          <a:xfrm>
            <a:off x="5228031" y="942793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214" name="Google Shape;214;p15"/>
          <p:cNvGrpSpPr/>
          <p:nvPr/>
        </p:nvGrpSpPr>
        <p:grpSpPr>
          <a:xfrm>
            <a:off x="590096" y="5619165"/>
            <a:ext cx="1300876" cy="161296"/>
            <a:chOff x="472103" y="9294552"/>
            <a:chExt cx="1492729" cy="161296"/>
          </a:xfrm>
        </p:grpSpPr>
        <p:cxnSp>
          <p:nvCxnSpPr>
            <p:cNvPr id="215" name="Google Shape;215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19" name="Google Shape;219;p15"/>
          <p:cNvGrpSpPr/>
          <p:nvPr/>
        </p:nvGrpSpPr>
        <p:grpSpPr>
          <a:xfrm>
            <a:off x="2778562" y="5602843"/>
            <a:ext cx="1300876" cy="161296"/>
            <a:chOff x="472103" y="9294552"/>
            <a:chExt cx="1492729" cy="161296"/>
          </a:xfrm>
        </p:grpSpPr>
        <p:cxnSp>
          <p:nvCxnSpPr>
            <p:cNvPr id="220" name="Google Shape;220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" name="Google Shape;221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" name="Google Shape;222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" name="Google Shape;223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24" name="Google Shape;224;p15"/>
          <p:cNvGrpSpPr/>
          <p:nvPr/>
        </p:nvGrpSpPr>
        <p:grpSpPr>
          <a:xfrm>
            <a:off x="5046229" y="5621103"/>
            <a:ext cx="1300876" cy="161296"/>
            <a:chOff x="472103" y="9294552"/>
            <a:chExt cx="1492729" cy="161296"/>
          </a:xfrm>
        </p:grpSpPr>
        <p:cxnSp>
          <p:nvCxnSpPr>
            <p:cNvPr id="225" name="Google Shape;225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" name="Google Shape;226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" name="Google Shape;227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" name="Google Shape;228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29" name="Google Shape;229;p15"/>
          <p:cNvGrpSpPr/>
          <p:nvPr/>
        </p:nvGrpSpPr>
        <p:grpSpPr>
          <a:xfrm>
            <a:off x="546641" y="6856222"/>
            <a:ext cx="1300876" cy="161296"/>
            <a:chOff x="472103" y="9294552"/>
            <a:chExt cx="1492729" cy="161296"/>
          </a:xfrm>
        </p:grpSpPr>
        <p:cxnSp>
          <p:nvCxnSpPr>
            <p:cNvPr id="230" name="Google Shape;230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34" name="Google Shape;234;p15"/>
          <p:cNvGrpSpPr/>
          <p:nvPr/>
        </p:nvGrpSpPr>
        <p:grpSpPr>
          <a:xfrm>
            <a:off x="326087" y="4114036"/>
            <a:ext cx="1931141" cy="544757"/>
            <a:chOff x="436900" y="9028025"/>
            <a:chExt cx="1566530" cy="427823"/>
          </a:xfrm>
        </p:grpSpPr>
        <p:sp>
          <p:nvSpPr>
            <p:cNvPr id="235" name="Google Shape;235;p15"/>
            <p:cNvSpPr/>
            <p:nvPr/>
          </p:nvSpPr>
          <p:spPr>
            <a:xfrm>
              <a:off x="436900" y="9028025"/>
              <a:ext cx="383619" cy="26367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0.06</a:t>
              </a:r>
              <a:endParaRPr/>
            </a:p>
          </p:txBody>
        </p:sp>
        <p:cxnSp>
          <p:nvCxnSpPr>
            <p:cNvPr id="236" name="Google Shape;236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" name="Google Shape;237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" name="Google Shape;238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" name="Google Shape;239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0" name="Google Shape;240;p15"/>
            <p:cNvSpPr/>
            <p:nvPr/>
          </p:nvSpPr>
          <p:spPr>
            <a:xfrm>
              <a:off x="1631849" y="9035865"/>
              <a:ext cx="371581" cy="26462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0.07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1" name="Google Shape;241;p15"/>
            <p:cNvCxnSpPr/>
            <p:nvPr/>
          </p:nvCxnSpPr>
          <p:spPr>
            <a:xfrm>
              <a:off x="1093483" y="9283680"/>
              <a:ext cx="0" cy="16477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2" name="Google Shape;242;p15"/>
            <p:cNvSpPr txBox="1"/>
            <p:nvPr/>
          </p:nvSpPr>
          <p:spPr>
            <a:xfrm>
              <a:off x="850201" y="9035865"/>
              <a:ext cx="57338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0.064</a:t>
              </a:r>
              <a:endParaRPr/>
            </a:p>
          </p:txBody>
        </p:sp>
      </p:grpSp>
      <p:grpSp>
        <p:nvGrpSpPr>
          <p:cNvPr id="243" name="Google Shape;243;p15"/>
          <p:cNvGrpSpPr/>
          <p:nvPr/>
        </p:nvGrpSpPr>
        <p:grpSpPr>
          <a:xfrm>
            <a:off x="2474663" y="4105238"/>
            <a:ext cx="2047278" cy="557825"/>
            <a:chOff x="472103" y="9034467"/>
            <a:chExt cx="1492729" cy="421381"/>
          </a:xfrm>
        </p:grpSpPr>
        <p:cxnSp>
          <p:nvCxnSpPr>
            <p:cNvPr id="244" name="Google Shape;244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5" name="Google Shape;245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6" name="Google Shape;246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" name="Google Shape;247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8" name="Google Shape;248;p15"/>
            <p:cNvCxnSpPr/>
            <p:nvPr/>
          </p:nvCxnSpPr>
          <p:spPr>
            <a:xfrm>
              <a:off x="1157120" y="9283680"/>
              <a:ext cx="0" cy="16477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9" name="Google Shape;249;p15"/>
            <p:cNvSpPr txBox="1"/>
            <p:nvPr/>
          </p:nvSpPr>
          <p:spPr>
            <a:xfrm>
              <a:off x="731995" y="9034467"/>
              <a:ext cx="78640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0.00548</a:t>
              </a:r>
              <a:endParaRPr/>
            </a:p>
          </p:txBody>
        </p:sp>
      </p:grpSp>
      <p:grpSp>
        <p:nvGrpSpPr>
          <p:cNvPr id="250" name="Google Shape;250;p15"/>
          <p:cNvGrpSpPr/>
          <p:nvPr/>
        </p:nvGrpSpPr>
        <p:grpSpPr>
          <a:xfrm>
            <a:off x="4830450" y="4115231"/>
            <a:ext cx="1582165" cy="433765"/>
            <a:chOff x="472103" y="9022083"/>
            <a:chExt cx="1492729" cy="433765"/>
          </a:xfrm>
        </p:grpSpPr>
        <p:cxnSp>
          <p:nvCxnSpPr>
            <p:cNvPr id="251" name="Google Shape;251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" name="Google Shape;252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3" name="Google Shape;253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4" name="Google Shape;254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5" name="Google Shape;255;p15"/>
            <p:cNvCxnSpPr/>
            <p:nvPr/>
          </p:nvCxnSpPr>
          <p:spPr>
            <a:xfrm>
              <a:off x="1387123" y="9271201"/>
              <a:ext cx="0" cy="16477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56" name="Google Shape;256;p15"/>
            <p:cNvSpPr txBox="1"/>
            <p:nvPr/>
          </p:nvSpPr>
          <p:spPr>
            <a:xfrm>
              <a:off x="1055013" y="9022083"/>
              <a:ext cx="64917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0.66</a:t>
              </a:r>
              <a:endParaRPr/>
            </a:p>
          </p:txBody>
        </p:sp>
      </p:grpSp>
      <p:sp>
        <p:nvSpPr>
          <p:cNvPr id="257" name="Google Shape;257;p15"/>
          <p:cNvSpPr/>
          <p:nvPr/>
        </p:nvSpPr>
        <p:spPr>
          <a:xfrm>
            <a:off x="2408812" y="4103091"/>
            <a:ext cx="586369" cy="34336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0.005</a:t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3923096" y="4110931"/>
            <a:ext cx="586368" cy="32237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0.006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4821428" y="4118593"/>
            <a:ext cx="406603" cy="26367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/>
          </a:p>
        </p:txBody>
      </p:sp>
      <p:sp>
        <p:nvSpPr>
          <p:cNvPr id="260" name="Google Shape;260;p15"/>
          <p:cNvSpPr/>
          <p:nvPr/>
        </p:nvSpPr>
        <p:spPr>
          <a:xfrm>
            <a:off x="6087971" y="4126433"/>
            <a:ext cx="393844" cy="26462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433633" y="5339167"/>
            <a:ext cx="537917" cy="26033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0.05</a:t>
            </a: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1500465" y="5352836"/>
            <a:ext cx="537917" cy="26033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0.06</a:t>
            </a:r>
            <a:endParaRPr/>
          </a:p>
        </p:txBody>
      </p:sp>
      <p:sp>
        <p:nvSpPr>
          <p:cNvPr id="263" name="Google Shape;263;p15"/>
          <p:cNvSpPr/>
          <p:nvPr/>
        </p:nvSpPr>
        <p:spPr>
          <a:xfrm>
            <a:off x="2705686" y="5335822"/>
            <a:ext cx="406603" cy="26367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0.8</a:t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3772518" y="5338858"/>
            <a:ext cx="406603" cy="26367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/>
          </a:p>
        </p:txBody>
      </p:sp>
      <p:sp>
        <p:nvSpPr>
          <p:cNvPr id="265" name="Google Shape;265;p15"/>
          <p:cNvSpPr/>
          <p:nvPr/>
        </p:nvSpPr>
        <p:spPr>
          <a:xfrm>
            <a:off x="4904153" y="5349990"/>
            <a:ext cx="553732" cy="26367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0.002</a:t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5952398" y="5361820"/>
            <a:ext cx="553731" cy="2589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0.003</a:t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500938" y="6588230"/>
            <a:ext cx="553732" cy="26367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0.004</a:t>
            </a: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1549183" y="6600060"/>
            <a:ext cx="553731" cy="2589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0.005</a:t>
            </a:r>
            <a:endParaRPr/>
          </a:p>
        </p:txBody>
      </p:sp>
      <p:sp>
        <p:nvSpPr>
          <p:cNvPr id="269" name="Google Shape;269;p15"/>
          <p:cNvSpPr txBox="1"/>
          <p:nvPr/>
        </p:nvSpPr>
        <p:spPr>
          <a:xfrm>
            <a:off x="526574" y="8229542"/>
            <a:ext cx="6065915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0.5                         0.9                           0.2                            0.05                         0.09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0.007                      0.004                       0.06                       0.9                        0.001</a:t>
            </a:r>
            <a:endParaRPr b="1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0" name="Google Shape;270;p15"/>
          <p:cNvGraphicFramePr/>
          <p:nvPr/>
        </p:nvGraphicFramePr>
        <p:xfrm>
          <a:off x="168078" y="5763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822525"/>
                <a:gridCol w="1859400"/>
                <a:gridCol w="1944450"/>
                <a:gridCol w="1944450"/>
              </a:tblGrid>
              <a:tr h="74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Draw a number line showing the numbers with 1 significant figure above and below 0.0347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Draw a number line showing the numbers with 1 significant figure above and below 0.0085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Draw a number line showing the numbers with 1 significant figure above and below 0.73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46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Identify 1 sf above and 1 sf below.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Is it closer to the sf above or below?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0.03                              0.04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0.008                         0.009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0.7                                 0.8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3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0.0347 to 1 significant figure (1sf)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0.0085 to 1 significant figure (1sf)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0.73 to 1 significant figure (1sf)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9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0.03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0.009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p15"/>
          <p:cNvSpPr txBox="1"/>
          <p:nvPr/>
        </p:nvSpPr>
        <p:spPr>
          <a:xfrm>
            <a:off x="1240631" y="315990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272" name="Google Shape;272;p15"/>
          <p:cNvSpPr txBox="1"/>
          <p:nvPr/>
        </p:nvSpPr>
        <p:spPr>
          <a:xfrm>
            <a:off x="5050309" y="28446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3074613" y="28446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82632" y="74295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a number line to round numbers between 0 and 1 to 1 significant figure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5" name="Google Shape;275;p15"/>
          <p:cNvGrpSpPr/>
          <p:nvPr/>
        </p:nvGrpSpPr>
        <p:grpSpPr>
          <a:xfrm>
            <a:off x="1179934" y="1666205"/>
            <a:ext cx="1417470" cy="115672"/>
            <a:chOff x="1277321" y="6379072"/>
            <a:chExt cx="1417470" cy="115672"/>
          </a:xfrm>
        </p:grpSpPr>
        <p:cxnSp>
          <p:nvCxnSpPr>
            <p:cNvPr id="276" name="Google Shape;276;p15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7" name="Google Shape;277;p15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8" name="Google Shape;278;p15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9" name="Google Shape;279;p15"/>
          <p:cNvGrpSpPr/>
          <p:nvPr/>
        </p:nvGrpSpPr>
        <p:grpSpPr>
          <a:xfrm>
            <a:off x="3074613" y="1685237"/>
            <a:ext cx="1417470" cy="115672"/>
            <a:chOff x="1277321" y="6379072"/>
            <a:chExt cx="1417470" cy="115672"/>
          </a:xfrm>
        </p:grpSpPr>
        <p:cxnSp>
          <p:nvCxnSpPr>
            <p:cNvPr id="280" name="Google Shape;280;p15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1" name="Google Shape;281;p15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2" name="Google Shape;282;p15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83" name="Google Shape;283;p15"/>
          <p:cNvGrpSpPr/>
          <p:nvPr/>
        </p:nvGrpSpPr>
        <p:grpSpPr>
          <a:xfrm>
            <a:off x="5050309" y="1695109"/>
            <a:ext cx="1417470" cy="115672"/>
            <a:chOff x="1277321" y="6379072"/>
            <a:chExt cx="1417470" cy="115672"/>
          </a:xfrm>
        </p:grpSpPr>
        <p:cxnSp>
          <p:nvCxnSpPr>
            <p:cNvPr id="284" name="Google Shape;284;p15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5" name="Google Shape;285;p15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6" name="Google Shape;286;p15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aphicFrame>
        <p:nvGraphicFramePr>
          <p:cNvPr id="287" name="Google Shape;287;p15"/>
          <p:cNvGraphicFramePr/>
          <p:nvPr/>
        </p:nvGraphicFramePr>
        <p:xfrm>
          <a:off x="169606" y="37873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2189775"/>
                <a:gridCol w="2189775"/>
                <a:gridCol w="2189775"/>
              </a:tblGrid>
              <a:tr h="12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0.052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0.894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0.0023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0.00407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0.067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0.00824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8" name="Google Shape;288;p15"/>
          <p:cNvSpPr/>
          <p:nvPr/>
        </p:nvSpPr>
        <p:spPr>
          <a:xfrm>
            <a:off x="169607" y="3362990"/>
            <a:ext cx="1137954" cy="369441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89" name="Google Shape;289;p15"/>
          <p:cNvSpPr txBox="1"/>
          <p:nvPr/>
        </p:nvSpPr>
        <p:spPr>
          <a:xfrm>
            <a:off x="1320752" y="3482882"/>
            <a:ext cx="52100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Round the following numbers to 1 significant figure.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1032510" y="4700321"/>
            <a:ext cx="1192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3075907" y="4685948"/>
            <a:ext cx="13436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5427397" y="4700321"/>
            <a:ext cx="9197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963998" y="5880624"/>
            <a:ext cx="11703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3150092" y="5886112"/>
            <a:ext cx="13936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5338988" y="5894003"/>
            <a:ext cx="12268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863672" y="7151332"/>
            <a:ext cx="13710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97;p15"/>
          <p:cNvGrpSpPr/>
          <p:nvPr/>
        </p:nvGrpSpPr>
        <p:grpSpPr>
          <a:xfrm>
            <a:off x="2749072" y="6852783"/>
            <a:ext cx="1300876" cy="161296"/>
            <a:chOff x="472103" y="9294552"/>
            <a:chExt cx="1492729" cy="161296"/>
          </a:xfrm>
        </p:grpSpPr>
        <p:cxnSp>
          <p:nvCxnSpPr>
            <p:cNvPr id="298" name="Google Shape;298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9" name="Google Shape;299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0" name="Google Shape;300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1" name="Google Shape;301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02" name="Google Shape;302;p15"/>
          <p:cNvSpPr/>
          <p:nvPr/>
        </p:nvSpPr>
        <p:spPr>
          <a:xfrm>
            <a:off x="2606996" y="6581670"/>
            <a:ext cx="553732" cy="26367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0.06</a:t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3655241" y="6593500"/>
            <a:ext cx="553731" cy="2589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0.07</a:t>
            </a:r>
            <a:endParaRPr/>
          </a:p>
        </p:txBody>
      </p:sp>
      <p:grpSp>
        <p:nvGrpSpPr>
          <p:cNvPr id="304" name="Google Shape;304;p15"/>
          <p:cNvGrpSpPr/>
          <p:nvPr/>
        </p:nvGrpSpPr>
        <p:grpSpPr>
          <a:xfrm>
            <a:off x="4995478" y="6831111"/>
            <a:ext cx="1300876" cy="161296"/>
            <a:chOff x="472103" y="9294552"/>
            <a:chExt cx="1492729" cy="161296"/>
          </a:xfrm>
        </p:grpSpPr>
        <p:cxnSp>
          <p:nvCxnSpPr>
            <p:cNvPr id="305" name="Google Shape;305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" name="Google Shape;306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" name="Google Shape;308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09" name="Google Shape;309;p15"/>
          <p:cNvSpPr/>
          <p:nvPr/>
        </p:nvSpPr>
        <p:spPr>
          <a:xfrm>
            <a:off x="4853402" y="6559998"/>
            <a:ext cx="553732" cy="26367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0.008</a:t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5901647" y="6571828"/>
            <a:ext cx="553731" cy="2589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0.009</a:t>
            </a:r>
            <a:endParaRPr/>
          </a:p>
        </p:txBody>
      </p:sp>
      <p:sp>
        <p:nvSpPr>
          <p:cNvPr id="311" name="Google Shape;311;p15"/>
          <p:cNvSpPr txBox="1"/>
          <p:nvPr/>
        </p:nvSpPr>
        <p:spPr>
          <a:xfrm>
            <a:off x="3123367" y="7171572"/>
            <a:ext cx="13710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 txBox="1"/>
          <p:nvPr/>
        </p:nvSpPr>
        <p:spPr>
          <a:xfrm>
            <a:off x="5308817" y="7168676"/>
            <a:ext cx="13710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3" name="Google Shape;313;p15"/>
          <p:cNvGraphicFramePr/>
          <p:nvPr/>
        </p:nvGraphicFramePr>
        <p:xfrm>
          <a:off x="189340" y="77516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1309900"/>
                <a:gridCol w="1309900"/>
                <a:gridCol w="1309900"/>
                <a:gridCol w="1309900"/>
                <a:gridCol w="1309900"/>
              </a:tblGrid>
              <a:tr h="90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0.54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0.86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0.161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0.048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0.0943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e) 0.0071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 0.0038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 0.06482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 0.8835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i) 0.00098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4" name="Google Shape;314;p15"/>
          <p:cNvSpPr txBox="1"/>
          <p:nvPr/>
        </p:nvSpPr>
        <p:spPr>
          <a:xfrm>
            <a:off x="119102" y="7493007"/>
            <a:ext cx="68808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Round each number to the 1 significant figure.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"/>
          <p:cNvSpPr txBox="1"/>
          <p:nvPr>
            <p:ph idx="12" type="sldNum"/>
          </p:nvPr>
        </p:nvSpPr>
        <p:spPr>
          <a:xfrm>
            <a:off x="5189154" y="935479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185223" y="3850758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pSp>
        <p:nvGrpSpPr>
          <p:cNvPr id="322" name="Google Shape;322;p16"/>
          <p:cNvGrpSpPr/>
          <p:nvPr/>
        </p:nvGrpSpPr>
        <p:grpSpPr>
          <a:xfrm>
            <a:off x="344644" y="4594083"/>
            <a:ext cx="1795565" cy="628796"/>
            <a:chOff x="361045" y="9005241"/>
            <a:chExt cx="1714844" cy="450607"/>
          </a:xfrm>
        </p:grpSpPr>
        <p:sp>
          <p:nvSpPr>
            <p:cNvPr id="323" name="Google Shape;323;p16"/>
            <p:cNvSpPr/>
            <p:nvPr/>
          </p:nvSpPr>
          <p:spPr>
            <a:xfrm>
              <a:off x="361045" y="9005241"/>
              <a:ext cx="508594" cy="2744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450</a:t>
              </a:r>
              <a:endParaRPr/>
            </a:p>
          </p:txBody>
        </p:sp>
        <p:cxnSp>
          <p:nvCxnSpPr>
            <p:cNvPr id="324" name="Google Shape;324;p16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16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6" name="Google Shape;326;p16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" name="Google Shape;327;p16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8" name="Google Shape;328;p16"/>
            <p:cNvSpPr/>
            <p:nvPr/>
          </p:nvSpPr>
          <p:spPr>
            <a:xfrm>
              <a:off x="1567296" y="9023670"/>
              <a:ext cx="508593" cy="26286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200"/>
                <a:buFont typeface="Calibri"/>
                <a:buNone/>
              </a:pPr>
              <a:r>
                <a:rPr b="0" i="0" lang="en-GB" sz="1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460</a:t>
              </a:r>
              <a:endParaRPr/>
            </a:p>
          </p:txBody>
        </p:sp>
      </p:grpSp>
      <p:grpSp>
        <p:nvGrpSpPr>
          <p:cNvPr id="329" name="Google Shape;329;p16"/>
          <p:cNvGrpSpPr/>
          <p:nvPr/>
        </p:nvGrpSpPr>
        <p:grpSpPr>
          <a:xfrm>
            <a:off x="2456344" y="6119002"/>
            <a:ext cx="1915533" cy="693277"/>
            <a:chOff x="337219" y="9019128"/>
            <a:chExt cx="1749954" cy="436720"/>
          </a:xfrm>
        </p:grpSpPr>
        <p:sp>
          <p:nvSpPr>
            <p:cNvPr id="330" name="Google Shape;330;p16"/>
            <p:cNvSpPr/>
            <p:nvPr/>
          </p:nvSpPr>
          <p:spPr>
            <a:xfrm>
              <a:off x="337219" y="9019128"/>
              <a:ext cx="524097" cy="275423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4560</a:t>
              </a:r>
              <a:endParaRPr/>
            </a:p>
          </p:txBody>
        </p:sp>
        <p:cxnSp>
          <p:nvCxnSpPr>
            <p:cNvPr id="331" name="Google Shape;331;p16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" name="Google Shape;332;p16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" name="Google Shape;333;p16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16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5" name="Google Shape;335;p16"/>
            <p:cNvSpPr/>
            <p:nvPr/>
          </p:nvSpPr>
          <p:spPr>
            <a:xfrm>
              <a:off x="1558498" y="9028839"/>
              <a:ext cx="528675" cy="26570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200"/>
                <a:buFont typeface="Calibri"/>
                <a:buNone/>
              </a:pPr>
              <a:r>
                <a:rPr b="0" i="0" lang="en-GB" sz="1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4570</a:t>
              </a:r>
              <a:endParaRPr/>
            </a:p>
          </p:txBody>
        </p:sp>
      </p:grpSp>
      <p:grpSp>
        <p:nvGrpSpPr>
          <p:cNvPr id="336" name="Google Shape;336;p16"/>
          <p:cNvGrpSpPr/>
          <p:nvPr/>
        </p:nvGrpSpPr>
        <p:grpSpPr>
          <a:xfrm>
            <a:off x="4629148" y="6158452"/>
            <a:ext cx="1955688" cy="653823"/>
            <a:chOff x="410924" y="9028098"/>
            <a:chExt cx="1689863" cy="427750"/>
          </a:xfrm>
        </p:grpSpPr>
        <p:sp>
          <p:nvSpPr>
            <p:cNvPr id="337" name="Google Shape;337;p16"/>
            <p:cNvSpPr/>
            <p:nvPr/>
          </p:nvSpPr>
          <p:spPr>
            <a:xfrm>
              <a:off x="410924" y="9028098"/>
              <a:ext cx="532088" cy="26570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3090</a:t>
              </a:r>
              <a:endParaRPr/>
            </a:p>
          </p:txBody>
        </p:sp>
        <p:cxnSp>
          <p:nvCxnSpPr>
            <p:cNvPr id="338" name="Google Shape;338;p16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9" name="Google Shape;339;p16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" name="Google Shape;340;p16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" name="Google Shape;341;p16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2" name="Google Shape;342;p16"/>
            <p:cNvSpPr/>
            <p:nvPr/>
          </p:nvSpPr>
          <p:spPr>
            <a:xfrm>
              <a:off x="1551020" y="9046878"/>
              <a:ext cx="549767" cy="23677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3100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16"/>
          <p:cNvGrpSpPr/>
          <p:nvPr/>
        </p:nvGrpSpPr>
        <p:grpSpPr>
          <a:xfrm>
            <a:off x="2610141" y="4629948"/>
            <a:ext cx="1761736" cy="610659"/>
            <a:chOff x="8843999" y="1235138"/>
            <a:chExt cx="1466288" cy="437610"/>
          </a:xfrm>
        </p:grpSpPr>
        <p:grpSp>
          <p:nvGrpSpPr>
            <p:cNvPr id="344" name="Google Shape;344;p16"/>
            <p:cNvGrpSpPr/>
            <p:nvPr/>
          </p:nvGrpSpPr>
          <p:grpSpPr>
            <a:xfrm>
              <a:off x="8843999" y="1235492"/>
              <a:ext cx="1368463" cy="437256"/>
              <a:chOff x="394548" y="9018592"/>
              <a:chExt cx="1570284" cy="437256"/>
            </a:xfrm>
          </p:grpSpPr>
          <p:sp>
            <p:nvSpPr>
              <p:cNvPr id="345" name="Google Shape;345;p16"/>
              <p:cNvSpPr/>
              <p:nvPr/>
            </p:nvSpPr>
            <p:spPr>
              <a:xfrm>
                <a:off x="394548" y="9018592"/>
                <a:ext cx="508592" cy="274448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3000</a:t>
                </a:r>
                <a:endParaRPr/>
              </a:p>
            </p:txBody>
          </p:sp>
          <p:cxnSp>
            <p:nvCxnSpPr>
              <p:cNvPr id="346" name="Google Shape;346;p16"/>
              <p:cNvCxnSpPr/>
              <p:nvPr/>
            </p:nvCxnSpPr>
            <p:spPr>
              <a:xfrm>
                <a:off x="472103" y="9448456"/>
                <a:ext cx="149272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7" name="Google Shape;347;p16"/>
              <p:cNvCxnSpPr/>
              <p:nvPr/>
            </p:nvCxnSpPr>
            <p:spPr>
              <a:xfrm>
                <a:off x="618754" y="9294552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" name="Google Shape;348;p16"/>
              <p:cNvCxnSpPr/>
              <p:nvPr/>
            </p:nvCxnSpPr>
            <p:spPr>
              <a:xfrm>
                <a:off x="1821592" y="9296056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16"/>
              <p:cNvCxnSpPr/>
              <p:nvPr/>
            </p:nvCxnSpPr>
            <p:spPr>
              <a:xfrm>
                <a:off x="1218467" y="9347848"/>
                <a:ext cx="0" cy="108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50" name="Google Shape;350;p16"/>
            <p:cNvSpPr/>
            <p:nvPr/>
          </p:nvSpPr>
          <p:spPr>
            <a:xfrm>
              <a:off x="9867062" y="1235138"/>
              <a:ext cx="443225" cy="2744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3100</a:t>
              </a:r>
              <a:endParaRPr/>
            </a:p>
          </p:txBody>
        </p:sp>
      </p:grpSp>
      <p:grpSp>
        <p:nvGrpSpPr>
          <p:cNvPr id="351" name="Google Shape;351;p16"/>
          <p:cNvGrpSpPr/>
          <p:nvPr/>
        </p:nvGrpSpPr>
        <p:grpSpPr>
          <a:xfrm>
            <a:off x="4826028" y="4631405"/>
            <a:ext cx="1758808" cy="619247"/>
            <a:chOff x="10410159" y="1228984"/>
            <a:chExt cx="1463851" cy="443764"/>
          </a:xfrm>
        </p:grpSpPr>
        <p:grpSp>
          <p:nvGrpSpPr>
            <p:cNvPr id="352" name="Google Shape;352;p16"/>
            <p:cNvGrpSpPr/>
            <p:nvPr/>
          </p:nvGrpSpPr>
          <p:grpSpPr>
            <a:xfrm>
              <a:off x="10492542" y="1511452"/>
              <a:ext cx="1300876" cy="161296"/>
              <a:chOff x="472103" y="9294552"/>
              <a:chExt cx="1492729" cy="161296"/>
            </a:xfrm>
          </p:grpSpPr>
          <p:cxnSp>
            <p:nvCxnSpPr>
              <p:cNvPr id="353" name="Google Shape;353;p16"/>
              <p:cNvCxnSpPr/>
              <p:nvPr/>
            </p:nvCxnSpPr>
            <p:spPr>
              <a:xfrm>
                <a:off x="472103" y="9448456"/>
                <a:ext cx="149272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16"/>
              <p:cNvCxnSpPr/>
              <p:nvPr/>
            </p:nvCxnSpPr>
            <p:spPr>
              <a:xfrm>
                <a:off x="618754" y="9294552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5" name="Google Shape;355;p16"/>
              <p:cNvCxnSpPr/>
              <p:nvPr/>
            </p:nvCxnSpPr>
            <p:spPr>
              <a:xfrm>
                <a:off x="1821592" y="9296056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16"/>
              <p:cNvCxnSpPr/>
              <p:nvPr/>
            </p:nvCxnSpPr>
            <p:spPr>
              <a:xfrm>
                <a:off x="1218467" y="9347848"/>
                <a:ext cx="0" cy="108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57" name="Google Shape;357;p16"/>
            <p:cNvSpPr/>
            <p:nvPr/>
          </p:nvSpPr>
          <p:spPr>
            <a:xfrm>
              <a:off x="10410159" y="1228984"/>
              <a:ext cx="443225" cy="2744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0.25</a:t>
              </a: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>
              <a:off x="11430785" y="1240874"/>
              <a:ext cx="443225" cy="2744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0.26</a:t>
              </a:r>
              <a:endParaRPr/>
            </a:p>
          </p:txBody>
        </p:sp>
      </p:grpSp>
      <p:grpSp>
        <p:nvGrpSpPr>
          <p:cNvPr id="359" name="Google Shape;359;p16"/>
          <p:cNvGrpSpPr/>
          <p:nvPr/>
        </p:nvGrpSpPr>
        <p:grpSpPr>
          <a:xfrm>
            <a:off x="344644" y="6149908"/>
            <a:ext cx="1910873" cy="677610"/>
            <a:chOff x="11923287" y="1234983"/>
            <a:chExt cx="1474333" cy="437765"/>
          </a:xfrm>
        </p:grpSpPr>
        <p:grpSp>
          <p:nvGrpSpPr>
            <p:cNvPr id="360" name="Google Shape;360;p16"/>
            <p:cNvGrpSpPr/>
            <p:nvPr/>
          </p:nvGrpSpPr>
          <p:grpSpPr>
            <a:xfrm>
              <a:off x="11981039" y="1511452"/>
              <a:ext cx="1300876" cy="161296"/>
              <a:chOff x="472103" y="9294552"/>
              <a:chExt cx="1492729" cy="161296"/>
            </a:xfrm>
          </p:grpSpPr>
          <p:cxnSp>
            <p:nvCxnSpPr>
              <p:cNvPr id="361" name="Google Shape;361;p16"/>
              <p:cNvCxnSpPr/>
              <p:nvPr/>
            </p:nvCxnSpPr>
            <p:spPr>
              <a:xfrm>
                <a:off x="472103" y="9448456"/>
                <a:ext cx="149272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16"/>
              <p:cNvCxnSpPr/>
              <p:nvPr/>
            </p:nvCxnSpPr>
            <p:spPr>
              <a:xfrm>
                <a:off x="618754" y="9294552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16"/>
              <p:cNvCxnSpPr/>
              <p:nvPr/>
            </p:nvCxnSpPr>
            <p:spPr>
              <a:xfrm>
                <a:off x="1821592" y="9296056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16"/>
              <p:cNvCxnSpPr/>
              <p:nvPr/>
            </p:nvCxnSpPr>
            <p:spPr>
              <a:xfrm>
                <a:off x="1218467" y="9347848"/>
                <a:ext cx="0" cy="108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65" name="Google Shape;365;p16"/>
            <p:cNvSpPr/>
            <p:nvPr/>
          </p:nvSpPr>
          <p:spPr>
            <a:xfrm>
              <a:off x="11923287" y="1244160"/>
              <a:ext cx="443225" cy="2744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0.03</a:t>
              </a:r>
              <a:endParaRPr/>
            </a:p>
          </p:txBody>
        </p:sp>
        <p:sp>
          <p:nvSpPr>
            <p:cNvPr id="366" name="Google Shape;366;p16"/>
            <p:cNvSpPr/>
            <p:nvPr/>
          </p:nvSpPr>
          <p:spPr>
            <a:xfrm>
              <a:off x="12954395" y="1234983"/>
              <a:ext cx="443225" cy="2744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0.031</a:t>
              </a:r>
              <a:endParaRPr/>
            </a:p>
          </p:txBody>
        </p:sp>
      </p:grpSp>
      <p:grpSp>
        <p:nvGrpSpPr>
          <p:cNvPr id="367" name="Google Shape;367;p16"/>
          <p:cNvGrpSpPr/>
          <p:nvPr/>
        </p:nvGrpSpPr>
        <p:grpSpPr>
          <a:xfrm>
            <a:off x="274240" y="7761776"/>
            <a:ext cx="1981277" cy="638417"/>
            <a:chOff x="10451496" y="3064793"/>
            <a:chExt cx="1472673" cy="412729"/>
          </a:xfrm>
        </p:grpSpPr>
        <p:grpSp>
          <p:nvGrpSpPr>
            <p:cNvPr id="368" name="Google Shape;368;p16"/>
            <p:cNvGrpSpPr/>
            <p:nvPr/>
          </p:nvGrpSpPr>
          <p:grpSpPr>
            <a:xfrm>
              <a:off x="10530495" y="3316226"/>
              <a:ext cx="1300876" cy="161296"/>
              <a:chOff x="472103" y="9294552"/>
              <a:chExt cx="1492729" cy="161296"/>
            </a:xfrm>
          </p:grpSpPr>
          <p:cxnSp>
            <p:nvCxnSpPr>
              <p:cNvPr id="369" name="Google Shape;369;p16"/>
              <p:cNvCxnSpPr/>
              <p:nvPr/>
            </p:nvCxnSpPr>
            <p:spPr>
              <a:xfrm>
                <a:off x="472103" y="9448456"/>
                <a:ext cx="149272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16"/>
              <p:cNvCxnSpPr/>
              <p:nvPr/>
            </p:nvCxnSpPr>
            <p:spPr>
              <a:xfrm>
                <a:off x="618754" y="9294552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1" name="Google Shape;371;p16"/>
              <p:cNvCxnSpPr/>
              <p:nvPr/>
            </p:nvCxnSpPr>
            <p:spPr>
              <a:xfrm>
                <a:off x="1821592" y="9296056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16"/>
              <p:cNvCxnSpPr/>
              <p:nvPr/>
            </p:nvCxnSpPr>
            <p:spPr>
              <a:xfrm>
                <a:off x="1218467" y="9347848"/>
                <a:ext cx="0" cy="108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73" name="Google Shape;373;p16"/>
            <p:cNvSpPr/>
            <p:nvPr/>
          </p:nvSpPr>
          <p:spPr>
            <a:xfrm>
              <a:off x="10451496" y="3064793"/>
              <a:ext cx="510946" cy="2360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0.257</a:t>
              </a:r>
              <a:endParaRPr/>
            </a:p>
          </p:txBody>
        </p:sp>
        <p:sp>
          <p:nvSpPr>
            <p:cNvPr id="374" name="Google Shape;374;p16"/>
            <p:cNvSpPr/>
            <p:nvPr/>
          </p:nvSpPr>
          <p:spPr>
            <a:xfrm>
              <a:off x="11445061" y="3083573"/>
              <a:ext cx="479108" cy="23677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0.258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16"/>
          <p:cNvGrpSpPr/>
          <p:nvPr/>
        </p:nvGrpSpPr>
        <p:grpSpPr>
          <a:xfrm>
            <a:off x="2400785" y="7789674"/>
            <a:ext cx="1971086" cy="610515"/>
            <a:chOff x="11951244" y="3080412"/>
            <a:chExt cx="1472673" cy="397110"/>
          </a:xfrm>
        </p:grpSpPr>
        <p:grpSp>
          <p:nvGrpSpPr>
            <p:cNvPr id="376" name="Google Shape;376;p16"/>
            <p:cNvGrpSpPr/>
            <p:nvPr/>
          </p:nvGrpSpPr>
          <p:grpSpPr>
            <a:xfrm>
              <a:off x="12018992" y="3316226"/>
              <a:ext cx="1300876" cy="161296"/>
              <a:chOff x="472103" y="9294552"/>
              <a:chExt cx="1492729" cy="161296"/>
            </a:xfrm>
          </p:grpSpPr>
          <p:cxnSp>
            <p:nvCxnSpPr>
              <p:cNvPr id="377" name="Google Shape;377;p16"/>
              <p:cNvCxnSpPr/>
              <p:nvPr/>
            </p:nvCxnSpPr>
            <p:spPr>
              <a:xfrm>
                <a:off x="472103" y="9448456"/>
                <a:ext cx="149272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16"/>
              <p:cNvCxnSpPr/>
              <p:nvPr/>
            </p:nvCxnSpPr>
            <p:spPr>
              <a:xfrm>
                <a:off x="618754" y="9294552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16"/>
              <p:cNvCxnSpPr/>
              <p:nvPr/>
            </p:nvCxnSpPr>
            <p:spPr>
              <a:xfrm>
                <a:off x="1821592" y="9296056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16"/>
              <p:cNvCxnSpPr/>
              <p:nvPr/>
            </p:nvCxnSpPr>
            <p:spPr>
              <a:xfrm>
                <a:off x="1218467" y="9347848"/>
                <a:ext cx="0" cy="108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81" name="Google Shape;381;p16"/>
            <p:cNvSpPr/>
            <p:nvPr/>
          </p:nvSpPr>
          <p:spPr>
            <a:xfrm>
              <a:off x="11951244" y="3081438"/>
              <a:ext cx="463701" cy="23677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0.03</a:t>
              </a: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>
              <a:off x="12835278" y="3080412"/>
              <a:ext cx="588639" cy="21826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0.0301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83" name="Google Shape;383;p16"/>
          <p:cNvGraphicFramePr/>
          <p:nvPr/>
        </p:nvGraphicFramePr>
        <p:xfrm>
          <a:off x="200463" y="6278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982800"/>
                <a:gridCol w="1862675"/>
                <a:gridCol w="1862675"/>
                <a:gridCol w="1862675"/>
              </a:tblGrid>
              <a:tr h="45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b="0" lang="en-GB" sz="1050">
                          <a:solidFill>
                            <a:schemeClr val="dk1"/>
                          </a:solidFill>
                        </a:rPr>
                        <a:t>Round 673 to 2 significant figures, using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b="0" lang="en-GB" sz="1050">
                          <a:solidFill>
                            <a:schemeClr val="dk1"/>
                          </a:solidFill>
                        </a:rPr>
                        <a:t>Round 0.5781 to 2 significant figures, using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b="0" lang="en-GB" sz="1050">
                          <a:solidFill>
                            <a:schemeClr val="dk1"/>
                          </a:solidFill>
                        </a:rPr>
                        <a:t>Round 248.1 to 2 significant figures, using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3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Identify 2 sf above and below. Is it closer to the sf above or below? 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670                             680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670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0.57                            0.58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0.58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rgbClr val="FF0000"/>
                          </a:solidFill>
                        </a:rPr>
                        <a:t>240                                   250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Calibri"/>
                        <a:buNone/>
                      </a:pPr>
                      <a:r>
                        <a:t/>
                      </a:r>
                      <a:endParaRPr b="0" sz="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rgbClr val="FF0000"/>
                          </a:solidFill>
                        </a:rPr>
                        <a:t>250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b="0" lang="en-GB" sz="1050">
                          <a:solidFill>
                            <a:schemeClr val="dk1"/>
                          </a:solidFill>
                        </a:rPr>
                        <a:t>Round 60732 to 3 significant figures, using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b="0" lang="en-GB" sz="1050">
                          <a:solidFill>
                            <a:schemeClr val="dk1"/>
                          </a:solidFill>
                        </a:rPr>
                        <a:t>Round 0.5087 to 3 significant figures, using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b="0" lang="en-GB" sz="1050">
                          <a:solidFill>
                            <a:schemeClr val="dk1"/>
                          </a:solidFill>
                        </a:rPr>
                        <a:t>Round 30451 to 3 significant figures, using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4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Identify 3 sf above and below. Is it closer to the sf above or below?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60700                     60800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60700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0.508                       0.509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0.509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rgbClr val="FF0000"/>
                          </a:solidFill>
                        </a:rPr>
                        <a:t>30400                         30500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Calibri"/>
                        <a:buNone/>
                      </a:pPr>
                      <a:r>
                        <a:t/>
                      </a:r>
                      <a:endParaRPr b="0" sz="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rgbClr val="FF0000"/>
                          </a:solidFill>
                        </a:rPr>
                        <a:t>30450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84" name="Google Shape;384;p16"/>
          <p:cNvSpPr txBox="1"/>
          <p:nvPr/>
        </p:nvSpPr>
        <p:spPr>
          <a:xfrm>
            <a:off x="1625167" y="38831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385" name="Google Shape;385;p16"/>
          <p:cNvSpPr txBox="1"/>
          <p:nvPr/>
        </p:nvSpPr>
        <p:spPr>
          <a:xfrm>
            <a:off x="5065610" y="38670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386" name="Google Shape;386;p16"/>
          <p:cNvSpPr txBox="1"/>
          <p:nvPr/>
        </p:nvSpPr>
        <p:spPr>
          <a:xfrm>
            <a:off x="3339557" y="38670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72429" y="133596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a number line to identify the nearest numbers to 2 or 3 significant figures and round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8" name="Google Shape;388;p16"/>
          <p:cNvGrpSpPr/>
          <p:nvPr/>
        </p:nvGrpSpPr>
        <p:grpSpPr>
          <a:xfrm>
            <a:off x="1391552" y="1505802"/>
            <a:ext cx="1417470" cy="115672"/>
            <a:chOff x="1277321" y="6379072"/>
            <a:chExt cx="1417470" cy="115672"/>
          </a:xfrm>
        </p:grpSpPr>
        <p:cxnSp>
          <p:nvCxnSpPr>
            <p:cNvPr id="389" name="Google Shape;389;p16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" name="Google Shape;390;p16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1" name="Google Shape;391;p16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92" name="Google Shape;392;p16"/>
          <p:cNvGrpSpPr/>
          <p:nvPr/>
        </p:nvGrpSpPr>
        <p:grpSpPr>
          <a:xfrm>
            <a:off x="3270016" y="1505802"/>
            <a:ext cx="1417470" cy="115672"/>
            <a:chOff x="1277321" y="6379072"/>
            <a:chExt cx="1417470" cy="115672"/>
          </a:xfrm>
        </p:grpSpPr>
        <p:cxnSp>
          <p:nvCxnSpPr>
            <p:cNvPr id="393" name="Google Shape;393;p16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" name="Google Shape;394;p16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" name="Google Shape;395;p16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96" name="Google Shape;396;p16"/>
          <p:cNvGrpSpPr/>
          <p:nvPr/>
        </p:nvGrpSpPr>
        <p:grpSpPr>
          <a:xfrm>
            <a:off x="5125245" y="1509813"/>
            <a:ext cx="1417470" cy="115672"/>
            <a:chOff x="1277321" y="6379072"/>
            <a:chExt cx="1417470" cy="115672"/>
          </a:xfrm>
        </p:grpSpPr>
        <p:cxnSp>
          <p:nvCxnSpPr>
            <p:cNvPr id="397" name="Google Shape;397;p16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8" name="Google Shape;398;p16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9" name="Google Shape;399;p16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00" name="Google Shape;400;p16"/>
          <p:cNvGrpSpPr/>
          <p:nvPr/>
        </p:nvGrpSpPr>
        <p:grpSpPr>
          <a:xfrm>
            <a:off x="1411749" y="3116263"/>
            <a:ext cx="1417470" cy="115672"/>
            <a:chOff x="1277321" y="6379072"/>
            <a:chExt cx="1417470" cy="115672"/>
          </a:xfrm>
        </p:grpSpPr>
        <p:cxnSp>
          <p:nvCxnSpPr>
            <p:cNvPr id="401" name="Google Shape;401;p16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" name="Google Shape;402;p16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" name="Google Shape;403;p16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04" name="Google Shape;404;p16"/>
          <p:cNvGrpSpPr/>
          <p:nvPr/>
        </p:nvGrpSpPr>
        <p:grpSpPr>
          <a:xfrm>
            <a:off x="3278874" y="3112252"/>
            <a:ext cx="1417470" cy="115672"/>
            <a:chOff x="1277321" y="6379072"/>
            <a:chExt cx="1417470" cy="115672"/>
          </a:xfrm>
        </p:grpSpPr>
        <p:cxnSp>
          <p:nvCxnSpPr>
            <p:cNvPr id="405" name="Google Shape;405;p16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" name="Google Shape;406;p16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7" name="Google Shape;407;p16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08" name="Google Shape;408;p16"/>
          <p:cNvGrpSpPr/>
          <p:nvPr/>
        </p:nvGrpSpPr>
        <p:grpSpPr>
          <a:xfrm>
            <a:off x="5149748" y="3116263"/>
            <a:ext cx="1417470" cy="115672"/>
            <a:chOff x="1277321" y="6379072"/>
            <a:chExt cx="1417470" cy="115672"/>
          </a:xfrm>
        </p:grpSpPr>
        <p:cxnSp>
          <p:nvCxnSpPr>
            <p:cNvPr id="409" name="Google Shape;409;p16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0" name="Google Shape;410;p16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1" name="Google Shape;411;p16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aphicFrame>
        <p:nvGraphicFramePr>
          <p:cNvPr id="412" name="Google Shape;412;p16"/>
          <p:cNvGraphicFramePr/>
          <p:nvPr/>
        </p:nvGraphicFramePr>
        <p:xfrm>
          <a:off x="185497" y="42731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2174500"/>
                <a:gridCol w="2174500"/>
                <a:gridCol w="2174500"/>
              </a:tblGrid>
              <a:tr h="1584725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456 (2 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3093.4 (2 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0.2571 (2 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0.03007 (2 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4562 (3 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3093.4 (3 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0.25719 (3 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0.03007 (3 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507.631 (3sf)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3" name="Google Shape;413;p16"/>
          <p:cNvSpPr txBox="1"/>
          <p:nvPr/>
        </p:nvSpPr>
        <p:spPr>
          <a:xfrm>
            <a:off x="1329528" y="3956461"/>
            <a:ext cx="52100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Round the following numbers to the specified number of significant figures.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 txBox="1"/>
          <p:nvPr/>
        </p:nvSpPr>
        <p:spPr>
          <a:xfrm>
            <a:off x="1010577" y="5415307"/>
            <a:ext cx="7619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460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3137122" y="5415496"/>
            <a:ext cx="7974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 txBox="1"/>
          <p:nvPr/>
        </p:nvSpPr>
        <p:spPr>
          <a:xfrm>
            <a:off x="5425903" y="5415307"/>
            <a:ext cx="13219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 txBox="1"/>
          <p:nvPr/>
        </p:nvSpPr>
        <p:spPr>
          <a:xfrm>
            <a:off x="1010577" y="6930831"/>
            <a:ext cx="1013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 txBox="1"/>
          <p:nvPr/>
        </p:nvSpPr>
        <p:spPr>
          <a:xfrm>
            <a:off x="3167266" y="6930831"/>
            <a:ext cx="68351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4560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 txBox="1"/>
          <p:nvPr/>
        </p:nvSpPr>
        <p:spPr>
          <a:xfrm>
            <a:off x="5238609" y="6948238"/>
            <a:ext cx="68351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3090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 txBox="1"/>
          <p:nvPr/>
        </p:nvSpPr>
        <p:spPr>
          <a:xfrm>
            <a:off x="930032" y="8532597"/>
            <a:ext cx="15263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0.257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 txBox="1"/>
          <p:nvPr/>
        </p:nvSpPr>
        <p:spPr>
          <a:xfrm>
            <a:off x="3013389" y="8532597"/>
            <a:ext cx="11412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0.0301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16"/>
          <p:cNvGrpSpPr/>
          <p:nvPr/>
        </p:nvGrpSpPr>
        <p:grpSpPr>
          <a:xfrm>
            <a:off x="4634452" y="7761734"/>
            <a:ext cx="1971086" cy="610515"/>
            <a:chOff x="11951244" y="3080412"/>
            <a:chExt cx="1472673" cy="397110"/>
          </a:xfrm>
        </p:grpSpPr>
        <p:grpSp>
          <p:nvGrpSpPr>
            <p:cNvPr id="423" name="Google Shape;423;p16"/>
            <p:cNvGrpSpPr/>
            <p:nvPr/>
          </p:nvGrpSpPr>
          <p:grpSpPr>
            <a:xfrm>
              <a:off x="12018992" y="3316226"/>
              <a:ext cx="1300876" cy="161296"/>
              <a:chOff x="472103" y="9294552"/>
              <a:chExt cx="1492729" cy="161296"/>
            </a:xfrm>
          </p:grpSpPr>
          <p:cxnSp>
            <p:nvCxnSpPr>
              <p:cNvPr id="424" name="Google Shape;424;p16"/>
              <p:cNvCxnSpPr/>
              <p:nvPr/>
            </p:nvCxnSpPr>
            <p:spPr>
              <a:xfrm>
                <a:off x="472103" y="9448456"/>
                <a:ext cx="149272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5" name="Google Shape;425;p16"/>
              <p:cNvCxnSpPr/>
              <p:nvPr/>
            </p:nvCxnSpPr>
            <p:spPr>
              <a:xfrm>
                <a:off x="618754" y="9294552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6" name="Google Shape;426;p16"/>
              <p:cNvCxnSpPr/>
              <p:nvPr/>
            </p:nvCxnSpPr>
            <p:spPr>
              <a:xfrm>
                <a:off x="1821592" y="9296056"/>
                <a:ext cx="0" cy="15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7" name="Google Shape;427;p16"/>
              <p:cNvCxnSpPr/>
              <p:nvPr/>
            </p:nvCxnSpPr>
            <p:spPr>
              <a:xfrm>
                <a:off x="1218467" y="9347848"/>
                <a:ext cx="0" cy="108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428" name="Google Shape;428;p16"/>
            <p:cNvSpPr/>
            <p:nvPr/>
          </p:nvSpPr>
          <p:spPr>
            <a:xfrm>
              <a:off x="11951244" y="3081438"/>
              <a:ext cx="463701" cy="23677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507</a:t>
              </a: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>
              <a:off x="12835278" y="3080412"/>
              <a:ext cx="588639" cy="21826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508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0" name="Google Shape;430;p16"/>
          <p:cNvSpPr txBox="1"/>
          <p:nvPr/>
        </p:nvSpPr>
        <p:spPr>
          <a:xfrm>
            <a:off x="5247056" y="8504657"/>
            <a:ext cx="11412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"/>
          <p:cNvSpPr txBox="1"/>
          <p:nvPr>
            <p:ph idx="12" type="sldNum"/>
          </p:nvPr>
        </p:nvSpPr>
        <p:spPr>
          <a:xfrm>
            <a:off x="5192327" y="942431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36" name="Google Shape;436;p17"/>
          <p:cNvGraphicFramePr/>
          <p:nvPr/>
        </p:nvGraphicFramePr>
        <p:xfrm>
          <a:off x="208390" y="2528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1309900"/>
                <a:gridCol w="1309900"/>
                <a:gridCol w="1309900"/>
                <a:gridCol w="1309900"/>
                <a:gridCol w="1309900"/>
              </a:tblGrid>
              <a:tr h="9512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844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9250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49.6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2840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1.41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e) 504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 0.04912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 2.99517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 999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i) 0.06014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7" name="Google Shape;437;p17"/>
          <p:cNvSpPr txBox="1"/>
          <p:nvPr/>
        </p:nvSpPr>
        <p:spPr>
          <a:xfrm>
            <a:off x="692030" y="3180047"/>
            <a:ext cx="6065915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840                       9300                      50                           2800                      1.4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500                      0.049                     3                             1000                      0.06</a:t>
            </a:r>
            <a:endParaRPr b="1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 txBox="1"/>
          <p:nvPr/>
        </p:nvSpPr>
        <p:spPr>
          <a:xfrm>
            <a:off x="692029" y="5355798"/>
            <a:ext cx="6065915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9430                       3.23                      37800                    2500                     51.6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57100                   7.01                        0.0891                 0.903                    9910</a:t>
            </a:r>
            <a:endParaRPr b="1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 txBox="1"/>
          <p:nvPr/>
        </p:nvSpPr>
        <p:spPr>
          <a:xfrm>
            <a:off x="138151" y="4485453"/>
            <a:ext cx="68808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Round these numbers to 3 significant figures.</a:t>
            </a:r>
            <a:endParaRPr/>
          </a:p>
        </p:txBody>
      </p:sp>
      <p:sp>
        <p:nvSpPr>
          <p:cNvPr id="440" name="Google Shape;440;p17"/>
          <p:cNvSpPr txBox="1"/>
          <p:nvPr/>
        </p:nvSpPr>
        <p:spPr>
          <a:xfrm>
            <a:off x="138151" y="2251479"/>
            <a:ext cx="68808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Round these numbers to 2 significant figures.</a:t>
            </a:r>
            <a:endParaRPr/>
          </a:p>
        </p:txBody>
      </p:sp>
      <p:graphicFrame>
        <p:nvGraphicFramePr>
          <p:cNvPr id="441" name="Google Shape;441;p17"/>
          <p:cNvGraphicFramePr/>
          <p:nvPr/>
        </p:nvGraphicFramePr>
        <p:xfrm>
          <a:off x="208390" y="47624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1309900"/>
                <a:gridCol w="1309900"/>
                <a:gridCol w="1309900"/>
                <a:gridCol w="1309900"/>
                <a:gridCol w="1309900"/>
              </a:tblGrid>
              <a:tr h="940325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9433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3.226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37756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2496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51.564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e) 57147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 7.0078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 0.08906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 0.90341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i) 9909.1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2" name="Google Shape;442;p17"/>
          <p:cNvGraphicFramePr/>
          <p:nvPr/>
        </p:nvGraphicFramePr>
        <p:xfrm>
          <a:off x="208390" y="70038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1007175"/>
                <a:gridCol w="1846275"/>
                <a:gridCol w="1846275"/>
                <a:gridCol w="1846275"/>
              </a:tblGrid>
              <a:tr h="18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Rounded to 1 significant figure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Rounded to 2 significant figures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Rounded to 3 significant figures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1200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1230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857.2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900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860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857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40.521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0.385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0.39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0.385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0.008027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0.008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0.0080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0.00803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7.32084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7.3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7.32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9.99999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3" name="Google Shape;443;p17"/>
          <p:cNvSpPr txBox="1"/>
          <p:nvPr/>
        </p:nvSpPr>
        <p:spPr>
          <a:xfrm>
            <a:off x="141674" y="6726868"/>
            <a:ext cx="53987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8. Round each of the numbers below to the given accuracy</a:t>
            </a:r>
            <a:endParaRPr/>
          </a:p>
        </p:txBody>
      </p:sp>
      <p:graphicFrame>
        <p:nvGraphicFramePr>
          <p:cNvPr id="444" name="Google Shape;444;p17"/>
          <p:cNvGraphicFramePr/>
          <p:nvPr/>
        </p:nvGraphicFramePr>
        <p:xfrm>
          <a:off x="208390" y="5801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1613300"/>
                <a:gridCol w="1637900"/>
                <a:gridCol w="1637900"/>
                <a:gridCol w="1637900"/>
              </a:tblGrid>
              <a:tr h="3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0.40316 to 3 significant figures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10.563 to 2 significant figures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0.04076 to 3 significant figures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Identify the correct number of sf. 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Look at the digit to the right. If it is 5 or above, round up. If it is below 5, keep it the same.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0.403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0.0408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45" name="Google Shape;445;p17"/>
          <p:cNvSpPr txBox="1"/>
          <p:nvPr/>
        </p:nvSpPr>
        <p:spPr>
          <a:xfrm>
            <a:off x="2083924" y="33622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446" name="Google Shape;446;p17"/>
          <p:cNvSpPr txBox="1"/>
          <p:nvPr/>
        </p:nvSpPr>
        <p:spPr>
          <a:xfrm>
            <a:off x="5171061" y="35501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447" name="Google Shape;447;p17"/>
          <p:cNvSpPr txBox="1"/>
          <p:nvPr/>
        </p:nvSpPr>
        <p:spPr>
          <a:xfrm>
            <a:off x="3586133" y="33622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448" name="Google Shape;448;p17"/>
          <p:cNvSpPr/>
          <p:nvPr/>
        </p:nvSpPr>
        <p:spPr>
          <a:xfrm>
            <a:off x="208390" y="121667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Round to a given number of significant figures without a number line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8"/>
          <p:cNvSpPr txBox="1"/>
          <p:nvPr/>
        </p:nvSpPr>
        <p:spPr>
          <a:xfrm>
            <a:off x="261951" y="2258456"/>
            <a:ext cx="71096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Complete the table. There are some boxes with more than one correct option</a:t>
            </a:r>
            <a:endParaRPr/>
          </a:p>
        </p:txBody>
      </p:sp>
      <p:sp>
        <p:nvSpPr>
          <p:cNvPr id="455" name="Google Shape;455;p18"/>
          <p:cNvSpPr txBox="1"/>
          <p:nvPr>
            <p:ph idx="12" type="sldNum"/>
          </p:nvPr>
        </p:nvSpPr>
        <p:spPr>
          <a:xfrm>
            <a:off x="5357813" y="951084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56" name="Google Shape;4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951" y="2612529"/>
            <a:ext cx="6373859" cy="3114733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8"/>
          <p:cNvSpPr txBox="1"/>
          <p:nvPr/>
        </p:nvSpPr>
        <p:spPr>
          <a:xfrm>
            <a:off x="854721" y="3070663"/>
            <a:ext cx="6175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2613                  3000                                           e.g. 2610  </a:t>
            </a:r>
            <a:endParaRPr/>
          </a:p>
        </p:txBody>
      </p:sp>
      <p:sp>
        <p:nvSpPr>
          <p:cNvPr id="458" name="Google Shape;458;p18"/>
          <p:cNvSpPr txBox="1"/>
          <p:nvPr/>
        </p:nvSpPr>
        <p:spPr>
          <a:xfrm>
            <a:off x="2957348" y="3366177"/>
            <a:ext cx="6175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1                                                   1.18</a:t>
            </a:r>
            <a:endParaRPr/>
          </a:p>
        </p:txBody>
      </p:sp>
      <p:sp>
        <p:nvSpPr>
          <p:cNvPr id="459" name="Google Shape;459;p18"/>
          <p:cNvSpPr txBox="1"/>
          <p:nvPr/>
        </p:nvSpPr>
        <p:spPr>
          <a:xfrm>
            <a:off x="2839494" y="3675739"/>
            <a:ext cx="6175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800                      850                     847           </a:t>
            </a:r>
            <a:endParaRPr/>
          </a:p>
        </p:txBody>
      </p:sp>
      <p:sp>
        <p:nvSpPr>
          <p:cNvPr id="460" name="Google Shape;460;p18"/>
          <p:cNvSpPr txBox="1"/>
          <p:nvPr/>
        </p:nvSpPr>
        <p:spPr>
          <a:xfrm>
            <a:off x="4392983" y="4003744"/>
            <a:ext cx="6175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50                        50</a:t>
            </a:r>
            <a:endParaRPr/>
          </a:p>
        </p:txBody>
      </p:sp>
      <p:sp>
        <p:nvSpPr>
          <p:cNvPr id="461" name="Google Shape;461;p18"/>
          <p:cNvSpPr txBox="1"/>
          <p:nvPr/>
        </p:nvSpPr>
        <p:spPr>
          <a:xfrm>
            <a:off x="930671" y="4371694"/>
            <a:ext cx="6175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6194                                                                   e.g. 6190</a:t>
            </a:r>
            <a:endParaRPr/>
          </a:p>
        </p:txBody>
      </p:sp>
      <p:sp>
        <p:nvSpPr>
          <p:cNvPr id="462" name="Google Shape;462;p18"/>
          <p:cNvSpPr txBox="1"/>
          <p:nvPr/>
        </p:nvSpPr>
        <p:spPr>
          <a:xfrm>
            <a:off x="930671" y="4680146"/>
            <a:ext cx="6175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97.63                                         e.g. 98             e.g. 97.6</a:t>
            </a:r>
            <a:endParaRPr/>
          </a:p>
        </p:txBody>
      </p:sp>
      <p:sp>
        <p:nvSpPr>
          <p:cNvPr id="463" name="Google Shape;463;p18"/>
          <p:cNvSpPr txBox="1"/>
          <p:nvPr/>
        </p:nvSpPr>
        <p:spPr>
          <a:xfrm>
            <a:off x="1640733" y="5024801"/>
            <a:ext cx="6175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Any example of the student’s own choosing</a:t>
            </a:r>
            <a:endParaRPr/>
          </a:p>
        </p:txBody>
      </p:sp>
      <p:sp>
        <p:nvSpPr>
          <p:cNvPr id="464" name="Google Shape;464;p18"/>
          <p:cNvSpPr txBox="1"/>
          <p:nvPr/>
        </p:nvSpPr>
        <p:spPr>
          <a:xfrm>
            <a:off x="930670" y="5303393"/>
            <a:ext cx="6175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1.103                                         e.g. 1.1</a:t>
            </a:r>
            <a:endParaRPr/>
          </a:p>
        </p:txBody>
      </p:sp>
      <p:sp>
        <p:nvSpPr>
          <p:cNvPr id="465" name="Google Shape;465;p18"/>
          <p:cNvSpPr txBox="1"/>
          <p:nvPr/>
        </p:nvSpPr>
        <p:spPr>
          <a:xfrm>
            <a:off x="175318" y="5850440"/>
            <a:ext cx="6552000" cy="344253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172981" y="6194693"/>
            <a:ext cx="6543302" cy="347942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 txBox="1"/>
          <p:nvPr/>
        </p:nvSpPr>
        <p:spPr>
          <a:xfrm>
            <a:off x="212734" y="6199928"/>
            <a:ext cx="4860953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							Q2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Q3							Q4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6990" y="8159948"/>
            <a:ext cx="3168000" cy="1289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331" y="8128661"/>
            <a:ext cx="3168000" cy="97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197" y="6517240"/>
            <a:ext cx="3168000" cy="94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10953" y="6522926"/>
            <a:ext cx="3168000" cy="88207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8"/>
          <p:cNvSpPr/>
          <p:nvPr/>
        </p:nvSpPr>
        <p:spPr>
          <a:xfrm>
            <a:off x="1144863" y="6751583"/>
            <a:ext cx="349588" cy="66485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6312742" y="6761064"/>
            <a:ext cx="349588" cy="66485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2067284" y="8433705"/>
            <a:ext cx="349588" cy="66485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6180371" y="8766134"/>
            <a:ext cx="349588" cy="66485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6" name="Google Shape;476;p18"/>
          <p:cNvCxnSpPr>
            <a:stCxn id="465" idx="2"/>
            <a:endCxn id="466" idx="2"/>
          </p:cNvCxnSpPr>
          <p:nvPr/>
        </p:nvCxnSpPr>
        <p:spPr>
          <a:xfrm flipH="1">
            <a:off x="3444718" y="6194693"/>
            <a:ext cx="6600" cy="347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7" name="Google Shape;477;p18"/>
          <p:cNvCxnSpPr/>
          <p:nvPr/>
        </p:nvCxnSpPr>
        <p:spPr>
          <a:xfrm rot="10800000">
            <a:off x="172981" y="7760231"/>
            <a:ext cx="654330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478" name="Google Shape;478;p18"/>
          <p:cNvGraphicFramePr/>
          <p:nvPr/>
        </p:nvGraphicFramePr>
        <p:xfrm>
          <a:off x="170247" y="6333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{A7E101DD-E580-4875-A8C4-913725A40A9E}</a:tableStyleId>
              </a:tblPr>
              <a:tblGrid>
                <a:gridCol w="953725"/>
                <a:gridCol w="1864100"/>
                <a:gridCol w="1864100"/>
                <a:gridCol w="1864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Original 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Rounds to 700 to 1 significant figure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Rounds to 680 to 2 significant figures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Rounds to 675 to 3 significant figures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682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674.83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675.31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9" name="Google Shape;479;p18"/>
          <p:cNvSpPr/>
          <p:nvPr/>
        </p:nvSpPr>
        <p:spPr>
          <a:xfrm>
            <a:off x="170247" y="1786275"/>
            <a:ext cx="619397" cy="3324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 txBox="1"/>
          <p:nvPr/>
        </p:nvSpPr>
        <p:spPr>
          <a:xfrm>
            <a:off x="100008" y="199606"/>
            <a:ext cx="67547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9. A number rounds to 700 (1 sf), 680 (2 sf) and 675 (3 sf). Fill in the table with ticks and crosses to show which of these numbers satisfy these conditions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