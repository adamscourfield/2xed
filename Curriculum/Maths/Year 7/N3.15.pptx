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3FDB57-2CF8-42EF-913B-8EB56B1976BD}">
  <a:tblStyle styleId="{B93FDB57-2CF8-42EF-913B-8EB56B1976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91618" y="28990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1163950"/>
                <a:gridCol w="1826775"/>
                <a:gridCol w="1826775"/>
                <a:gridCol w="18267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4925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504458" y="263885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–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26749" y="262868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317040" y="951462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01434"/>
            <a:ext cx="6679742" cy="12162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N3.15 - </a:t>
            </a:r>
            <a:r>
              <a:rPr b="0" i="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Decimal Multiplication: Decimal by an Integer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317509" y="263858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91618" y="2415042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a decimal by a one-digit integer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05905" y="634114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05905" y="858814"/>
            <a:ext cx="561851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formal methods of multiplication.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apply formal methods of multiplication to decimals.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the knowledge of multiplication to solve problems in context.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474015" y="646414"/>
            <a:ext cx="1197869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08558" y="329287"/>
            <a:ext cx="6362655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multiply decimals by integers</a:t>
            </a:r>
            <a:endParaRPr/>
          </a:p>
        </p:txBody>
      </p:sp>
      <p:grpSp>
        <p:nvGrpSpPr>
          <p:cNvPr id="101" name="Google Shape;101;p13"/>
          <p:cNvGrpSpPr/>
          <p:nvPr/>
        </p:nvGrpSpPr>
        <p:grpSpPr>
          <a:xfrm>
            <a:off x="1273450" y="3209634"/>
            <a:ext cx="5418378" cy="1197252"/>
            <a:chOff x="280324" y="4331428"/>
            <a:chExt cx="5886113" cy="1197252"/>
          </a:xfrm>
        </p:grpSpPr>
        <p:pic>
          <p:nvPicPr>
            <p:cNvPr descr="A screenshot of a computer&#10;&#10;Description automatically generated" id="102" name="Google Shape;102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03" name="Google Shape;103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329894" y="4333711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04" name="Google Shape;104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364648" y="4331428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3"/>
          <p:cNvGrpSpPr/>
          <p:nvPr/>
        </p:nvGrpSpPr>
        <p:grpSpPr>
          <a:xfrm>
            <a:off x="1295644" y="4743447"/>
            <a:ext cx="5323881" cy="1203422"/>
            <a:chOff x="280324" y="4331428"/>
            <a:chExt cx="5783459" cy="1203422"/>
          </a:xfrm>
        </p:grpSpPr>
        <p:pic>
          <p:nvPicPr>
            <p:cNvPr descr="A screenshot of a computer&#10;&#10;Description automatically generated" id="106" name="Google Shape;106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07" name="Google Shape;107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302015" y="4331428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08" name="Google Shape;108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261994" y="4339881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3"/>
          <p:cNvGrpSpPr/>
          <p:nvPr/>
        </p:nvGrpSpPr>
        <p:grpSpPr>
          <a:xfrm>
            <a:off x="1295644" y="6294166"/>
            <a:ext cx="5344366" cy="1194970"/>
            <a:chOff x="567670" y="4371729"/>
            <a:chExt cx="5805712" cy="1194970"/>
          </a:xfrm>
        </p:grpSpPr>
        <p:pic>
          <p:nvPicPr>
            <p:cNvPr descr="A screenshot of a computer&#10;&#10;Description automatically generated" id="110" name="Google Shape;110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567670" y="4371730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11" name="Google Shape;111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611615" y="4371730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12" name="Google Shape;112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571593" y="43717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3"/>
          <p:cNvSpPr/>
          <p:nvPr/>
        </p:nvSpPr>
        <p:spPr>
          <a:xfrm>
            <a:off x="76378" y="1561240"/>
            <a:ext cx="6689472" cy="79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91618" y="1523760"/>
            <a:ext cx="27782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 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83495" y="1728489"/>
            <a:ext cx="676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multiply a decimal by an integer, it works just like multiplying whole numbers—you just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to place the decimal point correctly. You will use your knowledge of multiplying by 10, 100, and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1,000 to make the numbers easier to work with. Correct place value is key to getting accurate answers.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76378" y="7589786"/>
            <a:ext cx="1794332" cy="298599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1888040" y="7689900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Work out the following: </a:t>
            </a:r>
            <a:endParaRPr/>
          </a:p>
        </p:txBody>
      </p:sp>
      <p:graphicFrame>
        <p:nvGraphicFramePr>
          <p:cNvPr id="118" name="Google Shape;118;p13"/>
          <p:cNvGraphicFramePr/>
          <p:nvPr/>
        </p:nvGraphicFramePr>
        <p:xfrm>
          <a:off x="83495" y="7936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217475"/>
                <a:gridCol w="2217475"/>
                <a:gridCol w="2217475"/>
              </a:tblGrid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9" name="Google Shape;119;p13"/>
          <p:cNvGrpSpPr/>
          <p:nvPr/>
        </p:nvGrpSpPr>
        <p:grpSpPr>
          <a:xfrm>
            <a:off x="263082" y="836257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20" name="Google Shape;120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21" name="Google Shape;121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22" name="Google Shape;122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13"/>
          <p:cNvSpPr txBox="1"/>
          <p:nvPr/>
        </p:nvSpPr>
        <p:spPr>
          <a:xfrm>
            <a:off x="1354961" y="348440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046938" y="349326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3243053" y="348440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4.8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1323033" y="506222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5115432" y="503437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5.1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3187248" y="503437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16.8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5078495" y="657620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35.1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3154153" y="654835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196.8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1436648" y="661561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117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433407" y="874050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4861641" y="871266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2689076" y="871266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4"/>
          <p:cNvGrpSpPr/>
          <p:nvPr/>
        </p:nvGrpSpPr>
        <p:grpSpPr>
          <a:xfrm>
            <a:off x="313211" y="78932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40" name="Google Shape;140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1" name="Google Shape;141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2" name="Google Shape;142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14"/>
          <p:cNvGrpSpPr/>
          <p:nvPr/>
        </p:nvGrpSpPr>
        <p:grpSpPr>
          <a:xfrm>
            <a:off x="313211" y="2677463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44" name="Google Shape;144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5" name="Google Shape;145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6" name="Google Shape;146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4"/>
          <p:cNvGrpSpPr/>
          <p:nvPr/>
        </p:nvGrpSpPr>
        <p:grpSpPr>
          <a:xfrm>
            <a:off x="357729" y="4496833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48" name="Google Shape;148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9" name="Google Shape;149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0" name="Google Shape;150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1" name="Google Shape;151;p14"/>
          <p:cNvGraphicFramePr/>
          <p:nvPr/>
        </p:nvGraphicFramePr>
        <p:xfrm>
          <a:off x="142761" y="276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190825"/>
                <a:gridCol w="2190825"/>
                <a:gridCol w="2190825"/>
              </a:tblGrid>
              <a:tr h="35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5317040" y="94841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53" name="Google Shape;153;p14"/>
          <p:cNvGraphicFramePr/>
          <p:nvPr/>
        </p:nvGraphicFramePr>
        <p:xfrm>
          <a:off x="142761" y="58704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190825"/>
                <a:gridCol w="2190825"/>
                <a:gridCol w="219082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4" name="Google Shape;154;p14"/>
          <p:cNvGrpSpPr/>
          <p:nvPr/>
        </p:nvGrpSpPr>
        <p:grpSpPr>
          <a:xfrm>
            <a:off x="313211" y="6316203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55" name="Google Shape;155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6" name="Google Shape;156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7" name="Google Shape;157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p14"/>
          <p:cNvGrpSpPr/>
          <p:nvPr/>
        </p:nvGrpSpPr>
        <p:grpSpPr>
          <a:xfrm>
            <a:off x="342489" y="8106256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59" name="Google Shape;159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60" name="Google Shape;160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61" name="Google Shape;161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14"/>
          <p:cNvSpPr txBox="1"/>
          <p:nvPr/>
        </p:nvSpPr>
        <p:spPr>
          <a:xfrm>
            <a:off x="451716" y="104728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2.4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4809480" y="100857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9.6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2676941" y="101943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483536" y="307633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4.8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4911770" y="30484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10.6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2739205" y="30484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9.6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513980" y="51418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21.9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4871744" y="510318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14.5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2739205" y="511404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6.4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483536" y="694241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25.2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4911770" y="691457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53.6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2739205" y="691457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66.5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425402" y="854450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34.2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4853636" y="851665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97.2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2681071" y="851665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38.4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5"/>
          <p:cNvGrpSpPr/>
          <p:nvPr/>
        </p:nvGrpSpPr>
        <p:grpSpPr>
          <a:xfrm>
            <a:off x="357729" y="61919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82" name="Google Shape;182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83" name="Google Shape;183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84" name="Google Shape;184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15"/>
          <p:cNvGrpSpPr/>
          <p:nvPr/>
        </p:nvGrpSpPr>
        <p:grpSpPr>
          <a:xfrm>
            <a:off x="357729" y="246400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86" name="Google Shape;186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87" name="Google Shape;187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88" name="Google Shape;188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9" name="Google Shape;189;p15"/>
          <p:cNvGrpSpPr/>
          <p:nvPr/>
        </p:nvGrpSpPr>
        <p:grpSpPr>
          <a:xfrm>
            <a:off x="342489" y="4662610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90" name="Google Shape;190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91" name="Google Shape;191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92" name="Google Shape;192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5317040" y="94841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94" name="Google Shape;194;p15"/>
          <p:cNvGraphicFramePr/>
          <p:nvPr/>
        </p:nvGraphicFramePr>
        <p:xfrm>
          <a:off x="142761" y="155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190825"/>
                <a:gridCol w="2190825"/>
                <a:gridCol w="2190825"/>
              </a:tblGrid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1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" name="Google Shape;195;p15"/>
          <p:cNvGraphicFramePr/>
          <p:nvPr/>
        </p:nvGraphicFramePr>
        <p:xfrm>
          <a:off x="142761" y="596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190825"/>
                <a:gridCol w="2190825"/>
                <a:gridCol w="2190825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15"/>
          <p:cNvSpPr txBox="1"/>
          <p:nvPr/>
        </p:nvSpPr>
        <p:spPr>
          <a:xfrm>
            <a:off x="31281" y="3880785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 Work out the following:</a:t>
            </a:r>
            <a:endParaRPr/>
          </a:p>
        </p:txBody>
      </p:sp>
      <p:grpSp>
        <p:nvGrpSpPr>
          <p:cNvPr id="197" name="Google Shape;197;p15"/>
          <p:cNvGrpSpPr/>
          <p:nvPr/>
        </p:nvGrpSpPr>
        <p:grpSpPr>
          <a:xfrm>
            <a:off x="371767" y="6372780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98" name="Google Shape;198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99" name="Google Shape;199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0" name="Google Shape;200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15"/>
          <p:cNvGrpSpPr/>
          <p:nvPr/>
        </p:nvGrpSpPr>
        <p:grpSpPr>
          <a:xfrm>
            <a:off x="387007" y="8174089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02" name="Google Shape;202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3" name="Google Shape;203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4" name="Google Shape;204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15"/>
          <p:cNvSpPr txBox="1"/>
          <p:nvPr/>
        </p:nvSpPr>
        <p:spPr>
          <a:xfrm>
            <a:off x="528054" y="111013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225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4956288" y="108228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519.6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2783723" y="108228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369.6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528054" y="274658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1294.8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4956288" y="271873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636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2783723" y="271873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11193.3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528054" y="488953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2.52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4956288" y="486169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15.42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2783723" y="486169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7.89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445141" y="685739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25.12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4873375" y="682955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3.04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2700810" y="682955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37.65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387007" y="845948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57.72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4815241" y="843163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147.78</a:t>
            </a:r>
            <a:endParaRPr/>
          </a:p>
        </p:txBody>
      </p:sp>
      <p:sp>
        <p:nvSpPr>
          <p:cNvPr id="219" name="Google Shape;219;p15"/>
          <p:cNvSpPr txBox="1"/>
          <p:nvPr/>
        </p:nvSpPr>
        <p:spPr>
          <a:xfrm>
            <a:off x="2642676" y="843163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86.66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16"/>
          <p:cNvGraphicFramePr/>
          <p:nvPr/>
        </p:nvGraphicFramePr>
        <p:xfrm>
          <a:off x="179840" y="20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190825"/>
                <a:gridCol w="2190825"/>
                <a:gridCol w="2190825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25" name="Google Shape;225;p16"/>
          <p:cNvGrpSpPr/>
          <p:nvPr/>
        </p:nvGrpSpPr>
        <p:grpSpPr>
          <a:xfrm>
            <a:off x="373468" y="56981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26" name="Google Shape;226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7" name="Google Shape;227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8" name="Google Shape;228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9" name="Google Shape;229;p16"/>
          <p:cNvGrpSpPr/>
          <p:nvPr/>
        </p:nvGrpSpPr>
        <p:grpSpPr>
          <a:xfrm>
            <a:off x="373468" y="2255569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30" name="Google Shape;230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31" name="Google Shape;231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32" name="Google Shape;232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" name="Google Shape;233;p16"/>
          <p:cNvGrpSpPr/>
          <p:nvPr/>
        </p:nvGrpSpPr>
        <p:grpSpPr>
          <a:xfrm>
            <a:off x="357729" y="396538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34" name="Google Shape;234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35" name="Google Shape;235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36" name="Google Shape;236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16"/>
          <p:cNvSpPr txBox="1"/>
          <p:nvPr>
            <p:ph idx="12" type="sldNum"/>
          </p:nvPr>
        </p:nvSpPr>
        <p:spPr>
          <a:xfrm>
            <a:off x="5209268" y="94547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186553" y="5376711"/>
            <a:ext cx="6014442" cy="32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a decimal by an integer with two or more digits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16"/>
          <p:cNvGraphicFramePr/>
          <p:nvPr/>
        </p:nvGraphicFramePr>
        <p:xfrm>
          <a:off x="171313" y="6008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p16"/>
          <p:cNvSpPr txBox="1"/>
          <p:nvPr/>
        </p:nvSpPr>
        <p:spPr>
          <a:xfrm>
            <a:off x="1275468" y="571942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– I do…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5050073" y="572125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3111829" y="571636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5– We do…</a:t>
            </a:r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>
            <a:off x="1089361" y="6355570"/>
            <a:ext cx="5539063" cy="1210889"/>
            <a:chOff x="280324" y="4331428"/>
            <a:chExt cx="6017217" cy="1210889"/>
          </a:xfrm>
        </p:grpSpPr>
        <p:pic>
          <p:nvPicPr>
            <p:cNvPr descr="A screenshot of a computer&#10;&#10;Description automatically generated" id="244" name="Google Shape;244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45" name="Google Shape;245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46" name="Google Shape;246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495752" y="4347348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7" name="Google Shape;247;p16"/>
          <p:cNvSpPr/>
          <p:nvPr/>
        </p:nvSpPr>
        <p:spPr>
          <a:xfrm>
            <a:off x="170170" y="7727278"/>
            <a:ext cx="1612909" cy="290942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1783079" y="7805445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3. Work out the following: </a:t>
            </a:r>
            <a:endParaRPr/>
          </a:p>
        </p:txBody>
      </p:sp>
      <p:graphicFrame>
        <p:nvGraphicFramePr>
          <p:cNvPr id="249" name="Google Shape;249;p16"/>
          <p:cNvGraphicFramePr/>
          <p:nvPr/>
        </p:nvGraphicFramePr>
        <p:xfrm>
          <a:off x="180860" y="8096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190825"/>
                <a:gridCol w="2190825"/>
                <a:gridCol w="2190825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0" name="Google Shape;250;p16"/>
          <p:cNvGrpSpPr/>
          <p:nvPr/>
        </p:nvGrpSpPr>
        <p:grpSpPr>
          <a:xfrm>
            <a:off x="370429" y="842281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51" name="Google Shape;251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52" name="Google Shape;252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53" name="Google Shape;253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" name="Google Shape;254;p16"/>
          <p:cNvSpPr txBox="1"/>
          <p:nvPr/>
        </p:nvSpPr>
        <p:spPr>
          <a:xfrm>
            <a:off x="512315" y="78374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437.36</a:t>
            </a:r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4940549" y="8043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84.28</a:t>
            </a:r>
            <a:endParaRPr/>
          </a:p>
        </p:txBody>
      </p:sp>
      <p:sp>
        <p:nvSpPr>
          <p:cNvPr id="256" name="Google Shape;256;p16"/>
          <p:cNvSpPr txBox="1"/>
          <p:nvPr/>
        </p:nvSpPr>
        <p:spPr>
          <a:xfrm>
            <a:off x="2767984" y="79469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27.24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493428" y="262024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1.149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4940549" y="257621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24.873</a:t>
            </a:r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2767984" y="262200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8.652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493428" y="432800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48.115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4940549" y="428397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34.671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2767984" y="432976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29.648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1320320" y="660602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1.149</a:t>
            </a:r>
            <a:endParaRPr/>
          </a:p>
        </p:txBody>
      </p:sp>
      <p:sp>
        <p:nvSpPr>
          <p:cNvPr id="264" name="Google Shape;264;p16"/>
          <p:cNvSpPr txBox="1"/>
          <p:nvPr/>
        </p:nvSpPr>
        <p:spPr>
          <a:xfrm>
            <a:off x="4969520" y="661622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24.873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3122170" y="661578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8.652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514144" y="875062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16.12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4969520" y="877327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287.5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2768112" y="877327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42.67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7"/>
          <p:cNvGrpSpPr/>
          <p:nvPr/>
        </p:nvGrpSpPr>
        <p:grpSpPr>
          <a:xfrm>
            <a:off x="357729" y="603672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75" name="Google Shape;275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6" name="Google Shape;276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7" name="Google Shape;277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" name="Google Shape;278;p17"/>
          <p:cNvGrpSpPr/>
          <p:nvPr/>
        </p:nvGrpSpPr>
        <p:grpSpPr>
          <a:xfrm>
            <a:off x="357729" y="2487549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79" name="Google Shape;279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0" name="Google Shape;280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1" name="Google Shape;281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2" name="Google Shape;282;p17"/>
          <p:cNvGrpSpPr/>
          <p:nvPr/>
        </p:nvGrpSpPr>
        <p:grpSpPr>
          <a:xfrm>
            <a:off x="357729" y="4315622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83" name="Google Shape;283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4" name="Google Shape;284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5" name="Google Shape;285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86" name="Google Shape;286;p17"/>
          <p:cNvGraphicFramePr/>
          <p:nvPr/>
        </p:nvGraphicFramePr>
        <p:xfrm>
          <a:off x="187049" y="229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190825"/>
                <a:gridCol w="2190825"/>
                <a:gridCol w="2190825"/>
              </a:tblGrid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17"/>
          <p:cNvSpPr txBox="1"/>
          <p:nvPr>
            <p:ph idx="12" type="sldNum"/>
          </p:nvPr>
        </p:nvSpPr>
        <p:spPr>
          <a:xfrm>
            <a:off x="5216477" y="936328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88" name="Google Shape;288;p17"/>
          <p:cNvGraphicFramePr/>
          <p:nvPr/>
        </p:nvGraphicFramePr>
        <p:xfrm>
          <a:off x="178842" y="5769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2190825"/>
                <a:gridCol w="2190825"/>
                <a:gridCol w="2190825"/>
              </a:tblGrid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89" name="Google Shape;289;p17"/>
          <p:cNvGrpSpPr/>
          <p:nvPr/>
        </p:nvGrpSpPr>
        <p:grpSpPr>
          <a:xfrm>
            <a:off x="376252" y="625420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90" name="Google Shape;290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91" name="Google Shape;291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92" name="Google Shape;292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17"/>
          <p:cNvGrpSpPr/>
          <p:nvPr/>
        </p:nvGrpSpPr>
        <p:grpSpPr>
          <a:xfrm>
            <a:off x="376252" y="8095367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94" name="Google Shape;294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95" name="Google Shape;295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96" name="Google Shape;296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17"/>
          <p:cNvSpPr txBox="1"/>
          <p:nvPr/>
        </p:nvSpPr>
        <p:spPr>
          <a:xfrm>
            <a:off x="483037" y="138856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68.88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4938413" y="141121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283.05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2737005" y="141121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222.25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483037" y="285839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2667.2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4938413" y="288104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15.96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2737005" y="288104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219.96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535464" y="444431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15.96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4990840" y="446696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474.15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2724285" y="446696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730.17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634191" y="674813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899.36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5089567" y="677078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1189.1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2888159" y="677078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282.9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602745" y="846040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3018.6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5058121" y="848305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728.4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2856713" y="848305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349.6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" name="Google Shape;316;p18"/>
          <p:cNvGraphicFramePr/>
          <p:nvPr/>
        </p:nvGraphicFramePr>
        <p:xfrm>
          <a:off x="142761" y="2195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3286250"/>
                <a:gridCol w="3286250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Regan is paid £6.70 per hour.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He works 8 hours in a week.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Work out how much Regan should be paid.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Calculate the output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bottle of cola costs £1.29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Calculate the total cost of 6 bottles of cola.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class are going on a trip to a windmill.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trip costs £3.70 each and there are 26 students.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much money should be collected?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18"/>
          <p:cNvSpPr txBox="1"/>
          <p:nvPr>
            <p:ph idx="12" type="sldNum"/>
          </p:nvPr>
        </p:nvSpPr>
        <p:spPr>
          <a:xfrm>
            <a:off x="5199896" y="94462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18" name="Google Shape;3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5326" y="885341"/>
            <a:ext cx="2805401" cy="8098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9" name="Google Shape;319;p18"/>
          <p:cNvGraphicFramePr/>
          <p:nvPr/>
        </p:nvGraphicFramePr>
        <p:xfrm>
          <a:off x="142761" y="43267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{B93FDB57-2CF8-42EF-913B-8EB56B1976BD}</a:tableStyleId>
              </a:tblPr>
              <a:tblGrid>
                <a:gridCol w="6551075"/>
              </a:tblGrid>
              <a:tr h="131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1279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Calculate 0.63 x 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0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Calculate 1.8 x 40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Calculate 13.7 x 50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Fredrik is paid £7.89 per hour. He works 12 hours in a week. Work out how much Fredrik should be paid.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20" name="Google Shape;320;p18"/>
          <p:cNvPicPr preferRelativeResize="0"/>
          <p:nvPr/>
        </p:nvPicPr>
        <p:blipFill rotWithShape="1">
          <a:blip r:embed="rId4">
            <a:alphaModFix/>
          </a:blip>
          <a:srcRect b="0" l="0" r="0" t="58873"/>
          <a:stretch/>
        </p:blipFill>
        <p:spPr>
          <a:xfrm>
            <a:off x="1899531" y="4930041"/>
            <a:ext cx="3037531" cy="96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/>
          <p:cNvPicPr preferRelativeResize="0"/>
          <p:nvPr/>
        </p:nvPicPr>
        <p:blipFill rotWithShape="1">
          <a:blip r:embed="rId5">
            <a:alphaModFix/>
          </a:blip>
          <a:srcRect b="12890" l="0" r="0" t="18927"/>
          <a:stretch/>
        </p:blipFill>
        <p:spPr>
          <a:xfrm>
            <a:off x="1348314" y="6213930"/>
            <a:ext cx="4171350" cy="832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/>
          <p:cNvPicPr preferRelativeResize="0"/>
          <p:nvPr/>
        </p:nvPicPr>
        <p:blipFill rotWithShape="1">
          <a:blip r:embed="rId6">
            <a:alphaModFix/>
          </a:blip>
          <a:srcRect b="9074" l="0" r="0" t="22743"/>
          <a:stretch/>
        </p:blipFill>
        <p:spPr>
          <a:xfrm>
            <a:off x="1348314" y="7432131"/>
            <a:ext cx="4171350" cy="832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/>
          <p:cNvPicPr preferRelativeResize="0"/>
          <p:nvPr/>
        </p:nvPicPr>
        <p:blipFill rotWithShape="1">
          <a:blip r:embed="rId7">
            <a:alphaModFix/>
          </a:blip>
          <a:srcRect b="11672" l="0" r="0" t="8576"/>
          <a:stretch/>
        </p:blipFill>
        <p:spPr>
          <a:xfrm>
            <a:off x="886579" y="8785919"/>
            <a:ext cx="5063433" cy="8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8"/>
          <p:cNvSpPr txBox="1"/>
          <p:nvPr/>
        </p:nvSpPr>
        <p:spPr>
          <a:xfrm>
            <a:off x="886579" y="129510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£53.60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5177279" y="175588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26.6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886579" y="333400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£7.74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4231710" y="357853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£96.20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3788317" y="4953879"/>
            <a:ext cx="1388962" cy="45006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3505333" y="6086844"/>
            <a:ext cx="884335" cy="11458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2448726" y="7317965"/>
            <a:ext cx="884335" cy="11458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1015196" y="8646525"/>
            <a:ext cx="884335" cy="114589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