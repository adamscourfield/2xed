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06EB79-35E5-4456-9FD7-3BDAC3DFCF56}">
  <a:tblStyle styleId="{7706EB79-35E5-4456-9FD7-3BDAC3DFCF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9853096-A570-4E5F-A1DD-B292031A29B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3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6.png"/><Relationship Id="rId5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9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46.png"/><Relationship Id="rId9" Type="http://schemas.openxmlformats.org/officeDocument/2006/relationships/image" Target="../media/image44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47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8.png"/><Relationship Id="rId13" Type="http://schemas.openxmlformats.org/officeDocument/2006/relationships/image" Target="../media/image43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30.png"/><Relationship Id="rId9" Type="http://schemas.openxmlformats.org/officeDocument/2006/relationships/image" Target="../media/image36.png"/><Relationship Id="rId14" Type="http://schemas.openxmlformats.org/officeDocument/2006/relationships/image" Target="../media/image4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44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331732" y="951198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6108" y="333608"/>
            <a:ext cx="6679742" cy="121970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65951" cy="3105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N2.16 </a:t>
            </a:r>
            <a:r>
              <a:rPr b="0" i="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Add and Subtract Numbers given in Standard Form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6370" y="677558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9272" y="897115"/>
            <a:ext cx="50472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different methods for adding and subtracting in standard form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apply those skills to solve problems 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32749" y="361411"/>
            <a:ext cx="5964903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how to add and subtract numbers using standard form.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653249" y="678679"/>
            <a:ext cx="1077155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Powers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489" y="475336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numbers written in standard form (large numbers)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 flipH="1" rot="10800000">
            <a:off x="940789" y="4557803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3"/>
          <p:cNvSpPr/>
          <p:nvPr/>
        </p:nvSpPr>
        <p:spPr>
          <a:xfrm>
            <a:off x="75750" y="2637972"/>
            <a:ext cx="6699219" cy="19819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13"/>
          <p:cNvCxnSpPr/>
          <p:nvPr/>
        </p:nvCxnSpPr>
        <p:spPr>
          <a:xfrm>
            <a:off x="86108" y="3720086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13"/>
          <p:cNvCxnSpPr>
            <a:stCxn id="98" idx="2"/>
            <a:endCxn id="98" idx="0"/>
          </p:cNvCxnSpPr>
          <p:nvPr/>
        </p:nvCxnSpPr>
        <p:spPr>
          <a:xfrm rot="10800000">
            <a:off x="3425360" y="2638084"/>
            <a:ext cx="0" cy="198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3"/>
          <p:cNvSpPr txBox="1"/>
          <p:nvPr/>
        </p:nvSpPr>
        <p:spPr>
          <a:xfrm>
            <a:off x="103863" y="2627207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627914" y="2594821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86108" y="3670282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662987" y="3687870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19010" y="2815575"/>
            <a:ext cx="3230335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605" l="-189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479416" y="2619039"/>
            <a:ext cx="32303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form is a system for writing numbers.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makes it easier to do calculations with very large or very small numbers.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612974" y="3594489"/>
            <a:ext cx="157017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Form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19010" y="3996037"/>
            <a:ext cx="3230335" cy="4637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3493755" y="4019281"/>
            <a:ext cx="3230335" cy="46378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10" name="Google Shape;110;p13"/>
          <p:cNvGraphicFramePr/>
          <p:nvPr/>
        </p:nvGraphicFramePr>
        <p:xfrm>
          <a:off x="120039" y="4980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999250"/>
                <a:gridCol w="1767875"/>
                <a:gridCol w="1939025"/>
                <a:gridCol w="1939025"/>
              </a:tblGrid>
              <a:tr h="15240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work out the answer and write your answer in standard form</a:t>
                      </a:r>
                      <a:br>
                        <a:rPr b="0" lang="en-GB" sz="1200">
                          <a:solidFill>
                            <a:schemeClr val="dk1"/>
                          </a:solidFill>
                        </a:rPr>
                      </a:b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Write the numbers as ordinary numbers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0000"/>
                          </a:solidFill>
                        </a:rPr>
                        <a:t>6000 + 3000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0000"/>
                          </a:solidFill>
                        </a:rPr>
                        <a:t>9000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0000"/>
                          </a:solidFill>
                        </a:rPr>
                        <a:t>9 x 10</a:t>
                      </a:r>
                      <a:r>
                        <a:rPr baseline="30000" lang="en-GB" sz="1600">
                          <a:solidFill>
                            <a:srgbClr val="FF0000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6300 + 325000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331300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3.313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4300 + 2000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Add the numbers using column addition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4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Change back to 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11" name="Google Shape;111;p13"/>
          <p:cNvSpPr txBox="1"/>
          <p:nvPr/>
        </p:nvSpPr>
        <p:spPr>
          <a:xfrm>
            <a:off x="1274507" y="519285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5049112" y="519469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110868" y="518979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4691" y="5480731"/>
            <a:ext cx="1555520" cy="19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2987" y="5466870"/>
            <a:ext cx="1643405" cy="195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15834" y="5453787"/>
            <a:ext cx="1841028" cy="221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85489" y="1588343"/>
            <a:ext cx="6679742" cy="99626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topic, you will learn how to add and subtract numbers written in standard form by using your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understanding of how to convert between standard form and ordinary (decimal) form. Since addition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subtraction require numbers to be in the same power of ten, you will often need to rewrite one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both numbers before calculating. 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96737" y="7869451"/>
            <a:ext cx="1044000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049297" y="8003386"/>
            <a:ext cx="5881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For the following questions, work out the answer and put your answer in standard form:</a:t>
            </a:r>
            <a:endParaRPr/>
          </a:p>
        </p:txBody>
      </p:sp>
      <p:graphicFrame>
        <p:nvGraphicFramePr>
          <p:cNvPr id="120" name="Google Shape;120;p13"/>
          <p:cNvGraphicFramePr/>
          <p:nvPr/>
        </p:nvGraphicFramePr>
        <p:xfrm>
          <a:off x="112181" y="8288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326525"/>
                <a:gridCol w="3326525"/>
              </a:tblGrid>
              <a:tr h="14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5314950" y="943973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27" name="Google Shape;127;p14"/>
          <p:cNvGraphicFramePr/>
          <p:nvPr/>
        </p:nvGraphicFramePr>
        <p:xfrm>
          <a:off x="301732" y="2025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27275"/>
                <a:gridCol w="3127275"/>
              </a:tblGrid>
              <a:tr h="1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8" name="Google Shape;128;p14"/>
          <p:cNvSpPr/>
          <p:nvPr/>
        </p:nvSpPr>
        <p:spPr>
          <a:xfrm>
            <a:off x="114896" y="6148117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numbers written in standard form (small numbers)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4"/>
          <p:cNvGraphicFramePr/>
          <p:nvPr/>
        </p:nvGraphicFramePr>
        <p:xfrm>
          <a:off x="114896" y="64049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988300"/>
                <a:gridCol w="1748525"/>
                <a:gridCol w="1917825"/>
                <a:gridCol w="1917825"/>
              </a:tblGrid>
              <a:tr h="3606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work out the answer and write your answer in standard form: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1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Write the numbers as ordinary numbers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0.0009 + 0.0002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0.00023 + 0.000022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0.000252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2.52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0.0031 + 0.000065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0.003165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3.165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Add the numbers using column addition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60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Change back to 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30" name="Google Shape;130;p14"/>
          <p:cNvSpPr txBox="1"/>
          <p:nvPr/>
        </p:nvSpPr>
        <p:spPr>
          <a:xfrm>
            <a:off x="1207769" y="661629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4982374" y="661812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3044130" y="661323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49" y="6911777"/>
            <a:ext cx="1514318" cy="18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161" y="6911777"/>
            <a:ext cx="1514318" cy="191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873" y="6904504"/>
            <a:ext cx="1665103" cy="219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520319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209310" y="103948"/>
            <a:ext cx="979410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188720" y="87711"/>
            <a:ext cx="52355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For the following questions, work out the answer and put your answer in standard form:</a:t>
            </a:r>
            <a:endParaRPr/>
          </a:p>
        </p:txBody>
      </p:sp>
      <p:graphicFrame>
        <p:nvGraphicFramePr>
          <p:cNvPr id="144" name="Google Shape;144;p15"/>
          <p:cNvGraphicFramePr/>
          <p:nvPr/>
        </p:nvGraphicFramePr>
        <p:xfrm>
          <a:off x="209310" y="5493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98525"/>
                <a:gridCol w="3198525"/>
              </a:tblGrid>
              <a:tr h="118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1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18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45" name="Google Shape;145;p15"/>
          <p:cNvGraphicFramePr/>
          <p:nvPr/>
        </p:nvGraphicFramePr>
        <p:xfrm>
          <a:off x="205260" y="40774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98525"/>
                <a:gridCol w="3198525"/>
              </a:tblGrid>
              <a:tr h="118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24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46" name="Google Shape;146;p15"/>
          <p:cNvGraphicFramePr/>
          <p:nvPr/>
        </p:nvGraphicFramePr>
        <p:xfrm>
          <a:off x="205261" y="6800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1166350"/>
                <a:gridCol w="1760375"/>
                <a:gridCol w="1760375"/>
                <a:gridCol w="1760375"/>
              </a:tblGrid>
              <a:tr h="2846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work out the answer and write your answer in standard form: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2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Write the numbers as ordinary numbers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47000 - 3000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690000 - 1700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688300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6.883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8300 - 3100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Subtract the numbers using column  subtraction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Change back to 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47" name="Google Shape;147;p15"/>
          <p:cNvSpPr txBox="1"/>
          <p:nvPr/>
        </p:nvSpPr>
        <p:spPr>
          <a:xfrm>
            <a:off x="1610346" y="701185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085078" y="699395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3296129" y="700266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205260" y="6565451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Subtracting numbers written in standard form (large numbers)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737" y="7312493"/>
            <a:ext cx="1525176" cy="15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7451" y="7309553"/>
            <a:ext cx="1643406" cy="19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2481" y="7284968"/>
            <a:ext cx="1597518" cy="235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idx="12" type="sldNum"/>
          </p:nvPr>
        </p:nvSpPr>
        <p:spPr>
          <a:xfrm>
            <a:off x="5296853" y="9378597"/>
            <a:ext cx="1378267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264160" y="274081"/>
            <a:ext cx="1093822" cy="38631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357982" y="274081"/>
            <a:ext cx="49228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For the following questions, work out the answer and put your answer in standard form:</a:t>
            </a:r>
            <a:endParaRPr/>
          </a:p>
        </p:txBody>
      </p:sp>
      <p:graphicFrame>
        <p:nvGraphicFramePr>
          <p:cNvPr id="162" name="Google Shape;162;p16"/>
          <p:cNvGraphicFramePr/>
          <p:nvPr/>
        </p:nvGraphicFramePr>
        <p:xfrm>
          <a:off x="264160" y="7773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50525"/>
                <a:gridCol w="3150525"/>
              </a:tblGrid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17"/>
          <p:cNvGraphicFramePr/>
          <p:nvPr/>
        </p:nvGraphicFramePr>
        <p:xfrm>
          <a:off x="1014077" y="22062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{99853096-A570-4E5F-A1DD-B292031A29B7}</a:tableStyleId>
              </a:tblPr>
              <a:tblGrid>
                <a:gridCol w="687500"/>
                <a:gridCol w="1846750"/>
              </a:tblGrid>
              <a:tr h="1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× 20 = 20</a:t>
                      </a:r>
                      <a:endParaRPr/>
                    </a:p>
                  </a:txBody>
                  <a:tcPr marT="6875" marB="6875" marR="6875" marL="6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 1 and 20 are both factors of 20</a:t>
                      </a:r>
                      <a:endParaRPr/>
                    </a:p>
                  </a:txBody>
                  <a:tcPr marT="6875" marB="6875" marR="6875" marL="6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× 10 = 20</a:t>
                      </a:r>
                      <a:endParaRPr/>
                    </a:p>
                  </a:txBody>
                  <a:tcPr marT="6875" marB="6875" marR="6875" marL="6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 2 and 10 are both factors of 20</a:t>
                      </a:r>
                      <a:endParaRPr/>
                    </a:p>
                  </a:txBody>
                  <a:tcPr marT="6875" marB="6875" marR="6875" marL="6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× 5 = 20</a:t>
                      </a:r>
                      <a:endParaRPr/>
                    </a:p>
                  </a:txBody>
                  <a:tcPr marT="6875" marB="6875" marR="6875" marL="6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 4 and 5 are both factors of 20</a:t>
                      </a:r>
                      <a:endParaRPr/>
                    </a:p>
                  </a:txBody>
                  <a:tcPr marT="6875" marB="6875" marR="6875" marL="6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17"/>
          <p:cNvGraphicFramePr/>
          <p:nvPr/>
        </p:nvGraphicFramePr>
        <p:xfrm>
          <a:off x="140243" y="2917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1292325"/>
                <a:gridCol w="1760050"/>
                <a:gridCol w="1760050"/>
                <a:gridCol w="1760050"/>
              </a:tblGrid>
              <a:tr h="4874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use the column method to work out the subtraction problems: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0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Write the numbers as ordinary numbers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0.047 – 0.003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0.000069 – 0.00000172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0.00006728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6.728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0.0083 – 0.0031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0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Subtract the numbers using column subtraction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9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Change back to 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70" name="Google Shape;170;p17"/>
          <p:cNvSpPr txBox="1"/>
          <p:nvPr/>
        </p:nvSpPr>
        <p:spPr>
          <a:xfrm>
            <a:off x="1575840" y="53355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994482" y="51003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256112" y="53355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105414" y="56447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Subtracting numbers written in standard form (small numbers)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9142" y="820952"/>
            <a:ext cx="1517772" cy="17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6519" y="802142"/>
            <a:ext cx="1649800" cy="19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8236" y="819726"/>
            <a:ext cx="1724336" cy="19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>
            <p:ph idx="12" type="sldNum"/>
          </p:nvPr>
        </p:nvSpPr>
        <p:spPr>
          <a:xfrm>
            <a:off x="5168771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47082" y="319409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285036" y="3160944"/>
            <a:ext cx="49228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For the following questions, work out the answer and put your answer in standard form:</a:t>
            </a:r>
            <a:endParaRPr/>
          </a:p>
        </p:txBody>
      </p:sp>
      <p:graphicFrame>
        <p:nvGraphicFramePr>
          <p:cNvPr id="180" name="Google Shape;180;p17"/>
          <p:cNvGraphicFramePr/>
          <p:nvPr/>
        </p:nvGraphicFramePr>
        <p:xfrm>
          <a:off x="147082" y="3598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282825"/>
                <a:gridCol w="3282825"/>
              </a:tblGrid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1" name="Google Shape;181;p17"/>
          <p:cNvGraphicFramePr/>
          <p:nvPr/>
        </p:nvGraphicFramePr>
        <p:xfrm>
          <a:off x="147082" y="7162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281925"/>
                <a:gridCol w="3281925"/>
              </a:tblGrid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8"/>
          <p:cNvGraphicFramePr/>
          <p:nvPr/>
        </p:nvGraphicFramePr>
        <p:xfrm>
          <a:off x="142761" y="5832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1147525"/>
                <a:gridCol w="1808325"/>
                <a:gridCol w="1808325"/>
                <a:gridCol w="1808325"/>
              </a:tblGrid>
              <a:tr h="3868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0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If the powers are different, convert the numbers to the higher power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8 - 3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0.031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 – 0.031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5.769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4.9 - 0.22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4.68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Subtract the base numbers using column subtraction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graphicFrame>
        <p:nvGraphicFramePr>
          <p:cNvPr id="188" name="Google Shape;188;p18"/>
          <p:cNvGraphicFramePr/>
          <p:nvPr/>
        </p:nvGraphicFramePr>
        <p:xfrm>
          <a:off x="155567" y="30931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1144925"/>
                <a:gridCol w="1809200"/>
                <a:gridCol w="1809200"/>
                <a:gridCol w="1809200"/>
              </a:tblGrid>
              <a:tr h="5241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7.2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  +    6.4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90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If the powers are different, convert the numbers to the higher power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 + 2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0.063 + 3.25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3.313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 + 6.4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7.12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Add the base numbers using column addition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89" name="Google Shape;189;p18"/>
          <p:cNvSpPr txBox="1"/>
          <p:nvPr/>
        </p:nvSpPr>
        <p:spPr>
          <a:xfrm>
            <a:off x="5251099" y="926130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155567" y="464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1155075"/>
                <a:gridCol w="1805800"/>
                <a:gridCol w="1805800"/>
                <a:gridCol w="1805800"/>
              </a:tblGrid>
              <a:tr h="42487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 the following questions, work out the answer and write your answer in standard form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4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 x 10</a:t>
                      </a:r>
                      <a:r>
                        <a:rPr b="0" baseline="3000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+   3.4  x 10</a:t>
                      </a:r>
                      <a:r>
                        <a:rPr b="0" baseline="3000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5.6  x 10</a:t>
                      </a:r>
                      <a:r>
                        <a:rPr b="0" baseline="3000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+   3.3  x 10</a:t>
                      </a:r>
                      <a:r>
                        <a:rPr b="0" baseline="3000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If the powers are different, convert the numbers to the higher power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+ 3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 + 3.4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5.6 + 3.3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8.9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baseline="3000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Add the base numbers using column addition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91" name="Google Shape;191;p18"/>
          <p:cNvSpPr txBox="1"/>
          <p:nvPr/>
        </p:nvSpPr>
        <p:spPr>
          <a:xfrm>
            <a:off x="1228120" y="66891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002725" y="67074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3064481" y="66585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3850" y="164349"/>
            <a:ext cx="6730299" cy="25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 and subtracting numbers written in standard form: getting the powers the same (large numbers)  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856" y="971726"/>
            <a:ext cx="1555520" cy="1948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1498715" y="335512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056773" y="33475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– You do…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3204258" y="335512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3875" y="3667947"/>
            <a:ext cx="1643405" cy="195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0743" y="3656134"/>
            <a:ext cx="1676920" cy="20203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1478363" y="604964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19 - I do…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5071834" y="603348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– You do…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3228701" y="603250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– We do…</a:t>
            </a:r>
            <a:endParaRPr/>
          </a:p>
        </p:txBody>
      </p:sp>
      <p:pic>
        <p:nvPicPr>
          <p:cNvPr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8894" y="6288196"/>
            <a:ext cx="1568531" cy="292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16901" y="6338609"/>
            <a:ext cx="1790792" cy="23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66180" y="6291370"/>
            <a:ext cx="1661131" cy="261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idx="12" type="sldNum"/>
          </p:nvPr>
        </p:nvSpPr>
        <p:spPr>
          <a:xfrm>
            <a:off x="5195253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203837" y="16666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341791" y="126728"/>
            <a:ext cx="49228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For the following questions, work out the answer and put your answer in standard form:</a:t>
            </a:r>
            <a:endParaRPr/>
          </a:p>
        </p:txBody>
      </p:sp>
      <p:graphicFrame>
        <p:nvGraphicFramePr>
          <p:cNvPr id="215" name="Google Shape;215;p19"/>
          <p:cNvGraphicFramePr/>
          <p:nvPr/>
        </p:nvGraphicFramePr>
        <p:xfrm>
          <a:off x="203836" y="5876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79750"/>
                <a:gridCol w="3179750"/>
              </a:tblGrid>
              <a:tr h="151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43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16" name="Google Shape;216;p19"/>
          <p:cNvGraphicFramePr/>
          <p:nvPr/>
        </p:nvGraphicFramePr>
        <p:xfrm>
          <a:off x="203836" y="49802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79750"/>
                <a:gridCol w="3179750"/>
              </a:tblGrid>
              <a:tr h="1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59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Google Shape;222;p20"/>
          <p:cNvGraphicFramePr/>
          <p:nvPr/>
        </p:nvGraphicFramePr>
        <p:xfrm>
          <a:off x="150914" y="62312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988300"/>
                <a:gridCol w="1748525"/>
                <a:gridCol w="1917825"/>
                <a:gridCol w="1917825"/>
              </a:tblGrid>
              <a:tr h="5955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3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If the powers are different, convert the numbers to the higher power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8.3 – 3.1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4.7 – 0.3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0.172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6.9 – 0.172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6.728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6.728 x 10</a:t>
                      </a:r>
                      <a:r>
                        <a:rPr b="0" baseline="30000" i="0" lang="en-GB" sz="16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Subtract the base numbers using column subtraction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23" name="Google Shape;223;p20"/>
          <p:cNvSpPr txBox="1"/>
          <p:nvPr/>
        </p:nvSpPr>
        <p:spPr>
          <a:xfrm>
            <a:off x="1315667" y="660550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28 - I do…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918988" y="661062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30 – You do…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021210" y="660296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29 – We do…</a:t>
            </a:r>
            <a:endParaRPr/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2644" y="6910558"/>
            <a:ext cx="1517772" cy="17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6119" y="6917347"/>
            <a:ext cx="1649800" cy="19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7141" y="6930246"/>
            <a:ext cx="1724336" cy="1945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0"/>
          <p:cNvGraphicFramePr/>
          <p:nvPr/>
        </p:nvGraphicFramePr>
        <p:xfrm>
          <a:off x="150914" y="35428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972000"/>
                <a:gridCol w="1748525"/>
                <a:gridCol w="1917825"/>
                <a:gridCol w="1917825"/>
              </a:tblGrid>
              <a:tr h="2372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4.3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-5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+ 6.9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-4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8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If the powers are different, convert the numbers to the higher power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 + 0.22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2.52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0.065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 + 0.065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3.165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 + 6.9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7.33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Add the base numbers using column addition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graphicFrame>
        <p:nvGraphicFramePr>
          <p:cNvPr id="230" name="Google Shape;230;p20"/>
          <p:cNvGraphicFramePr/>
          <p:nvPr/>
        </p:nvGraphicFramePr>
        <p:xfrm>
          <a:off x="134608" y="1584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972000"/>
                <a:gridCol w="1748525"/>
                <a:gridCol w="1917825"/>
                <a:gridCol w="1917825"/>
              </a:tblGrid>
              <a:tr h="6031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6.4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-3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+ 3.1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-3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4.3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-5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+ 6.9 x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-5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If the powers are different, convert the numbers to the higher power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6.4 + 3.1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+ 2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 + 6.9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1.12 x 10</a:t>
                      </a:r>
                      <a:r>
                        <a:rPr b="0" baseline="3000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1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Add the base numbers using column addition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31" name="Google Shape;231;p20"/>
          <p:cNvSpPr txBox="1"/>
          <p:nvPr/>
        </p:nvSpPr>
        <p:spPr>
          <a:xfrm>
            <a:off x="1310775" y="49521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22 - I do…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981766" y="48235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24 – You do…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062724" y="4952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23 – We do…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30909" y="45653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Adding  &amp; Subtracting Standard Form – Getting the powers the same (small numbers)  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3300" y="808317"/>
            <a:ext cx="1514318" cy="183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>
            <p:ph idx="12" type="sldNum"/>
          </p:nvPr>
        </p:nvSpPr>
        <p:spPr>
          <a:xfrm>
            <a:off x="5243087" y="950661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272770" y="357762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25 - I do…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047375" y="357945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27 – You do…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3109131" y="357456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26 – We do…</a:t>
            </a:r>
            <a:endParaRPr/>
          </a:p>
        </p:txBody>
      </p:sp>
      <p:pic>
        <p:nvPicPr>
          <p:cNvPr id="240" name="Google Shape;24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8968" y="3861713"/>
            <a:ext cx="1514318" cy="191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8788" y="3865219"/>
            <a:ext cx="1665103" cy="21961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80848" y="300666"/>
            <a:ext cx="57632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following questions, work out the answer and write your answer in standard form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idx="12" type="sldNum"/>
          </p:nvPr>
        </p:nvSpPr>
        <p:spPr>
          <a:xfrm>
            <a:off x="5164773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91488" y="248114"/>
            <a:ext cx="1087072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985520" y="349714"/>
            <a:ext cx="60864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For the following questions, work out the answer and put your answer in standard form:</a:t>
            </a:r>
            <a:endParaRPr/>
          </a:p>
        </p:txBody>
      </p:sp>
      <p:graphicFrame>
        <p:nvGraphicFramePr>
          <p:cNvPr id="251" name="Google Shape;251;p21"/>
          <p:cNvGraphicFramePr/>
          <p:nvPr/>
        </p:nvGraphicFramePr>
        <p:xfrm>
          <a:off x="261154" y="6648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67850"/>
                <a:gridCol w="3167850"/>
              </a:tblGrid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</a:tr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2" name="Google Shape;252;p21"/>
          <p:cNvGraphicFramePr/>
          <p:nvPr/>
        </p:nvGraphicFramePr>
        <p:xfrm>
          <a:off x="261155" y="56756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67850"/>
                <a:gridCol w="3167850"/>
              </a:tblGrid>
              <a:tr h="167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0" marB="0" marR="68575" marL="68575"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7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/>
        </p:nvSpPr>
        <p:spPr>
          <a:xfrm>
            <a:off x="5087279" y="946380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2"/>
          <p:cNvPicPr preferRelativeResize="0"/>
          <p:nvPr/>
        </p:nvPicPr>
        <p:blipFill rotWithShape="1">
          <a:blip r:embed="rId3">
            <a:alphaModFix/>
          </a:blip>
          <a:srcRect b="19454" l="6119" r="48355" t="65879"/>
          <a:stretch/>
        </p:blipFill>
        <p:spPr>
          <a:xfrm>
            <a:off x="450071" y="1790942"/>
            <a:ext cx="2775285" cy="5775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22"/>
          <p:cNvGraphicFramePr/>
          <p:nvPr/>
        </p:nvGraphicFramePr>
        <p:xfrm>
          <a:off x="261155" y="1265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67850"/>
                <a:gridCol w="3167850"/>
              </a:tblGrid>
              <a:tr h="1656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400">
                          <a:solidFill>
                            <a:srgbClr val="FF0000"/>
                          </a:solidFill>
                        </a:rPr>
                        <a:t>Most efficient to use Mo’s method</a:t>
                      </a: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GB" sz="1400">
                          <a:solidFill>
                            <a:srgbClr val="FF0000"/>
                          </a:solidFill>
                        </a:rPr>
                        <a:t>Most efficient to use Dora’s method</a:t>
                      </a: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efficient to use Dora’s method</a:t>
                      </a: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Either method equally as efficient.</a:t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1" name="Google Shape;261;p22"/>
          <p:cNvPicPr preferRelativeResize="0"/>
          <p:nvPr/>
        </p:nvPicPr>
        <p:blipFill rotWithShape="1">
          <a:blip r:embed="rId3">
            <a:alphaModFix/>
          </a:blip>
          <a:srcRect b="34890" l="0" r="5592" t="7665"/>
          <a:stretch/>
        </p:blipFill>
        <p:spPr>
          <a:xfrm>
            <a:off x="1391104" y="178492"/>
            <a:ext cx="4075791" cy="160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/>
          <p:cNvPicPr preferRelativeResize="0"/>
          <p:nvPr/>
        </p:nvPicPr>
        <p:blipFill rotWithShape="1">
          <a:blip r:embed="rId3">
            <a:alphaModFix/>
          </a:blip>
          <a:srcRect b="3870" l="5330" r="48091" t="79731"/>
          <a:stretch/>
        </p:blipFill>
        <p:spPr>
          <a:xfrm>
            <a:off x="369882" y="2830564"/>
            <a:ext cx="2839453" cy="645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 rotWithShape="1">
          <a:blip r:embed="rId3">
            <a:alphaModFix/>
          </a:blip>
          <a:srcRect b="5196" l="51777" r="3158" t="80748"/>
          <a:stretch/>
        </p:blipFill>
        <p:spPr>
          <a:xfrm>
            <a:off x="3645774" y="2815689"/>
            <a:ext cx="2747211" cy="553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/>
          <p:cNvPicPr preferRelativeResize="0"/>
          <p:nvPr/>
        </p:nvPicPr>
        <p:blipFill rotWithShape="1">
          <a:blip r:embed="rId3">
            <a:alphaModFix/>
          </a:blip>
          <a:srcRect b="19454" l="50987" r="2833" t="66643"/>
          <a:stretch/>
        </p:blipFill>
        <p:spPr>
          <a:xfrm>
            <a:off x="3577852" y="1821021"/>
            <a:ext cx="2815133" cy="5474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22"/>
          <p:cNvGraphicFramePr/>
          <p:nvPr/>
        </p:nvGraphicFramePr>
        <p:xfrm>
          <a:off x="261155" y="39076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6335700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350">
                          <a:solidFill>
                            <a:schemeClr val="dk1"/>
                          </a:solidFill>
                        </a:rPr>
                        <a:t>8. Fill in the blanks.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rgbClr val="FF0000"/>
                          </a:solidFill>
                        </a:rPr>
                        <a:t>                                                                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 +       5</a:t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24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-6      -6</a:t>
                      </a:r>
                      <a:endParaRPr b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21" y="4239402"/>
            <a:ext cx="2615967" cy="447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" y="4757284"/>
            <a:ext cx="2484353" cy="450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9882" y="5303847"/>
            <a:ext cx="2655758" cy="4474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9" name="Google Shape;269;p22"/>
          <p:cNvGraphicFramePr/>
          <p:nvPr/>
        </p:nvGraphicFramePr>
        <p:xfrm>
          <a:off x="257382" y="58473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6335700"/>
              </a:tblGrid>
              <a:tr h="28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350">
                          <a:solidFill>
                            <a:schemeClr val="dk1"/>
                          </a:solidFill>
                        </a:rPr>
                        <a:t>9. Fill in the blanks, giving all answers in standard form.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5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0" name="Google Shape;27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3872" y="6139935"/>
            <a:ext cx="1809018" cy="179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3872" y="6624806"/>
            <a:ext cx="1809018" cy="17983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2"/>
          <p:cNvGrpSpPr/>
          <p:nvPr/>
        </p:nvGrpSpPr>
        <p:grpSpPr>
          <a:xfrm>
            <a:off x="368385" y="6147791"/>
            <a:ext cx="3994484" cy="2286099"/>
            <a:chOff x="433137" y="585438"/>
            <a:chExt cx="4987752" cy="2799446"/>
          </a:xfrm>
        </p:grpSpPr>
        <p:pic>
          <p:nvPicPr>
            <p:cNvPr id="273" name="Google Shape;273;p22"/>
            <p:cNvPicPr preferRelativeResize="0"/>
            <p:nvPr/>
          </p:nvPicPr>
          <p:blipFill rotWithShape="1">
            <a:blip r:embed="rId8">
              <a:alphaModFix/>
            </a:blip>
            <a:srcRect b="0" l="0" r="65492" t="0"/>
            <a:stretch/>
          </p:blipFill>
          <p:spPr>
            <a:xfrm>
              <a:off x="433137" y="585439"/>
              <a:ext cx="2101516" cy="2799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2"/>
            <p:cNvPicPr preferRelativeResize="0"/>
            <p:nvPr/>
          </p:nvPicPr>
          <p:blipFill rotWithShape="1">
            <a:blip r:embed="rId8">
              <a:alphaModFix/>
            </a:blip>
            <a:srcRect b="0" l="52607" r="0" t="0"/>
            <a:stretch/>
          </p:blipFill>
          <p:spPr>
            <a:xfrm>
              <a:off x="2534653" y="585438"/>
              <a:ext cx="2886236" cy="27994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" name="Google Shape;275;p22"/>
          <p:cNvGrpSpPr/>
          <p:nvPr/>
        </p:nvGrpSpPr>
        <p:grpSpPr>
          <a:xfrm>
            <a:off x="257382" y="8353024"/>
            <a:ext cx="5981093" cy="1280402"/>
            <a:chOff x="123535" y="7552299"/>
            <a:chExt cx="5981093" cy="1280402"/>
          </a:xfrm>
        </p:grpSpPr>
        <p:pic>
          <p:nvPicPr>
            <p:cNvPr id="276" name="Google Shape;276;p22"/>
            <p:cNvPicPr preferRelativeResize="0"/>
            <p:nvPr/>
          </p:nvPicPr>
          <p:blipFill rotWithShape="1">
            <a:blip r:embed="rId9">
              <a:alphaModFix/>
            </a:blip>
            <a:srcRect b="54531" l="3025" r="4130" t="27083"/>
            <a:stretch/>
          </p:blipFill>
          <p:spPr>
            <a:xfrm>
              <a:off x="123535" y="7552299"/>
              <a:ext cx="4984291" cy="1275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2"/>
            <p:cNvPicPr preferRelativeResize="0"/>
            <p:nvPr/>
          </p:nvPicPr>
          <p:blipFill rotWithShape="1">
            <a:blip r:embed="rId9">
              <a:alphaModFix/>
            </a:blip>
            <a:srcRect b="54502" l="4099" r="3882" t="27110"/>
            <a:stretch/>
          </p:blipFill>
          <p:spPr>
            <a:xfrm>
              <a:off x="1164752" y="7556963"/>
              <a:ext cx="4939876" cy="12757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22"/>
          <p:cNvSpPr txBox="1"/>
          <p:nvPr/>
        </p:nvSpPr>
        <p:spPr>
          <a:xfrm>
            <a:off x="425029" y="7094636"/>
            <a:ext cx="6783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2076902" y="7757923"/>
            <a:ext cx="8146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6.4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55781" y="8063591"/>
            <a:ext cx="6783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pSp>
        <p:nvGrpSpPr>
          <p:cNvPr id="281" name="Google Shape;281;p22"/>
          <p:cNvGrpSpPr/>
          <p:nvPr/>
        </p:nvGrpSpPr>
        <p:grpSpPr>
          <a:xfrm>
            <a:off x="427406" y="6433900"/>
            <a:ext cx="2541226" cy="1944199"/>
            <a:chOff x="600784" y="838375"/>
            <a:chExt cx="2541226" cy="1944199"/>
          </a:xfrm>
        </p:grpSpPr>
        <p:sp>
          <p:nvSpPr>
            <p:cNvPr id="282" name="Google Shape;282;p22"/>
            <p:cNvSpPr txBox="1"/>
            <p:nvPr/>
          </p:nvSpPr>
          <p:spPr>
            <a:xfrm>
              <a:off x="2327363" y="838375"/>
              <a:ext cx="814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1.4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283" name="Google Shape;283;p22"/>
            <p:cNvSpPr txBox="1"/>
            <p:nvPr/>
          </p:nvSpPr>
          <p:spPr>
            <a:xfrm>
              <a:off x="2319307" y="1196603"/>
              <a:ext cx="814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4.2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600784" y="1496415"/>
              <a:ext cx="6783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2297855" y="1499095"/>
              <a:ext cx="814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7.6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1473369" y="1814638"/>
              <a:ext cx="6783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633815" y="2169130"/>
              <a:ext cx="6783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2252657" y="2159702"/>
              <a:ext cx="814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6.4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1493264" y="2445777"/>
              <a:ext cx="6783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631536" y="2474797"/>
              <a:ext cx="6783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pic>
        <p:nvPicPr>
          <p:cNvPr id="291" name="Google Shape;29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0757" y="6139935"/>
            <a:ext cx="1809018" cy="179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0757" y="6624806"/>
            <a:ext cx="1809018" cy="17983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22"/>
          <p:cNvGrpSpPr/>
          <p:nvPr/>
        </p:nvGrpSpPr>
        <p:grpSpPr>
          <a:xfrm>
            <a:off x="484427" y="8353024"/>
            <a:ext cx="5981093" cy="1280402"/>
            <a:chOff x="123535" y="7552299"/>
            <a:chExt cx="5981093" cy="1280402"/>
          </a:xfrm>
        </p:grpSpPr>
        <p:pic>
          <p:nvPicPr>
            <p:cNvPr id="294" name="Google Shape;294;p22"/>
            <p:cNvPicPr preferRelativeResize="0"/>
            <p:nvPr/>
          </p:nvPicPr>
          <p:blipFill rotWithShape="1">
            <a:blip r:embed="rId9">
              <a:alphaModFix/>
            </a:blip>
            <a:srcRect b="54531" l="3025" r="4130" t="27083"/>
            <a:stretch/>
          </p:blipFill>
          <p:spPr>
            <a:xfrm>
              <a:off x="123535" y="7552299"/>
              <a:ext cx="4984291" cy="1275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2"/>
            <p:cNvPicPr preferRelativeResize="0"/>
            <p:nvPr/>
          </p:nvPicPr>
          <p:blipFill rotWithShape="1">
            <a:blip r:embed="rId9">
              <a:alphaModFix/>
            </a:blip>
            <a:srcRect b="54502" l="4099" r="3882" t="27110"/>
            <a:stretch/>
          </p:blipFill>
          <p:spPr>
            <a:xfrm>
              <a:off x="1164752" y="7556963"/>
              <a:ext cx="4939876" cy="12757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 txBox="1"/>
          <p:nvPr/>
        </p:nvSpPr>
        <p:spPr>
          <a:xfrm>
            <a:off x="508127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2" name="Google Shape;302;p23"/>
          <p:cNvGraphicFramePr/>
          <p:nvPr/>
        </p:nvGraphicFramePr>
        <p:xfrm>
          <a:off x="308184" y="1315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6241625"/>
              </a:tblGrid>
              <a:tr h="27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0" i="0" lang="en-GB" sz="1350">
                          <a:solidFill>
                            <a:schemeClr val="dk1"/>
                          </a:solidFill>
                        </a:rPr>
                        <a:t>10. Fill in the blanks, giving all answers in standard form.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4600" y="473186"/>
            <a:ext cx="1809018" cy="179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4600" y="919957"/>
            <a:ext cx="1809018" cy="179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110" y="490242"/>
            <a:ext cx="2773510" cy="221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/>
          <p:cNvPicPr preferRelativeResize="0"/>
          <p:nvPr/>
        </p:nvPicPr>
        <p:blipFill rotWithShape="1">
          <a:blip r:embed="rId5">
            <a:alphaModFix/>
          </a:blip>
          <a:srcRect b="10781" l="0" r="0" t="0"/>
          <a:stretch/>
        </p:blipFill>
        <p:spPr>
          <a:xfrm>
            <a:off x="3119373" y="451819"/>
            <a:ext cx="2119965" cy="2285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44304" y="2357600"/>
            <a:ext cx="213345" cy="23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2298572" y="766068"/>
            <a:ext cx="6783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1255692" y="1152953"/>
            <a:ext cx="8755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2199986" y="1495338"/>
            <a:ext cx="8146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3198130" y="1511368"/>
            <a:ext cx="6783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3189041" y="2280947"/>
            <a:ext cx="8515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2.2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392525" y="1893651"/>
            <a:ext cx="7393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x 10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grpSp>
        <p:nvGrpSpPr>
          <p:cNvPr id="314" name="Google Shape;314;p23"/>
          <p:cNvGrpSpPr/>
          <p:nvPr/>
        </p:nvGrpSpPr>
        <p:grpSpPr>
          <a:xfrm>
            <a:off x="354425" y="2676373"/>
            <a:ext cx="5981093" cy="1280402"/>
            <a:chOff x="123535" y="7552299"/>
            <a:chExt cx="5981093" cy="1280402"/>
          </a:xfrm>
        </p:grpSpPr>
        <p:pic>
          <p:nvPicPr>
            <p:cNvPr id="315" name="Google Shape;315;p23"/>
            <p:cNvPicPr preferRelativeResize="0"/>
            <p:nvPr/>
          </p:nvPicPr>
          <p:blipFill rotWithShape="1">
            <a:blip r:embed="rId7">
              <a:alphaModFix/>
            </a:blip>
            <a:srcRect b="54531" l="3025" r="4130" t="27083"/>
            <a:stretch/>
          </p:blipFill>
          <p:spPr>
            <a:xfrm>
              <a:off x="123535" y="7552299"/>
              <a:ext cx="4984291" cy="1275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3"/>
            <p:cNvPicPr preferRelativeResize="0"/>
            <p:nvPr/>
          </p:nvPicPr>
          <p:blipFill rotWithShape="1">
            <a:blip r:embed="rId7">
              <a:alphaModFix/>
            </a:blip>
            <a:srcRect b="54502" l="4099" r="3882" t="27110"/>
            <a:stretch/>
          </p:blipFill>
          <p:spPr>
            <a:xfrm>
              <a:off x="1164752" y="7556963"/>
              <a:ext cx="4939876" cy="12757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" name="Google Shape;317;p23"/>
          <p:cNvGrpSpPr/>
          <p:nvPr/>
        </p:nvGrpSpPr>
        <p:grpSpPr>
          <a:xfrm>
            <a:off x="353763" y="449324"/>
            <a:ext cx="3683019" cy="2213672"/>
            <a:chOff x="388722" y="5075726"/>
            <a:chExt cx="3683019" cy="2213672"/>
          </a:xfrm>
        </p:grpSpPr>
        <p:pic>
          <p:nvPicPr>
            <p:cNvPr id="318" name="Google Shape;318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8722" y="5075726"/>
              <a:ext cx="2773510" cy="22136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23"/>
            <p:cNvSpPr txBox="1"/>
            <p:nvPr/>
          </p:nvSpPr>
          <p:spPr>
            <a:xfrm>
              <a:off x="2339184" y="5408702"/>
              <a:ext cx="6783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1296304" y="5795587"/>
              <a:ext cx="8755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1.2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2240598" y="6137972"/>
              <a:ext cx="814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1.7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3238742" y="6135148"/>
              <a:ext cx="6783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3220226" y="6914154"/>
              <a:ext cx="851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2.2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-3</a:t>
              </a:r>
              <a:endParaRPr/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433137" y="6536285"/>
              <a:ext cx="7393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x 10</a:t>
              </a:r>
              <a:r>
                <a:rPr baseline="30000"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21</a:t>
              </a:r>
              <a:endParaRPr/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3204117" y="5425512"/>
              <a:ext cx="814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1.2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326" name="Google Shape;326;p23"/>
            <p:cNvSpPr txBox="1"/>
            <p:nvPr/>
          </p:nvSpPr>
          <p:spPr>
            <a:xfrm>
              <a:off x="3234233" y="5775351"/>
              <a:ext cx="7393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27" name="Google Shape;327;p23"/>
            <p:cNvSpPr txBox="1"/>
            <p:nvPr/>
          </p:nvSpPr>
          <p:spPr>
            <a:xfrm>
              <a:off x="1339215" y="6154001"/>
              <a:ext cx="814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1.5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1335029" y="6527648"/>
              <a:ext cx="8755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2.4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443770" y="6909933"/>
              <a:ext cx="7152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x 10</a:t>
              </a:r>
              <a:r>
                <a:rPr baseline="30000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-4</a:t>
              </a:r>
              <a:endParaRPr/>
            </a:p>
          </p:txBody>
        </p:sp>
      </p:grpSp>
      <p:graphicFrame>
        <p:nvGraphicFramePr>
          <p:cNvPr id="330" name="Google Shape;330;p23"/>
          <p:cNvGraphicFramePr/>
          <p:nvPr/>
        </p:nvGraphicFramePr>
        <p:xfrm>
          <a:off x="308184" y="4150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{7706EB79-35E5-4456-9FD7-3BDAC3DFCF56}</a:tableStyleId>
              </a:tblPr>
              <a:tblGrid>
                <a:gridCol w="3120825"/>
                <a:gridCol w="3120825"/>
              </a:tblGrid>
              <a:tr h="308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 Check</a:t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  <a:tc hMerge="1"/>
              </a:tr>
              <a:tr h="173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 Calculate: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2. Calculate: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3. Calculate: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4. 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1" name="Google Shape;331;p23"/>
          <p:cNvPicPr preferRelativeResize="0"/>
          <p:nvPr/>
        </p:nvPicPr>
        <p:blipFill rotWithShape="1">
          <a:blip r:embed="rId8">
            <a:alphaModFix/>
          </a:blip>
          <a:srcRect b="0" l="4907" r="0" t="52680"/>
          <a:stretch/>
        </p:blipFill>
        <p:spPr>
          <a:xfrm>
            <a:off x="3465721" y="7841324"/>
            <a:ext cx="3044108" cy="657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3"/>
          <p:cNvPicPr preferRelativeResize="0"/>
          <p:nvPr/>
        </p:nvPicPr>
        <p:blipFill rotWithShape="1">
          <a:blip r:embed="rId8">
            <a:alphaModFix/>
          </a:blip>
          <a:srcRect b="71983" l="20127" r="16220" t="0"/>
          <a:stretch/>
        </p:blipFill>
        <p:spPr>
          <a:xfrm>
            <a:off x="3683830" y="7183557"/>
            <a:ext cx="2640179" cy="499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789" y="7183557"/>
            <a:ext cx="2211216" cy="657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1613" y="7841324"/>
            <a:ext cx="2930679" cy="657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83830" y="4841269"/>
            <a:ext cx="2640179" cy="33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65722" y="5489392"/>
            <a:ext cx="3076398" cy="589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6091" y="4841269"/>
            <a:ext cx="2069914" cy="268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0752" y="5498854"/>
            <a:ext cx="2970666" cy="54865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/>
          <p:nvPr/>
        </p:nvSpPr>
        <p:spPr>
          <a:xfrm>
            <a:off x="308184" y="5489392"/>
            <a:ext cx="658979" cy="65776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4987775" y="5467138"/>
            <a:ext cx="658979" cy="65776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1111418" y="7795881"/>
            <a:ext cx="658979" cy="65776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425734" y="7824969"/>
            <a:ext cx="658979" cy="65776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