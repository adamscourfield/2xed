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6711C8-0892-4BBA-B547-494E61B7D9C4}">
  <a:tblStyle styleId="{FE6711C8-0892-4BBA-B547-494E61B7D9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359846" y="954114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6040" y="316303"/>
            <a:ext cx="6644296" cy="1368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58000" cy="2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N2.3 – Using Commutative and Associative Laws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3374" y="626932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9617" y="815875"/>
            <a:ext cx="46679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rewrite addition using the commutative law.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work out a calculation using the commutative law.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the associative law for addition to make a calculation easier.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55135" y="348690"/>
            <a:ext cx="6494970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work use commutative and associative laws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451439" y="652249"/>
            <a:ext cx="1201034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Commutative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Associative</a:t>
            </a:r>
            <a:endParaRPr/>
          </a:p>
        </p:txBody>
      </p:sp>
      <p:cxnSp>
        <p:nvCxnSpPr>
          <p:cNvPr id="96" name="Google Shape;96;p13"/>
          <p:cNvCxnSpPr/>
          <p:nvPr/>
        </p:nvCxnSpPr>
        <p:spPr>
          <a:xfrm flipH="1" rot="10800000">
            <a:off x="949250" y="4464291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/>
          <p:nvPr/>
        </p:nvSpPr>
        <p:spPr>
          <a:xfrm>
            <a:off x="106200" y="2716441"/>
            <a:ext cx="6634237" cy="184981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3"/>
          <p:cNvCxnSpPr/>
          <p:nvPr/>
        </p:nvCxnSpPr>
        <p:spPr>
          <a:xfrm>
            <a:off x="106200" y="3613331"/>
            <a:ext cx="66342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>
            <a:stCxn id="97" idx="2"/>
            <a:endCxn id="97" idx="0"/>
          </p:cNvCxnSpPr>
          <p:nvPr/>
        </p:nvCxnSpPr>
        <p:spPr>
          <a:xfrm rot="10800000">
            <a:off x="3423318" y="2716452"/>
            <a:ext cx="0" cy="184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90484" y="2708368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681561" y="2676890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83534" y="3593011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624199" y="3576566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93507" y="2915793"/>
            <a:ext cx="3340512" cy="676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law of arithmetic that states that if two numbers are subject to certain operations, then the order of the numbers doesn’t affect the result.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419543" y="2664813"/>
            <a:ext cx="323033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∙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applies to addition and multiplication for numbers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∙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to be same operation throughout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2537127" y="3460395"/>
            <a:ext cx="187506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Commutative Law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90484" y="3783504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+ 8 = 8 + 7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× 8 = 8 ×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+ 8 + 9 = 7 + 9 + 8 = 8 + 7 + 9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× 8 × 9 = 9 × 8 × 7 = 8 × 9 ×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459128" y="3880349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÷ 8 ≠ 8 ÷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– 8 ≠ 8 –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7 × 8 + 9 ≠ 7 × 9 + 8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" name="Google Shape;109;p13"/>
          <p:cNvGraphicFramePr/>
          <p:nvPr/>
        </p:nvGraphicFramePr>
        <p:xfrm>
          <a:off x="103667" y="50493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963500"/>
                <a:gridCol w="1773350"/>
                <a:gridCol w="1917825"/>
                <a:gridCol w="1917825"/>
              </a:tblGrid>
              <a:tr h="165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Using the bar model, identify if the following statements are true or false.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497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Does the question only contain addition?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 + 18 = 22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18 + 4 = 22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18 - 4 = 22 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4 - 18 = 22 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26 + 11 = 37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26 - 11 = 37 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11 + 26 = 37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11 - 26 = 37 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15 - 11 = 26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15 + 11 = 26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11 + 15 = 26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11 - 15 = 26 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Does the question contain the same operation throughout?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10" name="Google Shape;110;p13"/>
          <p:cNvSpPr txBox="1"/>
          <p:nvPr/>
        </p:nvSpPr>
        <p:spPr>
          <a:xfrm>
            <a:off x="1267207" y="480942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5030799" y="480942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054041" y="480942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103840" y="4605144"/>
            <a:ext cx="2405102" cy="25289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Commutative law for addition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3"/>
          <p:cNvGrpSpPr/>
          <p:nvPr/>
        </p:nvGrpSpPr>
        <p:grpSpPr>
          <a:xfrm>
            <a:off x="1267660" y="5384976"/>
            <a:ext cx="1406607" cy="764171"/>
            <a:chOff x="60434" y="4991469"/>
            <a:chExt cx="2147856" cy="585005"/>
          </a:xfrm>
        </p:grpSpPr>
        <p:sp>
          <p:nvSpPr>
            <p:cNvPr id="115" name="Google Shape;115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60436" y="5280836"/>
              <a:ext cx="56413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624572" y="5281001"/>
              <a:ext cx="158371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3"/>
          <p:cNvGrpSpPr/>
          <p:nvPr/>
        </p:nvGrpSpPr>
        <p:grpSpPr>
          <a:xfrm>
            <a:off x="3129594" y="5384976"/>
            <a:ext cx="1406607" cy="764171"/>
            <a:chOff x="60434" y="4991469"/>
            <a:chExt cx="2147856" cy="585005"/>
          </a:xfrm>
        </p:grpSpPr>
        <p:sp>
          <p:nvSpPr>
            <p:cNvPr id="119" name="Google Shape;119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60436" y="5280836"/>
              <a:ext cx="79781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858247" y="5281001"/>
              <a:ext cx="135004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3"/>
          <p:cNvGrpSpPr/>
          <p:nvPr/>
        </p:nvGrpSpPr>
        <p:grpSpPr>
          <a:xfrm>
            <a:off x="5058679" y="5380880"/>
            <a:ext cx="1406607" cy="764171"/>
            <a:chOff x="60434" y="4991469"/>
            <a:chExt cx="2147856" cy="585005"/>
          </a:xfrm>
        </p:grpSpPr>
        <p:sp>
          <p:nvSpPr>
            <p:cNvPr id="123" name="Google Shape;123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60436" y="5280836"/>
              <a:ext cx="119258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1253016" y="5281001"/>
              <a:ext cx="95527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>
            <a:off x="90484" y="1717112"/>
            <a:ext cx="6658119" cy="97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maths, certain properties help us understand how numbers behave when we perform operations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as addition and multiplication. Two important properties are the commutative property and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associative property. These properties apply specifically to addition and multiplication and can help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simplify calculations and solve problems more efficiently.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90484" y="7569260"/>
            <a:ext cx="1777771" cy="19901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1865660" y="7584945"/>
            <a:ext cx="459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Identify if the following statements are true or false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97761" y="7783958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459053" y="7818189"/>
            <a:ext cx="1406607" cy="764174"/>
            <a:chOff x="60434" y="4991467"/>
            <a:chExt cx="2147856" cy="585007"/>
          </a:xfrm>
        </p:grpSpPr>
        <p:sp>
          <p:nvSpPr>
            <p:cNvPr id="131" name="Google Shape;131;p13"/>
            <p:cNvSpPr/>
            <p:nvPr/>
          </p:nvSpPr>
          <p:spPr>
            <a:xfrm>
              <a:off x="60434" y="4991467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60436" y="5280836"/>
              <a:ext cx="56413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624572" y="5281001"/>
              <a:ext cx="158371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3"/>
          <p:cNvSpPr txBox="1"/>
          <p:nvPr/>
        </p:nvSpPr>
        <p:spPr>
          <a:xfrm>
            <a:off x="1972042" y="7783958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4563762" y="7820962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13"/>
          <p:cNvGrpSpPr/>
          <p:nvPr/>
        </p:nvGrpSpPr>
        <p:grpSpPr>
          <a:xfrm>
            <a:off x="2717095" y="7818189"/>
            <a:ext cx="1406607" cy="764171"/>
            <a:chOff x="60434" y="4991469"/>
            <a:chExt cx="2147856" cy="585005"/>
          </a:xfrm>
        </p:grpSpPr>
        <p:sp>
          <p:nvSpPr>
            <p:cNvPr id="137" name="Google Shape;137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60436" y="5280836"/>
              <a:ext cx="136195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1422386" y="5281001"/>
              <a:ext cx="78590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5029840" y="7808029"/>
            <a:ext cx="1406607" cy="764171"/>
            <a:chOff x="60434" y="4991469"/>
            <a:chExt cx="2147856" cy="585005"/>
          </a:xfrm>
        </p:grpSpPr>
        <p:sp>
          <p:nvSpPr>
            <p:cNvPr id="141" name="Google Shape;141;p1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1045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60436" y="5280836"/>
              <a:ext cx="69813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758569" y="5281001"/>
              <a:ext cx="144972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900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13"/>
          <p:cNvSpPr txBox="1"/>
          <p:nvPr/>
        </p:nvSpPr>
        <p:spPr>
          <a:xfrm>
            <a:off x="308685" y="8564199"/>
            <a:ext cx="1675158" cy="127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12 - 33 = 45   true/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+ 33 = 45   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true/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 + 12 = 45   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true/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33 - 12 = 45   true/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2648680" y="8542706"/>
            <a:ext cx="1675158" cy="127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 + 28 = 93   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 + 65 = 93   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65 - 28 = 93   true/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28 - 65 = 93   true/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4916953" y="8542706"/>
            <a:ext cx="1985943" cy="127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900 + 145 = 1045 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 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900 - 145 = 1045   true/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 false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145 + 900 = 1045 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 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145 - 900 = 1045   true/</a:t>
            </a:r>
            <a:r>
              <a:rPr lang="en-GB" sz="11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 false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idx="12" type="sldNum"/>
          </p:nvPr>
        </p:nvSpPr>
        <p:spPr>
          <a:xfrm>
            <a:off x="5314950" y="94512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158243" y="67266"/>
            <a:ext cx="459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Look at the examples and at the question 1. What do you notice?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122149" y="371267"/>
            <a:ext cx="6572477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------------------------------------------------------------------------------------------------------------------------------------------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------------------------------------------------------------------------------------------------------------------------------------------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14"/>
          <p:cNvGraphicFramePr/>
          <p:nvPr/>
        </p:nvGraphicFramePr>
        <p:xfrm>
          <a:off x="122149" y="16960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1005600"/>
                <a:gridCol w="1855625"/>
                <a:gridCol w="1855625"/>
                <a:gridCol w="1855625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Can a commutative law be applied to the following? If the answer is yes, re-write the question using the commutative law. Do not calculate any answers!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7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Does the question only contain addition?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156 + 78 </a:t>
                      </a: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=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78 + 156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78 + 5.6 </a:t>
                      </a: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= 5.6 + 78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178 - 56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120 – 85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120 + 85 </a:t>
                      </a: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=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85 + 120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120 ÷ 8.5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85 -12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57 – 12.8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12.8 + 5.7  </a:t>
                      </a: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=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5.7 + 12.8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128 ÷ 5.7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If yes, rewrite the question using the commutative law.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56" name="Google Shape;156;p14"/>
          <p:cNvSpPr txBox="1"/>
          <p:nvPr/>
        </p:nvSpPr>
        <p:spPr>
          <a:xfrm>
            <a:off x="1451835" y="144277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5128016" y="144397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3254225" y="143684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122149" y="438013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1260103" y="4530428"/>
            <a:ext cx="57028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If possible, rewrite the questions below using the commutative law for addition.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35362" y="4655689"/>
            <a:ext cx="6872477" cy="34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a) 76 + 12 				b) 76 – 12			              c) 76 ÷ 12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220723" y="4987616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2550267" y="4956266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4879811" y="4956266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35361" y="5489567"/>
            <a:ext cx="7580351" cy="34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d) 76 – 138				e) 76 + 138		                          	f) 138 + 76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252305" y="5821243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2568086" y="5821243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4897630" y="5821243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39197" y="6343656"/>
            <a:ext cx="5968672" cy="2833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7.6 + 15				h) 17.6 + 15		              	i) 17.6 – 15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128 – 46				k) 128 + 46			             l) 128 ÷ 46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128 + 456				n) 0.128 + 0.456		            o) 0.128 – 0.546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1.2 + 0.01				q) A + B		                         r) A - B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44751" y="369437"/>
            <a:ext cx="65928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Adding the 2 bottom numbers together equals the top number, the order doesn’t affect the result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203824" y="5074453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+ 76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2602013" y="5904790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138 + 76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4945086" y="5926534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76 + 138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235566" y="6835611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+ 7.6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2602013" y="6818398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+ 17.6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2602013" y="7576715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 + 128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235566" y="8438859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456 + 128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2602013" y="8421646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0.456 + 0.128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235566" y="9283789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0.01 + 1.2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2602013" y="9266576"/>
            <a:ext cx="1581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+ A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190071" y="6723987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215154" y="7547000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2564863" y="7541916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4774653" y="7541916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215154" y="8370013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2564863" y="8364929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4774653" y="8364929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215154" y="9193026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2564863" y="9187942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4774653" y="9187942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4775529" y="6709943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2544049" y="6676939"/>
            <a:ext cx="1581867" cy="5314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/>
          <p:nvPr/>
        </p:nvSpPr>
        <p:spPr>
          <a:xfrm>
            <a:off x="1784965" y="4673920"/>
            <a:ext cx="1132764" cy="3400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3805094" y="4663179"/>
            <a:ext cx="1132764" cy="3400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5496757" y="4684645"/>
            <a:ext cx="1132764" cy="3400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>
            <p:ph idx="12" type="sldNum"/>
          </p:nvPr>
        </p:nvSpPr>
        <p:spPr>
          <a:xfrm>
            <a:off x="5302428" y="944129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01" name="Google Shape;201;p15"/>
          <p:cNvGraphicFramePr/>
          <p:nvPr/>
        </p:nvGraphicFramePr>
        <p:xfrm>
          <a:off x="110219" y="708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1779550"/>
                <a:gridCol w="1597650"/>
                <a:gridCol w="1597650"/>
                <a:gridCol w="1597650"/>
              </a:tblGrid>
              <a:tr h="15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If 27 + 89 = 116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89 + 27 =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If 87 + 36 = 123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36 + 87 =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If 35 + 98 = 133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98 + 35 =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Check if a commutative law can be applied.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FF0000"/>
                          </a:solidFill>
                        </a:rPr>
                        <a:t>116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FF0000"/>
                          </a:solidFill>
                        </a:rPr>
                        <a:t>123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FF0000"/>
                          </a:solidFill>
                        </a:rPr>
                        <a:t>133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Use the commutative law to work out the answer.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02" name="Google Shape;202;p15"/>
          <p:cNvSpPr txBox="1"/>
          <p:nvPr/>
        </p:nvSpPr>
        <p:spPr>
          <a:xfrm>
            <a:off x="2079769" y="46918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5174453" y="46470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3575711" y="46847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154629" y="186678"/>
            <a:ext cx="3703320" cy="2918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the commutative law to work out calculations.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94869" y="217113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1204109" y="2296406"/>
            <a:ext cx="46098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Use commutative law to work out the answer to these calculations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0" y="5509602"/>
            <a:ext cx="6399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James says that because he knows 303 + 58 =  361, then 361 + 58 = 303. Is he correct? How do you know?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15"/>
          <p:cNvGraphicFramePr/>
          <p:nvPr/>
        </p:nvGraphicFramePr>
        <p:xfrm>
          <a:off x="128531" y="59896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6506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15"/>
          <p:cNvSpPr/>
          <p:nvPr/>
        </p:nvSpPr>
        <p:spPr>
          <a:xfrm>
            <a:off x="94401" y="6942112"/>
            <a:ext cx="6305023" cy="15167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n) Eva is wrong. Explain why.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716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15"/>
          <p:cNvGrpSpPr/>
          <p:nvPr/>
        </p:nvGrpSpPr>
        <p:grpSpPr>
          <a:xfrm>
            <a:off x="2804523" y="6733631"/>
            <a:ext cx="3843797" cy="973383"/>
            <a:chOff x="3060677" y="6743406"/>
            <a:chExt cx="3843797" cy="973383"/>
          </a:xfrm>
        </p:grpSpPr>
        <p:pic>
          <p:nvPicPr>
            <p:cNvPr id="212" name="Google Shape;21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60677" y="6743406"/>
              <a:ext cx="3843797" cy="9733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15"/>
            <p:cNvSpPr/>
            <p:nvPr/>
          </p:nvSpPr>
          <p:spPr>
            <a:xfrm>
              <a:off x="3885912" y="6904870"/>
              <a:ext cx="1943100" cy="68245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60-20 = 40 so that means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20-60 = 40 too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14" name="Google Shape;214;p15"/>
          <p:cNvGraphicFramePr/>
          <p:nvPr/>
        </p:nvGraphicFramePr>
        <p:xfrm>
          <a:off x="118371" y="77608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6517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5"/>
          <p:cNvSpPr/>
          <p:nvPr/>
        </p:nvSpPr>
        <p:spPr>
          <a:xfrm>
            <a:off x="13522" y="2566440"/>
            <a:ext cx="11547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a) 63 + 23 = 86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23 + 63 = ?</a:t>
            </a: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107326" y="2989575"/>
            <a:ext cx="1132764" cy="3400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1811662" y="2989575"/>
            <a:ext cx="1132764" cy="3400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5506421" y="2989657"/>
            <a:ext cx="1132764" cy="3400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105787" y="3814435"/>
            <a:ext cx="1132764" cy="3400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3806561" y="2989575"/>
            <a:ext cx="1132764" cy="3400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1807518" y="3816600"/>
            <a:ext cx="1132764" cy="3400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3668805" y="2554995"/>
            <a:ext cx="12984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c) 132 + 83 = 215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83 + 132 = ?</a:t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1645175" y="2574411"/>
            <a:ext cx="1391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b) 103 + 34 = 137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34 + 103 = ?</a:t>
            </a:r>
            <a:endParaRPr/>
          </a:p>
        </p:txBody>
      </p:sp>
      <p:sp>
        <p:nvSpPr>
          <p:cNvPr id="224" name="Google Shape;224;p15"/>
          <p:cNvSpPr/>
          <p:nvPr/>
        </p:nvSpPr>
        <p:spPr>
          <a:xfrm>
            <a:off x="5229545" y="2593923"/>
            <a:ext cx="16240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d) 1632 + 723 = 2346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723 + 1632 = ?</a:t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-35243" y="3373234"/>
            <a:ext cx="18945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e) 3257 + 7777 = 11,034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7777 + 3257 = ?</a:t>
            </a:r>
            <a:endParaRPr/>
          </a:p>
        </p:txBody>
      </p:sp>
      <p:grpSp>
        <p:nvGrpSpPr>
          <p:cNvPr id="226" name="Google Shape;226;p15"/>
          <p:cNvGrpSpPr/>
          <p:nvPr/>
        </p:nvGrpSpPr>
        <p:grpSpPr>
          <a:xfrm>
            <a:off x="-7032" y="3404631"/>
            <a:ext cx="6750381" cy="1615287"/>
            <a:chOff x="6199533" y="6480711"/>
            <a:chExt cx="6750381" cy="1615287"/>
          </a:xfrm>
        </p:grpSpPr>
        <p:sp>
          <p:nvSpPr>
            <p:cNvPr id="227" name="Google Shape;227;p15"/>
            <p:cNvSpPr/>
            <p:nvPr/>
          </p:nvSpPr>
          <p:spPr>
            <a:xfrm>
              <a:off x="10017724" y="6872121"/>
              <a:ext cx="1132764" cy="3400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1703322" y="6882709"/>
              <a:ext cx="1132764" cy="3400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6337289" y="7755941"/>
              <a:ext cx="1132764" cy="3400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11446664" y="6480711"/>
              <a:ext cx="150325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h) 0.8 + 1.4 = 2.2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1.4 + 0.8  = ? </a:t>
              </a: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9861085" y="6480711"/>
              <a:ext cx="133135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g) 6.3 + 2.3 = 8.6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2.3 + 6.3 = ?</a:t>
              </a: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6199533" y="7344481"/>
              <a:ext cx="17142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i) 101.8 + 0.3 =  102.1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0.3 + 101.8 = ?</a:t>
              </a:r>
              <a:endParaRPr/>
            </a:p>
          </p:txBody>
        </p:sp>
      </p:grpSp>
      <p:sp>
        <p:nvSpPr>
          <p:cNvPr id="233" name="Google Shape;233;p15"/>
          <p:cNvSpPr/>
          <p:nvPr/>
        </p:nvSpPr>
        <p:spPr>
          <a:xfrm>
            <a:off x="1635993" y="3381205"/>
            <a:ext cx="21705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f) 103,522 + 97,000 = 200,522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97,000 + 103,522 = ?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77697" y="2994858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86</a:t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1906056" y="3023404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137</a:t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5476181" y="2966062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2346</a:t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83944" y="3803658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11034</a:t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4092258" y="2994858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215</a:t>
            </a:r>
            <a:endParaRPr/>
          </a:p>
        </p:txBody>
      </p:sp>
      <p:sp>
        <p:nvSpPr>
          <p:cNvPr id="239" name="Google Shape;239;p15"/>
          <p:cNvSpPr/>
          <p:nvPr/>
        </p:nvSpPr>
        <p:spPr>
          <a:xfrm>
            <a:off x="1766161" y="3835494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200522</a:t>
            </a: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3761041" y="3807073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8.6</a:t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5529820" y="3809735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2.2</a:t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154764" y="4676495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102.1</a:t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1809005" y="4704245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3775586" y="4676494"/>
            <a:ext cx="1132764" cy="340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5441327" y="4676494"/>
            <a:ext cx="1200457" cy="3385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1429" l="0" r="0" t="-53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3699842" y="4246899"/>
            <a:ext cx="15032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k) x + y = 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y + x = ?</a:t>
            </a: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1784965" y="4262645"/>
            <a:ext cx="13313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j) a + b =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b + a = ?</a:t>
            </a:r>
            <a:endParaRPr/>
          </a:p>
        </p:txBody>
      </p:sp>
      <p:sp>
        <p:nvSpPr>
          <p:cNvPr id="248" name="Google Shape;248;p15"/>
          <p:cNvSpPr/>
          <p:nvPr/>
        </p:nvSpPr>
        <p:spPr>
          <a:xfrm>
            <a:off x="5448939" y="4246899"/>
            <a:ext cx="1714234" cy="46583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05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220650" y="6058361"/>
            <a:ext cx="5051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Yes, because the numbers are being added so the commutative law applies.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>
            <p:ph idx="12" type="sldNum"/>
          </p:nvPr>
        </p:nvSpPr>
        <p:spPr>
          <a:xfrm>
            <a:off x="5252544" y="932663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55" name="Google Shape;255;p16"/>
          <p:cNvCxnSpPr/>
          <p:nvPr/>
        </p:nvCxnSpPr>
        <p:spPr>
          <a:xfrm flipH="1" rot="10800000">
            <a:off x="934071" y="209700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6" name="Google Shape;256;p16"/>
          <p:cNvSpPr/>
          <p:nvPr/>
        </p:nvSpPr>
        <p:spPr>
          <a:xfrm>
            <a:off x="79390" y="166412"/>
            <a:ext cx="6699219" cy="24592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6"/>
          <p:cNvCxnSpPr>
            <a:stCxn id="256" idx="1"/>
            <a:endCxn id="256" idx="3"/>
          </p:cNvCxnSpPr>
          <p:nvPr/>
        </p:nvCxnSpPr>
        <p:spPr>
          <a:xfrm>
            <a:off x="79390" y="1396054"/>
            <a:ext cx="6699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8" name="Google Shape;258;p16"/>
          <p:cNvCxnSpPr>
            <a:stCxn id="256" idx="2"/>
            <a:endCxn id="256" idx="0"/>
          </p:cNvCxnSpPr>
          <p:nvPr/>
        </p:nvCxnSpPr>
        <p:spPr>
          <a:xfrm rot="10800000">
            <a:off x="3429000" y="166296"/>
            <a:ext cx="0" cy="245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p16"/>
          <p:cNvSpPr txBox="1"/>
          <p:nvPr/>
        </p:nvSpPr>
        <p:spPr>
          <a:xfrm>
            <a:off x="97145" y="166411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5621196" y="134025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 txBox="1"/>
          <p:nvPr/>
        </p:nvSpPr>
        <p:spPr>
          <a:xfrm>
            <a:off x="112292" y="1424419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5549709" y="1400038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139028" y="381447"/>
            <a:ext cx="323033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law of arithmetic that states that if three or more numbers are subject to the same operation, then the order that you apply the operations to the numbers doesn’t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affect the result.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3404844" y="186855"/>
            <a:ext cx="3230335" cy="1054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∙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applies to addition and multiplication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∙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to include 3 or more numbers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∙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to be the same operation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2502247" y="1256138"/>
            <a:ext cx="165026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Associative Law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125669" y="1717802"/>
            <a:ext cx="3230335" cy="91307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9" r="0" t="-6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3474851" y="1695695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– 3 – 2 ≠ 10 – 1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3 + 2 × 5 ≠ 5 ×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10 ÷ 2 + 3 ≠ 10 ÷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556248" y="297501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4989848" y="295573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2727102" y="296581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83430" y="2712360"/>
            <a:ext cx="2352237" cy="2567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Associative law for addition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2" name="Google Shape;272;p16"/>
          <p:cNvGraphicFramePr/>
          <p:nvPr/>
        </p:nvGraphicFramePr>
        <p:xfrm>
          <a:off x="123763" y="32096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2196725"/>
                <a:gridCol w="2238975"/>
                <a:gridCol w="2214625"/>
              </a:tblGrid>
              <a:tr h="252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Using the bar model, identify if the following statements are true or false.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33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 + 3 + 6 + 7 = 20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 + 6 + 3 + 7 = 20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 – 3 – 6 + 7 = 20 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 + 7 + 3 + 6 = 20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1 - 3 + 6 - 7 = 20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 + 9 + 3 + 7 = 20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1 - 9 + 3 + 7 = 20 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 + 3 + 7 + 9 = 20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9 + 2 + 1 + 8 = 20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9 - 2 + 1 + 8 = 20    true/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 + 9 + 2 + 8 = 20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9 + 1 + 8 + 2 = 20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true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/false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73" name="Google Shape;273;p16"/>
          <p:cNvGrpSpPr/>
          <p:nvPr/>
        </p:nvGrpSpPr>
        <p:grpSpPr>
          <a:xfrm>
            <a:off x="367998" y="3547919"/>
            <a:ext cx="1551263" cy="764171"/>
            <a:chOff x="1070658" y="1260401"/>
            <a:chExt cx="1551263" cy="764171"/>
          </a:xfrm>
        </p:grpSpPr>
        <p:sp>
          <p:nvSpPr>
            <p:cNvPr id="274" name="Google Shape;274;p16"/>
            <p:cNvSpPr/>
            <p:nvPr/>
          </p:nvSpPr>
          <p:spPr>
            <a:xfrm>
              <a:off x="1070658" y="1260401"/>
              <a:ext cx="1551263" cy="3779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070658" y="1638391"/>
              <a:ext cx="376501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2258022" y="1638606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1449020" y="1638391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1812919" y="1638391"/>
              <a:ext cx="445102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6"/>
          <p:cNvGrpSpPr/>
          <p:nvPr/>
        </p:nvGrpSpPr>
        <p:grpSpPr>
          <a:xfrm>
            <a:off x="2701943" y="3543823"/>
            <a:ext cx="1551263" cy="764171"/>
            <a:chOff x="1070658" y="1260401"/>
            <a:chExt cx="1551263" cy="764171"/>
          </a:xfrm>
        </p:grpSpPr>
        <p:sp>
          <p:nvSpPr>
            <p:cNvPr id="280" name="Google Shape;280;p16"/>
            <p:cNvSpPr/>
            <p:nvPr/>
          </p:nvSpPr>
          <p:spPr>
            <a:xfrm>
              <a:off x="1070658" y="1260401"/>
              <a:ext cx="1551263" cy="3779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1070658" y="1638391"/>
              <a:ext cx="376501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2258022" y="1638606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1449020" y="1638391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1812919" y="1638391"/>
              <a:ext cx="445102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6"/>
          <p:cNvGrpSpPr/>
          <p:nvPr/>
        </p:nvGrpSpPr>
        <p:grpSpPr>
          <a:xfrm>
            <a:off x="4919953" y="3539727"/>
            <a:ext cx="1551263" cy="764171"/>
            <a:chOff x="1070658" y="1260401"/>
            <a:chExt cx="1551263" cy="764171"/>
          </a:xfrm>
        </p:grpSpPr>
        <p:sp>
          <p:nvSpPr>
            <p:cNvPr id="286" name="Google Shape;286;p16"/>
            <p:cNvSpPr/>
            <p:nvPr/>
          </p:nvSpPr>
          <p:spPr>
            <a:xfrm>
              <a:off x="1070658" y="1260401"/>
              <a:ext cx="1551263" cy="3779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1070658" y="1638391"/>
              <a:ext cx="376501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2258022" y="1638606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1449020" y="1638391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1812919" y="1638391"/>
              <a:ext cx="445102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16"/>
          <p:cNvSpPr/>
          <p:nvPr/>
        </p:nvSpPr>
        <p:spPr>
          <a:xfrm>
            <a:off x="122452" y="5868144"/>
            <a:ext cx="1551262" cy="25039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1670981" y="5892798"/>
            <a:ext cx="459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Identify if the following statements are true or false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20037" y="6080518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 txBox="1"/>
          <p:nvPr/>
        </p:nvSpPr>
        <p:spPr>
          <a:xfrm>
            <a:off x="2385716" y="6104280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4804751" y="6106360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" name="Google Shape;296;p16"/>
          <p:cNvGrpSpPr/>
          <p:nvPr/>
        </p:nvGrpSpPr>
        <p:grpSpPr>
          <a:xfrm>
            <a:off x="294060" y="6231764"/>
            <a:ext cx="1551263" cy="764171"/>
            <a:chOff x="1070658" y="1260401"/>
            <a:chExt cx="1551263" cy="764171"/>
          </a:xfrm>
        </p:grpSpPr>
        <p:sp>
          <p:nvSpPr>
            <p:cNvPr id="297" name="Google Shape;297;p16"/>
            <p:cNvSpPr/>
            <p:nvPr/>
          </p:nvSpPr>
          <p:spPr>
            <a:xfrm>
              <a:off x="1070658" y="1260401"/>
              <a:ext cx="1551263" cy="3779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1070658" y="1638391"/>
              <a:ext cx="376501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2258022" y="1638606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447160" y="1638391"/>
              <a:ext cx="365760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812919" y="1638391"/>
              <a:ext cx="445102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6"/>
          <p:cNvGrpSpPr/>
          <p:nvPr/>
        </p:nvGrpSpPr>
        <p:grpSpPr>
          <a:xfrm>
            <a:off x="2656186" y="6249584"/>
            <a:ext cx="1551263" cy="764171"/>
            <a:chOff x="1070658" y="1260401"/>
            <a:chExt cx="1551263" cy="764171"/>
          </a:xfrm>
        </p:grpSpPr>
        <p:sp>
          <p:nvSpPr>
            <p:cNvPr id="303" name="Google Shape;303;p16"/>
            <p:cNvSpPr/>
            <p:nvPr/>
          </p:nvSpPr>
          <p:spPr>
            <a:xfrm>
              <a:off x="1070658" y="1260401"/>
              <a:ext cx="1551263" cy="3779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1070658" y="1638391"/>
              <a:ext cx="376501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2258022" y="1638606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1449020" y="1638391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1812919" y="1638391"/>
              <a:ext cx="445102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6"/>
          <p:cNvGrpSpPr/>
          <p:nvPr/>
        </p:nvGrpSpPr>
        <p:grpSpPr>
          <a:xfrm>
            <a:off x="5109643" y="6249584"/>
            <a:ext cx="1551263" cy="764171"/>
            <a:chOff x="1070658" y="1260401"/>
            <a:chExt cx="1551263" cy="764171"/>
          </a:xfrm>
        </p:grpSpPr>
        <p:sp>
          <p:nvSpPr>
            <p:cNvPr id="309" name="Google Shape;309;p16"/>
            <p:cNvSpPr/>
            <p:nvPr/>
          </p:nvSpPr>
          <p:spPr>
            <a:xfrm>
              <a:off x="1070658" y="1260401"/>
              <a:ext cx="1551263" cy="3779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1070658" y="1638391"/>
              <a:ext cx="376501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2258022" y="1638606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1449020" y="1638391"/>
              <a:ext cx="363899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1812919" y="1638391"/>
              <a:ext cx="445102" cy="3859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16"/>
          <p:cNvSpPr/>
          <p:nvPr/>
        </p:nvSpPr>
        <p:spPr>
          <a:xfrm>
            <a:off x="43783" y="8498296"/>
            <a:ext cx="459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Look at the examples and at the question 5. What do you notice?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5" name="Google Shape;315;p16"/>
          <p:cNvGraphicFramePr/>
          <p:nvPr/>
        </p:nvGraphicFramePr>
        <p:xfrm>
          <a:off x="130022" y="8754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659795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16"/>
          <p:cNvSpPr txBox="1"/>
          <p:nvPr/>
        </p:nvSpPr>
        <p:spPr>
          <a:xfrm>
            <a:off x="124239" y="7050367"/>
            <a:ext cx="223436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+ 23 + 6 + 7 = 40   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4 - 6 + 23 + 7 = 40    true/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– 23 – 6 + 7 = 40    true/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+ 6 + 23 + 7 = 40    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2214310" y="7058868"/>
            <a:ext cx="215692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+ 25 + 7 - 5 = 50   true/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+ 25 + 7 + 5 = 50    true/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+ 25 + 7 + 13 = 50    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+ 7 + 5 + 25 = 50    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</p:txBody>
      </p:sp>
      <p:sp>
        <p:nvSpPr>
          <p:cNvPr id="318" name="Google Shape;318;p16"/>
          <p:cNvSpPr txBox="1"/>
          <p:nvPr/>
        </p:nvSpPr>
        <p:spPr>
          <a:xfrm>
            <a:off x="4429593" y="7050367"/>
            <a:ext cx="229260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+ 42 + 36 + 8 = 100   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+ 42 - 36 - 8 = 100   true/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36 - 8 + 14 + 42 = 100   true/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 + 8 + 14 + 36 = 100   </a:t>
            </a:r>
            <a:r>
              <a:rPr lang="en-GB" sz="12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/false</a:t>
            </a:r>
            <a:endParaRPr/>
          </a:p>
        </p:txBody>
      </p:sp>
      <p:sp>
        <p:nvSpPr>
          <p:cNvPr id="319" name="Google Shape;319;p16"/>
          <p:cNvSpPr txBox="1"/>
          <p:nvPr/>
        </p:nvSpPr>
        <p:spPr>
          <a:xfrm>
            <a:off x="198499" y="8771055"/>
            <a:ext cx="63998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all the smaller numbers are added they equal the large number at the top of the bar model. The order doesn’t affect the result.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"/>
          <p:cNvSpPr txBox="1"/>
          <p:nvPr>
            <p:ph idx="12" type="sldNum"/>
          </p:nvPr>
        </p:nvSpPr>
        <p:spPr>
          <a:xfrm>
            <a:off x="5245534" y="946611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25" name="Google Shape;325;p17"/>
          <p:cNvGraphicFramePr/>
          <p:nvPr/>
        </p:nvGraphicFramePr>
        <p:xfrm>
          <a:off x="142761" y="7206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1123800"/>
                <a:gridCol w="1816225"/>
                <a:gridCol w="1816225"/>
                <a:gridCol w="1816225"/>
              </a:tblGrid>
              <a:tr h="40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Make this calculation easier and complete the calculation…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Make this calculation easier and complete the calculation…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Make this calculation easier and complete the calculation…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6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Think about number bonds.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133 + 29 + 1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133 + 30 = 163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63 + 28 + 7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70 + 28 = 98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112 + 43 + 7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112 + 50 = 162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112 + 8 + 45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120 + 45 = 165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Put the brackets to change the order.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326" name="Google Shape;326;p17"/>
          <p:cNvSpPr txBox="1"/>
          <p:nvPr/>
        </p:nvSpPr>
        <p:spPr>
          <a:xfrm>
            <a:off x="1492977" y="47322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327" name="Google Shape;327;p17"/>
          <p:cNvSpPr txBox="1"/>
          <p:nvPr/>
        </p:nvSpPr>
        <p:spPr>
          <a:xfrm>
            <a:off x="4991335" y="46521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328" name="Google Shape;328;p17"/>
          <p:cNvSpPr txBox="1"/>
          <p:nvPr/>
        </p:nvSpPr>
        <p:spPr>
          <a:xfrm>
            <a:off x="3186724" y="47667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152106" y="195864"/>
            <a:ext cx="3331554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the associative law to work out calculations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1244655" y="2885954"/>
            <a:ext cx="53017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Use the associative law to make these calculations easier and then complete the calculations.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32601" y="2885954"/>
            <a:ext cx="1112054" cy="381565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304506" y="3316967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a) 3 + 7 + 35</a:t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1809799" y="3316967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b) 13 + 6 + 4</a:t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3383271" y="3323358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c) 23 + 7 + 17</a:t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4849178" y="3329749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d) 58 + 2 + 27</a:t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401843" y="3567294"/>
            <a:ext cx="1350292" cy="920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1945847" y="3571150"/>
            <a:ext cx="1350292" cy="9168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4879219" y="4604155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h) 123 + 7 + 14</a:t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285001" y="5937416"/>
            <a:ext cx="2027394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i) 205 + 5 + 32</a:t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1809799" y="5937416"/>
            <a:ext cx="2027394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j) 302 + 16 + 8</a:t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3513691" y="6246631"/>
            <a:ext cx="2894296" cy="9102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7"/>
          <p:cNvGrpSpPr/>
          <p:nvPr/>
        </p:nvGrpSpPr>
        <p:grpSpPr>
          <a:xfrm>
            <a:off x="295161" y="4591373"/>
            <a:ext cx="6421310" cy="1729680"/>
            <a:chOff x="210118" y="5748589"/>
            <a:chExt cx="6421310" cy="1729680"/>
          </a:xfrm>
        </p:grpSpPr>
        <p:grpSp>
          <p:nvGrpSpPr>
            <p:cNvPr id="343" name="Google Shape;343;p17"/>
            <p:cNvGrpSpPr/>
            <p:nvPr/>
          </p:nvGrpSpPr>
          <p:grpSpPr>
            <a:xfrm>
              <a:off x="210118" y="5748589"/>
              <a:ext cx="5106159" cy="283390"/>
              <a:chOff x="123274" y="3987854"/>
              <a:chExt cx="5106159" cy="202073"/>
            </a:xfrm>
          </p:grpSpPr>
          <p:sp>
            <p:nvSpPr>
              <p:cNvPr id="344" name="Google Shape;344;p17"/>
              <p:cNvSpPr/>
              <p:nvPr/>
            </p:nvSpPr>
            <p:spPr>
              <a:xfrm>
                <a:off x="123274" y="3987854"/>
                <a:ext cx="2027394" cy="1975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e) 63 + 7 + 12</a:t>
                </a:r>
                <a:endParaRPr/>
              </a:p>
            </p:txBody>
          </p:sp>
          <p:sp>
            <p:nvSpPr>
              <p:cNvPr id="345" name="Google Shape;345;p17"/>
              <p:cNvSpPr/>
              <p:nvPr/>
            </p:nvSpPr>
            <p:spPr>
              <a:xfrm>
                <a:off x="1628567" y="3987854"/>
                <a:ext cx="2027394" cy="1975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f) 32 + 8 + 33</a:t>
                </a:r>
                <a:endParaRPr/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3202039" y="3992411"/>
                <a:ext cx="2027394" cy="1975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g) 13 + 6 + 24</a:t>
                </a:r>
                <a:endParaRPr/>
              </a:p>
            </p:txBody>
          </p:sp>
        </p:grpSp>
        <p:sp>
          <p:nvSpPr>
            <p:cNvPr id="347" name="Google Shape;347;p17"/>
            <p:cNvSpPr/>
            <p:nvPr/>
          </p:nvSpPr>
          <p:spPr>
            <a:xfrm>
              <a:off x="3317125" y="7016604"/>
              <a:ext cx="331430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k) If (32 + 8) + 5 = 45,  Can you say which number should complete (32 + __) +8 = 45</a:t>
              </a:r>
              <a:endParaRPr/>
            </a:p>
          </p:txBody>
        </p:sp>
      </p:grpSp>
      <p:sp>
        <p:nvSpPr>
          <p:cNvPr id="348" name="Google Shape;348;p17"/>
          <p:cNvSpPr/>
          <p:nvPr/>
        </p:nvSpPr>
        <p:spPr>
          <a:xfrm>
            <a:off x="3513691" y="3567294"/>
            <a:ext cx="1350292" cy="920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5057695" y="3571150"/>
            <a:ext cx="1350292" cy="9168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401843" y="4887655"/>
            <a:ext cx="1350292" cy="920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1945847" y="4891511"/>
            <a:ext cx="1350292" cy="9168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3513691" y="4887655"/>
            <a:ext cx="1350292" cy="920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5057695" y="4891511"/>
            <a:ext cx="1350292" cy="9168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401843" y="6236166"/>
            <a:ext cx="1350292" cy="920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1945847" y="6240022"/>
            <a:ext cx="1350292" cy="9168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p17"/>
          <p:cNvGraphicFramePr/>
          <p:nvPr/>
        </p:nvGraphicFramePr>
        <p:xfrm>
          <a:off x="152106" y="75920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1599425"/>
                <a:gridCol w="1657675"/>
                <a:gridCol w="1657675"/>
                <a:gridCol w="1657675"/>
              </a:tblGrid>
              <a:tr h="18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Make this calculation easier and work out.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Make this calculation easier and work out.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Make this calculation easier and work out.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Think about number bonds.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42 + 8 + 19 + 1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50 + 20 = 70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42 + 7 + 8 + 3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(42 + 8) + 10 = 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13 + 7 + 21 + 9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20 + 30 = 50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51 + 7 + 9 + 3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(51 + 9) + 10 = 70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54 + 6 + 21 + 9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60 + 30 = 90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54 + 31 + 6 + 9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(54 + 6) + 40 = 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Change numbers place if necessary and put the brackets to make the calculation easier.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357" name="Google Shape;357;p17"/>
          <p:cNvSpPr txBox="1"/>
          <p:nvPr/>
        </p:nvSpPr>
        <p:spPr>
          <a:xfrm>
            <a:off x="1942816" y="734796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sp>
        <p:nvSpPr>
          <p:cNvPr id="358" name="Google Shape;358;p17"/>
          <p:cNvSpPr txBox="1"/>
          <p:nvPr/>
        </p:nvSpPr>
        <p:spPr>
          <a:xfrm>
            <a:off x="5157972" y="732523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18– You do…</a:t>
            </a:r>
            <a:endParaRPr/>
          </a:p>
        </p:txBody>
      </p:sp>
      <p:sp>
        <p:nvSpPr>
          <p:cNvPr id="359" name="Google Shape;359;p17"/>
          <p:cNvSpPr txBox="1"/>
          <p:nvPr/>
        </p:nvSpPr>
        <p:spPr>
          <a:xfrm>
            <a:off x="3470471" y="733268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– We do…</a:t>
            </a:r>
            <a:endParaRPr/>
          </a:p>
        </p:txBody>
      </p:sp>
      <p:sp>
        <p:nvSpPr>
          <p:cNvPr id="360" name="Google Shape;360;p17"/>
          <p:cNvSpPr/>
          <p:nvPr/>
        </p:nvSpPr>
        <p:spPr>
          <a:xfrm>
            <a:off x="476406" y="3336215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+ 35 = 45</a:t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1993417" y="3310072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 + 10 = 23</a:t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3576221" y="3310045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+ 17 = 47</a:t>
            </a: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5300543" y="3316835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 + 27 = 87</a:t>
            </a:r>
            <a:endParaRPr/>
          </a:p>
        </p:txBody>
      </p:sp>
      <p:sp>
        <p:nvSpPr>
          <p:cNvPr id="364" name="Google Shape;364;p17"/>
          <p:cNvSpPr/>
          <p:nvPr/>
        </p:nvSpPr>
        <p:spPr>
          <a:xfrm>
            <a:off x="468600" y="4718509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 + 12 = 82</a:t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1955855" y="4718509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+ 33 = 73</a:t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3540198" y="4750390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+ 13 = 43</a:t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5220091" y="4714068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130 + 14 = 144</a:t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531375" y="5989867"/>
            <a:ext cx="1132764" cy="1377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210 + 32 = 242</a:t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1971803" y="6035460"/>
            <a:ext cx="1132764" cy="1377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310 + 16 = 326</a:t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3616393" y="6216852"/>
            <a:ext cx="2804194" cy="1164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(32 + 5) + 8 = 45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"/>
          <p:cNvSpPr txBox="1"/>
          <p:nvPr>
            <p:ph idx="12" type="sldNum"/>
          </p:nvPr>
        </p:nvSpPr>
        <p:spPr>
          <a:xfrm>
            <a:off x="5261961" y="940907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7" name="Google Shape;377;p18"/>
          <p:cNvSpPr/>
          <p:nvPr/>
        </p:nvSpPr>
        <p:spPr>
          <a:xfrm>
            <a:off x="153283" y="177184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1286047" y="116577"/>
            <a:ext cx="53017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Use associative law to make these calculations easier, and then complete the calculations.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243840" y="578242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a) 3 + 7 + 15 + 5 = </a:t>
            </a:r>
            <a:endParaRPr/>
          </a:p>
        </p:txBody>
      </p:sp>
      <p:sp>
        <p:nvSpPr>
          <p:cNvPr id="380" name="Google Shape;380;p18"/>
          <p:cNvSpPr/>
          <p:nvPr/>
        </p:nvSpPr>
        <p:spPr>
          <a:xfrm>
            <a:off x="1784693" y="578242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b) 12 + 4 + 16 + 8 = </a:t>
            </a:r>
            <a:endParaRPr/>
          </a:p>
        </p:txBody>
      </p:sp>
      <p:sp>
        <p:nvSpPr>
          <p:cNvPr id="381" name="Google Shape;381;p18"/>
          <p:cNvSpPr/>
          <p:nvPr/>
        </p:nvSpPr>
        <p:spPr>
          <a:xfrm>
            <a:off x="3363245" y="564313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c) 13 + 7 + 14 + 6 </a:t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4889377" y="568082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d) 43 + 8 + 22 + 7 </a:t>
            </a:r>
            <a:endParaRPr/>
          </a:p>
        </p:txBody>
      </p:sp>
      <p:sp>
        <p:nvSpPr>
          <p:cNvPr id="383" name="Google Shape;383;p18"/>
          <p:cNvSpPr/>
          <p:nvPr/>
        </p:nvSpPr>
        <p:spPr>
          <a:xfrm>
            <a:off x="336163" y="848303"/>
            <a:ext cx="1350292" cy="920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1880167" y="852159"/>
            <a:ext cx="1350292" cy="9168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3448011" y="848303"/>
            <a:ext cx="1350292" cy="920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4992015" y="852159"/>
            <a:ext cx="1350292" cy="9168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336163" y="2128463"/>
            <a:ext cx="1350292" cy="920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1880167" y="2132319"/>
            <a:ext cx="1350292" cy="9168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3448011" y="2128463"/>
            <a:ext cx="1350292" cy="920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4992015" y="2132319"/>
            <a:ext cx="1350292" cy="9168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1" name="Google Shape;391;p18"/>
          <p:cNvGrpSpPr/>
          <p:nvPr/>
        </p:nvGrpSpPr>
        <p:grpSpPr>
          <a:xfrm>
            <a:off x="243840" y="1833686"/>
            <a:ext cx="5175260" cy="296201"/>
            <a:chOff x="123274" y="3987854"/>
            <a:chExt cx="5175260" cy="211208"/>
          </a:xfrm>
        </p:grpSpPr>
        <p:sp>
          <p:nvSpPr>
            <p:cNvPr id="392" name="Google Shape;392;p18"/>
            <p:cNvSpPr/>
            <p:nvPr/>
          </p:nvSpPr>
          <p:spPr>
            <a:xfrm>
              <a:off x="123274" y="3987854"/>
              <a:ext cx="2027394" cy="197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e) 63 + 14 + 7 + 6</a:t>
              </a: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1670831" y="3993434"/>
              <a:ext cx="2027394" cy="197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f) 17+ 5 + 3 + 15</a:t>
              </a: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3271140" y="4001546"/>
              <a:ext cx="2027394" cy="197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g) 67 + 9 + 3 + 1</a:t>
              </a:r>
              <a:endParaRPr/>
            </a:p>
          </p:txBody>
        </p:sp>
      </p:grpSp>
      <p:sp>
        <p:nvSpPr>
          <p:cNvPr id="395" name="Google Shape;395;p18"/>
          <p:cNvSpPr/>
          <p:nvPr/>
        </p:nvSpPr>
        <p:spPr>
          <a:xfrm>
            <a:off x="4926984" y="1861840"/>
            <a:ext cx="20273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h) 78 + 2 + 13 + 7</a:t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243840" y="3271570"/>
            <a:ext cx="331430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Jack completes 36 + 8 + 2 + 4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36 + 10 + 4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46 + 4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= 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Jenny  completes 36 + 8 + 2 + 4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(36+4) + (8+2)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40 +10   = 50</a:t>
            </a:r>
            <a:endParaRPr/>
          </a:p>
        </p:txBody>
      </p:sp>
      <p:sp>
        <p:nvSpPr>
          <p:cNvPr id="397" name="Google Shape;397;p18"/>
          <p:cNvSpPr/>
          <p:nvPr/>
        </p:nvSpPr>
        <p:spPr>
          <a:xfrm>
            <a:off x="48942" y="4056400"/>
            <a:ext cx="33143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 txBox="1"/>
          <p:nvPr/>
        </p:nvSpPr>
        <p:spPr>
          <a:xfrm>
            <a:off x="2829780" y="3216558"/>
            <a:ext cx="34115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 both calculations work 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laws do both calculations make use of 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9" name="Google Shape;399;p18"/>
          <p:cNvGraphicFramePr/>
          <p:nvPr/>
        </p:nvGraphicFramePr>
        <p:xfrm>
          <a:off x="2904492" y="36865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343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0" name="Google Shape;400;p18"/>
          <p:cNvSpPr txBox="1"/>
          <p:nvPr/>
        </p:nvSpPr>
        <p:spPr>
          <a:xfrm>
            <a:off x="227646" y="4883820"/>
            <a:ext cx="646747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sums that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represented by the bar model,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ones that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aren’t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 + 35 = 58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 + 35 = 23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 = 35 + 23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23 − 35 = 58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58 − 35 = 23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 = 58 − 35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1980247" y="5401707"/>
            <a:ext cx="2990849" cy="443602"/>
          </a:xfrm>
          <a:prstGeom prst="rect">
            <a:avLst/>
          </a:prstGeom>
          <a:solidFill>
            <a:srgbClr val="BBD6EE"/>
          </a:solidFill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 sz="1800">
              <a:solidFill>
                <a:srgbClr val="1716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1980248" y="5861142"/>
            <a:ext cx="1190624" cy="443602"/>
          </a:xfrm>
          <a:prstGeom prst="rect">
            <a:avLst/>
          </a:prstGeom>
          <a:solidFill>
            <a:srgbClr val="2E75B5"/>
          </a:solidFill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3170872" y="5861142"/>
            <a:ext cx="1800224" cy="443602"/>
          </a:xfrm>
          <a:prstGeom prst="rect">
            <a:avLst/>
          </a:prstGeom>
          <a:solidFill>
            <a:srgbClr val="F4B081"/>
          </a:solidFill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800">
              <a:solidFill>
                <a:srgbClr val="1716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" name="Google Shape;404;p18"/>
          <p:cNvGrpSpPr/>
          <p:nvPr/>
        </p:nvGrpSpPr>
        <p:grpSpPr>
          <a:xfrm>
            <a:off x="1132522" y="5322447"/>
            <a:ext cx="187325" cy="301061"/>
            <a:chOff x="1143000" y="981075"/>
            <a:chExt cx="187325" cy="301061"/>
          </a:xfrm>
        </p:grpSpPr>
        <p:sp>
          <p:nvSpPr>
            <p:cNvPr id="405" name="Google Shape;405;p18"/>
            <p:cNvSpPr/>
            <p:nvPr/>
          </p:nvSpPr>
          <p:spPr>
            <a:xfrm>
              <a:off x="1143000" y="981075"/>
              <a:ext cx="180975" cy="116911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1149350" y="1165225"/>
              <a:ext cx="180975" cy="116911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7" name="Google Shape;407;p18"/>
          <p:cNvGrpSpPr/>
          <p:nvPr/>
        </p:nvGrpSpPr>
        <p:grpSpPr>
          <a:xfrm>
            <a:off x="1132522" y="5690747"/>
            <a:ext cx="187325" cy="301061"/>
            <a:chOff x="1143000" y="981075"/>
            <a:chExt cx="187325" cy="301061"/>
          </a:xfrm>
        </p:grpSpPr>
        <p:sp>
          <p:nvSpPr>
            <p:cNvPr id="408" name="Google Shape;408;p18"/>
            <p:cNvSpPr/>
            <p:nvPr/>
          </p:nvSpPr>
          <p:spPr>
            <a:xfrm>
              <a:off x="1143000" y="981075"/>
              <a:ext cx="180975" cy="116911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1149350" y="1165225"/>
              <a:ext cx="180975" cy="116911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18"/>
          <p:cNvGrpSpPr/>
          <p:nvPr/>
        </p:nvGrpSpPr>
        <p:grpSpPr>
          <a:xfrm>
            <a:off x="1132522" y="6059047"/>
            <a:ext cx="187325" cy="301061"/>
            <a:chOff x="1143000" y="981075"/>
            <a:chExt cx="187325" cy="301061"/>
          </a:xfrm>
        </p:grpSpPr>
        <p:sp>
          <p:nvSpPr>
            <p:cNvPr id="411" name="Google Shape;411;p18"/>
            <p:cNvSpPr/>
            <p:nvPr/>
          </p:nvSpPr>
          <p:spPr>
            <a:xfrm>
              <a:off x="1143000" y="981075"/>
              <a:ext cx="180975" cy="116911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1149350" y="1165225"/>
              <a:ext cx="180975" cy="116911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C0C0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" name="Google Shape;413;p18"/>
          <p:cNvSpPr txBox="1"/>
          <p:nvPr/>
        </p:nvSpPr>
        <p:spPr>
          <a:xfrm>
            <a:off x="179157" y="6526885"/>
            <a:ext cx="6467475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Luca works out 57 + 64 + 43 like this: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57 + 64 + 43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57 + 43 + 64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100 + 64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164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  Why can Luca re-arrange the numbers and still get the correct answer 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  Why would Luca re-arrange the numbers for this addition 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4" name="Google Shape;414;p18"/>
          <p:cNvGraphicFramePr/>
          <p:nvPr/>
        </p:nvGraphicFramePr>
        <p:xfrm>
          <a:off x="227646" y="78721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6114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5" name="Google Shape;415;p18"/>
          <p:cNvGraphicFramePr/>
          <p:nvPr/>
        </p:nvGraphicFramePr>
        <p:xfrm>
          <a:off x="227646" y="88895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6114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6" name="Google Shape;416;p18"/>
          <p:cNvSpPr/>
          <p:nvPr/>
        </p:nvSpPr>
        <p:spPr>
          <a:xfrm>
            <a:off x="227646" y="6511384"/>
            <a:ext cx="6114661" cy="31197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227645" y="4856731"/>
            <a:ext cx="6114661" cy="164690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243840" y="632568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+ 20 = 30</a:t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1905214" y="653943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+ 20 = 40</a:t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3562480" y="653943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+ 20 = 40</a:t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5286802" y="660733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 + 30 = 80</a:t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199253" y="1878173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 + 20 = 90</a:t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1913756" y="1925172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+ 20 = 40</a:t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3605589" y="1942173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 + 10 = 80</a:t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5285482" y="1905851"/>
            <a:ext cx="1132764" cy="137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 + 20 = 100</a:t>
            </a:r>
            <a:endParaRPr/>
          </a:p>
        </p:txBody>
      </p:sp>
      <p:sp>
        <p:nvSpPr>
          <p:cNvPr id="426" name="Google Shape;426;p18"/>
          <p:cNvSpPr txBox="1"/>
          <p:nvPr/>
        </p:nvSpPr>
        <p:spPr>
          <a:xfrm>
            <a:off x="2879007" y="3775420"/>
            <a:ext cx="38161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Same 4 numbers are being added together.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Commutative and association laws.</a:t>
            </a:r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1313497" y="5238581"/>
            <a:ext cx="27622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 txBox="1"/>
          <p:nvPr/>
        </p:nvSpPr>
        <p:spPr>
          <a:xfrm>
            <a:off x="297888" y="7915874"/>
            <a:ext cx="45148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 is adding the same numbers so they follow the commutative law.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272215" y="8837864"/>
            <a:ext cx="45148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pair the number bonds together.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"/>
          <p:cNvSpPr txBox="1"/>
          <p:nvPr>
            <p:ph idx="12" type="sldNum"/>
          </p:nvPr>
        </p:nvSpPr>
        <p:spPr>
          <a:xfrm>
            <a:off x="5305425" y="931237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5" name="Google Shape;435;p19"/>
          <p:cNvSpPr txBox="1"/>
          <p:nvPr/>
        </p:nvSpPr>
        <p:spPr>
          <a:xfrm>
            <a:off x="176212" y="442609"/>
            <a:ext cx="646747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11a)  Use what you know about commutative and associative laws to quickly complete the following sum: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	 1 + 2 + 3 + 4 + 5 + 6 + 7 + 8 + 9 + 10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11b)      Use what you know about commutative and associative laws to quickly complete the following sum: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1 + 2 + 3 + 4 + 5 + … + … +  95 + 96 + 97 + 98 + 99 +100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" name="Google Shape;436;p19"/>
          <p:cNvGraphicFramePr/>
          <p:nvPr/>
        </p:nvGraphicFramePr>
        <p:xfrm>
          <a:off x="63976" y="111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6710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7" name="Google Shape;437;p19"/>
          <p:cNvGraphicFramePr/>
          <p:nvPr/>
        </p:nvGraphicFramePr>
        <p:xfrm>
          <a:off x="63976" y="32514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{FE6711C8-0892-4BBA-B547-494E61B7D9C4}</a:tableStyleId>
              </a:tblPr>
              <a:tblGrid>
                <a:gridCol w="6717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19"/>
          <p:cNvSpPr txBox="1"/>
          <p:nvPr/>
        </p:nvSpPr>
        <p:spPr>
          <a:xfrm>
            <a:off x="70198" y="8334088"/>
            <a:ext cx="6707345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Make this calculation easier and complete….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 + 44  + 7 = </a:t>
            </a: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 + 44 = 104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64072" y="4614446"/>
            <a:ext cx="67176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64072" y="4942451"/>
            <a:ext cx="6710900" cy="23773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 txBox="1"/>
          <p:nvPr/>
        </p:nvSpPr>
        <p:spPr>
          <a:xfrm>
            <a:off x="70199" y="7321090"/>
            <a:ext cx="6717600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Make this calculation easier and complete….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+ 8 + 2 + 3 =  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+ 10 = 20</a:t>
            </a:r>
            <a:endParaRPr/>
          </a:p>
        </p:txBody>
      </p:sp>
      <p:grpSp>
        <p:nvGrpSpPr>
          <p:cNvPr id="442" name="Google Shape;442;p19"/>
          <p:cNvGrpSpPr/>
          <p:nvPr/>
        </p:nvGrpSpPr>
        <p:grpSpPr>
          <a:xfrm>
            <a:off x="299523" y="5480547"/>
            <a:ext cx="1406607" cy="764174"/>
            <a:chOff x="60434" y="4991467"/>
            <a:chExt cx="2147856" cy="585007"/>
          </a:xfrm>
        </p:grpSpPr>
        <p:sp>
          <p:nvSpPr>
            <p:cNvPr id="443" name="Google Shape;443;p19"/>
            <p:cNvSpPr/>
            <p:nvPr/>
          </p:nvSpPr>
          <p:spPr>
            <a:xfrm>
              <a:off x="60434" y="4991467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9"/>
            <p:cNvSpPr/>
            <p:nvPr/>
          </p:nvSpPr>
          <p:spPr>
            <a:xfrm>
              <a:off x="60436" y="5280836"/>
              <a:ext cx="56413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9"/>
            <p:cNvSpPr/>
            <p:nvPr/>
          </p:nvSpPr>
          <p:spPr>
            <a:xfrm>
              <a:off x="624572" y="5281001"/>
              <a:ext cx="158371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19"/>
          <p:cNvSpPr txBox="1"/>
          <p:nvPr/>
        </p:nvSpPr>
        <p:spPr>
          <a:xfrm>
            <a:off x="83027" y="4985409"/>
            <a:ext cx="233047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 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option that </a:t>
            </a: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isn’t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true, and </a:t>
            </a: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isn’t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shown by the bar model…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 txBox="1"/>
          <p:nvPr/>
        </p:nvSpPr>
        <p:spPr>
          <a:xfrm>
            <a:off x="208768" y="6468763"/>
            <a:ext cx="350143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lphaUcParenR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 = 20 + 33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lphaUcParenR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 + 20 = 53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lphaUcParenR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 – 20 = 53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lphaUcParenR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+ 33 = 53</a:t>
            </a:r>
            <a:endParaRPr/>
          </a:p>
          <a:p>
            <a:pPr indent="-1587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 txBox="1"/>
          <p:nvPr/>
        </p:nvSpPr>
        <p:spPr>
          <a:xfrm>
            <a:off x="3354678" y="4989905"/>
            <a:ext cx="2330471" cy="195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Complete the number bonds below to make the statements true…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A)               ……..   +    8    =  10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B)                 8      +   …….  =  10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C)               13      +   ……..  = 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D)              …….    +   87 =  100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p19"/>
          <p:cNvCxnSpPr/>
          <p:nvPr/>
        </p:nvCxnSpPr>
        <p:spPr>
          <a:xfrm>
            <a:off x="3347978" y="4942451"/>
            <a:ext cx="0" cy="237625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0" name="Google Shape;450;p19"/>
          <p:cNvSpPr/>
          <p:nvPr/>
        </p:nvSpPr>
        <p:spPr>
          <a:xfrm>
            <a:off x="63976" y="442609"/>
            <a:ext cx="6710899" cy="392899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 txBox="1"/>
          <p:nvPr/>
        </p:nvSpPr>
        <p:spPr>
          <a:xfrm>
            <a:off x="176211" y="1126629"/>
            <a:ext cx="45148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+ 9= 10  2 + 8 = 10 etc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452" name="Google Shape;452;p19"/>
          <p:cNvSpPr txBox="1"/>
          <p:nvPr/>
        </p:nvSpPr>
        <p:spPr>
          <a:xfrm>
            <a:off x="365371" y="3212697"/>
            <a:ext cx="45148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236180" y="6857948"/>
            <a:ext cx="1128165" cy="172676"/>
          </a:xfrm>
          <a:prstGeom prst="ellipse">
            <a:avLst/>
          </a:prstGeom>
          <a:noFill/>
          <a:ln cap="flat" cmpd="sng" w="22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 txBox="1"/>
          <p:nvPr/>
        </p:nvSpPr>
        <p:spPr>
          <a:xfrm>
            <a:off x="4176150" y="5533273"/>
            <a:ext cx="253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5" name="Google Shape;455;p19"/>
          <p:cNvSpPr txBox="1"/>
          <p:nvPr/>
        </p:nvSpPr>
        <p:spPr>
          <a:xfrm>
            <a:off x="4691084" y="5865321"/>
            <a:ext cx="253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6" name="Google Shape;456;p19"/>
          <p:cNvSpPr txBox="1"/>
          <p:nvPr/>
        </p:nvSpPr>
        <p:spPr>
          <a:xfrm>
            <a:off x="4712107" y="6206937"/>
            <a:ext cx="253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57" name="Google Shape;457;p19"/>
          <p:cNvSpPr txBox="1"/>
          <p:nvPr/>
        </p:nvSpPr>
        <p:spPr>
          <a:xfrm>
            <a:off x="4122373" y="6532825"/>
            <a:ext cx="5898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